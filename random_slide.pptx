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Radius Strategy</c:v>
                </c:pt>
              </c:strCache>
            </c:strRef>
          </c:tx>
          <c:cat>
            <c:strRef>
              <c:f>Sheet1!$A$2:$A$7</c:f>
              <c:strCache>
                <c:ptCount val="6"/>
                <c:pt idx="0">
                  <c:v>Pipeline</c:v>
                </c:pt>
                <c:pt idx="1">
                  <c:v>Tile</c:v>
                </c:pt>
                <c:pt idx="2">
                  <c:v>Program</c:v>
                </c:pt>
                <c:pt idx="3">
                  <c:v>Indicator</c:v>
                </c:pt>
                <c:pt idx="4">
                  <c:v>Moment</c:v>
                </c:pt>
                <c:pt idx="5">
                  <c:v>Loop</c:v>
                </c:pt>
              </c:strCache>
            </c:strRef>
          </c:cat>
          <c:val>
            <c:numRef>
              <c:f>Sheet1!$B$2:$B$7</c:f>
              <c:numCache>
                <c:formatCode>General</c:formatCode>
                <c:ptCount val="6"/>
                <c:pt idx="0">
                  <c:v>8</c:v>
                </c:pt>
                <c:pt idx="1">
                  <c:v>78</c:v>
                </c:pt>
                <c:pt idx="2">
                  <c:v>20</c:v>
                </c:pt>
                <c:pt idx="3">
                  <c:v>31</c:v>
                </c:pt>
                <c:pt idx="4">
                  <c:v>89</c:v>
                </c:pt>
                <c:pt idx="5">
                  <c:v>56</c:v>
                </c:pt>
              </c:numCache>
            </c:numRef>
          </c:val>
          <c:extLst>
            <c:ext xmlns:c16="http://schemas.microsoft.com/office/drawing/2014/chart" uri="{C3380CC4-5D6E-409C-BE32-E72D297353CC}">
              <c16:uniqueId val="{00000000-37CB-4AD5-AB44-770A68BED57A}"/>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qual 1"/>
          <p:cNvSpPr/>
          <p:nvPr/>
        </p:nvSpPr>
        <p:spPr>
          <a:xfrm>
            <a:off x="10527759" y="450763"/>
            <a:ext cx="1145250" cy="784061"/>
          </a:xfrm>
          <a:prstGeom prst="mathEqual">
            <a:avLst/>
          </a:prstGeom>
          <a:solidFill>
            <a:srgbClr val="C788A3"/>
          </a:solidFill>
          <a:ln w="21471">
            <a:solidFill>
              <a:srgbClr val="4E999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36122" y="3174384"/>
            <a:ext cx="1549453" cy="1632987"/>
          </a:xfrm>
          <a:prstGeom prst="rect">
            <a:avLst/>
          </a:prstGeom>
          <a:noFill/>
        </p:spPr>
        <p:txBody>
          <a:bodyPr wrap="square" lIns="30239" tIns="30239" rIns="30239" bIns="30239">
            <a:noAutofit/>
          </a:bodyPr>
          <a:lstStyle/>
          <a:p>
            <a:r>
              <a:rPr sz="700" b="1" i="0" u="none">
                <a:solidFill>
                  <a:srgbClr val="C8828F"/>
                </a:solidFill>
                <a:latin typeface="Arial"/>
              </a:rPr>
              <a:t>Atlas Factor Inventory Module Horizon Response Build Control Relay Output Query Query Device Sync Cortex Method Proof Clarity Discovery Terminal Service Filter Collection Friction Briefing Interval Field Variant Query</a:t>
            </a:r>
          </a:p>
        </p:txBody>
      </p:sp>
      <p:cxnSp>
        <p:nvCxnSpPr>
          <p:cNvPr id="4" name="Connector 3"/>
          <p:cNvCxnSpPr/>
          <p:nvPr/>
        </p:nvCxnSpPr>
        <p:spPr>
          <a:xfrm flipV="1">
            <a:off x="10893806" y="3596767"/>
            <a:ext cx="780167" cy="912238"/>
          </a:xfrm>
          <a:prstGeom prst="curvedConnector3">
            <a:avLst/>
          </a:prstGeom>
          <a:ln w="31902">
            <a:solidFill>
              <a:srgbClr val="DDD298"/>
            </a:solidFill>
            <a:prstDash val="dot"/>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118671" y="1543273"/>
            <a:ext cx="1135323" cy="1248424"/>
          </a:xfrm>
          <a:prstGeom prst="rect">
            <a:avLst/>
          </a:prstGeom>
          <a:noFill/>
        </p:spPr>
        <p:txBody>
          <a:bodyPr wrap="square" lIns="25904" tIns="25904" rIns="25904" bIns="25904">
            <a:noAutofit/>
          </a:bodyPr>
          <a:lstStyle/>
          <a:p>
            <a:r>
              <a:rPr sz="2500" b="1" i="0" u="none">
                <a:solidFill>
                  <a:srgbClr val="A9318D"/>
                </a:solidFill>
                <a:latin typeface="Arial"/>
              </a:rPr>
              <a:t>Intent Cell Origin Plan System Node Sequence Timeline Asset Foundation Dispatch Energy Wave Register</a:t>
            </a:r>
          </a:p>
        </p:txBody>
      </p:sp>
      <p:sp>
        <p:nvSpPr>
          <p:cNvPr id="6" name="Freeform 5"/>
          <p:cNvSpPr/>
          <p:nvPr/>
        </p:nvSpPr>
        <p:spPr>
          <a:xfrm>
            <a:off x="5713246" y="334750"/>
            <a:ext cx="1120731" cy="885430"/>
          </a:xfrm>
          <a:custGeom>
            <a:avLst/>
            <a:gdLst/>
            <a:ahLst/>
            <a:cxnLst/>
            <a:rect l="l" t="t" r="r" b="b"/>
            <a:pathLst>
              <a:path w="1120731" h="885430">
                <a:moveTo>
                  <a:pt x="560365" y="0"/>
                </a:moveTo>
                <a:lnTo>
                  <a:pt x="700456" y="221358"/>
                </a:lnTo>
                <a:lnTo>
                  <a:pt x="1050685" y="159377"/>
                </a:lnTo>
                <a:lnTo>
                  <a:pt x="852222" y="442715"/>
                </a:lnTo>
                <a:lnTo>
                  <a:pt x="1120731" y="690636"/>
                </a:lnTo>
                <a:lnTo>
                  <a:pt x="700456" y="637510"/>
                </a:lnTo>
                <a:lnTo>
                  <a:pt x="560365" y="885430"/>
                </a:lnTo>
                <a:lnTo>
                  <a:pt x="420274" y="637510"/>
                </a:lnTo>
                <a:lnTo>
                  <a:pt x="0" y="690636"/>
                </a:lnTo>
                <a:lnTo>
                  <a:pt x="268508" y="442715"/>
                </a:lnTo>
                <a:lnTo>
                  <a:pt x="70045" y="159377"/>
                </a:lnTo>
                <a:lnTo>
                  <a:pt x="420274" y="221358"/>
                </a:lnTo>
                <a:close/>
              </a:path>
            </a:pathLst>
          </a:custGeom>
          <a:solidFill>
            <a:srgbClr val="B63345"/>
          </a:solidFill>
          <a:ln w="15961">
            <a:solidFill>
              <a:srgbClr val="BA9F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_example_image.jpg"/>
          <p:cNvPicPr>
            <a:picLocks noChangeAspect="1"/>
          </p:cNvPicPr>
          <p:nvPr/>
        </p:nvPicPr>
        <p:blipFill>
          <a:blip r:embed="rId2"/>
          <a:srcRect l="21010" t="17714" r="6018" b="15657"/>
          <a:stretch>
            <a:fillRect/>
          </a:stretch>
        </p:blipFill>
        <p:spPr>
          <a:xfrm>
            <a:off x="1364063" y="4908421"/>
            <a:ext cx="917966" cy="772305"/>
          </a:xfrm>
          <a:prstGeom prst="rect">
            <a:avLst/>
          </a:prstGeom>
        </p:spPr>
      </p:pic>
      <p:cxnSp>
        <p:nvCxnSpPr>
          <p:cNvPr id="8" name="Connector 7"/>
          <p:cNvCxnSpPr/>
          <p:nvPr/>
        </p:nvCxnSpPr>
        <p:spPr>
          <a:xfrm flipV="1">
            <a:off x="8120955" y="606584"/>
            <a:ext cx="771587" cy="861358"/>
          </a:xfrm>
          <a:prstGeom prst="curvedConnector3">
            <a:avLst/>
          </a:prstGeom>
          <a:ln w="39396">
            <a:solidFill>
              <a:srgbClr val="283EDE"/>
            </a:solidFill>
            <a:prstDash val="lg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65072" y="3730640"/>
            <a:ext cx="1190591" cy="1832321"/>
          </a:xfrm>
          <a:prstGeom prst="rect">
            <a:avLst/>
          </a:prstGeom>
          <a:noFill/>
        </p:spPr>
        <p:txBody>
          <a:bodyPr wrap="square" lIns="57254" tIns="57254" rIns="57254" bIns="57254">
            <a:noAutofit/>
          </a:bodyPr>
          <a:lstStyle/>
          <a:p>
            <a:r>
              <a:rPr sz="1100" b="1" i="1" u="none">
                <a:solidFill>
                  <a:srgbClr val="86BDD7"/>
                </a:solidFill>
                <a:latin typeface="Verdana"/>
              </a:rPr>
              <a:t>Balance Panel Sync Structure Gradient Sample Data Matrix</a:t>
            </a:r>
          </a:p>
        </p:txBody>
      </p:sp>
      <p:graphicFrame>
        <p:nvGraphicFramePr>
          <p:cNvPr id="10" name="Table 9"/>
          <p:cNvGraphicFramePr>
            <a:graphicFrameLocks noGrp="1"/>
          </p:cNvGraphicFramePr>
          <p:nvPr/>
        </p:nvGraphicFramePr>
        <p:xfrm>
          <a:off x="221868" y="2190753"/>
          <a:ext cx="1958217" cy="1932342"/>
        </p:xfrm>
        <a:graphic>
          <a:graphicData uri="http://schemas.openxmlformats.org/drawingml/2006/table">
            <a:tbl>
              <a:tblPr firstRow="1" bandRow="1">
                <a:tableStyleId>{5C22544A-7EE6-4342-B048-85BDC9FD1C3A}</a:tableStyleId>
              </a:tblPr>
              <a:tblGrid>
                <a:gridCol w="979108">
                  <a:extLst>
                    <a:ext uri="{9D8B030D-6E8A-4147-A177-3AD203B41FA5}">
                      <a16:colId xmlns:a16="http://schemas.microsoft.com/office/drawing/2014/main" val="20000"/>
                    </a:ext>
                  </a:extLst>
                </a:gridCol>
                <a:gridCol w="979109">
                  <a:extLst>
                    <a:ext uri="{9D8B030D-6E8A-4147-A177-3AD203B41FA5}">
                      <a16:colId xmlns:a16="http://schemas.microsoft.com/office/drawing/2014/main" val="20001"/>
                    </a:ext>
                  </a:extLst>
                </a:gridCol>
              </a:tblGrid>
              <a:tr h="322057">
                <a:tc>
                  <a:txBody>
                    <a:bodyPr/>
                    <a:lstStyle/>
                    <a:p>
                      <a:r>
                        <a:rPr sz="1300" b="1">
                          <a:solidFill>
                            <a:srgbClr val="4169D0"/>
                          </a:solidFill>
                        </a:rPr>
                        <a:t>Limit Exchange</a:t>
                      </a:r>
                    </a:p>
                  </a:txBody>
                  <a:tcPr>
                    <a:solidFill>
                      <a:srgbClr val="26BD59"/>
                    </a:solidFill>
                  </a:tcPr>
                </a:tc>
                <a:tc>
                  <a:txBody>
                    <a:bodyPr/>
                    <a:lstStyle/>
                    <a:p>
                      <a:r>
                        <a:rPr sz="1300" b="1">
                          <a:solidFill>
                            <a:srgbClr val="4169D0"/>
                          </a:solidFill>
                        </a:rPr>
                        <a:t>Level</a:t>
                      </a:r>
                    </a:p>
                  </a:txBody>
                  <a:tcPr>
                    <a:solidFill>
                      <a:srgbClr val="26BD59"/>
                    </a:solidFill>
                  </a:tcPr>
                </a:tc>
                <a:extLst>
                  <a:ext uri="{0D108BD9-81ED-4DB2-BD59-A6C34878D82A}">
                    <a16:rowId xmlns:a16="http://schemas.microsoft.com/office/drawing/2014/main" val="10000"/>
                  </a:ext>
                </a:extLst>
              </a:tr>
              <a:tr h="322057">
                <a:tc>
                  <a:txBody>
                    <a:bodyPr/>
                    <a:lstStyle/>
                    <a:p>
                      <a:r>
                        <a:rPr sz="1300" b="0">
                          <a:solidFill>
                            <a:srgbClr val="4169D0"/>
                          </a:solidFill>
                        </a:rPr>
                        <a:t>Orbit</a:t>
                      </a:r>
                    </a:p>
                  </a:txBody>
                  <a:tcPr>
                    <a:solidFill>
                      <a:srgbClr val="DFC8E5"/>
                    </a:solidFill>
                  </a:tcPr>
                </a:tc>
                <a:tc>
                  <a:txBody>
                    <a:bodyPr/>
                    <a:lstStyle/>
                    <a:p>
                      <a:r>
                        <a:rPr sz="1300" b="0">
                          <a:solidFill>
                            <a:srgbClr val="4169D0"/>
                          </a:solidFill>
                        </a:rPr>
                        <a:t>Aspect</a:t>
                      </a:r>
                    </a:p>
                  </a:txBody>
                  <a:tcPr>
                    <a:solidFill>
                      <a:srgbClr val="DFC8E5"/>
                    </a:solidFill>
                  </a:tcPr>
                </a:tc>
                <a:extLst>
                  <a:ext uri="{0D108BD9-81ED-4DB2-BD59-A6C34878D82A}">
                    <a16:rowId xmlns:a16="http://schemas.microsoft.com/office/drawing/2014/main" val="10001"/>
                  </a:ext>
                </a:extLst>
              </a:tr>
              <a:tr h="322057">
                <a:tc>
                  <a:txBody>
                    <a:bodyPr/>
                    <a:lstStyle/>
                    <a:p>
                      <a:r>
                        <a:rPr sz="1300" b="0">
                          <a:solidFill>
                            <a:srgbClr val="4169D0"/>
                          </a:solidFill>
                        </a:rPr>
                        <a:t>Window Blueprint</a:t>
                      </a:r>
                    </a:p>
                  </a:txBody>
                  <a:tcPr>
                    <a:solidFill>
                      <a:srgbClr val="E8D8ED"/>
                    </a:solidFill>
                  </a:tcPr>
                </a:tc>
                <a:tc>
                  <a:txBody>
                    <a:bodyPr/>
                    <a:lstStyle/>
                    <a:p>
                      <a:r>
                        <a:rPr sz="1300" b="0">
                          <a:solidFill>
                            <a:srgbClr val="4169D0"/>
                          </a:solidFill>
                        </a:rPr>
                        <a:t>Density Service</a:t>
                      </a:r>
                    </a:p>
                  </a:txBody>
                  <a:tcPr>
                    <a:solidFill>
                      <a:srgbClr val="E8D8ED"/>
                    </a:solidFill>
                  </a:tcPr>
                </a:tc>
                <a:extLst>
                  <a:ext uri="{0D108BD9-81ED-4DB2-BD59-A6C34878D82A}">
                    <a16:rowId xmlns:a16="http://schemas.microsoft.com/office/drawing/2014/main" val="10002"/>
                  </a:ext>
                </a:extLst>
              </a:tr>
              <a:tr h="322057">
                <a:tc>
                  <a:txBody>
                    <a:bodyPr/>
                    <a:lstStyle/>
                    <a:p>
                      <a:r>
                        <a:rPr sz="1300" b="0">
                          <a:solidFill>
                            <a:srgbClr val="4169D0"/>
                          </a:solidFill>
                        </a:rPr>
                        <a:t>Span</a:t>
                      </a:r>
                    </a:p>
                  </a:txBody>
                  <a:tcPr>
                    <a:solidFill>
                      <a:srgbClr val="DFC8E5"/>
                    </a:solidFill>
                  </a:tcPr>
                </a:tc>
                <a:tc>
                  <a:txBody>
                    <a:bodyPr/>
                    <a:lstStyle/>
                    <a:p>
                      <a:r>
                        <a:rPr sz="1300" b="0">
                          <a:solidFill>
                            <a:srgbClr val="4169D0"/>
                          </a:solidFill>
                        </a:rPr>
                        <a:t>Compass Method</a:t>
                      </a:r>
                    </a:p>
                  </a:txBody>
                  <a:tcPr>
                    <a:solidFill>
                      <a:srgbClr val="DFC8E5"/>
                    </a:solidFill>
                  </a:tcPr>
                </a:tc>
                <a:extLst>
                  <a:ext uri="{0D108BD9-81ED-4DB2-BD59-A6C34878D82A}">
                    <a16:rowId xmlns:a16="http://schemas.microsoft.com/office/drawing/2014/main" val="10003"/>
                  </a:ext>
                </a:extLst>
              </a:tr>
              <a:tr h="322057">
                <a:tc>
                  <a:txBody>
                    <a:bodyPr/>
                    <a:lstStyle/>
                    <a:p>
                      <a:r>
                        <a:rPr sz="1300" b="0">
                          <a:solidFill>
                            <a:srgbClr val="4169D0"/>
                          </a:solidFill>
                        </a:rPr>
                        <a:t>Indicator Timeline</a:t>
                      </a:r>
                    </a:p>
                  </a:txBody>
                  <a:tcPr>
                    <a:solidFill>
                      <a:srgbClr val="E8D8ED"/>
                    </a:solidFill>
                  </a:tcPr>
                </a:tc>
                <a:tc>
                  <a:txBody>
                    <a:bodyPr/>
                    <a:lstStyle/>
                    <a:p>
                      <a:r>
                        <a:rPr sz="1300" b="0">
                          <a:solidFill>
                            <a:srgbClr val="4169D0"/>
                          </a:solidFill>
                        </a:rPr>
                        <a:t>Drift</a:t>
                      </a:r>
                    </a:p>
                  </a:txBody>
                  <a:tcPr>
                    <a:solidFill>
                      <a:srgbClr val="E8D8ED"/>
                    </a:solidFill>
                  </a:tcPr>
                </a:tc>
                <a:extLst>
                  <a:ext uri="{0D108BD9-81ED-4DB2-BD59-A6C34878D82A}">
                    <a16:rowId xmlns:a16="http://schemas.microsoft.com/office/drawing/2014/main" val="10004"/>
                  </a:ext>
                </a:extLst>
              </a:tr>
              <a:tr h="322057">
                <a:tc>
                  <a:txBody>
                    <a:bodyPr/>
                    <a:lstStyle/>
                    <a:p>
                      <a:r>
                        <a:rPr sz="1300" b="0">
                          <a:solidFill>
                            <a:srgbClr val="4169D0"/>
                          </a:solidFill>
                        </a:rPr>
                        <a:t>Profile</a:t>
                      </a:r>
                    </a:p>
                  </a:txBody>
                  <a:tcPr>
                    <a:solidFill>
                      <a:srgbClr val="DFC8E5"/>
                    </a:solidFill>
                  </a:tcPr>
                </a:tc>
                <a:tc>
                  <a:txBody>
                    <a:bodyPr/>
                    <a:lstStyle/>
                    <a:p>
                      <a:r>
                        <a:rPr sz="1300" b="0">
                          <a:solidFill>
                            <a:srgbClr val="4169D0"/>
                          </a:solidFill>
                        </a:rPr>
                        <a:t>Trigger</a:t>
                      </a:r>
                    </a:p>
                  </a:txBody>
                  <a:tcPr>
                    <a:solidFill>
                      <a:srgbClr val="DFC8E5"/>
                    </a:solidFill>
                  </a:tcPr>
                </a:tc>
                <a:extLst>
                  <a:ext uri="{0D108BD9-81ED-4DB2-BD59-A6C34878D82A}">
                    <a16:rowId xmlns:a16="http://schemas.microsoft.com/office/drawing/2014/main" val="10005"/>
                  </a:ext>
                </a:extLst>
              </a:tr>
            </a:tbl>
          </a:graphicData>
        </a:graphic>
      </p:graphicFrame>
      <p:sp>
        <p:nvSpPr>
          <p:cNvPr id="11" name="Moon 10"/>
          <p:cNvSpPr/>
          <p:nvPr/>
        </p:nvSpPr>
        <p:spPr>
          <a:xfrm>
            <a:off x="1229799" y="1195826"/>
            <a:ext cx="741642" cy="610498"/>
          </a:xfrm>
          <a:prstGeom prst="moon">
            <a:avLst/>
          </a:prstGeom>
          <a:noFill/>
          <a:ln w="24239">
            <a:solidFill>
              <a:srgbClr val="DE3B6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08895" y="3278746"/>
            <a:ext cx="795344" cy="2162323"/>
          </a:xfrm>
          <a:prstGeom prst="rect">
            <a:avLst/>
          </a:prstGeom>
          <a:noFill/>
        </p:spPr>
        <p:txBody>
          <a:bodyPr wrap="square" lIns="22018" tIns="22018" rIns="22018" bIns="22018">
            <a:noAutofit/>
          </a:bodyPr>
          <a:lstStyle/>
          <a:p>
            <a:r>
              <a:rPr sz="4400" b="1" i="0" u="none">
                <a:solidFill>
                  <a:srgbClr val="8C3A4E"/>
                </a:solidFill>
                <a:latin typeface="Trebuchet MS"/>
              </a:rPr>
              <a:t>Context Scale Span Slice Moment Indicator Version</a:t>
            </a:r>
          </a:p>
        </p:txBody>
      </p:sp>
      <p:pic>
        <p:nvPicPr>
          <p:cNvPr id="13" name="Picture 12" descr="_example_image.jpg"/>
          <p:cNvPicPr>
            <a:picLocks noChangeAspect="1"/>
          </p:cNvPicPr>
          <p:nvPr/>
        </p:nvPicPr>
        <p:blipFill>
          <a:blip r:embed="rId2"/>
          <a:srcRect l="13246" t="18201" r="11123" b="9877"/>
          <a:stretch>
            <a:fillRect/>
          </a:stretch>
        </p:blipFill>
        <p:spPr>
          <a:xfrm>
            <a:off x="7731081" y="1829736"/>
            <a:ext cx="2376138" cy="962735"/>
          </a:xfrm>
          <a:prstGeom prst="rect">
            <a:avLst/>
          </a:prstGeom>
        </p:spPr>
      </p:pic>
      <p:sp>
        <p:nvSpPr>
          <p:cNvPr id="14" name="Rounded Rectangle 13"/>
          <p:cNvSpPr/>
          <p:nvPr/>
        </p:nvSpPr>
        <p:spPr>
          <a:xfrm>
            <a:off x="8254087" y="5169213"/>
            <a:ext cx="2051567" cy="660481"/>
          </a:xfrm>
          <a:prstGeom prst="roundRect">
            <a:avLst/>
          </a:prstGeom>
          <a:solidFill>
            <a:srgbClr val="983F9D"/>
          </a:solidFill>
          <a:ln w="25014">
            <a:solidFill>
              <a:srgbClr val="CD56C7"/>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Line Callout 2 14"/>
          <p:cNvSpPr/>
          <p:nvPr/>
        </p:nvSpPr>
        <p:spPr>
          <a:xfrm>
            <a:off x="4859438" y="465222"/>
            <a:ext cx="652958" cy="340796"/>
          </a:xfrm>
          <a:prstGeom prst="borderCallout2">
            <a:avLst/>
          </a:prstGeom>
          <a:solidFill>
            <a:srgbClr val="557128"/>
          </a:solidFill>
          <a:ln w="26644">
            <a:solidFill>
              <a:srgbClr val="77E15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Chart 15"/>
          <p:cNvGraphicFramePr>
            <a:graphicFrameLocks noGrp="1"/>
          </p:cNvGraphicFramePr>
          <p:nvPr/>
        </p:nvGraphicFramePr>
        <p:xfrm>
          <a:off x="4475658" y="4466798"/>
          <a:ext cx="1842328" cy="194016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a:xfrm>
            <a:off x="2896534" y="1628249"/>
            <a:ext cx="1948502" cy="1735638"/>
          </a:xfrm>
          <a:prstGeom prst="rect">
            <a:avLst/>
          </a:prstGeom>
          <a:solidFill>
            <a:srgbClr val="207DAF"/>
          </a:solidFill>
        </p:spPr>
        <p:txBody>
          <a:bodyPr wrap="square" lIns="82839" tIns="82839" rIns="82839" bIns="82839">
            <a:noAutofit/>
          </a:bodyPr>
          <a:lstStyle/>
          <a:p>
            <a:r>
              <a:rPr sz="700" b="0" i="0" u="none">
                <a:solidFill>
                  <a:srgbClr val="B9A2C9"/>
                </a:solidFill>
                <a:latin typeface="Arial"/>
              </a:rPr>
              <a:t>Runtime System Depth Chart Response Threshold Pipeline Coverage Threshold Blueprint Element Checkpoint Report Audit Epoch Segment Metric Profile Inventory Version Transit Account Review Stage Result Point Scope Direction Pattern Signal Record Node Bridge Expansion Instance Friction Device Focus Instance Index Marker Explorer Package Blueprint</a:t>
            </a:r>
          </a:p>
        </p:txBody>
      </p:sp>
      <p:pic>
        <p:nvPicPr>
          <p:cNvPr id="19" name="Graphic 18">
            <a:extLst>
              <a:ext uri="{FF2B5EF4-FFF2-40B4-BE49-F238E27FC236}">
                <a16:creationId xmlns:a16="http://schemas.microsoft.com/office/drawing/2014/main" id="{68068FFF-B0E0-60FE-7F2C-01DEB23BABC2}"/>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3065133" y="407691"/>
            <a:ext cx="1409139" cy="852394"/>
          </a:xfrm>
          <a:prstGeom prst="rect">
            <a:avLst/>
          </a:prstGeom>
        </p:spPr>
      </p:pic>
      <p:pic>
        <p:nvPicPr>
          <p:cNvPr id="21" name="Graphic 20">
            <a:extLst>
              <a:ext uri="{FF2B5EF4-FFF2-40B4-BE49-F238E27FC236}">
                <a16:creationId xmlns:a16="http://schemas.microsoft.com/office/drawing/2014/main" id="{64CEEAAC-096B-1A8A-742F-1D1FDF36216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225794" y="5209345"/>
            <a:ext cx="1400908" cy="11718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119</Words>
  <Application>Microsoft Office PowerPoint</Application>
  <PresentationFormat>Widescreen</PresentationFormat>
  <Paragraphs>17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Trebuchet MS</vt:lpstr>
      <vt:lpstr>Verdana</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Beasley Smith</cp:lastModifiedBy>
  <cp:revision>2</cp:revision>
  <dcterms:created xsi:type="dcterms:W3CDTF">2013-01-27T09:14:16Z</dcterms:created>
  <dcterms:modified xsi:type="dcterms:W3CDTF">2026-05-12T02:32:04Z</dcterms:modified>
  <cp:category/>
</cp:coreProperties>
</file>