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oon 1"/>
          <p:cNvSpPr/>
          <p:nvPr/>
        </p:nvSpPr>
        <p:spPr>
          <a:xfrm>
            <a:off x="2612753" y="5089646"/>
            <a:ext cx="1277819" cy="621981"/>
          </a:xfrm>
          <a:prstGeom prst="moon">
            <a:avLst/>
          </a:prstGeom>
          <a:noFill/>
          <a:ln w="13744">
            <a:solidFill>
              <a:srgbClr val="9A1A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triped Right Arrow 2"/>
          <p:cNvSpPr/>
          <p:nvPr/>
        </p:nvSpPr>
        <p:spPr>
          <a:xfrm>
            <a:off x="597611" y="929956"/>
            <a:ext cx="1239940" cy="1007779"/>
          </a:xfrm>
          <a:prstGeom prst="stripedRightArrow">
            <a:avLst/>
          </a:prstGeom>
          <a:noFill/>
          <a:ln w="24773">
            <a:solidFill>
              <a:srgbClr val="E652A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example_image.jpg"/>
          <p:cNvPicPr>
            <a:picLocks noChangeAspect="1"/>
          </p:cNvPicPr>
          <p:nvPr/>
        </p:nvPicPr>
        <p:blipFill>
          <a:blip r:embed="rId2"/>
          <a:stretch>
            <a:fillRect/>
          </a:stretch>
        </p:blipFill>
        <p:spPr>
          <a:xfrm>
            <a:off x="1938397" y="720470"/>
            <a:ext cx="1962801" cy="1050771"/>
          </a:xfrm>
          <a:prstGeom prst="rect">
            <a:avLst/>
          </a:prstGeom>
        </p:spPr>
      </p:pic>
      <p:sp>
        <p:nvSpPr>
          <p:cNvPr id="5" name="TextBox 4"/>
          <p:cNvSpPr txBox="1"/>
          <p:nvPr/>
        </p:nvSpPr>
        <p:spPr>
          <a:xfrm>
            <a:off x="2158942" y="4423598"/>
            <a:ext cx="3479001" cy="517411"/>
          </a:xfrm>
          <a:prstGeom prst="rect">
            <a:avLst/>
          </a:prstGeom>
          <a:noFill/>
        </p:spPr>
        <p:txBody>
          <a:bodyPr wrap="none" lIns="70290" rIns="70290" tIns="70290" bIns="70290">
            <a:spAutoFit/>
          </a:bodyPr>
          <a:lstStyle/>
          <a:p>
            <a:r>
              <a:rPr sz="1200" b="0" i="0" u="none">
                <a:solidFill>
                  <a:srgbClr val="685E68"/>
                </a:solidFill>
                <a:latin typeface="Verdana"/>
              </a:rPr>
              <a:t>Moment Insight Transit Review Terminal Expansion Goal Cell Query Object Texture Workflow Engine Inventory Object Node Clarity Payload Dispatch Anchor System Lineage Cadence Feature Cluster Orbit Inventory Dimension</a:t>
            </a:r>
          </a:p>
        </p:txBody>
      </p:sp>
      <p:graphicFrame>
        <p:nvGraphicFramePr>
          <p:cNvPr id="6" name="Table 5"/>
          <p:cNvGraphicFramePr>
            <a:graphicFrameLocks noGrp="1"/>
          </p:cNvGraphicFramePr>
          <p:nvPr/>
        </p:nvGraphicFramePr>
        <p:xfrm>
          <a:off x="5261911" y="5183641"/>
          <a:ext cx="4355941" cy="1471158"/>
        </p:xfrm>
        <a:graphic>
          <a:graphicData uri="http://schemas.openxmlformats.org/drawingml/2006/table">
            <a:tbl>
              <a:tblPr firstRow="1" bandRow="1">
                <a:tableStyleId>{5C22544A-7EE6-4342-B048-85BDC9FD1C3A}</a:tableStyleId>
              </a:tblPr>
              <a:tblGrid>
                <a:gridCol w="871188"/>
                <a:gridCol w="871188"/>
                <a:gridCol w="871188"/>
                <a:gridCol w="871188"/>
                <a:gridCol w="871189"/>
              </a:tblGrid>
              <a:tr h="294231">
                <a:tc>
                  <a:txBody>
                    <a:bodyPr/>
                    <a:lstStyle/>
                    <a:p>
                      <a:r>
                        <a:rPr sz="800" b="0">
                          <a:solidFill>
                            <a:srgbClr val="7E703E"/>
                          </a:solidFill>
                        </a:rPr>
                        <a:t>Horizon</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Narrative</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Request</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Response</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Grid Version</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r>
              <a:tr h="294231">
                <a:tc>
                  <a:txBody>
                    <a:bodyPr/>
                    <a:lstStyle/>
                    <a:p>
                      <a:r>
                        <a:rPr sz="800" b="0">
                          <a:solidFill>
                            <a:srgbClr val="7E703E"/>
                          </a:solidFill>
                        </a:rPr>
                        <a:t>Domain Circuit</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Cluster Context</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Surface</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Center Path</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Flow Account</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r>
              <a:tr h="294231">
                <a:tc>
                  <a:txBody>
                    <a:bodyPr/>
                    <a:lstStyle/>
                    <a:p>
                      <a:r>
                        <a:rPr sz="800" b="0">
                          <a:solidFill>
                            <a:srgbClr val="7E703E"/>
                          </a:solidFill>
                        </a:rPr>
                        <a:t>Marker</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Target Order</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Drive</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Center Archive</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Matrix Window</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r>
              <a:tr h="294231">
                <a:tc>
                  <a:txBody>
                    <a:bodyPr/>
                    <a:lstStyle/>
                    <a:p>
                      <a:r>
                        <a:rPr sz="800" b="0">
                          <a:solidFill>
                            <a:srgbClr val="7E703E"/>
                          </a:solidFill>
                        </a:rPr>
                        <a:t>State Checkpoint</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Stage</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Limit Source</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Radius</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Marker</a:t>
                      </a:r>
                    </a:p>
                  </a:txBody>
                  <a:tcPr>
                    <a:solidFill>
                      <a:srgbClr val="F7C6F5"/>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r>
              <a:tr h="294234">
                <a:tc>
                  <a:txBody>
                    <a:bodyPr/>
                    <a:lstStyle/>
                    <a:p>
                      <a:r>
                        <a:rPr sz="800" b="0">
                          <a:solidFill>
                            <a:srgbClr val="7E703E"/>
                          </a:solidFill>
                        </a:rPr>
                        <a:t>Control</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Cluster Journey</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Domain</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Context Map</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c>
                  <a:txBody>
                    <a:bodyPr/>
                    <a:lstStyle/>
                    <a:p>
                      <a:r>
                        <a:rPr sz="800" b="0">
                          <a:solidFill>
                            <a:srgbClr val="7E703E"/>
                          </a:solidFill>
                        </a:rPr>
                        <a:t>Bridge</a:t>
                      </a:r>
                    </a:p>
                  </a:txBody>
                  <a:tcPr>
                    <a:solidFill>
                      <a:srgbClr val="FCEBFB"/>
                    </a:solidFill>
                    <a:lnL w="17417">
                      <a:solidFill>
                        <a:srgbClr val="CC831E"/>
                      </a:solidFill>
                      <a:prstDash val="sysDot"/>
                    </a:lnL>
                    <a:lnR w="17417">
                      <a:solidFill>
                        <a:srgbClr val="CC831E"/>
                      </a:solidFill>
                      <a:prstDash val="sysDot"/>
                    </a:lnR>
                    <a:lnT w="17417">
                      <a:solidFill>
                        <a:srgbClr val="CC831E"/>
                      </a:solidFill>
                      <a:prstDash val="sysDot"/>
                    </a:lnT>
                    <a:lnB w="17417">
                      <a:solidFill>
                        <a:srgbClr val="CC831E"/>
                      </a:solidFill>
                      <a:prstDash val="sysDot"/>
                    </a:lnB>
                  </a:tcPr>
                </a:tc>
              </a:tr>
            </a:tbl>
          </a:graphicData>
        </a:graphic>
      </p:graphicFrame>
      <p:sp>
        <p:nvSpPr>
          <p:cNvPr id="7" name="Lightning Bolt 6"/>
          <p:cNvSpPr/>
          <p:nvPr/>
        </p:nvSpPr>
        <p:spPr>
          <a:xfrm>
            <a:off x="9677411" y="434157"/>
            <a:ext cx="1128076" cy="376778"/>
          </a:xfrm>
          <a:prstGeom prst="lightningBolt">
            <a:avLst/>
          </a:prstGeom>
          <a:solidFill>
            <a:srgbClr val="72B765"/>
          </a:solidFill>
          <a:ln w="20071">
            <a:solidFill>
              <a:srgbClr val="6B6CA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_example_image.jpg"/>
          <p:cNvPicPr>
            <a:picLocks noChangeAspect="1"/>
          </p:cNvPicPr>
          <p:nvPr/>
        </p:nvPicPr>
        <p:blipFill>
          <a:blip r:embed="rId2"/>
          <a:stretch>
            <a:fillRect/>
          </a:stretch>
        </p:blipFill>
        <p:spPr>
          <a:xfrm>
            <a:off x="6286991" y="3607049"/>
            <a:ext cx="1876605" cy="738479"/>
          </a:xfrm>
          <a:prstGeom prst="rect">
            <a:avLst/>
          </a:prstGeom>
        </p:spPr>
      </p:pic>
      <p:sp>
        <p:nvSpPr>
          <p:cNvPr id="9" name="TextBox 8"/>
          <p:cNvSpPr txBox="1"/>
          <p:nvPr/>
        </p:nvSpPr>
        <p:spPr>
          <a:xfrm>
            <a:off x="6484458" y="4274077"/>
            <a:ext cx="1871739" cy="1139615"/>
          </a:xfrm>
          <a:prstGeom prst="rect">
            <a:avLst/>
          </a:prstGeom>
          <a:noFill/>
        </p:spPr>
        <p:txBody>
          <a:bodyPr wrap="none" lIns="45144" rIns="45144" tIns="45144" bIns="45144">
            <a:spAutoFit/>
          </a:bodyPr>
          <a:lstStyle/>
          <a:p>
            <a:r>
              <a:rPr sz="1800" b="0" i="0" u="none">
                <a:solidFill>
                  <a:srgbClr val="2A4D46"/>
                </a:solidFill>
                <a:latin typeface="Trebuchet MS"/>
              </a:rPr>
              <a:t>Node Bundle Needle Program Stack Envelope Milestone Grid Review Structure Insight Timeline Memory Context Array System Archive System Impact Module</a:t>
            </a:r>
          </a:p>
        </p:txBody>
      </p:sp>
      <p:pic>
        <p:nvPicPr>
          <p:cNvPr id="10" name="Picture 9" descr="_example_image.jpg"/>
          <p:cNvPicPr>
            <a:picLocks noChangeAspect="1"/>
          </p:cNvPicPr>
          <p:nvPr/>
        </p:nvPicPr>
        <p:blipFill>
          <a:blip r:embed="rId2"/>
          <a:stretch>
            <a:fillRect/>
          </a:stretch>
        </p:blipFill>
        <p:spPr>
          <a:xfrm>
            <a:off x="8591920" y="2668997"/>
            <a:ext cx="1903795" cy="737086"/>
          </a:xfrm>
          <a:prstGeom prst="rect">
            <a:avLst/>
          </a:prstGeom>
        </p:spPr>
      </p:pic>
      <p:sp>
        <p:nvSpPr>
          <p:cNvPr id="11" name="TextBox 10"/>
          <p:cNvSpPr txBox="1"/>
          <p:nvPr/>
        </p:nvSpPr>
        <p:spPr>
          <a:xfrm>
            <a:off x="3243228" y="2424154"/>
            <a:ext cx="1180550" cy="624668"/>
          </a:xfrm>
          <a:prstGeom prst="rect">
            <a:avLst/>
          </a:prstGeom>
          <a:solidFill>
            <a:srgbClr val="A3B9BE"/>
          </a:solidFill>
        </p:spPr>
        <p:txBody>
          <a:bodyPr wrap="none" lIns="86759" rIns="86759" tIns="86759" bIns="86759">
            <a:spAutoFit/>
          </a:bodyPr>
          <a:lstStyle/>
          <a:p>
            <a:r>
              <a:rPr sz="1000" b="0" i="0" u="none">
                <a:solidFill>
                  <a:srgbClr val="DDAAA6"/>
                </a:solidFill>
                <a:latin typeface="Aptos"/>
              </a:rPr>
              <a:t>Cluster Journey Plan Vertex Apex Adaptive Precision Report Interface Drift Discovery Atlas Edge Hub Strategy Baseline Density Exchange Detail Frequency Pattern Canvas Iteration Design Segment Limit Route Vertex</a:t>
            </a:r>
          </a:p>
        </p:txBody>
      </p:sp>
      <p:sp>
        <p:nvSpPr>
          <p:cNvPr id="12" name="Cube 11"/>
          <p:cNvSpPr/>
          <p:nvPr/>
        </p:nvSpPr>
        <p:spPr>
          <a:xfrm>
            <a:off x="10946397" y="3541958"/>
            <a:ext cx="836899" cy="1372594"/>
          </a:xfrm>
          <a:prstGeom prst="cube">
            <a:avLst/>
          </a:prstGeom>
          <a:solidFill>
            <a:srgbClr val="582772"/>
          </a:solidFill>
          <a:ln w="26797">
            <a:solidFill>
              <a:srgbClr val="4C9B30"/>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2356" y="2009713"/>
            <a:ext cx="3487496" cy="1804937"/>
          </a:xfrm>
          <a:prstGeom prst="rect">
            <a:avLst/>
          </a:prstGeom>
          <a:noFill/>
        </p:spPr>
        <p:txBody>
          <a:bodyPr wrap="none" lIns="64928" rIns="64928" tIns="64928" bIns="64928">
            <a:spAutoFit/>
          </a:bodyPr>
          <a:lstStyle/>
          <a:p>
            <a:r>
              <a:rPr sz="1200" b="0" i="1" u="none">
                <a:solidFill>
                  <a:srgbClr val="3523CB"/>
                </a:solidFill>
                <a:latin typeface="Trebuchet MS"/>
              </a:rPr>
              <a:t>Element Gradient Foundation Waypoint</a:t>
            </a:r>
          </a:p>
        </p:txBody>
      </p:sp>
      <p:graphicFrame>
        <p:nvGraphicFramePr>
          <p:cNvPr id="14" name="Table 13"/>
          <p:cNvGraphicFramePr>
            <a:graphicFrameLocks noGrp="1"/>
          </p:cNvGraphicFramePr>
          <p:nvPr/>
        </p:nvGraphicFramePr>
        <p:xfrm>
          <a:off x="716097" y="3742403"/>
          <a:ext cx="2148788" cy="1040209"/>
        </p:xfrm>
        <a:graphic>
          <a:graphicData uri="http://schemas.openxmlformats.org/drawingml/2006/table">
            <a:tbl>
              <a:tblPr firstRow="1" bandRow="1">
                <a:tableStyleId>{5C22544A-7EE6-4342-B048-85BDC9FD1C3A}</a:tableStyleId>
              </a:tblPr>
              <a:tblGrid>
                <a:gridCol w="716262"/>
                <a:gridCol w="716262"/>
                <a:gridCol w="716264"/>
              </a:tblGrid>
              <a:tr h="346736">
                <a:tc>
                  <a:txBody>
                    <a:bodyPr/>
                    <a:lstStyle/>
                    <a:p>
                      <a:r>
                        <a:rPr sz="1100" b="1">
                          <a:solidFill>
                            <a:srgbClr val="33B670"/>
                          </a:solidFill>
                        </a:rPr>
                        <a:t>Response Intent</a:t>
                      </a:r>
                    </a:p>
                  </a:txBody>
                  <a:tcPr>
                    <a:solidFill>
                      <a:srgbClr val="E39D3A"/>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c>
                  <a:txBody>
                    <a:bodyPr/>
                    <a:lstStyle/>
                    <a:p>
                      <a:r>
                        <a:rPr sz="1100" b="1">
                          <a:solidFill>
                            <a:srgbClr val="33B670"/>
                          </a:solidFill>
                        </a:rPr>
                        <a:t>Engine Format</a:t>
                      </a:r>
                    </a:p>
                  </a:txBody>
                  <a:tcPr>
                    <a:solidFill>
                      <a:srgbClr val="E39D3A"/>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c>
                  <a:txBody>
                    <a:bodyPr/>
                    <a:lstStyle/>
                    <a:p>
                      <a:r>
                        <a:rPr sz="1100" b="1">
                          <a:solidFill>
                            <a:srgbClr val="33B670"/>
                          </a:solidFill>
                        </a:rPr>
                        <a:t>Signal</a:t>
                      </a:r>
                    </a:p>
                  </a:txBody>
                  <a:tcPr>
                    <a:solidFill>
                      <a:srgbClr val="E39D3A"/>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r>
              <a:tr h="346736">
                <a:tc>
                  <a:txBody>
                    <a:bodyPr/>
                    <a:lstStyle/>
                    <a:p>
                      <a:r>
                        <a:rPr sz="1100" b="0">
                          <a:solidFill>
                            <a:srgbClr val="33B670"/>
                          </a:solidFill>
                        </a:rPr>
                        <a:t>Core</a:t>
                      </a:r>
                    </a:p>
                  </a:txBody>
                  <a:tcPr>
                    <a:solidFill>
                      <a:srgbClr val="EEFCF3"/>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c>
                  <a:txBody>
                    <a:bodyPr/>
                    <a:lstStyle/>
                    <a:p>
                      <a:r>
                        <a:rPr sz="1100" b="0">
                          <a:solidFill>
                            <a:srgbClr val="33B670"/>
                          </a:solidFill>
                        </a:rPr>
                        <a:t>Link</a:t>
                      </a:r>
                    </a:p>
                  </a:txBody>
                  <a:tcPr>
                    <a:solidFill>
                      <a:srgbClr val="C4F4D8"/>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c>
                  <a:txBody>
                    <a:bodyPr/>
                    <a:lstStyle/>
                    <a:p>
                      <a:r>
                        <a:rPr sz="1100" b="0">
                          <a:solidFill>
                            <a:srgbClr val="33B670"/>
                          </a:solidFill>
                        </a:rPr>
                        <a:t>View Metric</a:t>
                      </a:r>
                    </a:p>
                  </a:txBody>
                  <a:tcPr>
                    <a:solidFill>
                      <a:srgbClr val="EEFCF3"/>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r>
              <a:tr h="346737">
                <a:tc>
                  <a:txBody>
                    <a:bodyPr/>
                    <a:lstStyle/>
                    <a:p>
                      <a:r>
                        <a:rPr sz="1100" b="0">
                          <a:solidFill>
                            <a:srgbClr val="33B670"/>
                          </a:solidFill>
                        </a:rPr>
                        <a:t>Expansion</a:t>
                      </a:r>
                    </a:p>
                  </a:txBody>
                  <a:tcPr>
                    <a:solidFill>
                      <a:srgbClr val="EEFCF3"/>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c>
                  <a:txBody>
                    <a:bodyPr/>
                    <a:lstStyle/>
                    <a:p>
                      <a:r>
                        <a:rPr sz="1100" b="0">
                          <a:solidFill>
                            <a:srgbClr val="33B670"/>
                          </a:solidFill>
                        </a:rPr>
                        <a:t>Kernel</a:t>
                      </a:r>
                    </a:p>
                  </a:txBody>
                  <a:tcPr>
                    <a:solidFill>
                      <a:srgbClr val="C4F4D8"/>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c>
                  <a:txBody>
                    <a:bodyPr/>
                    <a:lstStyle/>
                    <a:p>
                      <a:r>
                        <a:rPr sz="1100" b="0">
                          <a:solidFill>
                            <a:srgbClr val="33B670"/>
                          </a:solidFill>
                        </a:rPr>
                        <a:t>Friction</a:t>
                      </a:r>
                    </a:p>
                  </a:txBody>
                  <a:tcPr>
                    <a:solidFill>
                      <a:srgbClr val="EEFCF3"/>
                    </a:solidFill>
                    <a:lnL w="14074">
                      <a:solidFill>
                        <a:srgbClr val="99E124"/>
                      </a:solidFill>
                      <a:prstDash val="solid"/>
                    </a:lnL>
                    <a:lnR w="14074">
                      <a:solidFill>
                        <a:srgbClr val="99E124"/>
                      </a:solidFill>
                      <a:prstDash val="solid"/>
                    </a:lnR>
                    <a:lnT w="14074">
                      <a:solidFill>
                        <a:srgbClr val="99E124"/>
                      </a:solidFill>
                      <a:prstDash val="solid"/>
                    </a:lnT>
                    <a:lnB w="14074">
                      <a:solidFill>
                        <a:srgbClr val="99E124"/>
                      </a:solidFill>
                      <a:prstDash val="solid"/>
                    </a:lnB>
                  </a:tcPr>
                </a:tc>
              </a:tr>
            </a:tbl>
          </a:graphicData>
        </a:graphic>
      </p:graphicFrame>
      <p:sp>
        <p:nvSpPr>
          <p:cNvPr id="15" name="TextBox 14"/>
          <p:cNvSpPr txBox="1"/>
          <p:nvPr/>
        </p:nvSpPr>
        <p:spPr>
          <a:xfrm>
            <a:off x="9695863" y="3935919"/>
            <a:ext cx="1213479" cy="2063080"/>
          </a:xfrm>
          <a:prstGeom prst="rect">
            <a:avLst/>
          </a:prstGeom>
          <a:solidFill>
            <a:srgbClr val="8E7B2F"/>
          </a:solidFill>
        </p:spPr>
        <p:txBody>
          <a:bodyPr wrap="none" lIns="40105" rIns="40105" tIns="40105" bIns="40105">
            <a:spAutoFit/>
          </a:bodyPr>
          <a:lstStyle/>
          <a:p>
            <a:r>
              <a:rPr sz="1400" b="0" i="1" u="none">
                <a:solidFill>
                  <a:srgbClr val="421DDC"/>
                </a:solidFill>
                <a:latin typeface="Georgia"/>
              </a:rPr>
              <a:t>Delta Vector Table Release Motion Variant Frame Function Output Clarity Kernel Marker Stream Drift State Deck Command Request Baseline Window Panel State Target Route Narrative Station Frame Handle Viewport Timeline Concept Sample Deployment Pixel Map Edge</a:t>
            </a:r>
          </a:p>
        </p:txBody>
      </p:sp>
      <p:sp>
        <p:nvSpPr>
          <p:cNvPr id="16" name="Process 15"/>
          <p:cNvSpPr/>
          <p:nvPr/>
        </p:nvSpPr>
        <p:spPr>
          <a:xfrm>
            <a:off x="10450477" y="1846928"/>
            <a:ext cx="409598" cy="510146"/>
          </a:xfrm>
          <a:prstGeom prst="flowChartProcess">
            <a:avLst/>
          </a:prstGeom>
          <a:solidFill>
            <a:srgbClr val="878ABB"/>
          </a:solidFill>
          <a:ln w="25524">
            <a:solidFill>
              <a:srgbClr val="54C4C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77797" y="627950"/>
            <a:ext cx="4827660" cy="1098328"/>
          </a:xfrm>
          <a:prstGeom prst="rect">
            <a:avLst/>
          </a:prstGeom>
          <a:noFill/>
        </p:spPr>
        <p:txBody>
          <a:bodyPr wrap="none" lIns="36128" rIns="36128" tIns="36128" bIns="36128">
            <a:spAutoFit/>
          </a:bodyPr>
          <a:lstStyle/>
          <a:p>
            <a:r>
              <a:rPr sz="2100" b="0" i="0" u="none">
                <a:solidFill>
                  <a:srgbClr val="96C99E"/>
                </a:solidFill>
                <a:latin typeface="Arial"/>
              </a:rPr>
              <a:t>Build Buffer Center Token Array Map Briefing Query Forecast Panel Gradient Deck</a:t>
            </a:r>
          </a:p>
        </p:txBody>
      </p:sp>
      <p:sp>
        <p:nvSpPr>
          <p:cNvPr id="18" name="Oval Callout 17"/>
          <p:cNvSpPr/>
          <p:nvPr/>
        </p:nvSpPr>
        <p:spPr>
          <a:xfrm>
            <a:off x="11353486" y="1944400"/>
            <a:ext cx="494566" cy="1374680"/>
          </a:xfrm>
          <a:prstGeom prst="wedgeEllipseCallout">
            <a:avLst/>
          </a:prstGeom>
          <a:solidFill>
            <a:srgbClr val="A2E0AD"/>
          </a:solidFill>
          <a:ln w="21450">
            <a:solidFill>
              <a:srgbClr val="46E38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splay 18"/>
          <p:cNvSpPr/>
          <p:nvPr/>
        </p:nvSpPr>
        <p:spPr>
          <a:xfrm>
            <a:off x="8902245" y="1161312"/>
            <a:ext cx="1360965" cy="1634068"/>
          </a:xfrm>
          <a:prstGeom prst="flowChartDisplay">
            <a:avLst/>
          </a:prstGeom>
          <a:solidFill>
            <a:srgbClr val="408F21"/>
          </a:solidFill>
          <a:ln w="30140">
            <a:solidFill>
              <a:srgbClr val="96AA8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