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37344" y="2029762"/>
            <a:ext cx="2421549" cy="1043990"/>
          </a:xfrm>
          <a:prstGeom prst="rect">
            <a:avLst/>
          </a:prstGeom>
          <a:noFill/>
        </p:spPr>
        <p:txBody>
          <a:bodyPr wrap="none" lIns="71721" rIns="71721" tIns="71721" bIns="71721">
            <a:spAutoFit/>
          </a:bodyPr>
          <a:lstStyle/>
          <a:p>
            <a:r>
              <a:rPr sz="1300" b="0" i="0" u="none">
                <a:solidFill>
                  <a:srgbClr val="868D7F"/>
                </a:solidFill>
                <a:latin typeface="Georgia"/>
              </a:rPr>
              <a:t>Command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2681" y="1867670"/>
            <a:ext cx="3203355" cy="932336"/>
          </a:xfrm>
          <a:prstGeom prst="rect">
            <a:avLst/>
          </a:prstGeom>
          <a:solidFill>
            <a:srgbClr val="6454B9"/>
          </a:solidFill>
        </p:spPr>
        <p:txBody>
          <a:bodyPr wrap="none" lIns="69033" rIns="69033" tIns="69033" bIns="69033">
            <a:spAutoFit/>
          </a:bodyPr>
          <a:lstStyle/>
          <a:p>
            <a:r>
              <a:rPr sz="2300" b="0" i="0" u="none">
                <a:solidFill>
                  <a:srgbClr val="4ADA43"/>
                </a:solidFill>
                <a:latin typeface="Calibri"/>
              </a:rPr>
              <a:t>Array North Lineage Action Envelope Timeline Process Version Target Signal Payload Schema</a:t>
            </a:r>
          </a:p>
        </p:txBody>
      </p:sp>
      <p:pic>
        <p:nvPicPr>
          <p:cNvPr id="4" name="Picture 3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643" y="699314"/>
            <a:ext cx="1359691" cy="12488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6644" y="4805313"/>
            <a:ext cx="1522434" cy="1076986"/>
          </a:xfrm>
          <a:prstGeom prst="rect">
            <a:avLst/>
          </a:prstGeom>
          <a:noFill/>
        </p:spPr>
        <p:txBody>
          <a:bodyPr wrap="none" lIns="81310" rIns="81310" tIns="81310" bIns="81310">
            <a:spAutoFit/>
          </a:bodyPr>
          <a:lstStyle/>
          <a:p>
            <a:r>
              <a:rPr sz="1000" b="0" i="0" u="none">
                <a:solidFill>
                  <a:srgbClr val="336FB4"/>
                </a:solidFill>
                <a:latin typeface="Calibri"/>
              </a:rPr>
              <a:t>Threshold Center Detail Mode Waypoint Needle Network Lineage Indicator Transit Template Array</a:t>
            </a:r>
          </a:p>
        </p:txBody>
      </p:sp>
      <p:sp>
        <p:nvSpPr>
          <p:cNvPr id="6" name="Isosceles Triangle 5"/>
          <p:cNvSpPr/>
          <p:nvPr/>
        </p:nvSpPr>
        <p:spPr>
          <a:xfrm>
            <a:off x="11184065" y="1236098"/>
            <a:ext cx="620533" cy="1225573"/>
          </a:xfrm>
          <a:prstGeom prst="triangle">
            <a:avLst/>
          </a:prstGeom>
          <a:solidFill>
            <a:srgbClr val="378837"/>
          </a:solidFill>
          <a:ln w="9934">
            <a:solidFill>
              <a:srgbClr val="E1347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3173" y="3496801"/>
          <a:ext cx="2026214" cy="1129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107"/>
                <a:gridCol w="1013107"/>
              </a:tblGrid>
              <a:tr h="56455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BA6C1"/>
                          </a:solidFill>
                        </a:rPr>
                        <a:t>Pulse</a:t>
                      </a:r>
                    </a:p>
                  </a:txBody>
                  <a:tcPr>
                    <a:solidFill>
                      <a:srgbClr val="F3DDF7"/>
                    </a:solidFill>
                    <a:lnL w="35910">
                      <a:solidFill>
                        <a:srgbClr val="DE3C67"/>
                      </a:solidFill>
                      <a:prstDash val="solid"/>
                    </a:lnL>
                    <a:lnR w="35910">
                      <a:solidFill>
                        <a:srgbClr val="DE3C67"/>
                      </a:solidFill>
                      <a:prstDash val="solid"/>
                    </a:lnR>
                    <a:lnT w="35910">
                      <a:solidFill>
                        <a:srgbClr val="DE3C67"/>
                      </a:solidFill>
                      <a:prstDash val="solid"/>
                    </a:lnT>
                    <a:lnB w="35910">
                      <a:solidFill>
                        <a:srgbClr val="DE3C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BA6C1"/>
                          </a:solidFill>
                        </a:rPr>
                        <a:t>Plan Input</a:t>
                      </a:r>
                    </a:p>
                  </a:txBody>
                  <a:tcPr>
                    <a:solidFill>
                      <a:srgbClr val="F3DDF7"/>
                    </a:solidFill>
                    <a:lnL w="35910">
                      <a:solidFill>
                        <a:srgbClr val="DE3C67"/>
                      </a:solidFill>
                      <a:prstDash val="solid"/>
                    </a:lnL>
                    <a:lnR w="35910">
                      <a:solidFill>
                        <a:srgbClr val="DE3C67"/>
                      </a:solidFill>
                      <a:prstDash val="solid"/>
                    </a:lnR>
                    <a:lnT w="35910">
                      <a:solidFill>
                        <a:srgbClr val="DE3C67"/>
                      </a:solidFill>
                      <a:prstDash val="solid"/>
                    </a:lnT>
                    <a:lnB w="35910">
                      <a:solidFill>
                        <a:srgbClr val="DE3C67"/>
                      </a:solidFill>
                      <a:prstDash val="solid"/>
                    </a:lnB>
                  </a:tcPr>
                </a:tc>
              </a:tr>
              <a:tr h="56455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BA6C1"/>
                          </a:solidFill>
                        </a:rPr>
                        <a:t>Aspect Strategy</a:t>
                      </a:r>
                    </a:p>
                  </a:txBody>
                  <a:tcPr>
                    <a:solidFill>
                      <a:srgbClr val="F3DDF7"/>
                    </a:solidFill>
                    <a:lnL w="35910">
                      <a:solidFill>
                        <a:srgbClr val="DE3C67"/>
                      </a:solidFill>
                      <a:prstDash val="solid"/>
                    </a:lnL>
                    <a:lnR w="35910">
                      <a:solidFill>
                        <a:srgbClr val="DE3C67"/>
                      </a:solidFill>
                      <a:prstDash val="solid"/>
                    </a:lnR>
                    <a:lnT w="35910">
                      <a:solidFill>
                        <a:srgbClr val="DE3C67"/>
                      </a:solidFill>
                      <a:prstDash val="solid"/>
                    </a:lnT>
                    <a:lnB w="35910">
                      <a:solidFill>
                        <a:srgbClr val="DE3C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BA6C1"/>
                          </a:solidFill>
                        </a:rPr>
                        <a:t>Link</a:t>
                      </a:r>
                    </a:p>
                  </a:txBody>
                  <a:tcPr>
                    <a:solidFill>
                      <a:srgbClr val="F3DDF7"/>
                    </a:solidFill>
                    <a:lnL w="35910">
                      <a:solidFill>
                        <a:srgbClr val="DE3C67"/>
                      </a:solidFill>
                      <a:prstDash val="solid"/>
                    </a:lnL>
                    <a:lnR w="35910">
                      <a:solidFill>
                        <a:srgbClr val="DE3C67"/>
                      </a:solidFill>
                      <a:prstDash val="solid"/>
                    </a:lnR>
                    <a:lnT w="35910">
                      <a:solidFill>
                        <a:srgbClr val="DE3C67"/>
                      </a:solidFill>
                      <a:prstDash val="solid"/>
                    </a:lnT>
                    <a:lnB w="35910">
                      <a:solidFill>
                        <a:srgbClr val="DE3C6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328042" y="5183291"/>
            <a:ext cx="2042017" cy="1017571"/>
          </a:xfrm>
          <a:prstGeom prst="rect">
            <a:avLst/>
          </a:prstGeom>
          <a:noFill/>
        </p:spPr>
        <p:txBody>
          <a:bodyPr wrap="none" lIns="43803" rIns="43803" tIns="43803" bIns="43803">
            <a:spAutoFit/>
          </a:bodyPr>
          <a:lstStyle/>
          <a:p>
            <a:r>
              <a:rPr sz="5400" b="1" i="1" u="none">
                <a:solidFill>
                  <a:srgbClr val="B6D5E6"/>
                </a:solidFill>
                <a:latin typeface="Georgia"/>
              </a:rPr>
              <a:t>Detail Track Deck Guide Timeline Context Collection</a:t>
            </a:r>
          </a:p>
        </p:txBody>
      </p:sp>
      <p:sp>
        <p:nvSpPr>
          <p:cNvPr id="9" name="Left-Right Arrow 8"/>
          <p:cNvSpPr/>
          <p:nvPr/>
        </p:nvSpPr>
        <p:spPr>
          <a:xfrm>
            <a:off x="5097052" y="3660253"/>
            <a:ext cx="549235" cy="1101600"/>
          </a:xfrm>
          <a:prstGeom prst="leftRightArrow">
            <a:avLst/>
          </a:prstGeom>
          <a:solidFill>
            <a:srgbClr val="70AD4E"/>
          </a:solidFill>
          <a:ln w="27454">
            <a:solidFill>
              <a:srgbClr val="539E2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531984" y="3067342"/>
          <a:ext cx="2975871" cy="1537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967"/>
                <a:gridCol w="743967"/>
                <a:gridCol w="743967"/>
                <a:gridCol w="743970"/>
              </a:tblGrid>
              <a:tr h="256225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Mesh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Mode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Exchange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Asset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</a:tr>
              <a:tr h="256225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Direction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Template Topology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Runtime Filter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Spectrum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</a:tr>
              <a:tr h="256225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Lineage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Object Insight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Heading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North Signal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</a:tr>
              <a:tr h="256225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Loop Signal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Concept Field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Analysis Instance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</a:tr>
              <a:tr h="256225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Template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Structure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Bridge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Review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Waypoint Transform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Resource Diagram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Table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7CD7B3"/>
                          </a:solidFill>
                        </a:rPr>
                        <a:t>Agenda Dispatch</a:t>
                      </a:r>
                    </a:p>
                  </a:txBody>
                  <a:tcPr>
                    <a:solidFill>
                      <a:srgbClr val="F2F3F1"/>
                    </a:solidFill>
                    <a:lnL w="31243">
                      <a:solidFill>
                        <a:srgbClr val="C87679"/>
                      </a:solidFill>
                      <a:prstDash val="solid"/>
                    </a:lnL>
                    <a:lnR w="31243">
                      <a:solidFill>
                        <a:srgbClr val="C87679"/>
                      </a:solidFill>
                      <a:prstDash val="solid"/>
                    </a:lnR>
                    <a:lnT w="31243">
                      <a:solidFill>
                        <a:srgbClr val="C87679"/>
                      </a:solidFill>
                      <a:prstDash val="solid"/>
                    </a:lnT>
                    <a:lnB w="31243">
                      <a:solidFill>
                        <a:srgbClr val="C8767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821417" y="626378"/>
            <a:ext cx="443772" cy="1913088"/>
          </a:xfrm>
          <a:prstGeom prst="rect">
            <a:avLst/>
          </a:prstGeom>
          <a:solidFill>
            <a:srgbClr val="86D4C9"/>
          </a:solidFill>
          <a:ln w="14797">
            <a:solidFill>
              <a:srgbClr val="197AD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0516" y="490822"/>
            <a:ext cx="3462593" cy="841322"/>
          </a:xfrm>
          <a:prstGeom prst="rect">
            <a:avLst/>
          </a:prstGeom>
          <a:noFill/>
        </p:spPr>
        <p:txBody>
          <a:bodyPr wrap="none" lIns="23875" rIns="23875" tIns="23875" bIns="23875">
            <a:spAutoFit/>
          </a:bodyPr>
          <a:lstStyle/>
          <a:p>
            <a:r>
              <a:rPr sz="3000" b="1" i="0" u="none">
                <a:solidFill>
                  <a:srgbClr val="976DA3"/>
                </a:solidFill>
                <a:latin typeface="Calibri"/>
              </a:rPr>
              <a:t>Signal Direction Trend Envelope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977" y="2993954"/>
            <a:ext cx="2039601" cy="410147"/>
          </a:xfrm>
          <a:prstGeom prst="rect">
            <a:avLst/>
          </a:prstGeom>
          <a:solidFill>
            <a:srgbClr val="6423CD"/>
          </a:solidFill>
        </p:spPr>
        <p:txBody>
          <a:bodyPr wrap="none" lIns="71633" rIns="71633" tIns="71633" bIns="71633">
            <a:spAutoFit/>
          </a:bodyPr>
          <a:lstStyle/>
          <a:p>
            <a:r>
              <a:rPr sz="1200" b="0" i="0" u="none">
                <a:solidFill>
                  <a:srgbClr val="7133D1"/>
                </a:solidFill>
                <a:latin typeface="Georgia"/>
              </a:rPr>
              <a:t>View Hub Cortex Request Connector Column Archive Grid Package Status Discovery</a:t>
            </a:r>
          </a:p>
        </p:txBody>
      </p:sp>
      <p:pic>
        <p:nvPicPr>
          <p:cNvPr id="14" name="Picture 13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335" y="5735482"/>
            <a:ext cx="2123236" cy="798367"/>
          </a:xfrm>
          <a:prstGeom prst="rect">
            <a:avLst/>
          </a:prstGeom>
        </p:spPr>
      </p:pic>
      <p:sp>
        <p:nvSpPr>
          <p:cNvPr id="15" name="Funnel 14"/>
          <p:cNvSpPr/>
          <p:nvPr/>
        </p:nvSpPr>
        <p:spPr>
          <a:xfrm>
            <a:off x="9250146" y="4471795"/>
            <a:ext cx="1272784" cy="1677705"/>
          </a:xfrm>
          <a:prstGeom prst="funnel">
            <a:avLst/>
          </a:prstGeom>
          <a:solidFill>
            <a:srgbClr val="AF56B2"/>
          </a:solidFill>
          <a:ln w="25580">
            <a:solidFill>
              <a:srgbClr val="6654B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ie 15"/>
          <p:cNvSpPr/>
          <p:nvPr/>
        </p:nvSpPr>
        <p:spPr>
          <a:xfrm>
            <a:off x="10973169" y="2752158"/>
            <a:ext cx="530756" cy="326821"/>
          </a:xfrm>
          <a:prstGeom prst="pie">
            <a:avLst/>
          </a:prstGeom>
          <a:solidFill>
            <a:srgbClr val="8853C6"/>
          </a:solidFill>
          <a:ln w="18364">
            <a:solidFill>
              <a:srgbClr val="AE3984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ular Callout 16"/>
          <p:cNvSpPr/>
          <p:nvPr/>
        </p:nvSpPr>
        <p:spPr>
          <a:xfrm>
            <a:off x="10773331" y="4844169"/>
            <a:ext cx="811598" cy="1602621"/>
          </a:xfrm>
          <a:prstGeom prst="wedgeRoundRectCallout">
            <a:avLst/>
          </a:prstGeom>
          <a:solidFill>
            <a:srgbClr val="6536B3"/>
          </a:solidFill>
          <a:ln w="9042">
            <a:solidFill>
              <a:srgbClr val="3C5C8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ft-Right Arrow Callout 17"/>
          <p:cNvSpPr/>
          <p:nvPr/>
        </p:nvSpPr>
        <p:spPr>
          <a:xfrm>
            <a:off x="7654739" y="3540970"/>
            <a:ext cx="1017490" cy="1241836"/>
          </a:xfrm>
          <a:prstGeom prst="leftRightArrowCallout">
            <a:avLst/>
          </a:prstGeom>
          <a:solidFill>
            <a:srgbClr val="9442E1"/>
          </a:solidFill>
          <a:ln w="30892">
            <a:solidFill>
              <a:srgbClr val="C1857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1361" y="927699"/>
            <a:ext cx="1267365" cy="9711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