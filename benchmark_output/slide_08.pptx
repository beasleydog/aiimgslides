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uad Arrow 1"/>
          <p:cNvSpPr/>
          <p:nvPr/>
        </p:nvSpPr>
        <p:spPr>
          <a:xfrm>
            <a:off x="3906747" y="492991"/>
            <a:ext cx="2644733" cy="445196"/>
          </a:xfrm>
          <a:prstGeom prst="quadArrow">
            <a:avLst/>
          </a:prstGeom>
          <a:solidFill>
            <a:srgbClr val="3CAF24"/>
          </a:solidFill>
          <a:ln w="30669">
            <a:solidFill>
              <a:srgbClr val="CDC05B"/>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35049" y="2034427"/>
            <a:ext cx="1603612" cy="1362223"/>
          </a:xfrm>
          <a:prstGeom prst="rect">
            <a:avLst/>
          </a:prstGeom>
          <a:noFill/>
        </p:spPr>
        <p:txBody>
          <a:bodyPr wrap="none" lIns="68726" rIns="68726" tIns="68726" bIns="68726">
            <a:spAutoFit/>
          </a:bodyPr>
          <a:lstStyle/>
          <a:p>
            <a:r>
              <a:rPr sz="1500" b="1" i="0" u="none">
                <a:solidFill>
                  <a:srgbClr val="B38F76"/>
                </a:solidFill>
                <a:latin typeface="Verdana"/>
              </a:rPr>
              <a:t>Compass Priority Method Pulse Report Scope Measure Sync Service Layer Impact Velocity Radius Schema Point Anchor Metric Gateway Alpha Connector Alpha Runtime Factor Program Forecast Discovery Cluster Diagram Ratio Clarity Keyline State Draft Response Option Channel Trend Dispatch Explorer Response</a:t>
            </a:r>
          </a:p>
        </p:txBody>
      </p:sp>
      <p:pic>
        <p:nvPicPr>
          <p:cNvPr id="4" name="Picture 3" descr="_example_image.jpg"/>
          <p:cNvPicPr>
            <a:picLocks noChangeAspect="1"/>
          </p:cNvPicPr>
          <p:nvPr/>
        </p:nvPicPr>
        <p:blipFill>
          <a:blip r:embed="rId2"/>
          <a:stretch>
            <a:fillRect/>
          </a:stretch>
        </p:blipFill>
        <p:spPr>
          <a:xfrm>
            <a:off x="3918479" y="1435580"/>
            <a:ext cx="1207390" cy="843375"/>
          </a:xfrm>
          <a:prstGeom prst="rect">
            <a:avLst/>
          </a:prstGeom>
        </p:spPr>
      </p:pic>
      <p:pic>
        <p:nvPicPr>
          <p:cNvPr id="5" name="Picture 4" descr="_example_image.jpg"/>
          <p:cNvPicPr>
            <a:picLocks noChangeAspect="1"/>
          </p:cNvPicPr>
          <p:nvPr/>
        </p:nvPicPr>
        <p:blipFill>
          <a:blip r:embed="rId2"/>
          <a:stretch>
            <a:fillRect/>
          </a:stretch>
        </p:blipFill>
        <p:spPr>
          <a:xfrm>
            <a:off x="8939221" y="3786126"/>
            <a:ext cx="1408376" cy="928698"/>
          </a:xfrm>
          <a:prstGeom prst="rect">
            <a:avLst/>
          </a:prstGeom>
        </p:spPr>
      </p:pic>
      <p:sp>
        <p:nvSpPr>
          <p:cNvPr id="6" name="Block Arc 5"/>
          <p:cNvSpPr/>
          <p:nvPr/>
        </p:nvSpPr>
        <p:spPr>
          <a:xfrm>
            <a:off x="10646155" y="4706271"/>
            <a:ext cx="615839" cy="1421626"/>
          </a:xfrm>
          <a:prstGeom prst="blockArc">
            <a:avLst/>
          </a:prstGeom>
          <a:noFill/>
          <a:ln w="30325">
            <a:solidFill>
              <a:srgbClr val="4632B3"/>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237174" y="4549828"/>
          <a:ext cx="2013799" cy="1614175"/>
        </p:xfrm>
        <a:graphic>
          <a:graphicData uri="http://schemas.openxmlformats.org/drawingml/2006/table">
            <a:tbl>
              <a:tblPr firstRow="1" bandRow="1">
                <a:tableStyleId>{5C22544A-7EE6-4342-B048-85BDC9FD1C3A}</a:tableStyleId>
              </a:tblPr>
              <a:tblGrid>
                <a:gridCol w="503449"/>
                <a:gridCol w="503449"/>
                <a:gridCol w="503449"/>
                <a:gridCol w="503452"/>
              </a:tblGrid>
              <a:tr h="230596">
                <a:tc>
                  <a:txBody>
                    <a:bodyPr/>
                    <a:lstStyle/>
                    <a:p>
                      <a:r>
                        <a:rPr sz="1000" b="0">
                          <a:solidFill>
                            <a:srgbClr val="3D417D"/>
                          </a:solidFill>
                        </a:rPr>
                        <a:t>Release</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Dispatch</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Array Precision</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Design</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r>
              <a:tr h="230596">
                <a:tc>
                  <a:txBody>
                    <a:bodyPr/>
                    <a:lstStyle/>
                    <a:p>
                      <a:r>
                        <a:rPr sz="1000" b="0">
                          <a:solidFill>
                            <a:srgbClr val="3D417D"/>
                          </a:solidFill>
                        </a:rPr>
                        <a:t>Collection</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Table</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Case</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Bundle Workflow</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r>
              <a:tr h="230596">
                <a:tc>
                  <a:txBody>
                    <a:bodyPr/>
                    <a:lstStyle/>
                    <a:p>
                      <a:r>
                        <a:rPr sz="1000" b="0">
                          <a:solidFill>
                            <a:srgbClr val="3D417D"/>
                          </a:solidFill>
                        </a:rPr>
                        <a:t>Anchor</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Ledger</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Alignment</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Drift</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r>
              <a:tr h="230596">
                <a:tc>
                  <a:txBody>
                    <a:bodyPr/>
                    <a:lstStyle/>
                    <a:p>
                      <a:r>
                        <a:rPr sz="1000" b="0">
                          <a:solidFill>
                            <a:srgbClr val="3D417D"/>
                          </a:solidFill>
                        </a:rPr>
                        <a:t>Texture Discovery</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Region</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Craft</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Exchange Logic</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r>
              <a:tr h="230596">
                <a:tc>
                  <a:txBody>
                    <a:bodyPr/>
                    <a:lstStyle/>
                    <a:p>
                      <a:r>
                        <a:rPr sz="1000" b="0">
                          <a:solidFill>
                            <a:srgbClr val="3D417D"/>
                          </a:solidFill>
                        </a:rPr>
                        <a:t>Point</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Anchor</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Span Epoch</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Queue Data</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r>
              <a:tr h="230596">
                <a:tc>
                  <a:txBody>
                    <a:bodyPr/>
                    <a:lstStyle/>
                    <a:p>
                      <a:r>
                        <a:rPr sz="1000" b="0">
                          <a:solidFill>
                            <a:srgbClr val="3D417D"/>
                          </a:solidFill>
                        </a:rPr>
                        <a:t>Vector Column</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Estimate</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Factor</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Kernel</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r>
              <a:tr h="230599">
                <a:tc>
                  <a:txBody>
                    <a:bodyPr/>
                    <a:lstStyle/>
                    <a:p>
                      <a:r>
                        <a:rPr sz="1000" b="0">
                          <a:solidFill>
                            <a:srgbClr val="3D417D"/>
                          </a:solidFill>
                        </a:rPr>
                        <a:t>Control Review</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Benchmark</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Schema Waypoint</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c>
                  <a:txBody>
                    <a:bodyPr/>
                    <a:lstStyle/>
                    <a:p>
                      <a:r>
                        <a:rPr sz="1000" b="0">
                          <a:solidFill>
                            <a:srgbClr val="3D417D"/>
                          </a:solidFill>
                        </a:rPr>
                        <a:t>Level Analysis</a:t>
                      </a:r>
                    </a:p>
                  </a:txBody>
                  <a:tcPr>
                    <a:solidFill>
                      <a:srgbClr val="E9EBF6"/>
                    </a:solidFill>
                    <a:lnL w="38055">
                      <a:solidFill>
                        <a:srgbClr val="B5656B"/>
                      </a:solidFill>
                      <a:prstDash val="dash"/>
                    </a:lnL>
                    <a:lnR w="38055">
                      <a:solidFill>
                        <a:srgbClr val="B5656B"/>
                      </a:solidFill>
                      <a:prstDash val="dash"/>
                    </a:lnR>
                    <a:lnT w="38055">
                      <a:solidFill>
                        <a:srgbClr val="B5656B"/>
                      </a:solidFill>
                      <a:prstDash val="dash"/>
                    </a:lnT>
                    <a:lnB w="38055">
                      <a:solidFill>
                        <a:srgbClr val="B5656B"/>
                      </a:solidFill>
                      <a:prstDash val="dash"/>
                    </a:lnB>
                  </a:tcPr>
                </a:tc>
              </a:tr>
            </a:tbl>
          </a:graphicData>
        </a:graphic>
      </p:graphicFrame>
      <p:sp>
        <p:nvSpPr>
          <p:cNvPr id="8" name="Left-Right Arrow 7"/>
          <p:cNvSpPr/>
          <p:nvPr/>
        </p:nvSpPr>
        <p:spPr>
          <a:xfrm>
            <a:off x="4297449" y="5078749"/>
            <a:ext cx="2098518" cy="943329"/>
          </a:xfrm>
          <a:prstGeom prst="leftRightArrow">
            <a:avLst/>
          </a:prstGeom>
          <a:solidFill>
            <a:srgbClr val="82B175"/>
          </a:solidFill>
          <a:ln w="7104">
            <a:solidFill>
              <a:srgbClr val="85C7A4"/>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ircular Arrow 8"/>
          <p:cNvSpPr/>
          <p:nvPr/>
        </p:nvSpPr>
        <p:spPr>
          <a:xfrm>
            <a:off x="6238482" y="974546"/>
            <a:ext cx="1478130" cy="677979"/>
          </a:xfrm>
          <a:prstGeom prst="circularArrow">
            <a:avLst/>
          </a:prstGeom>
          <a:solidFill>
            <a:srgbClr val="51209F"/>
          </a:solidFill>
          <a:ln w="28636">
            <a:solidFill>
              <a:srgbClr val="603C37"/>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4832" y="4573285"/>
            <a:ext cx="2682317" cy="449181"/>
          </a:xfrm>
          <a:prstGeom prst="rect">
            <a:avLst/>
          </a:prstGeom>
          <a:noFill/>
        </p:spPr>
        <p:txBody>
          <a:bodyPr wrap="none" lIns="66428" rIns="66428" tIns="66428" bIns="66428">
            <a:spAutoFit/>
          </a:bodyPr>
          <a:lstStyle/>
          <a:p>
            <a:r>
              <a:rPr sz="900" b="0" i="0" u="none">
                <a:solidFill>
                  <a:srgbClr val="8B4834"/>
                </a:solidFill>
                <a:latin typeface="Georgia"/>
              </a:rPr>
              <a:t>Pipeline</a:t>
            </a:r>
          </a:p>
        </p:txBody>
      </p:sp>
      <p:sp>
        <p:nvSpPr>
          <p:cNvPr id="11" name="TextBox 10"/>
          <p:cNvSpPr txBox="1"/>
          <p:nvPr/>
        </p:nvSpPr>
        <p:spPr>
          <a:xfrm>
            <a:off x="1059366" y="2890162"/>
            <a:ext cx="2377443" cy="816932"/>
          </a:xfrm>
          <a:prstGeom prst="rect">
            <a:avLst/>
          </a:prstGeom>
          <a:noFill/>
        </p:spPr>
        <p:txBody>
          <a:bodyPr wrap="none" lIns="37681" rIns="37681" tIns="37681" bIns="37681">
            <a:spAutoFit/>
          </a:bodyPr>
          <a:lstStyle/>
          <a:p>
            <a:r>
              <a:rPr sz="1700" b="0" i="0" u="sng">
                <a:solidFill>
                  <a:srgbClr val="7A7F5A"/>
                </a:solidFill>
                <a:latin typeface="Trebuchet MS"/>
              </a:rPr>
              <a:t>Timeline Lens Priority Build Gradient Lens Frequency Reference Datum Array</a:t>
            </a:r>
          </a:p>
        </p:txBody>
      </p:sp>
      <p:sp>
        <p:nvSpPr>
          <p:cNvPr id="12" name="TextBox 11"/>
          <p:cNvSpPr txBox="1"/>
          <p:nvPr/>
        </p:nvSpPr>
        <p:spPr>
          <a:xfrm>
            <a:off x="9081285" y="1332474"/>
            <a:ext cx="1191019" cy="2113145"/>
          </a:xfrm>
          <a:prstGeom prst="rect">
            <a:avLst/>
          </a:prstGeom>
          <a:noFill/>
        </p:spPr>
        <p:txBody>
          <a:bodyPr wrap="none" lIns="34622" rIns="34622" tIns="34622" bIns="34622">
            <a:spAutoFit/>
          </a:bodyPr>
          <a:lstStyle/>
          <a:p>
            <a:r>
              <a:rPr sz="1200" b="0" i="0" u="none">
                <a:solidFill>
                  <a:srgbClr val="4D6CBB"/>
                </a:solidFill>
                <a:latin typeface="Arial"/>
              </a:rPr>
              <a:t>Engine Transform</a:t>
            </a:r>
          </a:p>
        </p:txBody>
      </p:sp>
      <p:sp>
        <p:nvSpPr>
          <p:cNvPr id="13" name="TextBox 12"/>
          <p:cNvSpPr txBox="1"/>
          <p:nvPr/>
        </p:nvSpPr>
        <p:spPr>
          <a:xfrm>
            <a:off x="1035890" y="4150326"/>
            <a:ext cx="4916904" cy="356169"/>
          </a:xfrm>
          <a:prstGeom prst="rect">
            <a:avLst/>
          </a:prstGeom>
          <a:noFill/>
        </p:spPr>
        <p:txBody>
          <a:bodyPr wrap="none" lIns="58148" rIns="58148" tIns="58148" bIns="58148">
            <a:spAutoFit/>
          </a:bodyPr>
          <a:lstStyle/>
          <a:p>
            <a:r>
              <a:rPr sz="5600" b="1" i="1" u="none">
                <a:solidFill>
                  <a:srgbClr val="6CA1C5"/>
                </a:solidFill>
                <a:latin typeface="Arial"/>
              </a:rPr>
              <a:t>Transit Library Measure Analysis Draft Trigger Pixel</a:t>
            </a:r>
          </a:p>
        </p:txBody>
      </p:sp>
      <p:graphicFrame>
        <p:nvGraphicFramePr>
          <p:cNvPr id="14" name="Table 13"/>
          <p:cNvGraphicFramePr>
            <a:graphicFrameLocks noGrp="1"/>
          </p:cNvGraphicFramePr>
          <p:nvPr/>
        </p:nvGraphicFramePr>
        <p:xfrm>
          <a:off x="730722" y="5587311"/>
          <a:ext cx="3466756" cy="983786"/>
        </p:xfrm>
        <a:graphic>
          <a:graphicData uri="http://schemas.openxmlformats.org/drawingml/2006/table">
            <a:tbl>
              <a:tblPr firstRow="1" bandRow="1">
                <a:tableStyleId>{5C22544A-7EE6-4342-B048-85BDC9FD1C3A}</a:tableStyleId>
              </a:tblPr>
              <a:tblGrid>
                <a:gridCol w="866689"/>
                <a:gridCol w="866689"/>
                <a:gridCol w="866689"/>
                <a:gridCol w="866689"/>
              </a:tblGrid>
              <a:tr h="163964">
                <a:tc>
                  <a:txBody>
                    <a:bodyPr/>
                    <a:lstStyle/>
                    <a:p>
                      <a:r>
                        <a:rPr sz="800" b="1">
                          <a:solidFill>
                            <a:srgbClr val="611DE5"/>
                          </a:solidFill>
                        </a:rPr>
                        <a:t>Design</a:t>
                      </a:r>
                    </a:p>
                  </a:txBody>
                  <a:tcPr>
                    <a:solidFill>
                      <a:srgbClr val="34C459"/>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1">
                          <a:solidFill>
                            <a:srgbClr val="611DE5"/>
                          </a:solidFill>
                        </a:rPr>
                        <a:t>Service</a:t>
                      </a:r>
                    </a:p>
                  </a:txBody>
                  <a:tcPr>
                    <a:solidFill>
                      <a:srgbClr val="34C459"/>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1">
                          <a:solidFill>
                            <a:srgbClr val="611DE5"/>
                          </a:solidFill>
                        </a:rPr>
                        <a:t>Structure Velocity</a:t>
                      </a:r>
                    </a:p>
                  </a:txBody>
                  <a:tcPr>
                    <a:solidFill>
                      <a:srgbClr val="34C459"/>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1">
                          <a:solidFill>
                            <a:srgbClr val="611DE5"/>
                          </a:solidFill>
                        </a:rPr>
                        <a:t>Handle Horizon</a:t>
                      </a:r>
                    </a:p>
                  </a:txBody>
                  <a:tcPr>
                    <a:solidFill>
                      <a:srgbClr val="34C459"/>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r>
              <a:tr h="163964">
                <a:tc>
                  <a:txBody>
                    <a:bodyPr/>
                    <a:lstStyle/>
                    <a:p>
                      <a:r>
                        <a:rPr sz="800" b="0">
                          <a:solidFill>
                            <a:srgbClr val="611DE5"/>
                          </a:solidFill>
                        </a:rPr>
                        <a:t>Energy Coverage</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Apex</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Service Command</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Token Energy</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r>
              <a:tr h="163964">
                <a:tc>
                  <a:txBody>
                    <a:bodyPr/>
                    <a:lstStyle/>
                    <a:p>
                      <a:r>
                        <a:rPr sz="800" b="0">
                          <a:solidFill>
                            <a:srgbClr val="611DE5"/>
                          </a:solidFill>
                        </a:rPr>
                        <a:t>Stack</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Graph Model</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Explorer</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Window Compass</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r>
              <a:tr h="163964">
                <a:tc>
                  <a:txBody>
                    <a:bodyPr/>
                    <a:lstStyle/>
                    <a:p>
                      <a:r>
                        <a:rPr sz="800" b="0">
                          <a:solidFill>
                            <a:srgbClr val="611DE5"/>
                          </a:solidFill>
                        </a:rPr>
                        <a:t>Request Orbit</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Frequency Insight</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Case Profile</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Harbor</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r>
              <a:tr h="163964">
                <a:tc>
                  <a:txBody>
                    <a:bodyPr/>
                    <a:lstStyle/>
                    <a:p>
                      <a:r>
                        <a:rPr sz="800" b="0">
                          <a:solidFill>
                            <a:srgbClr val="611DE5"/>
                          </a:solidFill>
                        </a:rPr>
                        <a:t>Lineage Record</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Scale</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Region</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Friction</a:t>
                      </a:r>
                    </a:p>
                  </a:txBody>
                  <a:tcPr>
                    <a:solidFill>
                      <a:srgbClr val="FBFDF5"/>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r>
              <a:tr h="163966">
                <a:tc>
                  <a:txBody>
                    <a:bodyPr/>
                    <a:lstStyle/>
                    <a:p>
                      <a:r>
                        <a:rPr sz="800" b="0">
                          <a:solidFill>
                            <a:srgbClr val="611DE5"/>
                          </a:solidFill>
                        </a:rPr>
                        <a:t>Pipeline Plan</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Balance Signal</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Phase Format</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c>
                  <a:txBody>
                    <a:bodyPr/>
                    <a:lstStyle/>
                    <a:p>
                      <a:r>
                        <a:rPr sz="800" b="0">
                          <a:solidFill>
                            <a:srgbClr val="611DE5"/>
                          </a:solidFill>
                        </a:rPr>
                        <a:t>Segment</a:t>
                      </a:r>
                    </a:p>
                  </a:txBody>
                  <a:tcPr>
                    <a:solidFill>
                      <a:srgbClr val="F0F7D4"/>
                    </a:solidFill>
                    <a:lnL w="6390">
                      <a:solidFill>
                        <a:srgbClr val="2ABCB3"/>
                      </a:solidFill>
                      <a:prstDash val="lgDash"/>
                    </a:lnL>
                    <a:lnR w="6390">
                      <a:solidFill>
                        <a:srgbClr val="2ABCB3"/>
                      </a:solidFill>
                      <a:prstDash val="lgDash"/>
                    </a:lnR>
                    <a:lnT w="6390">
                      <a:solidFill>
                        <a:srgbClr val="2ABCB3"/>
                      </a:solidFill>
                      <a:prstDash val="lgDash"/>
                    </a:lnT>
                    <a:lnB w="6390">
                      <a:solidFill>
                        <a:srgbClr val="2ABCB3"/>
                      </a:solidFill>
                      <a:prstDash val="lgDash"/>
                    </a:lnB>
                  </a:tcPr>
                </a:tc>
              </a:tr>
            </a:tbl>
          </a:graphicData>
        </a:graphic>
      </p:graphicFrame>
      <p:sp>
        <p:nvSpPr>
          <p:cNvPr id="15" name="Predefined Process 14"/>
          <p:cNvSpPr/>
          <p:nvPr/>
        </p:nvSpPr>
        <p:spPr>
          <a:xfrm>
            <a:off x="8006882" y="2576602"/>
            <a:ext cx="1021686" cy="1141895"/>
          </a:xfrm>
          <a:prstGeom prst="flowChartPredefinedProcess">
            <a:avLst/>
          </a:prstGeom>
          <a:solidFill>
            <a:srgbClr val="1E8980"/>
          </a:solidFill>
          <a:ln w="14453">
            <a:solidFill>
              <a:srgbClr val="954523"/>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_example_image.jpg"/>
          <p:cNvPicPr>
            <a:picLocks noChangeAspect="1"/>
          </p:cNvPicPr>
          <p:nvPr/>
        </p:nvPicPr>
        <p:blipFill>
          <a:blip r:embed="rId2"/>
          <a:stretch>
            <a:fillRect/>
          </a:stretch>
        </p:blipFill>
        <p:spPr>
          <a:xfrm>
            <a:off x="9929281" y="451307"/>
            <a:ext cx="1307839" cy="1243338"/>
          </a:xfrm>
          <a:prstGeom prst="rect">
            <a:avLst/>
          </a:prstGeom>
        </p:spPr>
      </p:pic>
      <p:sp>
        <p:nvSpPr>
          <p:cNvPr id="17" name="Swoosh Arrow 16"/>
          <p:cNvSpPr/>
          <p:nvPr/>
        </p:nvSpPr>
        <p:spPr>
          <a:xfrm>
            <a:off x="3026850" y="5378463"/>
            <a:ext cx="572020" cy="470430"/>
          </a:xfrm>
          <a:prstGeom prst="swooshArrow">
            <a:avLst/>
          </a:prstGeom>
          <a:solidFill>
            <a:srgbClr val="AE63A5"/>
          </a:solidFill>
          <a:ln w="23305">
            <a:solidFill>
              <a:srgbClr val="3A7C24"/>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2786" y="1316077"/>
            <a:ext cx="3682505" cy="1006482"/>
          </a:xfrm>
          <a:prstGeom prst="rect">
            <a:avLst/>
          </a:prstGeom>
          <a:solidFill>
            <a:srgbClr val="6A88E2"/>
          </a:solidFill>
        </p:spPr>
        <p:txBody>
          <a:bodyPr wrap="none" lIns="26893" rIns="26893" tIns="26893" bIns="26893">
            <a:spAutoFit/>
          </a:bodyPr>
          <a:lstStyle/>
          <a:p>
            <a:r>
              <a:rPr sz="1000" b="0" i="0" u="none">
                <a:solidFill>
                  <a:srgbClr val="2969BE"/>
                </a:solidFill>
                <a:latin typeface="Aptos"/>
              </a:rPr>
              <a:t>Diagram Matrix Waypoint Lineage Trace Schema Friction Metric Route Snapshot Portal</a:t>
            </a:r>
          </a:p>
        </p:txBody>
      </p:sp>
      <p:sp>
        <p:nvSpPr>
          <p:cNvPr id="19" name="Process 18"/>
          <p:cNvSpPr/>
          <p:nvPr/>
        </p:nvSpPr>
        <p:spPr>
          <a:xfrm>
            <a:off x="9040166" y="4491960"/>
            <a:ext cx="390899" cy="1919622"/>
          </a:xfrm>
          <a:prstGeom prst="flowChartProcess">
            <a:avLst/>
          </a:prstGeom>
          <a:solidFill>
            <a:srgbClr val="3E6127"/>
          </a:solidFill>
          <a:ln w="25721">
            <a:solidFill>
              <a:srgbClr val="7C83CA"/>
            </a:solidFill>
            <a:prstDash val="soli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