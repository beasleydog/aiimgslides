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eft Right Ribbon 1"/>
          <p:cNvSpPr/>
          <p:nvPr/>
        </p:nvSpPr>
        <p:spPr>
          <a:xfrm>
            <a:off x="8006731" y="2838328"/>
            <a:ext cx="800508" cy="1253902"/>
          </a:xfrm>
          <a:prstGeom prst="leftRightRibbon">
            <a:avLst/>
          </a:prstGeom>
          <a:noFill/>
          <a:ln w="19720">
            <a:solidFill>
              <a:srgbClr val="899DD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64739" y="556137"/>
            <a:ext cx="1383937" cy="331299"/>
          </a:xfrm>
          <a:prstGeom prst="rect">
            <a:avLst/>
          </a:prstGeom>
          <a:noFill/>
        </p:spPr>
        <p:txBody>
          <a:bodyPr wrap="none" lIns="28054" rIns="28054" tIns="28054" bIns="28054">
            <a:spAutoFit/>
          </a:bodyPr>
          <a:lstStyle/>
          <a:p>
            <a:r>
              <a:rPr sz="2100" b="1" i="1" u="none">
                <a:solidFill>
                  <a:srgbClr val="422ABD"/>
                </a:solidFill>
                <a:latin typeface="Verdana"/>
              </a:rPr>
              <a:t>Agenda Duration Topology Agenda Target Stack Dashboard Loop Estimate Window Capacity Keyline Asset</a:t>
            </a:r>
          </a:p>
        </p:txBody>
      </p:sp>
      <p:sp>
        <p:nvSpPr>
          <p:cNvPr id="4" name="Octagon 3"/>
          <p:cNvSpPr/>
          <p:nvPr/>
        </p:nvSpPr>
        <p:spPr>
          <a:xfrm>
            <a:off x="1902521" y="4889851"/>
            <a:ext cx="692652" cy="542409"/>
          </a:xfrm>
          <a:prstGeom prst="octagon">
            <a:avLst/>
          </a:prstGeom>
          <a:solidFill>
            <a:srgbClr val="3991E1"/>
          </a:solidFill>
          <a:ln w="25185">
            <a:solidFill>
              <a:srgbClr val="C4387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-Right Arrow 4"/>
          <p:cNvSpPr/>
          <p:nvPr/>
        </p:nvSpPr>
        <p:spPr>
          <a:xfrm>
            <a:off x="3080001" y="5113184"/>
            <a:ext cx="1669319" cy="922790"/>
          </a:xfrm>
          <a:prstGeom prst="leftRightArrow">
            <a:avLst/>
          </a:prstGeom>
          <a:solidFill>
            <a:srgbClr val="5A562E"/>
          </a:solidFill>
          <a:ln w="31101">
            <a:solidFill>
              <a:srgbClr val="8185A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8589" y="2761872"/>
            <a:ext cx="2227965" cy="1958651"/>
          </a:xfrm>
          <a:prstGeom prst="rect">
            <a:avLst/>
          </a:prstGeom>
          <a:noFill/>
        </p:spPr>
        <p:txBody>
          <a:bodyPr wrap="none" lIns="33431" rIns="33431" tIns="33431" bIns="33431">
            <a:spAutoFit/>
          </a:bodyPr>
          <a:lstStyle/>
          <a:p>
            <a:r>
              <a:rPr sz="2900" b="0" i="1" u="none">
                <a:solidFill>
                  <a:srgbClr val="584C9C"/>
                </a:solidFill>
                <a:latin typeface="Aptos"/>
              </a:rPr>
              <a:t>Output Relay Stack Density Zone Threshold Chart Coverage Canvas Epoch Brief Transit Object Origin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80860" y="965246"/>
            <a:ext cx="2391622" cy="793652"/>
          </a:xfrm>
          <a:prstGeom prst="rect">
            <a:avLst/>
          </a:prstGeom>
          <a:noFill/>
        </p:spPr>
        <p:txBody>
          <a:bodyPr wrap="none" lIns="65557" rIns="65557" tIns="65557" bIns="65557">
            <a:spAutoFit/>
          </a:bodyPr>
          <a:lstStyle/>
          <a:p>
            <a:r>
              <a:rPr sz="1900" b="0" i="0" u="none">
                <a:solidFill>
                  <a:srgbClr val="B94487"/>
                </a:solidFill>
                <a:latin typeface="Arial"/>
              </a:rPr>
              <a:t>Bridge Lens Resource Datum Logic Frame Scale Payload Engine Queue Output Payload Orbit Echo</a:t>
            </a:r>
          </a:p>
        </p:txBody>
      </p:sp>
      <p:sp>
        <p:nvSpPr>
          <p:cNvPr id="8" name="Quad Arrow 7"/>
          <p:cNvSpPr/>
          <p:nvPr/>
        </p:nvSpPr>
        <p:spPr>
          <a:xfrm>
            <a:off x="10722314" y="1374856"/>
            <a:ext cx="381261" cy="1179672"/>
          </a:xfrm>
          <a:prstGeom prst="quadArrow">
            <a:avLst/>
          </a:prstGeom>
          <a:solidFill>
            <a:srgbClr val="1FCD59"/>
          </a:solidFill>
          <a:ln w="29293">
            <a:solidFill>
              <a:srgbClr val="DA627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51712" y="2562968"/>
            <a:ext cx="1306439" cy="2142064"/>
          </a:xfrm>
          <a:prstGeom prst="rect">
            <a:avLst/>
          </a:prstGeom>
          <a:noFill/>
        </p:spPr>
        <p:txBody>
          <a:bodyPr wrap="none" lIns="83760" rIns="83760" tIns="83760" bIns="83760">
            <a:spAutoFit/>
          </a:bodyPr>
          <a:lstStyle/>
          <a:p>
            <a:r>
              <a:rPr sz="3600" b="1" i="0" u="none">
                <a:solidFill>
                  <a:srgbClr val="C8BC9A"/>
                </a:solidFill>
                <a:latin typeface="Aptos"/>
              </a:rPr>
              <a:t>Catalog Transit</a:t>
            </a:r>
          </a:p>
        </p:txBody>
      </p:sp>
      <p:sp>
        <p:nvSpPr>
          <p:cNvPr id="10" name="Up Arrow 9"/>
          <p:cNvSpPr/>
          <p:nvPr/>
        </p:nvSpPr>
        <p:spPr>
          <a:xfrm>
            <a:off x="4510077" y="527136"/>
            <a:ext cx="481475" cy="1252523"/>
          </a:xfrm>
          <a:prstGeom prst="upArrow">
            <a:avLst/>
          </a:prstGeom>
          <a:solidFill>
            <a:srgbClr val="D9A475"/>
          </a:solidFill>
          <a:ln w="31195">
            <a:solidFill>
              <a:srgbClr val="45B7CF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46571" y="5385743"/>
          <a:ext cx="4178444" cy="13006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9222"/>
                <a:gridCol w="2089222"/>
              </a:tblGrid>
              <a:tr h="185803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17987"/>
                          </a:solidFill>
                        </a:rPr>
                        <a:t>Plan</a:t>
                      </a:r>
                    </a:p>
                  </a:txBody>
                  <a:tcPr>
                    <a:solidFill>
                      <a:srgbClr val="F4EFEF"/>
                    </a:solidFill>
                    <a:lnL w="31542">
                      <a:solidFill>
                        <a:srgbClr val="22D1B4"/>
                      </a:solidFill>
                      <a:prstDash val="solid"/>
                    </a:lnL>
                    <a:lnR w="31542">
                      <a:solidFill>
                        <a:srgbClr val="22D1B4"/>
                      </a:solidFill>
                      <a:prstDash val="solid"/>
                    </a:lnR>
                    <a:lnT w="31542">
                      <a:solidFill>
                        <a:srgbClr val="22D1B4"/>
                      </a:solidFill>
                      <a:prstDash val="solid"/>
                    </a:lnT>
                    <a:lnB w="31542">
                      <a:solidFill>
                        <a:srgbClr val="22D1B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17987"/>
                          </a:solidFill>
                        </a:rPr>
                        <a:t>Spectrum</a:t>
                      </a:r>
                    </a:p>
                  </a:txBody>
                  <a:tcPr>
                    <a:solidFill>
                      <a:srgbClr val="F4EFEF"/>
                    </a:solidFill>
                    <a:lnL w="31542">
                      <a:solidFill>
                        <a:srgbClr val="22D1B4"/>
                      </a:solidFill>
                      <a:prstDash val="solid"/>
                    </a:lnL>
                    <a:lnR w="31542">
                      <a:solidFill>
                        <a:srgbClr val="22D1B4"/>
                      </a:solidFill>
                      <a:prstDash val="solid"/>
                    </a:lnR>
                    <a:lnT w="31542">
                      <a:solidFill>
                        <a:srgbClr val="22D1B4"/>
                      </a:solidFill>
                      <a:prstDash val="solid"/>
                    </a:lnT>
                    <a:lnB w="31542">
                      <a:solidFill>
                        <a:srgbClr val="22D1B4"/>
                      </a:solidFill>
                      <a:prstDash val="solid"/>
                    </a:lnB>
                  </a:tcPr>
                </a:tc>
              </a:tr>
              <a:tr h="185803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17987"/>
                          </a:solidFill>
                        </a:rPr>
                        <a:t>Scale Drift</a:t>
                      </a:r>
                    </a:p>
                  </a:txBody>
                  <a:tcPr>
                    <a:solidFill>
                      <a:srgbClr val="ECE3E2"/>
                    </a:solidFill>
                    <a:lnL w="31542">
                      <a:solidFill>
                        <a:srgbClr val="22D1B4"/>
                      </a:solidFill>
                      <a:prstDash val="solid"/>
                    </a:lnL>
                    <a:lnR w="31542">
                      <a:solidFill>
                        <a:srgbClr val="22D1B4"/>
                      </a:solidFill>
                      <a:prstDash val="solid"/>
                    </a:lnR>
                    <a:lnT w="31542">
                      <a:solidFill>
                        <a:srgbClr val="22D1B4"/>
                      </a:solidFill>
                      <a:prstDash val="solid"/>
                    </a:lnT>
                    <a:lnB w="31542">
                      <a:solidFill>
                        <a:srgbClr val="22D1B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17987"/>
                          </a:solidFill>
                        </a:rPr>
                        <a:t>Queueing</a:t>
                      </a:r>
                    </a:p>
                  </a:txBody>
                  <a:tcPr>
                    <a:solidFill>
                      <a:srgbClr val="ECE3E2"/>
                    </a:solidFill>
                    <a:lnL w="31542">
                      <a:solidFill>
                        <a:srgbClr val="22D1B4"/>
                      </a:solidFill>
                      <a:prstDash val="solid"/>
                    </a:lnL>
                    <a:lnR w="31542">
                      <a:solidFill>
                        <a:srgbClr val="22D1B4"/>
                      </a:solidFill>
                      <a:prstDash val="solid"/>
                    </a:lnR>
                    <a:lnT w="31542">
                      <a:solidFill>
                        <a:srgbClr val="22D1B4"/>
                      </a:solidFill>
                      <a:prstDash val="solid"/>
                    </a:lnT>
                    <a:lnB w="31542">
                      <a:solidFill>
                        <a:srgbClr val="22D1B4"/>
                      </a:solidFill>
                      <a:prstDash val="solid"/>
                    </a:lnB>
                  </a:tcPr>
                </a:tc>
              </a:tr>
              <a:tr h="185803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17987"/>
                          </a:solidFill>
                        </a:rPr>
                        <a:t>Packet Strategy</a:t>
                      </a:r>
                    </a:p>
                  </a:txBody>
                  <a:tcPr>
                    <a:solidFill>
                      <a:srgbClr val="F4EFEF"/>
                    </a:solidFill>
                    <a:lnL w="31542">
                      <a:solidFill>
                        <a:srgbClr val="22D1B4"/>
                      </a:solidFill>
                      <a:prstDash val="solid"/>
                    </a:lnL>
                    <a:lnR w="31542">
                      <a:solidFill>
                        <a:srgbClr val="22D1B4"/>
                      </a:solidFill>
                      <a:prstDash val="solid"/>
                    </a:lnR>
                    <a:lnT w="31542">
                      <a:solidFill>
                        <a:srgbClr val="22D1B4"/>
                      </a:solidFill>
                      <a:prstDash val="solid"/>
                    </a:lnT>
                    <a:lnB w="31542">
                      <a:solidFill>
                        <a:srgbClr val="22D1B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17987"/>
                          </a:solidFill>
                        </a:rPr>
                        <a:t>Limit</a:t>
                      </a:r>
                    </a:p>
                  </a:txBody>
                  <a:tcPr>
                    <a:solidFill>
                      <a:srgbClr val="F4EFEF"/>
                    </a:solidFill>
                    <a:lnL w="31542">
                      <a:solidFill>
                        <a:srgbClr val="22D1B4"/>
                      </a:solidFill>
                      <a:prstDash val="solid"/>
                    </a:lnL>
                    <a:lnR w="31542">
                      <a:solidFill>
                        <a:srgbClr val="22D1B4"/>
                      </a:solidFill>
                      <a:prstDash val="solid"/>
                    </a:lnR>
                    <a:lnT w="31542">
                      <a:solidFill>
                        <a:srgbClr val="22D1B4"/>
                      </a:solidFill>
                      <a:prstDash val="solid"/>
                    </a:lnT>
                    <a:lnB w="31542">
                      <a:solidFill>
                        <a:srgbClr val="22D1B4"/>
                      </a:solidFill>
                      <a:prstDash val="solid"/>
                    </a:lnB>
                  </a:tcPr>
                </a:tc>
              </a:tr>
              <a:tr h="185803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17987"/>
                          </a:solidFill>
                        </a:rPr>
                        <a:t>Guide</a:t>
                      </a:r>
                    </a:p>
                  </a:txBody>
                  <a:tcPr>
                    <a:solidFill>
                      <a:srgbClr val="ECE3E2"/>
                    </a:solidFill>
                    <a:lnL w="31542">
                      <a:solidFill>
                        <a:srgbClr val="22D1B4"/>
                      </a:solidFill>
                      <a:prstDash val="solid"/>
                    </a:lnL>
                    <a:lnR w="31542">
                      <a:solidFill>
                        <a:srgbClr val="22D1B4"/>
                      </a:solidFill>
                      <a:prstDash val="solid"/>
                    </a:lnR>
                    <a:lnT w="31542">
                      <a:solidFill>
                        <a:srgbClr val="22D1B4"/>
                      </a:solidFill>
                      <a:prstDash val="solid"/>
                    </a:lnT>
                    <a:lnB w="31542">
                      <a:solidFill>
                        <a:srgbClr val="22D1B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17987"/>
                          </a:solidFill>
                        </a:rPr>
                        <a:t>Graph Horizon</a:t>
                      </a:r>
                    </a:p>
                  </a:txBody>
                  <a:tcPr>
                    <a:solidFill>
                      <a:srgbClr val="ECE3E2"/>
                    </a:solidFill>
                    <a:lnL w="31542">
                      <a:solidFill>
                        <a:srgbClr val="22D1B4"/>
                      </a:solidFill>
                      <a:prstDash val="solid"/>
                    </a:lnL>
                    <a:lnR w="31542">
                      <a:solidFill>
                        <a:srgbClr val="22D1B4"/>
                      </a:solidFill>
                      <a:prstDash val="solid"/>
                    </a:lnR>
                    <a:lnT w="31542">
                      <a:solidFill>
                        <a:srgbClr val="22D1B4"/>
                      </a:solidFill>
                      <a:prstDash val="solid"/>
                    </a:lnT>
                    <a:lnB w="31542">
                      <a:solidFill>
                        <a:srgbClr val="22D1B4"/>
                      </a:solidFill>
                      <a:prstDash val="solid"/>
                    </a:lnB>
                  </a:tcPr>
                </a:tc>
              </a:tr>
              <a:tr h="185803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17987"/>
                          </a:solidFill>
                        </a:rPr>
                        <a:t>Method Instance</a:t>
                      </a:r>
                    </a:p>
                  </a:txBody>
                  <a:tcPr>
                    <a:solidFill>
                      <a:srgbClr val="F4EFEF"/>
                    </a:solidFill>
                    <a:lnL w="31542">
                      <a:solidFill>
                        <a:srgbClr val="22D1B4"/>
                      </a:solidFill>
                      <a:prstDash val="solid"/>
                    </a:lnL>
                    <a:lnR w="31542">
                      <a:solidFill>
                        <a:srgbClr val="22D1B4"/>
                      </a:solidFill>
                      <a:prstDash val="solid"/>
                    </a:lnR>
                    <a:lnT w="31542">
                      <a:solidFill>
                        <a:srgbClr val="22D1B4"/>
                      </a:solidFill>
                      <a:prstDash val="solid"/>
                    </a:lnT>
                    <a:lnB w="31542">
                      <a:solidFill>
                        <a:srgbClr val="22D1B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17987"/>
                          </a:solidFill>
                        </a:rPr>
                        <a:t>Envelope Strategy</a:t>
                      </a:r>
                    </a:p>
                  </a:txBody>
                  <a:tcPr>
                    <a:solidFill>
                      <a:srgbClr val="F4EFEF"/>
                    </a:solidFill>
                    <a:lnL w="31542">
                      <a:solidFill>
                        <a:srgbClr val="22D1B4"/>
                      </a:solidFill>
                      <a:prstDash val="solid"/>
                    </a:lnL>
                    <a:lnR w="31542">
                      <a:solidFill>
                        <a:srgbClr val="22D1B4"/>
                      </a:solidFill>
                      <a:prstDash val="solid"/>
                    </a:lnR>
                    <a:lnT w="31542">
                      <a:solidFill>
                        <a:srgbClr val="22D1B4"/>
                      </a:solidFill>
                      <a:prstDash val="solid"/>
                    </a:lnT>
                    <a:lnB w="31542">
                      <a:solidFill>
                        <a:srgbClr val="22D1B4"/>
                      </a:solidFill>
                      <a:prstDash val="solid"/>
                    </a:lnB>
                  </a:tcPr>
                </a:tc>
              </a:tr>
              <a:tr h="185803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17987"/>
                          </a:solidFill>
                        </a:rPr>
                        <a:t>Scale</a:t>
                      </a:r>
                    </a:p>
                  </a:txBody>
                  <a:tcPr>
                    <a:solidFill>
                      <a:srgbClr val="ECE3E2"/>
                    </a:solidFill>
                    <a:lnL w="31542">
                      <a:solidFill>
                        <a:srgbClr val="22D1B4"/>
                      </a:solidFill>
                      <a:prstDash val="solid"/>
                    </a:lnL>
                    <a:lnR w="31542">
                      <a:solidFill>
                        <a:srgbClr val="22D1B4"/>
                      </a:solidFill>
                      <a:prstDash val="solid"/>
                    </a:lnR>
                    <a:lnT w="31542">
                      <a:solidFill>
                        <a:srgbClr val="22D1B4"/>
                      </a:solidFill>
                      <a:prstDash val="solid"/>
                    </a:lnT>
                    <a:lnB w="31542">
                      <a:solidFill>
                        <a:srgbClr val="22D1B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17987"/>
                          </a:solidFill>
                        </a:rPr>
                        <a:t>Route Range</a:t>
                      </a:r>
                    </a:p>
                  </a:txBody>
                  <a:tcPr>
                    <a:solidFill>
                      <a:srgbClr val="ECE3E2"/>
                    </a:solidFill>
                    <a:lnL w="31542">
                      <a:solidFill>
                        <a:srgbClr val="22D1B4"/>
                      </a:solidFill>
                      <a:prstDash val="solid"/>
                    </a:lnL>
                    <a:lnR w="31542">
                      <a:solidFill>
                        <a:srgbClr val="22D1B4"/>
                      </a:solidFill>
                      <a:prstDash val="solid"/>
                    </a:lnR>
                    <a:lnT w="31542">
                      <a:solidFill>
                        <a:srgbClr val="22D1B4"/>
                      </a:solidFill>
                      <a:prstDash val="solid"/>
                    </a:lnT>
                    <a:lnB w="31542">
                      <a:solidFill>
                        <a:srgbClr val="22D1B4"/>
                      </a:solidFill>
                      <a:prstDash val="solid"/>
                    </a:lnB>
                  </a:tcPr>
                </a:tc>
              </a:tr>
              <a:tr h="18580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17987"/>
                          </a:solidFill>
                        </a:rPr>
                        <a:t>Link</a:t>
                      </a:r>
                    </a:p>
                  </a:txBody>
                  <a:tcPr>
                    <a:solidFill>
                      <a:srgbClr val="F4EFEF"/>
                    </a:solidFill>
                    <a:lnL w="31542">
                      <a:solidFill>
                        <a:srgbClr val="22D1B4"/>
                      </a:solidFill>
                      <a:prstDash val="solid"/>
                    </a:lnL>
                    <a:lnR w="31542">
                      <a:solidFill>
                        <a:srgbClr val="22D1B4"/>
                      </a:solidFill>
                      <a:prstDash val="solid"/>
                    </a:lnR>
                    <a:lnT w="31542">
                      <a:solidFill>
                        <a:srgbClr val="22D1B4"/>
                      </a:solidFill>
                      <a:prstDash val="solid"/>
                    </a:lnT>
                    <a:lnB w="31542">
                      <a:solidFill>
                        <a:srgbClr val="22D1B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17987"/>
                          </a:solidFill>
                        </a:rPr>
                        <a:t>Index</a:t>
                      </a:r>
                    </a:p>
                  </a:txBody>
                  <a:tcPr>
                    <a:solidFill>
                      <a:srgbClr val="F4EFEF"/>
                    </a:solidFill>
                    <a:lnL w="31542">
                      <a:solidFill>
                        <a:srgbClr val="22D1B4"/>
                      </a:solidFill>
                      <a:prstDash val="solid"/>
                    </a:lnL>
                    <a:lnR w="31542">
                      <a:solidFill>
                        <a:srgbClr val="22D1B4"/>
                      </a:solidFill>
                      <a:prstDash val="solid"/>
                    </a:lnR>
                    <a:lnT w="31542">
                      <a:solidFill>
                        <a:srgbClr val="22D1B4"/>
                      </a:solidFill>
                      <a:prstDash val="solid"/>
                    </a:lnT>
                    <a:lnB w="31542">
                      <a:solidFill>
                        <a:srgbClr val="22D1B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738759" y="4196572"/>
            <a:ext cx="3023134" cy="1125962"/>
          </a:xfrm>
          <a:prstGeom prst="rect">
            <a:avLst/>
          </a:prstGeom>
          <a:noFill/>
        </p:spPr>
        <p:txBody>
          <a:bodyPr wrap="none" lIns="62920" rIns="62920" tIns="62920" bIns="62920">
            <a:spAutoFit/>
          </a:bodyPr>
          <a:lstStyle/>
          <a:p>
            <a:r>
              <a:rPr sz="1100" b="1" i="0" u="sng">
                <a:solidFill>
                  <a:srgbClr val="B9DB36"/>
                </a:solidFill>
                <a:latin typeface="Aptos"/>
              </a:rPr>
              <a:t>Friction Rhythm Horizon Service Range Slice Focus</a:t>
            </a:r>
          </a:p>
        </p:txBody>
      </p:sp>
      <p:pic>
        <p:nvPicPr>
          <p:cNvPr id="13" name="Picture 12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43" y="1071954"/>
            <a:ext cx="2723157" cy="1498002"/>
          </a:xfrm>
          <a:prstGeom prst="rect">
            <a:avLst/>
          </a:prstGeom>
        </p:spPr>
      </p:pic>
      <p:pic>
        <p:nvPicPr>
          <p:cNvPr id="14" name="Picture 13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007" y="4020780"/>
            <a:ext cx="2871417" cy="875982"/>
          </a:xfrm>
          <a:prstGeom prst="rect">
            <a:avLst/>
          </a:prstGeom>
        </p:spPr>
      </p:pic>
      <p:sp>
        <p:nvSpPr>
          <p:cNvPr id="15" name="Right Arrow 14"/>
          <p:cNvSpPr/>
          <p:nvPr/>
        </p:nvSpPr>
        <p:spPr>
          <a:xfrm>
            <a:off x="5153188" y="2085582"/>
            <a:ext cx="2548587" cy="667507"/>
          </a:xfrm>
          <a:prstGeom prst="rightArrow">
            <a:avLst/>
          </a:prstGeom>
          <a:solidFill>
            <a:srgbClr val="82B0C2"/>
          </a:solidFill>
          <a:ln w="17944">
            <a:solidFill>
              <a:srgbClr val="561D9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610" y="240541"/>
            <a:ext cx="1726242" cy="733519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115518" y="2904952"/>
          <a:ext cx="3774927" cy="996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985"/>
                <a:gridCol w="754985"/>
                <a:gridCol w="754985"/>
                <a:gridCol w="754985"/>
                <a:gridCol w="754987"/>
              </a:tblGrid>
              <a:tr h="3322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CCE6B"/>
                          </a:solidFill>
                        </a:rPr>
                        <a:t>Connector</a:t>
                      </a:r>
                    </a:p>
                  </a:txBody>
                  <a:tcPr>
                    <a:solidFill>
                      <a:srgbClr val="406A42"/>
                    </a:solidFill>
                    <a:lnL w="23377">
                      <a:solidFill>
                        <a:srgbClr val="981F58"/>
                      </a:solidFill>
                      <a:prstDash val="sysDot"/>
                    </a:lnL>
                    <a:lnR w="23377">
                      <a:solidFill>
                        <a:srgbClr val="981F58"/>
                      </a:solidFill>
                      <a:prstDash val="sysDot"/>
                    </a:lnR>
                    <a:lnT w="23377">
                      <a:solidFill>
                        <a:srgbClr val="981F58"/>
                      </a:solidFill>
                      <a:prstDash val="sysDot"/>
                    </a:lnT>
                    <a:lnB w="23377">
                      <a:solidFill>
                        <a:srgbClr val="981F58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CCE6B"/>
                          </a:solidFill>
                        </a:rPr>
                        <a:t>Profile</a:t>
                      </a:r>
                    </a:p>
                  </a:txBody>
                  <a:tcPr>
                    <a:solidFill>
                      <a:srgbClr val="406A42"/>
                    </a:solidFill>
                    <a:lnL w="23377">
                      <a:solidFill>
                        <a:srgbClr val="981F58"/>
                      </a:solidFill>
                      <a:prstDash val="sysDot"/>
                    </a:lnL>
                    <a:lnR w="23377">
                      <a:solidFill>
                        <a:srgbClr val="981F58"/>
                      </a:solidFill>
                      <a:prstDash val="sysDot"/>
                    </a:lnR>
                    <a:lnT w="23377">
                      <a:solidFill>
                        <a:srgbClr val="981F58"/>
                      </a:solidFill>
                      <a:prstDash val="sysDot"/>
                    </a:lnT>
                    <a:lnB w="23377">
                      <a:solidFill>
                        <a:srgbClr val="981F58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CCE6B"/>
                          </a:solidFill>
                        </a:rPr>
                        <a:t>Edge Adaptive</a:t>
                      </a:r>
                    </a:p>
                  </a:txBody>
                  <a:tcPr>
                    <a:solidFill>
                      <a:srgbClr val="406A42"/>
                    </a:solidFill>
                    <a:lnL w="23377">
                      <a:solidFill>
                        <a:srgbClr val="981F58"/>
                      </a:solidFill>
                      <a:prstDash val="sysDot"/>
                    </a:lnL>
                    <a:lnR w="23377">
                      <a:solidFill>
                        <a:srgbClr val="981F58"/>
                      </a:solidFill>
                      <a:prstDash val="sysDot"/>
                    </a:lnR>
                    <a:lnT w="23377">
                      <a:solidFill>
                        <a:srgbClr val="981F58"/>
                      </a:solidFill>
                      <a:prstDash val="sysDot"/>
                    </a:lnT>
                    <a:lnB w="23377">
                      <a:solidFill>
                        <a:srgbClr val="981F58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CCE6B"/>
                          </a:solidFill>
                        </a:rPr>
                        <a:t>Track</a:t>
                      </a:r>
                    </a:p>
                  </a:txBody>
                  <a:tcPr>
                    <a:solidFill>
                      <a:srgbClr val="406A42"/>
                    </a:solidFill>
                    <a:lnL w="23377">
                      <a:solidFill>
                        <a:srgbClr val="981F58"/>
                      </a:solidFill>
                      <a:prstDash val="sysDot"/>
                    </a:lnL>
                    <a:lnR w="23377">
                      <a:solidFill>
                        <a:srgbClr val="981F58"/>
                      </a:solidFill>
                      <a:prstDash val="sysDot"/>
                    </a:lnR>
                    <a:lnT w="23377">
                      <a:solidFill>
                        <a:srgbClr val="981F58"/>
                      </a:solidFill>
                      <a:prstDash val="sysDot"/>
                    </a:lnT>
                    <a:lnB w="23377">
                      <a:solidFill>
                        <a:srgbClr val="981F58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CCE6B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406A42"/>
                    </a:solidFill>
                    <a:lnL w="23377">
                      <a:solidFill>
                        <a:srgbClr val="981F58"/>
                      </a:solidFill>
                      <a:prstDash val="sysDot"/>
                    </a:lnL>
                    <a:lnR w="23377">
                      <a:solidFill>
                        <a:srgbClr val="981F58"/>
                      </a:solidFill>
                      <a:prstDash val="sysDot"/>
                    </a:lnR>
                    <a:lnT w="23377">
                      <a:solidFill>
                        <a:srgbClr val="981F58"/>
                      </a:solidFill>
                      <a:prstDash val="sysDot"/>
                    </a:lnT>
                    <a:lnB w="23377">
                      <a:solidFill>
                        <a:srgbClr val="981F58"/>
                      </a:solidFill>
                      <a:prstDash val="sysDot"/>
                    </a:lnB>
                  </a:tcPr>
                </a:tc>
              </a:tr>
              <a:tr h="33221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CCE6B"/>
                          </a:solidFill>
                        </a:rPr>
                        <a:t>Map</a:t>
                      </a:r>
                    </a:p>
                  </a:txBody>
                  <a:tcPr>
                    <a:solidFill>
                      <a:srgbClr val="EBF9F5"/>
                    </a:solidFill>
                    <a:lnL w="23377">
                      <a:solidFill>
                        <a:srgbClr val="981F58"/>
                      </a:solidFill>
                      <a:prstDash val="sysDot"/>
                    </a:lnL>
                    <a:lnR w="23377">
                      <a:solidFill>
                        <a:srgbClr val="981F58"/>
                      </a:solidFill>
                      <a:prstDash val="sysDot"/>
                    </a:lnR>
                    <a:lnT w="23377">
                      <a:solidFill>
                        <a:srgbClr val="981F58"/>
                      </a:solidFill>
                      <a:prstDash val="sysDot"/>
                    </a:lnT>
                    <a:lnB w="23377">
                      <a:solidFill>
                        <a:srgbClr val="981F58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CCE6B"/>
                          </a:solidFill>
                        </a:rPr>
                        <a:t>Deployment Diagram</a:t>
                      </a:r>
                    </a:p>
                  </a:txBody>
                  <a:tcPr>
                    <a:solidFill>
                      <a:srgbClr val="EBF9F5"/>
                    </a:solidFill>
                    <a:lnL w="23377">
                      <a:solidFill>
                        <a:srgbClr val="981F58"/>
                      </a:solidFill>
                      <a:prstDash val="sysDot"/>
                    </a:lnL>
                    <a:lnR w="23377">
                      <a:solidFill>
                        <a:srgbClr val="981F58"/>
                      </a:solidFill>
                      <a:prstDash val="sysDot"/>
                    </a:lnR>
                    <a:lnT w="23377">
                      <a:solidFill>
                        <a:srgbClr val="981F58"/>
                      </a:solidFill>
                      <a:prstDash val="sysDot"/>
                    </a:lnT>
                    <a:lnB w="23377">
                      <a:solidFill>
                        <a:srgbClr val="981F58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CCE6B"/>
                          </a:solidFill>
                        </a:rPr>
                        <a:t>Process</a:t>
                      </a:r>
                    </a:p>
                  </a:txBody>
                  <a:tcPr>
                    <a:solidFill>
                      <a:srgbClr val="EBF9F5"/>
                    </a:solidFill>
                    <a:lnL w="23377">
                      <a:solidFill>
                        <a:srgbClr val="981F58"/>
                      </a:solidFill>
                      <a:prstDash val="sysDot"/>
                    </a:lnL>
                    <a:lnR w="23377">
                      <a:solidFill>
                        <a:srgbClr val="981F58"/>
                      </a:solidFill>
                      <a:prstDash val="sysDot"/>
                    </a:lnR>
                    <a:lnT w="23377">
                      <a:solidFill>
                        <a:srgbClr val="981F58"/>
                      </a:solidFill>
                      <a:prstDash val="sysDot"/>
                    </a:lnT>
                    <a:lnB w="23377">
                      <a:solidFill>
                        <a:srgbClr val="981F58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CCE6B"/>
                          </a:solidFill>
                        </a:rPr>
                        <a:t>Interval</a:t>
                      </a:r>
                    </a:p>
                  </a:txBody>
                  <a:tcPr>
                    <a:solidFill>
                      <a:srgbClr val="EBF9F5"/>
                    </a:solidFill>
                    <a:lnL w="23377">
                      <a:solidFill>
                        <a:srgbClr val="981F58"/>
                      </a:solidFill>
                      <a:prstDash val="sysDot"/>
                    </a:lnL>
                    <a:lnR w="23377">
                      <a:solidFill>
                        <a:srgbClr val="981F58"/>
                      </a:solidFill>
                      <a:prstDash val="sysDot"/>
                    </a:lnR>
                    <a:lnT w="23377">
                      <a:solidFill>
                        <a:srgbClr val="981F58"/>
                      </a:solidFill>
                      <a:prstDash val="sysDot"/>
                    </a:lnT>
                    <a:lnB w="23377">
                      <a:solidFill>
                        <a:srgbClr val="981F58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CCE6B"/>
                          </a:solidFill>
                        </a:rPr>
                        <a:t>Channel Profile</a:t>
                      </a:r>
                    </a:p>
                  </a:txBody>
                  <a:tcPr>
                    <a:solidFill>
                      <a:srgbClr val="EBF9F5"/>
                    </a:solidFill>
                    <a:lnL w="23377">
                      <a:solidFill>
                        <a:srgbClr val="981F58"/>
                      </a:solidFill>
                      <a:prstDash val="sysDot"/>
                    </a:lnL>
                    <a:lnR w="23377">
                      <a:solidFill>
                        <a:srgbClr val="981F58"/>
                      </a:solidFill>
                      <a:prstDash val="sysDot"/>
                    </a:lnR>
                    <a:lnT w="23377">
                      <a:solidFill>
                        <a:srgbClr val="981F58"/>
                      </a:solidFill>
                      <a:prstDash val="sysDot"/>
                    </a:lnT>
                    <a:lnB w="23377">
                      <a:solidFill>
                        <a:srgbClr val="981F58"/>
                      </a:solidFill>
                      <a:prstDash val="sysDot"/>
                    </a:lnB>
                  </a:tcPr>
                </a:tc>
              </a:tr>
              <a:tr h="33221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CCE6B"/>
                          </a:solidFill>
                        </a:rPr>
                        <a:t>Structure Spectrum</a:t>
                      </a:r>
                    </a:p>
                  </a:txBody>
                  <a:tcPr>
                    <a:solidFill>
                      <a:srgbClr val="EBF9F5"/>
                    </a:solidFill>
                    <a:lnL w="23377">
                      <a:solidFill>
                        <a:srgbClr val="981F58"/>
                      </a:solidFill>
                      <a:prstDash val="sysDot"/>
                    </a:lnL>
                    <a:lnR w="23377">
                      <a:solidFill>
                        <a:srgbClr val="981F58"/>
                      </a:solidFill>
                      <a:prstDash val="sysDot"/>
                    </a:lnR>
                    <a:lnT w="23377">
                      <a:solidFill>
                        <a:srgbClr val="981F58"/>
                      </a:solidFill>
                      <a:prstDash val="sysDot"/>
                    </a:lnT>
                    <a:lnB w="23377">
                      <a:solidFill>
                        <a:srgbClr val="981F58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CCE6B"/>
                          </a:solidFill>
                        </a:rPr>
                        <a:t>Chart</a:t>
                      </a:r>
                    </a:p>
                  </a:txBody>
                  <a:tcPr>
                    <a:solidFill>
                      <a:srgbClr val="EBF9F5"/>
                    </a:solidFill>
                    <a:lnL w="23377">
                      <a:solidFill>
                        <a:srgbClr val="981F58"/>
                      </a:solidFill>
                      <a:prstDash val="sysDot"/>
                    </a:lnL>
                    <a:lnR w="23377">
                      <a:solidFill>
                        <a:srgbClr val="981F58"/>
                      </a:solidFill>
                      <a:prstDash val="sysDot"/>
                    </a:lnR>
                    <a:lnT w="23377">
                      <a:solidFill>
                        <a:srgbClr val="981F58"/>
                      </a:solidFill>
                      <a:prstDash val="sysDot"/>
                    </a:lnT>
                    <a:lnB w="23377">
                      <a:solidFill>
                        <a:srgbClr val="981F58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CCE6B"/>
                          </a:solidFill>
                        </a:rPr>
                        <a:t>Estimate</a:t>
                      </a:r>
                    </a:p>
                  </a:txBody>
                  <a:tcPr>
                    <a:solidFill>
                      <a:srgbClr val="EBF9F5"/>
                    </a:solidFill>
                    <a:lnL w="23377">
                      <a:solidFill>
                        <a:srgbClr val="981F58"/>
                      </a:solidFill>
                      <a:prstDash val="sysDot"/>
                    </a:lnL>
                    <a:lnR w="23377">
                      <a:solidFill>
                        <a:srgbClr val="981F58"/>
                      </a:solidFill>
                      <a:prstDash val="sysDot"/>
                    </a:lnR>
                    <a:lnT w="23377">
                      <a:solidFill>
                        <a:srgbClr val="981F58"/>
                      </a:solidFill>
                      <a:prstDash val="sysDot"/>
                    </a:lnT>
                    <a:lnB w="23377">
                      <a:solidFill>
                        <a:srgbClr val="981F58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CCE6B"/>
                          </a:solidFill>
                        </a:rPr>
                        <a:t>Compass Timeline</a:t>
                      </a:r>
                    </a:p>
                  </a:txBody>
                  <a:tcPr>
                    <a:solidFill>
                      <a:srgbClr val="EBF9F5"/>
                    </a:solidFill>
                    <a:lnL w="23377">
                      <a:solidFill>
                        <a:srgbClr val="981F58"/>
                      </a:solidFill>
                      <a:prstDash val="sysDot"/>
                    </a:lnL>
                    <a:lnR w="23377">
                      <a:solidFill>
                        <a:srgbClr val="981F58"/>
                      </a:solidFill>
                      <a:prstDash val="sysDot"/>
                    </a:lnR>
                    <a:lnT w="23377">
                      <a:solidFill>
                        <a:srgbClr val="981F58"/>
                      </a:solidFill>
                      <a:prstDash val="sysDot"/>
                    </a:lnT>
                    <a:lnB w="23377">
                      <a:solidFill>
                        <a:srgbClr val="981F58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CCE6B"/>
                          </a:solidFill>
                        </a:rPr>
                        <a:t>Goal</a:t>
                      </a:r>
                    </a:p>
                  </a:txBody>
                  <a:tcPr>
                    <a:solidFill>
                      <a:srgbClr val="EBF9F5"/>
                    </a:solidFill>
                    <a:lnL w="23377">
                      <a:solidFill>
                        <a:srgbClr val="981F58"/>
                      </a:solidFill>
                      <a:prstDash val="sysDot"/>
                    </a:lnL>
                    <a:lnR w="23377">
                      <a:solidFill>
                        <a:srgbClr val="981F58"/>
                      </a:solidFill>
                      <a:prstDash val="sysDot"/>
                    </a:lnR>
                    <a:lnT w="23377">
                      <a:solidFill>
                        <a:srgbClr val="981F58"/>
                      </a:solidFill>
                      <a:prstDash val="sysDot"/>
                    </a:lnT>
                    <a:lnB w="23377">
                      <a:solidFill>
                        <a:srgbClr val="981F58"/>
                      </a:solidFill>
                      <a:prstDash val="sysDot"/>
                    </a:lnB>
                  </a:tcPr>
                </a:tc>
              </a:tr>
            </a:tbl>
          </a:graphicData>
        </a:graphic>
      </p:graphicFrame>
      <p:sp>
        <p:nvSpPr>
          <p:cNvPr id="18" name="Rounded Rectangular Callout 17"/>
          <p:cNvSpPr/>
          <p:nvPr/>
        </p:nvSpPr>
        <p:spPr>
          <a:xfrm>
            <a:off x="5244805" y="5597595"/>
            <a:ext cx="993442" cy="507694"/>
          </a:xfrm>
          <a:prstGeom prst="wedgeRoundRectCallout">
            <a:avLst/>
          </a:prstGeom>
          <a:solidFill>
            <a:srgbClr val="CF7879"/>
          </a:solidFill>
          <a:ln w="18325">
            <a:solidFill>
              <a:srgbClr val="921B22"/>
            </a:solidFill>
            <a:prstDash val="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7311" y="1584056"/>
            <a:ext cx="1052473" cy="1077600"/>
          </a:xfrm>
          <a:prstGeom prst="rect">
            <a:avLst/>
          </a:prstGeom>
          <a:noFill/>
        </p:spPr>
        <p:txBody>
          <a:bodyPr wrap="none" lIns="26088" rIns="26088" tIns="26088" bIns="26088">
            <a:spAutoFit/>
          </a:bodyPr>
          <a:lstStyle/>
          <a:p>
            <a:r>
              <a:rPr sz="1100" b="0" i="0" u="none">
                <a:solidFill>
                  <a:srgbClr val="3C8454"/>
                </a:solidFill>
                <a:latin typeface="Georgia"/>
              </a:rPr>
              <a:t>Column Metric Rhythm Drift Point Entity Channel Scope Pixel Status Array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