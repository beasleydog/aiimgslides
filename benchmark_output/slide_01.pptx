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04288" y="2698862"/>
            <a:ext cx="1840163" cy="1822445"/>
          </a:xfrm>
          <a:prstGeom prst="rect">
            <a:avLst/>
          </a:prstGeom>
          <a:noFill/>
        </p:spPr>
        <p:txBody>
          <a:bodyPr wrap="none" lIns="49245" rIns="49245" tIns="49245" bIns="49245">
            <a:spAutoFit/>
          </a:bodyPr>
          <a:lstStyle/>
          <a:p>
            <a:r>
              <a:rPr sz="1200" b="1" i="0" u="none">
                <a:solidFill>
                  <a:srgbClr val="DFB6DF"/>
                </a:solidFill>
                <a:latin typeface="Georgia"/>
              </a:rPr>
              <a:t>Network Position Iteration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278826" y="765741"/>
          <a:ext cx="2735894" cy="133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178"/>
                <a:gridCol w="547178"/>
                <a:gridCol w="547178"/>
                <a:gridCol w="547178"/>
                <a:gridCol w="547182"/>
              </a:tblGrid>
              <a:tr h="26665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1E06C"/>
                          </a:solidFill>
                        </a:rPr>
                        <a:t>Diagram</a:t>
                      </a:r>
                    </a:p>
                  </a:txBody>
                  <a:tcPr>
                    <a:solidFill>
                      <a:srgbClr val="2E8149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1E06C"/>
                          </a:solidFill>
                        </a:rPr>
                        <a:t>Iteration</a:t>
                      </a:r>
                    </a:p>
                  </a:txBody>
                  <a:tcPr>
                    <a:solidFill>
                      <a:srgbClr val="2E8149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1E06C"/>
                          </a:solidFill>
                        </a:rPr>
                        <a:t>Control Center</a:t>
                      </a:r>
                    </a:p>
                  </a:txBody>
                  <a:tcPr>
                    <a:solidFill>
                      <a:srgbClr val="2E8149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1E06C"/>
                          </a:solidFill>
                        </a:rPr>
                        <a:t>Pipeline Iteration</a:t>
                      </a:r>
                    </a:p>
                  </a:txBody>
                  <a:tcPr>
                    <a:solidFill>
                      <a:srgbClr val="2E8149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D1E06C"/>
                          </a:solidFill>
                        </a:rPr>
                        <a:t>Column Adaptive</a:t>
                      </a:r>
                    </a:p>
                  </a:txBody>
                  <a:tcPr>
                    <a:solidFill>
                      <a:srgbClr val="2E8149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</a:tr>
              <a:tr h="26665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Column Phase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Moment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Vertex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Link Ratio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</a:tr>
              <a:tr h="26665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Library Heading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Map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Marker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Flow Portal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</a:tr>
              <a:tr h="26665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Horizon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Checkpoint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Output Node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Response Diagram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B9E2EB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</a:tr>
              <a:tr h="266658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Texture Story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Viewport Panel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Element Narrative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D1E06C"/>
                          </a:solidFill>
                        </a:rPr>
                        <a:t>Draft Reference</a:t>
                      </a:r>
                    </a:p>
                  </a:txBody>
                  <a:tcPr>
                    <a:solidFill>
                      <a:srgbClr val="DBF0F4"/>
                    </a:solidFill>
                    <a:lnL w="15567">
                      <a:solidFill>
                        <a:srgbClr val="93C78F"/>
                      </a:solidFill>
                      <a:prstDash val="dashDot"/>
                    </a:lnL>
                    <a:lnR w="15567">
                      <a:solidFill>
                        <a:srgbClr val="93C78F"/>
                      </a:solidFill>
                      <a:prstDash val="dashDot"/>
                    </a:lnR>
                    <a:lnT w="15567">
                      <a:solidFill>
                        <a:srgbClr val="93C78F"/>
                      </a:solidFill>
                      <a:prstDash val="dashDot"/>
                    </a:lnT>
                    <a:lnB w="15567">
                      <a:solidFill>
                        <a:srgbClr val="93C78F"/>
                      </a:solidFill>
                      <a:prstDash val="dashDot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620571" y="3473089"/>
            <a:ext cx="3025001" cy="1317745"/>
          </a:xfrm>
          <a:prstGeom prst="rect">
            <a:avLst/>
          </a:prstGeom>
          <a:noFill/>
        </p:spPr>
        <p:txBody>
          <a:bodyPr wrap="none" lIns="21113" rIns="21113" tIns="21113" bIns="21113">
            <a:spAutoFit/>
          </a:bodyPr>
          <a:lstStyle/>
          <a:p>
            <a:r>
              <a:rPr sz="2000" b="0" i="0" u="none">
                <a:solidFill>
                  <a:srgbClr val="B0B6A2"/>
                </a:solidFill>
                <a:latin typeface="Calibri"/>
              </a:rPr>
              <a:t>Status Interface Device Summary Network Velocity Balance Canvas Object Release</a:t>
            </a:r>
          </a:p>
        </p:txBody>
      </p:sp>
      <p:sp>
        <p:nvSpPr>
          <p:cNvPr id="5" name="Cloud Callout 4"/>
          <p:cNvSpPr/>
          <p:nvPr/>
        </p:nvSpPr>
        <p:spPr>
          <a:xfrm>
            <a:off x="9405754" y="1259748"/>
            <a:ext cx="1532353" cy="335381"/>
          </a:xfrm>
          <a:prstGeom prst="cloudCallout">
            <a:avLst/>
          </a:prstGeom>
          <a:solidFill>
            <a:srgbClr val="792343"/>
          </a:solidFill>
          <a:ln w="10493">
            <a:solidFill>
              <a:srgbClr val="D63DE5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-Right Arrow Callout 5"/>
          <p:cNvSpPr/>
          <p:nvPr/>
        </p:nvSpPr>
        <p:spPr>
          <a:xfrm>
            <a:off x="6150640" y="5355591"/>
            <a:ext cx="446291" cy="517786"/>
          </a:xfrm>
          <a:prstGeom prst="leftRightArrowCallout">
            <a:avLst/>
          </a:prstGeom>
          <a:noFill/>
          <a:ln w="19952">
            <a:solidFill>
              <a:srgbClr val="6441C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ular Callout 6"/>
          <p:cNvSpPr/>
          <p:nvPr/>
        </p:nvSpPr>
        <p:spPr>
          <a:xfrm>
            <a:off x="4666733" y="3525531"/>
            <a:ext cx="1106539" cy="1040325"/>
          </a:xfrm>
          <a:prstGeom prst="wedgeRoundRectCallout">
            <a:avLst/>
          </a:prstGeom>
          <a:solidFill>
            <a:srgbClr val="3E8558"/>
          </a:solidFill>
          <a:ln w="20032">
            <a:solidFill>
              <a:srgbClr val="92767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8619" y="1687177"/>
            <a:ext cx="3229046" cy="906540"/>
          </a:xfrm>
          <a:prstGeom prst="rect">
            <a:avLst/>
          </a:prstGeom>
          <a:solidFill>
            <a:srgbClr val="D4AD6E"/>
          </a:solidFill>
        </p:spPr>
        <p:txBody>
          <a:bodyPr wrap="none" lIns="85311" rIns="85311" tIns="85311" bIns="85311">
            <a:spAutoFit/>
          </a:bodyPr>
          <a:lstStyle/>
          <a:p>
            <a:r>
              <a:rPr sz="900" b="1" i="1" u="none">
                <a:solidFill>
                  <a:srgbClr val="A24019"/>
                </a:solidFill>
                <a:latin typeface="Georgia"/>
              </a:rPr>
              <a:t>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4496" y="499806"/>
            <a:ext cx="4826554" cy="423010"/>
          </a:xfrm>
          <a:prstGeom prst="rect">
            <a:avLst/>
          </a:prstGeom>
          <a:noFill/>
        </p:spPr>
        <p:txBody>
          <a:bodyPr wrap="none" lIns="24868" rIns="24868" tIns="24868" bIns="24868">
            <a:spAutoFit/>
          </a:bodyPr>
          <a:lstStyle/>
          <a:p>
            <a:r>
              <a:rPr sz="1900" b="1" i="0" u="none">
                <a:solidFill>
                  <a:srgbClr val="24ACE1"/>
                </a:solidFill>
                <a:latin typeface="Trebuchet MS"/>
              </a:rPr>
              <a:t>Template Discovery Scope Runtime Access Span Point Horizon Segment Process Dashboard Template Domain</a:t>
            </a:r>
          </a:p>
        </p:txBody>
      </p:sp>
      <p:sp>
        <p:nvSpPr>
          <p:cNvPr id="10" name="Data 9"/>
          <p:cNvSpPr/>
          <p:nvPr/>
        </p:nvSpPr>
        <p:spPr>
          <a:xfrm>
            <a:off x="1081086" y="2894717"/>
            <a:ext cx="2316807" cy="552808"/>
          </a:xfrm>
          <a:prstGeom prst="flowChartInputOutput">
            <a:avLst/>
          </a:prstGeom>
          <a:solidFill>
            <a:srgbClr val="A0CF40"/>
          </a:solidFill>
          <a:ln w="28248">
            <a:solidFill>
              <a:srgbClr val="3D205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85" y="5612647"/>
            <a:ext cx="2364070" cy="8662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9112" y="4708818"/>
            <a:ext cx="3352172" cy="616789"/>
          </a:xfrm>
          <a:prstGeom prst="rect">
            <a:avLst/>
          </a:prstGeom>
          <a:noFill/>
        </p:spPr>
        <p:txBody>
          <a:bodyPr wrap="none" lIns="44524" rIns="44524" tIns="44524" bIns="44524">
            <a:spAutoFit/>
          </a:bodyPr>
          <a:lstStyle/>
          <a:p>
            <a:r>
              <a:rPr sz="5600" b="1" i="0" u="none">
                <a:solidFill>
                  <a:srgbClr val="CA2364"/>
                </a:solidFill>
                <a:latin typeface="Calibri"/>
              </a:rPr>
              <a:t>Region Hub Loop Marker Field Action Envelope</a:t>
            </a:r>
          </a:p>
        </p:txBody>
      </p:sp>
      <p:sp>
        <p:nvSpPr>
          <p:cNvPr id="13" name="Division 12"/>
          <p:cNvSpPr/>
          <p:nvPr/>
        </p:nvSpPr>
        <p:spPr>
          <a:xfrm>
            <a:off x="6034526" y="3286342"/>
            <a:ext cx="336426" cy="1270533"/>
          </a:xfrm>
          <a:prstGeom prst="mathDivide">
            <a:avLst/>
          </a:prstGeom>
          <a:solidFill>
            <a:srgbClr val="866825"/>
          </a:solidFill>
          <a:ln w="18567">
            <a:solidFill>
              <a:srgbClr val="B3D09C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2653" y="1652905"/>
            <a:ext cx="3829197" cy="1066920"/>
          </a:xfrm>
          <a:prstGeom prst="rect">
            <a:avLst/>
          </a:prstGeom>
          <a:noFill/>
        </p:spPr>
        <p:txBody>
          <a:bodyPr wrap="none" lIns="64049" rIns="64049" tIns="64049" bIns="64049">
            <a:spAutoFit/>
          </a:bodyPr>
          <a:lstStyle/>
          <a:p>
            <a:r>
              <a:rPr sz="900" b="0" i="1" u="none">
                <a:solidFill>
                  <a:srgbClr val="B0A053"/>
                </a:solidFill>
                <a:latin typeface="Calibri"/>
              </a:rPr>
              <a:t>Clarity Table Region</a:t>
            </a:r>
          </a:p>
        </p:txBody>
      </p:sp>
      <p:sp>
        <p:nvSpPr>
          <p:cNvPr id="15" name="Oval Callout 14"/>
          <p:cNvSpPr/>
          <p:nvPr/>
        </p:nvSpPr>
        <p:spPr>
          <a:xfrm>
            <a:off x="7856557" y="6083867"/>
            <a:ext cx="1314871" cy="429842"/>
          </a:xfrm>
          <a:prstGeom prst="wedgeEllipseCallout">
            <a:avLst/>
          </a:prstGeom>
          <a:solidFill>
            <a:srgbClr val="D85C88"/>
          </a:solidFill>
          <a:ln w="8544">
            <a:solidFill>
              <a:srgbClr val="49604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xplosion 15"/>
          <p:cNvSpPr/>
          <p:nvPr/>
        </p:nvSpPr>
        <p:spPr>
          <a:xfrm>
            <a:off x="5192639" y="4935162"/>
            <a:ext cx="852314" cy="921556"/>
          </a:xfrm>
          <a:prstGeom prst="irregularSeal1">
            <a:avLst/>
          </a:prstGeom>
          <a:solidFill>
            <a:srgbClr val="563B9C"/>
          </a:solidFill>
          <a:ln w="15254">
            <a:solidFill>
              <a:srgbClr val="57937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873" y="335797"/>
            <a:ext cx="1102843" cy="814680"/>
          </a:xfrm>
          <a:prstGeom prst="rect">
            <a:avLst/>
          </a:prstGeom>
        </p:spPr>
      </p:pic>
      <p:pic>
        <p:nvPicPr>
          <p:cNvPr id="18" name="Picture 17" descr="_example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613" y="4362360"/>
            <a:ext cx="1127093" cy="778484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66793" y="5262591"/>
          <a:ext cx="3595317" cy="958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9063"/>
                <a:gridCol w="719063"/>
                <a:gridCol w="719063"/>
                <a:gridCol w="719063"/>
                <a:gridCol w="719065"/>
              </a:tblGrid>
              <a:tr h="2395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889A"/>
                          </a:solidFill>
                        </a:rPr>
                        <a:t>Cortex Lens</a:t>
                      </a:r>
                    </a:p>
                  </a:txBody>
                  <a:tcPr>
                    <a:solidFill>
                      <a:srgbClr val="3DD897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889A"/>
                          </a:solidFill>
                        </a:rPr>
                        <a:t>Transit</a:t>
                      </a:r>
                    </a:p>
                  </a:txBody>
                  <a:tcPr>
                    <a:solidFill>
                      <a:srgbClr val="3DD897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889A"/>
                          </a:solidFill>
                        </a:rPr>
                        <a:t>Proof</a:t>
                      </a:r>
                    </a:p>
                  </a:txBody>
                  <a:tcPr>
                    <a:solidFill>
                      <a:srgbClr val="3DD897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889A"/>
                          </a:solidFill>
                        </a:rPr>
                        <a:t>Dimension Release</a:t>
                      </a:r>
                    </a:p>
                  </a:txBody>
                  <a:tcPr>
                    <a:solidFill>
                      <a:srgbClr val="3DD897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4889A"/>
                          </a:solidFill>
                        </a:rPr>
                        <a:t>Deck Volume</a:t>
                      </a:r>
                    </a:p>
                  </a:txBody>
                  <a:tcPr>
                    <a:solidFill>
                      <a:srgbClr val="3DD897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</a:tr>
              <a:tr h="2395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Path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Depth Target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Cortex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Account Surface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</a:tr>
              <a:tr h="2395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Depth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Moment Span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Workflow Handle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Direction Input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Table Design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</a:tr>
              <a:tr h="23955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Library Structure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Dispatch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Core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Deployment Gradient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4889A"/>
                          </a:solidFill>
                        </a:rPr>
                        <a:t>Range</a:t>
                      </a:r>
                    </a:p>
                  </a:txBody>
                  <a:tcPr>
                    <a:solidFill>
                      <a:srgbClr val="EAE5D9"/>
                    </a:solidFill>
                    <a:lnL w="22034">
                      <a:solidFill>
                        <a:srgbClr val="AF4DA6"/>
                      </a:solidFill>
                      <a:prstDash val="solid"/>
                    </a:lnL>
                    <a:lnR w="22034">
                      <a:solidFill>
                        <a:srgbClr val="AF4DA6"/>
                      </a:solidFill>
                      <a:prstDash val="solid"/>
                    </a:lnR>
                    <a:lnT w="22034">
                      <a:solidFill>
                        <a:srgbClr val="AF4DA6"/>
                      </a:solidFill>
                      <a:prstDash val="solid"/>
                    </a:lnT>
                    <a:lnB w="22034">
                      <a:solidFill>
                        <a:srgbClr val="AF4DA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