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65580" y="2828680"/>
            <a:ext cx="1938389" cy="389179"/>
          </a:xfrm>
          <a:prstGeom prst="rect">
            <a:avLst/>
          </a:prstGeom>
          <a:noFill/>
        </p:spPr>
        <p:txBody>
          <a:bodyPr wrap="none" lIns="76071" rIns="76071" tIns="76071" bIns="76071">
            <a:spAutoFit/>
          </a:bodyPr>
          <a:lstStyle/>
          <a:p>
            <a:r>
              <a:rPr sz="1800" b="1" i="0" u="none">
                <a:solidFill>
                  <a:srgbClr val="547D8B"/>
                </a:solidFill>
                <a:latin typeface="Calibri"/>
              </a:rPr>
              <a:t>Capacity Strategy Guide Schema Control Baseline System Event Template Ratio Interface Model Clarity Gateway Capacity Topology Engine Workflow Case Alpha Limit Signal Cycle Column Draft Reserve Reference Device Guide Factor Cycle Query Center Portal Entity Motion Table Explorer Table Clarity Version Matrix</a:t>
            </a:r>
          </a:p>
        </p:txBody>
      </p:sp>
      <p:sp>
        <p:nvSpPr>
          <p:cNvPr id="3" name="TextBox 2"/>
          <p:cNvSpPr txBox="1"/>
          <p:nvPr/>
        </p:nvSpPr>
        <p:spPr>
          <a:xfrm>
            <a:off x="2756961" y="5607483"/>
            <a:ext cx="3287188" cy="759215"/>
          </a:xfrm>
          <a:prstGeom prst="rect">
            <a:avLst/>
          </a:prstGeom>
          <a:noFill/>
        </p:spPr>
        <p:txBody>
          <a:bodyPr wrap="none" lIns="19461" rIns="19461" tIns="19461" bIns="19461">
            <a:spAutoFit/>
          </a:bodyPr>
          <a:lstStyle/>
          <a:p>
            <a:r>
              <a:rPr sz="5800" b="1" i="0" u="none">
                <a:solidFill>
                  <a:srgbClr val="645782"/>
                </a:solidFill>
                <a:latin typeface="Aptos"/>
              </a:rPr>
              <a:t>Indicator Stack</a:t>
            </a:r>
          </a:p>
        </p:txBody>
      </p:sp>
      <p:sp>
        <p:nvSpPr>
          <p:cNvPr id="4" name="TextBox 3"/>
          <p:cNvSpPr txBox="1"/>
          <p:nvPr/>
        </p:nvSpPr>
        <p:spPr>
          <a:xfrm>
            <a:off x="1710885" y="1063644"/>
            <a:ext cx="2609119" cy="456480"/>
          </a:xfrm>
          <a:prstGeom prst="rect">
            <a:avLst/>
          </a:prstGeom>
          <a:noFill/>
        </p:spPr>
        <p:txBody>
          <a:bodyPr wrap="none" lIns="30962" rIns="30962" tIns="30962" bIns="30962">
            <a:spAutoFit/>
          </a:bodyPr>
          <a:lstStyle/>
          <a:p>
            <a:r>
              <a:rPr sz="1800" b="1" i="0" u="none">
                <a:solidFill>
                  <a:srgbClr val="89BBC4"/>
                </a:solidFill>
                <a:latin typeface="Georgia"/>
              </a:rPr>
              <a:t>Bundle Density Review Circuit Proof Object Method Volume Build Structure Explorer Sync Function System Slice Design Blueprint Trigger Echo Inventory Surface Buffer Data Connector Stage Link Priority</a:t>
            </a:r>
          </a:p>
        </p:txBody>
      </p:sp>
      <p:sp>
        <p:nvSpPr>
          <p:cNvPr id="5" name="Explosion 4"/>
          <p:cNvSpPr/>
          <p:nvPr/>
        </p:nvSpPr>
        <p:spPr>
          <a:xfrm>
            <a:off x="8299690" y="1985706"/>
            <a:ext cx="2597269" cy="1237945"/>
          </a:xfrm>
          <a:prstGeom prst="irregularSeal2">
            <a:avLst/>
          </a:prstGeom>
          <a:solidFill>
            <a:srgbClr val="D84347"/>
          </a:solidFill>
          <a:ln w="8670">
            <a:solidFill>
              <a:srgbClr val="BB8B7E"/>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5" y="4348476"/>
            <a:ext cx="2480354" cy="236204"/>
          </a:xfrm>
          <a:prstGeom prst="rect">
            <a:avLst/>
          </a:prstGeom>
          <a:solidFill>
            <a:srgbClr val="1C80B9"/>
          </a:solidFill>
          <a:ln w="17611">
            <a:solidFill>
              <a:srgbClr val="3C71B1"/>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xplosion 6"/>
          <p:cNvSpPr/>
          <p:nvPr/>
        </p:nvSpPr>
        <p:spPr>
          <a:xfrm>
            <a:off x="6966988" y="5507762"/>
            <a:ext cx="373934" cy="1038732"/>
          </a:xfrm>
          <a:prstGeom prst="irregularSeal2">
            <a:avLst/>
          </a:prstGeom>
          <a:solidFill>
            <a:srgbClr val="256EBA"/>
          </a:solidFill>
          <a:ln w="8583">
            <a:solidFill>
              <a:srgbClr val="75D4A6"/>
            </a:solidFill>
            <a:prstDash val="dash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_example_image.jpg"/>
          <p:cNvPicPr>
            <a:picLocks noChangeAspect="1"/>
          </p:cNvPicPr>
          <p:nvPr/>
        </p:nvPicPr>
        <p:blipFill>
          <a:blip r:embed="rId2"/>
          <a:stretch>
            <a:fillRect/>
          </a:stretch>
        </p:blipFill>
        <p:spPr>
          <a:xfrm>
            <a:off x="7299779" y="687809"/>
            <a:ext cx="1060996" cy="831277"/>
          </a:xfrm>
          <a:prstGeom prst="rect">
            <a:avLst/>
          </a:prstGeom>
        </p:spPr>
      </p:pic>
      <p:pic>
        <p:nvPicPr>
          <p:cNvPr id="9" name="Picture 8" descr="_example_image.jpg"/>
          <p:cNvPicPr>
            <a:picLocks noChangeAspect="1"/>
          </p:cNvPicPr>
          <p:nvPr/>
        </p:nvPicPr>
        <p:blipFill>
          <a:blip r:embed="rId2"/>
          <a:stretch>
            <a:fillRect/>
          </a:stretch>
        </p:blipFill>
        <p:spPr>
          <a:xfrm>
            <a:off x="9861591" y="3191619"/>
            <a:ext cx="1098687" cy="890108"/>
          </a:xfrm>
          <a:prstGeom prst="rect">
            <a:avLst/>
          </a:prstGeom>
        </p:spPr>
      </p:pic>
      <p:sp>
        <p:nvSpPr>
          <p:cNvPr id="10" name="Left Arrow 9"/>
          <p:cNvSpPr/>
          <p:nvPr/>
        </p:nvSpPr>
        <p:spPr>
          <a:xfrm>
            <a:off x="9794812" y="6188319"/>
            <a:ext cx="512780" cy="239069"/>
          </a:xfrm>
          <a:prstGeom prst="leftArrow">
            <a:avLst/>
          </a:prstGeom>
          <a:noFill/>
          <a:ln w="6678">
            <a:solidFill>
              <a:srgbClr val="BF2EC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_example_image.jpg"/>
          <p:cNvPicPr>
            <a:picLocks noChangeAspect="1"/>
          </p:cNvPicPr>
          <p:nvPr/>
        </p:nvPicPr>
        <p:blipFill>
          <a:blip r:embed="rId2"/>
          <a:stretch>
            <a:fillRect/>
          </a:stretch>
        </p:blipFill>
        <p:spPr>
          <a:xfrm>
            <a:off x="10156727" y="276250"/>
            <a:ext cx="1397370" cy="1769473"/>
          </a:xfrm>
          <a:prstGeom prst="rect">
            <a:avLst/>
          </a:prstGeom>
        </p:spPr>
      </p:pic>
      <p:sp>
        <p:nvSpPr>
          <p:cNvPr id="12" name="Striped Right Arrow 11"/>
          <p:cNvSpPr/>
          <p:nvPr/>
        </p:nvSpPr>
        <p:spPr>
          <a:xfrm>
            <a:off x="8306420" y="380355"/>
            <a:ext cx="1274338" cy="1383403"/>
          </a:xfrm>
          <a:prstGeom prst="stripedRightArrow">
            <a:avLst/>
          </a:prstGeom>
          <a:noFill/>
          <a:ln w="18873">
            <a:solidFill>
              <a:srgbClr val="199655"/>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4562419" y="698040"/>
          <a:ext cx="2526115" cy="2143117"/>
        </p:xfrm>
        <a:graphic>
          <a:graphicData uri="http://schemas.openxmlformats.org/drawingml/2006/table">
            <a:tbl>
              <a:tblPr firstRow="1" bandRow="1">
                <a:tableStyleId>{5C22544A-7EE6-4342-B048-85BDC9FD1C3A}</a:tableStyleId>
              </a:tblPr>
              <a:tblGrid>
                <a:gridCol w="631528"/>
                <a:gridCol w="631528"/>
                <a:gridCol w="631528"/>
                <a:gridCol w="631531"/>
              </a:tblGrid>
              <a:tr h="535779">
                <a:tc>
                  <a:txBody>
                    <a:bodyPr/>
                    <a:lstStyle/>
                    <a:p>
                      <a:r>
                        <a:rPr sz="700" b="1">
                          <a:solidFill>
                            <a:srgbClr val="48A58F"/>
                          </a:solidFill>
                        </a:rPr>
                        <a:t>Drift Benchmark</a:t>
                      </a:r>
                    </a:p>
                  </a:txBody>
                  <a:tcPr>
                    <a:solidFill>
                      <a:srgbClr val="89E06B"/>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1">
                          <a:solidFill>
                            <a:srgbClr val="48A58F"/>
                          </a:solidFill>
                        </a:rPr>
                        <a:t>Signal Process</a:t>
                      </a:r>
                    </a:p>
                  </a:txBody>
                  <a:tcPr>
                    <a:solidFill>
                      <a:srgbClr val="89E06B"/>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1">
                          <a:solidFill>
                            <a:srgbClr val="48A58F"/>
                          </a:solidFill>
                        </a:rPr>
                        <a:t>Array Token</a:t>
                      </a:r>
                    </a:p>
                  </a:txBody>
                  <a:tcPr>
                    <a:solidFill>
                      <a:srgbClr val="89E06B"/>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1">
                          <a:solidFill>
                            <a:srgbClr val="48A58F"/>
                          </a:solidFill>
                        </a:rPr>
                        <a:t>Sequence Thread</a:t>
                      </a:r>
                    </a:p>
                  </a:txBody>
                  <a:tcPr>
                    <a:solidFill>
                      <a:srgbClr val="89E06B"/>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r>
              <a:tr h="535779">
                <a:tc>
                  <a:txBody>
                    <a:bodyPr/>
                    <a:lstStyle/>
                    <a:p>
                      <a:r>
                        <a:rPr sz="700" b="0">
                          <a:solidFill>
                            <a:srgbClr val="48A58F"/>
                          </a:solidFill>
                        </a:rPr>
                        <a:t>Profile</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Domain Measure</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Interface Heading</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Portal Memory</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r>
              <a:tr h="535779">
                <a:tc>
                  <a:txBody>
                    <a:bodyPr/>
                    <a:lstStyle/>
                    <a:p>
                      <a:r>
                        <a:rPr sz="700" b="0">
                          <a:solidFill>
                            <a:srgbClr val="48A58F"/>
                          </a:solidFill>
                        </a:rPr>
                        <a:t>Heading</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Beacon</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Schema</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Level Build</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r>
              <a:tr h="535780">
                <a:tc>
                  <a:txBody>
                    <a:bodyPr/>
                    <a:lstStyle/>
                    <a:p>
                      <a:r>
                        <a:rPr sz="700" b="0">
                          <a:solidFill>
                            <a:srgbClr val="48A58F"/>
                          </a:solidFill>
                        </a:rPr>
                        <a:t>Proof Stream</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Path Template</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Alignment Connector</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c>
                  <a:txBody>
                    <a:bodyPr/>
                    <a:lstStyle/>
                    <a:p>
                      <a:r>
                        <a:rPr sz="700" b="0">
                          <a:solidFill>
                            <a:srgbClr val="48A58F"/>
                          </a:solidFill>
                        </a:rPr>
                        <a:t>Transform</a:t>
                      </a:r>
                    </a:p>
                  </a:txBody>
                  <a:tcPr>
                    <a:solidFill>
                      <a:srgbClr val="E1EFE2"/>
                    </a:solidFill>
                    <a:lnL w="29157">
                      <a:solidFill>
                        <a:srgbClr val="AE645E"/>
                      </a:solidFill>
                      <a:prstDash val="solid"/>
                    </a:lnL>
                    <a:lnR w="29157">
                      <a:solidFill>
                        <a:srgbClr val="AE645E"/>
                      </a:solidFill>
                      <a:prstDash val="solid"/>
                    </a:lnR>
                    <a:lnT w="29157">
                      <a:solidFill>
                        <a:srgbClr val="AE645E"/>
                      </a:solidFill>
                      <a:prstDash val="solid"/>
                    </a:lnT>
                    <a:lnB w="29157">
                      <a:solidFill>
                        <a:srgbClr val="AE645E"/>
                      </a:solidFill>
                      <a:prstDash val="solid"/>
                    </a:lnB>
                  </a:tcPr>
                </a:tc>
              </a:tr>
            </a:tbl>
          </a:graphicData>
        </a:graphic>
      </p:graphicFrame>
      <p:sp>
        <p:nvSpPr>
          <p:cNvPr id="14" name="Terminator 13"/>
          <p:cNvSpPr/>
          <p:nvPr/>
        </p:nvSpPr>
        <p:spPr>
          <a:xfrm>
            <a:off x="10223356" y="5321157"/>
            <a:ext cx="834931" cy="363748"/>
          </a:xfrm>
          <a:prstGeom prst="flowChartTerminator">
            <a:avLst/>
          </a:prstGeom>
          <a:solidFill>
            <a:srgbClr val="E64C76"/>
          </a:solidFill>
          <a:ln w="18705">
            <a:solidFill>
              <a:srgbClr val="458A69"/>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4165" y="3767242"/>
            <a:ext cx="4545087" cy="1065065"/>
          </a:xfrm>
          <a:prstGeom prst="rect">
            <a:avLst/>
          </a:prstGeom>
          <a:noFill/>
        </p:spPr>
        <p:txBody>
          <a:bodyPr wrap="none" lIns="40450" rIns="40450" tIns="40450" bIns="40450">
            <a:spAutoFit/>
          </a:bodyPr>
          <a:lstStyle/>
          <a:p>
            <a:r>
              <a:rPr sz="3800" b="1" i="0" u="none">
                <a:solidFill>
                  <a:srgbClr val="4790C9"/>
                </a:solidFill>
                <a:latin typeface="Verdana"/>
              </a:rPr>
              <a:t>Panel Hub Asset</a:t>
            </a:r>
          </a:p>
        </p:txBody>
      </p:sp>
      <p:sp>
        <p:nvSpPr>
          <p:cNvPr id="16" name="TextBox 15"/>
          <p:cNvSpPr txBox="1"/>
          <p:nvPr/>
        </p:nvSpPr>
        <p:spPr>
          <a:xfrm>
            <a:off x="1758876" y="1534978"/>
            <a:ext cx="2590902" cy="1972732"/>
          </a:xfrm>
          <a:prstGeom prst="rect">
            <a:avLst/>
          </a:prstGeom>
          <a:solidFill>
            <a:srgbClr val="274573"/>
          </a:solidFill>
        </p:spPr>
        <p:txBody>
          <a:bodyPr wrap="none" lIns="42958" rIns="42958" tIns="42958" bIns="42958">
            <a:spAutoFit/>
          </a:bodyPr>
          <a:lstStyle/>
          <a:p>
            <a:r>
              <a:rPr sz="2900" b="0" i="0" u="none">
                <a:solidFill>
                  <a:srgbClr val="319271"/>
                </a:solidFill>
                <a:latin typeface="Verdana"/>
              </a:rPr>
              <a:t>Gateway Benchmark Context Foundation Narrative Aspect Vertex</a:t>
            </a:r>
          </a:p>
        </p:txBody>
      </p:sp>
      <p:sp>
        <p:nvSpPr>
          <p:cNvPr id="17" name="TextBox 16"/>
          <p:cNvSpPr txBox="1"/>
          <p:nvPr/>
        </p:nvSpPr>
        <p:spPr>
          <a:xfrm>
            <a:off x="515191" y="5818390"/>
            <a:ext cx="1425391" cy="272876"/>
          </a:xfrm>
          <a:prstGeom prst="rect">
            <a:avLst/>
          </a:prstGeom>
          <a:noFill/>
        </p:spPr>
        <p:txBody>
          <a:bodyPr wrap="none" lIns="20955" rIns="20955" tIns="20955" bIns="20955">
            <a:spAutoFit/>
          </a:bodyPr>
          <a:lstStyle/>
          <a:p>
            <a:r>
              <a:rPr sz="2900" b="0" i="1" u="none">
                <a:solidFill>
                  <a:srgbClr val="D8A87F"/>
                </a:solidFill>
                <a:latin typeface="Arial"/>
              </a:rPr>
              <a:t>Archive Option Needle Wave Discovery Datum Transform Blueprint Audit Register Horizon Wave Envelope</a:t>
            </a:r>
          </a:p>
        </p:txBody>
      </p:sp>
      <p:sp>
        <p:nvSpPr>
          <p:cNvPr id="18" name="&quot;No&quot; Symbol 17"/>
          <p:cNvSpPr/>
          <p:nvPr/>
        </p:nvSpPr>
        <p:spPr>
          <a:xfrm>
            <a:off x="1150685" y="5061563"/>
            <a:ext cx="2355110" cy="430778"/>
          </a:xfrm>
          <a:prstGeom prst="noSmoking">
            <a:avLst/>
          </a:prstGeom>
          <a:noFill/>
          <a:ln w="20397">
            <a:solidFill>
              <a:srgbClr val="7EA38C"/>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9" name="Table 18"/>
          <p:cNvGraphicFramePr>
            <a:graphicFrameLocks noGrp="1"/>
          </p:cNvGraphicFramePr>
          <p:nvPr/>
        </p:nvGraphicFramePr>
        <p:xfrm>
          <a:off x="7847572" y="4627172"/>
          <a:ext cx="2940538" cy="915274"/>
        </p:xfrm>
        <a:graphic>
          <a:graphicData uri="http://schemas.openxmlformats.org/drawingml/2006/table">
            <a:tbl>
              <a:tblPr firstRow="1" bandRow="1">
                <a:tableStyleId>{5C22544A-7EE6-4342-B048-85BDC9FD1C3A}</a:tableStyleId>
              </a:tblPr>
              <a:tblGrid>
                <a:gridCol w="735134"/>
                <a:gridCol w="735134"/>
                <a:gridCol w="735134"/>
                <a:gridCol w="735136"/>
              </a:tblGrid>
              <a:tr h="228818">
                <a:tc>
                  <a:txBody>
                    <a:bodyPr/>
                    <a:lstStyle/>
                    <a:p>
                      <a:r>
                        <a:rPr sz="700" b="1">
                          <a:solidFill>
                            <a:srgbClr val="32899A"/>
                          </a:solidFill>
                        </a:rPr>
                        <a:t>Bridge Module</a:t>
                      </a:r>
                    </a:p>
                  </a:txBody>
                  <a:tcPr>
                    <a:solidFill>
                      <a:srgbClr val="A28292"/>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1">
                          <a:solidFill>
                            <a:srgbClr val="32899A"/>
                          </a:solidFill>
                        </a:rPr>
                        <a:t>Energy Ledger</a:t>
                      </a:r>
                    </a:p>
                  </a:txBody>
                  <a:tcPr>
                    <a:solidFill>
                      <a:srgbClr val="A28292"/>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1">
                          <a:solidFill>
                            <a:srgbClr val="32899A"/>
                          </a:solidFill>
                        </a:rPr>
                        <a:t>Timeline</a:t>
                      </a:r>
                    </a:p>
                  </a:txBody>
                  <a:tcPr>
                    <a:solidFill>
                      <a:srgbClr val="A28292"/>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1">
                          <a:solidFill>
                            <a:srgbClr val="32899A"/>
                          </a:solidFill>
                        </a:rPr>
                        <a:t>Reference</a:t>
                      </a:r>
                    </a:p>
                  </a:txBody>
                  <a:tcPr>
                    <a:solidFill>
                      <a:srgbClr val="A28292"/>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r>
              <a:tr h="228818">
                <a:tc>
                  <a:txBody>
                    <a:bodyPr/>
                    <a:lstStyle/>
                    <a:p>
                      <a:r>
                        <a:rPr sz="700" b="0">
                          <a:solidFill>
                            <a:srgbClr val="32899A"/>
                          </a:solidFill>
                        </a:rPr>
                        <a:t>Viewport Lens</a:t>
                      </a:r>
                    </a:p>
                  </a:txBody>
                  <a:tcPr>
                    <a:solidFill>
                      <a:srgbClr val="C9E6DC"/>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Status</a:t>
                      </a:r>
                    </a:p>
                  </a:txBody>
                  <a:tcPr>
                    <a:solidFill>
                      <a:srgbClr val="C9E6DC"/>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Memory</a:t>
                      </a:r>
                    </a:p>
                  </a:txBody>
                  <a:tcPr>
                    <a:solidFill>
                      <a:srgbClr val="C9E6DC"/>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Engine Segment</a:t>
                      </a:r>
                    </a:p>
                  </a:txBody>
                  <a:tcPr>
                    <a:solidFill>
                      <a:srgbClr val="C9E6DC"/>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r>
              <a:tr h="228818">
                <a:tc>
                  <a:txBody>
                    <a:bodyPr/>
                    <a:lstStyle/>
                    <a:p>
                      <a:r>
                        <a:rPr sz="700" b="0">
                          <a:solidFill>
                            <a:srgbClr val="32899A"/>
                          </a:solidFill>
                        </a:rPr>
                        <a:t>Beta</a:t>
                      </a:r>
                    </a:p>
                  </a:txBody>
                  <a:tcPr>
                    <a:solidFill>
                      <a:srgbClr val="F0F8F5"/>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Precision</a:t>
                      </a:r>
                    </a:p>
                  </a:txBody>
                  <a:tcPr>
                    <a:solidFill>
                      <a:srgbClr val="F0F8F5"/>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Phase Frame</a:t>
                      </a:r>
                    </a:p>
                  </a:txBody>
                  <a:tcPr>
                    <a:solidFill>
                      <a:srgbClr val="F0F8F5"/>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Scale</a:t>
                      </a:r>
                    </a:p>
                  </a:txBody>
                  <a:tcPr>
                    <a:solidFill>
                      <a:srgbClr val="F0F8F5"/>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r>
              <a:tr h="228820">
                <a:tc>
                  <a:txBody>
                    <a:bodyPr/>
                    <a:lstStyle/>
                    <a:p>
                      <a:r>
                        <a:rPr sz="700" b="0">
                          <a:solidFill>
                            <a:srgbClr val="32899A"/>
                          </a:solidFill>
                        </a:rPr>
                        <a:t>Field Cluster</a:t>
                      </a:r>
                    </a:p>
                  </a:txBody>
                  <a:tcPr>
                    <a:solidFill>
                      <a:srgbClr val="C9E6DC"/>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Lens Canvas</a:t>
                      </a:r>
                    </a:p>
                  </a:txBody>
                  <a:tcPr>
                    <a:solidFill>
                      <a:srgbClr val="C9E6DC"/>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Hub</a:t>
                      </a:r>
                    </a:p>
                  </a:txBody>
                  <a:tcPr>
                    <a:solidFill>
                      <a:srgbClr val="C9E6DC"/>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c>
                  <a:txBody>
                    <a:bodyPr/>
                    <a:lstStyle/>
                    <a:p>
                      <a:r>
                        <a:rPr sz="700" b="0">
                          <a:solidFill>
                            <a:srgbClr val="32899A"/>
                          </a:solidFill>
                        </a:rPr>
                        <a:t>Drive Column</a:t>
                      </a:r>
                    </a:p>
                  </a:txBody>
                  <a:tcPr>
                    <a:solidFill>
                      <a:srgbClr val="C9E6DC"/>
                    </a:solidFill>
                    <a:lnL w="7064">
                      <a:solidFill>
                        <a:srgbClr val="5DA73A"/>
                      </a:solidFill>
                      <a:prstDash val="solid"/>
                    </a:lnL>
                    <a:lnR w="7064">
                      <a:solidFill>
                        <a:srgbClr val="5DA73A"/>
                      </a:solidFill>
                      <a:prstDash val="solid"/>
                    </a:lnR>
                    <a:lnT w="7064">
                      <a:solidFill>
                        <a:srgbClr val="5DA73A"/>
                      </a:solidFill>
                      <a:prstDash val="solid"/>
                    </a:lnT>
                    <a:lnB w="7064">
                      <a:solidFill>
                        <a:srgbClr val="5DA73A"/>
                      </a:solidFill>
                      <a:prstDash val="soli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