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example_image.jpg"/>
          <p:cNvPicPr>
            <a:picLocks noChangeAspect="1"/>
          </p:cNvPicPr>
          <p:nvPr/>
        </p:nvPicPr>
        <p:blipFill>
          <a:blip r:embed="rId2"/>
          <a:stretch>
            <a:fillRect/>
          </a:stretch>
        </p:blipFill>
        <p:spPr>
          <a:xfrm>
            <a:off x="687555" y="5722782"/>
            <a:ext cx="2058148" cy="978177"/>
          </a:xfrm>
          <a:prstGeom prst="rect">
            <a:avLst/>
          </a:prstGeom>
        </p:spPr>
      </p:pic>
      <p:sp>
        <p:nvSpPr>
          <p:cNvPr id="3" name="Division 2"/>
          <p:cNvSpPr/>
          <p:nvPr/>
        </p:nvSpPr>
        <p:spPr>
          <a:xfrm>
            <a:off x="11262944" y="2035007"/>
            <a:ext cx="342437" cy="704048"/>
          </a:xfrm>
          <a:prstGeom prst="mathDivide">
            <a:avLst/>
          </a:prstGeom>
          <a:noFill/>
          <a:ln w="11643">
            <a:solidFill>
              <a:srgbClr val="7A6B68"/>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ata 3"/>
          <p:cNvSpPr/>
          <p:nvPr/>
        </p:nvSpPr>
        <p:spPr>
          <a:xfrm>
            <a:off x="5573530" y="6312716"/>
            <a:ext cx="372430" cy="267284"/>
          </a:xfrm>
          <a:prstGeom prst="flowChartInputOutput">
            <a:avLst/>
          </a:prstGeom>
          <a:solidFill>
            <a:srgbClr val="1AA1D2"/>
          </a:solidFill>
          <a:ln w="17993">
            <a:solidFill>
              <a:srgbClr val="613A5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_example_image.jpg"/>
          <p:cNvPicPr>
            <a:picLocks noChangeAspect="1"/>
          </p:cNvPicPr>
          <p:nvPr/>
        </p:nvPicPr>
        <p:blipFill>
          <a:blip r:embed="rId2"/>
          <a:stretch>
            <a:fillRect/>
          </a:stretch>
        </p:blipFill>
        <p:spPr>
          <a:xfrm>
            <a:off x="5577010" y="1508341"/>
            <a:ext cx="1776024" cy="731823"/>
          </a:xfrm>
          <a:prstGeom prst="rect">
            <a:avLst/>
          </a:prstGeom>
        </p:spPr>
      </p:pic>
      <p:sp>
        <p:nvSpPr>
          <p:cNvPr id="6" name="Up-Down Arrow 5"/>
          <p:cNvSpPr/>
          <p:nvPr/>
        </p:nvSpPr>
        <p:spPr>
          <a:xfrm>
            <a:off x="6002097" y="3327644"/>
            <a:ext cx="883308" cy="1045723"/>
          </a:xfrm>
          <a:prstGeom prst="upDownArrow">
            <a:avLst/>
          </a:prstGeom>
          <a:noFill/>
          <a:ln w="16426">
            <a:solidFill>
              <a:srgbClr val="2B54D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ight Arrow 6"/>
          <p:cNvSpPr/>
          <p:nvPr/>
        </p:nvSpPr>
        <p:spPr>
          <a:xfrm>
            <a:off x="2644323" y="3597337"/>
            <a:ext cx="892480" cy="1961988"/>
          </a:xfrm>
          <a:prstGeom prst="rightArrow">
            <a:avLst/>
          </a:prstGeom>
          <a:noFill/>
          <a:ln w="9467">
            <a:solidFill>
              <a:srgbClr val="49DA3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_example_image.jpg"/>
          <p:cNvPicPr>
            <a:picLocks noChangeAspect="1"/>
          </p:cNvPicPr>
          <p:nvPr/>
        </p:nvPicPr>
        <p:blipFill>
          <a:blip r:embed="rId2"/>
          <a:stretch>
            <a:fillRect/>
          </a:stretch>
        </p:blipFill>
        <p:spPr>
          <a:xfrm>
            <a:off x="1371840" y="4889414"/>
            <a:ext cx="1256567" cy="794829"/>
          </a:xfrm>
          <a:prstGeom prst="rect">
            <a:avLst/>
          </a:prstGeom>
        </p:spPr>
      </p:pic>
      <p:sp>
        <p:nvSpPr>
          <p:cNvPr id="9" name="TextBox 8"/>
          <p:cNvSpPr txBox="1"/>
          <p:nvPr/>
        </p:nvSpPr>
        <p:spPr>
          <a:xfrm>
            <a:off x="2328320" y="2800312"/>
            <a:ext cx="3668951" cy="483349"/>
          </a:xfrm>
          <a:prstGeom prst="rect">
            <a:avLst/>
          </a:prstGeom>
          <a:solidFill>
            <a:srgbClr val="7F7382"/>
          </a:solidFill>
        </p:spPr>
        <p:txBody>
          <a:bodyPr wrap="none" lIns="82758" rIns="82758" tIns="82758" bIns="82758">
            <a:spAutoFit/>
          </a:bodyPr>
          <a:lstStyle/>
          <a:p>
            <a:r>
              <a:rPr sz="900" b="1" i="0" u="sng">
                <a:solidFill>
                  <a:srgbClr val="E3235F"/>
                </a:solidFill>
                <a:latin typeface="Verdana"/>
              </a:rPr>
              <a:t>Motion</a:t>
            </a:r>
          </a:p>
        </p:txBody>
      </p:sp>
      <p:sp>
        <p:nvSpPr>
          <p:cNvPr id="10" name="TextBox 9"/>
          <p:cNvSpPr txBox="1"/>
          <p:nvPr/>
        </p:nvSpPr>
        <p:spPr>
          <a:xfrm>
            <a:off x="6742208" y="2007353"/>
            <a:ext cx="924328" cy="1280078"/>
          </a:xfrm>
          <a:prstGeom prst="rect">
            <a:avLst/>
          </a:prstGeom>
          <a:solidFill>
            <a:srgbClr val="703B7E"/>
          </a:solidFill>
        </p:spPr>
        <p:txBody>
          <a:bodyPr wrap="none" lIns="29389" rIns="29389" tIns="29389" bIns="29389">
            <a:spAutoFit/>
          </a:bodyPr>
          <a:lstStyle/>
          <a:p>
            <a:r>
              <a:rPr sz="4600" b="1" i="0" u="none">
                <a:solidFill>
                  <a:srgbClr val="807CA3"/>
                </a:solidFill>
                <a:latin typeface="Arial"/>
              </a:rPr>
              <a:t>Proof Path</a:t>
            </a:r>
          </a:p>
        </p:txBody>
      </p:sp>
      <p:graphicFrame>
        <p:nvGraphicFramePr>
          <p:cNvPr id="11" name="Table 10"/>
          <p:cNvGraphicFramePr>
            <a:graphicFrameLocks noGrp="1"/>
          </p:cNvGraphicFramePr>
          <p:nvPr/>
        </p:nvGraphicFramePr>
        <p:xfrm>
          <a:off x="8392760" y="1441603"/>
          <a:ext cx="3488731" cy="939731"/>
        </p:xfrm>
        <a:graphic>
          <a:graphicData uri="http://schemas.openxmlformats.org/drawingml/2006/table">
            <a:tbl>
              <a:tblPr firstRow="1" bandRow="1">
                <a:tableStyleId>{5C22544A-7EE6-4342-B048-85BDC9FD1C3A}</a:tableStyleId>
              </a:tblPr>
              <a:tblGrid>
                <a:gridCol w="1162910"/>
                <a:gridCol w="1162910"/>
                <a:gridCol w="1162911"/>
              </a:tblGrid>
              <a:tr h="187946">
                <a:tc>
                  <a:txBody>
                    <a:bodyPr/>
                    <a:lstStyle/>
                    <a:p>
                      <a:r>
                        <a:rPr sz="600" b="0">
                          <a:solidFill>
                            <a:srgbClr val="7C882A"/>
                          </a:solidFill>
                        </a:rPr>
                        <a:t>Dimension Exchange</a:t>
                      </a:r>
                    </a:p>
                  </a:txBody>
                  <a:tcPr>
                    <a:solidFill>
                      <a:srgbClr val="DFDBEE"/>
                    </a:solidFill>
                    <a:lnL w="23251">
                      <a:solidFill>
                        <a:srgbClr val="36795C"/>
                      </a:solidFill>
                      <a:prstDash val="solid"/>
                    </a:lnL>
                    <a:lnR w="23251">
                      <a:solidFill>
                        <a:srgbClr val="36795C"/>
                      </a:solidFill>
                      <a:prstDash val="solid"/>
                    </a:lnR>
                    <a:lnT w="23251">
                      <a:solidFill>
                        <a:srgbClr val="36795C"/>
                      </a:solidFill>
                      <a:prstDash val="solid"/>
                    </a:lnT>
                    <a:lnB w="23251">
                      <a:solidFill>
                        <a:srgbClr val="36795C"/>
                      </a:solidFill>
                      <a:prstDash val="solid"/>
                    </a:lnB>
                  </a:tcPr>
                </a:tc>
                <a:tc>
                  <a:txBody>
                    <a:bodyPr/>
                    <a:lstStyle/>
                    <a:p>
                      <a:r>
                        <a:rPr sz="600" b="0">
                          <a:solidFill>
                            <a:srgbClr val="7C882A"/>
                          </a:solidFill>
                        </a:rPr>
                        <a:t>Baseline Array</a:t>
                      </a:r>
                    </a:p>
                  </a:txBody>
                  <a:tcPr>
                    <a:solidFill>
                      <a:srgbClr val="DFDBEE"/>
                    </a:solidFill>
                    <a:lnL w="23251">
                      <a:solidFill>
                        <a:srgbClr val="36795C"/>
                      </a:solidFill>
                      <a:prstDash val="solid"/>
                    </a:lnL>
                    <a:lnR w="23251">
                      <a:solidFill>
                        <a:srgbClr val="36795C"/>
                      </a:solidFill>
                      <a:prstDash val="solid"/>
                    </a:lnR>
                    <a:lnT w="23251">
                      <a:solidFill>
                        <a:srgbClr val="36795C"/>
                      </a:solidFill>
                      <a:prstDash val="solid"/>
                    </a:lnT>
                    <a:lnB w="23251">
                      <a:solidFill>
                        <a:srgbClr val="36795C"/>
                      </a:solidFill>
                      <a:prstDash val="solid"/>
                    </a:lnB>
                  </a:tcPr>
                </a:tc>
                <a:tc>
                  <a:txBody>
                    <a:bodyPr/>
                    <a:lstStyle/>
                    <a:p>
                      <a:r>
                        <a:rPr sz="600" b="0">
                          <a:solidFill>
                            <a:srgbClr val="7C882A"/>
                          </a:solidFill>
                        </a:rPr>
                        <a:t>Indicator</a:t>
                      </a:r>
                    </a:p>
                  </a:txBody>
                  <a:tcPr>
                    <a:solidFill>
                      <a:srgbClr val="DFDBEE"/>
                    </a:solidFill>
                    <a:lnL w="23251">
                      <a:solidFill>
                        <a:srgbClr val="36795C"/>
                      </a:solidFill>
                      <a:prstDash val="solid"/>
                    </a:lnL>
                    <a:lnR w="23251">
                      <a:solidFill>
                        <a:srgbClr val="36795C"/>
                      </a:solidFill>
                      <a:prstDash val="solid"/>
                    </a:lnR>
                    <a:lnT w="23251">
                      <a:solidFill>
                        <a:srgbClr val="36795C"/>
                      </a:solidFill>
                      <a:prstDash val="solid"/>
                    </a:lnT>
                    <a:lnB w="23251">
                      <a:solidFill>
                        <a:srgbClr val="36795C"/>
                      </a:solidFill>
                      <a:prstDash val="solid"/>
                    </a:lnB>
                  </a:tcPr>
                </a:tc>
              </a:tr>
              <a:tr h="187946">
                <a:tc>
                  <a:txBody>
                    <a:bodyPr/>
                    <a:lstStyle/>
                    <a:p>
                      <a:r>
                        <a:rPr sz="600" b="0">
                          <a:solidFill>
                            <a:srgbClr val="7C882A"/>
                          </a:solidFill>
                        </a:rPr>
                        <a:t>Sync Table</a:t>
                      </a:r>
                    </a:p>
                  </a:txBody>
                  <a:tcPr>
                    <a:solidFill>
                      <a:srgbClr val="C5BEE0"/>
                    </a:solidFill>
                    <a:lnL w="23251">
                      <a:solidFill>
                        <a:srgbClr val="36795C"/>
                      </a:solidFill>
                      <a:prstDash val="solid"/>
                    </a:lnL>
                    <a:lnR w="23251">
                      <a:solidFill>
                        <a:srgbClr val="36795C"/>
                      </a:solidFill>
                      <a:prstDash val="solid"/>
                    </a:lnR>
                    <a:lnT w="23251">
                      <a:solidFill>
                        <a:srgbClr val="36795C"/>
                      </a:solidFill>
                      <a:prstDash val="solid"/>
                    </a:lnT>
                    <a:lnB w="23251">
                      <a:solidFill>
                        <a:srgbClr val="36795C"/>
                      </a:solidFill>
                      <a:prstDash val="solid"/>
                    </a:lnB>
                  </a:tcPr>
                </a:tc>
                <a:tc>
                  <a:txBody>
                    <a:bodyPr/>
                    <a:lstStyle/>
                    <a:p>
                      <a:r>
                        <a:rPr sz="600" b="0">
                          <a:solidFill>
                            <a:srgbClr val="7C882A"/>
                          </a:solidFill>
                        </a:rPr>
                        <a:t>Briefing Metric</a:t>
                      </a:r>
                    </a:p>
                  </a:txBody>
                  <a:tcPr>
                    <a:solidFill>
                      <a:srgbClr val="C5BEE0"/>
                    </a:solidFill>
                    <a:lnL w="23251">
                      <a:solidFill>
                        <a:srgbClr val="36795C"/>
                      </a:solidFill>
                      <a:prstDash val="solid"/>
                    </a:lnL>
                    <a:lnR w="23251">
                      <a:solidFill>
                        <a:srgbClr val="36795C"/>
                      </a:solidFill>
                      <a:prstDash val="solid"/>
                    </a:lnR>
                    <a:lnT w="23251">
                      <a:solidFill>
                        <a:srgbClr val="36795C"/>
                      </a:solidFill>
                      <a:prstDash val="solid"/>
                    </a:lnT>
                    <a:lnB w="23251">
                      <a:solidFill>
                        <a:srgbClr val="36795C"/>
                      </a:solidFill>
                      <a:prstDash val="solid"/>
                    </a:lnB>
                  </a:tcPr>
                </a:tc>
                <a:tc>
                  <a:txBody>
                    <a:bodyPr/>
                    <a:lstStyle/>
                    <a:p>
                      <a:r>
                        <a:rPr sz="600" b="0">
                          <a:solidFill>
                            <a:srgbClr val="7C882A"/>
                          </a:solidFill>
                        </a:rPr>
                        <a:t>Canvas</a:t>
                      </a:r>
                    </a:p>
                  </a:txBody>
                  <a:tcPr>
                    <a:solidFill>
                      <a:srgbClr val="C5BEE0"/>
                    </a:solidFill>
                    <a:lnL w="23251">
                      <a:solidFill>
                        <a:srgbClr val="36795C"/>
                      </a:solidFill>
                      <a:prstDash val="solid"/>
                    </a:lnL>
                    <a:lnR w="23251">
                      <a:solidFill>
                        <a:srgbClr val="36795C"/>
                      </a:solidFill>
                      <a:prstDash val="solid"/>
                    </a:lnR>
                    <a:lnT w="23251">
                      <a:solidFill>
                        <a:srgbClr val="36795C"/>
                      </a:solidFill>
                      <a:prstDash val="solid"/>
                    </a:lnT>
                    <a:lnB w="23251">
                      <a:solidFill>
                        <a:srgbClr val="36795C"/>
                      </a:solidFill>
                      <a:prstDash val="solid"/>
                    </a:lnB>
                  </a:tcPr>
                </a:tc>
              </a:tr>
              <a:tr h="187946">
                <a:tc>
                  <a:txBody>
                    <a:bodyPr/>
                    <a:lstStyle/>
                    <a:p>
                      <a:r>
                        <a:rPr sz="600" b="0">
                          <a:solidFill>
                            <a:srgbClr val="7C882A"/>
                          </a:solidFill>
                        </a:rPr>
                        <a:t>Volume Array</a:t>
                      </a:r>
                    </a:p>
                  </a:txBody>
                  <a:tcPr>
                    <a:solidFill>
                      <a:srgbClr val="DFDBEE"/>
                    </a:solidFill>
                    <a:lnL w="23251">
                      <a:solidFill>
                        <a:srgbClr val="36795C"/>
                      </a:solidFill>
                      <a:prstDash val="solid"/>
                    </a:lnL>
                    <a:lnR w="23251">
                      <a:solidFill>
                        <a:srgbClr val="36795C"/>
                      </a:solidFill>
                      <a:prstDash val="solid"/>
                    </a:lnR>
                    <a:lnT w="23251">
                      <a:solidFill>
                        <a:srgbClr val="36795C"/>
                      </a:solidFill>
                      <a:prstDash val="solid"/>
                    </a:lnT>
                    <a:lnB w="23251">
                      <a:solidFill>
                        <a:srgbClr val="36795C"/>
                      </a:solidFill>
                      <a:prstDash val="solid"/>
                    </a:lnB>
                  </a:tcPr>
                </a:tc>
                <a:tc>
                  <a:txBody>
                    <a:bodyPr/>
                    <a:lstStyle/>
                    <a:p>
                      <a:r>
                        <a:rPr sz="600" b="0">
                          <a:solidFill>
                            <a:srgbClr val="7C882A"/>
                          </a:solidFill>
                        </a:rPr>
                        <a:t>Token Spectrum</a:t>
                      </a:r>
                    </a:p>
                  </a:txBody>
                  <a:tcPr>
                    <a:solidFill>
                      <a:srgbClr val="DFDBEE"/>
                    </a:solidFill>
                    <a:lnL w="23251">
                      <a:solidFill>
                        <a:srgbClr val="36795C"/>
                      </a:solidFill>
                      <a:prstDash val="solid"/>
                    </a:lnL>
                    <a:lnR w="23251">
                      <a:solidFill>
                        <a:srgbClr val="36795C"/>
                      </a:solidFill>
                      <a:prstDash val="solid"/>
                    </a:lnR>
                    <a:lnT w="23251">
                      <a:solidFill>
                        <a:srgbClr val="36795C"/>
                      </a:solidFill>
                      <a:prstDash val="solid"/>
                    </a:lnT>
                    <a:lnB w="23251">
                      <a:solidFill>
                        <a:srgbClr val="36795C"/>
                      </a:solidFill>
                      <a:prstDash val="solid"/>
                    </a:lnB>
                  </a:tcPr>
                </a:tc>
                <a:tc>
                  <a:txBody>
                    <a:bodyPr/>
                    <a:lstStyle/>
                    <a:p>
                      <a:r>
                        <a:rPr sz="600" b="0">
                          <a:solidFill>
                            <a:srgbClr val="7C882A"/>
                          </a:solidFill>
                        </a:rPr>
                        <a:t>Craft</a:t>
                      </a:r>
                    </a:p>
                  </a:txBody>
                  <a:tcPr>
                    <a:solidFill>
                      <a:srgbClr val="DFDBEE"/>
                    </a:solidFill>
                    <a:lnL w="23251">
                      <a:solidFill>
                        <a:srgbClr val="36795C"/>
                      </a:solidFill>
                      <a:prstDash val="solid"/>
                    </a:lnL>
                    <a:lnR w="23251">
                      <a:solidFill>
                        <a:srgbClr val="36795C"/>
                      </a:solidFill>
                      <a:prstDash val="solid"/>
                    </a:lnR>
                    <a:lnT w="23251">
                      <a:solidFill>
                        <a:srgbClr val="36795C"/>
                      </a:solidFill>
                      <a:prstDash val="solid"/>
                    </a:lnT>
                    <a:lnB w="23251">
                      <a:solidFill>
                        <a:srgbClr val="36795C"/>
                      </a:solidFill>
                      <a:prstDash val="solid"/>
                    </a:lnB>
                  </a:tcPr>
                </a:tc>
              </a:tr>
              <a:tr h="187946">
                <a:tc>
                  <a:txBody>
                    <a:bodyPr/>
                    <a:lstStyle/>
                    <a:p>
                      <a:r>
                        <a:rPr sz="600" b="0">
                          <a:solidFill>
                            <a:srgbClr val="7C882A"/>
                          </a:solidFill>
                        </a:rPr>
                        <a:t>Variant</a:t>
                      </a:r>
                    </a:p>
                  </a:txBody>
                  <a:tcPr>
                    <a:solidFill>
                      <a:srgbClr val="C5BEE0"/>
                    </a:solidFill>
                    <a:lnL w="23251">
                      <a:solidFill>
                        <a:srgbClr val="36795C"/>
                      </a:solidFill>
                      <a:prstDash val="solid"/>
                    </a:lnL>
                    <a:lnR w="23251">
                      <a:solidFill>
                        <a:srgbClr val="36795C"/>
                      </a:solidFill>
                      <a:prstDash val="solid"/>
                    </a:lnR>
                    <a:lnT w="23251">
                      <a:solidFill>
                        <a:srgbClr val="36795C"/>
                      </a:solidFill>
                      <a:prstDash val="solid"/>
                    </a:lnT>
                    <a:lnB w="23251">
                      <a:solidFill>
                        <a:srgbClr val="36795C"/>
                      </a:solidFill>
                      <a:prstDash val="solid"/>
                    </a:lnB>
                  </a:tcPr>
                </a:tc>
                <a:tc>
                  <a:txBody>
                    <a:bodyPr/>
                    <a:lstStyle/>
                    <a:p>
                      <a:r>
                        <a:rPr sz="600" b="0">
                          <a:solidFill>
                            <a:srgbClr val="7C882A"/>
                          </a:solidFill>
                        </a:rPr>
                        <a:t>Compass Zone</a:t>
                      </a:r>
                    </a:p>
                  </a:txBody>
                  <a:tcPr>
                    <a:solidFill>
                      <a:srgbClr val="C5BEE0"/>
                    </a:solidFill>
                    <a:lnL w="23251">
                      <a:solidFill>
                        <a:srgbClr val="36795C"/>
                      </a:solidFill>
                      <a:prstDash val="solid"/>
                    </a:lnL>
                    <a:lnR w="23251">
                      <a:solidFill>
                        <a:srgbClr val="36795C"/>
                      </a:solidFill>
                      <a:prstDash val="solid"/>
                    </a:lnR>
                    <a:lnT w="23251">
                      <a:solidFill>
                        <a:srgbClr val="36795C"/>
                      </a:solidFill>
                      <a:prstDash val="solid"/>
                    </a:lnT>
                    <a:lnB w="23251">
                      <a:solidFill>
                        <a:srgbClr val="36795C"/>
                      </a:solidFill>
                      <a:prstDash val="solid"/>
                    </a:lnB>
                  </a:tcPr>
                </a:tc>
                <a:tc>
                  <a:txBody>
                    <a:bodyPr/>
                    <a:lstStyle/>
                    <a:p>
                      <a:r>
                        <a:rPr sz="600" b="0">
                          <a:solidFill>
                            <a:srgbClr val="7C882A"/>
                          </a:solidFill>
                        </a:rPr>
                        <a:t>Response</a:t>
                      </a:r>
                    </a:p>
                  </a:txBody>
                  <a:tcPr>
                    <a:solidFill>
                      <a:srgbClr val="C5BEE0"/>
                    </a:solidFill>
                    <a:lnL w="23251">
                      <a:solidFill>
                        <a:srgbClr val="36795C"/>
                      </a:solidFill>
                      <a:prstDash val="solid"/>
                    </a:lnL>
                    <a:lnR w="23251">
                      <a:solidFill>
                        <a:srgbClr val="36795C"/>
                      </a:solidFill>
                      <a:prstDash val="solid"/>
                    </a:lnR>
                    <a:lnT w="23251">
                      <a:solidFill>
                        <a:srgbClr val="36795C"/>
                      </a:solidFill>
                      <a:prstDash val="solid"/>
                    </a:lnT>
                    <a:lnB w="23251">
                      <a:solidFill>
                        <a:srgbClr val="36795C"/>
                      </a:solidFill>
                      <a:prstDash val="solid"/>
                    </a:lnB>
                  </a:tcPr>
                </a:tc>
              </a:tr>
              <a:tr h="187947">
                <a:tc>
                  <a:txBody>
                    <a:bodyPr/>
                    <a:lstStyle/>
                    <a:p>
                      <a:r>
                        <a:rPr sz="600" b="0">
                          <a:solidFill>
                            <a:srgbClr val="7C882A"/>
                          </a:solidFill>
                        </a:rPr>
                        <a:t>Structure</a:t>
                      </a:r>
                    </a:p>
                  </a:txBody>
                  <a:tcPr>
                    <a:solidFill>
                      <a:srgbClr val="DFDBEE"/>
                    </a:solidFill>
                    <a:lnL w="23251">
                      <a:solidFill>
                        <a:srgbClr val="36795C"/>
                      </a:solidFill>
                      <a:prstDash val="solid"/>
                    </a:lnL>
                    <a:lnR w="23251">
                      <a:solidFill>
                        <a:srgbClr val="36795C"/>
                      </a:solidFill>
                      <a:prstDash val="solid"/>
                    </a:lnR>
                    <a:lnT w="23251">
                      <a:solidFill>
                        <a:srgbClr val="36795C"/>
                      </a:solidFill>
                      <a:prstDash val="solid"/>
                    </a:lnT>
                    <a:lnB w="23251">
                      <a:solidFill>
                        <a:srgbClr val="36795C"/>
                      </a:solidFill>
                      <a:prstDash val="solid"/>
                    </a:lnB>
                  </a:tcPr>
                </a:tc>
                <a:tc>
                  <a:txBody>
                    <a:bodyPr/>
                    <a:lstStyle/>
                    <a:p>
                      <a:r>
                        <a:rPr sz="600" b="0">
                          <a:solidFill>
                            <a:srgbClr val="7C882A"/>
                          </a:solidFill>
                        </a:rPr>
                        <a:t>Balance</a:t>
                      </a:r>
                    </a:p>
                  </a:txBody>
                  <a:tcPr>
                    <a:solidFill>
                      <a:srgbClr val="DFDBEE"/>
                    </a:solidFill>
                    <a:lnL w="23251">
                      <a:solidFill>
                        <a:srgbClr val="36795C"/>
                      </a:solidFill>
                      <a:prstDash val="solid"/>
                    </a:lnL>
                    <a:lnR w="23251">
                      <a:solidFill>
                        <a:srgbClr val="36795C"/>
                      </a:solidFill>
                      <a:prstDash val="solid"/>
                    </a:lnR>
                    <a:lnT w="23251">
                      <a:solidFill>
                        <a:srgbClr val="36795C"/>
                      </a:solidFill>
                      <a:prstDash val="solid"/>
                    </a:lnT>
                    <a:lnB w="23251">
                      <a:solidFill>
                        <a:srgbClr val="36795C"/>
                      </a:solidFill>
                      <a:prstDash val="solid"/>
                    </a:lnB>
                  </a:tcPr>
                </a:tc>
                <a:tc>
                  <a:txBody>
                    <a:bodyPr/>
                    <a:lstStyle/>
                    <a:p>
                      <a:r>
                        <a:rPr sz="600" b="0">
                          <a:solidFill>
                            <a:srgbClr val="7C882A"/>
                          </a:solidFill>
                        </a:rPr>
                        <a:t>Device</a:t>
                      </a:r>
                    </a:p>
                  </a:txBody>
                  <a:tcPr>
                    <a:solidFill>
                      <a:srgbClr val="DFDBEE"/>
                    </a:solidFill>
                    <a:lnL w="23251">
                      <a:solidFill>
                        <a:srgbClr val="36795C"/>
                      </a:solidFill>
                      <a:prstDash val="solid"/>
                    </a:lnL>
                    <a:lnR w="23251">
                      <a:solidFill>
                        <a:srgbClr val="36795C"/>
                      </a:solidFill>
                      <a:prstDash val="solid"/>
                    </a:lnR>
                    <a:lnT w="23251">
                      <a:solidFill>
                        <a:srgbClr val="36795C"/>
                      </a:solidFill>
                      <a:prstDash val="solid"/>
                    </a:lnT>
                    <a:lnB w="23251">
                      <a:solidFill>
                        <a:srgbClr val="36795C"/>
                      </a:solidFill>
                      <a:prstDash val="solid"/>
                    </a:lnB>
                  </a:tcPr>
                </a:tc>
              </a:tr>
            </a:tbl>
          </a:graphicData>
        </a:graphic>
      </p:graphicFrame>
      <p:sp>
        <p:nvSpPr>
          <p:cNvPr id="12" name="Notched Right Arrow 11"/>
          <p:cNvSpPr/>
          <p:nvPr/>
        </p:nvSpPr>
        <p:spPr>
          <a:xfrm>
            <a:off x="8005047" y="3060190"/>
            <a:ext cx="2091367" cy="1845042"/>
          </a:xfrm>
          <a:prstGeom prst="notchedRightArrow">
            <a:avLst/>
          </a:prstGeom>
          <a:noFill/>
          <a:ln w="24157">
            <a:solidFill>
              <a:srgbClr val="58986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72461" y="512902"/>
            <a:ext cx="3685854" cy="923002"/>
          </a:xfrm>
          <a:prstGeom prst="rect">
            <a:avLst/>
          </a:prstGeom>
          <a:noFill/>
        </p:spPr>
        <p:txBody>
          <a:bodyPr wrap="none" lIns="62127" rIns="62127" tIns="62127" bIns="62127">
            <a:spAutoFit/>
          </a:bodyPr>
          <a:lstStyle/>
          <a:p>
            <a:r>
              <a:rPr sz="1200" b="0" i="0" u="none">
                <a:solidFill>
                  <a:srgbClr val="C0817E"/>
                </a:solidFill>
                <a:latin typeface="Georgia"/>
              </a:rPr>
              <a:t>Instance Loop Object Workflow Handle Gateway Agenda Group Entity Profile Radius</a:t>
            </a:r>
          </a:p>
        </p:txBody>
      </p:sp>
      <p:sp>
        <p:nvSpPr>
          <p:cNvPr id="14" name="Terminator 13"/>
          <p:cNvSpPr/>
          <p:nvPr/>
        </p:nvSpPr>
        <p:spPr>
          <a:xfrm>
            <a:off x="3661330" y="4076811"/>
            <a:ext cx="2162764" cy="1814401"/>
          </a:xfrm>
          <a:prstGeom prst="flowChartTerminator">
            <a:avLst/>
          </a:prstGeom>
          <a:solidFill>
            <a:srgbClr val="C375A0"/>
          </a:solidFill>
          <a:ln w="21250">
            <a:solidFill>
              <a:srgbClr val="514E6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93646" y="5018141"/>
            <a:ext cx="1423444" cy="1422546"/>
          </a:xfrm>
          <a:prstGeom prst="rect">
            <a:avLst/>
          </a:prstGeom>
          <a:noFill/>
        </p:spPr>
        <p:txBody>
          <a:bodyPr wrap="none" lIns="75109" rIns="75109" tIns="75109" bIns="75109">
            <a:spAutoFit/>
          </a:bodyPr>
          <a:lstStyle/>
          <a:p>
            <a:r>
              <a:rPr sz="1200" b="0" i="0" u="sng">
                <a:solidFill>
                  <a:srgbClr val="DB5A36"/>
                </a:solidFill>
                <a:latin typeface="Trebuchet MS"/>
              </a:rPr>
              <a:t>Marker Logic Foundation Metric Goal Strategy Layer Origin Collection Graph Summary Zone Energy Adaptive Strategy Loop Cluster Marker Chart Range Concept Volume Reference Guide Timeline Schema Handle Order Wave Craft Analysis Target Keyline Summary Logic Pulse Core Command Aspect Stage Snapshot Keyline Chart Data Frame</a:t>
            </a:r>
          </a:p>
        </p:txBody>
      </p:sp>
      <p:graphicFrame>
        <p:nvGraphicFramePr>
          <p:cNvPr id="16" name="Table 15"/>
          <p:cNvGraphicFramePr>
            <a:graphicFrameLocks noGrp="1"/>
          </p:cNvGraphicFramePr>
          <p:nvPr/>
        </p:nvGraphicFramePr>
        <p:xfrm>
          <a:off x="3422672" y="252364"/>
          <a:ext cx="3823040" cy="1071772"/>
        </p:xfrm>
        <a:graphic>
          <a:graphicData uri="http://schemas.openxmlformats.org/drawingml/2006/table">
            <a:tbl>
              <a:tblPr firstRow="1" bandRow="1">
                <a:tableStyleId>{5C22544A-7EE6-4342-B048-85BDC9FD1C3A}</a:tableStyleId>
              </a:tblPr>
              <a:tblGrid>
                <a:gridCol w="637173"/>
                <a:gridCol w="637173"/>
                <a:gridCol w="637173"/>
                <a:gridCol w="637173"/>
                <a:gridCol w="637173"/>
                <a:gridCol w="637175"/>
              </a:tblGrid>
              <a:tr h="535886">
                <a:tc>
                  <a:txBody>
                    <a:bodyPr/>
                    <a:lstStyle/>
                    <a:p>
                      <a:r>
                        <a:rPr sz="1100" b="1">
                          <a:solidFill>
                            <a:srgbClr val="DF5BC4"/>
                          </a:solidFill>
                        </a:rPr>
                        <a:t>Delta</a:t>
                      </a:r>
                    </a:p>
                  </a:txBody>
                  <a:tcPr>
                    <a:solidFill>
                      <a:srgbClr val="C93084"/>
                    </a:solidFill>
                    <a:lnL w="5152">
                      <a:solidFill>
                        <a:srgbClr val="3CBE40"/>
                      </a:solidFill>
                      <a:prstDash val="solid"/>
                    </a:lnL>
                    <a:lnR w="5152">
                      <a:solidFill>
                        <a:srgbClr val="3CBE40"/>
                      </a:solidFill>
                      <a:prstDash val="solid"/>
                    </a:lnR>
                    <a:lnT w="5152">
                      <a:solidFill>
                        <a:srgbClr val="3CBE40"/>
                      </a:solidFill>
                      <a:prstDash val="solid"/>
                    </a:lnT>
                    <a:lnB w="5152">
                      <a:solidFill>
                        <a:srgbClr val="3CBE40"/>
                      </a:solidFill>
                      <a:prstDash val="solid"/>
                    </a:lnB>
                  </a:tcPr>
                </a:tc>
                <a:tc>
                  <a:txBody>
                    <a:bodyPr/>
                    <a:lstStyle/>
                    <a:p>
                      <a:r>
                        <a:rPr sz="1100" b="1">
                          <a:solidFill>
                            <a:srgbClr val="DF5BC4"/>
                          </a:solidFill>
                        </a:rPr>
                        <a:t>Baseline Grid</a:t>
                      </a:r>
                    </a:p>
                  </a:txBody>
                  <a:tcPr>
                    <a:solidFill>
                      <a:srgbClr val="C93084"/>
                    </a:solidFill>
                    <a:lnL w="5152">
                      <a:solidFill>
                        <a:srgbClr val="3CBE40"/>
                      </a:solidFill>
                      <a:prstDash val="solid"/>
                    </a:lnL>
                    <a:lnR w="5152">
                      <a:solidFill>
                        <a:srgbClr val="3CBE40"/>
                      </a:solidFill>
                      <a:prstDash val="solid"/>
                    </a:lnR>
                    <a:lnT w="5152">
                      <a:solidFill>
                        <a:srgbClr val="3CBE40"/>
                      </a:solidFill>
                      <a:prstDash val="solid"/>
                    </a:lnT>
                    <a:lnB w="5152">
                      <a:solidFill>
                        <a:srgbClr val="3CBE40"/>
                      </a:solidFill>
                      <a:prstDash val="solid"/>
                    </a:lnB>
                  </a:tcPr>
                </a:tc>
                <a:tc>
                  <a:txBody>
                    <a:bodyPr/>
                    <a:lstStyle/>
                    <a:p>
                      <a:r>
                        <a:rPr sz="1100" b="1">
                          <a:solidFill>
                            <a:srgbClr val="DF5BC4"/>
                          </a:solidFill>
                        </a:rPr>
                        <a:t>Moment Cycle</a:t>
                      </a:r>
                    </a:p>
                  </a:txBody>
                  <a:tcPr>
                    <a:solidFill>
                      <a:srgbClr val="C93084"/>
                    </a:solidFill>
                    <a:lnL w="5152">
                      <a:solidFill>
                        <a:srgbClr val="3CBE40"/>
                      </a:solidFill>
                      <a:prstDash val="solid"/>
                    </a:lnL>
                    <a:lnR w="5152">
                      <a:solidFill>
                        <a:srgbClr val="3CBE40"/>
                      </a:solidFill>
                      <a:prstDash val="solid"/>
                    </a:lnR>
                    <a:lnT w="5152">
                      <a:solidFill>
                        <a:srgbClr val="3CBE40"/>
                      </a:solidFill>
                      <a:prstDash val="solid"/>
                    </a:lnT>
                    <a:lnB w="5152">
                      <a:solidFill>
                        <a:srgbClr val="3CBE40"/>
                      </a:solidFill>
                      <a:prstDash val="solid"/>
                    </a:lnB>
                  </a:tcPr>
                </a:tc>
                <a:tc>
                  <a:txBody>
                    <a:bodyPr/>
                    <a:lstStyle/>
                    <a:p>
                      <a:r>
                        <a:rPr sz="1100" b="1">
                          <a:solidFill>
                            <a:srgbClr val="DF5BC4"/>
                          </a:solidFill>
                        </a:rPr>
                        <a:t>Table Table</a:t>
                      </a:r>
                    </a:p>
                  </a:txBody>
                  <a:tcPr>
                    <a:solidFill>
                      <a:srgbClr val="C93084"/>
                    </a:solidFill>
                    <a:lnL w="5152">
                      <a:solidFill>
                        <a:srgbClr val="3CBE40"/>
                      </a:solidFill>
                      <a:prstDash val="solid"/>
                    </a:lnL>
                    <a:lnR w="5152">
                      <a:solidFill>
                        <a:srgbClr val="3CBE40"/>
                      </a:solidFill>
                      <a:prstDash val="solid"/>
                    </a:lnR>
                    <a:lnT w="5152">
                      <a:solidFill>
                        <a:srgbClr val="3CBE40"/>
                      </a:solidFill>
                      <a:prstDash val="solid"/>
                    </a:lnT>
                    <a:lnB w="5152">
                      <a:solidFill>
                        <a:srgbClr val="3CBE40"/>
                      </a:solidFill>
                      <a:prstDash val="solid"/>
                    </a:lnB>
                  </a:tcPr>
                </a:tc>
                <a:tc>
                  <a:txBody>
                    <a:bodyPr/>
                    <a:lstStyle/>
                    <a:p>
                      <a:r>
                        <a:rPr sz="1100" b="1">
                          <a:solidFill>
                            <a:srgbClr val="DF5BC4"/>
                          </a:solidFill>
                        </a:rPr>
                        <a:t>Method</a:t>
                      </a:r>
                    </a:p>
                  </a:txBody>
                  <a:tcPr>
                    <a:solidFill>
                      <a:srgbClr val="C93084"/>
                    </a:solidFill>
                    <a:lnL w="5152">
                      <a:solidFill>
                        <a:srgbClr val="3CBE40"/>
                      </a:solidFill>
                      <a:prstDash val="solid"/>
                    </a:lnL>
                    <a:lnR w="5152">
                      <a:solidFill>
                        <a:srgbClr val="3CBE40"/>
                      </a:solidFill>
                      <a:prstDash val="solid"/>
                    </a:lnR>
                    <a:lnT w="5152">
                      <a:solidFill>
                        <a:srgbClr val="3CBE40"/>
                      </a:solidFill>
                      <a:prstDash val="solid"/>
                    </a:lnT>
                    <a:lnB w="5152">
                      <a:solidFill>
                        <a:srgbClr val="3CBE40"/>
                      </a:solidFill>
                      <a:prstDash val="solid"/>
                    </a:lnB>
                  </a:tcPr>
                </a:tc>
                <a:tc>
                  <a:txBody>
                    <a:bodyPr/>
                    <a:lstStyle/>
                    <a:p>
                      <a:r>
                        <a:rPr sz="1100" b="1">
                          <a:solidFill>
                            <a:srgbClr val="DF5BC4"/>
                          </a:solidFill>
                        </a:rPr>
                        <a:t>Balance Milestone</a:t>
                      </a:r>
                    </a:p>
                  </a:txBody>
                  <a:tcPr>
                    <a:solidFill>
                      <a:srgbClr val="C93084"/>
                    </a:solidFill>
                    <a:lnL w="5152">
                      <a:solidFill>
                        <a:srgbClr val="3CBE40"/>
                      </a:solidFill>
                      <a:prstDash val="solid"/>
                    </a:lnL>
                    <a:lnR w="5152">
                      <a:solidFill>
                        <a:srgbClr val="3CBE40"/>
                      </a:solidFill>
                      <a:prstDash val="solid"/>
                    </a:lnR>
                    <a:lnT w="5152">
                      <a:solidFill>
                        <a:srgbClr val="3CBE40"/>
                      </a:solidFill>
                      <a:prstDash val="solid"/>
                    </a:lnT>
                    <a:lnB w="5152">
                      <a:solidFill>
                        <a:srgbClr val="3CBE40"/>
                      </a:solidFill>
                      <a:prstDash val="solid"/>
                    </a:lnB>
                  </a:tcPr>
                </a:tc>
              </a:tr>
              <a:tr h="535886">
                <a:tc>
                  <a:txBody>
                    <a:bodyPr/>
                    <a:lstStyle/>
                    <a:p>
                      <a:r>
                        <a:rPr sz="1100" b="0">
                          <a:solidFill>
                            <a:srgbClr val="DF5BC4"/>
                          </a:solidFill>
                        </a:rPr>
                        <a:t>Craft</a:t>
                      </a:r>
                    </a:p>
                  </a:txBody>
                  <a:tcPr>
                    <a:solidFill>
                      <a:srgbClr val="D3CBC3"/>
                    </a:solidFill>
                    <a:lnL w="5152">
                      <a:solidFill>
                        <a:srgbClr val="3CBE40"/>
                      </a:solidFill>
                      <a:prstDash val="solid"/>
                    </a:lnL>
                    <a:lnR w="5152">
                      <a:solidFill>
                        <a:srgbClr val="3CBE40"/>
                      </a:solidFill>
                      <a:prstDash val="solid"/>
                    </a:lnR>
                    <a:lnT w="5152">
                      <a:solidFill>
                        <a:srgbClr val="3CBE40"/>
                      </a:solidFill>
                      <a:prstDash val="solid"/>
                    </a:lnT>
                    <a:lnB w="5152">
                      <a:solidFill>
                        <a:srgbClr val="3CBE40"/>
                      </a:solidFill>
                      <a:prstDash val="solid"/>
                    </a:lnB>
                  </a:tcPr>
                </a:tc>
                <a:tc>
                  <a:txBody>
                    <a:bodyPr/>
                    <a:lstStyle/>
                    <a:p>
                      <a:r>
                        <a:rPr sz="1100" b="0">
                          <a:solidFill>
                            <a:srgbClr val="DF5BC4"/>
                          </a:solidFill>
                        </a:rPr>
                        <a:t>Report</a:t>
                      </a:r>
                    </a:p>
                  </a:txBody>
                  <a:tcPr>
                    <a:solidFill>
                      <a:srgbClr val="D3CBC3"/>
                    </a:solidFill>
                    <a:lnL w="5152">
                      <a:solidFill>
                        <a:srgbClr val="3CBE40"/>
                      </a:solidFill>
                      <a:prstDash val="solid"/>
                    </a:lnL>
                    <a:lnR w="5152">
                      <a:solidFill>
                        <a:srgbClr val="3CBE40"/>
                      </a:solidFill>
                      <a:prstDash val="solid"/>
                    </a:lnR>
                    <a:lnT w="5152">
                      <a:solidFill>
                        <a:srgbClr val="3CBE40"/>
                      </a:solidFill>
                      <a:prstDash val="solid"/>
                    </a:lnT>
                    <a:lnB w="5152">
                      <a:solidFill>
                        <a:srgbClr val="3CBE40"/>
                      </a:solidFill>
                      <a:prstDash val="solid"/>
                    </a:lnB>
                  </a:tcPr>
                </a:tc>
                <a:tc>
                  <a:txBody>
                    <a:bodyPr/>
                    <a:lstStyle/>
                    <a:p>
                      <a:r>
                        <a:rPr sz="1100" b="0">
                          <a:solidFill>
                            <a:srgbClr val="DF5BC4"/>
                          </a:solidFill>
                        </a:rPr>
                        <a:t>Reserve</a:t>
                      </a:r>
                    </a:p>
                  </a:txBody>
                  <a:tcPr>
                    <a:solidFill>
                      <a:srgbClr val="D3CBC3"/>
                    </a:solidFill>
                    <a:lnL w="5152">
                      <a:solidFill>
                        <a:srgbClr val="3CBE40"/>
                      </a:solidFill>
                      <a:prstDash val="solid"/>
                    </a:lnL>
                    <a:lnR w="5152">
                      <a:solidFill>
                        <a:srgbClr val="3CBE40"/>
                      </a:solidFill>
                      <a:prstDash val="solid"/>
                    </a:lnR>
                    <a:lnT w="5152">
                      <a:solidFill>
                        <a:srgbClr val="3CBE40"/>
                      </a:solidFill>
                      <a:prstDash val="solid"/>
                    </a:lnT>
                    <a:lnB w="5152">
                      <a:solidFill>
                        <a:srgbClr val="3CBE40"/>
                      </a:solidFill>
                      <a:prstDash val="solid"/>
                    </a:lnB>
                  </a:tcPr>
                </a:tc>
                <a:tc>
                  <a:txBody>
                    <a:bodyPr/>
                    <a:lstStyle/>
                    <a:p>
                      <a:r>
                        <a:rPr sz="1100" b="0">
                          <a:solidFill>
                            <a:srgbClr val="DF5BC4"/>
                          </a:solidFill>
                        </a:rPr>
                        <a:t>Timeline</a:t>
                      </a:r>
                    </a:p>
                  </a:txBody>
                  <a:tcPr>
                    <a:solidFill>
                      <a:srgbClr val="D3CBC3"/>
                    </a:solidFill>
                    <a:lnL w="5152">
                      <a:solidFill>
                        <a:srgbClr val="3CBE40"/>
                      </a:solidFill>
                      <a:prstDash val="solid"/>
                    </a:lnL>
                    <a:lnR w="5152">
                      <a:solidFill>
                        <a:srgbClr val="3CBE40"/>
                      </a:solidFill>
                      <a:prstDash val="solid"/>
                    </a:lnR>
                    <a:lnT w="5152">
                      <a:solidFill>
                        <a:srgbClr val="3CBE40"/>
                      </a:solidFill>
                      <a:prstDash val="solid"/>
                    </a:lnT>
                    <a:lnB w="5152">
                      <a:solidFill>
                        <a:srgbClr val="3CBE40"/>
                      </a:solidFill>
                      <a:prstDash val="solid"/>
                    </a:lnB>
                  </a:tcPr>
                </a:tc>
                <a:tc>
                  <a:txBody>
                    <a:bodyPr/>
                    <a:lstStyle/>
                    <a:p>
                      <a:r>
                        <a:rPr sz="1100" b="0">
                          <a:solidFill>
                            <a:srgbClr val="DF5BC4"/>
                          </a:solidFill>
                        </a:rPr>
                        <a:t>Coverage</a:t>
                      </a:r>
                    </a:p>
                  </a:txBody>
                  <a:tcPr>
                    <a:solidFill>
                      <a:srgbClr val="D3CBC3"/>
                    </a:solidFill>
                    <a:lnL w="5152">
                      <a:solidFill>
                        <a:srgbClr val="3CBE40"/>
                      </a:solidFill>
                      <a:prstDash val="solid"/>
                    </a:lnL>
                    <a:lnR w="5152">
                      <a:solidFill>
                        <a:srgbClr val="3CBE40"/>
                      </a:solidFill>
                      <a:prstDash val="solid"/>
                    </a:lnR>
                    <a:lnT w="5152">
                      <a:solidFill>
                        <a:srgbClr val="3CBE40"/>
                      </a:solidFill>
                      <a:prstDash val="solid"/>
                    </a:lnT>
                    <a:lnB w="5152">
                      <a:solidFill>
                        <a:srgbClr val="3CBE40"/>
                      </a:solidFill>
                      <a:prstDash val="solid"/>
                    </a:lnB>
                  </a:tcPr>
                </a:tc>
                <a:tc>
                  <a:txBody>
                    <a:bodyPr/>
                    <a:lstStyle/>
                    <a:p>
                      <a:r>
                        <a:rPr sz="1100" b="0">
                          <a:solidFill>
                            <a:srgbClr val="DF5BC4"/>
                          </a:solidFill>
                        </a:rPr>
                        <a:t>Checkpoint</a:t>
                      </a:r>
                    </a:p>
                  </a:txBody>
                  <a:tcPr>
                    <a:solidFill>
                      <a:srgbClr val="D3CBC3"/>
                    </a:solidFill>
                    <a:lnL w="5152">
                      <a:solidFill>
                        <a:srgbClr val="3CBE40"/>
                      </a:solidFill>
                      <a:prstDash val="solid"/>
                    </a:lnL>
                    <a:lnR w="5152">
                      <a:solidFill>
                        <a:srgbClr val="3CBE40"/>
                      </a:solidFill>
                      <a:prstDash val="solid"/>
                    </a:lnR>
                    <a:lnT w="5152">
                      <a:solidFill>
                        <a:srgbClr val="3CBE40"/>
                      </a:solidFill>
                      <a:prstDash val="solid"/>
                    </a:lnT>
                    <a:lnB w="5152">
                      <a:solidFill>
                        <a:srgbClr val="3CBE40"/>
                      </a:solidFill>
                      <a:prstDash val="solid"/>
                    </a:lnB>
                  </a:tcPr>
                </a:tc>
              </a:tr>
            </a:tbl>
          </a:graphicData>
        </a:graphic>
      </p:graphicFrame>
      <p:sp>
        <p:nvSpPr>
          <p:cNvPr id="17" name="TextBox 16"/>
          <p:cNvSpPr txBox="1"/>
          <p:nvPr/>
        </p:nvSpPr>
        <p:spPr>
          <a:xfrm>
            <a:off x="601433" y="2010318"/>
            <a:ext cx="1349949" cy="1979003"/>
          </a:xfrm>
          <a:prstGeom prst="rect">
            <a:avLst/>
          </a:prstGeom>
          <a:noFill/>
        </p:spPr>
        <p:txBody>
          <a:bodyPr wrap="none" lIns="36646" rIns="36646" tIns="36646" bIns="36646">
            <a:spAutoFit/>
          </a:bodyPr>
          <a:lstStyle/>
          <a:p>
            <a:r>
              <a:rPr sz="3000" b="1" i="1" u="none">
                <a:solidFill>
                  <a:srgbClr val="C852D4"/>
                </a:solidFill>
                <a:latin typeface="Verdana"/>
              </a:rPr>
              <a:t>Beacon Stack Asset Harbor Array Gradient Target Canvas Event Span Atlas</a:t>
            </a:r>
          </a:p>
        </p:txBody>
      </p:sp>
      <p:sp>
        <p:nvSpPr>
          <p:cNvPr id="18" name="Display 17"/>
          <p:cNvSpPr/>
          <p:nvPr/>
        </p:nvSpPr>
        <p:spPr>
          <a:xfrm>
            <a:off x="7696929" y="1759791"/>
            <a:ext cx="816533" cy="567651"/>
          </a:xfrm>
          <a:prstGeom prst="flowChartDisplay">
            <a:avLst/>
          </a:prstGeom>
          <a:solidFill>
            <a:srgbClr val="AD43DE"/>
          </a:solidFill>
          <a:ln w="12098">
            <a:solidFill>
              <a:srgbClr val="20B0C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7955" y="1125432"/>
            <a:ext cx="2510098" cy="1438126"/>
          </a:xfrm>
          <a:prstGeom prst="rect">
            <a:avLst/>
          </a:prstGeom>
          <a:noFill/>
        </p:spPr>
        <p:txBody>
          <a:bodyPr wrap="none" lIns="38891" rIns="38891" tIns="38891" bIns="38891">
            <a:spAutoFit/>
          </a:bodyPr>
          <a:lstStyle/>
          <a:p>
            <a:r>
              <a:rPr sz="1600" b="0" i="0" u="none">
                <a:solidFill>
                  <a:srgbClr val="3B6375"/>
                </a:solidFill>
                <a:latin typeface="Aptos"/>
              </a:rPr>
              <a:t>Summary Coverage Reference Catalog Relay Expansion Thread Kernel Hub Anchor Texture Format Region Archive Panel Reserve Marker Delta Feature Cycle Release Intent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