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046297" y="2453680"/>
            <a:ext cx="3731893" cy="1879244"/>
          </a:xfrm>
          <a:prstGeom prst="rect">
            <a:avLst/>
          </a:prstGeom>
          <a:noFill/>
        </p:spPr>
        <p:txBody>
          <a:bodyPr wrap="none" lIns="91434" rIns="91434" tIns="91434" bIns="91434">
            <a:spAutoFit/>
          </a:bodyPr>
          <a:lstStyle/>
          <a:p>
            <a:r>
              <a:rPr sz="1000" b="0" i="0" u="none">
                <a:solidFill>
                  <a:srgbClr val="C8AAD8"/>
                </a:solidFill>
                <a:latin typeface="Verdana"/>
              </a:rPr>
              <a:t>Depth Window Echo Energy Command Atlas Explorer Option Segment Span Control Motion Schema Stage Focus Expansion Iteration Review Resource Reference Window Grid Switch Stack Radius Metric Summary Status Profile Scope Route Depth Service Channel Lens Narrative Mesh Zone Option Queue Queue Proof</a:t>
            </a:r>
          </a:p>
        </p:txBody>
      </p:sp>
      <p:sp>
        <p:nvSpPr>
          <p:cNvPr id="3" name="Hexagon 2"/>
          <p:cNvSpPr/>
          <p:nvPr/>
        </p:nvSpPr>
        <p:spPr>
          <a:xfrm>
            <a:off x="9162459" y="5115583"/>
            <a:ext cx="2314580" cy="1440637"/>
          </a:xfrm>
          <a:prstGeom prst="hexagon">
            <a:avLst/>
          </a:prstGeom>
          <a:noFill/>
          <a:ln w="23252">
            <a:solidFill>
              <a:srgbClr val="8FD37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752" y="1213501"/>
            <a:ext cx="4312632" cy="309272"/>
          </a:xfrm>
          <a:prstGeom prst="rect">
            <a:avLst/>
          </a:prstGeom>
          <a:noFill/>
        </p:spPr>
        <p:txBody>
          <a:bodyPr wrap="none" lIns="76666" rIns="76666" tIns="76666" bIns="76666">
            <a:spAutoFit/>
          </a:bodyPr>
          <a:lstStyle/>
          <a:p>
            <a:r>
              <a:rPr sz="1000" b="0" i="1" u="none">
                <a:solidFill>
                  <a:srgbClr val="B238CE"/>
                </a:solidFill>
                <a:latin typeface="Calibri"/>
              </a:rPr>
              <a:t>Catalog Bridge</a:t>
            </a:r>
          </a:p>
        </p:txBody>
      </p:sp>
      <p:sp>
        <p:nvSpPr>
          <p:cNvPr id="5" name="Right Arrow 4"/>
          <p:cNvSpPr/>
          <p:nvPr/>
        </p:nvSpPr>
        <p:spPr>
          <a:xfrm>
            <a:off x="8796226" y="862780"/>
            <a:ext cx="1786588" cy="477214"/>
          </a:xfrm>
          <a:prstGeom prst="rightArrow">
            <a:avLst/>
          </a:prstGeom>
          <a:solidFill>
            <a:srgbClr val="83E52A"/>
          </a:solidFill>
          <a:ln w="6508">
            <a:solidFill>
              <a:srgbClr val="4ACC9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_example_image.jpg"/>
          <p:cNvPicPr>
            <a:picLocks noChangeAspect="1"/>
          </p:cNvPicPr>
          <p:nvPr/>
        </p:nvPicPr>
        <p:blipFill>
          <a:blip r:embed="rId2"/>
          <a:stretch>
            <a:fillRect/>
          </a:stretch>
        </p:blipFill>
        <p:spPr>
          <a:xfrm>
            <a:off x="10759367" y="3787458"/>
            <a:ext cx="1128092" cy="1752001"/>
          </a:xfrm>
          <a:prstGeom prst="rect">
            <a:avLst/>
          </a:prstGeom>
        </p:spPr>
      </p:pic>
      <p:pic>
        <p:nvPicPr>
          <p:cNvPr id="7" name="Picture 6" descr="_example_image.jpg"/>
          <p:cNvPicPr>
            <a:picLocks noChangeAspect="1"/>
          </p:cNvPicPr>
          <p:nvPr/>
        </p:nvPicPr>
        <p:blipFill>
          <a:blip r:embed="rId2"/>
          <a:stretch>
            <a:fillRect/>
          </a:stretch>
        </p:blipFill>
        <p:spPr>
          <a:xfrm>
            <a:off x="6017271" y="2803831"/>
            <a:ext cx="1796081" cy="997530"/>
          </a:xfrm>
          <a:prstGeom prst="rect">
            <a:avLst/>
          </a:prstGeom>
        </p:spPr>
      </p:pic>
      <p:sp>
        <p:nvSpPr>
          <p:cNvPr id="8" name="TextBox 7"/>
          <p:cNvSpPr txBox="1"/>
          <p:nvPr/>
        </p:nvSpPr>
        <p:spPr>
          <a:xfrm>
            <a:off x="5114711" y="5979792"/>
            <a:ext cx="3485670" cy="358595"/>
          </a:xfrm>
          <a:prstGeom prst="rect">
            <a:avLst/>
          </a:prstGeom>
          <a:solidFill>
            <a:srgbClr val="AEC9C0"/>
          </a:solidFill>
        </p:spPr>
        <p:txBody>
          <a:bodyPr wrap="none" lIns="86221" rIns="86221" tIns="86221" bIns="86221">
            <a:spAutoFit/>
          </a:bodyPr>
          <a:lstStyle/>
          <a:p>
            <a:r>
              <a:rPr sz="900" b="0" i="0" u="sng">
                <a:solidFill>
                  <a:srgbClr val="206CA6"/>
                </a:solidFill>
                <a:latin typeface="Trebuchet MS"/>
              </a:rPr>
              <a:t>Priority Zone Level Catalog Map Panel Checkpoint Collection Discovery Entity Volume Design Method Benchmark Spectrum Metric Context Forecast Access Iteration Goal Metric</a:t>
            </a:r>
          </a:p>
        </p:txBody>
      </p:sp>
      <p:sp>
        <p:nvSpPr>
          <p:cNvPr id="9" name="TextBox 8"/>
          <p:cNvSpPr txBox="1"/>
          <p:nvPr/>
        </p:nvSpPr>
        <p:spPr>
          <a:xfrm>
            <a:off x="9347456" y="2296683"/>
            <a:ext cx="1524400" cy="1219399"/>
          </a:xfrm>
          <a:prstGeom prst="rect">
            <a:avLst/>
          </a:prstGeom>
          <a:noFill/>
        </p:spPr>
        <p:txBody>
          <a:bodyPr wrap="none" lIns="24987" rIns="24987" tIns="24987" bIns="24987">
            <a:spAutoFit/>
          </a:bodyPr>
          <a:lstStyle/>
          <a:p>
            <a:r>
              <a:rPr sz="1100" b="0" i="1" u="none">
                <a:solidFill>
                  <a:srgbClr val="9419A7"/>
                </a:solidFill>
                <a:latin typeface="Aptos"/>
              </a:rPr>
              <a:t>Matrix Alignment Design Moment Collection Network Action</a:t>
            </a:r>
          </a:p>
        </p:txBody>
      </p:sp>
      <p:graphicFrame>
        <p:nvGraphicFramePr>
          <p:cNvPr id="10" name="Table 9"/>
          <p:cNvGraphicFramePr>
            <a:graphicFrameLocks noGrp="1"/>
          </p:cNvGraphicFramePr>
          <p:nvPr/>
        </p:nvGraphicFramePr>
        <p:xfrm>
          <a:off x="655455" y="5380034"/>
          <a:ext cx="4297019" cy="1050833"/>
        </p:xfrm>
        <a:graphic>
          <a:graphicData uri="http://schemas.openxmlformats.org/drawingml/2006/table">
            <a:tbl>
              <a:tblPr firstRow="1" bandRow="1">
                <a:tableStyleId>{5C22544A-7EE6-4342-B048-85BDC9FD1C3A}</a:tableStyleId>
              </a:tblPr>
              <a:tblGrid>
                <a:gridCol w="716169"/>
                <a:gridCol w="716169"/>
                <a:gridCol w="716169"/>
                <a:gridCol w="716169"/>
                <a:gridCol w="716169"/>
                <a:gridCol w="716174"/>
              </a:tblGrid>
              <a:tr h="150119">
                <a:tc>
                  <a:txBody>
                    <a:bodyPr/>
                    <a:lstStyle/>
                    <a:p>
                      <a:r>
                        <a:rPr sz="1100" b="1">
                          <a:solidFill>
                            <a:srgbClr val="517DD1"/>
                          </a:solidFill>
                        </a:rPr>
                        <a:t>Reserve</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1">
                          <a:solidFill>
                            <a:srgbClr val="517DD1"/>
                          </a:solidFill>
                        </a:rPr>
                        <a:t>Buffer Direction</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1">
                          <a:solidFill>
                            <a:srgbClr val="517DD1"/>
                          </a:solidFill>
                        </a:rPr>
                        <a:t>Threshold Signal</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1">
                          <a:solidFill>
                            <a:srgbClr val="517DD1"/>
                          </a:solidFill>
                        </a:rPr>
                        <a:t>Handle Data</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1">
                          <a:solidFill>
                            <a:srgbClr val="517DD1"/>
                          </a:solidFill>
                        </a:rPr>
                        <a:t>Region Design</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1">
                          <a:solidFill>
                            <a:srgbClr val="517DD1"/>
                          </a:solidFill>
                        </a:rPr>
                        <a:t>Handle Runtime</a:t>
                      </a:r>
                    </a:p>
                  </a:txBody>
                  <a:tcPr>
                    <a:solidFill>
                      <a:srgbClr val="429AB2"/>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Variant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Transit Capacity</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Matrix</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State Input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Timeline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Iteration Echo</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Flow Library</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Dashboard Collection</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Dashboard Range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Envelope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Measure Slice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Beta Module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Adaptive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Alignment Format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Stream Focus</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Checkpoint Reference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Summary Stack</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Drift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Handle Runtime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Circuit Factor</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Filter</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Metric Dashboard</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Plan</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Memory Graph</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Token</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Template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Module Dashboard</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Instance Trace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Ratio</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Drive Library</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r h="150119">
                <a:tc>
                  <a:txBody>
                    <a:bodyPr/>
                    <a:lstStyle/>
                    <a:p>
                      <a:r>
                        <a:rPr sz="1100" b="0">
                          <a:solidFill>
                            <a:srgbClr val="517DD1"/>
                          </a:solidFill>
                        </a:rPr>
                        <a:t>Gradient Segment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Order Mode</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Concept Origin</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Checkpoint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Account</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c>
                  <a:txBody>
                    <a:bodyPr/>
                    <a:lstStyle/>
                    <a:p>
                      <a:r>
                        <a:rPr sz="1100" b="0">
                          <a:solidFill>
                            <a:srgbClr val="517DD1"/>
                          </a:solidFill>
                        </a:rPr>
                        <a:t>North</a:t>
                      </a:r>
                    </a:p>
                  </a:txBody>
                  <a:tcPr>
                    <a:solidFill>
                      <a:srgbClr val="E0F6EE"/>
                    </a:solidFill>
                    <a:lnL w="31955">
                      <a:solidFill>
                        <a:srgbClr val="1E6EE3"/>
                      </a:solidFill>
                      <a:prstDash val="solid"/>
                    </a:lnL>
                    <a:lnR w="31955">
                      <a:solidFill>
                        <a:srgbClr val="1E6EE3"/>
                      </a:solidFill>
                      <a:prstDash val="solid"/>
                    </a:lnR>
                    <a:lnT w="31955">
                      <a:solidFill>
                        <a:srgbClr val="1E6EE3"/>
                      </a:solidFill>
                      <a:prstDash val="solid"/>
                    </a:lnT>
                    <a:lnB w="31955">
                      <a:solidFill>
                        <a:srgbClr val="1E6EE3"/>
                      </a:solidFill>
                      <a:prstDash val="solid"/>
                    </a:lnB>
                  </a:tcPr>
                </a:tc>
              </a:tr>
            </a:tbl>
          </a:graphicData>
        </a:graphic>
      </p:graphicFrame>
      <p:sp>
        <p:nvSpPr>
          <p:cNvPr id="11" name="TextBox 10"/>
          <p:cNvSpPr txBox="1"/>
          <p:nvPr/>
        </p:nvSpPr>
        <p:spPr>
          <a:xfrm>
            <a:off x="6217997" y="1889055"/>
            <a:ext cx="2785254" cy="909490"/>
          </a:xfrm>
          <a:prstGeom prst="rect">
            <a:avLst/>
          </a:prstGeom>
          <a:noFill/>
        </p:spPr>
        <p:txBody>
          <a:bodyPr wrap="none" lIns="74984" rIns="74984" tIns="74984" bIns="74984">
            <a:spAutoFit/>
          </a:bodyPr>
          <a:lstStyle/>
          <a:p>
            <a:r>
              <a:rPr sz="3600" b="1" i="0" u="none">
                <a:solidFill>
                  <a:srgbClr val="BF6F4A"/>
                </a:solidFill>
                <a:latin typeface="Verdana"/>
              </a:rPr>
              <a:t>Input Asset Craft Dispatch Interface Ratio Channel</a:t>
            </a:r>
          </a:p>
        </p:txBody>
      </p:sp>
      <p:sp>
        <p:nvSpPr>
          <p:cNvPr id="12" name="Notched Right Arrow 11"/>
          <p:cNvSpPr/>
          <p:nvPr/>
        </p:nvSpPr>
        <p:spPr>
          <a:xfrm>
            <a:off x="10659417" y="1512456"/>
            <a:ext cx="1245986" cy="739925"/>
          </a:xfrm>
          <a:prstGeom prst="notchedRightArrow">
            <a:avLst/>
          </a:prstGeom>
          <a:solidFill>
            <a:srgbClr val="2FA025"/>
          </a:solidFill>
          <a:ln w="22559">
            <a:solidFill>
              <a:srgbClr val="C5D0D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rapezoid 12"/>
          <p:cNvSpPr/>
          <p:nvPr/>
        </p:nvSpPr>
        <p:spPr>
          <a:xfrm>
            <a:off x="6738096" y="3309332"/>
            <a:ext cx="1947562" cy="335859"/>
          </a:xfrm>
          <a:prstGeom prst="trapezoid">
            <a:avLst/>
          </a:prstGeom>
          <a:solidFill>
            <a:srgbClr val="AB1D9C"/>
          </a:solidFill>
          <a:ln w="23902">
            <a:solidFill>
              <a:srgbClr val="CFB9C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66064" y="4537778"/>
            <a:ext cx="5063676" cy="446566"/>
          </a:xfrm>
          <a:prstGeom prst="rect">
            <a:avLst/>
          </a:prstGeom>
          <a:noFill/>
        </p:spPr>
        <p:txBody>
          <a:bodyPr wrap="none" lIns="85202" rIns="85202" tIns="85202" bIns="85202">
            <a:spAutoFit/>
          </a:bodyPr>
          <a:lstStyle/>
          <a:p>
            <a:r>
              <a:rPr sz="4200" b="1" i="0" u="none">
                <a:solidFill>
                  <a:srgbClr val="44702C"/>
                </a:solidFill>
                <a:latin typeface="Calibri"/>
              </a:rPr>
              <a:t>Sync Mode</a:t>
            </a:r>
          </a:p>
        </p:txBody>
      </p:sp>
      <p:pic>
        <p:nvPicPr>
          <p:cNvPr id="15" name="Picture 14" descr="_example_image.jpg"/>
          <p:cNvPicPr>
            <a:picLocks noChangeAspect="1"/>
          </p:cNvPicPr>
          <p:nvPr/>
        </p:nvPicPr>
        <p:blipFill>
          <a:blip r:embed="rId2"/>
          <a:stretch>
            <a:fillRect/>
          </a:stretch>
        </p:blipFill>
        <p:spPr>
          <a:xfrm>
            <a:off x="8209273" y="2919192"/>
            <a:ext cx="1742149" cy="1107403"/>
          </a:xfrm>
          <a:prstGeom prst="rect">
            <a:avLst/>
          </a:prstGeom>
        </p:spPr>
      </p:pic>
      <p:graphicFrame>
        <p:nvGraphicFramePr>
          <p:cNvPr id="16" name="Table 15"/>
          <p:cNvGraphicFramePr>
            <a:graphicFrameLocks noGrp="1"/>
          </p:cNvGraphicFramePr>
          <p:nvPr/>
        </p:nvGraphicFramePr>
        <p:xfrm>
          <a:off x="2334113" y="1183445"/>
          <a:ext cx="3225755" cy="1104249"/>
        </p:xfrm>
        <a:graphic>
          <a:graphicData uri="http://schemas.openxmlformats.org/drawingml/2006/table">
            <a:tbl>
              <a:tblPr firstRow="1" bandRow="1">
                <a:tableStyleId>{5C22544A-7EE6-4342-B048-85BDC9FD1C3A}</a:tableStyleId>
              </a:tblPr>
              <a:tblGrid>
                <a:gridCol w="1075251"/>
                <a:gridCol w="1075251"/>
                <a:gridCol w="1075253"/>
              </a:tblGrid>
              <a:tr h="157749">
                <a:tc>
                  <a:txBody>
                    <a:bodyPr/>
                    <a:lstStyle/>
                    <a:p>
                      <a:r>
                        <a:rPr sz="1100" b="1">
                          <a:solidFill>
                            <a:srgbClr val="70C558"/>
                          </a:solidFill>
                        </a:rPr>
                        <a:t>Center Echo</a:t>
                      </a:r>
                    </a:p>
                  </a:txBody>
                  <a:tcPr>
                    <a:solidFill>
                      <a:srgbClr val="3488D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1">
                          <a:solidFill>
                            <a:srgbClr val="70C558"/>
                          </a:solidFill>
                        </a:rPr>
                        <a:t>Story</a:t>
                      </a:r>
                    </a:p>
                  </a:txBody>
                  <a:tcPr>
                    <a:solidFill>
                      <a:srgbClr val="3488D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1">
                          <a:solidFill>
                            <a:srgbClr val="70C558"/>
                          </a:solidFill>
                        </a:rPr>
                        <a:t>Access Schema</a:t>
                      </a:r>
                    </a:p>
                  </a:txBody>
                  <a:tcPr>
                    <a:solidFill>
                      <a:srgbClr val="3488D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49">
                <a:tc>
                  <a:txBody>
                    <a:bodyPr/>
                    <a:lstStyle/>
                    <a:p>
                      <a:r>
                        <a:rPr sz="1100" b="0">
                          <a:solidFill>
                            <a:srgbClr val="70C558"/>
                          </a:solidFill>
                        </a:rPr>
                        <a:t>Reference Cycle</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Cell Source</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Waypoint</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49">
                <a:tc>
                  <a:txBody>
                    <a:bodyPr/>
                    <a:lstStyle/>
                    <a:p>
                      <a:r>
                        <a:rPr sz="1100" b="0">
                          <a:solidFill>
                            <a:srgbClr val="70C558"/>
                          </a:solidFill>
                        </a:rPr>
                        <a:t>Pipeline Layer</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Array</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Range</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49">
                <a:tc>
                  <a:txBody>
                    <a:bodyPr/>
                    <a:lstStyle/>
                    <a:p>
                      <a:r>
                        <a:rPr sz="1100" b="0">
                          <a:solidFill>
                            <a:srgbClr val="70C558"/>
                          </a:solidFill>
                        </a:rPr>
                        <a:t>Core Detail</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Service Station</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Access</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49">
                <a:tc>
                  <a:txBody>
                    <a:bodyPr/>
                    <a:lstStyle/>
                    <a:p>
                      <a:r>
                        <a:rPr sz="1100" b="0">
                          <a:solidFill>
                            <a:srgbClr val="70C558"/>
                          </a:solidFill>
                        </a:rPr>
                        <a:t>Texture Harbor</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Order</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Column Frequency</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49">
                <a:tc>
                  <a:txBody>
                    <a:bodyPr/>
                    <a:lstStyle/>
                    <a:p>
                      <a:r>
                        <a:rPr sz="1100" b="0">
                          <a:solidFill>
                            <a:srgbClr val="70C558"/>
                          </a:solidFill>
                        </a:rPr>
                        <a:t>Resource Journey</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Rhythm</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Chart</a:t>
                      </a:r>
                    </a:p>
                  </a:txBody>
                  <a:tcPr>
                    <a:solidFill>
                      <a:srgbClr val="CAC7BA"/>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r h="157755">
                <a:tc>
                  <a:txBody>
                    <a:bodyPr/>
                    <a:lstStyle/>
                    <a:p>
                      <a:r>
                        <a:rPr sz="1100" b="0">
                          <a:solidFill>
                            <a:srgbClr val="70C558"/>
                          </a:solidFill>
                        </a:rPr>
                        <a:t>Logic Direction</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Deployment</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c>
                  <a:txBody>
                    <a:bodyPr/>
                    <a:lstStyle/>
                    <a:p>
                      <a:r>
                        <a:rPr sz="1100" b="0">
                          <a:solidFill>
                            <a:srgbClr val="70C558"/>
                          </a:solidFill>
                        </a:rPr>
                        <a:t>Summary</a:t>
                      </a:r>
                    </a:p>
                  </a:txBody>
                  <a:tcPr>
                    <a:solidFill>
                      <a:srgbClr val="E9E7E2"/>
                    </a:solidFill>
                    <a:lnL w="29728">
                      <a:solidFill>
                        <a:srgbClr val="CB8AD5"/>
                      </a:solidFill>
                      <a:prstDash val="solid"/>
                    </a:lnL>
                    <a:lnR w="29728">
                      <a:solidFill>
                        <a:srgbClr val="CB8AD5"/>
                      </a:solidFill>
                      <a:prstDash val="solid"/>
                    </a:lnR>
                    <a:lnT w="29728">
                      <a:solidFill>
                        <a:srgbClr val="CB8AD5"/>
                      </a:solidFill>
                      <a:prstDash val="solid"/>
                    </a:lnT>
                    <a:lnB w="29728">
                      <a:solidFill>
                        <a:srgbClr val="CB8AD5"/>
                      </a:solidFill>
                      <a:prstDash val="solid"/>
                    </a:lnB>
                  </a:tcPr>
                </a:tc>
              </a:tr>
            </a:tbl>
          </a:graphicData>
        </a:graphic>
      </p:graphicFrame>
      <p:sp>
        <p:nvSpPr>
          <p:cNvPr id="17" name="8-Point Star 16"/>
          <p:cNvSpPr/>
          <p:nvPr/>
        </p:nvSpPr>
        <p:spPr>
          <a:xfrm>
            <a:off x="5279108" y="1462537"/>
            <a:ext cx="1602210" cy="383769"/>
          </a:xfrm>
          <a:prstGeom prst="star8">
            <a:avLst/>
          </a:prstGeom>
          <a:solidFill>
            <a:srgbClr val="B51F1A"/>
          </a:solidFill>
          <a:ln w="18259">
            <a:solidFill>
              <a:srgbClr val="C85E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ular Callout 17"/>
          <p:cNvSpPr/>
          <p:nvPr/>
        </p:nvSpPr>
        <p:spPr>
          <a:xfrm>
            <a:off x="1226650" y="4660280"/>
            <a:ext cx="2403021" cy="927942"/>
          </a:xfrm>
          <a:prstGeom prst="wedgeRectCallout">
            <a:avLst/>
          </a:prstGeom>
          <a:solidFill>
            <a:srgbClr val="242E6D"/>
          </a:solidFill>
          <a:ln w="30507">
            <a:solidFill>
              <a:srgbClr val="BB7EC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ine Callout 2 18"/>
          <p:cNvSpPr/>
          <p:nvPr/>
        </p:nvSpPr>
        <p:spPr>
          <a:xfrm>
            <a:off x="9102474" y="286503"/>
            <a:ext cx="2092664" cy="552536"/>
          </a:xfrm>
          <a:prstGeom prst="borderCallout2">
            <a:avLst/>
          </a:prstGeom>
          <a:solidFill>
            <a:srgbClr val="6A1D97"/>
          </a:solidFill>
          <a:ln w="30582">
            <a:solidFill>
              <a:srgbClr val="D2D4E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