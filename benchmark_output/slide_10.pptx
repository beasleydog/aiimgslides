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7455740" y="172282"/>
          <a:ext cx="4557941" cy="10068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588"/>
                <a:gridCol w="911588"/>
                <a:gridCol w="911588"/>
                <a:gridCol w="911588"/>
                <a:gridCol w="911589"/>
              </a:tblGrid>
              <a:tr h="167803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6520B5"/>
                          </a:solidFill>
                        </a:rPr>
                        <a:t>Review Design</a:t>
                      </a:r>
                    </a:p>
                  </a:txBody>
                  <a:tcPr>
                    <a:solidFill>
                      <a:srgbClr val="C1BF68"/>
                    </a:solidFill>
                    <a:lnL w="30767">
                      <a:solidFill>
                        <a:srgbClr val="D96FAE"/>
                      </a:solidFill>
                      <a:prstDash val="solid"/>
                    </a:lnL>
                    <a:lnR w="30767">
                      <a:solidFill>
                        <a:srgbClr val="D96FAE"/>
                      </a:solidFill>
                      <a:prstDash val="solid"/>
                    </a:lnR>
                    <a:lnT w="30767">
                      <a:solidFill>
                        <a:srgbClr val="D96FAE"/>
                      </a:solidFill>
                      <a:prstDash val="solid"/>
                    </a:lnT>
                    <a:lnB w="30767">
                      <a:solidFill>
                        <a:srgbClr val="D96FA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6520B5"/>
                          </a:solidFill>
                        </a:rPr>
                        <a:t>Domain Inventory</a:t>
                      </a:r>
                    </a:p>
                  </a:txBody>
                  <a:tcPr>
                    <a:solidFill>
                      <a:srgbClr val="C1BF68"/>
                    </a:solidFill>
                    <a:lnL w="30767">
                      <a:solidFill>
                        <a:srgbClr val="D96FAE"/>
                      </a:solidFill>
                      <a:prstDash val="solid"/>
                    </a:lnL>
                    <a:lnR w="30767">
                      <a:solidFill>
                        <a:srgbClr val="D96FAE"/>
                      </a:solidFill>
                      <a:prstDash val="solid"/>
                    </a:lnR>
                    <a:lnT w="30767">
                      <a:solidFill>
                        <a:srgbClr val="D96FAE"/>
                      </a:solidFill>
                      <a:prstDash val="solid"/>
                    </a:lnT>
                    <a:lnB w="30767">
                      <a:solidFill>
                        <a:srgbClr val="D96FA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6520B5"/>
                          </a:solidFill>
                        </a:rPr>
                        <a:t>North Element</a:t>
                      </a:r>
                    </a:p>
                  </a:txBody>
                  <a:tcPr>
                    <a:solidFill>
                      <a:srgbClr val="C1BF68"/>
                    </a:solidFill>
                    <a:lnL w="30767">
                      <a:solidFill>
                        <a:srgbClr val="D96FAE"/>
                      </a:solidFill>
                      <a:prstDash val="solid"/>
                    </a:lnL>
                    <a:lnR w="30767">
                      <a:solidFill>
                        <a:srgbClr val="D96FAE"/>
                      </a:solidFill>
                      <a:prstDash val="solid"/>
                    </a:lnR>
                    <a:lnT w="30767">
                      <a:solidFill>
                        <a:srgbClr val="D96FAE"/>
                      </a:solidFill>
                      <a:prstDash val="solid"/>
                    </a:lnT>
                    <a:lnB w="30767">
                      <a:solidFill>
                        <a:srgbClr val="D96FA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6520B5"/>
                          </a:solidFill>
                        </a:rPr>
                        <a:t>Domain</a:t>
                      </a:r>
                    </a:p>
                  </a:txBody>
                  <a:tcPr>
                    <a:solidFill>
                      <a:srgbClr val="C1BF68"/>
                    </a:solidFill>
                    <a:lnL w="30767">
                      <a:solidFill>
                        <a:srgbClr val="D96FAE"/>
                      </a:solidFill>
                      <a:prstDash val="solid"/>
                    </a:lnL>
                    <a:lnR w="30767">
                      <a:solidFill>
                        <a:srgbClr val="D96FAE"/>
                      </a:solidFill>
                      <a:prstDash val="solid"/>
                    </a:lnR>
                    <a:lnT w="30767">
                      <a:solidFill>
                        <a:srgbClr val="D96FAE"/>
                      </a:solidFill>
                      <a:prstDash val="solid"/>
                    </a:lnT>
                    <a:lnB w="30767">
                      <a:solidFill>
                        <a:srgbClr val="D96FA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6520B5"/>
                          </a:solidFill>
                        </a:rPr>
                        <a:t>Report Baseline</a:t>
                      </a:r>
                    </a:p>
                  </a:txBody>
                  <a:tcPr>
                    <a:solidFill>
                      <a:srgbClr val="C1BF68"/>
                    </a:solidFill>
                    <a:lnL w="30767">
                      <a:solidFill>
                        <a:srgbClr val="D96FAE"/>
                      </a:solidFill>
                      <a:prstDash val="solid"/>
                    </a:lnL>
                    <a:lnR w="30767">
                      <a:solidFill>
                        <a:srgbClr val="D96FAE"/>
                      </a:solidFill>
                      <a:prstDash val="solid"/>
                    </a:lnR>
                    <a:lnT w="30767">
                      <a:solidFill>
                        <a:srgbClr val="D96FAE"/>
                      </a:solidFill>
                      <a:prstDash val="solid"/>
                    </a:lnT>
                    <a:lnB w="30767">
                      <a:solidFill>
                        <a:srgbClr val="D96FAE"/>
                      </a:solidFill>
                      <a:prstDash val="solid"/>
                    </a:lnB>
                  </a:tcPr>
                </a:tc>
              </a:tr>
              <a:tr h="167803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6520B5"/>
                          </a:solidFill>
                        </a:rPr>
                        <a:t>Vector</a:t>
                      </a:r>
                    </a:p>
                  </a:txBody>
                  <a:tcPr>
                    <a:solidFill>
                      <a:srgbClr val="B7F6D7"/>
                    </a:solidFill>
                    <a:lnL w="30767">
                      <a:solidFill>
                        <a:srgbClr val="D96FAE"/>
                      </a:solidFill>
                      <a:prstDash val="solid"/>
                    </a:lnL>
                    <a:lnR w="30767">
                      <a:solidFill>
                        <a:srgbClr val="D96FAE"/>
                      </a:solidFill>
                      <a:prstDash val="solid"/>
                    </a:lnR>
                    <a:lnT w="30767">
                      <a:solidFill>
                        <a:srgbClr val="D96FAE"/>
                      </a:solidFill>
                      <a:prstDash val="solid"/>
                    </a:lnT>
                    <a:lnB w="30767">
                      <a:solidFill>
                        <a:srgbClr val="D96FA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6520B5"/>
                          </a:solidFill>
                        </a:rPr>
                        <a:t>View</a:t>
                      </a:r>
                    </a:p>
                  </a:txBody>
                  <a:tcPr>
                    <a:solidFill>
                      <a:srgbClr val="B7F6D7"/>
                    </a:solidFill>
                    <a:lnL w="30767">
                      <a:solidFill>
                        <a:srgbClr val="D96FAE"/>
                      </a:solidFill>
                      <a:prstDash val="solid"/>
                    </a:lnL>
                    <a:lnR w="30767">
                      <a:solidFill>
                        <a:srgbClr val="D96FAE"/>
                      </a:solidFill>
                      <a:prstDash val="solid"/>
                    </a:lnR>
                    <a:lnT w="30767">
                      <a:solidFill>
                        <a:srgbClr val="D96FAE"/>
                      </a:solidFill>
                      <a:prstDash val="solid"/>
                    </a:lnT>
                    <a:lnB w="30767">
                      <a:solidFill>
                        <a:srgbClr val="D96FA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6520B5"/>
                          </a:solidFill>
                        </a:rPr>
                        <a:t>Chart</a:t>
                      </a:r>
                    </a:p>
                  </a:txBody>
                  <a:tcPr>
                    <a:solidFill>
                      <a:srgbClr val="B7F6D7"/>
                    </a:solidFill>
                    <a:lnL w="30767">
                      <a:solidFill>
                        <a:srgbClr val="D96FAE"/>
                      </a:solidFill>
                      <a:prstDash val="solid"/>
                    </a:lnL>
                    <a:lnR w="30767">
                      <a:solidFill>
                        <a:srgbClr val="D96FAE"/>
                      </a:solidFill>
                      <a:prstDash val="solid"/>
                    </a:lnR>
                    <a:lnT w="30767">
                      <a:solidFill>
                        <a:srgbClr val="D96FAE"/>
                      </a:solidFill>
                      <a:prstDash val="solid"/>
                    </a:lnT>
                    <a:lnB w="30767">
                      <a:solidFill>
                        <a:srgbClr val="D96FA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6520B5"/>
                          </a:solidFill>
                        </a:rPr>
                        <a:t>Forecast</a:t>
                      </a:r>
                    </a:p>
                  </a:txBody>
                  <a:tcPr>
                    <a:solidFill>
                      <a:srgbClr val="B7F6D7"/>
                    </a:solidFill>
                    <a:lnL w="30767">
                      <a:solidFill>
                        <a:srgbClr val="D96FAE"/>
                      </a:solidFill>
                      <a:prstDash val="solid"/>
                    </a:lnL>
                    <a:lnR w="30767">
                      <a:solidFill>
                        <a:srgbClr val="D96FAE"/>
                      </a:solidFill>
                      <a:prstDash val="solid"/>
                    </a:lnR>
                    <a:lnT w="30767">
                      <a:solidFill>
                        <a:srgbClr val="D96FAE"/>
                      </a:solidFill>
                      <a:prstDash val="solid"/>
                    </a:lnT>
                    <a:lnB w="30767">
                      <a:solidFill>
                        <a:srgbClr val="D96FA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6520B5"/>
                          </a:solidFill>
                        </a:rPr>
                        <a:t>Capacity Column</a:t>
                      </a:r>
                    </a:p>
                  </a:txBody>
                  <a:tcPr>
                    <a:solidFill>
                      <a:srgbClr val="B7F6D7"/>
                    </a:solidFill>
                    <a:lnL w="30767">
                      <a:solidFill>
                        <a:srgbClr val="D96FAE"/>
                      </a:solidFill>
                      <a:prstDash val="solid"/>
                    </a:lnL>
                    <a:lnR w="30767">
                      <a:solidFill>
                        <a:srgbClr val="D96FAE"/>
                      </a:solidFill>
                      <a:prstDash val="solid"/>
                    </a:lnR>
                    <a:lnT w="30767">
                      <a:solidFill>
                        <a:srgbClr val="D96FAE"/>
                      </a:solidFill>
                      <a:prstDash val="solid"/>
                    </a:lnT>
                    <a:lnB w="30767">
                      <a:solidFill>
                        <a:srgbClr val="D96FAE"/>
                      </a:solidFill>
                      <a:prstDash val="solid"/>
                    </a:lnB>
                  </a:tcPr>
                </a:tc>
              </a:tr>
              <a:tr h="167803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6520B5"/>
                          </a:solidFill>
                        </a:rPr>
                        <a:t>Pipeline Variant</a:t>
                      </a:r>
                    </a:p>
                  </a:txBody>
                  <a:tcPr>
                    <a:solidFill>
                      <a:srgbClr val="D6FAE8"/>
                    </a:solidFill>
                    <a:lnL w="30767">
                      <a:solidFill>
                        <a:srgbClr val="D96FAE"/>
                      </a:solidFill>
                      <a:prstDash val="solid"/>
                    </a:lnL>
                    <a:lnR w="30767">
                      <a:solidFill>
                        <a:srgbClr val="D96FAE"/>
                      </a:solidFill>
                      <a:prstDash val="solid"/>
                    </a:lnR>
                    <a:lnT w="30767">
                      <a:solidFill>
                        <a:srgbClr val="D96FAE"/>
                      </a:solidFill>
                      <a:prstDash val="solid"/>
                    </a:lnT>
                    <a:lnB w="30767">
                      <a:solidFill>
                        <a:srgbClr val="D96FA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6520B5"/>
                          </a:solidFill>
                        </a:rPr>
                        <a:t>Checkpoint Version</a:t>
                      </a:r>
                    </a:p>
                  </a:txBody>
                  <a:tcPr>
                    <a:solidFill>
                      <a:srgbClr val="D6FAE8"/>
                    </a:solidFill>
                    <a:lnL w="30767">
                      <a:solidFill>
                        <a:srgbClr val="D96FAE"/>
                      </a:solidFill>
                      <a:prstDash val="solid"/>
                    </a:lnL>
                    <a:lnR w="30767">
                      <a:solidFill>
                        <a:srgbClr val="D96FAE"/>
                      </a:solidFill>
                      <a:prstDash val="solid"/>
                    </a:lnR>
                    <a:lnT w="30767">
                      <a:solidFill>
                        <a:srgbClr val="D96FAE"/>
                      </a:solidFill>
                      <a:prstDash val="solid"/>
                    </a:lnT>
                    <a:lnB w="30767">
                      <a:solidFill>
                        <a:srgbClr val="D96FA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6520B5"/>
                          </a:solidFill>
                        </a:rPr>
                        <a:t>Workflow</a:t>
                      </a:r>
                    </a:p>
                  </a:txBody>
                  <a:tcPr>
                    <a:solidFill>
                      <a:srgbClr val="D6FAE8"/>
                    </a:solidFill>
                    <a:lnL w="30767">
                      <a:solidFill>
                        <a:srgbClr val="D96FAE"/>
                      </a:solidFill>
                      <a:prstDash val="solid"/>
                    </a:lnL>
                    <a:lnR w="30767">
                      <a:solidFill>
                        <a:srgbClr val="D96FAE"/>
                      </a:solidFill>
                      <a:prstDash val="solid"/>
                    </a:lnR>
                    <a:lnT w="30767">
                      <a:solidFill>
                        <a:srgbClr val="D96FAE"/>
                      </a:solidFill>
                      <a:prstDash val="solid"/>
                    </a:lnT>
                    <a:lnB w="30767">
                      <a:solidFill>
                        <a:srgbClr val="D96FA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6520B5"/>
                          </a:solidFill>
                        </a:rPr>
                        <a:t>Event Logic</a:t>
                      </a:r>
                    </a:p>
                  </a:txBody>
                  <a:tcPr>
                    <a:solidFill>
                      <a:srgbClr val="D6FAE8"/>
                    </a:solidFill>
                    <a:lnL w="30767">
                      <a:solidFill>
                        <a:srgbClr val="D96FAE"/>
                      </a:solidFill>
                      <a:prstDash val="solid"/>
                    </a:lnL>
                    <a:lnR w="30767">
                      <a:solidFill>
                        <a:srgbClr val="D96FAE"/>
                      </a:solidFill>
                      <a:prstDash val="solid"/>
                    </a:lnR>
                    <a:lnT w="30767">
                      <a:solidFill>
                        <a:srgbClr val="D96FAE"/>
                      </a:solidFill>
                      <a:prstDash val="solid"/>
                    </a:lnT>
                    <a:lnB w="30767">
                      <a:solidFill>
                        <a:srgbClr val="D96FA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6520B5"/>
                          </a:solidFill>
                        </a:rPr>
                        <a:t>System Stack</a:t>
                      </a:r>
                    </a:p>
                  </a:txBody>
                  <a:tcPr>
                    <a:solidFill>
                      <a:srgbClr val="D6FAE8"/>
                    </a:solidFill>
                    <a:lnL w="30767">
                      <a:solidFill>
                        <a:srgbClr val="D96FAE"/>
                      </a:solidFill>
                      <a:prstDash val="solid"/>
                    </a:lnL>
                    <a:lnR w="30767">
                      <a:solidFill>
                        <a:srgbClr val="D96FAE"/>
                      </a:solidFill>
                      <a:prstDash val="solid"/>
                    </a:lnR>
                    <a:lnT w="30767">
                      <a:solidFill>
                        <a:srgbClr val="D96FAE"/>
                      </a:solidFill>
                      <a:prstDash val="solid"/>
                    </a:lnT>
                    <a:lnB w="30767">
                      <a:solidFill>
                        <a:srgbClr val="D96FAE"/>
                      </a:solidFill>
                      <a:prstDash val="solid"/>
                    </a:lnB>
                  </a:tcPr>
                </a:tc>
              </a:tr>
              <a:tr h="167803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6520B5"/>
                          </a:solidFill>
                        </a:rPr>
                        <a:t>Checkpoint</a:t>
                      </a:r>
                    </a:p>
                  </a:txBody>
                  <a:tcPr>
                    <a:solidFill>
                      <a:srgbClr val="B7F6D7"/>
                    </a:solidFill>
                    <a:lnL w="30767">
                      <a:solidFill>
                        <a:srgbClr val="D96FAE"/>
                      </a:solidFill>
                      <a:prstDash val="solid"/>
                    </a:lnL>
                    <a:lnR w="30767">
                      <a:solidFill>
                        <a:srgbClr val="D96FAE"/>
                      </a:solidFill>
                      <a:prstDash val="solid"/>
                    </a:lnR>
                    <a:lnT w="30767">
                      <a:solidFill>
                        <a:srgbClr val="D96FAE"/>
                      </a:solidFill>
                      <a:prstDash val="solid"/>
                    </a:lnT>
                    <a:lnB w="30767">
                      <a:solidFill>
                        <a:srgbClr val="D96FA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6520B5"/>
                          </a:solidFill>
                        </a:rPr>
                        <a:t>Layer Variant</a:t>
                      </a:r>
                    </a:p>
                  </a:txBody>
                  <a:tcPr>
                    <a:solidFill>
                      <a:srgbClr val="B7F6D7"/>
                    </a:solidFill>
                    <a:lnL w="30767">
                      <a:solidFill>
                        <a:srgbClr val="D96FAE"/>
                      </a:solidFill>
                      <a:prstDash val="solid"/>
                    </a:lnL>
                    <a:lnR w="30767">
                      <a:solidFill>
                        <a:srgbClr val="D96FAE"/>
                      </a:solidFill>
                      <a:prstDash val="solid"/>
                    </a:lnR>
                    <a:lnT w="30767">
                      <a:solidFill>
                        <a:srgbClr val="D96FAE"/>
                      </a:solidFill>
                      <a:prstDash val="solid"/>
                    </a:lnT>
                    <a:lnB w="30767">
                      <a:solidFill>
                        <a:srgbClr val="D96FA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6520B5"/>
                          </a:solidFill>
                        </a:rPr>
                        <a:t>Scale Thread</a:t>
                      </a:r>
                    </a:p>
                  </a:txBody>
                  <a:tcPr>
                    <a:solidFill>
                      <a:srgbClr val="B7F6D7"/>
                    </a:solidFill>
                    <a:lnL w="30767">
                      <a:solidFill>
                        <a:srgbClr val="D96FAE"/>
                      </a:solidFill>
                      <a:prstDash val="solid"/>
                    </a:lnL>
                    <a:lnR w="30767">
                      <a:solidFill>
                        <a:srgbClr val="D96FAE"/>
                      </a:solidFill>
                      <a:prstDash val="solid"/>
                    </a:lnR>
                    <a:lnT w="30767">
                      <a:solidFill>
                        <a:srgbClr val="D96FAE"/>
                      </a:solidFill>
                      <a:prstDash val="solid"/>
                    </a:lnT>
                    <a:lnB w="30767">
                      <a:solidFill>
                        <a:srgbClr val="D96FA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6520B5"/>
                          </a:solidFill>
                        </a:rPr>
                        <a:t>Lens Source</a:t>
                      </a:r>
                    </a:p>
                  </a:txBody>
                  <a:tcPr>
                    <a:solidFill>
                      <a:srgbClr val="B7F6D7"/>
                    </a:solidFill>
                    <a:lnL w="30767">
                      <a:solidFill>
                        <a:srgbClr val="D96FAE"/>
                      </a:solidFill>
                      <a:prstDash val="solid"/>
                    </a:lnL>
                    <a:lnR w="30767">
                      <a:solidFill>
                        <a:srgbClr val="D96FAE"/>
                      </a:solidFill>
                      <a:prstDash val="solid"/>
                    </a:lnR>
                    <a:lnT w="30767">
                      <a:solidFill>
                        <a:srgbClr val="D96FAE"/>
                      </a:solidFill>
                      <a:prstDash val="solid"/>
                    </a:lnT>
                    <a:lnB w="30767">
                      <a:solidFill>
                        <a:srgbClr val="D96FA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6520B5"/>
                          </a:solidFill>
                        </a:rPr>
                        <a:t>Logic Matrix</a:t>
                      </a:r>
                    </a:p>
                  </a:txBody>
                  <a:tcPr>
                    <a:solidFill>
                      <a:srgbClr val="B7F6D7"/>
                    </a:solidFill>
                    <a:lnL w="30767">
                      <a:solidFill>
                        <a:srgbClr val="D96FAE"/>
                      </a:solidFill>
                      <a:prstDash val="solid"/>
                    </a:lnL>
                    <a:lnR w="30767">
                      <a:solidFill>
                        <a:srgbClr val="D96FAE"/>
                      </a:solidFill>
                      <a:prstDash val="solid"/>
                    </a:lnR>
                    <a:lnT w="30767">
                      <a:solidFill>
                        <a:srgbClr val="D96FAE"/>
                      </a:solidFill>
                      <a:prstDash val="solid"/>
                    </a:lnT>
                    <a:lnB w="30767">
                      <a:solidFill>
                        <a:srgbClr val="D96FAE"/>
                      </a:solidFill>
                      <a:prstDash val="solid"/>
                    </a:lnB>
                  </a:tcPr>
                </a:tc>
              </a:tr>
              <a:tr h="167803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6520B5"/>
                          </a:solidFill>
                        </a:rPr>
                        <a:t>Method</a:t>
                      </a:r>
                    </a:p>
                  </a:txBody>
                  <a:tcPr>
                    <a:solidFill>
                      <a:srgbClr val="D6FAE8"/>
                    </a:solidFill>
                    <a:lnL w="30767">
                      <a:solidFill>
                        <a:srgbClr val="D96FAE"/>
                      </a:solidFill>
                      <a:prstDash val="solid"/>
                    </a:lnL>
                    <a:lnR w="30767">
                      <a:solidFill>
                        <a:srgbClr val="D96FAE"/>
                      </a:solidFill>
                      <a:prstDash val="solid"/>
                    </a:lnR>
                    <a:lnT w="30767">
                      <a:solidFill>
                        <a:srgbClr val="D96FAE"/>
                      </a:solidFill>
                      <a:prstDash val="solid"/>
                    </a:lnT>
                    <a:lnB w="30767">
                      <a:solidFill>
                        <a:srgbClr val="D96FA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6520B5"/>
                          </a:solidFill>
                        </a:rPr>
                        <a:t>Runtime Object</a:t>
                      </a:r>
                    </a:p>
                  </a:txBody>
                  <a:tcPr>
                    <a:solidFill>
                      <a:srgbClr val="D6FAE8"/>
                    </a:solidFill>
                    <a:lnL w="30767">
                      <a:solidFill>
                        <a:srgbClr val="D96FAE"/>
                      </a:solidFill>
                      <a:prstDash val="solid"/>
                    </a:lnL>
                    <a:lnR w="30767">
                      <a:solidFill>
                        <a:srgbClr val="D96FAE"/>
                      </a:solidFill>
                      <a:prstDash val="solid"/>
                    </a:lnR>
                    <a:lnT w="30767">
                      <a:solidFill>
                        <a:srgbClr val="D96FAE"/>
                      </a:solidFill>
                      <a:prstDash val="solid"/>
                    </a:lnT>
                    <a:lnB w="30767">
                      <a:solidFill>
                        <a:srgbClr val="D96FA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6520B5"/>
                          </a:solidFill>
                        </a:rPr>
                        <a:t>Grid</a:t>
                      </a:r>
                    </a:p>
                  </a:txBody>
                  <a:tcPr>
                    <a:solidFill>
                      <a:srgbClr val="D6FAE8"/>
                    </a:solidFill>
                    <a:lnL w="30767">
                      <a:solidFill>
                        <a:srgbClr val="D96FAE"/>
                      </a:solidFill>
                      <a:prstDash val="solid"/>
                    </a:lnL>
                    <a:lnR w="30767">
                      <a:solidFill>
                        <a:srgbClr val="D96FAE"/>
                      </a:solidFill>
                      <a:prstDash val="solid"/>
                    </a:lnR>
                    <a:lnT w="30767">
                      <a:solidFill>
                        <a:srgbClr val="D96FAE"/>
                      </a:solidFill>
                      <a:prstDash val="solid"/>
                    </a:lnT>
                    <a:lnB w="30767">
                      <a:solidFill>
                        <a:srgbClr val="D96FA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6520B5"/>
                          </a:solidFill>
                        </a:rPr>
                        <a:t>Dispatch Signal</a:t>
                      </a:r>
                    </a:p>
                  </a:txBody>
                  <a:tcPr>
                    <a:solidFill>
                      <a:srgbClr val="D6FAE8"/>
                    </a:solidFill>
                    <a:lnL w="30767">
                      <a:solidFill>
                        <a:srgbClr val="D96FAE"/>
                      </a:solidFill>
                      <a:prstDash val="solid"/>
                    </a:lnL>
                    <a:lnR w="30767">
                      <a:solidFill>
                        <a:srgbClr val="D96FAE"/>
                      </a:solidFill>
                      <a:prstDash val="solid"/>
                    </a:lnR>
                    <a:lnT w="30767">
                      <a:solidFill>
                        <a:srgbClr val="D96FAE"/>
                      </a:solidFill>
                      <a:prstDash val="solid"/>
                    </a:lnT>
                    <a:lnB w="30767">
                      <a:solidFill>
                        <a:srgbClr val="D96FA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6520B5"/>
                          </a:solidFill>
                        </a:rPr>
                        <a:t>Draft</a:t>
                      </a:r>
                    </a:p>
                  </a:txBody>
                  <a:tcPr>
                    <a:solidFill>
                      <a:srgbClr val="D6FAE8"/>
                    </a:solidFill>
                    <a:lnL w="30767">
                      <a:solidFill>
                        <a:srgbClr val="D96FAE"/>
                      </a:solidFill>
                      <a:prstDash val="solid"/>
                    </a:lnL>
                    <a:lnR w="30767">
                      <a:solidFill>
                        <a:srgbClr val="D96FAE"/>
                      </a:solidFill>
                      <a:prstDash val="solid"/>
                    </a:lnR>
                    <a:lnT w="30767">
                      <a:solidFill>
                        <a:srgbClr val="D96FAE"/>
                      </a:solidFill>
                      <a:prstDash val="solid"/>
                    </a:lnT>
                    <a:lnB w="30767">
                      <a:solidFill>
                        <a:srgbClr val="D96FAE"/>
                      </a:solidFill>
                      <a:prstDash val="solid"/>
                    </a:lnB>
                  </a:tcPr>
                </a:tc>
              </a:tr>
              <a:tr h="167807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6520B5"/>
                          </a:solidFill>
                        </a:rPr>
                        <a:t>View</a:t>
                      </a:r>
                    </a:p>
                  </a:txBody>
                  <a:tcPr>
                    <a:solidFill>
                      <a:srgbClr val="B7F6D7"/>
                    </a:solidFill>
                    <a:lnL w="30767">
                      <a:solidFill>
                        <a:srgbClr val="D96FAE"/>
                      </a:solidFill>
                      <a:prstDash val="solid"/>
                    </a:lnL>
                    <a:lnR w="30767">
                      <a:solidFill>
                        <a:srgbClr val="D96FAE"/>
                      </a:solidFill>
                      <a:prstDash val="solid"/>
                    </a:lnR>
                    <a:lnT w="30767">
                      <a:solidFill>
                        <a:srgbClr val="D96FAE"/>
                      </a:solidFill>
                      <a:prstDash val="solid"/>
                    </a:lnT>
                    <a:lnB w="30767">
                      <a:solidFill>
                        <a:srgbClr val="D96FA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6520B5"/>
                          </a:solidFill>
                        </a:rPr>
                        <a:t>Diagram Function</a:t>
                      </a:r>
                    </a:p>
                  </a:txBody>
                  <a:tcPr>
                    <a:solidFill>
                      <a:srgbClr val="B7F6D7"/>
                    </a:solidFill>
                    <a:lnL w="30767">
                      <a:solidFill>
                        <a:srgbClr val="D96FAE"/>
                      </a:solidFill>
                      <a:prstDash val="solid"/>
                    </a:lnL>
                    <a:lnR w="30767">
                      <a:solidFill>
                        <a:srgbClr val="D96FAE"/>
                      </a:solidFill>
                      <a:prstDash val="solid"/>
                    </a:lnR>
                    <a:lnT w="30767">
                      <a:solidFill>
                        <a:srgbClr val="D96FAE"/>
                      </a:solidFill>
                      <a:prstDash val="solid"/>
                    </a:lnT>
                    <a:lnB w="30767">
                      <a:solidFill>
                        <a:srgbClr val="D96FA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6520B5"/>
                          </a:solidFill>
                        </a:rPr>
                        <a:t>Point Drift</a:t>
                      </a:r>
                    </a:p>
                  </a:txBody>
                  <a:tcPr>
                    <a:solidFill>
                      <a:srgbClr val="B7F6D7"/>
                    </a:solidFill>
                    <a:lnL w="30767">
                      <a:solidFill>
                        <a:srgbClr val="D96FAE"/>
                      </a:solidFill>
                      <a:prstDash val="solid"/>
                    </a:lnL>
                    <a:lnR w="30767">
                      <a:solidFill>
                        <a:srgbClr val="D96FAE"/>
                      </a:solidFill>
                      <a:prstDash val="solid"/>
                    </a:lnR>
                    <a:lnT w="30767">
                      <a:solidFill>
                        <a:srgbClr val="D96FAE"/>
                      </a:solidFill>
                      <a:prstDash val="solid"/>
                    </a:lnT>
                    <a:lnB w="30767">
                      <a:solidFill>
                        <a:srgbClr val="D96FA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6520B5"/>
                          </a:solidFill>
                        </a:rPr>
                        <a:t>Concept</a:t>
                      </a:r>
                    </a:p>
                  </a:txBody>
                  <a:tcPr>
                    <a:solidFill>
                      <a:srgbClr val="B7F6D7"/>
                    </a:solidFill>
                    <a:lnL w="30767">
                      <a:solidFill>
                        <a:srgbClr val="D96FAE"/>
                      </a:solidFill>
                      <a:prstDash val="solid"/>
                    </a:lnL>
                    <a:lnR w="30767">
                      <a:solidFill>
                        <a:srgbClr val="D96FAE"/>
                      </a:solidFill>
                      <a:prstDash val="solid"/>
                    </a:lnR>
                    <a:lnT w="30767">
                      <a:solidFill>
                        <a:srgbClr val="D96FAE"/>
                      </a:solidFill>
                      <a:prstDash val="solid"/>
                    </a:lnT>
                    <a:lnB w="30767">
                      <a:solidFill>
                        <a:srgbClr val="D96FA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6520B5"/>
                          </a:solidFill>
                        </a:rPr>
                        <a:t>Atlas Inventory</a:t>
                      </a:r>
                    </a:p>
                  </a:txBody>
                  <a:tcPr>
                    <a:solidFill>
                      <a:srgbClr val="B7F6D7"/>
                    </a:solidFill>
                    <a:lnL w="30767">
                      <a:solidFill>
                        <a:srgbClr val="D96FAE"/>
                      </a:solidFill>
                      <a:prstDash val="solid"/>
                    </a:lnL>
                    <a:lnR w="30767">
                      <a:solidFill>
                        <a:srgbClr val="D96FAE"/>
                      </a:solidFill>
                      <a:prstDash val="solid"/>
                    </a:lnR>
                    <a:lnT w="30767">
                      <a:solidFill>
                        <a:srgbClr val="D96FAE"/>
                      </a:solidFill>
                      <a:prstDash val="solid"/>
                    </a:lnT>
                    <a:lnB w="30767">
                      <a:solidFill>
                        <a:srgbClr val="D96FAE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7359012" y="3987591"/>
            <a:ext cx="1091002" cy="988522"/>
          </a:xfrm>
          <a:prstGeom prst="rect">
            <a:avLst/>
          </a:prstGeom>
          <a:noFill/>
        </p:spPr>
        <p:txBody>
          <a:bodyPr wrap="none" lIns="53814" rIns="53814" tIns="53814" bIns="53814">
            <a:spAutoFit/>
          </a:bodyPr>
          <a:lstStyle/>
          <a:p>
            <a:r>
              <a:rPr sz="1900" b="0" i="0" u="none">
                <a:solidFill>
                  <a:srgbClr val="8823D4"/>
                </a:solidFill>
                <a:latin typeface="Georgia"/>
              </a:rPr>
              <a:t>Segment Timeline Stream Asset Baseline Signal Circuit Stage Topology Collection Layer Packet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47746" y="3572067"/>
            <a:ext cx="3851490" cy="1023885"/>
          </a:xfrm>
          <a:prstGeom prst="rect">
            <a:avLst/>
          </a:prstGeom>
          <a:noFill/>
        </p:spPr>
        <p:txBody>
          <a:bodyPr wrap="none" lIns="53726" rIns="53726" tIns="53726" bIns="53726">
            <a:spAutoFit/>
          </a:bodyPr>
          <a:lstStyle/>
          <a:p>
            <a:r>
              <a:rPr sz="1000" b="0" i="0" u="none">
                <a:solidFill>
                  <a:srgbClr val="B91E56"/>
                </a:solidFill>
                <a:latin typeface="Aptos"/>
              </a:rPr>
              <a:t>Balance Topology View</a:t>
            </a:r>
          </a:p>
        </p:txBody>
      </p:sp>
      <p:pic>
        <p:nvPicPr>
          <p:cNvPr id="5" name="Picture 4" descr="_example_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6092" y="5636623"/>
            <a:ext cx="2490723" cy="999046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32317" y="1725958"/>
          <a:ext cx="2092627" cy="1412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8771"/>
                <a:gridCol w="348771"/>
                <a:gridCol w="348771"/>
                <a:gridCol w="348771"/>
                <a:gridCol w="348771"/>
                <a:gridCol w="348772"/>
              </a:tblGrid>
              <a:tr h="70615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C71B3F"/>
                          </a:solidFill>
                        </a:rPr>
                        <a:t>Loop Tile</a:t>
                      </a:r>
                    </a:p>
                  </a:txBody>
                  <a:tcPr>
                    <a:solidFill>
                      <a:srgbClr val="F3F4F8"/>
                    </a:solidFill>
                    <a:lnL w="33936">
                      <a:solidFill>
                        <a:srgbClr val="99DCAF"/>
                      </a:solidFill>
                      <a:prstDash val="dash"/>
                    </a:lnL>
                    <a:lnR w="33936">
                      <a:solidFill>
                        <a:srgbClr val="99DCAF"/>
                      </a:solidFill>
                      <a:prstDash val="dash"/>
                    </a:lnR>
                    <a:lnT w="33936">
                      <a:solidFill>
                        <a:srgbClr val="99DCAF"/>
                      </a:solidFill>
                      <a:prstDash val="dash"/>
                    </a:lnT>
                    <a:lnB w="33936">
                      <a:solidFill>
                        <a:srgbClr val="99DCAF"/>
                      </a:solidFill>
                      <a:prstDash val="dash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C71B3F"/>
                          </a:solidFill>
                        </a:rPr>
                        <a:t>Beacon Texture</a:t>
                      </a:r>
                    </a:p>
                  </a:txBody>
                  <a:tcPr>
                    <a:solidFill>
                      <a:srgbClr val="D7DCEA"/>
                    </a:solidFill>
                    <a:lnL w="33936">
                      <a:solidFill>
                        <a:srgbClr val="99DCAF"/>
                      </a:solidFill>
                      <a:prstDash val="dash"/>
                    </a:lnL>
                    <a:lnR w="33936">
                      <a:solidFill>
                        <a:srgbClr val="99DCAF"/>
                      </a:solidFill>
                      <a:prstDash val="dash"/>
                    </a:lnR>
                    <a:lnT w="33936">
                      <a:solidFill>
                        <a:srgbClr val="99DCAF"/>
                      </a:solidFill>
                      <a:prstDash val="dash"/>
                    </a:lnT>
                    <a:lnB w="33936">
                      <a:solidFill>
                        <a:srgbClr val="99DCAF"/>
                      </a:solidFill>
                      <a:prstDash val="dash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C71B3F"/>
                          </a:solidFill>
                        </a:rPr>
                        <a:t>Center</a:t>
                      </a:r>
                    </a:p>
                  </a:txBody>
                  <a:tcPr>
                    <a:solidFill>
                      <a:srgbClr val="F3F4F8"/>
                    </a:solidFill>
                    <a:lnL w="33936">
                      <a:solidFill>
                        <a:srgbClr val="99DCAF"/>
                      </a:solidFill>
                      <a:prstDash val="dash"/>
                    </a:lnL>
                    <a:lnR w="33936">
                      <a:solidFill>
                        <a:srgbClr val="99DCAF"/>
                      </a:solidFill>
                      <a:prstDash val="dash"/>
                    </a:lnR>
                    <a:lnT w="33936">
                      <a:solidFill>
                        <a:srgbClr val="99DCAF"/>
                      </a:solidFill>
                      <a:prstDash val="dash"/>
                    </a:lnT>
                    <a:lnB w="33936">
                      <a:solidFill>
                        <a:srgbClr val="99DCAF"/>
                      </a:solidFill>
                      <a:prstDash val="dash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C71B3F"/>
                          </a:solidFill>
                        </a:rPr>
                        <a:t>Viewport</a:t>
                      </a:r>
                    </a:p>
                  </a:txBody>
                  <a:tcPr>
                    <a:solidFill>
                      <a:srgbClr val="D7DCEA"/>
                    </a:solidFill>
                    <a:lnL w="33936">
                      <a:solidFill>
                        <a:srgbClr val="99DCAF"/>
                      </a:solidFill>
                      <a:prstDash val="dash"/>
                    </a:lnL>
                    <a:lnR w="33936">
                      <a:solidFill>
                        <a:srgbClr val="99DCAF"/>
                      </a:solidFill>
                      <a:prstDash val="dash"/>
                    </a:lnR>
                    <a:lnT w="33936">
                      <a:solidFill>
                        <a:srgbClr val="99DCAF"/>
                      </a:solidFill>
                      <a:prstDash val="dash"/>
                    </a:lnT>
                    <a:lnB w="33936">
                      <a:solidFill>
                        <a:srgbClr val="99DCAF"/>
                      </a:solidFill>
                      <a:prstDash val="dash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C71B3F"/>
                          </a:solidFill>
                        </a:rPr>
                        <a:t>Network</a:t>
                      </a:r>
                    </a:p>
                  </a:txBody>
                  <a:tcPr>
                    <a:solidFill>
                      <a:srgbClr val="F3F4F8"/>
                    </a:solidFill>
                    <a:lnL w="33936">
                      <a:solidFill>
                        <a:srgbClr val="99DCAF"/>
                      </a:solidFill>
                      <a:prstDash val="dash"/>
                    </a:lnL>
                    <a:lnR w="33936">
                      <a:solidFill>
                        <a:srgbClr val="99DCAF"/>
                      </a:solidFill>
                      <a:prstDash val="dash"/>
                    </a:lnR>
                    <a:lnT w="33936">
                      <a:solidFill>
                        <a:srgbClr val="99DCAF"/>
                      </a:solidFill>
                      <a:prstDash val="dash"/>
                    </a:lnT>
                    <a:lnB w="33936">
                      <a:solidFill>
                        <a:srgbClr val="99DCAF"/>
                      </a:solidFill>
                      <a:prstDash val="dash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C71B3F"/>
                          </a:solidFill>
                        </a:rPr>
                        <a:t>Filter Concept</a:t>
                      </a:r>
                    </a:p>
                  </a:txBody>
                  <a:tcPr>
                    <a:solidFill>
                      <a:srgbClr val="D7DCEA"/>
                    </a:solidFill>
                    <a:lnL w="33936">
                      <a:solidFill>
                        <a:srgbClr val="99DCAF"/>
                      </a:solidFill>
                      <a:prstDash val="dash"/>
                    </a:lnL>
                    <a:lnR w="33936">
                      <a:solidFill>
                        <a:srgbClr val="99DCAF"/>
                      </a:solidFill>
                      <a:prstDash val="dash"/>
                    </a:lnR>
                    <a:lnT w="33936">
                      <a:solidFill>
                        <a:srgbClr val="99DCAF"/>
                      </a:solidFill>
                      <a:prstDash val="dash"/>
                    </a:lnT>
                    <a:lnB w="33936">
                      <a:solidFill>
                        <a:srgbClr val="99DCAF"/>
                      </a:solidFill>
                      <a:prstDash val="dash"/>
                    </a:lnB>
                  </a:tcPr>
                </a:tc>
              </a:tr>
              <a:tr h="70615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C71B3F"/>
                          </a:solidFill>
                        </a:rPr>
                        <a:t>Gateway</a:t>
                      </a:r>
                    </a:p>
                  </a:txBody>
                  <a:tcPr>
                    <a:solidFill>
                      <a:srgbClr val="F3F4F8"/>
                    </a:solidFill>
                    <a:lnL w="33936">
                      <a:solidFill>
                        <a:srgbClr val="99DCAF"/>
                      </a:solidFill>
                      <a:prstDash val="dash"/>
                    </a:lnL>
                    <a:lnR w="33936">
                      <a:solidFill>
                        <a:srgbClr val="99DCAF"/>
                      </a:solidFill>
                      <a:prstDash val="dash"/>
                    </a:lnR>
                    <a:lnT w="33936">
                      <a:solidFill>
                        <a:srgbClr val="99DCAF"/>
                      </a:solidFill>
                      <a:prstDash val="dash"/>
                    </a:lnT>
                    <a:lnB w="33936">
                      <a:solidFill>
                        <a:srgbClr val="99DCAF"/>
                      </a:solidFill>
                      <a:prstDash val="dash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C71B3F"/>
                          </a:solidFill>
                        </a:rPr>
                        <a:t>Path Concept</a:t>
                      </a:r>
                    </a:p>
                  </a:txBody>
                  <a:tcPr>
                    <a:solidFill>
                      <a:srgbClr val="D7DCEA"/>
                    </a:solidFill>
                    <a:lnL w="33936">
                      <a:solidFill>
                        <a:srgbClr val="99DCAF"/>
                      </a:solidFill>
                      <a:prstDash val="dash"/>
                    </a:lnL>
                    <a:lnR w="33936">
                      <a:solidFill>
                        <a:srgbClr val="99DCAF"/>
                      </a:solidFill>
                      <a:prstDash val="dash"/>
                    </a:lnR>
                    <a:lnT w="33936">
                      <a:solidFill>
                        <a:srgbClr val="99DCAF"/>
                      </a:solidFill>
                      <a:prstDash val="dash"/>
                    </a:lnT>
                    <a:lnB w="33936">
                      <a:solidFill>
                        <a:srgbClr val="99DCAF"/>
                      </a:solidFill>
                      <a:prstDash val="dash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C71B3F"/>
                          </a:solidFill>
                        </a:rPr>
                        <a:t>Queueing</a:t>
                      </a:r>
                    </a:p>
                  </a:txBody>
                  <a:tcPr>
                    <a:solidFill>
                      <a:srgbClr val="F3F4F8"/>
                    </a:solidFill>
                    <a:lnL w="33936">
                      <a:solidFill>
                        <a:srgbClr val="99DCAF"/>
                      </a:solidFill>
                      <a:prstDash val="dash"/>
                    </a:lnL>
                    <a:lnR w="33936">
                      <a:solidFill>
                        <a:srgbClr val="99DCAF"/>
                      </a:solidFill>
                      <a:prstDash val="dash"/>
                    </a:lnR>
                    <a:lnT w="33936">
                      <a:solidFill>
                        <a:srgbClr val="99DCAF"/>
                      </a:solidFill>
                      <a:prstDash val="dash"/>
                    </a:lnT>
                    <a:lnB w="33936">
                      <a:solidFill>
                        <a:srgbClr val="99DCAF"/>
                      </a:solidFill>
                      <a:prstDash val="dash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C71B3F"/>
                          </a:solidFill>
                        </a:rPr>
                        <a:t>Origin</a:t>
                      </a:r>
                    </a:p>
                  </a:txBody>
                  <a:tcPr>
                    <a:solidFill>
                      <a:srgbClr val="D7DCEA"/>
                    </a:solidFill>
                    <a:lnL w="33936">
                      <a:solidFill>
                        <a:srgbClr val="99DCAF"/>
                      </a:solidFill>
                      <a:prstDash val="dash"/>
                    </a:lnL>
                    <a:lnR w="33936">
                      <a:solidFill>
                        <a:srgbClr val="99DCAF"/>
                      </a:solidFill>
                      <a:prstDash val="dash"/>
                    </a:lnR>
                    <a:lnT w="33936">
                      <a:solidFill>
                        <a:srgbClr val="99DCAF"/>
                      </a:solidFill>
                      <a:prstDash val="dash"/>
                    </a:lnT>
                    <a:lnB w="33936">
                      <a:solidFill>
                        <a:srgbClr val="99DCAF"/>
                      </a:solidFill>
                      <a:prstDash val="dash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C71B3F"/>
                          </a:solidFill>
                        </a:rPr>
                        <a:t>Release</a:t>
                      </a:r>
                    </a:p>
                  </a:txBody>
                  <a:tcPr>
                    <a:solidFill>
                      <a:srgbClr val="F3F4F8"/>
                    </a:solidFill>
                    <a:lnL w="33936">
                      <a:solidFill>
                        <a:srgbClr val="99DCAF"/>
                      </a:solidFill>
                      <a:prstDash val="dash"/>
                    </a:lnL>
                    <a:lnR w="33936">
                      <a:solidFill>
                        <a:srgbClr val="99DCAF"/>
                      </a:solidFill>
                      <a:prstDash val="dash"/>
                    </a:lnR>
                    <a:lnT w="33936">
                      <a:solidFill>
                        <a:srgbClr val="99DCAF"/>
                      </a:solidFill>
                      <a:prstDash val="dash"/>
                    </a:lnT>
                    <a:lnB w="33936">
                      <a:solidFill>
                        <a:srgbClr val="99DCAF"/>
                      </a:solidFill>
                      <a:prstDash val="dash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C71B3F"/>
                          </a:solidFill>
                        </a:rPr>
                        <a:t>Catalog</a:t>
                      </a:r>
                    </a:p>
                  </a:txBody>
                  <a:tcPr>
                    <a:solidFill>
                      <a:srgbClr val="D7DCEA"/>
                    </a:solidFill>
                    <a:lnL w="33936">
                      <a:solidFill>
                        <a:srgbClr val="99DCAF"/>
                      </a:solidFill>
                      <a:prstDash val="dash"/>
                    </a:lnL>
                    <a:lnR w="33936">
                      <a:solidFill>
                        <a:srgbClr val="99DCAF"/>
                      </a:solidFill>
                      <a:prstDash val="dash"/>
                    </a:lnR>
                    <a:lnT w="33936">
                      <a:solidFill>
                        <a:srgbClr val="99DCAF"/>
                      </a:solidFill>
                      <a:prstDash val="dash"/>
                    </a:lnT>
                    <a:lnB w="33936">
                      <a:solidFill>
                        <a:srgbClr val="99DCAF"/>
                      </a:solidFill>
                      <a:prstDash val="dash"/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480435" y="1145946"/>
            <a:ext cx="2252384" cy="428721"/>
          </a:xfrm>
          <a:prstGeom prst="rect">
            <a:avLst/>
          </a:prstGeom>
          <a:noFill/>
        </p:spPr>
        <p:txBody>
          <a:bodyPr wrap="none" lIns="74221" rIns="74221" tIns="74221" bIns="74221">
            <a:spAutoFit/>
          </a:bodyPr>
          <a:lstStyle/>
          <a:p>
            <a:r>
              <a:rPr sz="1700" b="1" i="0" u="none">
                <a:solidFill>
                  <a:srgbClr val="91BC30"/>
                </a:solidFill>
                <a:latin typeface="Georgia"/>
              </a:rPr>
              <a:t>Path Event Frame Device Analysis Horizon Flow Sequence Array Source</a:t>
            </a:r>
          </a:p>
        </p:txBody>
      </p:sp>
      <p:sp>
        <p:nvSpPr>
          <p:cNvPr id="8" name="&quot;No&quot; Symbol 7"/>
          <p:cNvSpPr/>
          <p:nvPr/>
        </p:nvSpPr>
        <p:spPr>
          <a:xfrm>
            <a:off x="8270418" y="2053991"/>
            <a:ext cx="2630785" cy="238197"/>
          </a:xfrm>
          <a:prstGeom prst="noSmoking">
            <a:avLst/>
          </a:prstGeom>
          <a:solidFill>
            <a:srgbClr val="467370"/>
          </a:solidFill>
          <a:ln w="29943">
            <a:solidFill>
              <a:srgbClr val="8F303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_example_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09014" y="4194050"/>
            <a:ext cx="1470502" cy="144593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737825" y="1611221"/>
            <a:ext cx="3348939" cy="874806"/>
          </a:xfrm>
          <a:prstGeom prst="rect">
            <a:avLst/>
          </a:prstGeom>
          <a:solidFill>
            <a:srgbClr val="4E797E"/>
          </a:solidFill>
        </p:spPr>
        <p:txBody>
          <a:bodyPr wrap="none" lIns="77439" rIns="77439" tIns="77439" bIns="77439">
            <a:spAutoFit/>
          </a:bodyPr>
          <a:lstStyle/>
          <a:p>
            <a:r>
              <a:rPr sz="1100" b="0" i="0" u="none">
                <a:solidFill>
                  <a:srgbClr val="E04DCA"/>
                </a:solidFill>
                <a:latin typeface="Trebuchet MS"/>
              </a:rPr>
              <a:t>Alignment Gateway Cadence Draft Context Profile Direction Trend Route Summary Region Queue Diagram Map Summary Build Dispatch Point Command Ratio Option Coverage Table Plan Alignment Graph Station Query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29089" y="3788725"/>
            <a:ext cx="418084" cy="1091654"/>
          </a:xfrm>
          <a:prstGeom prst="roundRect">
            <a:avLst/>
          </a:prstGeom>
          <a:noFill/>
          <a:ln w="17007">
            <a:solidFill>
              <a:srgbClr val="69CDD2"/>
            </a:solidFill>
            <a:prstDash val="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Notched Right Arrow 11"/>
          <p:cNvSpPr/>
          <p:nvPr/>
        </p:nvSpPr>
        <p:spPr>
          <a:xfrm>
            <a:off x="449138" y="3198572"/>
            <a:ext cx="994113" cy="805707"/>
          </a:xfrm>
          <a:prstGeom prst="notchedRightArrow">
            <a:avLst/>
          </a:prstGeom>
          <a:solidFill>
            <a:srgbClr val="669390"/>
          </a:solidFill>
          <a:ln w="24860">
            <a:solidFill>
              <a:srgbClr val="2B358F"/>
            </a:solidFill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9719" y="5746598"/>
            <a:ext cx="4571223" cy="820306"/>
          </a:xfrm>
          <a:prstGeom prst="rect">
            <a:avLst/>
          </a:prstGeom>
          <a:noFill/>
        </p:spPr>
        <p:txBody>
          <a:bodyPr wrap="none" lIns="33367" rIns="33367" tIns="33367" bIns="33367">
            <a:spAutoFit/>
          </a:bodyPr>
          <a:lstStyle/>
          <a:p>
            <a:r>
              <a:rPr sz="900" b="1" i="0" u="none">
                <a:solidFill>
                  <a:srgbClr val="1B9C63"/>
                </a:solidFill>
                <a:latin typeface="Trebuchet MS"/>
              </a:rPr>
              <a:t>Analysis Horizon Grid Draft State Needle Zone</a:t>
            </a:r>
          </a:p>
        </p:txBody>
      </p:sp>
      <p:sp>
        <p:nvSpPr>
          <p:cNvPr id="14" name="Rectangular Callout 13"/>
          <p:cNvSpPr/>
          <p:nvPr/>
        </p:nvSpPr>
        <p:spPr>
          <a:xfrm>
            <a:off x="6426809" y="1586709"/>
            <a:ext cx="464698" cy="402317"/>
          </a:xfrm>
          <a:prstGeom prst="wedgeRectCallout">
            <a:avLst/>
          </a:prstGeom>
          <a:solidFill>
            <a:srgbClr val="C874B9"/>
          </a:solidFill>
          <a:ln w="25406">
            <a:solidFill>
              <a:srgbClr val="9E1F85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un 14"/>
          <p:cNvSpPr/>
          <p:nvPr/>
        </p:nvSpPr>
        <p:spPr>
          <a:xfrm>
            <a:off x="10682669" y="4725372"/>
            <a:ext cx="1208602" cy="564725"/>
          </a:xfrm>
          <a:prstGeom prst="sun">
            <a:avLst/>
          </a:prstGeom>
          <a:solidFill>
            <a:srgbClr val="766EAE"/>
          </a:solidFill>
          <a:ln w="25110">
            <a:solidFill>
              <a:srgbClr val="3099DE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90568" y="361334"/>
            <a:ext cx="3398988" cy="618111"/>
          </a:xfrm>
          <a:prstGeom prst="rect">
            <a:avLst/>
          </a:prstGeom>
          <a:noFill/>
        </p:spPr>
        <p:txBody>
          <a:bodyPr wrap="none" lIns="52448" rIns="52448" tIns="52448" bIns="52448">
            <a:spAutoFit/>
          </a:bodyPr>
          <a:lstStyle/>
          <a:p>
            <a:r>
              <a:rPr sz="2500" b="1" i="0" u="none">
                <a:solidFill>
                  <a:srgbClr val="E2A368"/>
                </a:solidFill>
                <a:latin typeface="Arial"/>
              </a:rPr>
              <a:t>Request Span Horizon Deck Measure Origin Alpha Interface Compass Priority Array Cycle</a:t>
            </a:r>
          </a:p>
        </p:txBody>
      </p:sp>
      <p:pic>
        <p:nvPicPr>
          <p:cNvPr id="17" name="Picture 16" descr="_example_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0948" y="2633568"/>
            <a:ext cx="2456567" cy="1161134"/>
          </a:xfrm>
          <a:prstGeom prst="rect">
            <a:avLst/>
          </a:prstGeom>
        </p:spPr>
      </p:pic>
      <p:sp>
        <p:nvSpPr>
          <p:cNvPr id="18" name="5-Point Star 17"/>
          <p:cNvSpPr/>
          <p:nvPr/>
        </p:nvSpPr>
        <p:spPr>
          <a:xfrm>
            <a:off x="1977015" y="4961896"/>
            <a:ext cx="1317735" cy="388523"/>
          </a:xfrm>
          <a:prstGeom prst="star5">
            <a:avLst/>
          </a:prstGeom>
          <a:solidFill>
            <a:srgbClr val="B7273B"/>
          </a:solidFill>
          <a:ln w="28319">
            <a:solidFill>
              <a:srgbClr val="7CB69A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Isosceles Triangle 18"/>
          <p:cNvSpPr/>
          <p:nvPr/>
        </p:nvSpPr>
        <p:spPr>
          <a:xfrm>
            <a:off x="8633887" y="3039442"/>
            <a:ext cx="1730376" cy="895857"/>
          </a:xfrm>
          <a:prstGeom prst="triangle">
            <a:avLst/>
          </a:prstGeom>
          <a:solidFill>
            <a:srgbClr val="CE4697"/>
          </a:solidFill>
          <a:ln w="17777">
            <a:solidFill>
              <a:srgbClr val="83508A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