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10960" y="5340765"/>
            <a:ext cx="3333933" cy="392083"/>
          </a:xfrm>
          <a:prstGeom prst="rect">
            <a:avLst/>
          </a:prstGeom>
          <a:noFill/>
        </p:spPr>
        <p:txBody>
          <a:bodyPr wrap="none" lIns="60815" rIns="60815" tIns="60815" bIns="60815">
            <a:spAutoFit/>
          </a:bodyPr>
          <a:lstStyle/>
          <a:p>
            <a:r>
              <a:rPr sz="1600" b="0" i="0" u="none">
                <a:solidFill>
                  <a:srgbClr val="6EB630"/>
                </a:solidFill>
                <a:latin typeface="Verdana"/>
              </a:rPr>
              <a:t>Register Handle Action Filter Filter Model Connector Diagram Status</a:t>
            </a:r>
          </a:p>
        </p:txBody>
      </p:sp>
      <p:sp>
        <p:nvSpPr>
          <p:cNvPr id="3" name="Left-Right Arrow Callout 2"/>
          <p:cNvSpPr/>
          <p:nvPr/>
        </p:nvSpPr>
        <p:spPr>
          <a:xfrm>
            <a:off x="2447626" y="1286402"/>
            <a:ext cx="1212609" cy="1808236"/>
          </a:xfrm>
          <a:prstGeom prst="leftRightArrowCallout">
            <a:avLst/>
          </a:prstGeom>
          <a:solidFill>
            <a:srgbClr val="2640D7"/>
          </a:solidFill>
          <a:ln w="18074">
            <a:solidFill>
              <a:srgbClr val="226F3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59385" y="5654482"/>
          <a:ext cx="2196080" cy="1056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040"/>
                <a:gridCol w="1098040"/>
              </a:tblGrid>
              <a:tr h="5284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205D"/>
                          </a:solidFill>
                        </a:rPr>
                        <a:t>Switch</a:t>
                      </a:r>
                    </a:p>
                  </a:txBody>
                  <a:tcPr>
                    <a:solidFill>
                      <a:srgbClr val="E2389A"/>
                    </a:solidFill>
                    <a:lnL w="37939">
                      <a:solidFill>
                        <a:srgbClr val="49D730"/>
                      </a:solidFill>
                      <a:prstDash val="sysDot"/>
                    </a:lnL>
                    <a:lnR w="37939">
                      <a:solidFill>
                        <a:srgbClr val="49D730"/>
                      </a:solidFill>
                      <a:prstDash val="sysDot"/>
                    </a:lnR>
                    <a:lnT w="37939">
                      <a:solidFill>
                        <a:srgbClr val="49D730"/>
                      </a:solidFill>
                      <a:prstDash val="sysDot"/>
                    </a:lnT>
                    <a:lnB w="37939">
                      <a:solidFill>
                        <a:srgbClr val="49D73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205D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E2389A"/>
                    </a:solidFill>
                    <a:lnL w="37939">
                      <a:solidFill>
                        <a:srgbClr val="49D730"/>
                      </a:solidFill>
                      <a:prstDash val="sysDot"/>
                    </a:lnL>
                    <a:lnR w="37939">
                      <a:solidFill>
                        <a:srgbClr val="49D730"/>
                      </a:solidFill>
                      <a:prstDash val="sysDot"/>
                    </a:lnR>
                    <a:lnT w="37939">
                      <a:solidFill>
                        <a:srgbClr val="49D730"/>
                      </a:solidFill>
                      <a:prstDash val="sysDot"/>
                    </a:lnT>
                    <a:lnB w="37939">
                      <a:solidFill>
                        <a:srgbClr val="49D730"/>
                      </a:solidFill>
                      <a:prstDash val="sysDot"/>
                    </a:lnB>
                  </a:tcPr>
                </a:tc>
              </a:tr>
              <a:tr h="52845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05D"/>
                          </a:solidFill>
                        </a:rPr>
                        <a:t>Harbor Access</a:t>
                      </a:r>
                    </a:p>
                  </a:txBody>
                  <a:tcPr>
                    <a:solidFill>
                      <a:srgbClr val="F1F3F9"/>
                    </a:solidFill>
                    <a:lnL w="37939">
                      <a:solidFill>
                        <a:srgbClr val="49D730"/>
                      </a:solidFill>
                      <a:prstDash val="sysDot"/>
                    </a:lnL>
                    <a:lnR w="37939">
                      <a:solidFill>
                        <a:srgbClr val="49D730"/>
                      </a:solidFill>
                      <a:prstDash val="sysDot"/>
                    </a:lnR>
                    <a:lnT w="37939">
                      <a:solidFill>
                        <a:srgbClr val="49D730"/>
                      </a:solidFill>
                      <a:prstDash val="sysDot"/>
                    </a:lnT>
                    <a:lnB w="37939">
                      <a:solidFill>
                        <a:srgbClr val="49D73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05D"/>
                          </a:solidFill>
                        </a:rPr>
                        <a:t>Workflow Phase</a:t>
                      </a:r>
                    </a:p>
                  </a:txBody>
                  <a:tcPr>
                    <a:solidFill>
                      <a:srgbClr val="F1F3F9"/>
                    </a:solidFill>
                    <a:lnL w="37939">
                      <a:solidFill>
                        <a:srgbClr val="49D730"/>
                      </a:solidFill>
                      <a:prstDash val="sysDot"/>
                    </a:lnL>
                    <a:lnR w="37939">
                      <a:solidFill>
                        <a:srgbClr val="49D730"/>
                      </a:solidFill>
                      <a:prstDash val="sysDot"/>
                    </a:lnR>
                    <a:lnT w="37939">
                      <a:solidFill>
                        <a:srgbClr val="49D730"/>
                      </a:solidFill>
                      <a:prstDash val="sysDot"/>
                    </a:lnT>
                    <a:lnB w="37939">
                      <a:solidFill>
                        <a:srgbClr val="49D730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sp>
        <p:nvSpPr>
          <p:cNvPr id="5" name="Display 4"/>
          <p:cNvSpPr/>
          <p:nvPr/>
        </p:nvSpPr>
        <p:spPr>
          <a:xfrm>
            <a:off x="1353573" y="4661280"/>
            <a:ext cx="649117" cy="724466"/>
          </a:xfrm>
          <a:prstGeom prst="flowChartDisplay">
            <a:avLst/>
          </a:prstGeom>
          <a:solidFill>
            <a:srgbClr val="60DED4"/>
          </a:solidFill>
          <a:ln w="29300">
            <a:solidFill>
              <a:srgbClr val="A3B12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t Equal 5"/>
          <p:cNvSpPr/>
          <p:nvPr/>
        </p:nvSpPr>
        <p:spPr>
          <a:xfrm>
            <a:off x="9243874" y="4691739"/>
            <a:ext cx="1978729" cy="338722"/>
          </a:xfrm>
          <a:prstGeom prst="mathNotEqual">
            <a:avLst/>
          </a:prstGeom>
          <a:solidFill>
            <a:srgbClr val="B43E8E"/>
          </a:solidFill>
          <a:ln w="30640">
            <a:solidFill>
              <a:srgbClr val="C7A69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14765" y="5300998"/>
          <a:ext cx="2024802" cy="127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934"/>
                <a:gridCol w="674934"/>
                <a:gridCol w="674934"/>
              </a:tblGrid>
              <a:tr h="4240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1A935"/>
                          </a:solidFill>
                        </a:rPr>
                        <a:t>Relay</a:t>
                      </a:r>
                    </a:p>
                  </a:txBody>
                  <a:tcPr>
                    <a:solidFill>
                      <a:srgbClr val="873742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1A935"/>
                          </a:solidFill>
                        </a:rPr>
                        <a:t>Viewport Texture</a:t>
                      </a:r>
                    </a:p>
                  </a:txBody>
                  <a:tcPr>
                    <a:solidFill>
                      <a:srgbClr val="873742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1A935"/>
                          </a:solidFill>
                        </a:rPr>
                        <a:t>Handle</a:t>
                      </a:r>
                    </a:p>
                  </a:txBody>
                  <a:tcPr>
                    <a:solidFill>
                      <a:srgbClr val="873742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</a:tr>
              <a:tr h="42409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1A935"/>
                          </a:solidFill>
                        </a:rPr>
                        <a:t>Pulse Option</a:t>
                      </a:r>
                    </a:p>
                  </a:txBody>
                  <a:tcPr>
                    <a:solidFill>
                      <a:srgbClr val="E7F7F0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1A935"/>
                          </a:solidFill>
                        </a:rPr>
                        <a:t>Stack</a:t>
                      </a:r>
                    </a:p>
                  </a:txBody>
                  <a:tcPr>
                    <a:solidFill>
                      <a:srgbClr val="D0F0E3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1A935"/>
                          </a:solidFill>
                        </a:rPr>
                        <a:t>Graph Index</a:t>
                      </a:r>
                    </a:p>
                  </a:txBody>
                  <a:tcPr>
                    <a:solidFill>
                      <a:srgbClr val="E7F7F0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</a:tr>
              <a:tr h="4240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1A935"/>
                          </a:solidFill>
                        </a:rPr>
                        <a:t>Mesh Trace</a:t>
                      </a:r>
                    </a:p>
                  </a:txBody>
                  <a:tcPr>
                    <a:solidFill>
                      <a:srgbClr val="E7F7F0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1A935"/>
                          </a:solidFill>
                        </a:rPr>
                        <a:t>Cadence</a:t>
                      </a:r>
                    </a:p>
                  </a:txBody>
                  <a:tcPr>
                    <a:solidFill>
                      <a:srgbClr val="D0F0E3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1A935"/>
                          </a:solidFill>
                        </a:rPr>
                        <a:t>Ledger Memory</a:t>
                      </a:r>
                    </a:p>
                  </a:txBody>
                  <a:tcPr>
                    <a:solidFill>
                      <a:srgbClr val="E7F7F0"/>
                    </a:solidFill>
                    <a:lnL w="21477">
                      <a:solidFill>
                        <a:srgbClr val="A19E26"/>
                      </a:solidFill>
                      <a:prstDash val="solid"/>
                    </a:lnL>
                    <a:lnR w="21477">
                      <a:solidFill>
                        <a:srgbClr val="A19E26"/>
                      </a:solidFill>
                      <a:prstDash val="solid"/>
                    </a:lnR>
                    <a:lnT w="21477">
                      <a:solidFill>
                        <a:srgbClr val="A19E26"/>
                      </a:solidFill>
                      <a:prstDash val="solid"/>
                    </a:lnT>
                    <a:lnB w="21477">
                      <a:solidFill>
                        <a:srgbClr val="A19E2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44469" y="5476326"/>
            <a:ext cx="3105241" cy="313380"/>
          </a:xfrm>
          <a:prstGeom prst="rect">
            <a:avLst/>
          </a:prstGeom>
          <a:noFill/>
        </p:spPr>
        <p:txBody>
          <a:bodyPr wrap="none" lIns="82604" rIns="82604" tIns="82604" bIns="82604">
            <a:spAutoFit/>
          </a:bodyPr>
          <a:lstStyle/>
          <a:p>
            <a:r>
              <a:rPr sz="2700" b="0" i="0" u="none">
                <a:solidFill>
                  <a:srgbClr val="691E97"/>
                </a:solidFill>
                <a:latin typeface="Georgia"/>
              </a:rPr>
              <a:t>Profile Detail Report Proof Balance Pattern Craft Reference Deck</a:t>
            </a:r>
          </a:p>
        </p:txBody>
      </p:sp>
      <p:pic>
        <p:nvPicPr>
          <p:cNvPr id="9" name="Picture 8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728" y="5186643"/>
            <a:ext cx="1427865" cy="9713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37410" y="3490211"/>
            <a:ext cx="4118105" cy="1617804"/>
          </a:xfrm>
          <a:prstGeom prst="rect">
            <a:avLst/>
          </a:prstGeom>
          <a:noFill/>
        </p:spPr>
        <p:txBody>
          <a:bodyPr wrap="none" lIns="57097" rIns="57097" tIns="57097" bIns="57097">
            <a:spAutoFit/>
          </a:bodyPr>
          <a:lstStyle/>
          <a:p>
            <a:r>
              <a:rPr sz="2300" b="1" i="0" u="none">
                <a:solidFill>
                  <a:srgbClr val="CF3CA6"/>
                </a:solidFill>
                <a:latin typeface="Aptos"/>
              </a:rPr>
              <a:t>Apex Matrix Iteration Slice Network Link Transit Model Drift Workflow Transit</a:t>
            </a:r>
          </a:p>
        </p:txBody>
      </p:sp>
      <p:pic>
        <p:nvPicPr>
          <p:cNvPr id="11" name="Picture 10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582" y="2759138"/>
            <a:ext cx="1381450" cy="1723545"/>
          </a:xfrm>
          <a:prstGeom prst="rect">
            <a:avLst/>
          </a:prstGeom>
        </p:spPr>
      </p:pic>
      <p:sp>
        <p:nvSpPr>
          <p:cNvPr id="12" name="Up Arrow 11"/>
          <p:cNvSpPr/>
          <p:nvPr/>
        </p:nvSpPr>
        <p:spPr>
          <a:xfrm>
            <a:off x="632014" y="1389863"/>
            <a:ext cx="1759494" cy="493124"/>
          </a:xfrm>
          <a:prstGeom prst="upArrow">
            <a:avLst/>
          </a:prstGeom>
          <a:solidFill>
            <a:srgbClr val="AFB02E"/>
          </a:solidFill>
          <a:ln w="18691">
            <a:solidFill>
              <a:srgbClr val="5E837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0055" y="784237"/>
            <a:ext cx="3492066" cy="476042"/>
          </a:xfrm>
          <a:prstGeom prst="rect">
            <a:avLst/>
          </a:prstGeom>
          <a:noFill/>
        </p:spPr>
        <p:txBody>
          <a:bodyPr wrap="none" lIns="23886" rIns="23886" tIns="23886" bIns="23886">
            <a:spAutoFit/>
          </a:bodyPr>
          <a:lstStyle/>
          <a:p>
            <a:r>
              <a:rPr sz="2600" b="0" i="1" u="sng">
                <a:solidFill>
                  <a:srgbClr val="BE78BE"/>
                </a:solidFill>
                <a:latin typeface="Arial"/>
              </a:rPr>
              <a:t>Asset Drive Queue Matrix Switch North Balance Inventory Forecast</a:t>
            </a:r>
          </a:p>
        </p:txBody>
      </p:sp>
      <p:sp>
        <p:nvSpPr>
          <p:cNvPr id="14" name="Explosion 13"/>
          <p:cNvSpPr/>
          <p:nvPr/>
        </p:nvSpPr>
        <p:spPr>
          <a:xfrm>
            <a:off x="11536553" y="497399"/>
            <a:ext cx="365358" cy="708738"/>
          </a:xfrm>
          <a:prstGeom prst="irregularSeal1">
            <a:avLst/>
          </a:prstGeom>
          <a:solidFill>
            <a:srgbClr val="5D6252"/>
          </a:solidFill>
          <a:ln w="16004">
            <a:solidFill>
              <a:srgbClr val="D1A21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964" y="1612649"/>
            <a:ext cx="1410757" cy="133749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314003" y="3249307"/>
            <a:ext cx="742686" cy="764692"/>
          </a:xfrm>
          <a:prstGeom prst="rect">
            <a:avLst/>
          </a:prstGeom>
          <a:solidFill>
            <a:srgbClr val="4F4B77"/>
          </a:solidFill>
          <a:ln w="8287">
            <a:solidFill>
              <a:srgbClr val="378AD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5897695" y="924492"/>
            <a:ext cx="1560879" cy="984471"/>
          </a:xfrm>
          <a:prstGeom prst="star5">
            <a:avLst/>
          </a:prstGeom>
          <a:noFill/>
          <a:ln w="9380">
            <a:solidFill>
              <a:srgbClr val="E4DAB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2839" y="2565464"/>
            <a:ext cx="3877342" cy="595610"/>
          </a:xfrm>
          <a:prstGeom prst="rect">
            <a:avLst/>
          </a:prstGeom>
          <a:noFill/>
        </p:spPr>
        <p:txBody>
          <a:bodyPr wrap="none" lIns="34154" rIns="34154" tIns="34154" bIns="34154">
            <a:spAutoFit/>
          </a:bodyPr>
          <a:lstStyle/>
          <a:p>
            <a:r>
              <a:rPr sz="2300" b="0" i="1" u="none">
                <a:solidFill>
                  <a:srgbClr val="D4B97C"/>
                </a:solidFill>
                <a:latin typeface="Calibri"/>
              </a:rPr>
              <a:t>Velocity Option Alpha Lens Velocity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2537" y="1028217"/>
            <a:ext cx="3642702" cy="1488038"/>
          </a:xfrm>
          <a:prstGeom prst="rect">
            <a:avLst/>
          </a:prstGeom>
          <a:solidFill>
            <a:srgbClr val="D4D21A"/>
          </a:solidFill>
        </p:spPr>
        <p:txBody>
          <a:bodyPr wrap="none" lIns="48607" rIns="48607" tIns="48607" bIns="48607">
            <a:spAutoFit/>
          </a:bodyPr>
          <a:lstStyle/>
          <a:p>
            <a:r>
              <a:rPr sz="1200" b="0" i="0" u="sng">
                <a:solidFill>
                  <a:srgbClr val="718680"/>
                </a:solidFill>
                <a:latin typeface="Georgia"/>
              </a:rPr>
              <a:t>Relay Account Relay Queue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