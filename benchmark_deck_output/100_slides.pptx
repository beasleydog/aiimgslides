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42.xml" ContentType="application/vnd.openxmlformats-officedocument.drawingml.chart+xml"/>
  <Override PartName="/ppt/charts/chart143.xml" ContentType="application/vnd.openxmlformats-officedocument.drawingml.chart+xml"/>
  <Override PartName="/ppt/charts/chart144.xml" ContentType="application/vnd.openxmlformats-officedocument.drawingml.chart+xml"/>
  <Override PartName="/ppt/charts/chart145.xml" ContentType="application/vnd.openxmlformats-officedocument.drawingml.chart+xml"/>
  <Override PartName="/ppt/charts/chart146.xml" ContentType="application/vnd.openxmlformats-officedocument.drawingml.chart+xml"/>
  <Override PartName="/ppt/charts/chart147.xml" ContentType="application/vnd.openxmlformats-officedocument.drawingml.chart+xml"/>
  <Override PartName="/ppt/charts/chart148.xml" ContentType="application/vnd.openxmlformats-officedocument.drawingml.chart+xml"/>
  <Override PartName="/ppt/charts/chart149.xml" ContentType="application/vnd.openxmlformats-officedocument.drawingml.chart+xml"/>
  <Override PartName="/ppt/charts/chart150.xml" ContentType="application/vnd.openxmlformats-officedocument.drawingml.chart+xml"/>
  <Override PartName="/ppt/charts/chart151.xml" ContentType="application/vnd.openxmlformats-officedocument.drawingml.chart+xml"/>
  <Override PartName="/ppt/charts/chart152.xml" ContentType="application/vnd.openxmlformats-officedocument.drawingml.chart+xml"/>
  <Override PartName="/ppt/charts/chart153.xml" ContentType="application/vnd.openxmlformats-officedocument.drawingml.chart+xml"/>
  <Override PartName="/ppt/charts/chart154.xml" ContentType="application/vnd.openxmlformats-officedocument.drawingml.chart+xml"/>
  <Override PartName="/ppt/charts/chart155.xml" ContentType="application/vnd.openxmlformats-officedocument.drawingml.chart+xml"/>
  <Override PartName="/ppt/charts/chart156.xml" ContentType="application/vnd.openxmlformats-officedocument.drawingml.chart+xml"/>
  <Override PartName="/ppt/charts/chart157.xml" ContentType="application/vnd.openxmlformats-officedocument.drawingml.chart+xml"/>
  <Override PartName="/ppt/charts/chart158.xml" ContentType="application/vnd.openxmlformats-officedocument.drawingml.chart+xml"/>
  <Override PartName="/ppt/charts/chart159.xml" ContentType="application/vnd.openxmlformats-officedocument.drawingml.chart+xml"/>
  <Override PartName="/ppt/charts/chart160.xml" ContentType="application/vnd.openxmlformats-officedocument.drawingml.chart+xml"/>
  <Override PartName="/ppt/charts/chart161.xml" ContentType="application/vnd.openxmlformats-officedocument.drawingml.chart+xml"/>
  <Override PartName="/ppt/charts/chart162.xml" ContentType="application/vnd.openxmlformats-officedocument.drawingml.chart+xml"/>
  <Override PartName="/ppt/charts/chart163.xml" ContentType="application/vnd.openxmlformats-officedocument.drawingml.chart+xml"/>
  <Override PartName="/ppt/charts/chart164.xml" ContentType="application/vnd.openxmlformats-officedocument.drawingml.chart+xml"/>
  <Override PartName="/ppt/charts/chart165.xml" ContentType="application/vnd.openxmlformats-officedocument.drawingml.chart+xml"/>
  <Override PartName="/ppt/charts/chart166.xml" ContentType="application/vnd.openxmlformats-officedocument.drawingml.chart+xml"/>
  <Override PartName="/ppt/charts/chart167.xml" ContentType="application/vnd.openxmlformats-officedocument.drawingml.chart+xml"/>
  <Override PartName="/ppt/charts/chart168.xml" ContentType="application/vnd.openxmlformats-officedocument.drawingml.chart+xml"/>
  <Override PartName="/ppt/charts/chart169.xml" ContentType="application/vnd.openxmlformats-officedocument.drawingml.chart+xml"/>
  <Override PartName="/ppt/charts/chart170.xml" ContentType="application/vnd.openxmlformats-officedocument.drawingml.chart+xml"/>
  <Override PartName="/ppt/charts/chart171.xml" ContentType="application/vnd.openxmlformats-officedocument.drawingml.chart+xml"/>
  <Override PartName="/ppt/charts/chart172.xml" ContentType="application/vnd.openxmlformats-officedocument.drawingml.chart+xml"/>
  <Override PartName="/ppt/charts/chart173.xml" ContentType="application/vnd.openxmlformats-officedocument.drawingml.chart+xml"/>
  <Override PartName="/ppt/charts/chart174.xml" ContentType="application/vnd.openxmlformats-officedocument.drawingml.chart+xml"/>
  <Override PartName="/ppt/charts/chart175.xml" ContentType="application/vnd.openxmlformats-officedocument.drawingml.chart+xml"/>
  <Override PartName="/ppt/charts/chart176.xml" ContentType="application/vnd.openxmlformats-officedocument.drawingml.chart+xml"/>
  <Override PartName="/ppt/charts/chart177.xml" ContentType="application/vnd.openxmlformats-officedocument.drawingml.chart+xml"/>
  <Override PartName="/ppt/charts/chart178.xml" ContentType="application/vnd.openxmlformats-officedocument.drawingml.chart+xml"/>
  <Override PartName="/ppt/charts/chart179.xml" ContentType="application/vnd.openxmlformats-officedocument.drawingml.chart+xml"/>
  <Override PartName="/ppt/charts/chart180.xml" ContentType="application/vnd.openxmlformats-officedocument.drawingml.chart+xml"/>
  <Override PartName="/ppt/charts/chart181.xml" ContentType="application/vnd.openxmlformats-officedocument.drawingml.chart+xml"/>
  <Override PartName="/ppt/charts/chart182.xml" ContentType="application/vnd.openxmlformats-officedocument.drawingml.chart+xml"/>
  <Override PartName="/ppt/charts/chart183.xml" ContentType="application/vnd.openxmlformats-officedocument.drawingml.chart+xml"/>
  <Override PartName="/ppt/charts/chart184.xml" ContentType="application/vnd.openxmlformats-officedocument.drawingml.chart+xml"/>
  <Override PartName="/ppt/charts/chart185.xml" ContentType="application/vnd.openxmlformats-officedocument.drawingml.chart+xml"/>
  <Override PartName="/ppt/charts/chart186.xml" ContentType="application/vnd.openxmlformats-officedocument.drawingml.chart+xml"/>
  <Override PartName="/ppt/charts/chart187.xml" ContentType="application/vnd.openxmlformats-officedocument.drawingml.chart+xml"/>
  <Override PartName="/ppt/charts/chart188.xml" ContentType="application/vnd.openxmlformats-officedocument.drawingml.chart+xml"/>
  <Override PartName="/ppt/charts/chart189.xml" ContentType="application/vnd.openxmlformats-officedocument.drawingml.chart+xml"/>
  <Override PartName="/ppt/charts/chart190.xml" ContentType="application/vnd.openxmlformats-officedocument.drawingml.chart+xml"/>
  <Override PartName="/ppt/charts/chart191.xml" ContentType="application/vnd.openxmlformats-officedocument.drawingml.chart+xml"/>
  <Override PartName="/ppt/charts/chart192.xml" ContentType="application/vnd.openxmlformats-officedocument.drawingml.chart+xml"/>
  <Override PartName="/ppt/charts/chart193.xml" ContentType="application/vnd.openxmlformats-officedocument.drawingml.chart+xml"/>
  <Override PartName="/ppt/charts/chart194.xml" ContentType="application/vnd.openxmlformats-officedocument.drawingml.chart+xml"/>
  <Override PartName="/ppt/charts/chart195.xml" ContentType="application/vnd.openxmlformats-officedocument.drawingml.chart+xml"/>
  <Override PartName="/ppt/charts/chart196.xml" ContentType="application/vnd.openxmlformats-officedocument.drawingml.chart+xml"/>
  <Override PartName="/ppt/charts/chart197.xml" ContentType="application/vnd.openxmlformats-officedocument.drawingml.chart+xml"/>
  <Override PartName="/ppt/charts/chart198.xml" ContentType="application/vnd.openxmlformats-officedocument.drawingml.chart+xml"/>
  <Override PartName="/ppt/charts/chart199.xml" ContentType="application/vnd.openxmlformats-officedocument.drawingml.chart+xml"/>
  <Override PartName="/ppt/charts/chart20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Worksheet63.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Worksheet64.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Worksheet65.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Worksheet66.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Worksheet67.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Worksheet68.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Worksheet69.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Worksheet70.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Worksheet71.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Worksheet72.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Worksheet73.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Worksheet74.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Worksheet75.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Worksheet76.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Worksheet77.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Worksheet78.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Worksheet79.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Worksheet80.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Worksheet81.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Worksheet82.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Worksheet83.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Worksheet84.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Worksheet85.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Worksheet86.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Worksheet87.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Worksheet88.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Worksheet89.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Worksheet90.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Worksheet91.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Worksheet92.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Worksheet93.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Worksheet94.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Worksheet95.xlsx"/></Relationships>
</file>

<file path=ppt/charts/_rels/chart97.xml.rels><?xml version="1.0" encoding="UTF-8" standalone="yes"?>
<Relationships xmlns="http://schemas.openxmlformats.org/package/2006/relationships"><Relationship Id="rId1" Type="http://schemas.openxmlformats.org/officeDocument/2006/relationships/package" Target="../embeddings/Microsoft_Excel_Worksheet96.xlsx"/></Relationships>
</file>

<file path=ppt/charts/_rels/chart98.xml.rels><?xml version="1.0" encoding="UTF-8" standalone="yes"?>
<Relationships xmlns="http://schemas.openxmlformats.org/package/2006/relationships"><Relationship Id="rId1" Type="http://schemas.openxmlformats.org/officeDocument/2006/relationships/package" Target="../embeddings/Microsoft_Excel_Worksheet97.xlsx"/></Relationships>
</file>

<file path=ppt/charts/_rels/chart99.xml.rels><?xml version="1.0" encoding="UTF-8" standalone="yes"?>
<Relationships xmlns="http://schemas.openxmlformats.org/package/2006/relationships"><Relationship Id="rId1" Type="http://schemas.openxmlformats.org/officeDocument/2006/relationships/package" Target="../embeddings/Microsoft_Excel_Worksheet98.xlsx"/></Relationships>
</file>

<file path=ppt/charts/_rels/chart100.xml.rels><?xml version="1.0" encoding="UTF-8" standalone="yes"?>
<Relationships xmlns="http://schemas.openxmlformats.org/package/2006/relationships"><Relationship Id="rId1" Type="http://schemas.openxmlformats.org/officeDocument/2006/relationships/package" Target="../embeddings/Microsoft_Excel_Worksheet99.xlsx"/></Relationships>
</file>

<file path=ppt/charts/_rels/chart101.xml.rels><?xml version="1.0" encoding="UTF-8" standalone="yes"?>
<Relationships xmlns="http://schemas.openxmlformats.org/package/2006/relationships"><Relationship Id="rId1" Type="http://schemas.openxmlformats.org/officeDocument/2006/relationships/package" Target="../embeddings/Microsoft_Excel_Worksheet100.xlsx"/></Relationships>
</file>

<file path=ppt/charts/_rels/chart102.xml.rels><?xml version="1.0" encoding="UTF-8" standalone="yes"?>
<Relationships xmlns="http://schemas.openxmlformats.org/package/2006/relationships"><Relationship Id="rId1" Type="http://schemas.openxmlformats.org/officeDocument/2006/relationships/package" Target="../embeddings/Microsoft_Excel_Worksheet101.xlsx"/></Relationships>
</file>

<file path=ppt/charts/_rels/chart103.xml.rels><?xml version="1.0" encoding="UTF-8" standalone="yes"?>
<Relationships xmlns="http://schemas.openxmlformats.org/package/2006/relationships"><Relationship Id="rId1" Type="http://schemas.openxmlformats.org/officeDocument/2006/relationships/package" Target="../embeddings/Microsoft_Excel_Worksheet102.xlsx"/></Relationships>
</file>

<file path=ppt/charts/_rels/chart104.xml.rels><?xml version="1.0" encoding="UTF-8" standalone="yes"?>
<Relationships xmlns="http://schemas.openxmlformats.org/package/2006/relationships"><Relationship Id="rId1" Type="http://schemas.openxmlformats.org/officeDocument/2006/relationships/package" Target="../embeddings/Microsoft_Excel_Worksheet103.xlsx"/></Relationships>
</file>

<file path=ppt/charts/_rels/chart105.xml.rels><?xml version="1.0" encoding="UTF-8" standalone="yes"?>
<Relationships xmlns="http://schemas.openxmlformats.org/package/2006/relationships"><Relationship Id="rId1" Type="http://schemas.openxmlformats.org/officeDocument/2006/relationships/package" Target="../embeddings/Microsoft_Excel_Worksheet104.xlsx"/></Relationships>
</file>

<file path=ppt/charts/_rels/chart106.xml.rels><?xml version="1.0" encoding="UTF-8" standalone="yes"?>
<Relationships xmlns="http://schemas.openxmlformats.org/package/2006/relationships"><Relationship Id="rId1" Type="http://schemas.openxmlformats.org/officeDocument/2006/relationships/package" Target="../embeddings/Microsoft_Excel_Worksheet105.xlsx"/></Relationships>
</file>

<file path=ppt/charts/_rels/chart107.xml.rels><?xml version="1.0" encoding="UTF-8" standalone="yes"?>
<Relationships xmlns="http://schemas.openxmlformats.org/package/2006/relationships"><Relationship Id="rId1" Type="http://schemas.openxmlformats.org/officeDocument/2006/relationships/package" Target="../embeddings/Microsoft_Excel_Worksheet106.xlsx"/></Relationships>
</file>

<file path=ppt/charts/_rels/chart108.xml.rels><?xml version="1.0" encoding="UTF-8" standalone="yes"?>
<Relationships xmlns="http://schemas.openxmlformats.org/package/2006/relationships"><Relationship Id="rId1" Type="http://schemas.openxmlformats.org/officeDocument/2006/relationships/package" Target="../embeddings/Microsoft_Excel_Worksheet107.xlsx"/></Relationships>
</file>

<file path=ppt/charts/_rels/chart109.xml.rels><?xml version="1.0" encoding="UTF-8" standalone="yes"?>
<Relationships xmlns="http://schemas.openxmlformats.org/package/2006/relationships"><Relationship Id="rId1" Type="http://schemas.openxmlformats.org/officeDocument/2006/relationships/package" Target="../embeddings/Microsoft_Excel_Worksheet108.xlsx"/></Relationships>
</file>

<file path=ppt/charts/_rels/chart110.xml.rels><?xml version="1.0" encoding="UTF-8" standalone="yes"?>
<Relationships xmlns="http://schemas.openxmlformats.org/package/2006/relationships"><Relationship Id="rId1" Type="http://schemas.openxmlformats.org/officeDocument/2006/relationships/package" Target="../embeddings/Microsoft_Excel_Worksheet109.xlsx"/></Relationships>
</file>

<file path=ppt/charts/_rels/chart111.xml.rels><?xml version="1.0" encoding="UTF-8" standalone="yes"?>
<Relationships xmlns="http://schemas.openxmlformats.org/package/2006/relationships"><Relationship Id="rId1" Type="http://schemas.openxmlformats.org/officeDocument/2006/relationships/package" Target="../embeddings/Microsoft_Excel_Worksheet110.xlsx"/></Relationships>
</file>

<file path=ppt/charts/_rels/chart112.xml.rels><?xml version="1.0" encoding="UTF-8" standalone="yes"?>
<Relationships xmlns="http://schemas.openxmlformats.org/package/2006/relationships"><Relationship Id="rId1" Type="http://schemas.openxmlformats.org/officeDocument/2006/relationships/package" Target="../embeddings/Microsoft_Excel_Worksheet111.xlsx"/></Relationships>
</file>

<file path=ppt/charts/_rels/chart113.xml.rels><?xml version="1.0" encoding="UTF-8" standalone="yes"?>
<Relationships xmlns="http://schemas.openxmlformats.org/package/2006/relationships"><Relationship Id="rId1" Type="http://schemas.openxmlformats.org/officeDocument/2006/relationships/package" Target="../embeddings/Microsoft_Excel_Worksheet112.xlsx"/></Relationships>
</file>

<file path=ppt/charts/_rels/chart114.xml.rels><?xml version="1.0" encoding="UTF-8" standalone="yes"?>
<Relationships xmlns="http://schemas.openxmlformats.org/package/2006/relationships"><Relationship Id="rId1" Type="http://schemas.openxmlformats.org/officeDocument/2006/relationships/package" Target="../embeddings/Microsoft_Excel_Worksheet113.xlsx"/></Relationships>
</file>

<file path=ppt/charts/_rels/chart115.xml.rels><?xml version="1.0" encoding="UTF-8" standalone="yes"?>
<Relationships xmlns="http://schemas.openxmlformats.org/package/2006/relationships"><Relationship Id="rId1" Type="http://schemas.openxmlformats.org/officeDocument/2006/relationships/package" Target="../embeddings/Microsoft_Excel_Worksheet114.xlsx"/></Relationships>
</file>

<file path=ppt/charts/_rels/chart116.xml.rels><?xml version="1.0" encoding="UTF-8" standalone="yes"?>
<Relationships xmlns="http://schemas.openxmlformats.org/package/2006/relationships"><Relationship Id="rId1" Type="http://schemas.openxmlformats.org/officeDocument/2006/relationships/package" Target="../embeddings/Microsoft_Excel_Worksheet115.xlsx"/></Relationships>
</file>

<file path=ppt/charts/_rels/chart117.xml.rels><?xml version="1.0" encoding="UTF-8" standalone="yes"?>
<Relationships xmlns="http://schemas.openxmlformats.org/package/2006/relationships"><Relationship Id="rId1" Type="http://schemas.openxmlformats.org/officeDocument/2006/relationships/package" Target="../embeddings/Microsoft_Excel_Worksheet116.xlsx"/></Relationships>
</file>

<file path=ppt/charts/_rels/chart118.xml.rels><?xml version="1.0" encoding="UTF-8" standalone="yes"?>
<Relationships xmlns="http://schemas.openxmlformats.org/package/2006/relationships"><Relationship Id="rId1" Type="http://schemas.openxmlformats.org/officeDocument/2006/relationships/package" Target="../embeddings/Microsoft_Excel_Worksheet117.xlsx"/></Relationships>
</file>

<file path=ppt/charts/_rels/chart119.xml.rels><?xml version="1.0" encoding="UTF-8" standalone="yes"?>
<Relationships xmlns="http://schemas.openxmlformats.org/package/2006/relationships"><Relationship Id="rId1" Type="http://schemas.openxmlformats.org/officeDocument/2006/relationships/package" Target="../embeddings/Microsoft_Excel_Worksheet118.xlsx"/></Relationships>
</file>

<file path=ppt/charts/_rels/chart120.xml.rels><?xml version="1.0" encoding="UTF-8" standalone="yes"?>
<Relationships xmlns="http://schemas.openxmlformats.org/package/2006/relationships"><Relationship Id="rId1" Type="http://schemas.openxmlformats.org/officeDocument/2006/relationships/package" Target="../embeddings/Microsoft_Excel_Worksheet119.xlsx"/></Relationships>
</file>

<file path=ppt/charts/_rels/chart121.xml.rels><?xml version="1.0" encoding="UTF-8" standalone="yes"?>
<Relationships xmlns="http://schemas.openxmlformats.org/package/2006/relationships"><Relationship Id="rId1" Type="http://schemas.openxmlformats.org/officeDocument/2006/relationships/package" Target="../embeddings/Microsoft_Excel_Worksheet120.xlsx"/></Relationships>
</file>

<file path=ppt/charts/_rels/chart122.xml.rels><?xml version="1.0" encoding="UTF-8" standalone="yes"?>
<Relationships xmlns="http://schemas.openxmlformats.org/package/2006/relationships"><Relationship Id="rId1" Type="http://schemas.openxmlformats.org/officeDocument/2006/relationships/package" Target="../embeddings/Microsoft_Excel_Worksheet121.xlsx"/></Relationships>
</file>

<file path=ppt/charts/_rels/chart123.xml.rels><?xml version="1.0" encoding="UTF-8" standalone="yes"?>
<Relationships xmlns="http://schemas.openxmlformats.org/package/2006/relationships"><Relationship Id="rId1" Type="http://schemas.openxmlformats.org/officeDocument/2006/relationships/package" Target="../embeddings/Microsoft_Excel_Worksheet122.xlsx"/></Relationships>
</file>

<file path=ppt/charts/_rels/chart124.xml.rels><?xml version="1.0" encoding="UTF-8" standalone="yes"?>
<Relationships xmlns="http://schemas.openxmlformats.org/package/2006/relationships"><Relationship Id="rId1" Type="http://schemas.openxmlformats.org/officeDocument/2006/relationships/package" Target="../embeddings/Microsoft_Excel_Worksheet123.xlsx"/></Relationships>
</file>

<file path=ppt/charts/_rels/chart125.xml.rels><?xml version="1.0" encoding="UTF-8" standalone="yes"?>
<Relationships xmlns="http://schemas.openxmlformats.org/package/2006/relationships"><Relationship Id="rId1" Type="http://schemas.openxmlformats.org/officeDocument/2006/relationships/package" Target="../embeddings/Microsoft_Excel_Worksheet124.xlsx"/></Relationships>
</file>

<file path=ppt/charts/_rels/chart126.xml.rels><?xml version="1.0" encoding="UTF-8" standalone="yes"?>
<Relationships xmlns="http://schemas.openxmlformats.org/package/2006/relationships"><Relationship Id="rId1" Type="http://schemas.openxmlformats.org/officeDocument/2006/relationships/package" Target="../embeddings/Microsoft_Excel_Worksheet125.xlsx"/></Relationships>
</file>

<file path=ppt/charts/_rels/chart127.xml.rels><?xml version="1.0" encoding="UTF-8" standalone="yes"?>
<Relationships xmlns="http://schemas.openxmlformats.org/package/2006/relationships"><Relationship Id="rId1" Type="http://schemas.openxmlformats.org/officeDocument/2006/relationships/package" Target="../embeddings/Microsoft_Excel_Worksheet126.xlsx"/></Relationships>
</file>

<file path=ppt/charts/_rels/chart128.xml.rels><?xml version="1.0" encoding="UTF-8" standalone="yes"?>
<Relationships xmlns="http://schemas.openxmlformats.org/package/2006/relationships"><Relationship Id="rId1" Type="http://schemas.openxmlformats.org/officeDocument/2006/relationships/package" Target="../embeddings/Microsoft_Excel_Worksheet127.xlsx"/></Relationships>
</file>

<file path=ppt/charts/_rels/chart129.xml.rels><?xml version="1.0" encoding="UTF-8" standalone="yes"?>
<Relationships xmlns="http://schemas.openxmlformats.org/package/2006/relationships"><Relationship Id="rId1" Type="http://schemas.openxmlformats.org/officeDocument/2006/relationships/package" Target="../embeddings/Microsoft_Excel_Worksheet128.xlsx"/></Relationships>
</file>

<file path=ppt/charts/_rels/chart130.xml.rels><?xml version="1.0" encoding="UTF-8" standalone="yes"?>
<Relationships xmlns="http://schemas.openxmlformats.org/package/2006/relationships"><Relationship Id="rId1" Type="http://schemas.openxmlformats.org/officeDocument/2006/relationships/package" Target="../embeddings/Microsoft_Excel_Worksheet129.xlsx"/></Relationships>
</file>

<file path=ppt/charts/_rels/chart131.xml.rels><?xml version="1.0" encoding="UTF-8" standalone="yes"?>
<Relationships xmlns="http://schemas.openxmlformats.org/package/2006/relationships"><Relationship Id="rId1" Type="http://schemas.openxmlformats.org/officeDocument/2006/relationships/package" Target="../embeddings/Microsoft_Excel_Worksheet130.xlsx"/></Relationships>
</file>

<file path=ppt/charts/_rels/chart132.xml.rels><?xml version="1.0" encoding="UTF-8" standalone="yes"?>
<Relationships xmlns="http://schemas.openxmlformats.org/package/2006/relationships"><Relationship Id="rId1" Type="http://schemas.openxmlformats.org/officeDocument/2006/relationships/package" Target="../embeddings/Microsoft_Excel_Worksheet131.xlsx"/></Relationships>
</file>

<file path=ppt/charts/_rels/chart133.xml.rels><?xml version="1.0" encoding="UTF-8" standalone="yes"?>
<Relationships xmlns="http://schemas.openxmlformats.org/package/2006/relationships"><Relationship Id="rId1" Type="http://schemas.openxmlformats.org/officeDocument/2006/relationships/package" Target="../embeddings/Microsoft_Excel_Worksheet132.xlsx"/></Relationships>
</file>

<file path=ppt/charts/_rels/chart134.xml.rels><?xml version="1.0" encoding="UTF-8" standalone="yes"?>
<Relationships xmlns="http://schemas.openxmlformats.org/package/2006/relationships"><Relationship Id="rId1" Type="http://schemas.openxmlformats.org/officeDocument/2006/relationships/package" Target="../embeddings/Microsoft_Excel_Worksheet133.xlsx"/></Relationships>
</file>

<file path=ppt/charts/_rels/chart135.xml.rels><?xml version="1.0" encoding="UTF-8" standalone="yes"?>
<Relationships xmlns="http://schemas.openxmlformats.org/package/2006/relationships"><Relationship Id="rId1" Type="http://schemas.openxmlformats.org/officeDocument/2006/relationships/package" Target="../embeddings/Microsoft_Excel_Worksheet134.xlsx"/></Relationships>
</file>

<file path=ppt/charts/_rels/chart136.xml.rels><?xml version="1.0" encoding="UTF-8" standalone="yes"?>
<Relationships xmlns="http://schemas.openxmlformats.org/package/2006/relationships"><Relationship Id="rId1" Type="http://schemas.openxmlformats.org/officeDocument/2006/relationships/package" Target="../embeddings/Microsoft_Excel_Worksheet135.xlsx"/></Relationships>
</file>

<file path=ppt/charts/_rels/chart137.xml.rels><?xml version="1.0" encoding="UTF-8" standalone="yes"?>
<Relationships xmlns="http://schemas.openxmlformats.org/package/2006/relationships"><Relationship Id="rId1" Type="http://schemas.openxmlformats.org/officeDocument/2006/relationships/package" Target="../embeddings/Microsoft_Excel_Worksheet136.xlsx"/></Relationships>
</file>

<file path=ppt/charts/_rels/chart138.xml.rels><?xml version="1.0" encoding="UTF-8" standalone="yes"?>
<Relationships xmlns="http://schemas.openxmlformats.org/package/2006/relationships"><Relationship Id="rId1" Type="http://schemas.openxmlformats.org/officeDocument/2006/relationships/package" Target="../embeddings/Microsoft_Excel_Worksheet137.xlsx"/></Relationships>
</file>

<file path=ppt/charts/_rels/chart139.xml.rels><?xml version="1.0" encoding="UTF-8" standalone="yes"?>
<Relationships xmlns="http://schemas.openxmlformats.org/package/2006/relationships"><Relationship Id="rId1" Type="http://schemas.openxmlformats.org/officeDocument/2006/relationships/package" Target="../embeddings/Microsoft_Excel_Worksheet138.xlsx"/></Relationships>
</file>

<file path=ppt/charts/_rels/chart140.xml.rels><?xml version="1.0" encoding="UTF-8" standalone="yes"?>
<Relationships xmlns="http://schemas.openxmlformats.org/package/2006/relationships"><Relationship Id="rId1" Type="http://schemas.openxmlformats.org/officeDocument/2006/relationships/package" Target="../embeddings/Microsoft_Excel_Worksheet139.xlsx"/></Relationships>
</file>

<file path=ppt/charts/_rels/chart141.xml.rels><?xml version="1.0" encoding="UTF-8" standalone="yes"?>
<Relationships xmlns="http://schemas.openxmlformats.org/package/2006/relationships"><Relationship Id="rId1" Type="http://schemas.openxmlformats.org/officeDocument/2006/relationships/package" Target="../embeddings/Microsoft_Excel_Worksheet140.xlsx"/></Relationships>
</file>

<file path=ppt/charts/_rels/chart142.xml.rels><?xml version="1.0" encoding="UTF-8" standalone="yes"?>
<Relationships xmlns="http://schemas.openxmlformats.org/package/2006/relationships"><Relationship Id="rId1" Type="http://schemas.openxmlformats.org/officeDocument/2006/relationships/package" Target="../embeddings/Microsoft_Excel_Worksheet141.xlsx"/></Relationships>
</file>

<file path=ppt/charts/_rels/chart143.xml.rels><?xml version="1.0" encoding="UTF-8" standalone="yes"?>
<Relationships xmlns="http://schemas.openxmlformats.org/package/2006/relationships"><Relationship Id="rId1" Type="http://schemas.openxmlformats.org/officeDocument/2006/relationships/package" Target="../embeddings/Microsoft_Excel_Worksheet142.xlsx"/></Relationships>
</file>

<file path=ppt/charts/_rels/chart144.xml.rels><?xml version="1.0" encoding="UTF-8" standalone="yes"?>
<Relationships xmlns="http://schemas.openxmlformats.org/package/2006/relationships"><Relationship Id="rId1" Type="http://schemas.openxmlformats.org/officeDocument/2006/relationships/package" Target="../embeddings/Microsoft_Excel_Worksheet143.xlsx"/></Relationships>
</file>

<file path=ppt/charts/_rels/chart145.xml.rels><?xml version="1.0" encoding="UTF-8" standalone="yes"?>
<Relationships xmlns="http://schemas.openxmlformats.org/package/2006/relationships"><Relationship Id="rId1" Type="http://schemas.openxmlformats.org/officeDocument/2006/relationships/package" Target="../embeddings/Microsoft_Excel_Worksheet144.xlsx"/></Relationships>
</file>

<file path=ppt/charts/_rels/chart146.xml.rels><?xml version="1.0" encoding="UTF-8" standalone="yes"?>
<Relationships xmlns="http://schemas.openxmlformats.org/package/2006/relationships"><Relationship Id="rId1" Type="http://schemas.openxmlformats.org/officeDocument/2006/relationships/package" Target="../embeddings/Microsoft_Excel_Worksheet145.xlsx"/></Relationships>
</file>

<file path=ppt/charts/_rels/chart147.xml.rels><?xml version="1.0" encoding="UTF-8" standalone="yes"?>
<Relationships xmlns="http://schemas.openxmlformats.org/package/2006/relationships"><Relationship Id="rId1" Type="http://schemas.openxmlformats.org/officeDocument/2006/relationships/package" Target="../embeddings/Microsoft_Excel_Worksheet146.xlsx"/></Relationships>
</file>

<file path=ppt/charts/_rels/chart148.xml.rels><?xml version="1.0" encoding="UTF-8" standalone="yes"?>
<Relationships xmlns="http://schemas.openxmlformats.org/package/2006/relationships"><Relationship Id="rId1" Type="http://schemas.openxmlformats.org/officeDocument/2006/relationships/package" Target="../embeddings/Microsoft_Excel_Worksheet147.xlsx"/></Relationships>
</file>

<file path=ppt/charts/_rels/chart149.xml.rels><?xml version="1.0" encoding="UTF-8" standalone="yes"?>
<Relationships xmlns="http://schemas.openxmlformats.org/package/2006/relationships"><Relationship Id="rId1" Type="http://schemas.openxmlformats.org/officeDocument/2006/relationships/package" Target="../embeddings/Microsoft_Excel_Worksheet148.xlsx"/></Relationships>
</file>

<file path=ppt/charts/_rels/chart150.xml.rels><?xml version="1.0" encoding="UTF-8" standalone="yes"?>
<Relationships xmlns="http://schemas.openxmlformats.org/package/2006/relationships"><Relationship Id="rId1" Type="http://schemas.openxmlformats.org/officeDocument/2006/relationships/package" Target="../embeddings/Microsoft_Excel_Worksheet149.xlsx"/></Relationships>
</file>

<file path=ppt/charts/_rels/chart151.xml.rels><?xml version="1.0" encoding="UTF-8" standalone="yes"?>
<Relationships xmlns="http://schemas.openxmlformats.org/package/2006/relationships"><Relationship Id="rId1" Type="http://schemas.openxmlformats.org/officeDocument/2006/relationships/package" Target="../embeddings/Microsoft_Excel_Worksheet150.xlsx"/></Relationships>
</file>

<file path=ppt/charts/_rels/chart152.xml.rels><?xml version="1.0" encoding="UTF-8" standalone="yes"?>
<Relationships xmlns="http://schemas.openxmlformats.org/package/2006/relationships"><Relationship Id="rId1" Type="http://schemas.openxmlformats.org/officeDocument/2006/relationships/package" Target="../embeddings/Microsoft_Excel_Worksheet151.xlsx"/></Relationships>
</file>

<file path=ppt/charts/_rels/chart153.xml.rels><?xml version="1.0" encoding="UTF-8" standalone="yes"?>
<Relationships xmlns="http://schemas.openxmlformats.org/package/2006/relationships"><Relationship Id="rId1" Type="http://schemas.openxmlformats.org/officeDocument/2006/relationships/package" Target="../embeddings/Microsoft_Excel_Worksheet152.xlsx"/></Relationships>
</file>

<file path=ppt/charts/_rels/chart154.xml.rels><?xml version="1.0" encoding="UTF-8" standalone="yes"?>
<Relationships xmlns="http://schemas.openxmlformats.org/package/2006/relationships"><Relationship Id="rId1" Type="http://schemas.openxmlformats.org/officeDocument/2006/relationships/package" Target="../embeddings/Microsoft_Excel_Worksheet153.xlsx"/></Relationships>
</file>

<file path=ppt/charts/_rels/chart155.xml.rels><?xml version="1.0" encoding="UTF-8" standalone="yes"?>
<Relationships xmlns="http://schemas.openxmlformats.org/package/2006/relationships"><Relationship Id="rId1" Type="http://schemas.openxmlformats.org/officeDocument/2006/relationships/package" Target="../embeddings/Microsoft_Excel_Worksheet154.xlsx"/></Relationships>
</file>

<file path=ppt/charts/_rels/chart156.xml.rels><?xml version="1.0" encoding="UTF-8" standalone="yes"?>
<Relationships xmlns="http://schemas.openxmlformats.org/package/2006/relationships"><Relationship Id="rId1" Type="http://schemas.openxmlformats.org/officeDocument/2006/relationships/package" Target="../embeddings/Microsoft_Excel_Worksheet155.xlsx"/></Relationships>
</file>

<file path=ppt/charts/_rels/chart157.xml.rels><?xml version="1.0" encoding="UTF-8" standalone="yes"?>
<Relationships xmlns="http://schemas.openxmlformats.org/package/2006/relationships"><Relationship Id="rId1" Type="http://schemas.openxmlformats.org/officeDocument/2006/relationships/package" Target="../embeddings/Microsoft_Excel_Worksheet156.xlsx"/></Relationships>
</file>

<file path=ppt/charts/_rels/chart158.xml.rels><?xml version="1.0" encoding="UTF-8" standalone="yes"?>
<Relationships xmlns="http://schemas.openxmlformats.org/package/2006/relationships"><Relationship Id="rId1" Type="http://schemas.openxmlformats.org/officeDocument/2006/relationships/package" Target="../embeddings/Microsoft_Excel_Worksheet157.xlsx"/></Relationships>
</file>

<file path=ppt/charts/_rels/chart159.xml.rels><?xml version="1.0" encoding="UTF-8" standalone="yes"?>
<Relationships xmlns="http://schemas.openxmlformats.org/package/2006/relationships"><Relationship Id="rId1" Type="http://schemas.openxmlformats.org/officeDocument/2006/relationships/package" Target="../embeddings/Microsoft_Excel_Worksheet158.xlsx"/></Relationships>
</file>

<file path=ppt/charts/_rels/chart160.xml.rels><?xml version="1.0" encoding="UTF-8" standalone="yes"?>
<Relationships xmlns="http://schemas.openxmlformats.org/package/2006/relationships"><Relationship Id="rId1" Type="http://schemas.openxmlformats.org/officeDocument/2006/relationships/package" Target="../embeddings/Microsoft_Excel_Worksheet159.xlsx"/></Relationships>
</file>

<file path=ppt/charts/_rels/chart161.xml.rels><?xml version="1.0" encoding="UTF-8" standalone="yes"?>
<Relationships xmlns="http://schemas.openxmlformats.org/package/2006/relationships"><Relationship Id="rId1" Type="http://schemas.openxmlformats.org/officeDocument/2006/relationships/package" Target="../embeddings/Microsoft_Excel_Worksheet160.xlsx"/></Relationships>
</file>

<file path=ppt/charts/_rels/chart162.xml.rels><?xml version="1.0" encoding="UTF-8" standalone="yes"?>
<Relationships xmlns="http://schemas.openxmlformats.org/package/2006/relationships"><Relationship Id="rId1" Type="http://schemas.openxmlformats.org/officeDocument/2006/relationships/package" Target="../embeddings/Microsoft_Excel_Worksheet161.xlsx"/></Relationships>
</file>

<file path=ppt/charts/_rels/chart163.xml.rels><?xml version="1.0" encoding="UTF-8" standalone="yes"?>
<Relationships xmlns="http://schemas.openxmlformats.org/package/2006/relationships"><Relationship Id="rId1" Type="http://schemas.openxmlformats.org/officeDocument/2006/relationships/package" Target="../embeddings/Microsoft_Excel_Worksheet162.xlsx"/></Relationships>
</file>

<file path=ppt/charts/_rels/chart164.xml.rels><?xml version="1.0" encoding="UTF-8" standalone="yes"?>
<Relationships xmlns="http://schemas.openxmlformats.org/package/2006/relationships"><Relationship Id="rId1" Type="http://schemas.openxmlformats.org/officeDocument/2006/relationships/package" Target="../embeddings/Microsoft_Excel_Worksheet163.xlsx"/></Relationships>
</file>

<file path=ppt/charts/_rels/chart165.xml.rels><?xml version="1.0" encoding="UTF-8" standalone="yes"?>
<Relationships xmlns="http://schemas.openxmlformats.org/package/2006/relationships"><Relationship Id="rId1" Type="http://schemas.openxmlformats.org/officeDocument/2006/relationships/package" Target="../embeddings/Microsoft_Excel_Worksheet164.xlsx"/></Relationships>
</file>

<file path=ppt/charts/_rels/chart166.xml.rels><?xml version="1.0" encoding="UTF-8" standalone="yes"?>
<Relationships xmlns="http://schemas.openxmlformats.org/package/2006/relationships"><Relationship Id="rId1" Type="http://schemas.openxmlformats.org/officeDocument/2006/relationships/package" Target="../embeddings/Microsoft_Excel_Worksheet165.xlsx"/></Relationships>
</file>

<file path=ppt/charts/_rels/chart167.xml.rels><?xml version="1.0" encoding="UTF-8" standalone="yes"?>
<Relationships xmlns="http://schemas.openxmlformats.org/package/2006/relationships"><Relationship Id="rId1" Type="http://schemas.openxmlformats.org/officeDocument/2006/relationships/package" Target="../embeddings/Microsoft_Excel_Worksheet166.xlsx"/></Relationships>
</file>

<file path=ppt/charts/_rels/chart168.xml.rels><?xml version="1.0" encoding="UTF-8" standalone="yes"?>
<Relationships xmlns="http://schemas.openxmlformats.org/package/2006/relationships"><Relationship Id="rId1" Type="http://schemas.openxmlformats.org/officeDocument/2006/relationships/package" Target="../embeddings/Microsoft_Excel_Worksheet167.xlsx"/></Relationships>
</file>

<file path=ppt/charts/_rels/chart169.xml.rels><?xml version="1.0" encoding="UTF-8" standalone="yes"?>
<Relationships xmlns="http://schemas.openxmlformats.org/package/2006/relationships"><Relationship Id="rId1" Type="http://schemas.openxmlformats.org/officeDocument/2006/relationships/package" Target="../embeddings/Microsoft_Excel_Worksheet168.xlsx"/></Relationships>
</file>

<file path=ppt/charts/_rels/chart170.xml.rels><?xml version="1.0" encoding="UTF-8" standalone="yes"?>
<Relationships xmlns="http://schemas.openxmlformats.org/package/2006/relationships"><Relationship Id="rId1" Type="http://schemas.openxmlformats.org/officeDocument/2006/relationships/package" Target="../embeddings/Microsoft_Excel_Worksheet169.xlsx"/></Relationships>
</file>

<file path=ppt/charts/_rels/chart171.xml.rels><?xml version="1.0" encoding="UTF-8" standalone="yes"?>
<Relationships xmlns="http://schemas.openxmlformats.org/package/2006/relationships"><Relationship Id="rId1" Type="http://schemas.openxmlformats.org/officeDocument/2006/relationships/package" Target="../embeddings/Microsoft_Excel_Worksheet170.xlsx"/></Relationships>
</file>

<file path=ppt/charts/_rels/chart172.xml.rels><?xml version="1.0" encoding="UTF-8" standalone="yes"?>
<Relationships xmlns="http://schemas.openxmlformats.org/package/2006/relationships"><Relationship Id="rId1" Type="http://schemas.openxmlformats.org/officeDocument/2006/relationships/package" Target="../embeddings/Microsoft_Excel_Worksheet171.xlsx"/></Relationships>
</file>

<file path=ppt/charts/_rels/chart173.xml.rels><?xml version="1.0" encoding="UTF-8" standalone="yes"?>
<Relationships xmlns="http://schemas.openxmlformats.org/package/2006/relationships"><Relationship Id="rId1" Type="http://schemas.openxmlformats.org/officeDocument/2006/relationships/package" Target="../embeddings/Microsoft_Excel_Worksheet172.xlsx"/></Relationships>
</file>

<file path=ppt/charts/_rels/chart174.xml.rels><?xml version="1.0" encoding="UTF-8" standalone="yes"?>
<Relationships xmlns="http://schemas.openxmlformats.org/package/2006/relationships"><Relationship Id="rId1" Type="http://schemas.openxmlformats.org/officeDocument/2006/relationships/package" Target="../embeddings/Microsoft_Excel_Worksheet173.xlsx"/></Relationships>
</file>

<file path=ppt/charts/_rels/chart175.xml.rels><?xml version="1.0" encoding="UTF-8" standalone="yes"?>
<Relationships xmlns="http://schemas.openxmlformats.org/package/2006/relationships"><Relationship Id="rId1" Type="http://schemas.openxmlformats.org/officeDocument/2006/relationships/package" Target="../embeddings/Microsoft_Excel_Worksheet174.xlsx"/></Relationships>
</file>

<file path=ppt/charts/_rels/chart176.xml.rels><?xml version="1.0" encoding="UTF-8" standalone="yes"?>
<Relationships xmlns="http://schemas.openxmlformats.org/package/2006/relationships"><Relationship Id="rId1" Type="http://schemas.openxmlformats.org/officeDocument/2006/relationships/package" Target="../embeddings/Microsoft_Excel_Worksheet175.xlsx"/></Relationships>
</file>

<file path=ppt/charts/_rels/chart177.xml.rels><?xml version="1.0" encoding="UTF-8" standalone="yes"?>
<Relationships xmlns="http://schemas.openxmlformats.org/package/2006/relationships"><Relationship Id="rId1" Type="http://schemas.openxmlformats.org/officeDocument/2006/relationships/package" Target="../embeddings/Microsoft_Excel_Worksheet176.xlsx"/></Relationships>
</file>

<file path=ppt/charts/_rels/chart178.xml.rels><?xml version="1.0" encoding="UTF-8" standalone="yes"?>
<Relationships xmlns="http://schemas.openxmlformats.org/package/2006/relationships"><Relationship Id="rId1" Type="http://schemas.openxmlformats.org/officeDocument/2006/relationships/package" Target="../embeddings/Microsoft_Excel_Worksheet177.xlsx"/></Relationships>
</file>

<file path=ppt/charts/_rels/chart179.xml.rels><?xml version="1.0" encoding="UTF-8" standalone="yes"?>
<Relationships xmlns="http://schemas.openxmlformats.org/package/2006/relationships"><Relationship Id="rId1" Type="http://schemas.openxmlformats.org/officeDocument/2006/relationships/package" Target="../embeddings/Microsoft_Excel_Worksheet178.xlsx"/></Relationships>
</file>

<file path=ppt/charts/_rels/chart180.xml.rels><?xml version="1.0" encoding="UTF-8" standalone="yes"?>
<Relationships xmlns="http://schemas.openxmlformats.org/package/2006/relationships"><Relationship Id="rId1" Type="http://schemas.openxmlformats.org/officeDocument/2006/relationships/package" Target="../embeddings/Microsoft_Excel_Worksheet179.xlsx"/></Relationships>
</file>

<file path=ppt/charts/_rels/chart181.xml.rels><?xml version="1.0" encoding="UTF-8" standalone="yes"?>
<Relationships xmlns="http://schemas.openxmlformats.org/package/2006/relationships"><Relationship Id="rId1" Type="http://schemas.openxmlformats.org/officeDocument/2006/relationships/package" Target="../embeddings/Microsoft_Excel_Worksheet180.xlsx"/></Relationships>
</file>

<file path=ppt/charts/_rels/chart182.xml.rels><?xml version="1.0" encoding="UTF-8" standalone="yes"?>
<Relationships xmlns="http://schemas.openxmlformats.org/package/2006/relationships"><Relationship Id="rId1" Type="http://schemas.openxmlformats.org/officeDocument/2006/relationships/package" Target="../embeddings/Microsoft_Excel_Worksheet181.xlsx"/></Relationships>
</file>

<file path=ppt/charts/_rels/chart183.xml.rels><?xml version="1.0" encoding="UTF-8" standalone="yes"?>
<Relationships xmlns="http://schemas.openxmlformats.org/package/2006/relationships"><Relationship Id="rId1" Type="http://schemas.openxmlformats.org/officeDocument/2006/relationships/package" Target="../embeddings/Microsoft_Excel_Worksheet182.xlsx"/></Relationships>
</file>

<file path=ppt/charts/_rels/chart184.xml.rels><?xml version="1.0" encoding="UTF-8" standalone="yes"?>
<Relationships xmlns="http://schemas.openxmlformats.org/package/2006/relationships"><Relationship Id="rId1" Type="http://schemas.openxmlformats.org/officeDocument/2006/relationships/package" Target="../embeddings/Microsoft_Excel_Worksheet183.xlsx"/></Relationships>
</file>

<file path=ppt/charts/_rels/chart185.xml.rels><?xml version="1.0" encoding="UTF-8" standalone="yes"?>
<Relationships xmlns="http://schemas.openxmlformats.org/package/2006/relationships"><Relationship Id="rId1" Type="http://schemas.openxmlformats.org/officeDocument/2006/relationships/package" Target="../embeddings/Microsoft_Excel_Worksheet184.xlsx"/></Relationships>
</file>

<file path=ppt/charts/_rels/chart186.xml.rels><?xml version="1.0" encoding="UTF-8" standalone="yes"?>
<Relationships xmlns="http://schemas.openxmlformats.org/package/2006/relationships"><Relationship Id="rId1" Type="http://schemas.openxmlformats.org/officeDocument/2006/relationships/package" Target="../embeddings/Microsoft_Excel_Worksheet185.xlsx"/></Relationships>
</file>

<file path=ppt/charts/_rels/chart187.xml.rels><?xml version="1.0" encoding="UTF-8" standalone="yes"?>
<Relationships xmlns="http://schemas.openxmlformats.org/package/2006/relationships"><Relationship Id="rId1" Type="http://schemas.openxmlformats.org/officeDocument/2006/relationships/package" Target="../embeddings/Microsoft_Excel_Worksheet186.xlsx"/></Relationships>
</file>

<file path=ppt/charts/_rels/chart188.xml.rels><?xml version="1.0" encoding="UTF-8" standalone="yes"?>
<Relationships xmlns="http://schemas.openxmlformats.org/package/2006/relationships"><Relationship Id="rId1" Type="http://schemas.openxmlformats.org/officeDocument/2006/relationships/package" Target="../embeddings/Microsoft_Excel_Worksheet187.xlsx"/></Relationships>
</file>

<file path=ppt/charts/_rels/chart189.xml.rels><?xml version="1.0" encoding="UTF-8" standalone="yes"?>
<Relationships xmlns="http://schemas.openxmlformats.org/package/2006/relationships"><Relationship Id="rId1" Type="http://schemas.openxmlformats.org/officeDocument/2006/relationships/package" Target="../embeddings/Microsoft_Excel_Worksheet188.xlsx"/></Relationships>
</file>

<file path=ppt/charts/_rels/chart190.xml.rels><?xml version="1.0" encoding="UTF-8" standalone="yes"?>
<Relationships xmlns="http://schemas.openxmlformats.org/package/2006/relationships"><Relationship Id="rId1" Type="http://schemas.openxmlformats.org/officeDocument/2006/relationships/package" Target="../embeddings/Microsoft_Excel_Worksheet189.xlsx"/></Relationships>
</file>

<file path=ppt/charts/_rels/chart191.xml.rels><?xml version="1.0" encoding="UTF-8" standalone="yes"?>
<Relationships xmlns="http://schemas.openxmlformats.org/package/2006/relationships"><Relationship Id="rId1" Type="http://schemas.openxmlformats.org/officeDocument/2006/relationships/package" Target="../embeddings/Microsoft_Excel_Worksheet190.xlsx"/></Relationships>
</file>

<file path=ppt/charts/_rels/chart192.xml.rels><?xml version="1.0" encoding="UTF-8" standalone="yes"?>
<Relationships xmlns="http://schemas.openxmlformats.org/package/2006/relationships"><Relationship Id="rId1" Type="http://schemas.openxmlformats.org/officeDocument/2006/relationships/package" Target="../embeddings/Microsoft_Excel_Worksheet191.xlsx"/></Relationships>
</file>

<file path=ppt/charts/_rels/chart193.xml.rels><?xml version="1.0" encoding="UTF-8" standalone="yes"?>
<Relationships xmlns="http://schemas.openxmlformats.org/package/2006/relationships"><Relationship Id="rId1" Type="http://schemas.openxmlformats.org/officeDocument/2006/relationships/package" Target="../embeddings/Microsoft_Excel_Worksheet192.xlsx"/></Relationships>
</file>

<file path=ppt/charts/_rels/chart194.xml.rels><?xml version="1.0" encoding="UTF-8" standalone="yes"?>
<Relationships xmlns="http://schemas.openxmlformats.org/package/2006/relationships"><Relationship Id="rId1" Type="http://schemas.openxmlformats.org/officeDocument/2006/relationships/package" Target="../embeddings/Microsoft_Excel_Worksheet193.xlsx"/></Relationships>
</file>

<file path=ppt/charts/_rels/chart195.xml.rels><?xml version="1.0" encoding="UTF-8" standalone="yes"?>
<Relationships xmlns="http://schemas.openxmlformats.org/package/2006/relationships"><Relationship Id="rId1" Type="http://schemas.openxmlformats.org/officeDocument/2006/relationships/package" Target="../embeddings/Microsoft_Excel_Worksheet194.xlsx"/></Relationships>
</file>

<file path=ppt/charts/_rels/chart196.xml.rels><?xml version="1.0" encoding="UTF-8" standalone="yes"?>
<Relationships xmlns="http://schemas.openxmlformats.org/package/2006/relationships"><Relationship Id="rId1" Type="http://schemas.openxmlformats.org/officeDocument/2006/relationships/package" Target="../embeddings/Microsoft_Excel_Worksheet195.xlsx"/></Relationships>
</file>

<file path=ppt/charts/_rels/chart197.xml.rels><?xml version="1.0" encoding="UTF-8" standalone="yes"?>
<Relationships xmlns="http://schemas.openxmlformats.org/package/2006/relationships"><Relationship Id="rId1" Type="http://schemas.openxmlformats.org/officeDocument/2006/relationships/package" Target="../embeddings/Microsoft_Excel_Worksheet196.xlsx"/></Relationships>
</file>

<file path=ppt/charts/_rels/chart198.xml.rels><?xml version="1.0" encoding="UTF-8" standalone="yes"?>
<Relationships xmlns="http://schemas.openxmlformats.org/package/2006/relationships"><Relationship Id="rId1" Type="http://schemas.openxmlformats.org/officeDocument/2006/relationships/package" Target="../embeddings/Microsoft_Excel_Worksheet197.xlsx"/></Relationships>
</file>

<file path=ppt/charts/_rels/chart199.xml.rels><?xml version="1.0" encoding="UTF-8" standalone="yes"?>
<Relationships xmlns="http://schemas.openxmlformats.org/package/2006/relationships"><Relationship Id="rId1" Type="http://schemas.openxmlformats.org/officeDocument/2006/relationships/package" Target="../embeddings/Microsoft_Excel_Worksheet198.xlsx"/></Relationships>
</file>

<file path=ppt/charts/_rels/chart200.xml.rels><?xml version="1.0" encoding="UTF-8" standalone="yes"?>
<Relationships xmlns="http://schemas.openxmlformats.org/package/2006/relationships"><Relationship Id="rId1" Type="http://schemas.openxmlformats.org/officeDocument/2006/relationships/package" Target="../embeddings/Microsoft_Excel_Worksheet19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Center Register Profile</a:t>
            </a:r>
          </a:p>
        </c:rich>
      </c:tx>
      <c:overlay val="0"/>
    </c:title>
    <c:autoTitleDeleted val="0"/>
    <c:plotArea>
      <c:layout/>
      <c:areaChart>
        <c:grouping val="standard"/>
        <c:varyColors val="0"/>
        <c:ser>
          <c:idx val="0"/>
          <c:order val="0"/>
          <c:tx>
            <c:strRef>
              <c:f>Sheet1!$B$1</c:f>
              <c:strCache>
                <c:ptCount val="1"/>
                <c:pt idx="0">
                  <c:v>Release</c:v>
                </c:pt>
              </c:strCache>
            </c:strRef>
          </c:tx>
          <c:cat>
            <c:strRef>
              <c:f>Sheet1!$A$2:$A$6</c:f>
              <c:strCache>
                <c:ptCount val="5"/>
                <c:pt idx="0">
                  <c:v>Profile</c:v>
                </c:pt>
                <c:pt idx="1">
                  <c:v>Release</c:v>
                </c:pt>
                <c:pt idx="2">
                  <c:v>Register</c:v>
                </c:pt>
                <c:pt idx="3">
                  <c:v>Spectrum</c:v>
                </c:pt>
                <c:pt idx="4">
                  <c:v>Gradient</c:v>
                </c:pt>
              </c:strCache>
            </c:strRef>
          </c:cat>
          <c:val>
            <c:numRef>
              <c:f>Sheet1!$B$2:$B$6</c:f>
              <c:numCache>
                <c:formatCode>General</c:formatCode>
                <c:ptCount val="5"/>
                <c:pt idx="0">
                  <c:v>12</c:v>
                </c:pt>
                <c:pt idx="1">
                  <c:v>60</c:v>
                </c:pt>
                <c:pt idx="2">
                  <c:v>43</c:v>
                </c:pt>
                <c:pt idx="3">
                  <c:v>85</c:v>
                </c:pt>
                <c:pt idx="4">
                  <c:v>35</c:v>
                </c:pt>
              </c:numCache>
            </c:numRef>
          </c:val>
          <c:extLst>
            <c:ext xmlns:c16="http://schemas.microsoft.com/office/drawing/2014/chart" uri="{C3380CC4-5D6E-409C-BE32-E72D297353CC}">
              <c16:uniqueId val="{00000000-C40C-469F-8794-F0F8F3A33FCF}"/>
            </c:ext>
          </c:extLst>
        </c:ser>
        <c:ser>
          <c:idx val="1"/>
          <c:order val="1"/>
          <c:tx>
            <c:strRef>
              <c:f>Sheet1!$C$1</c:f>
              <c:strCache>
                <c:ptCount val="1"/>
                <c:pt idx="0">
                  <c:v>Segment Channel</c:v>
                </c:pt>
              </c:strCache>
            </c:strRef>
          </c:tx>
          <c:cat>
            <c:strRef>
              <c:f>Sheet1!$A$2:$A$6</c:f>
              <c:strCache>
                <c:ptCount val="5"/>
                <c:pt idx="0">
                  <c:v>Profile</c:v>
                </c:pt>
                <c:pt idx="1">
                  <c:v>Release</c:v>
                </c:pt>
                <c:pt idx="2">
                  <c:v>Register</c:v>
                </c:pt>
                <c:pt idx="3">
                  <c:v>Spectrum</c:v>
                </c:pt>
                <c:pt idx="4">
                  <c:v>Gradient</c:v>
                </c:pt>
              </c:strCache>
            </c:strRef>
          </c:cat>
          <c:val>
            <c:numRef>
              <c:f>Sheet1!$C$2:$C$6</c:f>
              <c:numCache>
                <c:formatCode>General</c:formatCode>
                <c:ptCount val="5"/>
                <c:pt idx="0">
                  <c:v>87</c:v>
                </c:pt>
                <c:pt idx="1">
                  <c:v>64</c:v>
                </c:pt>
                <c:pt idx="2">
                  <c:v>24</c:v>
                </c:pt>
                <c:pt idx="3">
                  <c:v>46</c:v>
                </c:pt>
                <c:pt idx="4">
                  <c:v>77</c:v>
                </c:pt>
              </c:numCache>
            </c:numRef>
          </c:val>
          <c:extLst>
            <c:ext xmlns:c16="http://schemas.microsoft.com/office/drawing/2014/chart" uri="{C3380CC4-5D6E-409C-BE32-E72D297353CC}">
              <c16:uniqueId val="{00000001-C40C-469F-8794-F0F8F3A33FCF}"/>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Window Benchmark</c:v>
                </c:pt>
              </c:strCache>
            </c:strRef>
          </c:tx>
          <c:cat>
            <c:strRef>
              <c:f>Sheet1!$A$2:$A$6</c:f>
              <c:strCache>
                <c:ptCount val="5"/>
                <c:pt idx="0">
                  <c:v>Brief</c:v>
                </c:pt>
                <c:pt idx="1">
                  <c:v>Intent</c:v>
                </c:pt>
                <c:pt idx="2">
                  <c:v>Anchor</c:v>
                </c:pt>
                <c:pt idx="3">
                  <c:v>Sync</c:v>
                </c:pt>
                <c:pt idx="4">
                  <c:v>Drive</c:v>
                </c:pt>
              </c:strCache>
            </c:strRef>
          </c:cat>
          <c:val>
            <c:numRef>
              <c:f>Sheet1!$B$2:$B$6</c:f>
              <c:numCache>
                <c:formatCode>General</c:formatCode>
                <c:ptCount val="5"/>
                <c:pt idx="0">
                  <c:v>56</c:v>
                </c:pt>
                <c:pt idx="1">
                  <c:v>48</c:v>
                </c:pt>
                <c:pt idx="2">
                  <c:v>45</c:v>
                </c:pt>
                <c:pt idx="3">
                  <c:v>75</c:v>
                </c:pt>
                <c:pt idx="4">
                  <c:v>92</c:v>
                </c:pt>
              </c:numCache>
            </c:numRef>
          </c:val>
          <c:extLst>
            <c:ext xmlns:c16="http://schemas.microsoft.com/office/drawing/2014/chart" uri="{C3380CC4-5D6E-409C-BE32-E72D297353CC}">
              <c16:uniqueId val="{00000000-04A7-4E08-B051-A280EBD4C83F}"/>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Narrative Energy Context</a:t>
            </a:r>
          </a:p>
        </c:rich>
      </c:tx>
      <c:overlay val="0"/>
    </c:title>
    <c:autoTitleDeleted val="0"/>
    <c:plotArea>
      <c:layout/>
      <c:doughnutChart>
        <c:varyColors val="1"/>
        <c:ser>
          <c:idx val="0"/>
          <c:order val="0"/>
          <c:tx>
            <c:strRef>
              <c:f>Sheet1!$B$1</c:f>
              <c:strCache>
                <c:ptCount val="1"/>
                <c:pt idx="0">
                  <c:v>Canvas Bundle</c:v>
                </c:pt>
              </c:strCache>
            </c:strRef>
          </c:tx>
          <c:cat>
            <c:strRef>
              <c:f>Sheet1!$A$2:$A$5</c:f>
              <c:strCache>
                <c:ptCount val="4"/>
                <c:pt idx="0">
                  <c:v>Analysis</c:v>
                </c:pt>
                <c:pt idx="1">
                  <c:v>Forecast</c:v>
                </c:pt>
                <c:pt idx="2">
                  <c:v>Transit</c:v>
                </c:pt>
                <c:pt idx="3">
                  <c:v>Foundation</c:v>
                </c:pt>
              </c:strCache>
            </c:strRef>
          </c:cat>
          <c:val>
            <c:numRef>
              <c:f>Sheet1!$B$2:$B$5</c:f>
              <c:numCache>
                <c:formatCode>General</c:formatCode>
                <c:ptCount val="4"/>
                <c:pt idx="0">
                  <c:v>54</c:v>
                </c:pt>
                <c:pt idx="1">
                  <c:v>70</c:v>
                </c:pt>
                <c:pt idx="2">
                  <c:v>63</c:v>
                </c:pt>
                <c:pt idx="3">
                  <c:v>91</c:v>
                </c:pt>
              </c:numCache>
            </c:numRef>
          </c:val>
          <c:extLst>
            <c:ext xmlns:c16="http://schemas.microsoft.com/office/drawing/2014/chart" uri="{C3380CC4-5D6E-409C-BE32-E72D297353CC}">
              <c16:uniqueId val="{00000000-539E-4AA9-877F-6395AB64B497}"/>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Briefing</c:v>
                </c:pt>
              </c:strCache>
            </c:strRef>
          </c:tx>
          <c:invertIfNegative val="1"/>
          <c:cat>
            <c:strRef>
              <c:f>Sheet1!$A$2:$A$5</c:f>
              <c:strCache>
                <c:ptCount val="4"/>
                <c:pt idx="0">
                  <c:v>Segment</c:v>
                </c:pt>
                <c:pt idx="1">
                  <c:v>Engine</c:v>
                </c:pt>
                <c:pt idx="2">
                  <c:v>Service</c:v>
                </c:pt>
                <c:pt idx="3">
                  <c:v>Dashboard</c:v>
                </c:pt>
              </c:strCache>
            </c:strRef>
          </c:cat>
          <c:val>
            <c:numRef>
              <c:f>Sheet1!$B$2:$B$5</c:f>
              <c:numCache>
                <c:formatCode>General</c:formatCode>
                <c:ptCount val="4"/>
                <c:pt idx="0">
                  <c:v>33</c:v>
                </c:pt>
                <c:pt idx="1">
                  <c:v>59</c:v>
                </c:pt>
                <c:pt idx="2">
                  <c:v>63</c:v>
                </c:pt>
                <c:pt idx="3">
                  <c:v>73</c:v>
                </c:pt>
              </c:numCache>
            </c:numRef>
          </c:val>
          <c:extLst>
            <c:ext xmlns:c16="http://schemas.microsoft.com/office/drawing/2014/chart" uri="{C3380CC4-5D6E-409C-BE32-E72D297353CC}">
              <c16:uniqueId val="{00000000-867D-4F5D-A46C-51EF13DC6896}"/>
            </c:ext>
          </c:extLst>
        </c:ser>
        <c:ser>
          <c:idx val="1"/>
          <c:order val="1"/>
          <c:tx>
            <c:strRef>
              <c:f>Sheet1!$C$1</c:f>
              <c:strCache>
                <c:ptCount val="1"/>
                <c:pt idx="0">
                  <c:v>Exchange</c:v>
                </c:pt>
              </c:strCache>
            </c:strRef>
          </c:tx>
          <c:invertIfNegative val="1"/>
          <c:cat>
            <c:strRef>
              <c:f>Sheet1!$A$2:$A$5</c:f>
              <c:strCache>
                <c:ptCount val="4"/>
                <c:pt idx="0">
                  <c:v>Segment</c:v>
                </c:pt>
                <c:pt idx="1">
                  <c:v>Engine</c:v>
                </c:pt>
                <c:pt idx="2">
                  <c:v>Service</c:v>
                </c:pt>
                <c:pt idx="3">
                  <c:v>Dashboard</c:v>
                </c:pt>
              </c:strCache>
            </c:strRef>
          </c:cat>
          <c:val>
            <c:numRef>
              <c:f>Sheet1!$C$2:$C$5</c:f>
              <c:numCache>
                <c:formatCode>General</c:formatCode>
                <c:ptCount val="4"/>
                <c:pt idx="0">
                  <c:v>10</c:v>
                </c:pt>
                <c:pt idx="1">
                  <c:v>43</c:v>
                </c:pt>
                <c:pt idx="2">
                  <c:v>58</c:v>
                </c:pt>
                <c:pt idx="3">
                  <c:v>94</c:v>
                </c:pt>
              </c:numCache>
            </c:numRef>
          </c:val>
          <c:extLst>
            <c:ext xmlns:c16="http://schemas.microsoft.com/office/drawing/2014/chart" uri="{C3380CC4-5D6E-409C-BE32-E72D297353CC}">
              <c16:uniqueId val="{00000001-867D-4F5D-A46C-51EF13DC689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Detail</c:v>
                </c:pt>
              </c:strCache>
            </c:strRef>
          </c:tx>
          <c:invertIfNegative val="1"/>
          <c:cat>
            <c:strRef>
              <c:f>Sheet1!$A$2:$A$4</c:f>
              <c:strCache>
                <c:ptCount val="3"/>
                <c:pt idx="0">
                  <c:v>Switch</c:v>
                </c:pt>
                <c:pt idx="1">
                  <c:v>Flow</c:v>
                </c:pt>
                <c:pt idx="2">
                  <c:v>Program</c:v>
                </c:pt>
              </c:strCache>
            </c:strRef>
          </c:cat>
          <c:val>
            <c:numRef>
              <c:f>Sheet1!$B$2:$B$4</c:f>
              <c:numCache>
                <c:formatCode>General</c:formatCode>
                <c:ptCount val="3"/>
                <c:pt idx="0">
                  <c:v>62</c:v>
                </c:pt>
                <c:pt idx="1">
                  <c:v>43</c:v>
                </c:pt>
                <c:pt idx="2">
                  <c:v>25</c:v>
                </c:pt>
              </c:numCache>
            </c:numRef>
          </c:val>
          <c:extLst>
            <c:ext xmlns:c16="http://schemas.microsoft.com/office/drawing/2014/chart" uri="{C3380CC4-5D6E-409C-BE32-E72D297353CC}">
              <c16:uniqueId val="{00000000-6224-4B79-91F9-9B50DB820EE7}"/>
            </c:ext>
          </c:extLst>
        </c:ser>
        <c:ser>
          <c:idx val="1"/>
          <c:order val="1"/>
          <c:tx>
            <c:strRef>
              <c:f>Sheet1!$C$1</c:f>
              <c:strCache>
                <c:ptCount val="1"/>
                <c:pt idx="0">
                  <c:v>Adaptive</c:v>
                </c:pt>
              </c:strCache>
            </c:strRef>
          </c:tx>
          <c:invertIfNegative val="1"/>
          <c:cat>
            <c:strRef>
              <c:f>Sheet1!$A$2:$A$4</c:f>
              <c:strCache>
                <c:ptCount val="3"/>
                <c:pt idx="0">
                  <c:v>Switch</c:v>
                </c:pt>
                <c:pt idx="1">
                  <c:v>Flow</c:v>
                </c:pt>
                <c:pt idx="2">
                  <c:v>Program</c:v>
                </c:pt>
              </c:strCache>
            </c:strRef>
          </c:cat>
          <c:val>
            <c:numRef>
              <c:f>Sheet1!$C$2:$C$4</c:f>
              <c:numCache>
                <c:formatCode>General</c:formatCode>
                <c:ptCount val="3"/>
                <c:pt idx="0">
                  <c:v>10</c:v>
                </c:pt>
                <c:pt idx="1">
                  <c:v>13</c:v>
                </c:pt>
                <c:pt idx="2">
                  <c:v>92</c:v>
                </c:pt>
              </c:numCache>
            </c:numRef>
          </c:val>
          <c:extLst>
            <c:ext xmlns:c16="http://schemas.microsoft.com/office/drawing/2014/chart" uri="{C3380CC4-5D6E-409C-BE32-E72D297353CC}">
              <c16:uniqueId val="{00000001-6224-4B79-91F9-9B50DB820EE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Origin Matrix Kernel Surface Data</a:t>
            </a:r>
          </a:p>
        </c:rich>
      </c:tx>
      <c:overlay val="0"/>
    </c:title>
    <c:autoTitleDeleted val="0"/>
    <c:plotArea>
      <c:layout/>
      <c:barChart>
        <c:barDir val="bar"/>
        <c:grouping val="clustered"/>
        <c:varyColors val="1"/>
        <c:ser>
          <c:idx val="0"/>
          <c:order val="0"/>
          <c:tx>
            <c:strRef>
              <c:f>Sheet1!$B$1</c:f>
              <c:strCache>
                <c:ptCount val="1"/>
                <c:pt idx="0">
                  <c:v>Engine</c:v>
                </c:pt>
              </c:strCache>
            </c:strRef>
          </c:tx>
          <c:invertIfNegative val="1"/>
          <c:cat>
            <c:strRef>
              <c:f>Sheet1!$A$2:$A$7</c:f>
              <c:strCache>
                <c:ptCount val="6"/>
                <c:pt idx="0">
                  <c:v>Access</c:v>
                </c:pt>
                <c:pt idx="1">
                  <c:v>Frequency</c:v>
                </c:pt>
                <c:pt idx="2">
                  <c:v>Texture</c:v>
                </c:pt>
                <c:pt idx="3">
                  <c:v>Beacon</c:v>
                </c:pt>
                <c:pt idx="4">
                  <c:v>Build</c:v>
                </c:pt>
                <c:pt idx="5">
                  <c:v>Guide</c:v>
                </c:pt>
              </c:strCache>
            </c:strRef>
          </c:cat>
          <c:val>
            <c:numRef>
              <c:f>Sheet1!$B$2:$B$7</c:f>
              <c:numCache>
                <c:formatCode>General</c:formatCode>
                <c:ptCount val="6"/>
                <c:pt idx="0">
                  <c:v>25</c:v>
                </c:pt>
                <c:pt idx="1">
                  <c:v>32</c:v>
                </c:pt>
                <c:pt idx="2">
                  <c:v>84</c:v>
                </c:pt>
                <c:pt idx="3">
                  <c:v>20</c:v>
                </c:pt>
                <c:pt idx="4">
                  <c:v>25</c:v>
                </c:pt>
                <c:pt idx="5">
                  <c:v>35</c:v>
                </c:pt>
              </c:numCache>
            </c:numRef>
          </c:val>
          <c:extLst>
            <c:ext xmlns:c16="http://schemas.microsoft.com/office/drawing/2014/chart" uri="{C3380CC4-5D6E-409C-BE32-E72D297353CC}">
              <c16:uniqueId val="{00000000-CE90-47A2-BF25-4B33EF608301}"/>
            </c:ext>
          </c:extLst>
        </c:ser>
        <c:ser>
          <c:idx val="1"/>
          <c:order val="1"/>
          <c:tx>
            <c:strRef>
              <c:f>Sheet1!$C$1</c:f>
              <c:strCache>
                <c:ptCount val="1"/>
                <c:pt idx="0">
                  <c:v>Velocity</c:v>
                </c:pt>
              </c:strCache>
            </c:strRef>
          </c:tx>
          <c:invertIfNegative val="1"/>
          <c:cat>
            <c:strRef>
              <c:f>Sheet1!$A$2:$A$7</c:f>
              <c:strCache>
                <c:ptCount val="6"/>
                <c:pt idx="0">
                  <c:v>Access</c:v>
                </c:pt>
                <c:pt idx="1">
                  <c:v>Frequency</c:v>
                </c:pt>
                <c:pt idx="2">
                  <c:v>Texture</c:v>
                </c:pt>
                <c:pt idx="3">
                  <c:v>Beacon</c:v>
                </c:pt>
                <c:pt idx="4">
                  <c:v>Build</c:v>
                </c:pt>
                <c:pt idx="5">
                  <c:v>Guide</c:v>
                </c:pt>
              </c:strCache>
            </c:strRef>
          </c:cat>
          <c:val>
            <c:numRef>
              <c:f>Sheet1!$C$2:$C$7</c:f>
              <c:numCache>
                <c:formatCode>General</c:formatCode>
                <c:ptCount val="6"/>
                <c:pt idx="0">
                  <c:v>23</c:v>
                </c:pt>
                <c:pt idx="1">
                  <c:v>68</c:v>
                </c:pt>
                <c:pt idx="2">
                  <c:v>31</c:v>
                </c:pt>
                <c:pt idx="3">
                  <c:v>78</c:v>
                </c:pt>
                <c:pt idx="4">
                  <c:v>12</c:v>
                </c:pt>
                <c:pt idx="5">
                  <c:v>44</c:v>
                </c:pt>
              </c:numCache>
            </c:numRef>
          </c:val>
          <c:extLst>
            <c:ext xmlns:c16="http://schemas.microsoft.com/office/drawing/2014/chart" uri="{C3380CC4-5D6E-409C-BE32-E72D297353CC}">
              <c16:uniqueId val="{00000001-CE90-47A2-BF25-4B33EF60830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Option Journey Case Pulse</a:t>
            </a:r>
          </a:p>
        </c:rich>
      </c:tx>
      <c:overlay val="0"/>
    </c:title>
    <c:autoTitleDeleted val="0"/>
    <c:plotArea>
      <c:layout/>
      <c:barChart>
        <c:barDir val="bar"/>
        <c:grouping val="clustered"/>
        <c:varyColors val="1"/>
        <c:ser>
          <c:idx val="0"/>
          <c:order val="0"/>
          <c:tx>
            <c:strRef>
              <c:f>Sheet1!$B$1</c:f>
              <c:strCache>
                <c:ptCount val="1"/>
                <c:pt idx="0">
                  <c:v>Collection</c:v>
                </c:pt>
              </c:strCache>
            </c:strRef>
          </c:tx>
          <c:invertIfNegative val="1"/>
          <c:cat>
            <c:strRef>
              <c:f>Sheet1!$A$2:$A$7</c:f>
              <c:strCache>
                <c:ptCount val="6"/>
                <c:pt idx="0">
                  <c:v>Module</c:v>
                </c:pt>
                <c:pt idx="1">
                  <c:v>Envelope</c:v>
                </c:pt>
                <c:pt idx="2">
                  <c:v>Story</c:v>
                </c:pt>
                <c:pt idx="3">
                  <c:v>Concept</c:v>
                </c:pt>
                <c:pt idx="4">
                  <c:v>Model</c:v>
                </c:pt>
                <c:pt idx="5">
                  <c:v>Proof</c:v>
                </c:pt>
              </c:strCache>
            </c:strRef>
          </c:cat>
          <c:val>
            <c:numRef>
              <c:f>Sheet1!$B$2:$B$7</c:f>
              <c:numCache>
                <c:formatCode>General</c:formatCode>
                <c:ptCount val="6"/>
                <c:pt idx="0">
                  <c:v>27</c:v>
                </c:pt>
                <c:pt idx="1">
                  <c:v>69</c:v>
                </c:pt>
                <c:pt idx="2">
                  <c:v>35</c:v>
                </c:pt>
                <c:pt idx="3">
                  <c:v>41</c:v>
                </c:pt>
                <c:pt idx="4">
                  <c:v>52</c:v>
                </c:pt>
                <c:pt idx="5">
                  <c:v>24</c:v>
                </c:pt>
              </c:numCache>
            </c:numRef>
          </c:val>
          <c:extLst>
            <c:ext xmlns:c16="http://schemas.microsoft.com/office/drawing/2014/chart" uri="{C3380CC4-5D6E-409C-BE32-E72D297353CC}">
              <c16:uniqueId val="{00000000-A78A-44A6-A9BE-036FDBDF6A6E}"/>
            </c:ext>
          </c:extLst>
        </c:ser>
        <c:ser>
          <c:idx val="1"/>
          <c:order val="1"/>
          <c:tx>
            <c:strRef>
              <c:f>Sheet1!$C$1</c:f>
              <c:strCache>
                <c:ptCount val="1"/>
                <c:pt idx="0">
                  <c:v>Profile Guide</c:v>
                </c:pt>
              </c:strCache>
            </c:strRef>
          </c:tx>
          <c:invertIfNegative val="1"/>
          <c:cat>
            <c:strRef>
              <c:f>Sheet1!$A$2:$A$7</c:f>
              <c:strCache>
                <c:ptCount val="6"/>
                <c:pt idx="0">
                  <c:v>Module</c:v>
                </c:pt>
                <c:pt idx="1">
                  <c:v>Envelope</c:v>
                </c:pt>
                <c:pt idx="2">
                  <c:v>Story</c:v>
                </c:pt>
                <c:pt idx="3">
                  <c:v>Concept</c:v>
                </c:pt>
                <c:pt idx="4">
                  <c:v>Model</c:v>
                </c:pt>
                <c:pt idx="5">
                  <c:v>Proof</c:v>
                </c:pt>
              </c:strCache>
            </c:strRef>
          </c:cat>
          <c:val>
            <c:numRef>
              <c:f>Sheet1!$C$2:$C$7</c:f>
              <c:numCache>
                <c:formatCode>General</c:formatCode>
                <c:ptCount val="6"/>
                <c:pt idx="0">
                  <c:v>61</c:v>
                </c:pt>
                <c:pt idx="1">
                  <c:v>49</c:v>
                </c:pt>
                <c:pt idx="2">
                  <c:v>36</c:v>
                </c:pt>
                <c:pt idx="3">
                  <c:v>17</c:v>
                </c:pt>
                <c:pt idx="4">
                  <c:v>38</c:v>
                </c:pt>
                <c:pt idx="5">
                  <c:v>77</c:v>
                </c:pt>
              </c:numCache>
            </c:numRef>
          </c:val>
          <c:extLst>
            <c:ext xmlns:c16="http://schemas.microsoft.com/office/drawing/2014/chart" uri="{C3380CC4-5D6E-409C-BE32-E72D297353CC}">
              <c16:uniqueId val="{00000001-A78A-44A6-A9BE-036FDBDF6A6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Audit Center</c:v>
                </c:pt>
              </c:strCache>
            </c:strRef>
          </c:tx>
          <c:cat>
            <c:strRef>
              <c:f>Sheet1!$A$2:$A$4</c:f>
              <c:strCache>
                <c:ptCount val="3"/>
                <c:pt idx="0">
                  <c:v>Anchor</c:v>
                </c:pt>
                <c:pt idx="1">
                  <c:v>Pixel</c:v>
                </c:pt>
                <c:pt idx="2">
                  <c:v>Texture</c:v>
                </c:pt>
              </c:strCache>
            </c:strRef>
          </c:cat>
          <c:val>
            <c:numRef>
              <c:f>Sheet1!$B$2:$B$4</c:f>
              <c:numCache>
                <c:formatCode>General</c:formatCode>
                <c:ptCount val="3"/>
                <c:pt idx="0">
                  <c:v>49</c:v>
                </c:pt>
                <c:pt idx="1">
                  <c:v>18</c:v>
                </c:pt>
                <c:pt idx="2">
                  <c:v>75</c:v>
                </c:pt>
              </c:numCache>
            </c:numRef>
          </c:val>
          <c:smooth val="0"/>
          <c:extLst>
            <c:ext xmlns:c16="http://schemas.microsoft.com/office/drawing/2014/chart" uri="{C3380CC4-5D6E-409C-BE32-E72D297353CC}">
              <c16:uniqueId val="{00000000-0A46-4711-98E9-4F0CF60282BE}"/>
            </c:ext>
          </c:extLst>
        </c:ser>
        <c:ser>
          <c:idx val="1"/>
          <c:order val="1"/>
          <c:tx>
            <c:strRef>
              <c:f>Sheet1!$C$1</c:f>
              <c:strCache>
                <c:ptCount val="1"/>
                <c:pt idx="0">
                  <c:v>Record Interface</c:v>
                </c:pt>
              </c:strCache>
            </c:strRef>
          </c:tx>
          <c:cat>
            <c:strRef>
              <c:f>Sheet1!$A$2:$A$4</c:f>
              <c:strCache>
                <c:ptCount val="3"/>
                <c:pt idx="0">
                  <c:v>Anchor</c:v>
                </c:pt>
                <c:pt idx="1">
                  <c:v>Pixel</c:v>
                </c:pt>
                <c:pt idx="2">
                  <c:v>Texture</c:v>
                </c:pt>
              </c:strCache>
            </c:strRef>
          </c:cat>
          <c:val>
            <c:numRef>
              <c:f>Sheet1!$C$2:$C$4</c:f>
              <c:numCache>
                <c:formatCode>General</c:formatCode>
                <c:ptCount val="3"/>
                <c:pt idx="0">
                  <c:v>92</c:v>
                </c:pt>
                <c:pt idx="1">
                  <c:v>18</c:v>
                </c:pt>
                <c:pt idx="2">
                  <c:v>46</c:v>
                </c:pt>
              </c:numCache>
            </c:numRef>
          </c:val>
          <c:smooth val="0"/>
          <c:extLst>
            <c:ext xmlns:c16="http://schemas.microsoft.com/office/drawing/2014/chart" uri="{C3380CC4-5D6E-409C-BE32-E72D297353CC}">
              <c16:uniqueId val="{00000001-0A46-4711-98E9-4F0CF60282BE}"/>
            </c:ext>
          </c:extLst>
        </c:ser>
        <c:ser>
          <c:idx val="2"/>
          <c:order val="2"/>
          <c:tx>
            <c:strRef>
              <c:f>Sheet1!$D$1</c:f>
              <c:strCache>
                <c:ptCount val="1"/>
                <c:pt idx="0">
                  <c:v>Insight</c:v>
                </c:pt>
              </c:strCache>
            </c:strRef>
          </c:tx>
          <c:cat>
            <c:strRef>
              <c:f>Sheet1!$A$2:$A$4</c:f>
              <c:strCache>
                <c:ptCount val="3"/>
                <c:pt idx="0">
                  <c:v>Anchor</c:v>
                </c:pt>
                <c:pt idx="1">
                  <c:v>Pixel</c:v>
                </c:pt>
                <c:pt idx="2">
                  <c:v>Texture</c:v>
                </c:pt>
              </c:strCache>
            </c:strRef>
          </c:cat>
          <c:val>
            <c:numRef>
              <c:f>Sheet1!$D$2:$D$4</c:f>
              <c:numCache>
                <c:formatCode>General</c:formatCode>
                <c:ptCount val="3"/>
                <c:pt idx="0">
                  <c:v>26</c:v>
                </c:pt>
                <c:pt idx="1">
                  <c:v>26</c:v>
                </c:pt>
                <c:pt idx="2">
                  <c:v>72</c:v>
                </c:pt>
              </c:numCache>
            </c:numRef>
          </c:val>
          <c:smooth val="0"/>
          <c:extLst>
            <c:ext xmlns:c16="http://schemas.microsoft.com/office/drawing/2014/chart" uri="{C3380CC4-5D6E-409C-BE32-E72D297353CC}">
              <c16:uniqueId val="{00000002-0A46-4711-98E9-4F0CF60282B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Trace</c:v>
                </c:pt>
              </c:strCache>
            </c:strRef>
          </c:tx>
          <c:cat>
            <c:strRef>
              <c:f>Sheet1!$A$2:$A$4</c:f>
              <c:strCache>
                <c:ptCount val="3"/>
                <c:pt idx="0">
                  <c:v>Briefing</c:v>
                </c:pt>
                <c:pt idx="1">
                  <c:v>Field</c:v>
                </c:pt>
                <c:pt idx="2">
                  <c:v>Format</c:v>
                </c:pt>
              </c:strCache>
            </c:strRef>
          </c:cat>
          <c:val>
            <c:numRef>
              <c:f>Sheet1!$B$2:$B$4</c:f>
              <c:numCache>
                <c:formatCode>General</c:formatCode>
                <c:ptCount val="3"/>
                <c:pt idx="0">
                  <c:v>76</c:v>
                </c:pt>
                <c:pt idx="1">
                  <c:v>63</c:v>
                </c:pt>
                <c:pt idx="2">
                  <c:v>20</c:v>
                </c:pt>
              </c:numCache>
            </c:numRef>
          </c:val>
          <c:extLst>
            <c:ext xmlns:c16="http://schemas.microsoft.com/office/drawing/2014/chart" uri="{C3380CC4-5D6E-409C-BE32-E72D297353CC}">
              <c16:uniqueId val="{00000000-824D-45E7-800E-AF9C5C88C44D}"/>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Package Cadence</a:t>
            </a:r>
          </a:p>
        </c:rich>
      </c:tx>
      <c:overlay val="0"/>
    </c:title>
    <c:autoTitleDeleted val="0"/>
    <c:plotArea>
      <c:layout/>
      <c:pieChart>
        <c:varyColors val="1"/>
        <c:ser>
          <c:idx val="0"/>
          <c:order val="0"/>
          <c:tx>
            <c:strRef>
              <c:f>Sheet1!$B$1</c:f>
              <c:strCache>
                <c:ptCount val="1"/>
                <c:pt idx="0">
                  <c:v>Packet Connector</c:v>
                </c:pt>
              </c:strCache>
            </c:strRef>
          </c:tx>
          <c:cat>
            <c:strRef>
              <c:f>Sheet1!$A$2:$A$7</c:f>
              <c:strCache>
                <c:ptCount val="6"/>
                <c:pt idx="0">
                  <c:v>Account</c:v>
                </c:pt>
                <c:pt idx="1">
                  <c:v>Build</c:v>
                </c:pt>
                <c:pt idx="2">
                  <c:v>Request</c:v>
                </c:pt>
                <c:pt idx="3">
                  <c:v>Thread</c:v>
                </c:pt>
                <c:pt idx="4">
                  <c:v>Asset</c:v>
                </c:pt>
                <c:pt idx="5">
                  <c:v>Indicator</c:v>
                </c:pt>
              </c:strCache>
            </c:strRef>
          </c:cat>
          <c:val>
            <c:numRef>
              <c:f>Sheet1!$B$2:$B$7</c:f>
              <c:numCache>
                <c:formatCode>General</c:formatCode>
                <c:ptCount val="6"/>
                <c:pt idx="0">
                  <c:v>36</c:v>
                </c:pt>
                <c:pt idx="1">
                  <c:v>19</c:v>
                </c:pt>
                <c:pt idx="2">
                  <c:v>95</c:v>
                </c:pt>
                <c:pt idx="3">
                  <c:v>48</c:v>
                </c:pt>
                <c:pt idx="4">
                  <c:v>70</c:v>
                </c:pt>
                <c:pt idx="5">
                  <c:v>77</c:v>
                </c:pt>
              </c:numCache>
            </c:numRef>
          </c:val>
          <c:extLst>
            <c:ext xmlns:c16="http://schemas.microsoft.com/office/drawing/2014/chart" uri="{C3380CC4-5D6E-409C-BE32-E72D297353CC}">
              <c16:uniqueId val="{00000000-6E6B-47A7-94FB-FB7DD2CED744}"/>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Sync Datum</c:v>
                </c:pt>
              </c:strCache>
            </c:strRef>
          </c:tx>
          <c:cat>
            <c:strRef>
              <c:f>Sheet1!$A$2:$A$4</c:f>
              <c:strCache>
                <c:ptCount val="3"/>
                <c:pt idx="0">
                  <c:v>Memory</c:v>
                </c:pt>
                <c:pt idx="1">
                  <c:v>Level</c:v>
                </c:pt>
                <c:pt idx="2">
                  <c:v>Option</c:v>
                </c:pt>
              </c:strCache>
            </c:strRef>
          </c:cat>
          <c:val>
            <c:numRef>
              <c:f>Sheet1!$B$2:$B$4</c:f>
              <c:numCache>
                <c:formatCode>General</c:formatCode>
                <c:ptCount val="3"/>
                <c:pt idx="0">
                  <c:v>49</c:v>
                </c:pt>
                <c:pt idx="1">
                  <c:v>88</c:v>
                </c:pt>
                <c:pt idx="2">
                  <c:v>43</c:v>
                </c:pt>
              </c:numCache>
            </c:numRef>
          </c:val>
          <c:extLst>
            <c:ext xmlns:c16="http://schemas.microsoft.com/office/drawing/2014/chart" uri="{C3380CC4-5D6E-409C-BE32-E72D297353CC}">
              <c16:uniqueId val="{00000000-0C57-4D26-8C31-57131410AC5D}"/>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Chart Edge</c:v>
                </c:pt>
              </c:strCache>
            </c:strRef>
          </c:tx>
          <c:cat>
            <c:strRef>
              <c:f>Sheet1!$A$2:$A$6</c:f>
              <c:strCache>
                <c:ptCount val="5"/>
                <c:pt idx="0">
                  <c:v>Grid</c:v>
                </c:pt>
                <c:pt idx="1">
                  <c:v>Resource</c:v>
                </c:pt>
                <c:pt idx="2">
                  <c:v>Canvas</c:v>
                </c:pt>
                <c:pt idx="3">
                  <c:v>Data</c:v>
                </c:pt>
                <c:pt idx="4">
                  <c:v>Context</c:v>
                </c:pt>
              </c:strCache>
            </c:strRef>
          </c:cat>
          <c:val>
            <c:numRef>
              <c:f>Sheet1!$B$2:$B$6</c:f>
              <c:numCache>
                <c:formatCode>General</c:formatCode>
                <c:ptCount val="5"/>
                <c:pt idx="0">
                  <c:v>26</c:v>
                </c:pt>
                <c:pt idx="1">
                  <c:v>13</c:v>
                </c:pt>
                <c:pt idx="2">
                  <c:v>22</c:v>
                </c:pt>
                <c:pt idx="3">
                  <c:v>27</c:v>
                </c:pt>
                <c:pt idx="4">
                  <c:v>46</c:v>
                </c:pt>
              </c:numCache>
            </c:numRef>
          </c:val>
          <c:extLst>
            <c:ext xmlns:c16="http://schemas.microsoft.com/office/drawing/2014/chart" uri="{C3380CC4-5D6E-409C-BE32-E72D297353CC}">
              <c16:uniqueId val="{00000000-AA3D-4D0D-9933-6527B8895A64}"/>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Model</c:v>
                </c:pt>
              </c:strCache>
            </c:strRef>
          </c:tx>
          <c:cat>
            <c:strRef>
              <c:f>Sheet1!$A$2:$A$6</c:f>
              <c:strCache>
                <c:ptCount val="5"/>
                <c:pt idx="0">
                  <c:v>Beacon</c:v>
                </c:pt>
                <c:pt idx="1">
                  <c:v>Moment</c:v>
                </c:pt>
                <c:pt idx="2">
                  <c:v>Queueing</c:v>
                </c:pt>
                <c:pt idx="3">
                  <c:v>Lineage</c:v>
                </c:pt>
                <c:pt idx="4">
                  <c:v>Source</c:v>
                </c:pt>
              </c:strCache>
            </c:strRef>
          </c:cat>
          <c:val>
            <c:numRef>
              <c:f>Sheet1!$B$2:$B$6</c:f>
              <c:numCache>
                <c:formatCode>General</c:formatCode>
                <c:ptCount val="5"/>
                <c:pt idx="0">
                  <c:v>26</c:v>
                </c:pt>
                <c:pt idx="1">
                  <c:v>56</c:v>
                </c:pt>
                <c:pt idx="2">
                  <c:v>63</c:v>
                </c:pt>
                <c:pt idx="3">
                  <c:v>26</c:v>
                </c:pt>
                <c:pt idx="4">
                  <c:v>76</c:v>
                </c:pt>
              </c:numCache>
            </c:numRef>
          </c:val>
          <c:extLst>
            <c:ext xmlns:c16="http://schemas.microsoft.com/office/drawing/2014/chart" uri="{C3380CC4-5D6E-409C-BE32-E72D297353CC}">
              <c16:uniqueId val="{00000000-A311-4AED-BCA6-1CA34D5F8F26}"/>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Slice</c:v>
                </c:pt>
              </c:strCache>
            </c:strRef>
          </c:tx>
          <c:invertIfNegative val="1"/>
          <c:cat>
            <c:strRef>
              <c:f>Sheet1!$A$2:$A$7</c:f>
              <c:strCache>
                <c:ptCount val="6"/>
                <c:pt idx="0">
                  <c:v>Narrative</c:v>
                </c:pt>
                <c:pt idx="1">
                  <c:v>Route</c:v>
                </c:pt>
                <c:pt idx="2">
                  <c:v>Sequence</c:v>
                </c:pt>
                <c:pt idx="3">
                  <c:v>Ratio</c:v>
                </c:pt>
                <c:pt idx="4">
                  <c:v>Resource</c:v>
                </c:pt>
                <c:pt idx="5">
                  <c:v>Option</c:v>
                </c:pt>
              </c:strCache>
            </c:strRef>
          </c:cat>
          <c:val>
            <c:numRef>
              <c:f>Sheet1!$B$2:$B$7</c:f>
              <c:numCache>
                <c:formatCode>General</c:formatCode>
                <c:ptCount val="6"/>
                <c:pt idx="0">
                  <c:v>66</c:v>
                </c:pt>
                <c:pt idx="1">
                  <c:v>55</c:v>
                </c:pt>
                <c:pt idx="2">
                  <c:v>23</c:v>
                </c:pt>
                <c:pt idx="3">
                  <c:v>61</c:v>
                </c:pt>
                <c:pt idx="4">
                  <c:v>46</c:v>
                </c:pt>
                <c:pt idx="5">
                  <c:v>76</c:v>
                </c:pt>
              </c:numCache>
            </c:numRef>
          </c:val>
          <c:extLst>
            <c:ext xmlns:c16="http://schemas.microsoft.com/office/drawing/2014/chart" uri="{C3380CC4-5D6E-409C-BE32-E72D297353CC}">
              <c16:uniqueId val="{00000000-01D8-40F8-BFB0-746E53BFC528}"/>
            </c:ext>
          </c:extLst>
        </c:ser>
        <c:ser>
          <c:idx val="1"/>
          <c:order val="1"/>
          <c:tx>
            <c:strRef>
              <c:f>Sheet1!$C$1</c:f>
              <c:strCache>
                <c:ptCount val="1"/>
                <c:pt idx="0">
                  <c:v>Release Phase</c:v>
                </c:pt>
              </c:strCache>
            </c:strRef>
          </c:tx>
          <c:invertIfNegative val="1"/>
          <c:cat>
            <c:strRef>
              <c:f>Sheet1!$A$2:$A$7</c:f>
              <c:strCache>
                <c:ptCount val="6"/>
                <c:pt idx="0">
                  <c:v>Narrative</c:v>
                </c:pt>
                <c:pt idx="1">
                  <c:v>Route</c:v>
                </c:pt>
                <c:pt idx="2">
                  <c:v>Sequence</c:v>
                </c:pt>
                <c:pt idx="3">
                  <c:v>Ratio</c:v>
                </c:pt>
                <c:pt idx="4">
                  <c:v>Resource</c:v>
                </c:pt>
                <c:pt idx="5">
                  <c:v>Option</c:v>
                </c:pt>
              </c:strCache>
            </c:strRef>
          </c:cat>
          <c:val>
            <c:numRef>
              <c:f>Sheet1!$C$2:$C$7</c:f>
              <c:numCache>
                <c:formatCode>General</c:formatCode>
                <c:ptCount val="6"/>
                <c:pt idx="0">
                  <c:v>61</c:v>
                </c:pt>
                <c:pt idx="1">
                  <c:v>47</c:v>
                </c:pt>
                <c:pt idx="2">
                  <c:v>14</c:v>
                </c:pt>
                <c:pt idx="3">
                  <c:v>71</c:v>
                </c:pt>
                <c:pt idx="4">
                  <c:v>26</c:v>
                </c:pt>
                <c:pt idx="5">
                  <c:v>80</c:v>
                </c:pt>
              </c:numCache>
            </c:numRef>
          </c:val>
          <c:extLst>
            <c:ext xmlns:c16="http://schemas.microsoft.com/office/drawing/2014/chart" uri="{C3380CC4-5D6E-409C-BE32-E72D297353CC}">
              <c16:uniqueId val="{00000001-01D8-40F8-BFB0-746E53BFC528}"/>
            </c:ext>
          </c:extLst>
        </c:ser>
        <c:ser>
          <c:idx val="2"/>
          <c:order val="2"/>
          <c:tx>
            <c:strRef>
              <c:f>Sheet1!$D$1</c:f>
              <c:strCache>
                <c:ptCount val="1"/>
                <c:pt idx="0">
                  <c:v>Tile</c:v>
                </c:pt>
              </c:strCache>
            </c:strRef>
          </c:tx>
          <c:invertIfNegative val="1"/>
          <c:cat>
            <c:strRef>
              <c:f>Sheet1!$A$2:$A$7</c:f>
              <c:strCache>
                <c:ptCount val="6"/>
                <c:pt idx="0">
                  <c:v>Narrative</c:v>
                </c:pt>
                <c:pt idx="1">
                  <c:v>Route</c:v>
                </c:pt>
                <c:pt idx="2">
                  <c:v>Sequence</c:v>
                </c:pt>
                <c:pt idx="3">
                  <c:v>Ratio</c:v>
                </c:pt>
                <c:pt idx="4">
                  <c:v>Resource</c:v>
                </c:pt>
                <c:pt idx="5">
                  <c:v>Option</c:v>
                </c:pt>
              </c:strCache>
            </c:strRef>
          </c:cat>
          <c:val>
            <c:numRef>
              <c:f>Sheet1!$D$2:$D$7</c:f>
              <c:numCache>
                <c:formatCode>General</c:formatCode>
                <c:ptCount val="6"/>
                <c:pt idx="0">
                  <c:v>32</c:v>
                </c:pt>
                <c:pt idx="1">
                  <c:v>47</c:v>
                </c:pt>
                <c:pt idx="2">
                  <c:v>38</c:v>
                </c:pt>
                <c:pt idx="3">
                  <c:v>32</c:v>
                </c:pt>
                <c:pt idx="4">
                  <c:v>38</c:v>
                </c:pt>
                <c:pt idx="5">
                  <c:v>41</c:v>
                </c:pt>
              </c:numCache>
            </c:numRef>
          </c:val>
          <c:extLst>
            <c:ext xmlns:c16="http://schemas.microsoft.com/office/drawing/2014/chart" uri="{C3380CC4-5D6E-409C-BE32-E72D297353CC}">
              <c16:uniqueId val="{00000002-01D8-40F8-BFB0-746E53BFC52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Map Impact Aspect Entity</a:t>
            </a:r>
          </a:p>
        </c:rich>
      </c:tx>
      <c:overlay val="0"/>
    </c:title>
    <c:autoTitleDeleted val="0"/>
    <c:plotArea>
      <c:layout/>
      <c:lineChart>
        <c:grouping val="standard"/>
        <c:varyColors val="0"/>
        <c:ser>
          <c:idx val="0"/>
          <c:order val="0"/>
          <c:tx>
            <c:strRef>
              <c:f>Sheet1!$B$1</c:f>
              <c:strCache>
                <c:ptCount val="1"/>
                <c:pt idx="0">
                  <c:v>Drive</c:v>
                </c:pt>
              </c:strCache>
            </c:strRef>
          </c:tx>
          <c:cat>
            <c:strRef>
              <c:f>Sheet1!$A$2:$A$7</c:f>
              <c:strCache>
                <c:ptCount val="6"/>
                <c:pt idx="0">
                  <c:v>Transform</c:v>
                </c:pt>
                <c:pt idx="1">
                  <c:v>Cycle</c:v>
                </c:pt>
                <c:pt idx="2">
                  <c:v>Segment</c:v>
                </c:pt>
                <c:pt idx="3">
                  <c:v>Frame</c:v>
                </c:pt>
                <c:pt idx="4">
                  <c:v>Function</c:v>
                </c:pt>
                <c:pt idx="5">
                  <c:v>Release</c:v>
                </c:pt>
              </c:strCache>
            </c:strRef>
          </c:cat>
          <c:val>
            <c:numRef>
              <c:f>Sheet1!$B$2:$B$7</c:f>
              <c:numCache>
                <c:formatCode>General</c:formatCode>
                <c:ptCount val="6"/>
                <c:pt idx="0">
                  <c:v>65</c:v>
                </c:pt>
                <c:pt idx="1">
                  <c:v>69</c:v>
                </c:pt>
                <c:pt idx="2">
                  <c:v>14</c:v>
                </c:pt>
                <c:pt idx="3">
                  <c:v>29</c:v>
                </c:pt>
                <c:pt idx="4">
                  <c:v>58</c:v>
                </c:pt>
                <c:pt idx="5">
                  <c:v>39</c:v>
                </c:pt>
              </c:numCache>
            </c:numRef>
          </c:val>
          <c:smooth val="0"/>
          <c:extLst>
            <c:ext xmlns:c16="http://schemas.microsoft.com/office/drawing/2014/chart" uri="{C3380CC4-5D6E-409C-BE32-E72D297353CC}">
              <c16:uniqueId val="{00000000-919C-40C3-B7F1-9172C2917386}"/>
            </c:ext>
          </c:extLst>
        </c:ser>
        <c:ser>
          <c:idx val="1"/>
          <c:order val="1"/>
          <c:tx>
            <c:strRef>
              <c:f>Sheet1!$C$1</c:f>
              <c:strCache>
                <c:ptCount val="1"/>
                <c:pt idx="0">
                  <c:v>Object</c:v>
                </c:pt>
              </c:strCache>
            </c:strRef>
          </c:tx>
          <c:cat>
            <c:strRef>
              <c:f>Sheet1!$A$2:$A$7</c:f>
              <c:strCache>
                <c:ptCount val="6"/>
                <c:pt idx="0">
                  <c:v>Transform</c:v>
                </c:pt>
                <c:pt idx="1">
                  <c:v>Cycle</c:v>
                </c:pt>
                <c:pt idx="2">
                  <c:v>Segment</c:v>
                </c:pt>
                <c:pt idx="3">
                  <c:v>Frame</c:v>
                </c:pt>
                <c:pt idx="4">
                  <c:v>Function</c:v>
                </c:pt>
                <c:pt idx="5">
                  <c:v>Release</c:v>
                </c:pt>
              </c:strCache>
            </c:strRef>
          </c:cat>
          <c:val>
            <c:numRef>
              <c:f>Sheet1!$C$2:$C$7</c:f>
              <c:numCache>
                <c:formatCode>General</c:formatCode>
                <c:ptCount val="6"/>
                <c:pt idx="0">
                  <c:v>79</c:v>
                </c:pt>
                <c:pt idx="1">
                  <c:v>35</c:v>
                </c:pt>
                <c:pt idx="2">
                  <c:v>57</c:v>
                </c:pt>
                <c:pt idx="3">
                  <c:v>64</c:v>
                </c:pt>
                <c:pt idx="4">
                  <c:v>13</c:v>
                </c:pt>
                <c:pt idx="5">
                  <c:v>81</c:v>
                </c:pt>
              </c:numCache>
            </c:numRef>
          </c:val>
          <c:smooth val="0"/>
          <c:extLst>
            <c:ext xmlns:c16="http://schemas.microsoft.com/office/drawing/2014/chart" uri="{C3380CC4-5D6E-409C-BE32-E72D297353CC}">
              <c16:uniqueId val="{00000001-919C-40C3-B7F1-9172C291738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Lens Runtime Pipeline Connector</a:t>
            </a:r>
          </a:p>
        </c:rich>
      </c:tx>
      <c:overlay val="0"/>
    </c:title>
    <c:autoTitleDeleted val="0"/>
    <c:plotArea>
      <c:layout/>
      <c:barChart>
        <c:barDir val="col"/>
        <c:grouping val="clustered"/>
        <c:varyColors val="1"/>
        <c:ser>
          <c:idx val="0"/>
          <c:order val="0"/>
          <c:tx>
            <c:strRef>
              <c:f>Sheet1!$B$1</c:f>
              <c:strCache>
                <c:ptCount val="1"/>
                <c:pt idx="0">
                  <c:v>Station</c:v>
                </c:pt>
              </c:strCache>
            </c:strRef>
          </c:tx>
          <c:invertIfNegative val="1"/>
          <c:cat>
            <c:strRef>
              <c:f>Sheet1!$A$2:$A$4</c:f>
              <c:strCache>
                <c:ptCount val="3"/>
                <c:pt idx="0">
                  <c:v>Depth</c:v>
                </c:pt>
                <c:pt idx="1">
                  <c:v>Queueing</c:v>
                </c:pt>
                <c:pt idx="2">
                  <c:v>Design</c:v>
                </c:pt>
              </c:strCache>
            </c:strRef>
          </c:cat>
          <c:val>
            <c:numRef>
              <c:f>Sheet1!$B$2:$B$4</c:f>
              <c:numCache>
                <c:formatCode>General</c:formatCode>
                <c:ptCount val="3"/>
                <c:pt idx="0">
                  <c:v>75</c:v>
                </c:pt>
                <c:pt idx="1">
                  <c:v>47</c:v>
                </c:pt>
                <c:pt idx="2">
                  <c:v>92</c:v>
                </c:pt>
              </c:numCache>
            </c:numRef>
          </c:val>
          <c:extLst>
            <c:ext xmlns:c16="http://schemas.microsoft.com/office/drawing/2014/chart" uri="{C3380CC4-5D6E-409C-BE32-E72D297353CC}">
              <c16:uniqueId val="{00000000-9BBC-4FD0-BB91-6AFD6653FD28}"/>
            </c:ext>
          </c:extLst>
        </c:ser>
        <c:ser>
          <c:idx val="1"/>
          <c:order val="1"/>
          <c:tx>
            <c:strRef>
              <c:f>Sheet1!$C$1</c:f>
              <c:strCache>
                <c:ptCount val="1"/>
                <c:pt idx="0">
                  <c:v>Level</c:v>
                </c:pt>
              </c:strCache>
            </c:strRef>
          </c:tx>
          <c:invertIfNegative val="1"/>
          <c:cat>
            <c:strRef>
              <c:f>Sheet1!$A$2:$A$4</c:f>
              <c:strCache>
                <c:ptCount val="3"/>
                <c:pt idx="0">
                  <c:v>Depth</c:v>
                </c:pt>
                <c:pt idx="1">
                  <c:v>Queueing</c:v>
                </c:pt>
                <c:pt idx="2">
                  <c:v>Design</c:v>
                </c:pt>
              </c:strCache>
            </c:strRef>
          </c:cat>
          <c:val>
            <c:numRef>
              <c:f>Sheet1!$C$2:$C$4</c:f>
              <c:numCache>
                <c:formatCode>General</c:formatCode>
                <c:ptCount val="3"/>
                <c:pt idx="0">
                  <c:v>69</c:v>
                </c:pt>
                <c:pt idx="1">
                  <c:v>80</c:v>
                </c:pt>
                <c:pt idx="2">
                  <c:v>69</c:v>
                </c:pt>
              </c:numCache>
            </c:numRef>
          </c:val>
          <c:extLst>
            <c:ext xmlns:c16="http://schemas.microsoft.com/office/drawing/2014/chart" uri="{C3380CC4-5D6E-409C-BE32-E72D297353CC}">
              <c16:uniqueId val="{00000001-9BBC-4FD0-BB91-6AFD6653FD2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Needle Grid Lens Baseline Bridge</a:t>
            </a:r>
          </a:p>
        </c:rich>
      </c:tx>
      <c:overlay val="0"/>
    </c:title>
    <c:autoTitleDeleted val="0"/>
    <c:plotArea>
      <c:layout/>
      <c:pieChart>
        <c:varyColors val="1"/>
        <c:ser>
          <c:idx val="0"/>
          <c:order val="0"/>
          <c:tx>
            <c:strRef>
              <c:f>Sheet1!$B$1</c:f>
              <c:strCache>
                <c:ptCount val="1"/>
                <c:pt idx="0">
                  <c:v>Origin Delta</c:v>
                </c:pt>
              </c:strCache>
            </c:strRef>
          </c:tx>
          <c:cat>
            <c:strRef>
              <c:f>Sheet1!$A$2:$A$6</c:f>
              <c:strCache>
                <c:ptCount val="5"/>
                <c:pt idx="0">
                  <c:v>Status</c:v>
                </c:pt>
                <c:pt idx="1">
                  <c:v>Detail</c:v>
                </c:pt>
                <c:pt idx="2">
                  <c:v>Object</c:v>
                </c:pt>
                <c:pt idx="3">
                  <c:v>Density</c:v>
                </c:pt>
                <c:pt idx="4">
                  <c:v>Model</c:v>
                </c:pt>
              </c:strCache>
            </c:strRef>
          </c:cat>
          <c:val>
            <c:numRef>
              <c:f>Sheet1!$B$2:$B$6</c:f>
              <c:numCache>
                <c:formatCode>General</c:formatCode>
                <c:ptCount val="5"/>
                <c:pt idx="0">
                  <c:v>11</c:v>
                </c:pt>
                <c:pt idx="1">
                  <c:v>79</c:v>
                </c:pt>
                <c:pt idx="2">
                  <c:v>16</c:v>
                </c:pt>
                <c:pt idx="3">
                  <c:v>86</c:v>
                </c:pt>
                <c:pt idx="4">
                  <c:v>44</c:v>
                </c:pt>
              </c:numCache>
            </c:numRef>
          </c:val>
          <c:extLst>
            <c:ext xmlns:c16="http://schemas.microsoft.com/office/drawing/2014/chart" uri="{C3380CC4-5D6E-409C-BE32-E72D297353CC}">
              <c16:uniqueId val="{00000000-42D2-405A-98E5-13206291F9EB}"/>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Atlas Expansion</c:v>
                </c:pt>
              </c:strCache>
            </c:strRef>
          </c:tx>
          <c:cat>
            <c:strRef>
              <c:f>Sheet1!$A$2:$A$7</c:f>
              <c:strCache>
                <c:ptCount val="6"/>
                <c:pt idx="0">
                  <c:v>Path</c:v>
                </c:pt>
                <c:pt idx="1">
                  <c:v>Layer</c:v>
                </c:pt>
                <c:pt idx="2">
                  <c:v>Stack</c:v>
                </c:pt>
                <c:pt idx="3">
                  <c:v>Template</c:v>
                </c:pt>
                <c:pt idx="4">
                  <c:v>Scope</c:v>
                </c:pt>
                <c:pt idx="5">
                  <c:v>Switch</c:v>
                </c:pt>
              </c:strCache>
            </c:strRef>
          </c:cat>
          <c:val>
            <c:numRef>
              <c:f>Sheet1!$B$2:$B$7</c:f>
              <c:numCache>
                <c:formatCode>General</c:formatCode>
                <c:ptCount val="6"/>
                <c:pt idx="0">
                  <c:v>22</c:v>
                </c:pt>
                <c:pt idx="1">
                  <c:v>32</c:v>
                </c:pt>
                <c:pt idx="2">
                  <c:v>25</c:v>
                </c:pt>
                <c:pt idx="3">
                  <c:v>11</c:v>
                </c:pt>
                <c:pt idx="4">
                  <c:v>83</c:v>
                </c:pt>
                <c:pt idx="5">
                  <c:v>61</c:v>
                </c:pt>
              </c:numCache>
            </c:numRef>
          </c:val>
          <c:extLst>
            <c:ext xmlns:c16="http://schemas.microsoft.com/office/drawing/2014/chart" uri="{C3380CC4-5D6E-409C-BE32-E72D297353CC}">
              <c16:uniqueId val="{00000000-C374-4E05-AF14-B9C60CB128E6}"/>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Loop Logic Cortex Pipeline</a:t>
            </a:r>
          </a:p>
        </c:rich>
      </c:tx>
      <c:overlay val="0"/>
    </c:title>
    <c:autoTitleDeleted val="0"/>
    <c:plotArea>
      <c:layout/>
      <c:barChart>
        <c:barDir val="col"/>
        <c:grouping val="clustered"/>
        <c:varyColors val="1"/>
        <c:ser>
          <c:idx val="0"/>
          <c:order val="0"/>
          <c:tx>
            <c:strRef>
              <c:f>Sheet1!$B$1</c:f>
              <c:strCache>
                <c:ptCount val="1"/>
                <c:pt idx="0">
                  <c:v>Needle</c:v>
                </c:pt>
              </c:strCache>
            </c:strRef>
          </c:tx>
          <c:invertIfNegative val="1"/>
          <c:cat>
            <c:strRef>
              <c:f>Sheet1!$A$2:$A$5</c:f>
              <c:strCache>
                <c:ptCount val="4"/>
                <c:pt idx="0">
                  <c:v>State</c:v>
                </c:pt>
                <c:pt idx="1">
                  <c:v>Trace</c:v>
                </c:pt>
                <c:pt idx="2">
                  <c:v>Deployment</c:v>
                </c:pt>
                <c:pt idx="3">
                  <c:v>Energy</c:v>
                </c:pt>
              </c:strCache>
            </c:strRef>
          </c:cat>
          <c:val>
            <c:numRef>
              <c:f>Sheet1!$B$2:$B$5</c:f>
              <c:numCache>
                <c:formatCode>General</c:formatCode>
                <c:ptCount val="4"/>
                <c:pt idx="0">
                  <c:v>85</c:v>
                </c:pt>
                <c:pt idx="1">
                  <c:v>89</c:v>
                </c:pt>
                <c:pt idx="2">
                  <c:v>60</c:v>
                </c:pt>
                <c:pt idx="3">
                  <c:v>71</c:v>
                </c:pt>
              </c:numCache>
            </c:numRef>
          </c:val>
          <c:extLst>
            <c:ext xmlns:c16="http://schemas.microsoft.com/office/drawing/2014/chart" uri="{C3380CC4-5D6E-409C-BE32-E72D297353CC}">
              <c16:uniqueId val="{00000000-C7EC-494C-B760-0F858D6C978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Register</c:v>
                </c:pt>
              </c:strCache>
            </c:strRef>
          </c:tx>
          <c:invertIfNegative val="1"/>
          <c:cat>
            <c:strRef>
              <c:f>Sheet1!$A$2:$A$7</c:f>
              <c:strCache>
                <c:ptCount val="6"/>
                <c:pt idx="0">
                  <c:v>Program</c:v>
                </c:pt>
                <c:pt idx="1">
                  <c:v>Milestone</c:v>
                </c:pt>
                <c:pt idx="2">
                  <c:v>Layer</c:v>
                </c:pt>
                <c:pt idx="3">
                  <c:v>Center</c:v>
                </c:pt>
                <c:pt idx="4">
                  <c:v>Context</c:v>
                </c:pt>
                <c:pt idx="5">
                  <c:v>Sync</c:v>
                </c:pt>
              </c:strCache>
            </c:strRef>
          </c:cat>
          <c:val>
            <c:numRef>
              <c:f>Sheet1!$B$2:$B$7</c:f>
              <c:numCache>
                <c:formatCode>General</c:formatCode>
                <c:ptCount val="6"/>
                <c:pt idx="0">
                  <c:v>83</c:v>
                </c:pt>
                <c:pt idx="1">
                  <c:v>92</c:v>
                </c:pt>
                <c:pt idx="2">
                  <c:v>84</c:v>
                </c:pt>
                <c:pt idx="3">
                  <c:v>57</c:v>
                </c:pt>
                <c:pt idx="4">
                  <c:v>34</c:v>
                </c:pt>
                <c:pt idx="5">
                  <c:v>72</c:v>
                </c:pt>
              </c:numCache>
            </c:numRef>
          </c:val>
          <c:extLst>
            <c:ext xmlns:c16="http://schemas.microsoft.com/office/drawing/2014/chart" uri="{C3380CC4-5D6E-409C-BE32-E72D297353CC}">
              <c16:uniqueId val="{00000000-9938-4096-B6DC-47C99F050FCF}"/>
            </c:ext>
          </c:extLst>
        </c:ser>
        <c:ser>
          <c:idx val="1"/>
          <c:order val="1"/>
          <c:tx>
            <c:strRef>
              <c:f>Sheet1!$C$1</c:f>
              <c:strCache>
                <c:ptCount val="1"/>
                <c:pt idx="0">
                  <c:v>Transit Link</c:v>
                </c:pt>
              </c:strCache>
            </c:strRef>
          </c:tx>
          <c:invertIfNegative val="1"/>
          <c:cat>
            <c:strRef>
              <c:f>Sheet1!$A$2:$A$7</c:f>
              <c:strCache>
                <c:ptCount val="6"/>
                <c:pt idx="0">
                  <c:v>Program</c:v>
                </c:pt>
                <c:pt idx="1">
                  <c:v>Milestone</c:v>
                </c:pt>
                <c:pt idx="2">
                  <c:v>Layer</c:v>
                </c:pt>
                <c:pt idx="3">
                  <c:v>Center</c:v>
                </c:pt>
                <c:pt idx="4">
                  <c:v>Context</c:v>
                </c:pt>
                <c:pt idx="5">
                  <c:v>Sync</c:v>
                </c:pt>
              </c:strCache>
            </c:strRef>
          </c:cat>
          <c:val>
            <c:numRef>
              <c:f>Sheet1!$C$2:$C$7</c:f>
              <c:numCache>
                <c:formatCode>General</c:formatCode>
                <c:ptCount val="6"/>
                <c:pt idx="0">
                  <c:v>49</c:v>
                </c:pt>
                <c:pt idx="1">
                  <c:v>41</c:v>
                </c:pt>
                <c:pt idx="2">
                  <c:v>76</c:v>
                </c:pt>
                <c:pt idx="3">
                  <c:v>91</c:v>
                </c:pt>
                <c:pt idx="4">
                  <c:v>58</c:v>
                </c:pt>
                <c:pt idx="5">
                  <c:v>8</c:v>
                </c:pt>
              </c:numCache>
            </c:numRef>
          </c:val>
          <c:extLst>
            <c:ext xmlns:c16="http://schemas.microsoft.com/office/drawing/2014/chart" uri="{C3380CC4-5D6E-409C-BE32-E72D297353CC}">
              <c16:uniqueId val="{00000001-9938-4096-B6DC-47C99F050FCF}"/>
            </c:ext>
          </c:extLst>
        </c:ser>
        <c:ser>
          <c:idx val="2"/>
          <c:order val="2"/>
          <c:tx>
            <c:strRef>
              <c:f>Sheet1!$D$1</c:f>
              <c:strCache>
                <c:ptCount val="1"/>
                <c:pt idx="0">
                  <c:v>Stack Plan</c:v>
                </c:pt>
              </c:strCache>
            </c:strRef>
          </c:tx>
          <c:invertIfNegative val="1"/>
          <c:cat>
            <c:strRef>
              <c:f>Sheet1!$A$2:$A$7</c:f>
              <c:strCache>
                <c:ptCount val="6"/>
                <c:pt idx="0">
                  <c:v>Program</c:v>
                </c:pt>
                <c:pt idx="1">
                  <c:v>Milestone</c:v>
                </c:pt>
                <c:pt idx="2">
                  <c:v>Layer</c:v>
                </c:pt>
                <c:pt idx="3">
                  <c:v>Center</c:v>
                </c:pt>
                <c:pt idx="4">
                  <c:v>Context</c:v>
                </c:pt>
                <c:pt idx="5">
                  <c:v>Sync</c:v>
                </c:pt>
              </c:strCache>
            </c:strRef>
          </c:cat>
          <c:val>
            <c:numRef>
              <c:f>Sheet1!$D$2:$D$7</c:f>
              <c:numCache>
                <c:formatCode>General</c:formatCode>
                <c:ptCount val="6"/>
                <c:pt idx="0">
                  <c:v>65</c:v>
                </c:pt>
                <c:pt idx="1">
                  <c:v>87</c:v>
                </c:pt>
                <c:pt idx="2">
                  <c:v>38</c:v>
                </c:pt>
                <c:pt idx="3">
                  <c:v>94</c:v>
                </c:pt>
                <c:pt idx="4">
                  <c:v>17</c:v>
                </c:pt>
                <c:pt idx="5">
                  <c:v>73</c:v>
                </c:pt>
              </c:numCache>
            </c:numRef>
          </c:val>
          <c:extLst>
            <c:ext xmlns:c16="http://schemas.microsoft.com/office/drawing/2014/chart" uri="{C3380CC4-5D6E-409C-BE32-E72D297353CC}">
              <c16:uniqueId val="{00000002-9938-4096-B6DC-47C99F050FC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Pipeline Discovery</c:v>
                </c:pt>
              </c:strCache>
            </c:strRef>
          </c:tx>
          <c:cat>
            <c:strRef>
              <c:f>Sheet1!$A$2:$A$7</c:f>
              <c:strCache>
                <c:ptCount val="6"/>
                <c:pt idx="0">
                  <c:v>Buffer</c:v>
                </c:pt>
                <c:pt idx="1">
                  <c:v>Trace</c:v>
                </c:pt>
                <c:pt idx="2">
                  <c:v>Alignment</c:v>
                </c:pt>
                <c:pt idx="3">
                  <c:v>Transform</c:v>
                </c:pt>
                <c:pt idx="4">
                  <c:v>Volume</c:v>
                </c:pt>
                <c:pt idx="5">
                  <c:v>Model</c:v>
                </c:pt>
              </c:strCache>
            </c:strRef>
          </c:cat>
          <c:val>
            <c:numRef>
              <c:f>Sheet1!$B$2:$B$7</c:f>
              <c:numCache>
                <c:formatCode>General</c:formatCode>
                <c:ptCount val="6"/>
                <c:pt idx="0">
                  <c:v>29</c:v>
                </c:pt>
                <c:pt idx="1">
                  <c:v>91</c:v>
                </c:pt>
                <c:pt idx="2">
                  <c:v>91</c:v>
                </c:pt>
                <c:pt idx="3">
                  <c:v>9</c:v>
                </c:pt>
                <c:pt idx="4">
                  <c:v>30</c:v>
                </c:pt>
                <c:pt idx="5">
                  <c:v>69</c:v>
                </c:pt>
              </c:numCache>
            </c:numRef>
          </c:val>
          <c:extLst>
            <c:ext xmlns:c16="http://schemas.microsoft.com/office/drawing/2014/chart" uri="{C3380CC4-5D6E-409C-BE32-E72D297353CC}">
              <c16:uniqueId val="{00000000-8C97-4EFD-891B-F835FA2FBBC4}"/>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Pipeline</c:v>
                </c:pt>
              </c:strCache>
            </c:strRef>
          </c:tx>
          <c:cat>
            <c:strRef>
              <c:f>Sheet1!$A$2:$A$6</c:f>
              <c:strCache>
                <c:ptCount val="5"/>
                <c:pt idx="0">
                  <c:v>Canvas</c:v>
                </c:pt>
                <c:pt idx="1">
                  <c:v>Grid</c:v>
                </c:pt>
                <c:pt idx="2">
                  <c:v>Moment</c:v>
                </c:pt>
                <c:pt idx="3">
                  <c:v>Domain</c:v>
                </c:pt>
                <c:pt idx="4">
                  <c:v>Ratio</c:v>
                </c:pt>
              </c:strCache>
            </c:strRef>
          </c:cat>
          <c:val>
            <c:numRef>
              <c:f>Sheet1!$B$2:$B$6</c:f>
              <c:numCache>
                <c:formatCode>General</c:formatCode>
                <c:ptCount val="5"/>
                <c:pt idx="0">
                  <c:v>59</c:v>
                </c:pt>
                <c:pt idx="1">
                  <c:v>33</c:v>
                </c:pt>
                <c:pt idx="2">
                  <c:v>55</c:v>
                </c:pt>
                <c:pt idx="3">
                  <c:v>44</c:v>
                </c:pt>
                <c:pt idx="4">
                  <c:v>58</c:v>
                </c:pt>
              </c:numCache>
            </c:numRef>
          </c:val>
          <c:extLst>
            <c:ext xmlns:c16="http://schemas.microsoft.com/office/drawing/2014/chart" uri="{C3380CC4-5D6E-409C-BE32-E72D297353CC}">
              <c16:uniqueId val="{00000000-AE19-40EF-B2D5-67C0A6CCC2DB}"/>
            </c:ext>
          </c:extLst>
        </c:ser>
        <c:ser>
          <c:idx val="1"/>
          <c:order val="1"/>
          <c:tx>
            <c:strRef>
              <c:f>Sheet1!$C$1</c:f>
              <c:strCache>
                <c:ptCount val="1"/>
                <c:pt idx="0">
                  <c:v>Spectrum Center</c:v>
                </c:pt>
              </c:strCache>
            </c:strRef>
          </c:tx>
          <c:cat>
            <c:strRef>
              <c:f>Sheet1!$A$2:$A$6</c:f>
              <c:strCache>
                <c:ptCount val="5"/>
                <c:pt idx="0">
                  <c:v>Canvas</c:v>
                </c:pt>
                <c:pt idx="1">
                  <c:v>Grid</c:v>
                </c:pt>
                <c:pt idx="2">
                  <c:v>Moment</c:v>
                </c:pt>
                <c:pt idx="3">
                  <c:v>Domain</c:v>
                </c:pt>
                <c:pt idx="4">
                  <c:v>Ratio</c:v>
                </c:pt>
              </c:strCache>
            </c:strRef>
          </c:cat>
          <c:val>
            <c:numRef>
              <c:f>Sheet1!$C$2:$C$6</c:f>
              <c:numCache>
                <c:formatCode>General</c:formatCode>
                <c:ptCount val="5"/>
                <c:pt idx="0">
                  <c:v>91</c:v>
                </c:pt>
                <c:pt idx="1">
                  <c:v>47</c:v>
                </c:pt>
                <c:pt idx="2">
                  <c:v>34</c:v>
                </c:pt>
                <c:pt idx="3">
                  <c:v>90</c:v>
                </c:pt>
                <c:pt idx="4">
                  <c:v>36</c:v>
                </c:pt>
              </c:numCache>
            </c:numRef>
          </c:val>
          <c:extLst>
            <c:ext xmlns:c16="http://schemas.microsoft.com/office/drawing/2014/chart" uri="{C3380CC4-5D6E-409C-BE32-E72D297353CC}">
              <c16:uniqueId val="{00000001-AE19-40EF-B2D5-67C0A6CCC2DB}"/>
            </c:ext>
          </c:extLst>
        </c:ser>
        <c:ser>
          <c:idx val="2"/>
          <c:order val="2"/>
          <c:tx>
            <c:strRef>
              <c:f>Sheet1!$D$1</c:f>
              <c:strCache>
                <c:ptCount val="1"/>
                <c:pt idx="0">
                  <c:v>Grid Trace</c:v>
                </c:pt>
              </c:strCache>
            </c:strRef>
          </c:tx>
          <c:cat>
            <c:strRef>
              <c:f>Sheet1!$A$2:$A$6</c:f>
              <c:strCache>
                <c:ptCount val="5"/>
                <c:pt idx="0">
                  <c:v>Canvas</c:v>
                </c:pt>
                <c:pt idx="1">
                  <c:v>Grid</c:v>
                </c:pt>
                <c:pt idx="2">
                  <c:v>Moment</c:v>
                </c:pt>
                <c:pt idx="3">
                  <c:v>Domain</c:v>
                </c:pt>
                <c:pt idx="4">
                  <c:v>Ratio</c:v>
                </c:pt>
              </c:strCache>
            </c:strRef>
          </c:cat>
          <c:val>
            <c:numRef>
              <c:f>Sheet1!$D$2:$D$6</c:f>
              <c:numCache>
                <c:formatCode>General</c:formatCode>
                <c:ptCount val="5"/>
                <c:pt idx="0">
                  <c:v>19</c:v>
                </c:pt>
                <c:pt idx="1">
                  <c:v>28</c:v>
                </c:pt>
                <c:pt idx="2">
                  <c:v>9</c:v>
                </c:pt>
                <c:pt idx="3">
                  <c:v>55</c:v>
                </c:pt>
                <c:pt idx="4">
                  <c:v>76</c:v>
                </c:pt>
              </c:numCache>
            </c:numRef>
          </c:val>
          <c:extLst>
            <c:ext xmlns:c16="http://schemas.microsoft.com/office/drawing/2014/chart" uri="{C3380CC4-5D6E-409C-BE32-E72D297353CC}">
              <c16:uniqueId val="{00000002-AE19-40EF-B2D5-67C0A6CCC2DB}"/>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Hub Duration</c:v>
                </c:pt>
              </c:strCache>
            </c:strRef>
          </c:tx>
          <c:cat>
            <c:strRef>
              <c:f>Sheet1!$A$2:$A$7</c:f>
              <c:strCache>
                <c:ptCount val="6"/>
                <c:pt idx="0">
                  <c:v>Stack</c:v>
                </c:pt>
                <c:pt idx="1">
                  <c:v>Energy</c:v>
                </c:pt>
                <c:pt idx="2">
                  <c:v>Echo</c:v>
                </c:pt>
                <c:pt idx="3">
                  <c:v>Response</c:v>
                </c:pt>
                <c:pt idx="4">
                  <c:v>Status</c:v>
                </c:pt>
                <c:pt idx="5">
                  <c:v>Path</c:v>
                </c:pt>
              </c:strCache>
            </c:strRef>
          </c:cat>
          <c:val>
            <c:numRef>
              <c:f>Sheet1!$B$2:$B$7</c:f>
              <c:numCache>
                <c:formatCode>General</c:formatCode>
                <c:ptCount val="6"/>
                <c:pt idx="0">
                  <c:v>89</c:v>
                </c:pt>
                <c:pt idx="1">
                  <c:v>93</c:v>
                </c:pt>
                <c:pt idx="2">
                  <c:v>22</c:v>
                </c:pt>
                <c:pt idx="3">
                  <c:v>22</c:v>
                </c:pt>
                <c:pt idx="4">
                  <c:v>46</c:v>
                </c:pt>
                <c:pt idx="5">
                  <c:v>61</c:v>
                </c:pt>
              </c:numCache>
            </c:numRef>
          </c:val>
          <c:extLst>
            <c:ext xmlns:c16="http://schemas.microsoft.com/office/drawing/2014/chart" uri="{C3380CC4-5D6E-409C-BE32-E72D297353CC}">
              <c16:uniqueId val="{00000000-ADCB-44F7-927C-F83B38A0B6E2}"/>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Function</c:v>
                </c:pt>
              </c:strCache>
            </c:strRef>
          </c:tx>
          <c:invertIfNegative val="1"/>
          <c:cat>
            <c:strRef>
              <c:f>Sheet1!$A$2:$A$5</c:f>
              <c:strCache>
                <c:ptCount val="4"/>
                <c:pt idx="0">
                  <c:v>Packet</c:v>
                </c:pt>
                <c:pt idx="1">
                  <c:v>Span</c:v>
                </c:pt>
                <c:pt idx="2">
                  <c:v>Module</c:v>
                </c:pt>
                <c:pt idx="3">
                  <c:v>Craft</c:v>
                </c:pt>
              </c:strCache>
            </c:strRef>
          </c:cat>
          <c:val>
            <c:numRef>
              <c:f>Sheet1!$B$2:$B$5</c:f>
              <c:numCache>
                <c:formatCode>General</c:formatCode>
                <c:ptCount val="4"/>
                <c:pt idx="0">
                  <c:v>65</c:v>
                </c:pt>
                <c:pt idx="1">
                  <c:v>57</c:v>
                </c:pt>
                <c:pt idx="2">
                  <c:v>86</c:v>
                </c:pt>
                <c:pt idx="3">
                  <c:v>82</c:v>
                </c:pt>
              </c:numCache>
            </c:numRef>
          </c:val>
          <c:extLst>
            <c:ext xmlns:c16="http://schemas.microsoft.com/office/drawing/2014/chart" uri="{C3380CC4-5D6E-409C-BE32-E72D297353CC}">
              <c16:uniqueId val="{00000000-F2B9-473B-B1B7-63AE4C9F6ABE}"/>
            </c:ext>
          </c:extLst>
        </c:ser>
        <c:ser>
          <c:idx val="1"/>
          <c:order val="1"/>
          <c:tx>
            <c:strRef>
              <c:f>Sheet1!$C$1</c:f>
              <c:strCache>
                <c:ptCount val="1"/>
                <c:pt idx="0">
                  <c:v>Service</c:v>
                </c:pt>
              </c:strCache>
            </c:strRef>
          </c:tx>
          <c:invertIfNegative val="1"/>
          <c:cat>
            <c:strRef>
              <c:f>Sheet1!$A$2:$A$5</c:f>
              <c:strCache>
                <c:ptCount val="4"/>
                <c:pt idx="0">
                  <c:v>Packet</c:v>
                </c:pt>
                <c:pt idx="1">
                  <c:v>Span</c:v>
                </c:pt>
                <c:pt idx="2">
                  <c:v>Module</c:v>
                </c:pt>
                <c:pt idx="3">
                  <c:v>Craft</c:v>
                </c:pt>
              </c:strCache>
            </c:strRef>
          </c:cat>
          <c:val>
            <c:numRef>
              <c:f>Sheet1!$C$2:$C$5</c:f>
              <c:numCache>
                <c:formatCode>General</c:formatCode>
                <c:ptCount val="4"/>
                <c:pt idx="0">
                  <c:v>32</c:v>
                </c:pt>
                <c:pt idx="1">
                  <c:v>56</c:v>
                </c:pt>
                <c:pt idx="2">
                  <c:v>44</c:v>
                </c:pt>
                <c:pt idx="3">
                  <c:v>49</c:v>
                </c:pt>
              </c:numCache>
            </c:numRef>
          </c:val>
          <c:extLst>
            <c:ext xmlns:c16="http://schemas.microsoft.com/office/drawing/2014/chart" uri="{C3380CC4-5D6E-409C-BE32-E72D297353CC}">
              <c16:uniqueId val="{00000001-F2B9-473B-B1B7-63AE4C9F6AB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Flow Capacity Array</a:t>
            </a:r>
          </a:p>
        </c:rich>
      </c:tx>
      <c:overlay val="0"/>
    </c:title>
    <c:autoTitleDeleted val="0"/>
    <c:plotArea>
      <c:layout/>
      <c:barChart>
        <c:barDir val="bar"/>
        <c:grouping val="clustered"/>
        <c:varyColors val="1"/>
        <c:ser>
          <c:idx val="0"/>
          <c:order val="0"/>
          <c:tx>
            <c:strRef>
              <c:f>Sheet1!$B$1</c:f>
              <c:strCache>
                <c:ptCount val="1"/>
                <c:pt idx="0">
                  <c:v>Feature</c:v>
                </c:pt>
              </c:strCache>
            </c:strRef>
          </c:tx>
          <c:invertIfNegative val="1"/>
          <c:cat>
            <c:strRef>
              <c:f>Sheet1!$A$2:$A$5</c:f>
              <c:strCache>
                <c:ptCount val="4"/>
                <c:pt idx="0">
                  <c:v>Viewport</c:v>
                </c:pt>
                <c:pt idx="1">
                  <c:v>Tile</c:v>
                </c:pt>
                <c:pt idx="2">
                  <c:v>Index</c:v>
                </c:pt>
                <c:pt idx="3">
                  <c:v>Origin</c:v>
                </c:pt>
              </c:strCache>
            </c:strRef>
          </c:cat>
          <c:val>
            <c:numRef>
              <c:f>Sheet1!$B$2:$B$5</c:f>
              <c:numCache>
                <c:formatCode>General</c:formatCode>
                <c:ptCount val="4"/>
                <c:pt idx="0">
                  <c:v>23</c:v>
                </c:pt>
                <c:pt idx="1">
                  <c:v>79</c:v>
                </c:pt>
                <c:pt idx="2">
                  <c:v>15</c:v>
                </c:pt>
                <c:pt idx="3">
                  <c:v>17</c:v>
                </c:pt>
              </c:numCache>
            </c:numRef>
          </c:val>
          <c:extLst>
            <c:ext xmlns:c16="http://schemas.microsoft.com/office/drawing/2014/chart" uri="{C3380CC4-5D6E-409C-BE32-E72D297353CC}">
              <c16:uniqueId val="{00000000-53DD-4404-85F8-5F9AF92B7EB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Alignment Resource Resource Format Index</a:t>
            </a:r>
          </a:p>
        </c:rich>
      </c:tx>
      <c:overlay val="0"/>
    </c:title>
    <c:autoTitleDeleted val="0"/>
    <c:plotArea>
      <c:layout/>
      <c:doughnutChart>
        <c:varyColors val="1"/>
        <c:ser>
          <c:idx val="0"/>
          <c:order val="0"/>
          <c:tx>
            <c:strRef>
              <c:f>Sheet1!$B$1</c:f>
              <c:strCache>
                <c:ptCount val="1"/>
                <c:pt idx="0">
                  <c:v>Pixel Volume</c:v>
                </c:pt>
              </c:strCache>
            </c:strRef>
          </c:tx>
          <c:cat>
            <c:strRef>
              <c:f>Sheet1!$A$2:$A$5</c:f>
              <c:strCache>
                <c:ptCount val="4"/>
                <c:pt idx="0">
                  <c:v>Timeline</c:v>
                </c:pt>
                <c:pt idx="1">
                  <c:v>Discovery</c:v>
                </c:pt>
                <c:pt idx="2">
                  <c:v>Gradient</c:v>
                </c:pt>
                <c:pt idx="3">
                  <c:v>Discovery</c:v>
                </c:pt>
              </c:strCache>
            </c:strRef>
          </c:cat>
          <c:val>
            <c:numRef>
              <c:f>Sheet1!$B$2:$B$5</c:f>
              <c:numCache>
                <c:formatCode>General</c:formatCode>
                <c:ptCount val="4"/>
                <c:pt idx="0">
                  <c:v>17</c:v>
                </c:pt>
                <c:pt idx="1">
                  <c:v>14</c:v>
                </c:pt>
                <c:pt idx="2">
                  <c:v>34</c:v>
                </c:pt>
                <c:pt idx="3">
                  <c:v>78</c:v>
                </c:pt>
              </c:numCache>
            </c:numRef>
          </c:val>
          <c:extLst>
            <c:ext xmlns:c16="http://schemas.microsoft.com/office/drawing/2014/chart" uri="{C3380CC4-5D6E-409C-BE32-E72D297353CC}">
              <c16:uniqueId val="{00000000-859D-4F79-B7AB-484408E7CD0E}"/>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Moment</c:v>
                </c:pt>
              </c:strCache>
            </c:strRef>
          </c:tx>
          <c:cat>
            <c:strRef>
              <c:f>Sheet1!$A$2:$A$5</c:f>
              <c:strCache>
                <c:ptCount val="4"/>
                <c:pt idx="0">
                  <c:v>Direction</c:v>
                </c:pt>
                <c:pt idx="1">
                  <c:v>Column</c:v>
                </c:pt>
                <c:pt idx="2">
                  <c:v>Trigger</c:v>
                </c:pt>
                <c:pt idx="3">
                  <c:v>Module</c:v>
                </c:pt>
              </c:strCache>
            </c:strRef>
          </c:cat>
          <c:val>
            <c:numRef>
              <c:f>Sheet1!$B$2:$B$5</c:f>
              <c:numCache>
                <c:formatCode>General</c:formatCode>
                <c:ptCount val="4"/>
                <c:pt idx="0">
                  <c:v>19</c:v>
                </c:pt>
                <c:pt idx="1">
                  <c:v>42</c:v>
                </c:pt>
                <c:pt idx="2">
                  <c:v>60</c:v>
                </c:pt>
                <c:pt idx="3">
                  <c:v>14</c:v>
                </c:pt>
              </c:numCache>
            </c:numRef>
          </c:val>
          <c:extLst>
            <c:ext xmlns:c16="http://schemas.microsoft.com/office/drawing/2014/chart" uri="{C3380CC4-5D6E-409C-BE32-E72D297353CC}">
              <c16:uniqueId val="{00000000-3E30-4E83-98C3-7483D8A25007}"/>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Impact Trace Cluster Signal</a:t>
            </a:r>
          </a:p>
        </c:rich>
      </c:tx>
      <c:overlay val="0"/>
    </c:title>
    <c:autoTitleDeleted val="0"/>
    <c:plotArea>
      <c:layout/>
      <c:pieChart>
        <c:varyColors val="1"/>
        <c:ser>
          <c:idx val="0"/>
          <c:order val="0"/>
          <c:tx>
            <c:strRef>
              <c:f>Sheet1!$B$1</c:f>
              <c:strCache>
                <c:ptCount val="1"/>
                <c:pt idx="0">
                  <c:v>Surface</c:v>
                </c:pt>
              </c:strCache>
            </c:strRef>
          </c:tx>
          <c:cat>
            <c:strRef>
              <c:f>Sheet1!$A$2:$A$4</c:f>
              <c:strCache>
                <c:ptCount val="3"/>
                <c:pt idx="0">
                  <c:v>Pattern</c:v>
                </c:pt>
                <c:pt idx="1">
                  <c:v>Transit</c:v>
                </c:pt>
                <c:pt idx="2">
                  <c:v>Plan</c:v>
                </c:pt>
              </c:strCache>
            </c:strRef>
          </c:cat>
          <c:val>
            <c:numRef>
              <c:f>Sheet1!$B$2:$B$4</c:f>
              <c:numCache>
                <c:formatCode>General</c:formatCode>
                <c:ptCount val="3"/>
                <c:pt idx="0">
                  <c:v>68</c:v>
                </c:pt>
                <c:pt idx="1">
                  <c:v>56</c:v>
                </c:pt>
                <c:pt idx="2">
                  <c:v>63</c:v>
                </c:pt>
              </c:numCache>
            </c:numRef>
          </c:val>
          <c:extLst>
            <c:ext xmlns:c16="http://schemas.microsoft.com/office/drawing/2014/chart" uri="{C3380CC4-5D6E-409C-BE32-E72D297353CC}">
              <c16:uniqueId val="{00000000-F34B-41E2-9F6E-7D4381EB4B69}"/>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Kernel</c:v>
                </c:pt>
              </c:strCache>
            </c:strRef>
          </c:tx>
          <c:cat>
            <c:strRef>
              <c:f>Sheet1!$A$2:$A$5</c:f>
              <c:strCache>
                <c:ptCount val="4"/>
                <c:pt idx="0">
                  <c:v>Account</c:v>
                </c:pt>
                <c:pt idx="1">
                  <c:v>Profile</c:v>
                </c:pt>
                <c:pt idx="2">
                  <c:v>Context</c:v>
                </c:pt>
                <c:pt idx="3">
                  <c:v>Lens</c:v>
                </c:pt>
              </c:strCache>
            </c:strRef>
          </c:cat>
          <c:val>
            <c:numRef>
              <c:f>Sheet1!$B$2:$B$5</c:f>
              <c:numCache>
                <c:formatCode>General</c:formatCode>
                <c:ptCount val="4"/>
                <c:pt idx="0">
                  <c:v>95</c:v>
                </c:pt>
                <c:pt idx="1">
                  <c:v>32</c:v>
                </c:pt>
                <c:pt idx="2">
                  <c:v>61</c:v>
                </c:pt>
                <c:pt idx="3">
                  <c:v>85</c:v>
                </c:pt>
              </c:numCache>
            </c:numRef>
          </c:val>
          <c:extLst>
            <c:ext xmlns:c16="http://schemas.microsoft.com/office/drawing/2014/chart" uri="{C3380CC4-5D6E-409C-BE32-E72D297353CC}">
              <c16:uniqueId val="{00000000-C0F1-47FF-BC88-30FCC7274767}"/>
            </c:ext>
          </c:extLst>
        </c:ser>
        <c:ser>
          <c:idx val="1"/>
          <c:order val="1"/>
          <c:tx>
            <c:strRef>
              <c:f>Sheet1!$C$1</c:f>
              <c:strCache>
                <c:ptCount val="1"/>
                <c:pt idx="0">
                  <c:v>Aspect</c:v>
                </c:pt>
              </c:strCache>
            </c:strRef>
          </c:tx>
          <c:cat>
            <c:strRef>
              <c:f>Sheet1!$A$2:$A$5</c:f>
              <c:strCache>
                <c:ptCount val="4"/>
                <c:pt idx="0">
                  <c:v>Account</c:v>
                </c:pt>
                <c:pt idx="1">
                  <c:v>Profile</c:v>
                </c:pt>
                <c:pt idx="2">
                  <c:v>Context</c:v>
                </c:pt>
                <c:pt idx="3">
                  <c:v>Lens</c:v>
                </c:pt>
              </c:strCache>
            </c:strRef>
          </c:cat>
          <c:val>
            <c:numRef>
              <c:f>Sheet1!$C$2:$C$5</c:f>
              <c:numCache>
                <c:formatCode>General</c:formatCode>
                <c:ptCount val="4"/>
                <c:pt idx="0">
                  <c:v>91</c:v>
                </c:pt>
                <c:pt idx="1">
                  <c:v>20</c:v>
                </c:pt>
                <c:pt idx="2">
                  <c:v>62</c:v>
                </c:pt>
                <c:pt idx="3">
                  <c:v>38</c:v>
                </c:pt>
              </c:numCache>
            </c:numRef>
          </c:val>
          <c:extLst>
            <c:ext xmlns:c16="http://schemas.microsoft.com/office/drawing/2014/chart" uri="{C3380CC4-5D6E-409C-BE32-E72D297353CC}">
              <c16:uniqueId val="{00000001-C0F1-47FF-BC88-30FCC7274767}"/>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Iteration Switch Target</a:t>
            </a:r>
          </a:p>
        </c:rich>
      </c:tx>
      <c:overlay val="0"/>
    </c:title>
    <c:autoTitleDeleted val="0"/>
    <c:plotArea>
      <c:layout/>
      <c:pieChart>
        <c:varyColors val="1"/>
        <c:ser>
          <c:idx val="0"/>
          <c:order val="0"/>
          <c:tx>
            <c:strRef>
              <c:f>Sheet1!$B$1</c:f>
              <c:strCache>
                <c:ptCount val="1"/>
                <c:pt idx="0">
                  <c:v>Flow</c:v>
                </c:pt>
              </c:strCache>
            </c:strRef>
          </c:tx>
          <c:cat>
            <c:strRef>
              <c:f>Sheet1!$A$2:$A$5</c:f>
              <c:strCache>
                <c:ptCount val="4"/>
                <c:pt idx="0">
                  <c:v>Story</c:v>
                </c:pt>
                <c:pt idx="1">
                  <c:v>Level</c:v>
                </c:pt>
                <c:pt idx="2">
                  <c:v>Cycle</c:v>
                </c:pt>
                <c:pt idx="3">
                  <c:v>Canvas</c:v>
                </c:pt>
              </c:strCache>
            </c:strRef>
          </c:cat>
          <c:val>
            <c:numRef>
              <c:f>Sheet1!$B$2:$B$5</c:f>
              <c:numCache>
                <c:formatCode>General</c:formatCode>
                <c:ptCount val="4"/>
                <c:pt idx="0">
                  <c:v>83</c:v>
                </c:pt>
                <c:pt idx="1">
                  <c:v>68</c:v>
                </c:pt>
                <c:pt idx="2">
                  <c:v>84</c:v>
                </c:pt>
                <c:pt idx="3">
                  <c:v>55</c:v>
                </c:pt>
              </c:numCache>
            </c:numRef>
          </c:val>
          <c:extLst>
            <c:ext xmlns:c16="http://schemas.microsoft.com/office/drawing/2014/chart" uri="{C3380CC4-5D6E-409C-BE32-E72D297353CC}">
              <c16:uniqueId val="{00000000-EF16-4057-BE72-C3CDBD52EF86}"/>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Edge Scope Moment Deployment Command</a:t>
            </a:r>
          </a:p>
        </c:rich>
      </c:tx>
      <c:overlay val="0"/>
    </c:title>
    <c:autoTitleDeleted val="0"/>
    <c:plotArea>
      <c:layout/>
      <c:doughnutChart>
        <c:varyColors val="1"/>
        <c:ser>
          <c:idx val="0"/>
          <c:order val="0"/>
          <c:tx>
            <c:strRef>
              <c:f>Sheet1!$B$1</c:f>
              <c:strCache>
                <c:ptCount val="1"/>
                <c:pt idx="0">
                  <c:v>Token</c:v>
                </c:pt>
              </c:strCache>
            </c:strRef>
          </c:tx>
          <c:cat>
            <c:strRef>
              <c:f>Sheet1!$A$2:$A$4</c:f>
              <c:strCache>
                <c:ptCount val="3"/>
                <c:pt idx="0">
                  <c:v>Duration</c:v>
                </c:pt>
                <c:pt idx="1">
                  <c:v>Node</c:v>
                </c:pt>
                <c:pt idx="2">
                  <c:v>Memory</c:v>
                </c:pt>
              </c:strCache>
            </c:strRef>
          </c:cat>
          <c:val>
            <c:numRef>
              <c:f>Sheet1!$B$2:$B$4</c:f>
              <c:numCache>
                <c:formatCode>General</c:formatCode>
                <c:ptCount val="3"/>
                <c:pt idx="0">
                  <c:v>43</c:v>
                </c:pt>
                <c:pt idx="1">
                  <c:v>69</c:v>
                </c:pt>
                <c:pt idx="2">
                  <c:v>46</c:v>
                </c:pt>
              </c:numCache>
            </c:numRef>
          </c:val>
          <c:extLst>
            <c:ext xmlns:c16="http://schemas.microsoft.com/office/drawing/2014/chart" uri="{C3380CC4-5D6E-409C-BE32-E72D297353CC}">
              <c16:uniqueId val="{00000000-1C76-4B3F-BD88-B5805C699A4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Signal Range Insight</a:t>
            </a:r>
          </a:p>
        </c:rich>
      </c:tx>
      <c:overlay val="0"/>
    </c:title>
    <c:autoTitleDeleted val="0"/>
    <c:plotArea>
      <c:layout/>
      <c:barChart>
        <c:barDir val="col"/>
        <c:grouping val="clustered"/>
        <c:varyColors val="1"/>
        <c:ser>
          <c:idx val="0"/>
          <c:order val="0"/>
          <c:tx>
            <c:strRef>
              <c:f>Sheet1!$B$1</c:f>
              <c:strCache>
                <c:ptCount val="1"/>
                <c:pt idx="0">
                  <c:v>Entity</c:v>
                </c:pt>
              </c:strCache>
            </c:strRef>
          </c:tx>
          <c:invertIfNegative val="1"/>
          <c:cat>
            <c:strRef>
              <c:f>Sheet1!$A$2:$A$6</c:f>
              <c:strCache>
                <c:ptCount val="5"/>
                <c:pt idx="0">
                  <c:v>Stack</c:v>
                </c:pt>
                <c:pt idx="1">
                  <c:v>Measure</c:v>
                </c:pt>
                <c:pt idx="2">
                  <c:v>Insight</c:v>
                </c:pt>
                <c:pt idx="3">
                  <c:v>Route</c:v>
                </c:pt>
                <c:pt idx="4">
                  <c:v>Control</c:v>
                </c:pt>
              </c:strCache>
            </c:strRef>
          </c:cat>
          <c:val>
            <c:numRef>
              <c:f>Sheet1!$B$2:$B$6</c:f>
              <c:numCache>
                <c:formatCode>General</c:formatCode>
                <c:ptCount val="5"/>
                <c:pt idx="0">
                  <c:v>86</c:v>
                </c:pt>
                <c:pt idx="1">
                  <c:v>20</c:v>
                </c:pt>
                <c:pt idx="2">
                  <c:v>39</c:v>
                </c:pt>
                <c:pt idx="3">
                  <c:v>44</c:v>
                </c:pt>
                <c:pt idx="4">
                  <c:v>81</c:v>
                </c:pt>
              </c:numCache>
            </c:numRef>
          </c:val>
          <c:extLst>
            <c:ext xmlns:c16="http://schemas.microsoft.com/office/drawing/2014/chart" uri="{C3380CC4-5D6E-409C-BE32-E72D297353CC}">
              <c16:uniqueId val="{00000000-738B-46D0-80BA-CBE2183CD82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Bundle</c:v>
                </c:pt>
              </c:strCache>
            </c:strRef>
          </c:tx>
          <c:invertIfNegative val="1"/>
          <c:cat>
            <c:strRef>
              <c:f>Sheet1!$A$2:$A$6</c:f>
              <c:strCache>
                <c:ptCount val="5"/>
                <c:pt idx="0">
                  <c:v>Result</c:v>
                </c:pt>
                <c:pt idx="1">
                  <c:v>Portal</c:v>
                </c:pt>
                <c:pt idx="2">
                  <c:v>Group</c:v>
                </c:pt>
                <c:pt idx="3">
                  <c:v>Strategy</c:v>
                </c:pt>
                <c:pt idx="4">
                  <c:v>Span</c:v>
                </c:pt>
              </c:strCache>
            </c:strRef>
          </c:cat>
          <c:val>
            <c:numRef>
              <c:f>Sheet1!$B$2:$B$6</c:f>
              <c:numCache>
                <c:formatCode>General</c:formatCode>
                <c:ptCount val="5"/>
                <c:pt idx="0">
                  <c:v>19</c:v>
                </c:pt>
                <c:pt idx="1">
                  <c:v>49</c:v>
                </c:pt>
                <c:pt idx="2">
                  <c:v>51</c:v>
                </c:pt>
                <c:pt idx="3">
                  <c:v>62</c:v>
                </c:pt>
                <c:pt idx="4">
                  <c:v>16</c:v>
                </c:pt>
              </c:numCache>
            </c:numRef>
          </c:val>
          <c:extLst>
            <c:ext xmlns:c16="http://schemas.microsoft.com/office/drawing/2014/chart" uri="{C3380CC4-5D6E-409C-BE32-E72D297353CC}">
              <c16:uniqueId val="{00000000-238E-45F2-99DE-B8CE3EBDE3E0}"/>
            </c:ext>
          </c:extLst>
        </c:ser>
        <c:ser>
          <c:idx val="1"/>
          <c:order val="1"/>
          <c:tx>
            <c:strRef>
              <c:f>Sheet1!$C$1</c:f>
              <c:strCache>
                <c:ptCount val="1"/>
                <c:pt idx="0">
                  <c:v>Narrative</c:v>
                </c:pt>
              </c:strCache>
            </c:strRef>
          </c:tx>
          <c:invertIfNegative val="1"/>
          <c:cat>
            <c:strRef>
              <c:f>Sheet1!$A$2:$A$6</c:f>
              <c:strCache>
                <c:ptCount val="5"/>
                <c:pt idx="0">
                  <c:v>Result</c:v>
                </c:pt>
                <c:pt idx="1">
                  <c:v>Portal</c:v>
                </c:pt>
                <c:pt idx="2">
                  <c:v>Group</c:v>
                </c:pt>
                <c:pt idx="3">
                  <c:v>Strategy</c:v>
                </c:pt>
                <c:pt idx="4">
                  <c:v>Span</c:v>
                </c:pt>
              </c:strCache>
            </c:strRef>
          </c:cat>
          <c:val>
            <c:numRef>
              <c:f>Sheet1!$C$2:$C$6</c:f>
              <c:numCache>
                <c:formatCode>General</c:formatCode>
                <c:ptCount val="5"/>
                <c:pt idx="0">
                  <c:v>25</c:v>
                </c:pt>
                <c:pt idx="1">
                  <c:v>10</c:v>
                </c:pt>
                <c:pt idx="2">
                  <c:v>92</c:v>
                </c:pt>
                <c:pt idx="3">
                  <c:v>48</c:v>
                </c:pt>
                <c:pt idx="4">
                  <c:v>39</c:v>
                </c:pt>
              </c:numCache>
            </c:numRef>
          </c:val>
          <c:extLst>
            <c:ext xmlns:c16="http://schemas.microsoft.com/office/drawing/2014/chart" uri="{C3380CC4-5D6E-409C-BE32-E72D297353CC}">
              <c16:uniqueId val="{00000001-238E-45F2-99DE-B8CE3EBDE3E0}"/>
            </c:ext>
          </c:extLst>
        </c:ser>
        <c:ser>
          <c:idx val="2"/>
          <c:order val="2"/>
          <c:tx>
            <c:strRef>
              <c:f>Sheet1!$D$1</c:f>
              <c:strCache>
                <c:ptCount val="1"/>
                <c:pt idx="0">
                  <c:v>Domain</c:v>
                </c:pt>
              </c:strCache>
            </c:strRef>
          </c:tx>
          <c:invertIfNegative val="1"/>
          <c:cat>
            <c:strRef>
              <c:f>Sheet1!$A$2:$A$6</c:f>
              <c:strCache>
                <c:ptCount val="5"/>
                <c:pt idx="0">
                  <c:v>Result</c:v>
                </c:pt>
                <c:pt idx="1">
                  <c:v>Portal</c:v>
                </c:pt>
                <c:pt idx="2">
                  <c:v>Group</c:v>
                </c:pt>
                <c:pt idx="3">
                  <c:v>Strategy</c:v>
                </c:pt>
                <c:pt idx="4">
                  <c:v>Span</c:v>
                </c:pt>
              </c:strCache>
            </c:strRef>
          </c:cat>
          <c:val>
            <c:numRef>
              <c:f>Sheet1!$D$2:$D$6</c:f>
              <c:numCache>
                <c:formatCode>General</c:formatCode>
                <c:ptCount val="5"/>
                <c:pt idx="0">
                  <c:v>49</c:v>
                </c:pt>
                <c:pt idx="1">
                  <c:v>78</c:v>
                </c:pt>
                <c:pt idx="2">
                  <c:v>68</c:v>
                </c:pt>
                <c:pt idx="3">
                  <c:v>81</c:v>
                </c:pt>
                <c:pt idx="4">
                  <c:v>52</c:v>
                </c:pt>
              </c:numCache>
            </c:numRef>
          </c:val>
          <c:extLst>
            <c:ext xmlns:c16="http://schemas.microsoft.com/office/drawing/2014/chart" uri="{C3380CC4-5D6E-409C-BE32-E72D297353CC}">
              <c16:uniqueId val="{00000002-238E-45F2-99DE-B8CE3EBDE3E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Marker Friction Logic</a:t>
            </a:r>
          </a:p>
        </c:rich>
      </c:tx>
      <c:overlay val="0"/>
    </c:title>
    <c:autoTitleDeleted val="0"/>
    <c:plotArea>
      <c:layout/>
      <c:doughnutChart>
        <c:varyColors val="1"/>
        <c:ser>
          <c:idx val="0"/>
          <c:order val="0"/>
          <c:tx>
            <c:strRef>
              <c:f>Sheet1!$B$1</c:f>
              <c:strCache>
                <c:ptCount val="1"/>
                <c:pt idx="0">
                  <c:v>Marker</c:v>
                </c:pt>
              </c:strCache>
            </c:strRef>
          </c:tx>
          <c:cat>
            <c:strRef>
              <c:f>Sheet1!$A$2:$A$6</c:f>
              <c:strCache>
                <c:ptCount val="5"/>
                <c:pt idx="0">
                  <c:v>Data</c:v>
                </c:pt>
                <c:pt idx="1">
                  <c:v>Channel</c:v>
                </c:pt>
                <c:pt idx="2">
                  <c:v>Agenda</c:v>
                </c:pt>
                <c:pt idx="3">
                  <c:v>Build</c:v>
                </c:pt>
                <c:pt idx="4">
                  <c:v>Feature</c:v>
                </c:pt>
              </c:strCache>
            </c:strRef>
          </c:cat>
          <c:val>
            <c:numRef>
              <c:f>Sheet1!$B$2:$B$6</c:f>
              <c:numCache>
                <c:formatCode>General</c:formatCode>
                <c:ptCount val="5"/>
                <c:pt idx="0">
                  <c:v>91</c:v>
                </c:pt>
                <c:pt idx="1">
                  <c:v>74</c:v>
                </c:pt>
                <c:pt idx="2">
                  <c:v>47</c:v>
                </c:pt>
                <c:pt idx="3">
                  <c:v>38</c:v>
                </c:pt>
                <c:pt idx="4">
                  <c:v>15</c:v>
                </c:pt>
              </c:numCache>
            </c:numRef>
          </c:val>
          <c:extLst>
            <c:ext xmlns:c16="http://schemas.microsoft.com/office/drawing/2014/chart" uri="{C3380CC4-5D6E-409C-BE32-E72D297353CC}">
              <c16:uniqueId val="{00000000-D8C9-45D2-B0B6-6BA881CB0556}"/>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Factor Kernel</a:t>
            </a:r>
          </a:p>
        </c:rich>
      </c:tx>
      <c:overlay val="0"/>
    </c:title>
    <c:autoTitleDeleted val="0"/>
    <c:plotArea>
      <c:layout/>
      <c:doughnutChart>
        <c:varyColors val="1"/>
        <c:ser>
          <c:idx val="0"/>
          <c:order val="0"/>
          <c:tx>
            <c:strRef>
              <c:f>Sheet1!$B$1</c:f>
              <c:strCache>
                <c:ptCount val="1"/>
                <c:pt idx="0">
                  <c:v>Field Envelope</c:v>
                </c:pt>
              </c:strCache>
            </c:strRef>
          </c:tx>
          <c:cat>
            <c:strRef>
              <c:f>Sheet1!$A$2:$A$5</c:f>
              <c:strCache>
                <c:ptCount val="4"/>
                <c:pt idx="0">
                  <c:v>Precision</c:v>
                </c:pt>
                <c:pt idx="1">
                  <c:v>Report</c:v>
                </c:pt>
                <c:pt idx="2">
                  <c:v>Scope</c:v>
                </c:pt>
                <c:pt idx="3">
                  <c:v>Forecast</c:v>
                </c:pt>
              </c:strCache>
            </c:strRef>
          </c:cat>
          <c:val>
            <c:numRef>
              <c:f>Sheet1!$B$2:$B$5</c:f>
              <c:numCache>
                <c:formatCode>General</c:formatCode>
                <c:ptCount val="4"/>
                <c:pt idx="0">
                  <c:v>40</c:v>
                </c:pt>
                <c:pt idx="1">
                  <c:v>68</c:v>
                </c:pt>
                <c:pt idx="2">
                  <c:v>23</c:v>
                </c:pt>
                <c:pt idx="3">
                  <c:v>89</c:v>
                </c:pt>
              </c:numCache>
            </c:numRef>
          </c:val>
          <c:extLst>
            <c:ext xmlns:c16="http://schemas.microsoft.com/office/drawing/2014/chart" uri="{C3380CC4-5D6E-409C-BE32-E72D297353CC}">
              <c16:uniqueId val="{00000000-B3D3-4A83-8989-6CD464D76DA2}"/>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Story Density</c:v>
                </c:pt>
              </c:strCache>
            </c:strRef>
          </c:tx>
          <c:cat>
            <c:strRef>
              <c:f>Sheet1!$A$2:$A$6</c:f>
              <c:strCache>
                <c:ptCount val="5"/>
                <c:pt idx="0">
                  <c:v>Switch</c:v>
                </c:pt>
                <c:pt idx="1">
                  <c:v>Catalog</c:v>
                </c:pt>
                <c:pt idx="2">
                  <c:v>Version</c:v>
                </c:pt>
                <c:pt idx="3">
                  <c:v>Compass</c:v>
                </c:pt>
                <c:pt idx="4">
                  <c:v>Path</c:v>
                </c:pt>
              </c:strCache>
            </c:strRef>
          </c:cat>
          <c:val>
            <c:numRef>
              <c:f>Sheet1!$B$2:$B$6</c:f>
              <c:numCache>
                <c:formatCode>General</c:formatCode>
                <c:ptCount val="5"/>
                <c:pt idx="0">
                  <c:v>19</c:v>
                </c:pt>
                <c:pt idx="1">
                  <c:v>18</c:v>
                </c:pt>
                <c:pt idx="2">
                  <c:v>23</c:v>
                </c:pt>
                <c:pt idx="3">
                  <c:v>16</c:v>
                </c:pt>
                <c:pt idx="4">
                  <c:v>86</c:v>
                </c:pt>
              </c:numCache>
            </c:numRef>
          </c:val>
          <c:extLst>
            <c:ext xmlns:c16="http://schemas.microsoft.com/office/drawing/2014/chart" uri="{C3380CC4-5D6E-409C-BE32-E72D297353CC}">
              <c16:uniqueId val="{00000000-207D-4B89-96B2-E1DFF66ED478}"/>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Review</c:v>
                </c:pt>
              </c:strCache>
            </c:strRef>
          </c:tx>
          <c:cat>
            <c:strRef>
              <c:f>Sheet1!$A$2:$A$4</c:f>
              <c:strCache>
                <c:ptCount val="3"/>
                <c:pt idx="0">
                  <c:v>Schema</c:v>
                </c:pt>
                <c:pt idx="1">
                  <c:v>Sequence</c:v>
                </c:pt>
                <c:pt idx="2">
                  <c:v>Flow</c:v>
                </c:pt>
              </c:strCache>
            </c:strRef>
          </c:cat>
          <c:val>
            <c:numRef>
              <c:f>Sheet1!$B$2:$B$4</c:f>
              <c:numCache>
                <c:formatCode>General</c:formatCode>
                <c:ptCount val="3"/>
                <c:pt idx="0">
                  <c:v>12</c:v>
                </c:pt>
                <c:pt idx="1">
                  <c:v>78</c:v>
                </c:pt>
                <c:pt idx="2">
                  <c:v>46</c:v>
                </c:pt>
              </c:numCache>
            </c:numRef>
          </c:val>
          <c:extLst>
            <c:ext xmlns:c16="http://schemas.microsoft.com/office/drawing/2014/chart" uri="{C3380CC4-5D6E-409C-BE32-E72D297353CC}">
              <c16:uniqueId val="{00000000-B710-46D7-A374-713C37414946}"/>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Agenda</c:v>
                </c:pt>
              </c:strCache>
            </c:strRef>
          </c:tx>
          <c:invertIfNegative val="1"/>
          <c:cat>
            <c:strRef>
              <c:f>Sheet1!$A$2:$A$5</c:f>
              <c:strCache>
                <c:ptCount val="4"/>
                <c:pt idx="0">
                  <c:v>Viewport</c:v>
                </c:pt>
                <c:pt idx="1">
                  <c:v>Surface</c:v>
                </c:pt>
                <c:pt idx="2">
                  <c:v>Table</c:v>
                </c:pt>
                <c:pt idx="3">
                  <c:v>Plan</c:v>
                </c:pt>
              </c:strCache>
            </c:strRef>
          </c:cat>
          <c:val>
            <c:numRef>
              <c:f>Sheet1!$B$2:$B$5</c:f>
              <c:numCache>
                <c:formatCode>General</c:formatCode>
                <c:ptCount val="4"/>
                <c:pt idx="0">
                  <c:v>9</c:v>
                </c:pt>
                <c:pt idx="1">
                  <c:v>61</c:v>
                </c:pt>
                <c:pt idx="2">
                  <c:v>71</c:v>
                </c:pt>
                <c:pt idx="3">
                  <c:v>48</c:v>
                </c:pt>
              </c:numCache>
            </c:numRef>
          </c:val>
          <c:extLst>
            <c:ext xmlns:c16="http://schemas.microsoft.com/office/drawing/2014/chart" uri="{C3380CC4-5D6E-409C-BE32-E72D297353CC}">
              <c16:uniqueId val="{00000000-CE91-43C7-91C0-E38CDE0A7D6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Circuit Module Queueing Runtime</a:t>
            </a:r>
          </a:p>
        </c:rich>
      </c:tx>
      <c:overlay val="0"/>
    </c:title>
    <c:autoTitleDeleted val="0"/>
    <c:plotArea>
      <c:layout/>
      <c:doughnutChart>
        <c:varyColors val="1"/>
        <c:ser>
          <c:idx val="0"/>
          <c:order val="0"/>
          <c:tx>
            <c:strRef>
              <c:f>Sheet1!$B$1</c:f>
              <c:strCache>
                <c:ptCount val="1"/>
                <c:pt idx="0">
                  <c:v>Pixel Drift</c:v>
                </c:pt>
              </c:strCache>
            </c:strRef>
          </c:tx>
          <c:cat>
            <c:strRef>
              <c:f>Sheet1!$A$2:$A$5</c:f>
              <c:strCache>
                <c:ptCount val="4"/>
                <c:pt idx="0">
                  <c:v>Drive</c:v>
                </c:pt>
                <c:pt idx="1">
                  <c:v>Column</c:v>
                </c:pt>
                <c:pt idx="2">
                  <c:v>Cortex</c:v>
                </c:pt>
                <c:pt idx="3">
                  <c:v>Factor</c:v>
                </c:pt>
              </c:strCache>
            </c:strRef>
          </c:cat>
          <c:val>
            <c:numRef>
              <c:f>Sheet1!$B$2:$B$5</c:f>
              <c:numCache>
                <c:formatCode>General</c:formatCode>
                <c:ptCount val="4"/>
                <c:pt idx="0">
                  <c:v>87</c:v>
                </c:pt>
                <c:pt idx="1">
                  <c:v>67</c:v>
                </c:pt>
                <c:pt idx="2">
                  <c:v>39</c:v>
                </c:pt>
                <c:pt idx="3">
                  <c:v>79</c:v>
                </c:pt>
              </c:numCache>
            </c:numRef>
          </c:val>
          <c:extLst>
            <c:ext xmlns:c16="http://schemas.microsoft.com/office/drawing/2014/chart" uri="{C3380CC4-5D6E-409C-BE32-E72D297353CC}">
              <c16:uniqueId val="{00000000-3AD8-4F6F-A740-376F1A5BE91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Pattern Ledger</a:t>
            </a:r>
          </a:p>
        </c:rich>
      </c:tx>
      <c:overlay val="0"/>
    </c:title>
    <c:autoTitleDeleted val="0"/>
    <c:plotArea>
      <c:layout/>
      <c:pieChart>
        <c:varyColors val="1"/>
        <c:ser>
          <c:idx val="0"/>
          <c:order val="0"/>
          <c:tx>
            <c:strRef>
              <c:f>Sheet1!$B$1</c:f>
              <c:strCache>
                <c:ptCount val="1"/>
                <c:pt idx="0">
                  <c:v>Signal</c:v>
                </c:pt>
              </c:strCache>
            </c:strRef>
          </c:tx>
          <c:cat>
            <c:strRef>
              <c:f>Sheet1!$A$2:$A$6</c:f>
              <c:strCache>
                <c:ptCount val="5"/>
                <c:pt idx="0">
                  <c:v>Plan</c:v>
                </c:pt>
                <c:pt idx="1">
                  <c:v>Connector</c:v>
                </c:pt>
                <c:pt idx="2">
                  <c:v>Feature</c:v>
                </c:pt>
                <c:pt idx="3">
                  <c:v>Radius</c:v>
                </c:pt>
                <c:pt idx="4">
                  <c:v>Focus</c:v>
                </c:pt>
              </c:strCache>
            </c:strRef>
          </c:cat>
          <c:val>
            <c:numRef>
              <c:f>Sheet1!$B$2:$B$6</c:f>
              <c:numCache>
                <c:formatCode>General</c:formatCode>
                <c:ptCount val="5"/>
                <c:pt idx="0">
                  <c:v>87</c:v>
                </c:pt>
                <c:pt idx="1">
                  <c:v>48</c:v>
                </c:pt>
                <c:pt idx="2">
                  <c:v>54</c:v>
                </c:pt>
                <c:pt idx="3">
                  <c:v>85</c:v>
                </c:pt>
                <c:pt idx="4">
                  <c:v>8</c:v>
                </c:pt>
              </c:numCache>
            </c:numRef>
          </c:val>
          <c:extLst>
            <c:ext xmlns:c16="http://schemas.microsoft.com/office/drawing/2014/chart" uri="{C3380CC4-5D6E-409C-BE32-E72D297353CC}">
              <c16:uniqueId val="{00000000-24F9-4944-B42C-C3A0A338CDB8}"/>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Design Priority</c:v>
                </c:pt>
              </c:strCache>
            </c:strRef>
          </c:tx>
          <c:cat>
            <c:strRef>
              <c:f>Sheet1!$A$2:$A$7</c:f>
              <c:strCache>
                <c:ptCount val="6"/>
                <c:pt idx="0">
                  <c:v>Mesh</c:v>
                </c:pt>
                <c:pt idx="1">
                  <c:v>Reserve</c:v>
                </c:pt>
                <c:pt idx="2">
                  <c:v>Reference</c:v>
                </c:pt>
                <c:pt idx="3">
                  <c:v>Motion</c:v>
                </c:pt>
                <c:pt idx="4">
                  <c:v>Dispatch</c:v>
                </c:pt>
                <c:pt idx="5">
                  <c:v>Payload</c:v>
                </c:pt>
              </c:strCache>
            </c:strRef>
          </c:cat>
          <c:val>
            <c:numRef>
              <c:f>Sheet1!$B$2:$B$7</c:f>
              <c:numCache>
                <c:formatCode>General</c:formatCode>
                <c:ptCount val="6"/>
                <c:pt idx="0">
                  <c:v>75</c:v>
                </c:pt>
                <c:pt idx="1">
                  <c:v>50</c:v>
                </c:pt>
                <c:pt idx="2">
                  <c:v>25</c:v>
                </c:pt>
                <c:pt idx="3">
                  <c:v>61</c:v>
                </c:pt>
                <c:pt idx="4">
                  <c:v>57</c:v>
                </c:pt>
                <c:pt idx="5">
                  <c:v>33</c:v>
                </c:pt>
              </c:numCache>
            </c:numRef>
          </c:val>
          <c:smooth val="0"/>
          <c:extLst>
            <c:ext xmlns:c16="http://schemas.microsoft.com/office/drawing/2014/chart" uri="{C3380CC4-5D6E-409C-BE32-E72D297353CC}">
              <c16:uniqueId val="{00000000-9D67-4FE3-AE12-FA87F5010DD8}"/>
            </c:ext>
          </c:extLst>
        </c:ser>
        <c:ser>
          <c:idx val="1"/>
          <c:order val="1"/>
          <c:tx>
            <c:strRef>
              <c:f>Sheet1!$C$1</c:f>
              <c:strCache>
                <c:ptCount val="1"/>
                <c:pt idx="0">
                  <c:v>Package Point</c:v>
                </c:pt>
              </c:strCache>
            </c:strRef>
          </c:tx>
          <c:cat>
            <c:strRef>
              <c:f>Sheet1!$A$2:$A$7</c:f>
              <c:strCache>
                <c:ptCount val="6"/>
                <c:pt idx="0">
                  <c:v>Mesh</c:v>
                </c:pt>
                <c:pt idx="1">
                  <c:v>Reserve</c:v>
                </c:pt>
                <c:pt idx="2">
                  <c:v>Reference</c:v>
                </c:pt>
                <c:pt idx="3">
                  <c:v>Motion</c:v>
                </c:pt>
                <c:pt idx="4">
                  <c:v>Dispatch</c:v>
                </c:pt>
                <c:pt idx="5">
                  <c:v>Payload</c:v>
                </c:pt>
              </c:strCache>
            </c:strRef>
          </c:cat>
          <c:val>
            <c:numRef>
              <c:f>Sheet1!$C$2:$C$7</c:f>
              <c:numCache>
                <c:formatCode>General</c:formatCode>
                <c:ptCount val="6"/>
                <c:pt idx="0">
                  <c:v>46</c:v>
                </c:pt>
                <c:pt idx="1">
                  <c:v>64</c:v>
                </c:pt>
                <c:pt idx="2">
                  <c:v>51</c:v>
                </c:pt>
                <c:pt idx="3">
                  <c:v>66</c:v>
                </c:pt>
                <c:pt idx="4">
                  <c:v>58</c:v>
                </c:pt>
                <c:pt idx="5">
                  <c:v>55</c:v>
                </c:pt>
              </c:numCache>
            </c:numRef>
          </c:val>
          <c:smooth val="0"/>
          <c:extLst>
            <c:ext xmlns:c16="http://schemas.microsoft.com/office/drawing/2014/chart" uri="{C3380CC4-5D6E-409C-BE32-E72D297353CC}">
              <c16:uniqueId val="{00000001-9D67-4FE3-AE12-FA87F5010DD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Anchor Window</a:t>
            </a:r>
          </a:p>
        </c:rich>
      </c:tx>
      <c:overlay val="0"/>
    </c:title>
    <c:autoTitleDeleted val="0"/>
    <c:plotArea>
      <c:layout/>
      <c:doughnutChart>
        <c:varyColors val="1"/>
        <c:ser>
          <c:idx val="0"/>
          <c:order val="0"/>
          <c:tx>
            <c:strRef>
              <c:f>Sheet1!$B$1</c:f>
              <c:strCache>
                <c:ptCount val="1"/>
                <c:pt idx="0">
                  <c:v>Window Deck</c:v>
                </c:pt>
              </c:strCache>
            </c:strRef>
          </c:tx>
          <c:cat>
            <c:strRef>
              <c:f>Sheet1!$A$2:$A$5</c:f>
              <c:strCache>
                <c:ptCount val="4"/>
                <c:pt idx="0">
                  <c:v>Library</c:v>
                </c:pt>
                <c:pt idx="1">
                  <c:v>Plan</c:v>
                </c:pt>
                <c:pt idx="2">
                  <c:v>Factor</c:v>
                </c:pt>
                <c:pt idx="3">
                  <c:v>Velocity</c:v>
                </c:pt>
              </c:strCache>
            </c:strRef>
          </c:cat>
          <c:val>
            <c:numRef>
              <c:f>Sheet1!$B$2:$B$5</c:f>
              <c:numCache>
                <c:formatCode>General</c:formatCode>
                <c:ptCount val="4"/>
                <c:pt idx="0">
                  <c:v>51</c:v>
                </c:pt>
                <c:pt idx="1">
                  <c:v>44</c:v>
                </c:pt>
                <c:pt idx="2">
                  <c:v>82</c:v>
                </c:pt>
                <c:pt idx="3">
                  <c:v>27</c:v>
                </c:pt>
              </c:numCache>
            </c:numRef>
          </c:val>
          <c:extLst>
            <c:ext xmlns:c16="http://schemas.microsoft.com/office/drawing/2014/chart" uri="{C3380CC4-5D6E-409C-BE32-E72D297353CC}">
              <c16:uniqueId val="{00000000-BFB7-4816-B1AC-5FF203637BB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Portal Priority Function</a:t>
            </a:r>
          </a:p>
        </c:rich>
      </c:tx>
      <c:overlay val="0"/>
    </c:title>
    <c:autoTitleDeleted val="0"/>
    <c:plotArea>
      <c:layout/>
      <c:barChart>
        <c:barDir val="bar"/>
        <c:grouping val="clustered"/>
        <c:varyColors val="1"/>
        <c:ser>
          <c:idx val="0"/>
          <c:order val="0"/>
          <c:tx>
            <c:strRef>
              <c:f>Sheet1!$B$1</c:f>
              <c:strCache>
                <c:ptCount val="1"/>
                <c:pt idx="0">
                  <c:v>Adaptive</c:v>
                </c:pt>
              </c:strCache>
            </c:strRef>
          </c:tx>
          <c:invertIfNegative val="1"/>
          <c:cat>
            <c:strRef>
              <c:f>Sheet1!$A$2:$A$7</c:f>
              <c:strCache>
                <c:ptCount val="6"/>
                <c:pt idx="0">
                  <c:v>Bundle</c:v>
                </c:pt>
                <c:pt idx="1">
                  <c:v>Input</c:v>
                </c:pt>
                <c:pt idx="2">
                  <c:v>Marker</c:v>
                </c:pt>
                <c:pt idx="3">
                  <c:v>Agenda</c:v>
                </c:pt>
                <c:pt idx="4">
                  <c:v>Segment</c:v>
                </c:pt>
                <c:pt idx="5">
                  <c:v>Draft</c:v>
                </c:pt>
              </c:strCache>
            </c:strRef>
          </c:cat>
          <c:val>
            <c:numRef>
              <c:f>Sheet1!$B$2:$B$7</c:f>
              <c:numCache>
                <c:formatCode>General</c:formatCode>
                <c:ptCount val="6"/>
                <c:pt idx="0">
                  <c:v>45</c:v>
                </c:pt>
                <c:pt idx="1">
                  <c:v>52</c:v>
                </c:pt>
                <c:pt idx="2">
                  <c:v>77</c:v>
                </c:pt>
                <c:pt idx="3">
                  <c:v>80</c:v>
                </c:pt>
                <c:pt idx="4">
                  <c:v>31</c:v>
                </c:pt>
                <c:pt idx="5">
                  <c:v>49</c:v>
                </c:pt>
              </c:numCache>
            </c:numRef>
          </c:val>
          <c:extLst>
            <c:ext xmlns:c16="http://schemas.microsoft.com/office/drawing/2014/chart" uri="{C3380CC4-5D6E-409C-BE32-E72D297353CC}">
              <c16:uniqueId val="{00000000-C8B6-440A-A2E8-BD1F0912FC4E}"/>
            </c:ext>
          </c:extLst>
        </c:ser>
        <c:ser>
          <c:idx val="1"/>
          <c:order val="1"/>
          <c:tx>
            <c:strRef>
              <c:f>Sheet1!$C$1</c:f>
              <c:strCache>
                <c:ptCount val="1"/>
                <c:pt idx="0">
                  <c:v>Reference</c:v>
                </c:pt>
              </c:strCache>
            </c:strRef>
          </c:tx>
          <c:invertIfNegative val="1"/>
          <c:cat>
            <c:strRef>
              <c:f>Sheet1!$A$2:$A$7</c:f>
              <c:strCache>
                <c:ptCount val="6"/>
                <c:pt idx="0">
                  <c:v>Bundle</c:v>
                </c:pt>
                <c:pt idx="1">
                  <c:v>Input</c:v>
                </c:pt>
                <c:pt idx="2">
                  <c:v>Marker</c:v>
                </c:pt>
                <c:pt idx="3">
                  <c:v>Agenda</c:v>
                </c:pt>
                <c:pt idx="4">
                  <c:v>Segment</c:v>
                </c:pt>
                <c:pt idx="5">
                  <c:v>Draft</c:v>
                </c:pt>
              </c:strCache>
            </c:strRef>
          </c:cat>
          <c:val>
            <c:numRef>
              <c:f>Sheet1!$C$2:$C$7</c:f>
              <c:numCache>
                <c:formatCode>General</c:formatCode>
                <c:ptCount val="6"/>
                <c:pt idx="0">
                  <c:v>74</c:v>
                </c:pt>
                <c:pt idx="1">
                  <c:v>62</c:v>
                </c:pt>
                <c:pt idx="2">
                  <c:v>8</c:v>
                </c:pt>
                <c:pt idx="3">
                  <c:v>46</c:v>
                </c:pt>
                <c:pt idx="4">
                  <c:v>73</c:v>
                </c:pt>
                <c:pt idx="5">
                  <c:v>76</c:v>
                </c:pt>
              </c:numCache>
            </c:numRef>
          </c:val>
          <c:extLst>
            <c:ext xmlns:c16="http://schemas.microsoft.com/office/drawing/2014/chart" uri="{C3380CC4-5D6E-409C-BE32-E72D297353CC}">
              <c16:uniqueId val="{00000001-C8B6-440A-A2E8-BD1F0912FC4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Surface Track Profile</a:t>
            </a:r>
          </a:p>
        </c:rich>
      </c:tx>
      <c:overlay val="0"/>
    </c:title>
    <c:autoTitleDeleted val="0"/>
    <c:plotArea>
      <c:layout/>
      <c:doughnutChart>
        <c:varyColors val="1"/>
        <c:ser>
          <c:idx val="0"/>
          <c:order val="0"/>
          <c:tx>
            <c:strRef>
              <c:f>Sheet1!$B$1</c:f>
              <c:strCache>
                <c:ptCount val="1"/>
                <c:pt idx="0">
                  <c:v>Hub</c:v>
                </c:pt>
              </c:strCache>
            </c:strRef>
          </c:tx>
          <c:cat>
            <c:strRef>
              <c:f>Sheet1!$A$2:$A$4</c:f>
              <c:strCache>
                <c:ptCount val="3"/>
                <c:pt idx="0">
                  <c:v>Build</c:v>
                </c:pt>
                <c:pt idx="1">
                  <c:v>Wave</c:v>
                </c:pt>
                <c:pt idx="2">
                  <c:v>Deck</c:v>
                </c:pt>
              </c:strCache>
            </c:strRef>
          </c:cat>
          <c:val>
            <c:numRef>
              <c:f>Sheet1!$B$2:$B$4</c:f>
              <c:numCache>
                <c:formatCode>General</c:formatCode>
                <c:ptCount val="3"/>
                <c:pt idx="0">
                  <c:v>16</c:v>
                </c:pt>
                <c:pt idx="1">
                  <c:v>76</c:v>
                </c:pt>
                <c:pt idx="2">
                  <c:v>72</c:v>
                </c:pt>
              </c:numCache>
            </c:numRef>
          </c:val>
          <c:extLst>
            <c:ext xmlns:c16="http://schemas.microsoft.com/office/drawing/2014/chart" uri="{C3380CC4-5D6E-409C-BE32-E72D297353CC}">
              <c16:uniqueId val="{00000000-DB8A-4792-8B53-3C49CE74B87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Gateway Timeline</a:t>
            </a:r>
          </a:p>
        </c:rich>
      </c:tx>
      <c:overlay val="0"/>
    </c:title>
    <c:autoTitleDeleted val="0"/>
    <c:plotArea>
      <c:layout/>
      <c:pieChart>
        <c:varyColors val="1"/>
        <c:ser>
          <c:idx val="0"/>
          <c:order val="0"/>
          <c:tx>
            <c:strRef>
              <c:f>Sheet1!$B$1</c:f>
              <c:strCache>
                <c:ptCount val="1"/>
                <c:pt idx="0">
                  <c:v>Capacity</c:v>
                </c:pt>
              </c:strCache>
            </c:strRef>
          </c:tx>
          <c:cat>
            <c:strRef>
              <c:f>Sheet1!$A$2:$A$7</c:f>
              <c:strCache>
                <c:ptCount val="6"/>
                <c:pt idx="0">
                  <c:v>Intent</c:v>
                </c:pt>
                <c:pt idx="1">
                  <c:v>Priority</c:v>
                </c:pt>
                <c:pt idx="2">
                  <c:v>Array</c:v>
                </c:pt>
                <c:pt idx="3">
                  <c:v>Table</c:v>
                </c:pt>
                <c:pt idx="4">
                  <c:v>Atlas</c:v>
                </c:pt>
                <c:pt idx="5">
                  <c:v>State</c:v>
                </c:pt>
              </c:strCache>
            </c:strRef>
          </c:cat>
          <c:val>
            <c:numRef>
              <c:f>Sheet1!$B$2:$B$7</c:f>
              <c:numCache>
                <c:formatCode>General</c:formatCode>
                <c:ptCount val="6"/>
                <c:pt idx="0">
                  <c:v>15</c:v>
                </c:pt>
                <c:pt idx="1">
                  <c:v>85</c:v>
                </c:pt>
                <c:pt idx="2">
                  <c:v>38</c:v>
                </c:pt>
                <c:pt idx="3">
                  <c:v>10</c:v>
                </c:pt>
                <c:pt idx="4">
                  <c:v>27</c:v>
                </c:pt>
                <c:pt idx="5">
                  <c:v>75</c:v>
                </c:pt>
              </c:numCache>
            </c:numRef>
          </c:val>
          <c:extLst>
            <c:ext xmlns:c16="http://schemas.microsoft.com/office/drawing/2014/chart" uri="{C3380CC4-5D6E-409C-BE32-E72D297353CC}">
              <c16:uniqueId val="{00000000-8784-4664-AAB4-085B55ED9D02}"/>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Command Hub</c:v>
                </c:pt>
              </c:strCache>
            </c:strRef>
          </c:tx>
          <c:cat>
            <c:strRef>
              <c:f>Sheet1!$A$2:$A$5</c:f>
              <c:strCache>
                <c:ptCount val="4"/>
                <c:pt idx="0">
                  <c:v>Duration</c:v>
                </c:pt>
                <c:pt idx="1">
                  <c:v>Coverage</c:v>
                </c:pt>
                <c:pt idx="2">
                  <c:v>Insight</c:v>
                </c:pt>
                <c:pt idx="3">
                  <c:v>Model</c:v>
                </c:pt>
              </c:strCache>
            </c:strRef>
          </c:cat>
          <c:val>
            <c:numRef>
              <c:f>Sheet1!$B$2:$B$5</c:f>
              <c:numCache>
                <c:formatCode>General</c:formatCode>
                <c:ptCount val="4"/>
                <c:pt idx="0">
                  <c:v>71</c:v>
                </c:pt>
                <c:pt idx="1">
                  <c:v>52</c:v>
                </c:pt>
                <c:pt idx="2">
                  <c:v>36</c:v>
                </c:pt>
                <c:pt idx="3">
                  <c:v>26</c:v>
                </c:pt>
              </c:numCache>
            </c:numRef>
          </c:val>
          <c:smooth val="0"/>
          <c:extLst>
            <c:ext xmlns:c16="http://schemas.microsoft.com/office/drawing/2014/chart" uri="{C3380CC4-5D6E-409C-BE32-E72D297353CC}">
              <c16:uniqueId val="{00000000-733F-46C1-86DE-A08395AA7C5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Handle Kernel</c:v>
                </c:pt>
              </c:strCache>
            </c:strRef>
          </c:tx>
          <c:invertIfNegative val="1"/>
          <c:cat>
            <c:strRef>
              <c:f>Sheet1!$A$2:$A$6</c:f>
              <c:strCache>
                <c:ptCount val="5"/>
                <c:pt idx="0">
                  <c:v>Stage</c:v>
                </c:pt>
                <c:pt idx="1">
                  <c:v>Circuit</c:v>
                </c:pt>
                <c:pt idx="2">
                  <c:v>Goal</c:v>
                </c:pt>
                <c:pt idx="3">
                  <c:v>Mesh</c:v>
                </c:pt>
                <c:pt idx="4">
                  <c:v>Logic</c:v>
                </c:pt>
              </c:strCache>
            </c:strRef>
          </c:cat>
          <c:val>
            <c:numRef>
              <c:f>Sheet1!$B$2:$B$6</c:f>
              <c:numCache>
                <c:formatCode>General</c:formatCode>
                <c:ptCount val="5"/>
                <c:pt idx="0">
                  <c:v>77</c:v>
                </c:pt>
                <c:pt idx="1">
                  <c:v>77</c:v>
                </c:pt>
                <c:pt idx="2">
                  <c:v>8</c:v>
                </c:pt>
                <c:pt idx="3">
                  <c:v>88</c:v>
                </c:pt>
                <c:pt idx="4">
                  <c:v>69</c:v>
                </c:pt>
              </c:numCache>
            </c:numRef>
          </c:val>
          <c:extLst>
            <c:ext xmlns:c16="http://schemas.microsoft.com/office/drawing/2014/chart" uri="{C3380CC4-5D6E-409C-BE32-E72D297353CC}">
              <c16:uniqueId val="{00000000-3100-45F3-B2B6-B550CD8C445B}"/>
            </c:ext>
          </c:extLst>
        </c:ser>
        <c:ser>
          <c:idx val="1"/>
          <c:order val="1"/>
          <c:tx>
            <c:strRef>
              <c:f>Sheet1!$C$1</c:f>
              <c:strCache>
                <c:ptCount val="1"/>
                <c:pt idx="0">
                  <c:v>Echo</c:v>
                </c:pt>
              </c:strCache>
            </c:strRef>
          </c:tx>
          <c:invertIfNegative val="1"/>
          <c:cat>
            <c:strRef>
              <c:f>Sheet1!$A$2:$A$6</c:f>
              <c:strCache>
                <c:ptCount val="5"/>
                <c:pt idx="0">
                  <c:v>Stage</c:v>
                </c:pt>
                <c:pt idx="1">
                  <c:v>Circuit</c:v>
                </c:pt>
                <c:pt idx="2">
                  <c:v>Goal</c:v>
                </c:pt>
                <c:pt idx="3">
                  <c:v>Mesh</c:v>
                </c:pt>
                <c:pt idx="4">
                  <c:v>Logic</c:v>
                </c:pt>
              </c:strCache>
            </c:strRef>
          </c:cat>
          <c:val>
            <c:numRef>
              <c:f>Sheet1!$C$2:$C$6</c:f>
              <c:numCache>
                <c:formatCode>General</c:formatCode>
                <c:ptCount val="5"/>
                <c:pt idx="0">
                  <c:v>74</c:v>
                </c:pt>
                <c:pt idx="1">
                  <c:v>67</c:v>
                </c:pt>
                <c:pt idx="2">
                  <c:v>91</c:v>
                </c:pt>
                <c:pt idx="3">
                  <c:v>50</c:v>
                </c:pt>
                <c:pt idx="4">
                  <c:v>41</c:v>
                </c:pt>
              </c:numCache>
            </c:numRef>
          </c:val>
          <c:extLst>
            <c:ext xmlns:c16="http://schemas.microsoft.com/office/drawing/2014/chart" uri="{C3380CC4-5D6E-409C-BE32-E72D297353CC}">
              <c16:uniqueId val="{00000001-3100-45F3-B2B6-B550CD8C445B}"/>
            </c:ext>
          </c:extLst>
        </c:ser>
        <c:ser>
          <c:idx val="2"/>
          <c:order val="2"/>
          <c:tx>
            <c:strRef>
              <c:f>Sheet1!$D$1</c:f>
              <c:strCache>
                <c:ptCount val="1"/>
                <c:pt idx="0">
                  <c:v>Case</c:v>
                </c:pt>
              </c:strCache>
            </c:strRef>
          </c:tx>
          <c:invertIfNegative val="1"/>
          <c:cat>
            <c:strRef>
              <c:f>Sheet1!$A$2:$A$6</c:f>
              <c:strCache>
                <c:ptCount val="5"/>
                <c:pt idx="0">
                  <c:v>Stage</c:v>
                </c:pt>
                <c:pt idx="1">
                  <c:v>Circuit</c:v>
                </c:pt>
                <c:pt idx="2">
                  <c:v>Goal</c:v>
                </c:pt>
                <c:pt idx="3">
                  <c:v>Mesh</c:v>
                </c:pt>
                <c:pt idx="4">
                  <c:v>Logic</c:v>
                </c:pt>
              </c:strCache>
            </c:strRef>
          </c:cat>
          <c:val>
            <c:numRef>
              <c:f>Sheet1!$D$2:$D$6</c:f>
              <c:numCache>
                <c:formatCode>General</c:formatCode>
                <c:ptCount val="5"/>
                <c:pt idx="0">
                  <c:v>91</c:v>
                </c:pt>
                <c:pt idx="1">
                  <c:v>85</c:v>
                </c:pt>
                <c:pt idx="2">
                  <c:v>72</c:v>
                </c:pt>
                <c:pt idx="3">
                  <c:v>36</c:v>
                </c:pt>
                <c:pt idx="4">
                  <c:v>50</c:v>
                </c:pt>
              </c:numCache>
            </c:numRef>
          </c:val>
          <c:extLst>
            <c:ext xmlns:c16="http://schemas.microsoft.com/office/drawing/2014/chart" uri="{C3380CC4-5D6E-409C-BE32-E72D297353CC}">
              <c16:uniqueId val="{00000002-3100-45F3-B2B6-B550CD8C445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Region</c:v>
                </c:pt>
              </c:strCache>
            </c:strRef>
          </c:tx>
          <c:invertIfNegative val="1"/>
          <c:cat>
            <c:strRef>
              <c:f>Sheet1!$A$2:$A$4</c:f>
              <c:strCache>
                <c:ptCount val="3"/>
                <c:pt idx="0">
                  <c:v>Apex</c:v>
                </c:pt>
                <c:pt idx="1">
                  <c:v>Factor</c:v>
                </c:pt>
                <c:pt idx="2">
                  <c:v>Circuit</c:v>
                </c:pt>
              </c:strCache>
            </c:strRef>
          </c:cat>
          <c:val>
            <c:numRef>
              <c:f>Sheet1!$B$2:$B$4</c:f>
              <c:numCache>
                <c:formatCode>General</c:formatCode>
                <c:ptCount val="3"/>
                <c:pt idx="0">
                  <c:v>80</c:v>
                </c:pt>
                <c:pt idx="1">
                  <c:v>84</c:v>
                </c:pt>
                <c:pt idx="2">
                  <c:v>9</c:v>
                </c:pt>
              </c:numCache>
            </c:numRef>
          </c:val>
          <c:extLst>
            <c:ext xmlns:c16="http://schemas.microsoft.com/office/drawing/2014/chart" uri="{C3380CC4-5D6E-409C-BE32-E72D297353CC}">
              <c16:uniqueId val="{00000000-F003-4AA9-B3D8-230BED109BA0}"/>
            </c:ext>
          </c:extLst>
        </c:ser>
        <c:ser>
          <c:idx val="1"/>
          <c:order val="1"/>
          <c:tx>
            <c:strRef>
              <c:f>Sheet1!$C$1</c:f>
              <c:strCache>
                <c:ptCount val="1"/>
                <c:pt idx="0">
                  <c:v>Frequency</c:v>
                </c:pt>
              </c:strCache>
            </c:strRef>
          </c:tx>
          <c:invertIfNegative val="1"/>
          <c:cat>
            <c:strRef>
              <c:f>Sheet1!$A$2:$A$4</c:f>
              <c:strCache>
                <c:ptCount val="3"/>
                <c:pt idx="0">
                  <c:v>Apex</c:v>
                </c:pt>
                <c:pt idx="1">
                  <c:v>Factor</c:v>
                </c:pt>
                <c:pt idx="2">
                  <c:v>Circuit</c:v>
                </c:pt>
              </c:strCache>
            </c:strRef>
          </c:cat>
          <c:val>
            <c:numRef>
              <c:f>Sheet1!$C$2:$C$4</c:f>
              <c:numCache>
                <c:formatCode>General</c:formatCode>
                <c:ptCount val="3"/>
                <c:pt idx="0">
                  <c:v>45</c:v>
                </c:pt>
                <c:pt idx="1">
                  <c:v>36</c:v>
                </c:pt>
                <c:pt idx="2">
                  <c:v>15</c:v>
                </c:pt>
              </c:numCache>
            </c:numRef>
          </c:val>
          <c:extLst>
            <c:ext xmlns:c16="http://schemas.microsoft.com/office/drawing/2014/chart" uri="{C3380CC4-5D6E-409C-BE32-E72D297353CC}">
              <c16:uniqueId val="{00000001-F003-4AA9-B3D8-230BED109BA0}"/>
            </c:ext>
          </c:extLst>
        </c:ser>
        <c:ser>
          <c:idx val="2"/>
          <c:order val="2"/>
          <c:tx>
            <c:strRef>
              <c:f>Sheet1!$D$1</c:f>
              <c:strCache>
                <c:ptCount val="1"/>
                <c:pt idx="0">
                  <c:v>Aspect</c:v>
                </c:pt>
              </c:strCache>
            </c:strRef>
          </c:tx>
          <c:invertIfNegative val="1"/>
          <c:cat>
            <c:strRef>
              <c:f>Sheet1!$A$2:$A$4</c:f>
              <c:strCache>
                <c:ptCount val="3"/>
                <c:pt idx="0">
                  <c:v>Apex</c:v>
                </c:pt>
                <c:pt idx="1">
                  <c:v>Factor</c:v>
                </c:pt>
                <c:pt idx="2">
                  <c:v>Circuit</c:v>
                </c:pt>
              </c:strCache>
            </c:strRef>
          </c:cat>
          <c:val>
            <c:numRef>
              <c:f>Sheet1!$D$2:$D$4</c:f>
              <c:numCache>
                <c:formatCode>General</c:formatCode>
                <c:ptCount val="3"/>
                <c:pt idx="0">
                  <c:v>18</c:v>
                </c:pt>
                <c:pt idx="1">
                  <c:v>10</c:v>
                </c:pt>
                <c:pt idx="2">
                  <c:v>13</c:v>
                </c:pt>
              </c:numCache>
            </c:numRef>
          </c:val>
          <c:extLst>
            <c:ext xmlns:c16="http://schemas.microsoft.com/office/drawing/2014/chart" uri="{C3380CC4-5D6E-409C-BE32-E72D297353CC}">
              <c16:uniqueId val="{00000002-F003-4AA9-B3D8-230BED109BA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Filter Coverage Cell Access Origin</a:t>
            </a:r>
          </a:p>
        </c:rich>
      </c:tx>
      <c:overlay val="0"/>
    </c:title>
    <c:autoTitleDeleted val="0"/>
    <c:plotArea>
      <c:layout/>
      <c:doughnutChart>
        <c:varyColors val="1"/>
        <c:ser>
          <c:idx val="0"/>
          <c:order val="0"/>
          <c:tx>
            <c:strRef>
              <c:f>Sheet1!$B$1</c:f>
              <c:strCache>
                <c:ptCount val="1"/>
                <c:pt idx="0">
                  <c:v>Gradient Bridge</c:v>
                </c:pt>
              </c:strCache>
            </c:strRef>
          </c:tx>
          <c:cat>
            <c:strRef>
              <c:f>Sheet1!$A$2:$A$7</c:f>
              <c:strCache>
                <c:ptCount val="6"/>
                <c:pt idx="0">
                  <c:v>Sequence</c:v>
                </c:pt>
                <c:pt idx="1">
                  <c:v>Exchange</c:v>
                </c:pt>
                <c:pt idx="2">
                  <c:v>Adaptive</c:v>
                </c:pt>
                <c:pt idx="3">
                  <c:v>Focus</c:v>
                </c:pt>
                <c:pt idx="4">
                  <c:v>Cortex</c:v>
                </c:pt>
                <c:pt idx="5">
                  <c:v>Center</c:v>
                </c:pt>
              </c:strCache>
            </c:strRef>
          </c:cat>
          <c:val>
            <c:numRef>
              <c:f>Sheet1!$B$2:$B$7</c:f>
              <c:numCache>
                <c:formatCode>General</c:formatCode>
                <c:ptCount val="6"/>
                <c:pt idx="0">
                  <c:v>46</c:v>
                </c:pt>
                <c:pt idx="1">
                  <c:v>55</c:v>
                </c:pt>
                <c:pt idx="2">
                  <c:v>81</c:v>
                </c:pt>
                <c:pt idx="3">
                  <c:v>49</c:v>
                </c:pt>
                <c:pt idx="4">
                  <c:v>64</c:v>
                </c:pt>
                <c:pt idx="5">
                  <c:v>60</c:v>
                </c:pt>
              </c:numCache>
            </c:numRef>
          </c:val>
          <c:extLst>
            <c:ext xmlns:c16="http://schemas.microsoft.com/office/drawing/2014/chart" uri="{C3380CC4-5D6E-409C-BE32-E72D297353CC}">
              <c16:uniqueId val="{00000000-FF88-495D-A14A-4EEDF7739876}"/>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Friction</c:v>
                </c:pt>
              </c:strCache>
            </c:strRef>
          </c:tx>
          <c:cat>
            <c:strRef>
              <c:f>Sheet1!$A$2:$A$6</c:f>
              <c:strCache>
                <c:ptCount val="5"/>
                <c:pt idx="0">
                  <c:v>Dashboard</c:v>
                </c:pt>
                <c:pt idx="1">
                  <c:v>Range</c:v>
                </c:pt>
                <c:pt idx="2">
                  <c:v>Device</c:v>
                </c:pt>
                <c:pt idx="3">
                  <c:v>Bridge</c:v>
                </c:pt>
                <c:pt idx="4">
                  <c:v>Interface</c:v>
                </c:pt>
              </c:strCache>
            </c:strRef>
          </c:cat>
          <c:val>
            <c:numRef>
              <c:f>Sheet1!$B$2:$B$6</c:f>
              <c:numCache>
                <c:formatCode>General</c:formatCode>
                <c:ptCount val="5"/>
                <c:pt idx="0">
                  <c:v>18</c:v>
                </c:pt>
                <c:pt idx="1">
                  <c:v>73</c:v>
                </c:pt>
                <c:pt idx="2">
                  <c:v>76</c:v>
                </c:pt>
                <c:pt idx="3">
                  <c:v>27</c:v>
                </c:pt>
                <c:pt idx="4">
                  <c:v>69</c:v>
                </c:pt>
              </c:numCache>
            </c:numRef>
          </c:val>
          <c:extLst>
            <c:ext xmlns:c16="http://schemas.microsoft.com/office/drawing/2014/chart" uri="{C3380CC4-5D6E-409C-BE32-E72D297353CC}">
              <c16:uniqueId val="{00000000-DE18-4FEE-9ADE-C8D66A392288}"/>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Foundation Module</c:v>
                </c:pt>
              </c:strCache>
            </c:strRef>
          </c:tx>
          <c:cat>
            <c:strRef>
              <c:f>Sheet1!$A$2:$A$4</c:f>
              <c:strCache>
                <c:ptCount val="3"/>
                <c:pt idx="0">
                  <c:v>Tile</c:v>
                </c:pt>
                <c:pt idx="1">
                  <c:v>Trace</c:v>
                </c:pt>
                <c:pt idx="2">
                  <c:v>Aspect</c:v>
                </c:pt>
              </c:strCache>
            </c:strRef>
          </c:cat>
          <c:val>
            <c:numRef>
              <c:f>Sheet1!$B$2:$B$4</c:f>
              <c:numCache>
                <c:formatCode>General</c:formatCode>
                <c:ptCount val="3"/>
                <c:pt idx="0">
                  <c:v>40</c:v>
                </c:pt>
                <c:pt idx="1">
                  <c:v>21</c:v>
                </c:pt>
                <c:pt idx="2">
                  <c:v>40</c:v>
                </c:pt>
              </c:numCache>
            </c:numRef>
          </c:val>
          <c:smooth val="0"/>
          <c:extLst>
            <c:ext xmlns:c16="http://schemas.microsoft.com/office/drawing/2014/chart" uri="{C3380CC4-5D6E-409C-BE32-E72D297353CC}">
              <c16:uniqueId val="{00000000-6008-4C81-8277-9AF3AA451DCE}"/>
            </c:ext>
          </c:extLst>
        </c:ser>
        <c:ser>
          <c:idx val="1"/>
          <c:order val="1"/>
          <c:tx>
            <c:strRef>
              <c:f>Sheet1!$C$1</c:f>
              <c:strCache>
                <c:ptCount val="1"/>
                <c:pt idx="0">
                  <c:v>Insight Context</c:v>
                </c:pt>
              </c:strCache>
            </c:strRef>
          </c:tx>
          <c:cat>
            <c:strRef>
              <c:f>Sheet1!$A$2:$A$4</c:f>
              <c:strCache>
                <c:ptCount val="3"/>
                <c:pt idx="0">
                  <c:v>Tile</c:v>
                </c:pt>
                <c:pt idx="1">
                  <c:v>Trace</c:v>
                </c:pt>
                <c:pt idx="2">
                  <c:v>Aspect</c:v>
                </c:pt>
              </c:strCache>
            </c:strRef>
          </c:cat>
          <c:val>
            <c:numRef>
              <c:f>Sheet1!$C$2:$C$4</c:f>
              <c:numCache>
                <c:formatCode>General</c:formatCode>
                <c:ptCount val="3"/>
                <c:pt idx="0">
                  <c:v>23</c:v>
                </c:pt>
                <c:pt idx="1">
                  <c:v>67</c:v>
                </c:pt>
                <c:pt idx="2">
                  <c:v>89</c:v>
                </c:pt>
              </c:numCache>
            </c:numRef>
          </c:val>
          <c:smooth val="0"/>
          <c:extLst>
            <c:ext xmlns:c16="http://schemas.microsoft.com/office/drawing/2014/chart" uri="{C3380CC4-5D6E-409C-BE32-E72D297353CC}">
              <c16:uniqueId val="{00000001-6008-4C81-8277-9AF3AA451DCE}"/>
            </c:ext>
          </c:extLst>
        </c:ser>
        <c:ser>
          <c:idx val="2"/>
          <c:order val="2"/>
          <c:tx>
            <c:strRef>
              <c:f>Sheet1!$D$1</c:f>
              <c:strCache>
                <c:ptCount val="1"/>
                <c:pt idx="0">
                  <c:v>Library</c:v>
                </c:pt>
              </c:strCache>
            </c:strRef>
          </c:tx>
          <c:cat>
            <c:strRef>
              <c:f>Sheet1!$A$2:$A$4</c:f>
              <c:strCache>
                <c:ptCount val="3"/>
                <c:pt idx="0">
                  <c:v>Tile</c:v>
                </c:pt>
                <c:pt idx="1">
                  <c:v>Trace</c:v>
                </c:pt>
                <c:pt idx="2">
                  <c:v>Aspect</c:v>
                </c:pt>
              </c:strCache>
            </c:strRef>
          </c:cat>
          <c:val>
            <c:numRef>
              <c:f>Sheet1!$D$2:$D$4</c:f>
              <c:numCache>
                <c:formatCode>General</c:formatCode>
                <c:ptCount val="3"/>
                <c:pt idx="0">
                  <c:v>13</c:v>
                </c:pt>
                <c:pt idx="1">
                  <c:v>36</c:v>
                </c:pt>
                <c:pt idx="2">
                  <c:v>68</c:v>
                </c:pt>
              </c:numCache>
            </c:numRef>
          </c:val>
          <c:smooth val="0"/>
          <c:extLst>
            <c:ext xmlns:c16="http://schemas.microsoft.com/office/drawing/2014/chart" uri="{C3380CC4-5D6E-409C-BE32-E72D297353CC}">
              <c16:uniqueId val="{00000002-6008-4C81-8277-9AF3AA451DC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Grid</c:v>
                </c:pt>
              </c:strCache>
            </c:strRef>
          </c:tx>
          <c:invertIfNegative val="1"/>
          <c:cat>
            <c:strRef>
              <c:f>Sheet1!$A$2:$A$5</c:f>
              <c:strCache>
                <c:ptCount val="4"/>
                <c:pt idx="0">
                  <c:v>Level</c:v>
                </c:pt>
                <c:pt idx="1">
                  <c:v>Viewport</c:v>
                </c:pt>
                <c:pt idx="2">
                  <c:v>Drift</c:v>
                </c:pt>
                <c:pt idx="3">
                  <c:v>Interval</c:v>
                </c:pt>
              </c:strCache>
            </c:strRef>
          </c:cat>
          <c:val>
            <c:numRef>
              <c:f>Sheet1!$B$2:$B$5</c:f>
              <c:numCache>
                <c:formatCode>General</c:formatCode>
                <c:ptCount val="4"/>
                <c:pt idx="0">
                  <c:v>53</c:v>
                </c:pt>
                <c:pt idx="1">
                  <c:v>89</c:v>
                </c:pt>
                <c:pt idx="2">
                  <c:v>39</c:v>
                </c:pt>
                <c:pt idx="3">
                  <c:v>17</c:v>
                </c:pt>
              </c:numCache>
            </c:numRef>
          </c:val>
          <c:extLst>
            <c:ext xmlns:c16="http://schemas.microsoft.com/office/drawing/2014/chart" uri="{C3380CC4-5D6E-409C-BE32-E72D297353CC}">
              <c16:uniqueId val="{00000000-CD42-4A1D-A54C-D6F2E1336944}"/>
            </c:ext>
          </c:extLst>
        </c:ser>
        <c:ser>
          <c:idx val="1"/>
          <c:order val="1"/>
          <c:tx>
            <c:strRef>
              <c:f>Sheet1!$C$1</c:f>
              <c:strCache>
                <c:ptCount val="1"/>
                <c:pt idx="0">
                  <c:v>Agenda</c:v>
                </c:pt>
              </c:strCache>
            </c:strRef>
          </c:tx>
          <c:invertIfNegative val="1"/>
          <c:cat>
            <c:strRef>
              <c:f>Sheet1!$A$2:$A$5</c:f>
              <c:strCache>
                <c:ptCount val="4"/>
                <c:pt idx="0">
                  <c:v>Level</c:v>
                </c:pt>
                <c:pt idx="1">
                  <c:v>Viewport</c:v>
                </c:pt>
                <c:pt idx="2">
                  <c:v>Drift</c:v>
                </c:pt>
                <c:pt idx="3">
                  <c:v>Interval</c:v>
                </c:pt>
              </c:strCache>
            </c:strRef>
          </c:cat>
          <c:val>
            <c:numRef>
              <c:f>Sheet1!$C$2:$C$5</c:f>
              <c:numCache>
                <c:formatCode>General</c:formatCode>
                <c:ptCount val="4"/>
                <c:pt idx="0">
                  <c:v>40</c:v>
                </c:pt>
                <c:pt idx="1">
                  <c:v>49</c:v>
                </c:pt>
                <c:pt idx="2">
                  <c:v>36</c:v>
                </c:pt>
                <c:pt idx="3">
                  <c:v>85</c:v>
                </c:pt>
              </c:numCache>
            </c:numRef>
          </c:val>
          <c:extLst>
            <c:ext xmlns:c16="http://schemas.microsoft.com/office/drawing/2014/chart" uri="{C3380CC4-5D6E-409C-BE32-E72D297353CC}">
              <c16:uniqueId val="{00000001-CD42-4A1D-A54C-D6F2E1336944}"/>
            </c:ext>
          </c:extLst>
        </c:ser>
        <c:ser>
          <c:idx val="2"/>
          <c:order val="2"/>
          <c:tx>
            <c:strRef>
              <c:f>Sheet1!$D$1</c:f>
              <c:strCache>
                <c:ptCount val="1"/>
                <c:pt idx="0">
                  <c:v>Epoch</c:v>
                </c:pt>
              </c:strCache>
            </c:strRef>
          </c:tx>
          <c:invertIfNegative val="1"/>
          <c:cat>
            <c:strRef>
              <c:f>Sheet1!$A$2:$A$5</c:f>
              <c:strCache>
                <c:ptCount val="4"/>
                <c:pt idx="0">
                  <c:v>Level</c:v>
                </c:pt>
                <c:pt idx="1">
                  <c:v>Viewport</c:v>
                </c:pt>
                <c:pt idx="2">
                  <c:v>Drift</c:v>
                </c:pt>
                <c:pt idx="3">
                  <c:v>Interval</c:v>
                </c:pt>
              </c:strCache>
            </c:strRef>
          </c:cat>
          <c:val>
            <c:numRef>
              <c:f>Sheet1!$D$2:$D$5</c:f>
              <c:numCache>
                <c:formatCode>General</c:formatCode>
                <c:ptCount val="4"/>
                <c:pt idx="0">
                  <c:v>33</c:v>
                </c:pt>
                <c:pt idx="1">
                  <c:v>95</c:v>
                </c:pt>
                <c:pt idx="2">
                  <c:v>22</c:v>
                </c:pt>
                <c:pt idx="3">
                  <c:v>70</c:v>
                </c:pt>
              </c:numCache>
            </c:numRef>
          </c:val>
          <c:extLst>
            <c:ext xmlns:c16="http://schemas.microsoft.com/office/drawing/2014/chart" uri="{C3380CC4-5D6E-409C-BE32-E72D297353CC}">
              <c16:uniqueId val="{00000002-CD42-4A1D-A54C-D6F2E133694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Response Lens</c:v>
                </c:pt>
              </c:strCache>
            </c:strRef>
          </c:tx>
          <c:cat>
            <c:strRef>
              <c:f>Sheet1!$A$2:$A$7</c:f>
              <c:strCache>
                <c:ptCount val="6"/>
                <c:pt idx="0">
                  <c:v>Discovery</c:v>
                </c:pt>
                <c:pt idx="1">
                  <c:v>Vertex</c:v>
                </c:pt>
                <c:pt idx="2">
                  <c:v>Keyline</c:v>
                </c:pt>
                <c:pt idx="3">
                  <c:v>Map</c:v>
                </c:pt>
                <c:pt idx="4">
                  <c:v>Proof</c:v>
                </c:pt>
                <c:pt idx="5">
                  <c:v>Motion</c:v>
                </c:pt>
              </c:strCache>
            </c:strRef>
          </c:cat>
          <c:val>
            <c:numRef>
              <c:f>Sheet1!$B$2:$B$7</c:f>
              <c:numCache>
                <c:formatCode>General</c:formatCode>
                <c:ptCount val="6"/>
                <c:pt idx="0">
                  <c:v>60</c:v>
                </c:pt>
                <c:pt idx="1">
                  <c:v>30</c:v>
                </c:pt>
                <c:pt idx="2">
                  <c:v>53</c:v>
                </c:pt>
                <c:pt idx="3">
                  <c:v>39</c:v>
                </c:pt>
                <c:pt idx="4">
                  <c:v>75</c:v>
                </c:pt>
                <c:pt idx="5">
                  <c:v>42</c:v>
                </c:pt>
              </c:numCache>
            </c:numRef>
          </c:val>
          <c:extLst>
            <c:ext xmlns:c16="http://schemas.microsoft.com/office/drawing/2014/chart" uri="{C3380CC4-5D6E-409C-BE32-E72D297353CC}">
              <c16:uniqueId val="{00000000-4DCB-4E0B-B7BC-B8C6C665ADB8}"/>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Query</c:v>
                </c:pt>
              </c:strCache>
            </c:strRef>
          </c:tx>
          <c:cat>
            <c:strRef>
              <c:f>Sheet1!$A$2:$A$7</c:f>
              <c:strCache>
                <c:ptCount val="6"/>
                <c:pt idx="0">
                  <c:v>Portal</c:v>
                </c:pt>
                <c:pt idx="1">
                  <c:v>Diagram</c:v>
                </c:pt>
                <c:pt idx="2">
                  <c:v>Friction</c:v>
                </c:pt>
                <c:pt idx="3">
                  <c:v>Route</c:v>
                </c:pt>
                <c:pt idx="4">
                  <c:v>Table</c:v>
                </c:pt>
                <c:pt idx="5">
                  <c:v>Profile</c:v>
                </c:pt>
              </c:strCache>
            </c:strRef>
          </c:cat>
          <c:val>
            <c:numRef>
              <c:f>Sheet1!$B$2:$B$7</c:f>
              <c:numCache>
                <c:formatCode>General</c:formatCode>
                <c:ptCount val="6"/>
                <c:pt idx="0">
                  <c:v>69</c:v>
                </c:pt>
                <c:pt idx="1">
                  <c:v>94</c:v>
                </c:pt>
                <c:pt idx="2">
                  <c:v>12</c:v>
                </c:pt>
                <c:pt idx="3">
                  <c:v>26</c:v>
                </c:pt>
                <c:pt idx="4">
                  <c:v>53</c:v>
                </c:pt>
                <c:pt idx="5">
                  <c:v>71</c:v>
                </c:pt>
              </c:numCache>
            </c:numRef>
          </c:val>
          <c:extLst>
            <c:ext xmlns:c16="http://schemas.microsoft.com/office/drawing/2014/chart" uri="{C3380CC4-5D6E-409C-BE32-E72D297353CC}">
              <c16:uniqueId val="{00000000-9054-49A4-86AA-AD767554CD08}"/>
            </c:ext>
          </c:extLst>
        </c:ser>
        <c:ser>
          <c:idx val="1"/>
          <c:order val="1"/>
          <c:tx>
            <c:strRef>
              <c:f>Sheet1!$C$1</c:f>
              <c:strCache>
                <c:ptCount val="1"/>
                <c:pt idx="0">
                  <c:v>Coverage</c:v>
                </c:pt>
              </c:strCache>
            </c:strRef>
          </c:tx>
          <c:cat>
            <c:strRef>
              <c:f>Sheet1!$A$2:$A$7</c:f>
              <c:strCache>
                <c:ptCount val="6"/>
                <c:pt idx="0">
                  <c:v>Portal</c:v>
                </c:pt>
                <c:pt idx="1">
                  <c:v>Diagram</c:v>
                </c:pt>
                <c:pt idx="2">
                  <c:v>Friction</c:v>
                </c:pt>
                <c:pt idx="3">
                  <c:v>Route</c:v>
                </c:pt>
                <c:pt idx="4">
                  <c:v>Table</c:v>
                </c:pt>
                <c:pt idx="5">
                  <c:v>Profile</c:v>
                </c:pt>
              </c:strCache>
            </c:strRef>
          </c:cat>
          <c:val>
            <c:numRef>
              <c:f>Sheet1!$C$2:$C$7</c:f>
              <c:numCache>
                <c:formatCode>General</c:formatCode>
                <c:ptCount val="6"/>
                <c:pt idx="0">
                  <c:v>79</c:v>
                </c:pt>
                <c:pt idx="1">
                  <c:v>42</c:v>
                </c:pt>
                <c:pt idx="2">
                  <c:v>34</c:v>
                </c:pt>
                <c:pt idx="3">
                  <c:v>60</c:v>
                </c:pt>
                <c:pt idx="4">
                  <c:v>92</c:v>
                </c:pt>
                <c:pt idx="5">
                  <c:v>88</c:v>
                </c:pt>
              </c:numCache>
            </c:numRef>
          </c:val>
          <c:extLst>
            <c:ext xmlns:c16="http://schemas.microsoft.com/office/drawing/2014/chart" uri="{C3380CC4-5D6E-409C-BE32-E72D297353CC}">
              <c16:uniqueId val="{00000001-9054-49A4-86AA-AD767554CD08}"/>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Foundation</c:v>
                </c:pt>
              </c:strCache>
            </c:strRef>
          </c:tx>
          <c:cat>
            <c:strRef>
              <c:f>Sheet1!$A$2:$A$5</c:f>
              <c:strCache>
                <c:ptCount val="4"/>
                <c:pt idx="0">
                  <c:v>Envelope</c:v>
                </c:pt>
                <c:pt idx="1">
                  <c:v>Concept</c:v>
                </c:pt>
                <c:pt idx="2">
                  <c:v>Route</c:v>
                </c:pt>
                <c:pt idx="3">
                  <c:v>Discovery</c:v>
                </c:pt>
              </c:strCache>
            </c:strRef>
          </c:cat>
          <c:val>
            <c:numRef>
              <c:f>Sheet1!$B$2:$B$5</c:f>
              <c:numCache>
                <c:formatCode>General</c:formatCode>
                <c:ptCount val="4"/>
                <c:pt idx="0">
                  <c:v>62</c:v>
                </c:pt>
                <c:pt idx="1">
                  <c:v>19</c:v>
                </c:pt>
                <c:pt idx="2">
                  <c:v>92</c:v>
                </c:pt>
                <c:pt idx="3">
                  <c:v>83</c:v>
                </c:pt>
              </c:numCache>
            </c:numRef>
          </c:val>
          <c:extLst>
            <c:ext xmlns:c16="http://schemas.microsoft.com/office/drawing/2014/chart" uri="{C3380CC4-5D6E-409C-BE32-E72D297353CC}">
              <c16:uniqueId val="{00000000-A782-4523-9872-B34FA9D4AEE9}"/>
            </c:ext>
          </c:extLst>
        </c:ser>
        <c:ser>
          <c:idx val="1"/>
          <c:order val="1"/>
          <c:tx>
            <c:strRef>
              <c:f>Sheet1!$C$1</c:f>
              <c:strCache>
                <c:ptCount val="1"/>
                <c:pt idx="0">
                  <c:v>Input</c:v>
                </c:pt>
              </c:strCache>
            </c:strRef>
          </c:tx>
          <c:cat>
            <c:strRef>
              <c:f>Sheet1!$A$2:$A$5</c:f>
              <c:strCache>
                <c:ptCount val="4"/>
                <c:pt idx="0">
                  <c:v>Envelope</c:v>
                </c:pt>
                <c:pt idx="1">
                  <c:v>Concept</c:v>
                </c:pt>
                <c:pt idx="2">
                  <c:v>Route</c:v>
                </c:pt>
                <c:pt idx="3">
                  <c:v>Discovery</c:v>
                </c:pt>
              </c:strCache>
            </c:strRef>
          </c:cat>
          <c:val>
            <c:numRef>
              <c:f>Sheet1!$C$2:$C$5</c:f>
              <c:numCache>
                <c:formatCode>General</c:formatCode>
                <c:ptCount val="4"/>
                <c:pt idx="0">
                  <c:v>54</c:v>
                </c:pt>
                <c:pt idx="1">
                  <c:v>25</c:v>
                </c:pt>
                <c:pt idx="2">
                  <c:v>78</c:v>
                </c:pt>
                <c:pt idx="3">
                  <c:v>83</c:v>
                </c:pt>
              </c:numCache>
            </c:numRef>
          </c:val>
          <c:extLst>
            <c:ext xmlns:c16="http://schemas.microsoft.com/office/drawing/2014/chart" uri="{C3380CC4-5D6E-409C-BE32-E72D297353CC}">
              <c16:uniqueId val="{00000001-A782-4523-9872-B34FA9D4AEE9}"/>
            </c:ext>
          </c:extLst>
        </c:ser>
        <c:ser>
          <c:idx val="2"/>
          <c:order val="2"/>
          <c:tx>
            <c:strRef>
              <c:f>Sheet1!$D$1</c:f>
              <c:strCache>
                <c:ptCount val="1"/>
                <c:pt idx="0">
                  <c:v>Narrative System</c:v>
                </c:pt>
              </c:strCache>
            </c:strRef>
          </c:tx>
          <c:cat>
            <c:strRef>
              <c:f>Sheet1!$A$2:$A$5</c:f>
              <c:strCache>
                <c:ptCount val="4"/>
                <c:pt idx="0">
                  <c:v>Envelope</c:v>
                </c:pt>
                <c:pt idx="1">
                  <c:v>Concept</c:v>
                </c:pt>
                <c:pt idx="2">
                  <c:v>Route</c:v>
                </c:pt>
                <c:pt idx="3">
                  <c:v>Discovery</c:v>
                </c:pt>
              </c:strCache>
            </c:strRef>
          </c:cat>
          <c:val>
            <c:numRef>
              <c:f>Sheet1!$D$2:$D$5</c:f>
              <c:numCache>
                <c:formatCode>General</c:formatCode>
                <c:ptCount val="4"/>
                <c:pt idx="0">
                  <c:v>20</c:v>
                </c:pt>
                <c:pt idx="1">
                  <c:v>23</c:v>
                </c:pt>
                <c:pt idx="2">
                  <c:v>40</c:v>
                </c:pt>
                <c:pt idx="3">
                  <c:v>53</c:v>
                </c:pt>
              </c:numCache>
            </c:numRef>
          </c:val>
          <c:extLst>
            <c:ext xmlns:c16="http://schemas.microsoft.com/office/drawing/2014/chart" uri="{C3380CC4-5D6E-409C-BE32-E72D297353CC}">
              <c16:uniqueId val="{00000002-A782-4523-9872-B34FA9D4AEE9}"/>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Column Cadence Hub Connector</a:t>
            </a:r>
          </a:p>
        </c:rich>
      </c:tx>
      <c:overlay val="0"/>
    </c:title>
    <c:autoTitleDeleted val="0"/>
    <c:plotArea>
      <c:layout/>
      <c:barChart>
        <c:barDir val="col"/>
        <c:grouping val="clustered"/>
        <c:varyColors val="1"/>
        <c:ser>
          <c:idx val="0"/>
          <c:order val="0"/>
          <c:tx>
            <c:strRef>
              <c:f>Sheet1!$B$1</c:f>
              <c:strCache>
                <c:ptCount val="1"/>
                <c:pt idx="0">
                  <c:v>Connector</c:v>
                </c:pt>
              </c:strCache>
            </c:strRef>
          </c:tx>
          <c:invertIfNegative val="1"/>
          <c:cat>
            <c:strRef>
              <c:f>Sheet1!$A$2:$A$7</c:f>
              <c:strCache>
                <c:ptCount val="6"/>
                <c:pt idx="0">
                  <c:v>Estimate</c:v>
                </c:pt>
                <c:pt idx="1">
                  <c:v>Deck</c:v>
                </c:pt>
                <c:pt idx="2">
                  <c:v>Core</c:v>
                </c:pt>
                <c:pt idx="3">
                  <c:v>Pattern</c:v>
                </c:pt>
                <c:pt idx="4">
                  <c:v>Phase</c:v>
                </c:pt>
                <c:pt idx="5">
                  <c:v>Event</c:v>
                </c:pt>
              </c:strCache>
            </c:strRef>
          </c:cat>
          <c:val>
            <c:numRef>
              <c:f>Sheet1!$B$2:$B$7</c:f>
              <c:numCache>
                <c:formatCode>General</c:formatCode>
                <c:ptCount val="6"/>
                <c:pt idx="0">
                  <c:v>32</c:v>
                </c:pt>
                <c:pt idx="1">
                  <c:v>68</c:v>
                </c:pt>
                <c:pt idx="2">
                  <c:v>26</c:v>
                </c:pt>
                <c:pt idx="3">
                  <c:v>79</c:v>
                </c:pt>
                <c:pt idx="4">
                  <c:v>41</c:v>
                </c:pt>
                <c:pt idx="5">
                  <c:v>32</c:v>
                </c:pt>
              </c:numCache>
            </c:numRef>
          </c:val>
          <c:extLst>
            <c:ext xmlns:c16="http://schemas.microsoft.com/office/drawing/2014/chart" uri="{C3380CC4-5D6E-409C-BE32-E72D297353CC}">
              <c16:uniqueId val="{00000000-FF27-4C1B-B9E3-87CF4C9802E8}"/>
            </c:ext>
          </c:extLst>
        </c:ser>
        <c:ser>
          <c:idx val="1"/>
          <c:order val="1"/>
          <c:tx>
            <c:strRef>
              <c:f>Sheet1!$C$1</c:f>
              <c:strCache>
                <c:ptCount val="1"/>
                <c:pt idx="0">
                  <c:v>Orbit Logic</c:v>
                </c:pt>
              </c:strCache>
            </c:strRef>
          </c:tx>
          <c:invertIfNegative val="1"/>
          <c:cat>
            <c:strRef>
              <c:f>Sheet1!$A$2:$A$7</c:f>
              <c:strCache>
                <c:ptCount val="6"/>
                <c:pt idx="0">
                  <c:v>Estimate</c:v>
                </c:pt>
                <c:pt idx="1">
                  <c:v>Deck</c:v>
                </c:pt>
                <c:pt idx="2">
                  <c:v>Core</c:v>
                </c:pt>
                <c:pt idx="3">
                  <c:v>Pattern</c:v>
                </c:pt>
                <c:pt idx="4">
                  <c:v>Phase</c:v>
                </c:pt>
                <c:pt idx="5">
                  <c:v>Event</c:v>
                </c:pt>
              </c:strCache>
            </c:strRef>
          </c:cat>
          <c:val>
            <c:numRef>
              <c:f>Sheet1!$C$2:$C$7</c:f>
              <c:numCache>
                <c:formatCode>General</c:formatCode>
                <c:ptCount val="6"/>
                <c:pt idx="0">
                  <c:v>66</c:v>
                </c:pt>
                <c:pt idx="1">
                  <c:v>35</c:v>
                </c:pt>
                <c:pt idx="2">
                  <c:v>87</c:v>
                </c:pt>
                <c:pt idx="3">
                  <c:v>21</c:v>
                </c:pt>
                <c:pt idx="4">
                  <c:v>81</c:v>
                </c:pt>
                <c:pt idx="5">
                  <c:v>61</c:v>
                </c:pt>
              </c:numCache>
            </c:numRef>
          </c:val>
          <c:extLst>
            <c:ext xmlns:c16="http://schemas.microsoft.com/office/drawing/2014/chart" uri="{C3380CC4-5D6E-409C-BE32-E72D297353CC}">
              <c16:uniqueId val="{00000001-FF27-4C1B-B9E3-87CF4C9802E8}"/>
            </c:ext>
          </c:extLst>
        </c:ser>
        <c:ser>
          <c:idx val="2"/>
          <c:order val="2"/>
          <c:tx>
            <c:strRef>
              <c:f>Sheet1!$D$1</c:f>
              <c:strCache>
                <c:ptCount val="1"/>
                <c:pt idx="0">
                  <c:v>Library Flow</c:v>
                </c:pt>
              </c:strCache>
            </c:strRef>
          </c:tx>
          <c:invertIfNegative val="1"/>
          <c:cat>
            <c:strRef>
              <c:f>Sheet1!$A$2:$A$7</c:f>
              <c:strCache>
                <c:ptCount val="6"/>
                <c:pt idx="0">
                  <c:v>Estimate</c:v>
                </c:pt>
                <c:pt idx="1">
                  <c:v>Deck</c:v>
                </c:pt>
                <c:pt idx="2">
                  <c:v>Core</c:v>
                </c:pt>
                <c:pt idx="3">
                  <c:v>Pattern</c:v>
                </c:pt>
                <c:pt idx="4">
                  <c:v>Phase</c:v>
                </c:pt>
                <c:pt idx="5">
                  <c:v>Event</c:v>
                </c:pt>
              </c:strCache>
            </c:strRef>
          </c:cat>
          <c:val>
            <c:numRef>
              <c:f>Sheet1!$D$2:$D$7</c:f>
              <c:numCache>
                <c:formatCode>General</c:formatCode>
                <c:ptCount val="6"/>
                <c:pt idx="0">
                  <c:v>62</c:v>
                </c:pt>
                <c:pt idx="1">
                  <c:v>17</c:v>
                </c:pt>
                <c:pt idx="2">
                  <c:v>75</c:v>
                </c:pt>
                <c:pt idx="3">
                  <c:v>44</c:v>
                </c:pt>
                <c:pt idx="4">
                  <c:v>83</c:v>
                </c:pt>
                <c:pt idx="5">
                  <c:v>51</c:v>
                </c:pt>
              </c:numCache>
            </c:numRef>
          </c:val>
          <c:extLst>
            <c:ext xmlns:c16="http://schemas.microsoft.com/office/drawing/2014/chart" uri="{C3380CC4-5D6E-409C-BE32-E72D297353CC}">
              <c16:uniqueId val="{00000002-FF27-4C1B-B9E3-87CF4C9802E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Atlas</c:v>
                </c:pt>
              </c:strCache>
            </c:strRef>
          </c:tx>
          <c:cat>
            <c:strRef>
              <c:f>Sheet1!$A$2:$A$4</c:f>
              <c:strCache>
                <c:ptCount val="3"/>
                <c:pt idx="0">
                  <c:v>Input</c:v>
                </c:pt>
                <c:pt idx="1">
                  <c:v>Transit</c:v>
                </c:pt>
                <c:pt idx="2">
                  <c:v>Route</c:v>
                </c:pt>
              </c:strCache>
            </c:strRef>
          </c:cat>
          <c:val>
            <c:numRef>
              <c:f>Sheet1!$B$2:$B$4</c:f>
              <c:numCache>
                <c:formatCode>General</c:formatCode>
                <c:ptCount val="3"/>
                <c:pt idx="0">
                  <c:v>41</c:v>
                </c:pt>
                <c:pt idx="1">
                  <c:v>62</c:v>
                </c:pt>
                <c:pt idx="2">
                  <c:v>71</c:v>
                </c:pt>
              </c:numCache>
            </c:numRef>
          </c:val>
          <c:smooth val="0"/>
          <c:extLst>
            <c:ext xmlns:c16="http://schemas.microsoft.com/office/drawing/2014/chart" uri="{C3380CC4-5D6E-409C-BE32-E72D297353CC}">
              <c16:uniqueId val="{00000000-F724-4B8B-97A1-C08B26E623BF}"/>
            </c:ext>
          </c:extLst>
        </c:ser>
        <c:ser>
          <c:idx val="1"/>
          <c:order val="1"/>
          <c:tx>
            <c:strRef>
              <c:f>Sheet1!$C$1</c:f>
              <c:strCache>
                <c:ptCount val="1"/>
                <c:pt idx="0">
                  <c:v>Method Summary</c:v>
                </c:pt>
              </c:strCache>
            </c:strRef>
          </c:tx>
          <c:cat>
            <c:strRef>
              <c:f>Sheet1!$A$2:$A$4</c:f>
              <c:strCache>
                <c:ptCount val="3"/>
                <c:pt idx="0">
                  <c:v>Input</c:v>
                </c:pt>
                <c:pt idx="1">
                  <c:v>Transit</c:v>
                </c:pt>
                <c:pt idx="2">
                  <c:v>Route</c:v>
                </c:pt>
              </c:strCache>
            </c:strRef>
          </c:cat>
          <c:val>
            <c:numRef>
              <c:f>Sheet1!$C$2:$C$4</c:f>
              <c:numCache>
                <c:formatCode>General</c:formatCode>
                <c:ptCount val="3"/>
                <c:pt idx="0">
                  <c:v>64</c:v>
                </c:pt>
                <c:pt idx="1">
                  <c:v>76</c:v>
                </c:pt>
                <c:pt idx="2">
                  <c:v>28</c:v>
                </c:pt>
              </c:numCache>
            </c:numRef>
          </c:val>
          <c:smooth val="0"/>
          <c:extLst>
            <c:ext xmlns:c16="http://schemas.microsoft.com/office/drawing/2014/chart" uri="{C3380CC4-5D6E-409C-BE32-E72D297353CC}">
              <c16:uniqueId val="{00000001-F724-4B8B-97A1-C08B26E623BF}"/>
            </c:ext>
          </c:extLst>
        </c:ser>
        <c:ser>
          <c:idx val="2"/>
          <c:order val="2"/>
          <c:tx>
            <c:strRef>
              <c:f>Sheet1!$D$1</c:f>
              <c:strCache>
                <c:ptCount val="1"/>
                <c:pt idx="0">
                  <c:v>Core Memory</c:v>
                </c:pt>
              </c:strCache>
            </c:strRef>
          </c:tx>
          <c:cat>
            <c:strRef>
              <c:f>Sheet1!$A$2:$A$4</c:f>
              <c:strCache>
                <c:ptCount val="3"/>
                <c:pt idx="0">
                  <c:v>Input</c:v>
                </c:pt>
                <c:pt idx="1">
                  <c:v>Transit</c:v>
                </c:pt>
                <c:pt idx="2">
                  <c:v>Route</c:v>
                </c:pt>
              </c:strCache>
            </c:strRef>
          </c:cat>
          <c:val>
            <c:numRef>
              <c:f>Sheet1!$D$2:$D$4</c:f>
              <c:numCache>
                <c:formatCode>General</c:formatCode>
                <c:ptCount val="3"/>
                <c:pt idx="0">
                  <c:v>55</c:v>
                </c:pt>
                <c:pt idx="1">
                  <c:v>11</c:v>
                </c:pt>
                <c:pt idx="2">
                  <c:v>15</c:v>
                </c:pt>
              </c:numCache>
            </c:numRef>
          </c:val>
          <c:smooth val="0"/>
          <c:extLst>
            <c:ext xmlns:c16="http://schemas.microsoft.com/office/drawing/2014/chart" uri="{C3380CC4-5D6E-409C-BE32-E72D297353CC}">
              <c16:uniqueId val="{00000002-F724-4B8B-97A1-C08B26E623B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Pulse Story</c:v>
                </c:pt>
              </c:strCache>
            </c:strRef>
          </c:tx>
          <c:cat>
            <c:strRef>
              <c:f>Sheet1!$A$2:$A$6</c:f>
              <c:strCache>
                <c:ptCount val="5"/>
                <c:pt idx="0">
                  <c:v>Energy</c:v>
                </c:pt>
                <c:pt idx="1">
                  <c:v>Token</c:v>
                </c:pt>
                <c:pt idx="2">
                  <c:v>Checkpoint</c:v>
                </c:pt>
                <c:pt idx="3">
                  <c:v>Precision</c:v>
                </c:pt>
                <c:pt idx="4">
                  <c:v>Register</c:v>
                </c:pt>
              </c:strCache>
            </c:strRef>
          </c:cat>
          <c:val>
            <c:numRef>
              <c:f>Sheet1!$B$2:$B$6</c:f>
              <c:numCache>
                <c:formatCode>General</c:formatCode>
                <c:ptCount val="5"/>
                <c:pt idx="0">
                  <c:v>35</c:v>
                </c:pt>
                <c:pt idx="1">
                  <c:v>19</c:v>
                </c:pt>
                <c:pt idx="2">
                  <c:v>89</c:v>
                </c:pt>
                <c:pt idx="3">
                  <c:v>31</c:v>
                </c:pt>
                <c:pt idx="4">
                  <c:v>9</c:v>
                </c:pt>
              </c:numCache>
            </c:numRef>
          </c:val>
          <c:extLst>
            <c:ext xmlns:c16="http://schemas.microsoft.com/office/drawing/2014/chart" uri="{C3380CC4-5D6E-409C-BE32-E72D297353CC}">
              <c16:uniqueId val="{00000000-D76B-4282-B44E-4A43DB68545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Priority Discovery Measure Alignment Scope</a:t>
            </a:r>
          </a:p>
        </c:rich>
      </c:tx>
      <c:overlay val="0"/>
    </c:title>
    <c:autoTitleDeleted val="0"/>
    <c:plotArea>
      <c:layout/>
      <c:doughnutChart>
        <c:varyColors val="1"/>
        <c:ser>
          <c:idx val="0"/>
          <c:order val="0"/>
          <c:tx>
            <c:strRef>
              <c:f>Sheet1!$B$1</c:f>
              <c:strCache>
                <c:ptCount val="1"/>
                <c:pt idx="0">
                  <c:v>Path</c:v>
                </c:pt>
              </c:strCache>
            </c:strRef>
          </c:tx>
          <c:cat>
            <c:strRef>
              <c:f>Sheet1!$A$2:$A$4</c:f>
              <c:strCache>
                <c:ptCount val="3"/>
                <c:pt idx="0">
                  <c:v>Register</c:v>
                </c:pt>
                <c:pt idx="1">
                  <c:v>Library</c:v>
                </c:pt>
                <c:pt idx="2">
                  <c:v>Cluster</c:v>
                </c:pt>
              </c:strCache>
            </c:strRef>
          </c:cat>
          <c:val>
            <c:numRef>
              <c:f>Sheet1!$B$2:$B$4</c:f>
              <c:numCache>
                <c:formatCode>General</c:formatCode>
                <c:ptCount val="3"/>
                <c:pt idx="0">
                  <c:v>78</c:v>
                </c:pt>
                <c:pt idx="1">
                  <c:v>80</c:v>
                </c:pt>
                <c:pt idx="2">
                  <c:v>49</c:v>
                </c:pt>
              </c:numCache>
            </c:numRef>
          </c:val>
          <c:extLst>
            <c:ext xmlns:c16="http://schemas.microsoft.com/office/drawing/2014/chart" uri="{C3380CC4-5D6E-409C-BE32-E72D297353CC}">
              <c16:uniqueId val="{00000000-E89F-406C-BDDB-A4FD8459D5A9}"/>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Sequence Dimension</c:v>
                </c:pt>
              </c:strCache>
            </c:strRef>
          </c:tx>
          <c:invertIfNegative val="1"/>
          <c:cat>
            <c:strRef>
              <c:f>Sheet1!$A$2:$A$7</c:f>
              <c:strCache>
                <c:ptCount val="6"/>
                <c:pt idx="0">
                  <c:v>Field</c:v>
                </c:pt>
                <c:pt idx="1">
                  <c:v>Interface</c:v>
                </c:pt>
                <c:pt idx="2">
                  <c:v>Edge</c:v>
                </c:pt>
                <c:pt idx="3">
                  <c:v>Cortex</c:v>
                </c:pt>
                <c:pt idx="4">
                  <c:v>Iteration</c:v>
                </c:pt>
                <c:pt idx="5">
                  <c:v>Phase</c:v>
                </c:pt>
              </c:strCache>
            </c:strRef>
          </c:cat>
          <c:val>
            <c:numRef>
              <c:f>Sheet1!$B$2:$B$7</c:f>
              <c:numCache>
                <c:formatCode>General</c:formatCode>
                <c:ptCount val="6"/>
                <c:pt idx="0">
                  <c:v>89</c:v>
                </c:pt>
                <c:pt idx="1">
                  <c:v>69</c:v>
                </c:pt>
                <c:pt idx="2">
                  <c:v>33</c:v>
                </c:pt>
                <c:pt idx="3">
                  <c:v>44</c:v>
                </c:pt>
                <c:pt idx="4">
                  <c:v>22</c:v>
                </c:pt>
                <c:pt idx="5">
                  <c:v>66</c:v>
                </c:pt>
              </c:numCache>
            </c:numRef>
          </c:val>
          <c:extLst>
            <c:ext xmlns:c16="http://schemas.microsoft.com/office/drawing/2014/chart" uri="{C3380CC4-5D6E-409C-BE32-E72D297353CC}">
              <c16:uniqueId val="{00000000-7F13-4C6F-87AD-2A6ACB29E3AB}"/>
            </c:ext>
          </c:extLst>
        </c:ser>
        <c:ser>
          <c:idx val="1"/>
          <c:order val="1"/>
          <c:tx>
            <c:strRef>
              <c:f>Sheet1!$C$1</c:f>
              <c:strCache>
                <c:ptCount val="1"/>
                <c:pt idx="0">
                  <c:v>Handle</c:v>
                </c:pt>
              </c:strCache>
            </c:strRef>
          </c:tx>
          <c:invertIfNegative val="1"/>
          <c:cat>
            <c:strRef>
              <c:f>Sheet1!$A$2:$A$7</c:f>
              <c:strCache>
                <c:ptCount val="6"/>
                <c:pt idx="0">
                  <c:v>Field</c:v>
                </c:pt>
                <c:pt idx="1">
                  <c:v>Interface</c:v>
                </c:pt>
                <c:pt idx="2">
                  <c:v>Edge</c:v>
                </c:pt>
                <c:pt idx="3">
                  <c:v>Cortex</c:v>
                </c:pt>
                <c:pt idx="4">
                  <c:v>Iteration</c:v>
                </c:pt>
                <c:pt idx="5">
                  <c:v>Phase</c:v>
                </c:pt>
              </c:strCache>
            </c:strRef>
          </c:cat>
          <c:val>
            <c:numRef>
              <c:f>Sheet1!$C$2:$C$7</c:f>
              <c:numCache>
                <c:formatCode>General</c:formatCode>
                <c:ptCount val="6"/>
                <c:pt idx="0">
                  <c:v>88</c:v>
                </c:pt>
                <c:pt idx="1">
                  <c:v>47</c:v>
                </c:pt>
                <c:pt idx="2">
                  <c:v>48</c:v>
                </c:pt>
                <c:pt idx="3">
                  <c:v>68</c:v>
                </c:pt>
                <c:pt idx="4">
                  <c:v>23</c:v>
                </c:pt>
                <c:pt idx="5">
                  <c:v>75</c:v>
                </c:pt>
              </c:numCache>
            </c:numRef>
          </c:val>
          <c:extLst>
            <c:ext xmlns:c16="http://schemas.microsoft.com/office/drawing/2014/chart" uri="{C3380CC4-5D6E-409C-BE32-E72D297353CC}">
              <c16:uniqueId val="{00000001-7F13-4C6F-87AD-2A6ACB29E3AB}"/>
            </c:ext>
          </c:extLst>
        </c:ser>
        <c:ser>
          <c:idx val="2"/>
          <c:order val="2"/>
          <c:tx>
            <c:strRef>
              <c:f>Sheet1!$D$1</c:f>
              <c:strCache>
                <c:ptCount val="1"/>
                <c:pt idx="0">
                  <c:v>Method</c:v>
                </c:pt>
              </c:strCache>
            </c:strRef>
          </c:tx>
          <c:invertIfNegative val="1"/>
          <c:cat>
            <c:strRef>
              <c:f>Sheet1!$A$2:$A$7</c:f>
              <c:strCache>
                <c:ptCount val="6"/>
                <c:pt idx="0">
                  <c:v>Field</c:v>
                </c:pt>
                <c:pt idx="1">
                  <c:v>Interface</c:v>
                </c:pt>
                <c:pt idx="2">
                  <c:v>Edge</c:v>
                </c:pt>
                <c:pt idx="3">
                  <c:v>Cortex</c:v>
                </c:pt>
                <c:pt idx="4">
                  <c:v>Iteration</c:v>
                </c:pt>
                <c:pt idx="5">
                  <c:v>Phase</c:v>
                </c:pt>
              </c:strCache>
            </c:strRef>
          </c:cat>
          <c:val>
            <c:numRef>
              <c:f>Sheet1!$D$2:$D$7</c:f>
              <c:numCache>
                <c:formatCode>General</c:formatCode>
                <c:ptCount val="6"/>
                <c:pt idx="0">
                  <c:v>61</c:v>
                </c:pt>
                <c:pt idx="1">
                  <c:v>29</c:v>
                </c:pt>
                <c:pt idx="2">
                  <c:v>15</c:v>
                </c:pt>
                <c:pt idx="3">
                  <c:v>28</c:v>
                </c:pt>
                <c:pt idx="4">
                  <c:v>74</c:v>
                </c:pt>
                <c:pt idx="5">
                  <c:v>9</c:v>
                </c:pt>
              </c:numCache>
            </c:numRef>
          </c:val>
          <c:extLst>
            <c:ext xmlns:c16="http://schemas.microsoft.com/office/drawing/2014/chart" uri="{C3380CC4-5D6E-409C-BE32-E72D297353CC}">
              <c16:uniqueId val="{00000002-7F13-4C6F-87AD-2A6ACB29E3A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Element Portal</c:v>
                </c:pt>
              </c:strCache>
            </c:strRef>
          </c:tx>
          <c:invertIfNegative val="1"/>
          <c:cat>
            <c:strRef>
              <c:f>Sheet1!$A$2:$A$6</c:f>
              <c:strCache>
                <c:ptCount val="5"/>
                <c:pt idx="0">
                  <c:v>Range</c:v>
                </c:pt>
                <c:pt idx="1">
                  <c:v>Layer</c:v>
                </c:pt>
                <c:pt idx="2">
                  <c:v>Map</c:v>
                </c:pt>
                <c:pt idx="3">
                  <c:v>Depth</c:v>
                </c:pt>
                <c:pt idx="4">
                  <c:v>Packet</c:v>
                </c:pt>
              </c:strCache>
            </c:strRef>
          </c:cat>
          <c:val>
            <c:numRef>
              <c:f>Sheet1!$B$2:$B$6</c:f>
              <c:numCache>
                <c:formatCode>General</c:formatCode>
                <c:ptCount val="5"/>
                <c:pt idx="0">
                  <c:v>31</c:v>
                </c:pt>
                <c:pt idx="1">
                  <c:v>8</c:v>
                </c:pt>
                <c:pt idx="2">
                  <c:v>49</c:v>
                </c:pt>
                <c:pt idx="3">
                  <c:v>46</c:v>
                </c:pt>
                <c:pt idx="4">
                  <c:v>61</c:v>
                </c:pt>
              </c:numCache>
            </c:numRef>
          </c:val>
          <c:extLst>
            <c:ext xmlns:c16="http://schemas.microsoft.com/office/drawing/2014/chart" uri="{C3380CC4-5D6E-409C-BE32-E72D297353CC}">
              <c16:uniqueId val="{00000000-B437-46A3-B524-1AC20D0A88B0}"/>
            </c:ext>
          </c:extLst>
        </c:ser>
        <c:ser>
          <c:idx val="1"/>
          <c:order val="1"/>
          <c:tx>
            <c:strRef>
              <c:f>Sheet1!$C$1</c:f>
              <c:strCache>
                <c:ptCount val="1"/>
                <c:pt idx="0">
                  <c:v>Factor</c:v>
                </c:pt>
              </c:strCache>
            </c:strRef>
          </c:tx>
          <c:invertIfNegative val="1"/>
          <c:cat>
            <c:strRef>
              <c:f>Sheet1!$A$2:$A$6</c:f>
              <c:strCache>
                <c:ptCount val="5"/>
                <c:pt idx="0">
                  <c:v>Range</c:v>
                </c:pt>
                <c:pt idx="1">
                  <c:v>Layer</c:v>
                </c:pt>
                <c:pt idx="2">
                  <c:v>Map</c:v>
                </c:pt>
                <c:pt idx="3">
                  <c:v>Depth</c:v>
                </c:pt>
                <c:pt idx="4">
                  <c:v>Packet</c:v>
                </c:pt>
              </c:strCache>
            </c:strRef>
          </c:cat>
          <c:val>
            <c:numRef>
              <c:f>Sheet1!$C$2:$C$6</c:f>
              <c:numCache>
                <c:formatCode>General</c:formatCode>
                <c:ptCount val="5"/>
                <c:pt idx="0">
                  <c:v>74</c:v>
                </c:pt>
                <c:pt idx="1">
                  <c:v>73</c:v>
                </c:pt>
                <c:pt idx="2">
                  <c:v>29</c:v>
                </c:pt>
                <c:pt idx="3">
                  <c:v>20</c:v>
                </c:pt>
                <c:pt idx="4">
                  <c:v>70</c:v>
                </c:pt>
              </c:numCache>
            </c:numRef>
          </c:val>
          <c:extLst>
            <c:ext xmlns:c16="http://schemas.microsoft.com/office/drawing/2014/chart" uri="{C3380CC4-5D6E-409C-BE32-E72D297353CC}">
              <c16:uniqueId val="{00000001-B437-46A3-B524-1AC20D0A88B0}"/>
            </c:ext>
          </c:extLst>
        </c:ser>
        <c:ser>
          <c:idx val="2"/>
          <c:order val="2"/>
          <c:tx>
            <c:strRef>
              <c:f>Sheet1!$D$1</c:f>
              <c:strCache>
                <c:ptCount val="1"/>
                <c:pt idx="0">
                  <c:v>Wave Asset</c:v>
                </c:pt>
              </c:strCache>
            </c:strRef>
          </c:tx>
          <c:invertIfNegative val="1"/>
          <c:cat>
            <c:strRef>
              <c:f>Sheet1!$A$2:$A$6</c:f>
              <c:strCache>
                <c:ptCount val="5"/>
                <c:pt idx="0">
                  <c:v>Range</c:v>
                </c:pt>
                <c:pt idx="1">
                  <c:v>Layer</c:v>
                </c:pt>
                <c:pt idx="2">
                  <c:v>Map</c:v>
                </c:pt>
                <c:pt idx="3">
                  <c:v>Depth</c:v>
                </c:pt>
                <c:pt idx="4">
                  <c:v>Packet</c:v>
                </c:pt>
              </c:strCache>
            </c:strRef>
          </c:cat>
          <c:val>
            <c:numRef>
              <c:f>Sheet1!$D$2:$D$6</c:f>
              <c:numCache>
                <c:formatCode>General</c:formatCode>
                <c:ptCount val="5"/>
                <c:pt idx="0">
                  <c:v>70</c:v>
                </c:pt>
                <c:pt idx="1">
                  <c:v>10</c:v>
                </c:pt>
                <c:pt idx="2">
                  <c:v>37</c:v>
                </c:pt>
                <c:pt idx="3">
                  <c:v>67</c:v>
                </c:pt>
                <c:pt idx="4">
                  <c:v>94</c:v>
                </c:pt>
              </c:numCache>
            </c:numRef>
          </c:val>
          <c:extLst>
            <c:ext xmlns:c16="http://schemas.microsoft.com/office/drawing/2014/chart" uri="{C3380CC4-5D6E-409C-BE32-E72D297353CC}">
              <c16:uniqueId val="{00000002-B437-46A3-B524-1AC20D0A88B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Filter Velocity</c:v>
                </c:pt>
              </c:strCache>
            </c:strRef>
          </c:tx>
          <c:cat>
            <c:strRef>
              <c:f>Sheet1!$A$2:$A$5</c:f>
              <c:strCache>
                <c:ptCount val="4"/>
                <c:pt idx="0">
                  <c:v>Version</c:v>
                </c:pt>
                <c:pt idx="1">
                  <c:v>Cortex</c:v>
                </c:pt>
                <c:pt idx="2">
                  <c:v>Explorer</c:v>
                </c:pt>
                <c:pt idx="3">
                  <c:v>Point</c:v>
                </c:pt>
              </c:strCache>
            </c:strRef>
          </c:cat>
          <c:val>
            <c:numRef>
              <c:f>Sheet1!$B$2:$B$5</c:f>
              <c:numCache>
                <c:formatCode>General</c:formatCode>
                <c:ptCount val="4"/>
                <c:pt idx="0">
                  <c:v>75</c:v>
                </c:pt>
                <c:pt idx="1">
                  <c:v>71</c:v>
                </c:pt>
                <c:pt idx="2">
                  <c:v>63</c:v>
                </c:pt>
                <c:pt idx="3">
                  <c:v>42</c:v>
                </c:pt>
              </c:numCache>
            </c:numRef>
          </c:val>
          <c:extLst>
            <c:ext xmlns:c16="http://schemas.microsoft.com/office/drawing/2014/chart" uri="{C3380CC4-5D6E-409C-BE32-E72D297353CC}">
              <c16:uniqueId val="{00000000-4535-4736-9243-5D62118A40EA}"/>
            </c:ext>
          </c:extLst>
        </c:ser>
        <c:ser>
          <c:idx val="1"/>
          <c:order val="1"/>
          <c:tx>
            <c:strRef>
              <c:f>Sheet1!$C$1</c:f>
              <c:strCache>
                <c:ptCount val="1"/>
                <c:pt idx="0">
                  <c:v>Function</c:v>
                </c:pt>
              </c:strCache>
            </c:strRef>
          </c:tx>
          <c:cat>
            <c:strRef>
              <c:f>Sheet1!$A$2:$A$5</c:f>
              <c:strCache>
                <c:ptCount val="4"/>
                <c:pt idx="0">
                  <c:v>Version</c:v>
                </c:pt>
                <c:pt idx="1">
                  <c:v>Cortex</c:v>
                </c:pt>
                <c:pt idx="2">
                  <c:v>Explorer</c:v>
                </c:pt>
                <c:pt idx="3">
                  <c:v>Point</c:v>
                </c:pt>
              </c:strCache>
            </c:strRef>
          </c:cat>
          <c:val>
            <c:numRef>
              <c:f>Sheet1!$C$2:$C$5</c:f>
              <c:numCache>
                <c:formatCode>General</c:formatCode>
                <c:ptCount val="4"/>
                <c:pt idx="0">
                  <c:v>18</c:v>
                </c:pt>
                <c:pt idx="1">
                  <c:v>34</c:v>
                </c:pt>
                <c:pt idx="2">
                  <c:v>82</c:v>
                </c:pt>
                <c:pt idx="3">
                  <c:v>11</c:v>
                </c:pt>
              </c:numCache>
            </c:numRef>
          </c:val>
          <c:extLst>
            <c:ext xmlns:c16="http://schemas.microsoft.com/office/drawing/2014/chart" uri="{C3380CC4-5D6E-409C-BE32-E72D297353CC}">
              <c16:uniqueId val="{00000001-4535-4736-9243-5D62118A40EA}"/>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Threshold</c:v>
                </c:pt>
              </c:strCache>
            </c:strRef>
          </c:tx>
          <c:invertIfNegative val="1"/>
          <c:cat>
            <c:strRef>
              <c:f>Sheet1!$A$2:$A$4</c:f>
              <c:strCache>
                <c:ptCount val="3"/>
                <c:pt idx="0">
                  <c:v>Measure</c:v>
                </c:pt>
                <c:pt idx="1">
                  <c:v>Control</c:v>
                </c:pt>
                <c:pt idx="2">
                  <c:v>Estimate</c:v>
                </c:pt>
              </c:strCache>
            </c:strRef>
          </c:cat>
          <c:val>
            <c:numRef>
              <c:f>Sheet1!$B$2:$B$4</c:f>
              <c:numCache>
                <c:formatCode>General</c:formatCode>
                <c:ptCount val="3"/>
                <c:pt idx="0">
                  <c:v>64</c:v>
                </c:pt>
                <c:pt idx="1">
                  <c:v>9</c:v>
                </c:pt>
                <c:pt idx="2">
                  <c:v>32</c:v>
                </c:pt>
              </c:numCache>
            </c:numRef>
          </c:val>
          <c:extLst>
            <c:ext xmlns:c16="http://schemas.microsoft.com/office/drawing/2014/chart" uri="{C3380CC4-5D6E-409C-BE32-E72D297353CC}">
              <c16:uniqueId val="{00000000-3D28-4965-8360-35476CCA8D90}"/>
            </c:ext>
          </c:extLst>
        </c:ser>
        <c:ser>
          <c:idx val="1"/>
          <c:order val="1"/>
          <c:tx>
            <c:strRef>
              <c:f>Sheet1!$C$1</c:f>
              <c:strCache>
                <c:ptCount val="1"/>
                <c:pt idx="0">
                  <c:v>Detail Control</c:v>
                </c:pt>
              </c:strCache>
            </c:strRef>
          </c:tx>
          <c:invertIfNegative val="1"/>
          <c:cat>
            <c:strRef>
              <c:f>Sheet1!$A$2:$A$4</c:f>
              <c:strCache>
                <c:ptCount val="3"/>
                <c:pt idx="0">
                  <c:v>Measure</c:v>
                </c:pt>
                <c:pt idx="1">
                  <c:v>Control</c:v>
                </c:pt>
                <c:pt idx="2">
                  <c:v>Estimate</c:v>
                </c:pt>
              </c:strCache>
            </c:strRef>
          </c:cat>
          <c:val>
            <c:numRef>
              <c:f>Sheet1!$C$2:$C$4</c:f>
              <c:numCache>
                <c:formatCode>General</c:formatCode>
                <c:ptCount val="3"/>
                <c:pt idx="0">
                  <c:v>81</c:v>
                </c:pt>
                <c:pt idx="1">
                  <c:v>35</c:v>
                </c:pt>
                <c:pt idx="2">
                  <c:v>22</c:v>
                </c:pt>
              </c:numCache>
            </c:numRef>
          </c:val>
          <c:extLst>
            <c:ext xmlns:c16="http://schemas.microsoft.com/office/drawing/2014/chart" uri="{C3380CC4-5D6E-409C-BE32-E72D297353CC}">
              <c16:uniqueId val="{00000001-3D28-4965-8360-35476CCA8D90}"/>
            </c:ext>
          </c:extLst>
        </c:ser>
        <c:ser>
          <c:idx val="2"/>
          <c:order val="2"/>
          <c:tx>
            <c:strRef>
              <c:f>Sheet1!$D$1</c:f>
              <c:strCache>
                <c:ptCount val="1"/>
                <c:pt idx="0">
                  <c:v>Blueprint Reference</c:v>
                </c:pt>
              </c:strCache>
            </c:strRef>
          </c:tx>
          <c:invertIfNegative val="1"/>
          <c:cat>
            <c:strRef>
              <c:f>Sheet1!$A$2:$A$4</c:f>
              <c:strCache>
                <c:ptCount val="3"/>
                <c:pt idx="0">
                  <c:v>Measure</c:v>
                </c:pt>
                <c:pt idx="1">
                  <c:v>Control</c:v>
                </c:pt>
                <c:pt idx="2">
                  <c:v>Estimate</c:v>
                </c:pt>
              </c:strCache>
            </c:strRef>
          </c:cat>
          <c:val>
            <c:numRef>
              <c:f>Sheet1!$D$2:$D$4</c:f>
              <c:numCache>
                <c:formatCode>General</c:formatCode>
                <c:ptCount val="3"/>
                <c:pt idx="0">
                  <c:v>88</c:v>
                </c:pt>
                <c:pt idx="1">
                  <c:v>30</c:v>
                </c:pt>
                <c:pt idx="2">
                  <c:v>90</c:v>
                </c:pt>
              </c:numCache>
            </c:numRef>
          </c:val>
          <c:extLst>
            <c:ext xmlns:c16="http://schemas.microsoft.com/office/drawing/2014/chart" uri="{C3380CC4-5D6E-409C-BE32-E72D297353CC}">
              <c16:uniqueId val="{00000002-3D28-4965-8360-35476CCA8D9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Atlas Datum</a:t>
            </a:r>
          </a:p>
        </c:rich>
      </c:tx>
      <c:overlay val="0"/>
    </c:title>
    <c:autoTitleDeleted val="0"/>
    <c:plotArea>
      <c:layout/>
      <c:pieChart>
        <c:varyColors val="1"/>
        <c:ser>
          <c:idx val="0"/>
          <c:order val="0"/>
          <c:tx>
            <c:strRef>
              <c:f>Sheet1!$B$1</c:f>
              <c:strCache>
                <c:ptCount val="1"/>
                <c:pt idx="0">
                  <c:v>Element Radius</c:v>
                </c:pt>
              </c:strCache>
            </c:strRef>
          </c:tx>
          <c:cat>
            <c:strRef>
              <c:f>Sheet1!$A$2:$A$4</c:f>
              <c:strCache>
                <c:ptCount val="3"/>
                <c:pt idx="0">
                  <c:v>Catalog</c:v>
                </c:pt>
                <c:pt idx="1">
                  <c:v>Instance</c:v>
                </c:pt>
                <c:pt idx="2">
                  <c:v>Program</c:v>
                </c:pt>
              </c:strCache>
            </c:strRef>
          </c:cat>
          <c:val>
            <c:numRef>
              <c:f>Sheet1!$B$2:$B$4</c:f>
              <c:numCache>
                <c:formatCode>General</c:formatCode>
                <c:ptCount val="3"/>
                <c:pt idx="0">
                  <c:v>84</c:v>
                </c:pt>
                <c:pt idx="1">
                  <c:v>39</c:v>
                </c:pt>
                <c:pt idx="2">
                  <c:v>50</c:v>
                </c:pt>
              </c:numCache>
            </c:numRef>
          </c:val>
          <c:extLst>
            <c:ext xmlns:c16="http://schemas.microsoft.com/office/drawing/2014/chart" uri="{C3380CC4-5D6E-409C-BE32-E72D297353CC}">
              <c16:uniqueId val="{00000000-5C25-420D-97B4-5C6CF6429B45}"/>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Interval Engine Route Factor</a:t>
            </a:r>
          </a:p>
        </c:rich>
      </c:tx>
      <c:overlay val="0"/>
    </c:title>
    <c:autoTitleDeleted val="0"/>
    <c:plotArea>
      <c:layout/>
      <c:lineChart>
        <c:grouping val="standard"/>
        <c:varyColors val="0"/>
        <c:ser>
          <c:idx val="0"/>
          <c:order val="0"/>
          <c:tx>
            <c:strRef>
              <c:f>Sheet1!$B$1</c:f>
              <c:strCache>
                <c:ptCount val="1"/>
                <c:pt idx="0">
                  <c:v>Signal Volume</c:v>
                </c:pt>
              </c:strCache>
            </c:strRef>
          </c:tx>
          <c:cat>
            <c:strRef>
              <c:f>Sheet1!$A$2:$A$5</c:f>
              <c:strCache>
                <c:ptCount val="4"/>
                <c:pt idx="0">
                  <c:v>Waypoint</c:v>
                </c:pt>
                <c:pt idx="1">
                  <c:v>Discovery</c:v>
                </c:pt>
                <c:pt idx="2">
                  <c:v>Cluster</c:v>
                </c:pt>
                <c:pt idx="3">
                  <c:v>Logic</c:v>
                </c:pt>
              </c:strCache>
            </c:strRef>
          </c:cat>
          <c:val>
            <c:numRef>
              <c:f>Sheet1!$B$2:$B$5</c:f>
              <c:numCache>
                <c:formatCode>General</c:formatCode>
                <c:ptCount val="4"/>
                <c:pt idx="0">
                  <c:v>57</c:v>
                </c:pt>
                <c:pt idx="1">
                  <c:v>55</c:v>
                </c:pt>
                <c:pt idx="2">
                  <c:v>75</c:v>
                </c:pt>
                <c:pt idx="3">
                  <c:v>75</c:v>
                </c:pt>
              </c:numCache>
            </c:numRef>
          </c:val>
          <c:smooth val="0"/>
          <c:extLst>
            <c:ext xmlns:c16="http://schemas.microsoft.com/office/drawing/2014/chart" uri="{C3380CC4-5D6E-409C-BE32-E72D297353CC}">
              <c16:uniqueId val="{00000000-12F3-4863-93D6-ECE8E12CAAFA}"/>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Portal Queueing</c:v>
                </c:pt>
              </c:strCache>
            </c:strRef>
          </c:tx>
          <c:invertIfNegative val="1"/>
          <c:cat>
            <c:strRef>
              <c:f>Sheet1!$A$2:$A$5</c:f>
              <c:strCache>
                <c:ptCount val="4"/>
                <c:pt idx="0">
                  <c:v>Drift</c:v>
                </c:pt>
                <c:pt idx="1">
                  <c:v>Collection</c:v>
                </c:pt>
                <c:pt idx="2">
                  <c:v>Expansion</c:v>
                </c:pt>
                <c:pt idx="3">
                  <c:v>Pattern</c:v>
                </c:pt>
              </c:strCache>
            </c:strRef>
          </c:cat>
          <c:val>
            <c:numRef>
              <c:f>Sheet1!$B$2:$B$5</c:f>
              <c:numCache>
                <c:formatCode>General</c:formatCode>
                <c:ptCount val="4"/>
                <c:pt idx="0">
                  <c:v>11</c:v>
                </c:pt>
                <c:pt idx="1">
                  <c:v>12</c:v>
                </c:pt>
                <c:pt idx="2">
                  <c:v>37</c:v>
                </c:pt>
                <c:pt idx="3">
                  <c:v>60</c:v>
                </c:pt>
              </c:numCache>
            </c:numRef>
          </c:val>
          <c:extLst>
            <c:ext xmlns:c16="http://schemas.microsoft.com/office/drawing/2014/chart" uri="{C3380CC4-5D6E-409C-BE32-E72D297353CC}">
              <c16:uniqueId val="{00000000-C6BA-4B9B-B27E-8E8A444DBA16}"/>
            </c:ext>
          </c:extLst>
        </c:ser>
        <c:ser>
          <c:idx val="1"/>
          <c:order val="1"/>
          <c:tx>
            <c:strRef>
              <c:f>Sheet1!$C$1</c:f>
              <c:strCache>
                <c:ptCount val="1"/>
                <c:pt idx="0">
                  <c:v>Panel Collection</c:v>
                </c:pt>
              </c:strCache>
            </c:strRef>
          </c:tx>
          <c:invertIfNegative val="1"/>
          <c:cat>
            <c:strRef>
              <c:f>Sheet1!$A$2:$A$5</c:f>
              <c:strCache>
                <c:ptCount val="4"/>
                <c:pt idx="0">
                  <c:v>Drift</c:v>
                </c:pt>
                <c:pt idx="1">
                  <c:v>Collection</c:v>
                </c:pt>
                <c:pt idx="2">
                  <c:v>Expansion</c:v>
                </c:pt>
                <c:pt idx="3">
                  <c:v>Pattern</c:v>
                </c:pt>
              </c:strCache>
            </c:strRef>
          </c:cat>
          <c:val>
            <c:numRef>
              <c:f>Sheet1!$C$2:$C$5</c:f>
              <c:numCache>
                <c:formatCode>General</c:formatCode>
                <c:ptCount val="4"/>
                <c:pt idx="0">
                  <c:v>37</c:v>
                </c:pt>
                <c:pt idx="1">
                  <c:v>70</c:v>
                </c:pt>
                <c:pt idx="2">
                  <c:v>55</c:v>
                </c:pt>
                <c:pt idx="3">
                  <c:v>32</c:v>
                </c:pt>
              </c:numCache>
            </c:numRef>
          </c:val>
          <c:extLst>
            <c:ext xmlns:c16="http://schemas.microsoft.com/office/drawing/2014/chart" uri="{C3380CC4-5D6E-409C-BE32-E72D297353CC}">
              <c16:uniqueId val="{00000001-C6BA-4B9B-B27E-8E8A444DBA16}"/>
            </c:ext>
          </c:extLst>
        </c:ser>
        <c:ser>
          <c:idx val="2"/>
          <c:order val="2"/>
          <c:tx>
            <c:strRef>
              <c:f>Sheet1!$D$1</c:f>
              <c:strCache>
                <c:ptCount val="1"/>
                <c:pt idx="0">
                  <c:v>Anchor Forecast</c:v>
                </c:pt>
              </c:strCache>
            </c:strRef>
          </c:tx>
          <c:invertIfNegative val="1"/>
          <c:cat>
            <c:strRef>
              <c:f>Sheet1!$A$2:$A$5</c:f>
              <c:strCache>
                <c:ptCount val="4"/>
                <c:pt idx="0">
                  <c:v>Drift</c:v>
                </c:pt>
                <c:pt idx="1">
                  <c:v>Collection</c:v>
                </c:pt>
                <c:pt idx="2">
                  <c:v>Expansion</c:v>
                </c:pt>
                <c:pt idx="3">
                  <c:v>Pattern</c:v>
                </c:pt>
              </c:strCache>
            </c:strRef>
          </c:cat>
          <c:val>
            <c:numRef>
              <c:f>Sheet1!$D$2:$D$5</c:f>
              <c:numCache>
                <c:formatCode>General</c:formatCode>
                <c:ptCount val="4"/>
                <c:pt idx="0">
                  <c:v>43</c:v>
                </c:pt>
                <c:pt idx="1">
                  <c:v>84</c:v>
                </c:pt>
                <c:pt idx="2">
                  <c:v>35</c:v>
                </c:pt>
                <c:pt idx="3">
                  <c:v>23</c:v>
                </c:pt>
              </c:numCache>
            </c:numRef>
          </c:val>
          <c:extLst>
            <c:ext xmlns:c16="http://schemas.microsoft.com/office/drawing/2014/chart" uri="{C3380CC4-5D6E-409C-BE32-E72D297353CC}">
              <c16:uniqueId val="{00000002-C6BA-4B9B-B27E-8E8A444DBA1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Service Strategy Report</a:t>
            </a:r>
          </a:p>
        </c:rich>
      </c:tx>
      <c:overlay val="0"/>
    </c:title>
    <c:autoTitleDeleted val="0"/>
    <c:plotArea>
      <c:layout/>
      <c:barChart>
        <c:barDir val="col"/>
        <c:grouping val="clustered"/>
        <c:varyColors val="1"/>
        <c:ser>
          <c:idx val="0"/>
          <c:order val="0"/>
          <c:tx>
            <c:strRef>
              <c:f>Sheet1!$B$1</c:f>
              <c:strCache>
                <c:ptCount val="1"/>
                <c:pt idx="0">
                  <c:v>Alignment</c:v>
                </c:pt>
              </c:strCache>
            </c:strRef>
          </c:tx>
          <c:invertIfNegative val="1"/>
          <c:cat>
            <c:strRef>
              <c:f>Sheet1!$A$2:$A$6</c:f>
              <c:strCache>
                <c:ptCount val="5"/>
                <c:pt idx="0">
                  <c:v>Impact</c:v>
                </c:pt>
                <c:pt idx="1">
                  <c:v>North</c:v>
                </c:pt>
                <c:pt idx="2">
                  <c:v>Scope</c:v>
                </c:pt>
                <c:pt idx="3">
                  <c:v>Target</c:v>
                </c:pt>
                <c:pt idx="4">
                  <c:v>Tile</c:v>
                </c:pt>
              </c:strCache>
            </c:strRef>
          </c:cat>
          <c:val>
            <c:numRef>
              <c:f>Sheet1!$B$2:$B$6</c:f>
              <c:numCache>
                <c:formatCode>General</c:formatCode>
                <c:ptCount val="5"/>
                <c:pt idx="0">
                  <c:v>51</c:v>
                </c:pt>
                <c:pt idx="1">
                  <c:v>80</c:v>
                </c:pt>
                <c:pt idx="2">
                  <c:v>52</c:v>
                </c:pt>
                <c:pt idx="3">
                  <c:v>77</c:v>
                </c:pt>
                <c:pt idx="4">
                  <c:v>37</c:v>
                </c:pt>
              </c:numCache>
            </c:numRef>
          </c:val>
          <c:extLst>
            <c:ext xmlns:c16="http://schemas.microsoft.com/office/drawing/2014/chart" uri="{C3380CC4-5D6E-409C-BE32-E72D297353CC}">
              <c16:uniqueId val="{00000000-4AA0-4509-A1B8-E8FFD65E2D09}"/>
            </c:ext>
          </c:extLst>
        </c:ser>
        <c:ser>
          <c:idx val="1"/>
          <c:order val="1"/>
          <c:tx>
            <c:strRef>
              <c:f>Sheet1!$C$1</c:f>
              <c:strCache>
                <c:ptCount val="1"/>
                <c:pt idx="0">
                  <c:v>View Datum</c:v>
                </c:pt>
              </c:strCache>
            </c:strRef>
          </c:tx>
          <c:invertIfNegative val="1"/>
          <c:cat>
            <c:strRef>
              <c:f>Sheet1!$A$2:$A$6</c:f>
              <c:strCache>
                <c:ptCount val="5"/>
                <c:pt idx="0">
                  <c:v>Impact</c:v>
                </c:pt>
                <c:pt idx="1">
                  <c:v>North</c:v>
                </c:pt>
                <c:pt idx="2">
                  <c:v>Scope</c:v>
                </c:pt>
                <c:pt idx="3">
                  <c:v>Target</c:v>
                </c:pt>
                <c:pt idx="4">
                  <c:v>Tile</c:v>
                </c:pt>
              </c:strCache>
            </c:strRef>
          </c:cat>
          <c:val>
            <c:numRef>
              <c:f>Sheet1!$C$2:$C$6</c:f>
              <c:numCache>
                <c:formatCode>General</c:formatCode>
                <c:ptCount val="5"/>
                <c:pt idx="0">
                  <c:v>23</c:v>
                </c:pt>
                <c:pt idx="1">
                  <c:v>51</c:v>
                </c:pt>
                <c:pt idx="2">
                  <c:v>72</c:v>
                </c:pt>
                <c:pt idx="3">
                  <c:v>33</c:v>
                </c:pt>
                <c:pt idx="4">
                  <c:v>18</c:v>
                </c:pt>
              </c:numCache>
            </c:numRef>
          </c:val>
          <c:extLst>
            <c:ext xmlns:c16="http://schemas.microsoft.com/office/drawing/2014/chart" uri="{C3380CC4-5D6E-409C-BE32-E72D297353CC}">
              <c16:uniqueId val="{00000001-4AA0-4509-A1B8-E8FFD65E2D09}"/>
            </c:ext>
          </c:extLst>
        </c:ser>
        <c:ser>
          <c:idx val="2"/>
          <c:order val="2"/>
          <c:tx>
            <c:strRef>
              <c:f>Sheet1!$D$1</c:f>
              <c:strCache>
                <c:ptCount val="1"/>
                <c:pt idx="0">
                  <c:v>Function</c:v>
                </c:pt>
              </c:strCache>
            </c:strRef>
          </c:tx>
          <c:invertIfNegative val="1"/>
          <c:cat>
            <c:strRef>
              <c:f>Sheet1!$A$2:$A$6</c:f>
              <c:strCache>
                <c:ptCount val="5"/>
                <c:pt idx="0">
                  <c:v>Impact</c:v>
                </c:pt>
                <c:pt idx="1">
                  <c:v>North</c:v>
                </c:pt>
                <c:pt idx="2">
                  <c:v>Scope</c:v>
                </c:pt>
                <c:pt idx="3">
                  <c:v>Target</c:v>
                </c:pt>
                <c:pt idx="4">
                  <c:v>Tile</c:v>
                </c:pt>
              </c:strCache>
            </c:strRef>
          </c:cat>
          <c:val>
            <c:numRef>
              <c:f>Sheet1!$D$2:$D$6</c:f>
              <c:numCache>
                <c:formatCode>General</c:formatCode>
                <c:ptCount val="5"/>
                <c:pt idx="0">
                  <c:v>35</c:v>
                </c:pt>
                <c:pt idx="1">
                  <c:v>60</c:v>
                </c:pt>
                <c:pt idx="2">
                  <c:v>29</c:v>
                </c:pt>
                <c:pt idx="3">
                  <c:v>23</c:v>
                </c:pt>
                <c:pt idx="4">
                  <c:v>48</c:v>
                </c:pt>
              </c:numCache>
            </c:numRef>
          </c:val>
          <c:extLst>
            <c:ext xmlns:c16="http://schemas.microsoft.com/office/drawing/2014/chart" uri="{C3380CC4-5D6E-409C-BE32-E72D297353CC}">
              <c16:uniqueId val="{00000002-4AA0-4509-A1B8-E8FFD65E2D0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Insight Pixel</c:v>
                </c:pt>
              </c:strCache>
            </c:strRef>
          </c:tx>
          <c:cat>
            <c:strRef>
              <c:f>Sheet1!$A$2:$A$6</c:f>
              <c:strCache>
                <c:ptCount val="5"/>
                <c:pt idx="0">
                  <c:v>Resource</c:v>
                </c:pt>
                <c:pt idx="1">
                  <c:v>Limit</c:v>
                </c:pt>
                <c:pt idx="2">
                  <c:v>Control</c:v>
                </c:pt>
                <c:pt idx="3">
                  <c:v>Velocity</c:v>
                </c:pt>
                <c:pt idx="4">
                  <c:v>Marker</c:v>
                </c:pt>
              </c:strCache>
            </c:strRef>
          </c:cat>
          <c:val>
            <c:numRef>
              <c:f>Sheet1!$B$2:$B$6</c:f>
              <c:numCache>
                <c:formatCode>General</c:formatCode>
                <c:ptCount val="5"/>
                <c:pt idx="0">
                  <c:v>88</c:v>
                </c:pt>
                <c:pt idx="1">
                  <c:v>54</c:v>
                </c:pt>
                <c:pt idx="2">
                  <c:v>24</c:v>
                </c:pt>
                <c:pt idx="3">
                  <c:v>95</c:v>
                </c:pt>
                <c:pt idx="4">
                  <c:v>25</c:v>
                </c:pt>
              </c:numCache>
            </c:numRef>
          </c:val>
          <c:extLst>
            <c:ext xmlns:c16="http://schemas.microsoft.com/office/drawing/2014/chart" uri="{C3380CC4-5D6E-409C-BE32-E72D297353CC}">
              <c16:uniqueId val="{00000000-109C-487A-BACC-1017EDD8FC85}"/>
            </c:ext>
          </c:extLst>
        </c:ser>
        <c:ser>
          <c:idx val="1"/>
          <c:order val="1"/>
          <c:tx>
            <c:strRef>
              <c:f>Sheet1!$C$1</c:f>
              <c:strCache>
                <c:ptCount val="1"/>
                <c:pt idx="0">
                  <c:v>Adaptive</c:v>
                </c:pt>
              </c:strCache>
            </c:strRef>
          </c:tx>
          <c:cat>
            <c:strRef>
              <c:f>Sheet1!$A$2:$A$6</c:f>
              <c:strCache>
                <c:ptCount val="5"/>
                <c:pt idx="0">
                  <c:v>Resource</c:v>
                </c:pt>
                <c:pt idx="1">
                  <c:v>Limit</c:v>
                </c:pt>
                <c:pt idx="2">
                  <c:v>Control</c:v>
                </c:pt>
                <c:pt idx="3">
                  <c:v>Velocity</c:v>
                </c:pt>
                <c:pt idx="4">
                  <c:v>Marker</c:v>
                </c:pt>
              </c:strCache>
            </c:strRef>
          </c:cat>
          <c:val>
            <c:numRef>
              <c:f>Sheet1!$C$2:$C$6</c:f>
              <c:numCache>
                <c:formatCode>General</c:formatCode>
                <c:ptCount val="5"/>
                <c:pt idx="0">
                  <c:v>56</c:v>
                </c:pt>
                <c:pt idx="1">
                  <c:v>30</c:v>
                </c:pt>
                <c:pt idx="2">
                  <c:v>29</c:v>
                </c:pt>
                <c:pt idx="3">
                  <c:v>39</c:v>
                </c:pt>
                <c:pt idx="4">
                  <c:v>76</c:v>
                </c:pt>
              </c:numCache>
            </c:numRef>
          </c:val>
          <c:extLst>
            <c:ext xmlns:c16="http://schemas.microsoft.com/office/drawing/2014/chart" uri="{C3380CC4-5D6E-409C-BE32-E72D297353CC}">
              <c16:uniqueId val="{00000001-109C-487A-BACC-1017EDD8FC85}"/>
            </c:ext>
          </c:extLst>
        </c:ser>
        <c:ser>
          <c:idx val="2"/>
          <c:order val="2"/>
          <c:tx>
            <c:strRef>
              <c:f>Sheet1!$D$1</c:f>
              <c:strCache>
                <c:ptCount val="1"/>
                <c:pt idx="0">
                  <c:v>Velocity Cell</c:v>
                </c:pt>
              </c:strCache>
            </c:strRef>
          </c:tx>
          <c:cat>
            <c:strRef>
              <c:f>Sheet1!$A$2:$A$6</c:f>
              <c:strCache>
                <c:ptCount val="5"/>
                <c:pt idx="0">
                  <c:v>Resource</c:v>
                </c:pt>
                <c:pt idx="1">
                  <c:v>Limit</c:v>
                </c:pt>
                <c:pt idx="2">
                  <c:v>Control</c:v>
                </c:pt>
                <c:pt idx="3">
                  <c:v>Velocity</c:v>
                </c:pt>
                <c:pt idx="4">
                  <c:v>Marker</c:v>
                </c:pt>
              </c:strCache>
            </c:strRef>
          </c:cat>
          <c:val>
            <c:numRef>
              <c:f>Sheet1!$D$2:$D$6</c:f>
              <c:numCache>
                <c:formatCode>General</c:formatCode>
                <c:ptCount val="5"/>
                <c:pt idx="0">
                  <c:v>75</c:v>
                </c:pt>
                <c:pt idx="1">
                  <c:v>91</c:v>
                </c:pt>
                <c:pt idx="2">
                  <c:v>60</c:v>
                </c:pt>
                <c:pt idx="3">
                  <c:v>80</c:v>
                </c:pt>
                <c:pt idx="4">
                  <c:v>79</c:v>
                </c:pt>
              </c:numCache>
            </c:numRef>
          </c:val>
          <c:extLst>
            <c:ext xmlns:c16="http://schemas.microsoft.com/office/drawing/2014/chart" uri="{C3380CC4-5D6E-409C-BE32-E72D297353CC}">
              <c16:uniqueId val="{00000002-109C-487A-BACC-1017EDD8FC85}"/>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Switch Loop Dispatch Indicator</a:t>
            </a:r>
          </a:p>
        </c:rich>
      </c:tx>
      <c:overlay val="0"/>
    </c:title>
    <c:autoTitleDeleted val="0"/>
    <c:plotArea>
      <c:layout/>
      <c:pieChart>
        <c:varyColors val="1"/>
        <c:ser>
          <c:idx val="0"/>
          <c:order val="0"/>
          <c:tx>
            <c:strRef>
              <c:f>Sheet1!$B$1</c:f>
              <c:strCache>
                <c:ptCount val="1"/>
                <c:pt idx="0">
                  <c:v>Circuit Network</c:v>
                </c:pt>
              </c:strCache>
            </c:strRef>
          </c:tx>
          <c:cat>
            <c:strRef>
              <c:f>Sheet1!$A$2:$A$7</c:f>
              <c:strCache>
                <c:ptCount val="6"/>
                <c:pt idx="0">
                  <c:v>Catalog</c:v>
                </c:pt>
                <c:pt idx="1">
                  <c:v>Intent</c:v>
                </c:pt>
                <c:pt idx="2">
                  <c:v>Query</c:v>
                </c:pt>
                <c:pt idx="3">
                  <c:v>Tile</c:v>
                </c:pt>
                <c:pt idx="4">
                  <c:v>Position</c:v>
                </c:pt>
                <c:pt idx="5">
                  <c:v>Option</c:v>
                </c:pt>
              </c:strCache>
            </c:strRef>
          </c:cat>
          <c:val>
            <c:numRef>
              <c:f>Sheet1!$B$2:$B$7</c:f>
              <c:numCache>
                <c:formatCode>General</c:formatCode>
                <c:ptCount val="6"/>
                <c:pt idx="0">
                  <c:v>50</c:v>
                </c:pt>
                <c:pt idx="1">
                  <c:v>10</c:v>
                </c:pt>
                <c:pt idx="2">
                  <c:v>15</c:v>
                </c:pt>
                <c:pt idx="3">
                  <c:v>54</c:v>
                </c:pt>
                <c:pt idx="4">
                  <c:v>61</c:v>
                </c:pt>
                <c:pt idx="5">
                  <c:v>52</c:v>
                </c:pt>
              </c:numCache>
            </c:numRef>
          </c:val>
          <c:extLst>
            <c:ext xmlns:c16="http://schemas.microsoft.com/office/drawing/2014/chart" uri="{C3380CC4-5D6E-409C-BE32-E72D297353CC}">
              <c16:uniqueId val="{00000000-5591-443C-8065-5572034DC337}"/>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Action</c:v>
                </c:pt>
              </c:strCache>
            </c:strRef>
          </c:tx>
          <c:cat>
            <c:strRef>
              <c:f>Sheet1!$A$2:$A$7</c:f>
              <c:strCache>
                <c:ptCount val="6"/>
                <c:pt idx="0">
                  <c:v>Zone</c:v>
                </c:pt>
                <c:pt idx="1">
                  <c:v>Hub</c:v>
                </c:pt>
                <c:pt idx="2">
                  <c:v>Checkpoint</c:v>
                </c:pt>
                <c:pt idx="3">
                  <c:v>Metric</c:v>
                </c:pt>
                <c:pt idx="4">
                  <c:v>Harbor</c:v>
                </c:pt>
                <c:pt idx="5">
                  <c:v>Map</c:v>
                </c:pt>
              </c:strCache>
            </c:strRef>
          </c:cat>
          <c:val>
            <c:numRef>
              <c:f>Sheet1!$B$2:$B$7</c:f>
              <c:numCache>
                <c:formatCode>General</c:formatCode>
                <c:ptCount val="6"/>
                <c:pt idx="0">
                  <c:v>30</c:v>
                </c:pt>
                <c:pt idx="1">
                  <c:v>66</c:v>
                </c:pt>
                <c:pt idx="2">
                  <c:v>75</c:v>
                </c:pt>
                <c:pt idx="3">
                  <c:v>47</c:v>
                </c:pt>
                <c:pt idx="4">
                  <c:v>28</c:v>
                </c:pt>
                <c:pt idx="5">
                  <c:v>13</c:v>
                </c:pt>
              </c:numCache>
            </c:numRef>
          </c:val>
          <c:smooth val="0"/>
          <c:extLst>
            <c:ext xmlns:c16="http://schemas.microsoft.com/office/drawing/2014/chart" uri="{C3380CC4-5D6E-409C-BE32-E72D297353CC}">
              <c16:uniqueId val="{00000000-19CF-42FF-9479-0290ADC8F67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Priority</c:v>
                </c:pt>
              </c:strCache>
            </c:strRef>
          </c:tx>
          <c:invertIfNegative val="1"/>
          <c:cat>
            <c:strRef>
              <c:f>Sheet1!$A$2:$A$7</c:f>
              <c:strCache>
                <c:ptCount val="6"/>
                <c:pt idx="0">
                  <c:v>Transform</c:v>
                </c:pt>
                <c:pt idx="1">
                  <c:v>Viewport</c:v>
                </c:pt>
                <c:pt idx="2">
                  <c:v>Alpha</c:v>
                </c:pt>
                <c:pt idx="3">
                  <c:v>Group</c:v>
                </c:pt>
                <c:pt idx="4">
                  <c:v>Package</c:v>
                </c:pt>
                <c:pt idx="5">
                  <c:v>Matrix</c:v>
                </c:pt>
              </c:strCache>
            </c:strRef>
          </c:cat>
          <c:val>
            <c:numRef>
              <c:f>Sheet1!$B$2:$B$7</c:f>
              <c:numCache>
                <c:formatCode>General</c:formatCode>
                <c:ptCount val="6"/>
                <c:pt idx="0">
                  <c:v>14</c:v>
                </c:pt>
                <c:pt idx="1">
                  <c:v>68</c:v>
                </c:pt>
                <c:pt idx="2">
                  <c:v>31</c:v>
                </c:pt>
                <c:pt idx="3">
                  <c:v>53</c:v>
                </c:pt>
                <c:pt idx="4">
                  <c:v>71</c:v>
                </c:pt>
                <c:pt idx="5">
                  <c:v>56</c:v>
                </c:pt>
              </c:numCache>
            </c:numRef>
          </c:val>
          <c:extLst>
            <c:ext xmlns:c16="http://schemas.microsoft.com/office/drawing/2014/chart" uri="{C3380CC4-5D6E-409C-BE32-E72D297353CC}">
              <c16:uniqueId val="{00000000-677F-451E-A473-004F202190E5}"/>
            </c:ext>
          </c:extLst>
        </c:ser>
        <c:ser>
          <c:idx val="1"/>
          <c:order val="1"/>
          <c:tx>
            <c:strRef>
              <c:f>Sheet1!$C$1</c:f>
              <c:strCache>
                <c:ptCount val="1"/>
                <c:pt idx="0">
                  <c:v>Cycle</c:v>
                </c:pt>
              </c:strCache>
            </c:strRef>
          </c:tx>
          <c:invertIfNegative val="1"/>
          <c:cat>
            <c:strRef>
              <c:f>Sheet1!$A$2:$A$7</c:f>
              <c:strCache>
                <c:ptCount val="6"/>
                <c:pt idx="0">
                  <c:v>Transform</c:v>
                </c:pt>
                <c:pt idx="1">
                  <c:v>Viewport</c:v>
                </c:pt>
                <c:pt idx="2">
                  <c:v>Alpha</c:v>
                </c:pt>
                <c:pt idx="3">
                  <c:v>Group</c:v>
                </c:pt>
                <c:pt idx="4">
                  <c:v>Package</c:v>
                </c:pt>
                <c:pt idx="5">
                  <c:v>Matrix</c:v>
                </c:pt>
              </c:strCache>
            </c:strRef>
          </c:cat>
          <c:val>
            <c:numRef>
              <c:f>Sheet1!$C$2:$C$7</c:f>
              <c:numCache>
                <c:formatCode>General</c:formatCode>
                <c:ptCount val="6"/>
                <c:pt idx="0">
                  <c:v>71</c:v>
                </c:pt>
                <c:pt idx="1">
                  <c:v>62</c:v>
                </c:pt>
                <c:pt idx="2">
                  <c:v>78</c:v>
                </c:pt>
                <c:pt idx="3">
                  <c:v>20</c:v>
                </c:pt>
                <c:pt idx="4">
                  <c:v>29</c:v>
                </c:pt>
                <c:pt idx="5">
                  <c:v>60</c:v>
                </c:pt>
              </c:numCache>
            </c:numRef>
          </c:val>
          <c:extLst>
            <c:ext xmlns:c16="http://schemas.microsoft.com/office/drawing/2014/chart" uri="{C3380CC4-5D6E-409C-BE32-E72D297353CC}">
              <c16:uniqueId val="{00000001-677F-451E-A473-004F202190E5}"/>
            </c:ext>
          </c:extLst>
        </c:ser>
        <c:ser>
          <c:idx val="2"/>
          <c:order val="2"/>
          <c:tx>
            <c:strRef>
              <c:f>Sheet1!$D$1</c:f>
              <c:strCache>
                <c:ptCount val="1"/>
                <c:pt idx="0">
                  <c:v>Station Format</c:v>
                </c:pt>
              </c:strCache>
            </c:strRef>
          </c:tx>
          <c:invertIfNegative val="1"/>
          <c:cat>
            <c:strRef>
              <c:f>Sheet1!$A$2:$A$7</c:f>
              <c:strCache>
                <c:ptCount val="6"/>
                <c:pt idx="0">
                  <c:v>Transform</c:v>
                </c:pt>
                <c:pt idx="1">
                  <c:v>Viewport</c:v>
                </c:pt>
                <c:pt idx="2">
                  <c:v>Alpha</c:v>
                </c:pt>
                <c:pt idx="3">
                  <c:v>Group</c:v>
                </c:pt>
                <c:pt idx="4">
                  <c:v>Package</c:v>
                </c:pt>
                <c:pt idx="5">
                  <c:v>Matrix</c:v>
                </c:pt>
              </c:strCache>
            </c:strRef>
          </c:cat>
          <c:val>
            <c:numRef>
              <c:f>Sheet1!$D$2:$D$7</c:f>
              <c:numCache>
                <c:formatCode>General</c:formatCode>
                <c:ptCount val="6"/>
                <c:pt idx="0">
                  <c:v>33</c:v>
                </c:pt>
                <c:pt idx="1">
                  <c:v>55</c:v>
                </c:pt>
                <c:pt idx="2">
                  <c:v>70</c:v>
                </c:pt>
                <c:pt idx="3">
                  <c:v>89</c:v>
                </c:pt>
                <c:pt idx="4">
                  <c:v>38</c:v>
                </c:pt>
                <c:pt idx="5">
                  <c:v>26</c:v>
                </c:pt>
              </c:numCache>
            </c:numRef>
          </c:val>
          <c:extLst>
            <c:ext xmlns:c16="http://schemas.microsoft.com/office/drawing/2014/chart" uri="{C3380CC4-5D6E-409C-BE32-E72D297353CC}">
              <c16:uniqueId val="{00000002-677F-451E-A473-004F202190E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Mode Indicator</c:v>
                </c:pt>
              </c:strCache>
            </c:strRef>
          </c:tx>
          <c:invertIfNegative val="1"/>
          <c:cat>
            <c:strRef>
              <c:f>Sheet1!$A$2:$A$5</c:f>
              <c:strCache>
                <c:ptCount val="4"/>
                <c:pt idx="0">
                  <c:v>Table</c:v>
                </c:pt>
                <c:pt idx="1">
                  <c:v>Measure</c:v>
                </c:pt>
                <c:pt idx="2">
                  <c:v>Sequence</c:v>
                </c:pt>
                <c:pt idx="3">
                  <c:v>Transform</c:v>
                </c:pt>
              </c:strCache>
            </c:strRef>
          </c:cat>
          <c:val>
            <c:numRef>
              <c:f>Sheet1!$B$2:$B$5</c:f>
              <c:numCache>
                <c:formatCode>General</c:formatCode>
                <c:ptCount val="4"/>
                <c:pt idx="0">
                  <c:v>47</c:v>
                </c:pt>
                <c:pt idx="1">
                  <c:v>29</c:v>
                </c:pt>
                <c:pt idx="2">
                  <c:v>27</c:v>
                </c:pt>
                <c:pt idx="3">
                  <c:v>49</c:v>
                </c:pt>
              </c:numCache>
            </c:numRef>
          </c:val>
          <c:extLst>
            <c:ext xmlns:c16="http://schemas.microsoft.com/office/drawing/2014/chart" uri="{C3380CC4-5D6E-409C-BE32-E72D297353CC}">
              <c16:uniqueId val="{00000000-D0BB-4859-A733-A548CD026F8B}"/>
            </c:ext>
          </c:extLst>
        </c:ser>
        <c:ser>
          <c:idx val="1"/>
          <c:order val="1"/>
          <c:tx>
            <c:strRef>
              <c:f>Sheet1!$C$1</c:f>
              <c:strCache>
                <c:ptCount val="1"/>
                <c:pt idx="0">
                  <c:v>Register</c:v>
                </c:pt>
              </c:strCache>
            </c:strRef>
          </c:tx>
          <c:invertIfNegative val="1"/>
          <c:cat>
            <c:strRef>
              <c:f>Sheet1!$A$2:$A$5</c:f>
              <c:strCache>
                <c:ptCount val="4"/>
                <c:pt idx="0">
                  <c:v>Table</c:v>
                </c:pt>
                <c:pt idx="1">
                  <c:v>Measure</c:v>
                </c:pt>
                <c:pt idx="2">
                  <c:v>Sequence</c:v>
                </c:pt>
                <c:pt idx="3">
                  <c:v>Transform</c:v>
                </c:pt>
              </c:strCache>
            </c:strRef>
          </c:cat>
          <c:val>
            <c:numRef>
              <c:f>Sheet1!$C$2:$C$5</c:f>
              <c:numCache>
                <c:formatCode>General</c:formatCode>
                <c:ptCount val="4"/>
                <c:pt idx="0">
                  <c:v>81</c:v>
                </c:pt>
                <c:pt idx="1">
                  <c:v>10</c:v>
                </c:pt>
                <c:pt idx="2">
                  <c:v>9</c:v>
                </c:pt>
                <c:pt idx="3">
                  <c:v>78</c:v>
                </c:pt>
              </c:numCache>
            </c:numRef>
          </c:val>
          <c:extLst>
            <c:ext xmlns:c16="http://schemas.microsoft.com/office/drawing/2014/chart" uri="{C3380CC4-5D6E-409C-BE32-E72D297353CC}">
              <c16:uniqueId val="{00000001-D0BB-4859-A733-A548CD026F8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Lineage Core Register Cluster</a:t>
            </a:r>
          </a:p>
        </c:rich>
      </c:tx>
      <c:overlay val="0"/>
    </c:title>
    <c:autoTitleDeleted val="0"/>
    <c:plotArea>
      <c:layout/>
      <c:barChart>
        <c:barDir val="col"/>
        <c:grouping val="clustered"/>
        <c:varyColors val="1"/>
        <c:ser>
          <c:idx val="0"/>
          <c:order val="0"/>
          <c:tx>
            <c:strRef>
              <c:f>Sheet1!$B$1</c:f>
              <c:strCache>
                <c:ptCount val="1"/>
                <c:pt idx="0">
                  <c:v>Focus Entity</c:v>
                </c:pt>
              </c:strCache>
            </c:strRef>
          </c:tx>
          <c:invertIfNegative val="1"/>
          <c:cat>
            <c:strRef>
              <c:f>Sheet1!$A$2:$A$6</c:f>
              <c:strCache>
                <c:ptCount val="5"/>
                <c:pt idx="0">
                  <c:v>Deck</c:v>
                </c:pt>
                <c:pt idx="1">
                  <c:v>Envelope</c:v>
                </c:pt>
                <c:pt idx="2">
                  <c:v>Scope</c:v>
                </c:pt>
                <c:pt idx="3">
                  <c:v>Insight</c:v>
                </c:pt>
                <c:pt idx="4">
                  <c:v>Route</c:v>
                </c:pt>
              </c:strCache>
            </c:strRef>
          </c:cat>
          <c:val>
            <c:numRef>
              <c:f>Sheet1!$B$2:$B$6</c:f>
              <c:numCache>
                <c:formatCode>General</c:formatCode>
                <c:ptCount val="5"/>
                <c:pt idx="0">
                  <c:v>95</c:v>
                </c:pt>
                <c:pt idx="1">
                  <c:v>90</c:v>
                </c:pt>
                <c:pt idx="2">
                  <c:v>18</c:v>
                </c:pt>
                <c:pt idx="3">
                  <c:v>58</c:v>
                </c:pt>
                <c:pt idx="4">
                  <c:v>68</c:v>
                </c:pt>
              </c:numCache>
            </c:numRef>
          </c:val>
          <c:extLst>
            <c:ext xmlns:c16="http://schemas.microsoft.com/office/drawing/2014/chart" uri="{C3380CC4-5D6E-409C-BE32-E72D297353CC}">
              <c16:uniqueId val="{00000000-0119-42CB-BC62-7A9A01C52C54}"/>
            </c:ext>
          </c:extLst>
        </c:ser>
        <c:ser>
          <c:idx val="1"/>
          <c:order val="1"/>
          <c:tx>
            <c:strRef>
              <c:f>Sheet1!$C$1</c:f>
              <c:strCache>
                <c:ptCount val="1"/>
                <c:pt idx="0">
                  <c:v>Cycle Token</c:v>
                </c:pt>
              </c:strCache>
            </c:strRef>
          </c:tx>
          <c:invertIfNegative val="1"/>
          <c:cat>
            <c:strRef>
              <c:f>Sheet1!$A$2:$A$6</c:f>
              <c:strCache>
                <c:ptCount val="5"/>
                <c:pt idx="0">
                  <c:v>Deck</c:v>
                </c:pt>
                <c:pt idx="1">
                  <c:v>Envelope</c:v>
                </c:pt>
                <c:pt idx="2">
                  <c:v>Scope</c:v>
                </c:pt>
                <c:pt idx="3">
                  <c:v>Insight</c:v>
                </c:pt>
                <c:pt idx="4">
                  <c:v>Route</c:v>
                </c:pt>
              </c:strCache>
            </c:strRef>
          </c:cat>
          <c:val>
            <c:numRef>
              <c:f>Sheet1!$C$2:$C$6</c:f>
              <c:numCache>
                <c:formatCode>General</c:formatCode>
                <c:ptCount val="5"/>
                <c:pt idx="0">
                  <c:v>42</c:v>
                </c:pt>
                <c:pt idx="1">
                  <c:v>69</c:v>
                </c:pt>
                <c:pt idx="2">
                  <c:v>22</c:v>
                </c:pt>
                <c:pt idx="3">
                  <c:v>74</c:v>
                </c:pt>
                <c:pt idx="4">
                  <c:v>53</c:v>
                </c:pt>
              </c:numCache>
            </c:numRef>
          </c:val>
          <c:extLst>
            <c:ext xmlns:c16="http://schemas.microsoft.com/office/drawing/2014/chart" uri="{C3380CC4-5D6E-409C-BE32-E72D297353CC}">
              <c16:uniqueId val="{00000001-0119-42CB-BC62-7A9A01C52C54}"/>
            </c:ext>
          </c:extLst>
        </c:ser>
        <c:ser>
          <c:idx val="2"/>
          <c:order val="2"/>
          <c:tx>
            <c:strRef>
              <c:f>Sheet1!$D$1</c:f>
              <c:strCache>
                <c:ptCount val="1"/>
                <c:pt idx="0">
                  <c:v>Filter</c:v>
                </c:pt>
              </c:strCache>
            </c:strRef>
          </c:tx>
          <c:invertIfNegative val="1"/>
          <c:cat>
            <c:strRef>
              <c:f>Sheet1!$A$2:$A$6</c:f>
              <c:strCache>
                <c:ptCount val="5"/>
                <c:pt idx="0">
                  <c:v>Deck</c:v>
                </c:pt>
                <c:pt idx="1">
                  <c:v>Envelope</c:v>
                </c:pt>
                <c:pt idx="2">
                  <c:v>Scope</c:v>
                </c:pt>
                <c:pt idx="3">
                  <c:v>Insight</c:v>
                </c:pt>
                <c:pt idx="4">
                  <c:v>Route</c:v>
                </c:pt>
              </c:strCache>
            </c:strRef>
          </c:cat>
          <c:val>
            <c:numRef>
              <c:f>Sheet1!$D$2:$D$6</c:f>
              <c:numCache>
                <c:formatCode>General</c:formatCode>
                <c:ptCount val="5"/>
                <c:pt idx="0">
                  <c:v>18</c:v>
                </c:pt>
                <c:pt idx="1">
                  <c:v>43</c:v>
                </c:pt>
                <c:pt idx="2">
                  <c:v>8</c:v>
                </c:pt>
                <c:pt idx="3">
                  <c:v>8</c:v>
                </c:pt>
                <c:pt idx="4">
                  <c:v>86</c:v>
                </c:pt>
              </c:numCache>
            </c:numRef>
          </c:val>
          <c:extLst>
            <c:ext xmlns:c16="http://schemas.microsoft.com/office/drawing/2014/chart" uri="{C3380CC4-5D6E-409C-BE32-E72D297353CC}">
              <c16:uniqueId val="{00000002-0119-42CB-BC62-7A9A01C52C5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Topology Output Interval</a:t>
            </a:r>
          </a:p>
        </c:rich>
      </c:tx>
      <c:overlay val="0"/>
    </c:title>
    <c:autoTitleDeleted val="0"/>
    <c:plotArea>
      <c:layout/>
      <c:barChart>
        <c:barDir val="col"/>
        <c:grouping val="clustered"/>
        <c:varyColors val="1"/>
        <c:ser>
          <c:idx val="0"/>
          <c:order val="0"/>
          <c:tx>
            <c:strRef>
              <c:f>Sheet1!$B$1</c:f>
              <c:strCache>
                <c:ptCount val="1"/>
                <c:pt idx="0">
                  <c:v>Gateway</c:v>
                </c:pt>
              </c:strCache>
            </c:strRef>
          </c:tx>
          <c:invertIfNegative val="1"/>
          <c:cat>
            <c:strRef>
              <c:f>Sheet1!$A$2:$A$4</c:f>
              <c:strCache>
                <c:ptCount val="3"/>
                <c:pt idx="0">
                  <c:v>Epoch</c:v>
                </c:pt>
                <c:pt idx="1">
                  <c:v>Viewport</c:v>
                </c:pt>
                <c:pt idx="2">
                  <c:v>Clarity</c:v>
                </c:pt>
              </c:strCache>
            </c:strRef>
          </c:cat>
          <c:val>
            <c:numRef>
              <c:f>Sheet1!$B$2:$B$4</c:f>
              <c:numCache>
                <c:formatCode>General</c:formatCode>
                <c:ptCount val="3"/>
                <c:pt idx="0">
                  <c:v>93</c:v>
                </c:pt>
                <c:pt idx="1">
                  <c:v>74</c:v>
                </c:pt>
                <c:pt idx="2">
                  <c:v>70</c:v>
                </c:pt>
              </c:numCache>
            </c:numRef>
          </c:val>
          <c:extLst>
            <c:ext xmlns:c16="http://schemas.microsoft.com/office/drawing/2014/chart" uri="{C3380CC4-5D6E-409C-BE32-E72D297353CC}">
              <c16:uniqueId val="{00000000-DA6F-46DF-8679-89E281806CB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Clarity Account Precision Trace Collection</a:t>
            </a:r>
          </a:p>
        </c:rich>
      </c:tx>
      <c:overlay val="0"/>
    </c:title>
    <c:autoTitleDeleted val="0"/>
    <c:plotArea>
      <c:layout/>
      <c:pieChart>
        <c:varyColors val="1"/>
        <c:ser>
          <c:idx val="0"/>
          <c:order val="0"/>
          <c:tx>
            <c:strRef>
              <c:f>Sheet1!$B$1</c:f>
              <c:strCache>
                <c:ptCount val="1"/>
                <c:pt idx="0">
                  <c:v>Exchange Dimension</c:v>
                </c:pt>
              </c:strCache>
            </c:strRef>
          </c:tx>
          <c:cat>
            <c:strRef>
              <c:f>Sheet1!$A$2:$A$6</c:f>
              <c:strCache>
                <c:ptCount val="5"/>
                <c:pt idx="0">
                  <c:v>Alignment</c:v>
                </c:pt>
                <c:pt idx="1">
                  <c:v>Compass</c:v>
                </c:pt>
                <c:pt idx="2">
                  <c:v>Target</c:v>
                </c:pt>
                <c:pt idx="3">
                  <c:v>Drift</c:v>
                </c:pt>
                <c:pt idx="4">
                  <c:v>Index</c:v>
                </c:pt>
              </c:strCache>
            </c:strRef>
          </c:cat>
          <c:val>
            <c:numRef>
              <c:f>Sheet1!$B$2:$B$6</c:f>
              <c:numCache>
                <c:formatCode>General</c:formatCode>
                <c:ptCount val="5"/>
                <c:pt idx="0">
                  <c:v>89</c:v>
                </c:pt>
                <c:pt idx="1">
                  <c:v>94</c:v>
                </c:pt>
                <c:pt idx="2">
                  <c:v>65</c:v>
                </c:pt>
                <c:pt idx="3">
                  <c:v>21</c:v>
                </c:pt>
                <c:pt idx="4">
                  <c:v>45</c:v>
                </c:pt>
              </c:numCache>
            </c:numRef>
          </c:val>
          <c:extLst>
            <c:ext xmlns:c16="http://schemas.microsoft.com/office/drawing/2014/chart" uri="{C3380CC4-5D6E-409C-BE32-E72D297353CC}">
              <c16:uniqueId val="{00000000-F3E2-4EC6-942F-8F87B28B6BD3}"/>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Detail Schema Audit</a:t>
            </a:r>
          </a:p>
        </c:rich>
      </c:tx>
      <c:overlay val="0"/>
    </c:title>
    <c:autoTitleDeleted val="0"/>
    <c:plotArea>
      <c:layout/>
      <c:barChart>
        <c:barDir val="bar"/>
        <c:grouping val="clustered"/>
        <c:varyColors val="1"/>
        <c:ser>
          <c:idx val="0"/>
          <c:order val="0"/>
          <c:tx>
            <c:strRef>
              <c:f>Sheet1!$B$1</c:f>
              <c:strCache>
                <c:ptCount val="1"/>
                <c:pt idx="0">
                  <c:v>Horizon Benchmark</c:v>
                </c:pt>
              </c:strCache>
            </c:strRef>
          </c:tx>
          <c:invertIfNegative val="1"/>
          <c:cat>
            <c:strRef>
              <c:f>Sheet1!$A$2:$A$5</c:f>
              <c:strCache>
                <c:ptCount val="4"/>
                <c:pt idx="0">
                  <c:v>Story</c:v>
                </c:pt>
                <c:pt idx="1">
                  <c:v>Source</c:v>
                </c:pt>
                <c:pt idx="2">
                  <c:v>Coverage</c:v>
                </c:pt>
                <c:pt idx="3">
                  <c:v>Delta</c:v>
                </c:pt>
              </c:strCache>
            </c:strRef>
          </c:cat>
          <c:val>
            <c:numRef>
              <c:f>Sheet1!$B$2:$B$5</c:f>
              <c:numCache>
                <c:formatCode>General</c:formatCode>
                <c:ptCount val="4"/>
                <c:pt idx="0">
                  <c:v>16</c:v>
                </c:pt>
                <c:pt idx="1">
                  <c:v>93</c:v>
                </c:pt>
                <c:pt idx="2">
                  <c:v>12</c:v>
                </c:pt>
                <c:pt idx="3">
                  <c:v>77</c:v>
                </c:pt>
              </c:numCache>
            </c:numRef>
          </c:val>
          <c:extLst>
            <c:ext xmlns:c16="http://schemas.microsoft.com/office/drawing/2014/chart" uri="{C3380CC4-5D6E-409C-BE32-E72D297353CC}">
              <c16:uniqueId val="{00000000-53DC-45ED-A762-17008D025604}"/>
            </c:ext>
          </c:extLst>
        </c:ser>
        <c:ser>
          <c:idx val="1"/>
          <c:order val="1"/>
          <c:tx>
            <c:strRef>
              <c:f>Sheet1!$C$1</c:f>
              <c:strCache>
                <c:ptCount val="1"/>
                <c:pt idx="0">
                  <c:v>Drive</c:v>
                </c:pt>
              </c:strCache>
            </c:strRef>
          </c:tx>
          <c:invertIfNegative val="1"/>
          <c:cat>
            <c:strRef>
              <c:f>Sheet1!$A$2:$A$5</c:f>
              <c:strCache>
                <c:ptCount val="4"/>
                <c:pt idx="0">
                  <c:v>Story</c:v>
                </c:pt>
                <c:pt idx="1">
                  <c:v>Source</c:v>
                </c:pt>
                <c:pt idx="2">
                  <c:v>Coverage</c:v>
                </c:pt>
                <c:pt idx="3">
                  <c:v>Delta</c:v>
                </c:pt>
              </c:strCache>
            </c:strRef>
          </c:cat>
          <c:val>
            <c:numRef>
              <c:f>Sheet1!$C$2:$C$5</c:f>
              <c:numCache>
                <c:formatCode>General</c:formatCode>
                <c:ptCount val="4"/>
                <c:pt idx="0">
                  <c:v>65</c:v>
                </c:pt>
                <c:pt idx="1">
                  <c:v>41</c:v>
                </c:pt>
                <c:pt idx="2">
                  <c:v>17</c:v>
                </c:pt>
                <c:pt idx="3">
                  <c:v>20</c:v>
                </c:pt>
              </c:numCache>
            </c:numRef>
          </c:val>
          <c:extLst>
            <c:ext xmlns:c16="http://schemas.microsoft.com/office/drawing/2014/chart" uri="{C3380CC4-5D6E-409C-BE32-E72D297353CC}">
              <c16:uniqueId val="{00000001-53DC-45ED-A762-17008D02560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Map</c:v>
                </c:pt>
              </c:strCache>
            </c:strRef>
          </c:tx>
          <c:invertIfNegative val="1"/>
          <c:cat>
            <c:strRef>
              <c:f>Sheet1!$A$2:$A$5</c:f>
              <c:strCache>
                <c:ptCount val="4"/>
                <c:pt idx="0">
                  <c:v>Scale</c:v>
                </c:pt>
                <c:pt idx="1">
                  <c:v>Stack</c:v>
                </c:pt>
                <c:pt idx="2">
                  <c:v>Summary</c:v>
                </c:pt>
                <c:pt idx="3">
                  <c:v>Datum</c:v>
                </c:pt>
              </c:strCache>
            </c:strRef>
          </c:cat>
          <c:val>
            <c:numRef>
              <c:f>Sheet1!$B$2:$B$5</c:f>
              <c:numCache>
                <c:formatCode>General</c:formatCode>
                <c:ptCount val="4"/>
                <c:pt idx="0">
                  <c:v>94</c:v>
                </c:pt>
                <c:pt idx="1">
                  <c:v>41</c:v>
                </c:pt>
                <c:pt idx="2">
                  <c:v>58</c:v>
                </c:pt>
                <c:pt idx="3">
                  <c:v>34</c:v>
                </c:pt>
              </c:numCache>
            </c:numRef>
          </c:val>
          <c:extLst>
            <c:ext xmlns:c16="http://schemas.microsoft.com/office/drawing/2014/chart" uri="{C3380CC4-5D6E-409C-BE32-E72D297353CC}">
              <c16:uniqueId val="{00000000-CA8A-44E8-8975-CF50CD2C3C7C}"/>
            </c:ext>
          </c:extLst>
        </c:ser>
        <c:ser>
          <c:idx val="1"/>
          <c:order val="1"/>
          <c:tx>
            <c:strRef>
              <c:f>Sheet1!$C$1</c:f>
              <c:strCache>
                <c:ptCount val="1"/>
                <c:pt idx="0">
                  <c:v>Result</c:v>
                </c:pt>
              </c:strCache>
            </c:strRef>
          </c:tx>
          <c:invertIfNegative val="1"/>
          <c:cat>
            <c:strRef>
              <c:f>Sheet1!$A$2:$A$5</c:f>
              <c:strCache>
                <c:ptCount val="4"/>
                <c:pt idx="0">
                  <c:v>Scale</c:v>
                </c:pt>
                <c:pt idx="1">
                  <c:v>Stack</c:v>
                </c:pt>
                <c:pt idx="2">
                  <c:v>Summary</c:v>
                </c:pt>
                <c:pt idx="3">
                  <c:v>Datum</c:v>
                </c:pt>
              </c:strCache>
            </c:strRef>
          </c:cat>
          <c:val>
            <c:numRef>
              <c:f>Sheet1!$C$2:$C$5</c:f>
              <c:numCache>
                <c:formatCode>General</c:formatCode>
                <c:ptCount val="4"/>
                <c:pt idx="0">
                  <c:v>44</c:v>
                </c:pt>
                <c:pt idx="1">
                  <c:v>19</c:v>
                </c:pt>
                <c:pt idx="2">
                  <c:v>56</c:v>
                </c:pt>
                <c:pt idx="3">
                  <c:v>76</c:v>
                </c:pt>
              </c:numCache>
            </c:numRef>
          </c:val>
          <c:extLst>
            <c:ext xmlns:c16="http://schemas.microsoft.com/office/drawing/2014/chart" uri="{C3380CC4-5D6E-409C-BE32-E72D297353CC}">
              <c16:uniqueId val="{00000001-CA8A-44E8-8975-CF50CD2C3C7C}"/>
            </c:ext>
          </c:extLst>
        </c:ser>
        <c:ser>
          <c:idx val="2"/>
          <c:order val="2"/>
          <c:tx>
            <c:strRef>
              <c:f>Sheet1!$D$1</c:f>
              <c:strCache>
                <c:ptCount val="1"/>
                <c:pt idx="0">
                  <c:v>Baseline Version</c:v>
                </c:pt>
              </c:strCache>
            </c:strRef>
          </c:tx>
          <c:invertIfNegative val="1"/>
          <c:cat>
            <c:strRef>
              <c:f>Sheet1!$A$2:$A$5</c:f>
              <c:strCache>
                <c:ptCount val="4"/>
                <c:pt idx="0">
                  <c:v>Scale</c:v>
                </c:pt>
                <c:pt idx="1">
                  <c:v>Stack</c:v>
                </c:pt>
                <c:pt idx="2">
                  <c:v>Summary</c:v>
                </c:pt>
                <c:pt idx="3">
                  <c:v>Datum</c:v>
                </c:pt>
              </c:strCache>
            </c:strRef>
          </c:cat>
          <c:val>
            <c:numRef>
              <c:f>Sheet1!$D$2:$D$5</c:f>
              <c:numCache>
                <c:formatCode>General</c:formatCode>
                <c:ptCount val="4"/>
                <c:pt idx="0">
                  <c:v>81</c:v>
                </c:pt>
                <c:pt idx="1">
                  <c:v>51</c:v>
                </c:pt>
                <c:pt idx="2">
                  <c:v>32</c:v>
                </c:pt>
                <c:pt idx="3">
                  <c:v>82</c:v>
                </c:pt>
              </c:numCache>
            </c:numRef>
          </c:val>
          <c:extLst>
            <c:ext xmlns:c16="http://schemas.microsoft.com/office/drawing/2014/chart" uri="{C3380CC4-5D6E-409C-BE32-E72D297353CC}">
              <c16:uniqueId val="{00000002-CA8A-44E8-8975-CF50CD2C3C7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Thread</c:v>
                </c:pt>
              </c:strCache>
            </c:strRef>
          </c:tx>
          <c:invertIfNegative val="1"/>
          <c:cat>
            <c:strRef>
              <c:f>Sheet1!$A$2:$A$4</c:f>
              <c:strCache>
                <c:ptCount val="3"/>
                <c:pt idx="0">
                  <c:v>Dimension</c:v>
                </c:pt>
                <c:pt idx="1">
                  <c:v>Keyline</c:v>
                </c:pt>
                <c:pt idx="2">
                  <c:v>Signal</c:v>
                </c:pt>
              </c:strCache>
            </c:strRef>
          </c:cat>
          <c:val>
            <c:numRef>
              <c:f>Sheet1!$B$2:$B$4</c:f>
              <c:numCache>
                <c:formatCode>General</c:formatCode>
                <c:ptCount val="3"/>
                <c:pt idx="0">
                  <c:v>51</c:v>
                </c:pt>
                <c:pt idx="1">
                  <c:v>43</c:v>
                </c:pt>
                <c:pt idx="2">
                  <c:v>8</c:v>
                </c:pt>
              </c:numCache>
            </c:numRef>
          </c:val>
          <c:extLst>
            <c:ext xmlns:c16="http://schemas.microsoft.com/office/drawing/2014/chart" uri="{C3380CC4-5D6E-409C-BE32-E72D297353CC}">
              <c16:uniqueId val="{00000000-20DD-4FF0-B8A7-AE05702F404F}"/>
            </c:ext>
          </c:extLst>
        </c:ser>
        <c:ser>
          <c:idx val="1"/>
          <c:order val="1"/>
          <c:tx>
            <c:strRef>
              <c:f>Sheet1!$C$1</c:f>
              <c:strCache>
                <c:ptCount val="1"/>
                <c:pt idx="0">
                  <c:v>Checkpoint</c:v>
                </c:pt>
              </c:strCache>
            </c:strRef>
          </c:tx>
          <c:invertIfNegative val="1"/>
          <c:cat>
            <c:strRef>
              <c:f>Sheet1!$A$2:$A$4</c:f>
              <c:strCache>
                <c:ptCount val="3"/>
                <c:pt idx="0">
                  <c:v>Dimension</c:v>
                </c:pt>
                <c:pt idx="1">
                  <c:v>Keyline</c:v>
                </c:pt>
                <c:pt idx="2">
                  <c:v>Signal</c:v>
                </c:pt>
              </c:strCache>
            </c:strRef>
          </c:cat>
          <c:val>
            <c:numRef>
              <c:f>Sheet1!$C$2:$C$4</c:f>
              <c:numCache>
                <c:formatCode>General</c:formatCode>
                <c:ptCount val="3"/>
                <c:pt idx="0">
                  <c:v>40</c:v>
                </c:pt>
                <c:pt idx="1">
                  <c:v>66</c:v>
                </c:pt>
                <c:pt idx="2">
                  <c:v>87</c:v>
                </c:pt>
              </c:numCache>
            </c:numRef>
          </c:val>
          <c:extLst>
            <c:ext xmlns:c16="http://schemas.microsoft.com/office/drawing/2014/chart" uri="{C3380CC4-5D6E-409C-BE32-E72D297353CC}">
              <c16:uniqueId val="{00000001-20DD-4FF0-B8A7-AE05702F404F}"/>
            </c:ext>
          </c:extLst>
        </c:ser>
        <c:ser>
          <c:idx val="2"/>
          <c:order val="2"/>
          <c:tx>
            <c:strRef>
              <c:f>Sheet1!$D$1</c:f>
              <c:strCache>
                <c:ptCount val="1"/>
                <c:pt idx="0">
                  <c:v>Edge Benchmark</c:v>
                </c:pt>
              </c:strCache>
            </c:strRef>
          </c:tx>
          <c:invertIfNegative val="1"/>
          <c:cat>
            <c:strRef>
              <c:f>Sheet1!$A$2:$A$4</c:f>
              <c:strCache>
                <c:ptCount val="3"/>
                <c:pt idx="0">
                  <c:v>Dimension</c:v>
                </c:pt>
                <c:pt idx="1">
                  <c:v>Keyline</c:v>
                </c:pt>
                <c:pt idx="2">
                  <c:v>Signal</c:v>
                </c:pt>
              </c:strCache>
            </c:strRef>
          </c:cat>
          <c:val>
            <c:numRef>
              <c:f>Sheet1!$D$2:$D$4</c:f>
              <c:numCache>
                <c:formatCode>General</c:formatCode>
                <c:ptCount val="3"/>
                <c:pt idx="0">
                  <c:v>77</c:v>
                </c:pt>
                <c:pt idx="1">
                  <c:v>66</c:v>
                </c:pt>
                <c:pt idx="2">
                  <c:v>25</c:v>
                </c:pt>
              </c:numCache>
            </c:numRef>
          </c:val>
          <c:extLst>
            <c:ext xmlns:c16="http://schemas.microsoft.com/office/drawing/2014/chart" uri="{C3380CC4-5D6E-409C-BE32-E72D297353CC}">
              <c16:uniqueId val="{00000002-20DD-4FF0-B8A7-AE05702F404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Chart Envelope</a:t>
            </a:r>
          </a:p>
        </c:rich>
      </c:tx>
      <c:overlay val="0"/>
    </c:title>
    <c:autoTitleDeleted val="0"/>
    <c:plotArea>
      <c:layout/>
      <c:barChart>
        <c:barDir val="col"/>
        <c:grouping val="clustered"/>
        <c:varyColors val="1"/>
        <c:ser>
          <c:idx val="0"/>
          <c:order val="0"/>
          <c:tx>
            <c:strRef>
              <c:f>Sheet1!$B$1</c:f>
              <c:strCache>
                <c:ptCount val="1"/>
                <c:pt idx="0">
                  <c:v>Thread</c:v>
                </c:pt>
              </c:strCache>
            </c:strRef>
          </c:tx>
          <c:invertIfNegative val="1"/>
          <c:cat>
            <c:strRef>
              <c:f>Sheet1!$A$2:$A$4</c:f>
              <c:strCache>
                <c:ptCount val="3"/>
                <c:pt idx="0">
                  <c:v>Trigger</c:v>
                </c:pt>
                <c:pt idx="1">
                  <c:v>Sequence</c:v>
                </c:pt>
                <c:pt idx="2">
                  <c:v>Baseline</c:v>
                </c:pt>
              </c:strCache>
            </c:strRef>
          </c:cat>
          <c:val>
            <c:numRef>
              <c:f>Sheet1!$B$2:$B$4</c:f>
              <c:numCache>
                <c:formatCode>General</c:formatCode>
                <c:ptCount val="3"/>
                <c:pt idx="0">
                  <c:v>39</c:v>
                </c:pt>
                <c:pt idx="1">
                  <c:v>91</c:v>
                </c:pt>
                <c:pt idx="2">
                  <c:v>73</c:v>
                </c:pt>
              </c:numCache>
            </c:numRef>
          </c:val>
          <c:extLst>
            <c:ext xmlns:c16="http://schemas.microsoft.com/office/drawing/2014/chart" uri="{C3380CC4-5D6E-409C-BE32-E72D297353CC}">
              <c16:uniqueId val="{00000000-779E-4DB2-B4F5-C5B62E1A34FA}"/>
            </c:ext>
          </c:extLst>
        </c:ser>
        <c:ser>
          <c:idx val="1"/>
          <c:order val="1"/>
          <c:tx>
            <c:strRef>
              <c:f>Sheet1!$C$1</c:f>
              <c:strCache>
                <c:ptCount val="1"/>
                <c:pt idx="0">
                  <c:v>Filter Benchmark</c:v>
                </c:pt>
              </c:strCache>
            </c:strRef>
          </c:tx>
          <c:invertIfNegative val="1"/>
          <c:cat>
            <c:strRef>
              <c:f>Sheet1!$A$2:$A$4</c:f>
              <c:strCache>
                <c:ptCount val="3"/>
                <c:pt idx="0">
                  <c:v>Trigger</c:v>
                </c:pt>
                <c:pt idx="1">
                  <c:v>Sequence</c:v>
                </c:pt>
                <c:pt idx="2">
                  <c:v>Baseline</c:v>
                </c:pt>
              </c:strCache>
            </c:strRef>
          </c:cat>
          <c:val>
            <c:numRef>
              <c:f>Sheet1!$C$2:$C$4</c:f>
              <c:numCache>
                <c:formatCode>General</c:formatCode>
                <c:ptCount val="3"/>
                <c:pt idx="0">
                  <c:v>41</c:v>
                </c:pt>
                <c:pt idx="1">
                  <c:v>44</c:v>
                </c:pt>
                <c:pt idx="2">
                  <c:v>90</c:v>
                </c:pt>
              </c:numCache>
            </c:numRef>
          </c:val>
          <c:extLst>
            <c:ext xmlns:c16="http://schemas.microsoft.com/office/drawing/2014/chart" uri="{C3380CC4-5D6E-409C-BE32-E72D297353CC}">
              <c16:uniqueId val="{00000001-779E-4DB2-B4F5-C5B62E1A34F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Ratio Table</c:v>
                </c:pt>
              </c:strCache>
            </c:strRef>
          </c:tx>
          <c:invertIfNegative val="1"/>
          <c:cat>
            <c:strRef>
              <c:f>Sheet1!$A$2:$A$7</c:f>
              <c:strCache>
                <c:ptCount val="6"/>
                <c:pt idx="0">
                  <c:v>Compass</c:v>
                </c:pt>
                <c:pt idx="1">
                  <c:v>Archive</c:v>
                </c:pt>
                <c:pt idx="2">
                  <c:v>State</c:v>
                </c:pt>
                <c:pt idx="3">
                  <c:v>Datum</c:v>
                </c:pt>
                <c:pt idx="4">
                  <c:v>Event</c:v>
                </c:pt>
                <c:pt idx="5">
                  <c:v>Insight</c:v>
                </c:pt>
              </c:strCache>
            </c:strRef>
          </c:cat>
          <c:val>
            <c:numRef>
              <c:f>Sheet1!$B$2:$B$7</c:f>
              <c:numCache>
                <c:formatCode>General</c:formatCode>
                <c:ptCount val="6"/>
                <c:pt idx="0">
                  <c:v>37</c:v>
                </c:pt>
                <c:pt idx="1">
                  <c:v>54</c:v>
                </c:pt>
                <c:pt idx="2">
                  <c:v>66</c:v>
                </c:pt>
                <c:pt idx="3">
                  <c:v>95</c:v>
                </c:pt>
                <c:pt idx="4">
                  <c:v>42</c:v>
                </c:pt>
                <c:pt idx="5">
                  <c:v>14</c:v>
                </c:pt>
              </c:numCache>
            </c:numRef>
          </c:val>
          <c:extLst>
            <c:ext xmlns:c16="http://schemas.microsoft.com/office/drawing/2014/chart" uri="{C3380CC4-5D6E-409C-BE32-E72D297353CC}">
              <c16:uniqueId val="{00000000-852C-4F07-8AD7-F91434FEDF84}"/>
            </c:ext>
          </c:extLst>
        </c:ser>
        <c:ser>
          <c:idx val="1"/>
          <c:order val="1"/>
          <c:tx>
            <c:strRef>
              <c:f>Sheet1!$C$1</c:f>
              <c:strCache>
                <c:ptCount val="1"/>
                <c:pt idx="0">
                  <c:v>Catalog Horizon</c:v>
                </c:pt>
              </c:strCache>
            </c:strRef>
          </c:tx>
          <c:invertIfNegative val="1"/>
          <c:cat>
            <c:strRef>
              <c:f>Sheet1!$A$2:$A$7</c:f>
              <c:strCache>
                <c:ptCount val="6"/>
                <c:pt idx="0">
                  <c:v>Compass</c:v>
                </c:pt>
                <c:pt idx="1">
                  <c:v>Archive</c:v>
                </c:pt>
                <c:pt idx="2">
                  <c:v>State</c:v>
                </c:pt>
                <c:pt idx="3">
                  <c:v>Datum</c:v>
                </c:pt>
                <c:pt idx="4">
                  <c:v>Event</c:v>
                </c:pt>
                <c:pt idx="5">
                  <c:v>Insight</c:v>
                </c:pt>
              </c:strCache>
            </c:strRef>
          </c:cat>
          <c:val>
            <c:numRef>
              <c:f>Sheet1!$C$2:$C$7</c:f>
              <c:numCache>
                <c:formatCode>General</c:formatCode>
                <c:ptCount val="6"/>
                <c:pt idx="0">
                  <c:v>62</c:v>
                </c:pt>
                <c:pt idx="1">
                  <c:v>66</c:v>
                </c:pt>
                <c:pt idx="2">
                  <c:v>80</c:v>
                </c:pt>
                <c:pt idx="3">
                  <c:v>52</c:v>
                </c:pt>
                <c:pt idx="4">
                  <c:v>30</c:v>
                </c:pt>
                <c:pt idx="5">
                  <c:v>40</c:v>
                </c:pt>
              </c:numCache>
            </c:numRef>
          </c:val>
          <c:extLst>
            <c:ext xmlns:c16="http://schemas.microsoft.com/office/drawing/2014/chart" uri="{C3380CC4-5D6E-409C-BE32-E72D297353CC}">
              <c16:uniqueId val="{00000001-852C-4F07-8AD7-F91434FEDF84}"/>
            </c:ext>
          </c:extLst>
        </c:ser>
        <c:ser>
          <c:idx val="2"/>
          <c:order val="2"/>
          <c:tx>
            <c:strRef>
              <c:f>Sheet1!$D$1</c:f>
              <c:strCache>
                <c:ptCount val="1"/>
                <c:pt idx="0">
                  <c:v>Result Energy</c:v>
                </c:pt>
              </c:strCache>
            </c:strRef>
          </c:tx>
          <c:invertIfNegative val="1"/>
          <c:cat>
            <c:strRef>
              <c:f>Sheet1!$A$2:$A$7</c:f>
              <c:strCache>
                <c:ptCount val="6"/>
                <c:pt idx="0">
                  <c:v>Compass</c:v>
                </c:pt>
                <c:pt idx="1">
                  <c:v>Archive</c:v>
                </c:pt>
                <c:pt idx="2">
                  <c:v>State</c:v>
                </c:pt>
                <c:pt idx="3">
                  <c:v>Datum</c:v>
                </c:pt>
                <c:pt idx="4">
                  <c:v>Event</c:v>
                </c:pt>
                <c:pt idx="5">
                  <c:v>Insight</c:v>
                </c:pt>
              </c:strCache>
            </c:strRef>
          </c:cat>
          <c:val>
            <c:numRef>
              <c:f>Sheet1!$D$2:$D$7</c:f>
              <c:numCache>
                <c:formatCode>General</c:formatCode>
                <c:ptCount val="6"/>
                <c:pt idx="0">
                  <c:v>41</c:v>
                </c:pt>
                <c:pt idx="1">
                  <c:v>25</c:v>
                </c:pt>
                <c:pt idx="2">
                  <c:v>20</c:v>
                </c:pt>
                <c:pt idx="3">
                  <c:v>27</c:v>
                </c:pt>
                <c:pt idx="4">
                  <c:v>49</c:v>
                </c:pt>
                <c:pt idx="5">
                  <c:v>50</c:v>
                </c:pt>
              </c:numCache>
            </c:numRef>
          </c:val>
          <c:extLst>
            <c:ext xmlns:c16="http://schemas.microsoft.com/office/drawing/2014/chart" uri="{C3380CC4-5D6E-409C-BE32-E72D297353CC}">
              <c16:uniqueId val="{00000002-852C-4F07-8AD7-F91434FEDF8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Drift Focus</a:t>
            </a:r>
          </a:p>
        </c:rich>
      </c:tx>
      <c:overlay val="0"/>
    </c:title>
    <c:autoTitleDeleted val="0"/>
    <c:plotArea>
      <c:layout/>
      <c:areaChart>
        <c:grouping val="standard"/>
        <c:varyColors val="0"/>
        <c:ser>
          <c:idx val="0"/>
          <c:order val="0"/>
          <c:tx>
            <c:strRef>
              <c:f>Sheet1!$B$1</c:f>
              <c:strCache>
                <c:ptCount val="1"/>
                <c:pt idx="0">
                  <c:v>Snapshot Output</c:v>
                </c:pt>
              </c:strCache>
            </c:strRef>
          </c:tx>
          <c:cat>
            <c:strRef>
              <c:f>Sheet1!$A$2:$A$5</c:f>
              <c:strCache>
                <c:ptCount val="4"/>
                <c:pt idx="0">
                  <c:v>Moment</c:v>
                </c:pt>
                <c:pt idx="1">
                  <c:v>Atlas</c:v>
                </c:pt>
                <c:pt idx="2">
                  <c:v>Cell</c:v>
                </c:pt>
                <c:pt idx="3">
                  <c:v>Build</c:v>
                </c:pt>
              </c:strCache>
            </c:strRef>
          </c:cat>
          <c:val>
            <c:numRef>
              <c:f>Sheet1!$B$2:$B$5</c:f>
              <c:numCache>
                <c:formatCode>General</c:formatCode>
                <c:ptCount val="4"/>
                <c:pt idx="0">
                  <c:v>81</c:v>
                </c:pt>
                <c:pt idx="1">
                  <c:v>76</c:v>
                </c:pt>
                <c:pt idx="2">
                  <c:v>82</c:v>
                </c:pt>
                <c:pt idx="3">
                  <c:v>66</c:v>
                </c:pt>
              </c:numCache>
            </c:numRef>
          </c:val>
          <c:extLst>
            <c:ext xmlns:c16="http://schemas.microsoft.com/office/drawing/2014/chart" uri="{C3380CC4-5D6E-409C-BE32-E72D297353CC}">
              <c16:uniqueId val="{00000000-9697-48AC-B63F-142826E2CEE6}"/>
            </c:ext>
          </c:extLst>
        </c:ser>
        <c:ser>
          <c:idx val="1"/>
          <c:order val="1"/>
          <c:tx>
            <c:strRef>
              <c:f>Sheet1!$C$1</c:f>
              <c:strCache>
                <c:ptCount val="1"/>
                <c:pt idx="0">
                  <c:v>Echo Resource</c:v>
                </c:pt>
              </c:strCache>
            </c:strRef>
          </c:tx>
          <c:cat>
            <c:strRef>
              <c:f>Sheet1!$A$2:$A$5</c:f>
              <c:strCache>
                <c:ptCount val="4"/>
                <c:pt idx="0">
                  <c:v>Moment</c:v>
                </c:pt>
                <c:pt idx="1">
                  <c:v>Atlas</c:v>
                </c:pt>
                <c:pt idx="2">
                  <c:v>Cell</c:v>
                </c:pt>
                <c:pt idx="3">
                  <c:v>Build</c:v>
                </c:pt>
              </c:strCache>
            </c:strRef>
          </c:cat>
          <c:val>
            <c:numRef>
              <c:f>Sheet1!$C$2:$C$5</c:f>
              <c:numCache>
                <c:formatCode>General</c:formatCode>
                <c:ptCount val="4"/>
                <c:pt idx="0">
                  <c:v>18</c:v>
                </c:pt>
                <c:pt idx="1">
                  <c:v>50</c:v>
                </c:pt>
                <c:pt idx="2">
                  <c:v>28</c:v>
                </c:pt>
                <c:pt idx="3">
                  <c:v>75</c:v>
                </c:pt>
              </c:numCache>
            </c:numRef>
          </c:val>
          <c:extLst>
            <c:ext xmlns:c16="http://schemas.microsoft.com/office/drawing/2014/chart" uri="{C3380CC4-5D6E-409C-BE32-E72D297353CC}">
              <c16:uniqueId val="{00000001-9697-48AC-B63F-142826E2CEE6}"/>
            </c:ext>
          </c:extLst>
        </c:ser>
        <c:ser>
          <c:idx val="2"/>
          <c:order val="2"/>
          <c:tx>
            <c:strRef>
              <c:f>Sheet1!$D$1</c:f>
              <c:strCache>
                <c:ptCount val="1"/>
                <c:pt idx="0">
                  <c:v>Metric Domain</c:v>
                </c:pt>
              </c:strCache>
            </c:strRef>
          </c:tx>
          <c:cat>
            <c:strRef>
              <c:f>Sheet1!$A$2:$A$5</c:f>
              <c:strCache>
                <c:ptCount val="4"/>
                <c:pt idx="0">
                  <c:v>Moment</c:v>
                </c:pt>
                <c:pt idx="1">
                  <c:v>Atlas</c:v>
                </c:pt>
                <c:pt idx="2">
                  <c:v>Cell</c:v>
                </c:pt>
                <c:pt idx="3">
                  <c:v>Build</c:v>
                </c:pt>
              </c:strCache>
            </c:strRef>
          </c:cat>
          <c:val>
            <c:numRef>
              <c:f>Sheet1!$D$2:$D$5</c:f>
              <c:numCache>
                <c:formatCode>General</c:formatCode>
                <c:ptCount val="4"/>
                <c:pt idx="0">
                  <c:v>13</c:v>
                </c:pt>
                <c:pt idx="1">
                  <c:v>91</c:v>
                </c:pt>
                <c:pt idx="2">
                  <c:v>89</c:v>
                </c:pt>
                <c:pt idx="3">
                  <c:v>39</c:v>
                </c:pt>
              </c:numCache>
            </c:numRef>
          </c:val>
          <c:extLst>
            <c:ext xmlns:c16="http://schemas.microsoft.com/office/drawing/2014/chart" uri="{C3380CC4-5D6E-409C-BE32-E72D297353CC}">
              <c16:uniqueId val="{00000002-9697-48AC-B63F-142826E2CEE6}"/>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Frequency Program</c:v>
                </c:pt>
              </c:strCache>
            </c:strRef>
          </c:tx>
          <c:cat>
            <c:strRef>
              <c:f>Sheet1!$A$2:$A$7</c:f>
              <c:strCache>
                <c:ptCount val="6"/>
                <c:pt idx="0">
                  <c:v>Process</c:v>
                </c:pt>
                <c:pt idx="1">
                  <c:v>Origin</c:v>
                </c:pt>
                <c:pt idx="2">
                  <c:v>Segment</c:v>
                </c:pt>
                <c:pt idx="3">
                  <c:v>Result</c:v>
                </c:pt>
                <c:pt idx="4">
                  <c:v>Program</c:v>
                </c:pt>
                <c:pt idx="5">
                  <c:v>Lineage</c:v>
                </c:pt>
              </c:strCache>
            </c:strRef>
          </c:cat>
          <c:val>
            <c:numRef>
              <c:f>Sheet1!$B$2:$B$7</c:f>
              <c:numCache>
                <c:formatCode>General</c:formatCode>
                <c:ptCount val="6"/>
                <c:pt idx="0">
                  <c:v>46</c:v>
                </c:pt>
                <c:pt idx="1">
                  <c:v>17</c:v>
                </c:pt>
                <c:pt idx="2">
                  <c:v>67</c:v>
                </c:pt>
                <c:pt idx="3">
                  <c:v>48</c:v>
                </c:pt>
                <c:pt idx="4">
                  <c:v>25</c:v>
                </c:pt>
                <c:pt idx="5">
                  <c:v>30</c:v>
                </c:pt>
              </c:numCache>
            </c:numRef>
          </c:val>
          <c:extLst>
            <c:ext xmlns:c16="http://schemas.microsoft.com/office/drawing/2014/chart" uri="{C3380CC4-5D6E-409C-BE32-E72D297353CC}">
              <c16:uniqueId val="{00000000-2718-45D6-BFAC-66EDA225DB8D}"/>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Waypoint</c:v>
                </c:pt>
              </c:strCache>
            </c:strRef>
          </c:tx>
          <c:cat>
            <c:strRef>
              <c:f>Sheet1!$A$2:$A$5</c:f>
              <c:strCache>
                <c:ptCount val="4"/>
                <c:pt idx="0">
                  <c:v>Design</c:v>
                </c:pt>
                <c:pt idx="1">
                  <c:v>Trend</c:v>
                </c:pt>
                <c:pt idx="2">
                  <c:v>Context</c:v>
                </c:pt>
                <c:pt idx="3">
                  <c:v>Input</c:v>
                </c:pt>
              </c:strCache>
            </c:strRef>
          </c:cat>
          <c:val>
            <c:numRef>
              <c:f>Sheet1!$B$2:$B$5</c:f>
              <c:numCache>
                <c:formatCode>General</c:formatCode>
                <c:ptCount val="4"/>
                <c:pt idx="0">
                  <c:v>43</c:v>
                </c:pt>
                <c:pt idx="1">
                  <c:v>9</c:v>
                </c:pt>
                <c:pt idx="2">
                  <c:v>12</c:v>
                </c:pt>
                <c:pt idx="3">
                  <c:v>26</c:v>
                </c:pt>
              </c:numCache>
            </c:numRef>
          </c:val>
          <c:extLst>
            <c:ext xmlns:c16="http://schemas.microsoft.com/office/drawing/2014/chart" uri="{C3380CC4-5D6E-409C-BE32-E72D297353CC}">
              <c16:uniqueId val="{00000000-74A6-4265-88EC-98BAFCBDEE37}"/>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Estimate Echo</c:v>
                </c:pt>
              </c:strCache>
            </c:strRef>
          </c:tx>
          <c:cat>
            <c:strRef>
              <c:f>Sheet1!$A$2:$A$7</c:f>
              <c:strCache>
                <c:ptCount val="6"/>
                <c:pt idx="0">
                  <c:v>Indicator</c:v>
                </c:pt>
                <c:pt idx="1">
                  <c:v>Track</c:v>
                </c:pt>
                <c:pt idx="2">
                  <c:v>Snapshot</c:v>
                </c:pt>
                <c:pt idx="3">
                  <c:v>Group</c:v>
                </c:pt>
                <c:pt idx="4">
                  <c:v>Core</c:v>
                </c:pt>
                <c:pt idx="5">
                  <c:v>Payload</c:v>
                </c:pt>
              </c:strCache>
            </c:strRef>
          </c:cat>
          <c:val>
            <c:numRef>
              <c:f>Sheet1!$B$2:$B$7</c:f>
              <c:numCache>
                <c:formatCode>General</c:formatCode>
                <c:ptCount val="6"/>
                <c:pt idx="0">
                  <c:v>12</c:v>
                </c:pt>
                <c:pt idx="1">
                  <c:v>80</c:v>
                </c:pt>
                <c:pt idx="2">
                  <c:v>42</c:v>
                </c:pt>
                <c:pt idx="3">
                  <c:v>73</c:v>
                </c:pt>
                <c:pt idx="4">
                  <c:v>25</c:v>
                </c:pt>
                <c:pt idx="5">
                  <c:v>44</c:v>
                </c:pt>
              </c:numCache>
            </c:numRef>
          </c:val>
          <c:extLst>
            <c:ext xmlns:c16="http://schemas.microsoft.com/office/drawing/2014/chart" uri="{C3380CC4-5D6E-409C-BE32-E72D297353CC}">
              <c16:uniqueId val="{00000000-2DEE-49A6-9A47-3A465422BACB}"/>
            </c:ext>
          </c:extLst>
        </c:ser>
        <c:ser>
          <c:idx val="1"/>
          <c:order val="1"/>
          <c:tx>
            <c:strRef>
              <c:f>Sheet1!$C$1</c:f>
              <c:strCache>
                <c:ptCount val="1"/>
                <c:pt idx="0">
                  <c:v>Gradient</c:v>
                </c:pt>
              </c:strCache>
            </c:strRef>
          </c:tx>
          <c:cat>
            <c:strRef>
              <c:f>Sheet1!$A$2:$A$7</c:f>
              <c:strCache>
                <c:ptCount val="6"/>
                <c:pt idx="0">
                  <c:v>Indicator</c:v>
                </c:pt>
                <c:pt idx="1">
                  <c:v>Track</c:v>
                </c:pt>
                <c:pt idx="2">
                  <c:v>Snapshot</c:v>
                </c:pt>
                <c:pt idx="3">
                  <c:v>Group</c:v>
                </c:pt>
                <c:pt idx="4">
                  <c:v>Core</c:v>
                </c:pt>
                <c:pt idx="5">
                  <c:v>Payload</c:v>
                </c:pt>
              </c:strCache>
            </c:strRef>
          </c:cat>
          <c:val>
            <c:numRef>
              <c:f>Sheet1!$C$2:$C$7</c:f>
              <c:numCache>
                <c:formatCode>General</c:formatCode>
                <c:ptCount val="6"/>
                <c:pt idx="0">
                  <c:v>24</c:v>
                </c:pt>
                <c:pt idx="1">
                  <c:v>35</c:v>
                </c:pt>
                <c:pt idx="2">
                  <c:v>50</c:v>
                </c:pt>
                <c:pt idx="3">
                  <c:v>66</c:v>
                </c:pt>
                <c:pt idx="4">
                  <c:v>69</c:v>
                </c:pt>
                <c:pt idx="5">
                  <c:v>64</c:v>
                </c:pt>
              </c:numCache>
            </c:numRef>
          </c:val>
          <c:extLst>
            <c:ext xmlns:c16="http://schemas.microsoft.com/office/drawing/2014/chart" uri="{C3380CC4-5D6E-409C-BE32-E72D297353CC}">
              <c16:uniqueId val="{00000001-2DEE-49A6-9A47-3A465422BACB}"/>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Channel</c:v>
                </c:pt>
              </c:strCache>
            </c:strRef>
          </c:tx>
          <c:cat>
            <c:strRef>
              <c:f>Sheet1!$A$2:$A$5</c:f>
              <c:strCache>
                <c:ptCount val="4"/>
                <c:pt idx="0">
                  <c:v>Column</c:v>
                </c:pt>
                <c:pt idx="1">
                  <c:v>Center</c:v>
                </c:pt>
                <c:pt idx="2">
                  <c:v>Spectrum</c:v>
                </c:pt>
                <c:pt idx="3">
                  <c:v>Packet</c:v>
                </c:pt>
              </c:strCache>
            </c:strRef>
          </c:cat>
          <c:val>
            <c:numRef>
              <c:f>Sheet1!$B$2:$B$5</c:f>
              <c:numCache>
                <c:formatCode>General</c:formatCode>
                <c:ptCount val="4"/>
                <c:pt idx="0">
                  <c:v>92</c:v>
                </c:pt>
                <c:pt idx="1">
                  <c:v>55</c:v>
                </c:pt>
                <c:pt idx="2">
                  <c:v>94</c:v>
                </c:pt>
                <c:pt idx="3">
                  <c:v>53</c:v>
                </c:pt>
              </c:numCache>
            </c:numRef>
          </c:val>
          <c:extLst>
            <c:ext xmlns:c16="http://schemas.microsoft.com/office/drawing/2014/chart" uri="{C3380CC4-5D6E-409C-BE32-E72D297353CC}">
              <c16:uniqueId val="{00000000-EFDA-40ED-B7E7-D9C18FE29E73}"/>
            </c:ext>
          </c:extLst>
        </c:ser>
        <c:ser>
          <c:idx val="1"/>
          <c:order val="1"/>
          <c:tx>
            <c:strRef>
              <c:f>Sheet1!$C$1</c:f>
              <c:strCache>
                <c:ptCount val="1"/>
                <c:pt idx="0">
                  <c:v>Duration</c:v>
                </c:pt>
              </c:strCache>
            </c:strRef>
          </c:tx>
          <c:cat>
            <c:strRef>
              <c:f>Sheet1!$A$2:$A$5</c:f>
              <c:strCache>
                <c:ptCount val="4"/>
                <c:pt idx="0">
                  <c:v>Column</c:v>
                </c:pt>
                <c:pt idx="1">
                  <c:v>Center</c:v>
                </c:pt>
                <c:pt idx="2">
                  <c:v>Spectrum</c:v>
                </c:pt>
                <c:pt idx="3">
                  <c:v>Packet</c:v>
                </c:pt>
              </c:strCache>
            </c:strRef>
          </c:cat>
          <c:val>
            <c:numRef>
              <c:f>Sheet1!$C$2:$C$5</c:f>
              <c:numCache>
                <c:formatCode>General</c:formatCode>
                <c:ptCount val="4"/>
                <c:pt idx="0">
                  <c:v>67</c:v>
                </c:pt>
                <c:pt idx="1">
                  <c:v>89</c:v>
                </c:pt>
                <c:pt idx="2">
                  <c:v>11</c:v>
                </c:pt>
                <c:pt idx="3">
                  <c:v>33</c:v>
                </c:pt>
              </c:numCache>
            </c:numRef>
          </c:val>
          <c:extLst>
            <c:ext xmlns:c16="http://schemas.microsoft.com/office/drawing/2014/chart" uri="{C3380CC4-5D6E-409C-BE32-E72D297353CC}">
              <c16:uniqueId val="{00000001-EFDA-40ED-B7E7-D9C18FE29E73}"/>
            </c:ext>
          </c:extLst>
        </c:ser>
        <c:ser>
          <c:idx val="2"/>
          <c:order val="2"/>
          <c:tx>
            <c:strRef>
              <c:f>Sheet1!$D$1</c:f>
              <c:strCache>
                <c:ptCount val="1"/>
                <c:pt idx="0">
                  <c:v>Epoch</c:v>
                </c:pt>
              </c:strCache>
            </c:strRef>
          </c:tx>
          <c:cat>
            <c:strRef>
              <c:f>Sheet1!$A$2:$A$5</c:f>
              <c:strCache>
                <c:ptCount val="4"/>
                <c:pt idx="0">
                  <c:v>Column</c:v>
                </c:pt>
                <c:pt idx="1">
                  <c:v>Center</c:v>
                </c:pt>
                <c:pt idx="2">
                  <c:v>Spectrum</c:v>
                </c:pt>
                <c:pt idx="3">
                  <c:v>Packet</c:v>
                </c:pt>
              </c:strCache>
            </c:strRef>
          </c:cat>
          <c:val>
            <c:numRef>
              <c:f>Sheet1!$D$2:$D$5</c:f>
              <c:numCache>
                <c:formatCode>General</c:formatCode>
                <c:ptCount val="4"/>
                <c:pt idx="0">
                  <c:v>63</c:v>
                </c:pt>
                <c:pt idx="1">
                  <c:v>67</c:v>
                </c:pt>
                <c:pt idx="2">
                  <c:v>43</c:v>
                </c:pt>
                <c:pt idx="3">
                  <c:v>73</c:v>
                </c:pt>
              </c:numCache>
            </c:numRef>
          </c:val>
          <c:extLst>
            <c:ext xmlns:c16="http://schemas.microsoft.com/office/drawing/2014/chart" uri="{C3380CC4-5D6E-409C-BE32-E72D297353CC}">
              <c16:uniqueId val="{00000002-EFDA-40ED-B7E7-D9C18FE29E73}"/>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Span</c:v>
                </c:pt>
              </c:strCache>
            </c:strRef>
          </c:tx>
          <c:invertIfNegative val="1"/>
          <c:cat>
            <c:strRef>
              <c:f>Sheet1!$A$2:$A$7</c:f>
              <c:strCache>
                <c:ptCount val="6"/>
                <c:pt idx="0">
                  <c:v>Concept</c:v>
                </c:pt>
                <c:pt idx="1">
                  <c:v>Velocity</c:v>
                </c:pt>
                <c:pt idx="2">
                  <c:v>Guide</c:v>
                </c:pt>
                <c:pt idx="3">
                  <c:v>Portal</c:v>
                </c:pt>
                <c:pt idx="4">
                  <c:v>Template</c:v>
                </c:pt>
                <c:pt idx="5">
                  <c:v>Panel</c:v>
                </c:pt>
              </c:strCache>
            </c:strRef>
          </c:cat>
          <c:val>
            <c:numRef>
              <c:f>Sheet1!$B$2:$B$7</c:f>
              <c:numCache>
                <c:formatCode>General</c:formatCode>
                <c:ptCount val="6"/>
                <c:pt idx="0">
                  <c:v>25</c:v>
                </c:pt>
                <c:pt idx="1">
                  <c:v>84</c:v>
                </c:pt>
                <c:pt idx="2">
                  <c:v>58</c:v>
                </c:pt>
                <c:pt idx="3">
                  <c:v>40</c:v>
                </c:pt>
                <c:pt idx="4">
                  <c:v>86</c:v>
                </c:pt>
                <c:pt idx="5">
                  <c:v>42</c:v>
                </c:pt>
              </c:numCache>
            </c:numRef>
          </c:val>
          <c:extLst>
            <c:ext xmlns:c16="http://schemas.microsoft.com/office/drawing/2014/chart" uri="{C3380CC4-5D6E-409C-BE32-E72D297353CC}">
              <c16:uniqueId val="{00000000-D52B-4018-BEB1-2F01933CD75A}"/>
            </c:ext>
          </c:extLst>
        </c:ser>
        <c:ser>
          <c:idx val="1"/>
          <c:order val="1"/>
          <c:tx>
            <c:strRef>
              <c:f>Sheet1!$C$1</c:f>
              <c:strCache>
                <c:ptCount val="1"/>
                <c:pt idx="0">
                  <c:v>Echo Action</c:v>
                </c:pt>
              </c:strCache>
            </c:strRef>
          </c:tx>
          <c:invertIfNegative val="1"/>
          <c:cat>
            <c:strRef>
              <c:f>Sheet1!$A$2:$A$7</c:f>
              <c:strCache>
                <c:ptCount val="6"/>
                <c:pt idx="0">
                  <c:v>Concept</c:v>
                </c:pt>
                <c:pt idx="1">
                  <c:v>Velocity</c:v>
                </c:pt>
                <c:pt idx="2">
                  <c:v>Guide</c:v>
                </c:pt>
                <c:pt idx="3">
                  <c:v>Portal</c:v>
                </c:pt>
                <c:pt idx="4">
                  <c:v>Template</c:v>
                </c:pt>
                <c:pt idx="5">
                  <c:v>Panel</c:v>
                </c:pt>
              </c:strCache>
            </c:strRef>
          </c:cat>
          <c:val>
            <c:numRef>
              <c:f>Sheet1!$C$2:$C$7</c:f>
              <c:numCache>
                <c:formatCode>General</c:formatCode>
                <c:ptCount val="6"/>
                <c:pt idx="0">
                  <c:v>77</c:v>
                </c:pt>
                <c:pt idx="1">
                  <c:v>31</c:v>
                </c:pt>
                <c:pt idx="2">
                  <c:v>65</c:v>
                </c:pt>
                <c:pt idx="3">
                  <c:v>35</c:v>
                </c:pt>
                <c:pt idx="4">
                  <c:v>73</c:v>
                </c:pt>
                <c:pt idx="5">
                  <c:v>84</c:v>
                </c:pt>
              </c:numCache>
            </c:numRef>
          </c:val>
          <c:extLst>
            <c:ext xmlns:c16="http://schemas.microsoft.com/office/drawing/2014/chart" uri="{C3380CC4-5D6E-409C-BE32-E72D297353CC}">
              <c16:uniqueId val="{00000001-D52B-4018-BEB1-2F01933CD75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Marker Timeline</a:t>
            </a:r>
          </a:p>
        </c:rich>
      </c:tx>
      <c:overlay val="0"/>
    </c:title>
    <c:autoTitleDeleted val="0"/>
    <c:plotArea>
      <c:layout/>
      <c:lineChart>
        <c:grouping val="standard"/>
        <c:varyColors val="0"/>
        <c:ser>
          <c:idx val="0"/>
          <c:order val="0"/>
          <c:tx>
            <c:strRef>
              <c:f>Sheet1!$B$1</c:f>
              <c:strCache>
                <c:ptCount val="1"/>
                <c:pt idx="0">
                  <c:v>Vector</c:v>
                </c:pt>
              </c:strCache>
            </c:strRef>
          </c:tx>
          <c:cat>
            <c:strRef>
              <c:f>Sheet1!$A$2:$A$7</c:f>
              <c:strCache>
                <c:ptCount val="6"/>
                <c:pt idx="0">
                  <c:v>Journey</c:v>
                </c:pt>
                <c:pt idx="1">
                  <c:v>Cluster</c:v>
                </c:pt>
                <c:pt idx="2">
                  <c:v>Blueprint</c:v>
                </c:pt>
                <c:pt idx="3">
                  <c:v>Factor</c:v>
                </c:pt>
                <c:pt idx="4">
                  <c:v>Output</c:v>
                </c:pt>
                <c:pt idx="5">
                  <c:v>Process</c:v>
                </c:pt>
              </c:strCache>
            </c:strRef>
          </c:cat>
          <c:val>
            <c:numRef>
              <c:f>Sheet1!$B$2:$B$7</c:f>
              <c:numCache>
                <c:formatCode>General</c:formatCode>
                <c:ptCount val="6"/>
                <c:pt idx="0">
                  <c:v>49</c:v>
                </c:pt>
                <c:pt idx="1">
                  <c:v>56</c:v>
                </c:pt>
                <c:pt idx="2">
                  <c:v>76</c:v>
                </c:pt>
                <c:pt idx="3">
                  <c:v>46</c:v>
                </c:pt>
                <c:pt idx="4">
                  <c:v>8</c:v>
                </c:pt>
                <c:pt idx="5">
                  <c:v>59</c:v>
                </c:pt>
              </c:numCache>
            </c:numRef>
          </c:val>
          <c:smooth val="0"/>
          <c:extLst>
            <c:ext xmlns:c16="http://schemas.microsoft.com/office/drawing/2014/chart" uri="{C3380CC4-5D6E-409C-BE32-E72D297353CC}">
              <c16:uniqueId val="{00000000-9B2A-45D4-BE27-3C30339700F9}"/>
            </c:ext>
          </c:extLst>
        </c:ser>
        <c:ser>
          <c:idx val="1"/>
          <c:order val="1"/>
          <c:tx>
            <c:strRef>
              <c:f>Sheet1!$C$1</c:f>
              <c:strCache>
                <c:ptCount val="1"/>
                <c:pt idx="0">
                  <c:v>Sequence Flow</c:v>
                </c:pt>
              </c:strCache>
            </c:strRef>
          </c:tx>
          <c:cat>
            <c:strRef>
              <c:f>Sheet1!$A$2:$A$7</c:f>
              <c:strCache>
                <c:ptCount val="6"/>
                <c:pt idx="0">
                  <c:v>Journey</c:v>
                </c:pt>
                <c:pt idx="1">
                  <c:v>Cluster</c:v>
                </c:pt>
                <c:pt idx="2">
                  <c:v>Blueprint</c:v>
                </c:pt>
                <c:pt idx="3">
                  <c:v>Factor</c:v>
                </c:pt>
                <c:pt idx="4">
                  <c:v>Output</c:v>
                </c:pt>
                <c:pt idx="5">
                  <c:v>Process</c:v>
                </c:pt>
              </c:strCache>
            </c:strRef>
          </c:cat>
          <c:val>
            <c:numRef>
              <c:f>Sheet1!$C$2:$C$7</c:f>
              <c:numCache>
                <c:formatCode>General</c:formatCode>
                <c:ptCount val="6"/>
                <c:pt idx="0">
                  <c:v>62</c:v>
                </c:pt>
                <c:pt idx="1">
                  <c:v>9</c:v>
                </c:pt>
                <c:pt idx="2">
                  <c:v>13</c:v>
                </c:pt>
                <c:pt idx="3">
                  <c:v>67</c:v>
                </c:pt>
                <c:pt idx="4">
                  <c:v>63</c:v>
                </c:pt>
                <c:pt idx="5">
                  <c:v>35</c:v>
                </c:pt>
              </c:numCache>
            </c:numRef>
          </c:val>
          <c:smooth val="0"/>
          <c:extLst>
            <c:ext xmlns:c16="http://schemas.microsoft.com/office/drawing/2014/chart" uri="{C3380CC4-5D6E-409C-BE32-E72D297353CC}">
              <c16:uniqueId val="{00000001-9B2A-45D4-BE27-3C30339700F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Collection Pixel Reference Benchmark Expansion</a:t>
            </a:r>
          </a:p>
        </c:rich>
      </c:tx>
      <c:overlay val="0"/>
    </c:title>
    <c:autoTitleDeleted val="0"/>
    <c:plotArea>
      <c:layout/>
      <c:lineChart>
        <c:grouping val="standard"/>
        <c:varyColors val="0"/>
        <c:ser>
          <c:idx val="0"/>
          <c:order val="0"/>
          <c:tx>
            <c:strRef>
              <c:f>Sheet1!$B$1</c:f>
              <c:strCache>
                <c:ptCount val="1"/>
                <c:pt idx="0">
                  <c:v>Event</c:v>
                </c:pt>
              </c:strCache>
            </c:strRef>
          </c:tx>
          <c:cat>
            <c:strRef>
              <c:f>Sheet1!$A$2:$A$4</c:f>
              <c:strCache>
                <c:ptCount val="3"/>
                <c:pt idx="0">
                  <c:v>Model</c:v>
                </c:pt>
                <c:pt idx="1">
                  <c:v>Factor</c:v>
                </c:pt>
                <c:pt idx="2">
                  <c:v>Report</c:v>
                </c:pt>
              </c:strCache>
            </c:strRef>
          </c:cat>
          <c:val>
            <c:numRef>
              <c:f>Sheet1!$B$2:$B$4</c:f>
              <c:numCache>
                <c:formatCode>General</c:formatCode>
                <c:ptCount val="3"/>
                <c:pt idx="0">
                  <c:v>55</c:v>
                </c:pt>
                <c:pt idx="1">
                  <c:v>49</c:v>
                </c:pt>
                <c:pt idx="2">
                  <c:v>85</c:v>
                </c:pt>
              </c:numCache>
            </c:numRef>
          </c:val>
          <c:smooth val="0"/>
          <c:extLst>
            <c:ext xmlns:c16="http://schemas.microsoft.com/office/drawing/2014/chart" uri="{C3380CC4-5D6E-409C-BE32-E72D297353CC}">
              <c16:uniqueId val="{00000000-18C2-4ED8-ACD9-4E40E5EDFCBD}"/>
            </c:ext>
          </c:extLst>
        </c:ser>
        <c:ser>
          <c:idx val="1"/>
          <c:order val="1"/>
          <c:tx>
            <c:strRef>
              <c:f>Sheet1!$C$1</c:f>
              <c:strCache>
                <c:ptCount val="1"/>
                <c:pt idx="0">
                  <c:v>Proof</c:v>
                </c:pt>
              </c:strCache>
            </c:strRef>
          </c:tx>
          <c:cat>
            <c:strRef>
              <c:f>Sheet1!$A$2:$A$4</c:f>
              <c:strCache>
                <c:ptCount val="3"/>
                <c:pt idx="0">
                  <c:v>Model</c:v>
                </c:pt>
                <c:pt idx="1">
                  <c:v>Factor</c:v>
                </c:pt>
                <c:pt idx="2">
                  <c:v>Report</c:v>
                </c:pt>
              </c:strCache>
            </c:strRef>
          </c:cat>
          <c:val>
            <c:numRef>
              <c:f>Sheet1!$C$2:$C$4</c:f>
              <c:numCache>
                <c:formatCode>General</c:formatCode>
                <c:ptCount val="3"/>
                <c:pt idx="0">
                  <c:v>46</c:v>
                </c:pt>
                <c:pt idx="1">
                  <c:v>68</c:v>
                </c:pt>
                <c:pt idx="2">
                  <c:v>22</c:v>
                </c:pt>
              </c:numCache>
            </c:numRef>
          </c:val>
          <c:smooth val="0"/>
          <c:extLst>
            <c:ext xmlns:c16="http://schemas.microsoft.com/office/drawing/2014/chart" uri="{C3380CC4-5D6E-409C-BE32-E72D297353CC}">
              <c16:uniqueId val="{00000001-18C2-4ED8-ACD9-4E40E5EDFCB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Flow</c:v>
                </c:pt>
              </c:strCache>
            </c:strRef>
          </c:tx>
          <c:cat>
            <c:strRef>
              <c:f>Sheet1!$A$2:$A$7</c:f>
              <c:strCache>
                <c:ptCount val="6"/>
                <c:pt idx="0">
                  <c:v>Drift</c:v>
                </c:pt>
                <c:pt idx="1">
                  <c:v>Hub</c:v>
                </c:pt>
                <c:pt idx="2">
                  <c:v>Package</c:v>
                </c:pt>
                <c:pt idx="3">
                  <c:v>Coverage</c:v>
                </c:pt>
                <c:pt idx="4">
                  <c:v>Asset</c:v>
                </c:pt>
                <c:pt idx="5">
                  <c:v>Signal</c:v>
                </c:pt>
              </c:strCache>
            </c:strRef>
          </c:cat>
          <c:val>
            <c:numRef>
              <c:f>Sheet1!$B$2:$B$7</c:f>
              <c:numCache>
                <c:formatCode>General</c:formatCode>
                <c:ptCount val="6"/>
                <c:pt idx="0">
                  <c:v>34</c:v>
                </c:pt>
                <c:pt idx="1">
                  <c:v>61</c:v>
                </c:pt>
                <c:pt idx="2">
                  <c:v>95</c:v>
                </c:pt>
                <c:pt idx="3">
                  <c:v>11</c:v>
                </c:pt>
                <c:pt idx="4">
                  <c:v>75</c:v>
                </c:pt>
                <c:pt idx="5">
                  <c:v>30</c:v>
                </c:pt>
              </c:numCache>
            </c:numRef>
          </c:val>
          <c:extLst>
            <c:ext xmlns:c16="http://schemas.microsoft.com/office/drawing/2014/chart" uri="{C3380CC4-5D6E-409C-BE32-E72D297353CC}">
              <c16:uniqueId val="{00000000-E856-4E2A-A1FC-5AB3DDBABB66}"/>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Schema Apex</a:t>
            </a:r>
          </a:p>
        </c:rich>
      </c:tx>
      <c:overlay val="0"/>
    </c:title>
    <c:autoTitleDeleted val="0"/>
    <c:plotArea>
      <c:layout/>
      <c:barChart>
        <c:barDir val="bar"/>
        <c:grouping val="clustered"/>
        <c:varyColors val="1"/>
        <c:ser>
          <c:idx val="0"/>
          <c:order val="0"/>
          <c:tx>
            <c:strRef>
              <c:f>Sheet1!$B$1</c:f>
              <c:strCache>
                <c:ptCount val="1"/>
                <c:pt idx="0">
                  <c:v>Diagram Pipeline</c:v>
                </c:pt>
              </c:strCache>
            </c:strRef>
          </c:tx>
          <c:invertIfNegative val="1"/>
          <c:cat>
            <c:strRef>
              <c:f>Sheet1!$A$2:$A$7</c:f>
              <c:strCache>
                <c:ptCount val="6"/>
                <c:pt idx="0">
                  <c:v>Heading</c:v>
                </c:pt>
                <c:pt idx="1">
                  <c:v>Topology</c:v>
                </c:pt>
                <c:pt idx="2">
                  <c:v>Iteration</c:v>
                </c:pt>
                <c:pt idx="3">
                  <c:v>Stage</c:v>
                </c:pt>
                <c:pt idx="4">
                  <c:v>Radius</c:v>
                </c:pt>
                <c:pt idx="5">
                  <c:v>Drift</c:v>
                </c:pt>
              </c:strCache>
            </c:strRef>
          </c:cat>
          <c:val>
            <c:numRef>
              <c:f>Sheet1!$B$2:$B$7</c:f>
              <c:numCache>
                <c:formatCode>General</c:formatCode>
                <c:ptCount val="6"/>
                <c:pt idx="0">
                  <c:v>48</c:v>
                </c:pt>
                <c:pt idx="1">
                  <c:v>34</c:v>
                </c:pt>
                <c:pt idx="2">
                  <c:v>23</c:v>
                </c:pt>
                <c:pt idx="3">
                  <c:v>58</c:v>
                </c:pt>
                <c:pt idx="4">
                  <c:v>61</c:v>
                </c:pt>
                <c:pt idx="5">
                  <c:v>67</c:v>
                </c:pt>
              </c:numCache>
            </c:numRef>
          </c:val>
          <c:extLst>
            <c:ext xmlns:c16="http://schemas.microsoft.com/office/drawing/2014/chart" uri="{C3380CC4-5D6E-409C-BE32-E72D297353CC}">
              <c16:uniqueId val="{00000000-01A8-4C8D-863A-BF3499B463A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Radius</c:v>
                </c:pt>
              </c:strCache>
            </c:strRef>
          </c:tx>
          <c:invertIfNegative val="1"/>
          <c:cat>
            <c:strRef>
              <c:f>Sheet1!$A$2:$A$7</c:f>
              <c:strCache>
                <c:ptCount val="6"/>
                <c:pt idx="0">
                  <c:v>Expansion</c:v>
                </c:pt>
                <c:pt idx="1">
                  <c:v>Topology</c:v>
                </c:pt>
                <c:pt idx="2">
                  <c:v>Story</c:v>
                </c:pt>
                <c:pt idx="3">
                  <c:v>Library</c:v>
                </c:pt>
                <c:pt idx="4">
                  <c:v>Schema</c:v>
                </c:pt>
                <c:pt idx="5">
                  <c:v>Action</c:v>
                </c:pt>
              </c:strCache>
            </c:strRef>
          </c:cat>
          <c:val>
            <c:numRef>
              <c:f>Sheet1!$B$2:$B$7</c:f>
              <c:numCache>
                <c:formatCode>General</c:formatCode>
                <c:ptCount val="6"/>
                <c:pt idx="0">
                  <c:v>44</c:v>
                </c:pt>
                <c:pt idx="1">
                  <c:v>23</c:v>
                </c:pt>
                <c:pt idx="2">
                  <c:v>65</c:v>
                </c:pt>
                <c:pt idx="3">
                  <c:v>58</c:v>
                </c:pt>
                <c:pt idx="4">
                  <c:v>64</c:v>
                </c:pt>
                <c:pt idx="5">
                  <c:v>21</c:v>
                </c:pt>
              </c:numCache>
            </c:numRef>
          </c:val>
          <c:extLst>
            <c:ext xmlns:c16="http://schemas.microsoft.com/office/drawing/2014/chart" uri="{C3380CC4-5D6E-409C-BE32-E72D297353CC}">
              <c16:uniqueId val="{00000000-9543-4BBA-9CF6-1517C83A0F5C}"/>
            </c:ext>
          </c:extLst>
        </c:ser>
        <c:ser>
          <c:idx val="1"/>
          <c:order val="1"/>
          <c:tx>
            <c:strRef>
              <c:f>Sheet1!$C$1</c:f>
              <c:strCache>
                <c:ptCount val="1"/>
                <c:pt idx="0">
                  <c:v>Priority Pixel</c:v>
                </c:pt>
              </c:strCache>
            </c:strRef>
          </c:tx>
          <c:invertIfNegative val="1"/>
          <c:cat>
            <c:strRef>
              <c:f>Sheet1!$A$2:$A$7</c:f>
              <c:strCache>
                <c:ptCount val="6"/>
                <c:pt idx="0">
                  <c:v>Expansion</c:v>
                </c:pt>
                <c:pt idx="1">
                  <c:v>Topology</c:v>
                </c:pt>
                <c:pt idx="2">
                  <c:v>Story</c:v>
                </c:pt>
                <c:pt idx="3">
                  <c:v>Library</c:v>
                </c:pt>
                <c:pt idx="4">
                  <c:v>Schema</c:v>
                </c:pt>
                <c:pt idx="5">
                  <c:v>Action</c:v>
                </c:pt>
              </c:strCache>
            </c:strRef>
          </c:cat>
          <c:val>
            <c:numRef>
              <c:f>Sheet1!$C$2:$C$7</c:f>
              <c:numCache>
                <c:formatCode>General</c:formatCode>
                <c:ptCount val="6"/>
                <c:pt idx="0">
                  <c:v>79</c:v>
                </c:pt>
                <c:pt idx="1">
                  <c:v>59</c:v>
                </c:pt>
                <c:pt idx="2">
                  <c:v>31</c:v>
                </c:pt>
                <c:pt idx="3">
                  <c:v>78</c:v>
                </c:pt>
                <c:pt idx="4">
                  <c:v>51</c:v>
                </c:pt>
                <c:pt idx="5">
                  <c:v>16</c:v>
                </c:pt>
              </c:numCache>
            </c:numRef>
          </c:val>
          <c:extLst>
            <c:ext xmlns:c16="http://schemas.microsoft.com/office/drawing/2014/chart" uri="{C3380CC4-5D6E-409C-BE32-E72D297353CC}">
              <c16:uniqueId val="{00000001-9543-4BBA-9CF6-1517C83A0F5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Package Pulse Radius Region Device</a:t>
            </a:r>
          </a:p>
        </c:rich>
      </c:tx>
      <c:overlay val="0"/>
    </c:title>
    <c:autoTitleDeleted val="0"/>
    <c:plotArea>
      <c:layout/>
      <c:doughnutChart>
        <c:varyColors val="1"/>
        <c:ser>
          <c:idx val="0"/>
          <c:order val="0"/>
          <c:tx>
            <c:strRef>
              <c:f>Sheet1!$B$1</c:f>
              <c:strCache>
                <c:ptCount val="1"/>
                <c:pt idx="0">
                  <c:v>Context Method</c:v>
                </c:pt>
              </c:strCache>
            </c:strRef>
          </c:tx>
          <c:cat>
            <c:strRef>
              <c:f>Sheet1!$A$2:$A$4</c:f>
              <c:strCache>
                <c:ptCount val="3"/>
                <c:pt idx="0">
                  <c:v>Alpha</c:v>
                </c:pt>
                <c:pt idx="1">
                  <c:v>Source</c:v>
                </c:pt>
                <c:pt idx="2">
                  <c:v>Plan</c:v>
                </c:pt>
              </c:strCache>
            </c:strRef>
          </c:cat>
          <c:val>
            <c:numRef>
              <c:f>Sheet1!$B$2:$B$4</c:f>
              <c:numCache>
                <c:formatCode>General</c:formatCode>
                <c:ptCount val="3"/>
                <c:pt idx="0">
                  <c:v>47</c:v>
                </c:pt>
                <c:pt idx="1">
                  <c:v>44</c:v>
                </c:pt>
                <c:pt idx="2">
                  <c:v>38</c:v>
                </c:pt>
              </c:numCache>
            </c:numRef>
          </c:val>
          <c:extLst>
            <c:ext xmlns:c16="http://schemas.microsoft.com/office/drawing/2014/chart" uri="{C3380CC4-5D6E-409C-BE32-E72D297353CC}">
              <c16:uniqueId val="{00000000-F2E7-43FA-BE82-BF077B5CBE09}"/>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Case Link</a:t>
            </a:r>
          </a:p>
        </c:rich>
      </c:tx>
      <c:overlay val="0"/>
    </c:title>
    <c:autoTitleDeleted val="0"/>
    <c:plotArea>
      <c:layout/>
      <c:pieChart>
        <c:varyColors val="1"/>
        <c:ser>
          <c:idx val="0"/>
          <c:order val="0"/>
          <c:tx>
            <c:strRef>
              <c:f>Sheet1!$B$1</c:f>
              <c:strCache>
                <c:ptCount val="1"/>
                <c:pt idx="0">
                  <c:v>Cluster</c:v>
                </c:pt>
              </c:strCache>
            </c:strRef>
          </c:tx>
          <c:cat>
            <c:strRef>
              <c:f>Sheet1!$A$2:$A$4</c:f>
              <c:strCache>
                <c:ptCount val="3"/>
                <c:pt idx="0">
                  <c:v>Baseline</c:v>
                </c:pt>
                <c:pt idx="1">
                  <c:v>Heading</c:v>
                </c:pt>
                <c:pt idx="2">
                  <c:v>Expansion</c:v>
                </c:pt>
              </c:strCache>
            </c:strRef>
          </c:cat>
          <c:val>
            <c:numRef>
              <c:f>Sheet1!$B$2:$B$4</c:f>
              <c:numCache>
                <c:formatCode>General</c:formatCode>
                <c:ptCount val="3"/>
                <c:pt idx="0">
                  <c:v>82</c:v>
                </c:pt>
                <c:pt idx="1">
                  <c:v>30</c:v>
                </c:pt>
                <c:pt idx="2">
                  <c:v>35</c:v>
                </c:pt>
              </c:numCache>
            </c:numRef>
          </c:val>
          <c:extLst>
            <c:ext xmlns:c16="http://schemas.microsoft.com/office/drawing/2014/chart" uri="{C3380CC4-5D6E-409C-BE32-E72D297353CC}">
              <c16:uniqueId val="{00000000-ACF2-46AE-9032-0DF2DF77CA10}"/>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Register Array Option Orbit</a:t>
            </a:r>
          </a:p>
        </c:rich>
      </c:tx>
      <c:overlay val="0"/>
    </c:title>
    <c:autoTitleDeleted val="0"/>
    <c:plotArea>
      <c:layout/>
      <c:areaChart>
        <c:grouping val="standard"/>
        <c:varyColors val="0"/>
        <c:ser>
          <c:idx val="0"/>
          <c:order val="0"/>
          <c:tx>
            <c:strRef>
              <c:f>Sheet1!$B$1</c:f>
              <c:strCache>
                <c:ptCount val="1"/>
                <c:pt idx="0">
                  <c:v>Reserve Sequence</c:v>
                </c:pt>
              </c:strCache>
            </c:strRef>
          </c:tx>
          <c:cat>
            <c:strRef>
              <c:f>Sheet1!$A$2:$A$6</c:f>
              <c:strCache>
                <c:ptCount val="5"/>
                <c:pt idx="0">
                  <c:v>Echo</c:v>
                </c:pt>
                <c:pt idx="1">
                  <c:v>Deck</c:v>
                </c:pt>
                <c:pt idx="2">
                  <c:v>Connector</c:v>
                </c:pt>
                <c:pt idx="3">
                  <c:v>Detail</c:v>
                </c:pt>
                <c:pt idx="4">
                  <c:v>Event</c:v>
                </c:pt>
              </c:strCache>
            </c:strRef>
          </c:cat>
          <c:val>
            <c:numRef>
              <c:f>Sheet1!$B$2:$B$6</c:f>
              <c:numCache>
                <c:formatCode>General</c:formatCode>
                <c:ptCount val="5"/>
                <c:pt idx="0">
                  <c:v>58</c:v>
                </c:pt>
                <c:pt idx="1">
                  <c:v>82</c:v>
                </c:pt>
                <c:pt idx="2">
                  <c:v>8</c:v>
                </c:pt>
                <c:pt idx="3">
                  <c:v>25</c:v>
                </c:pt>
                <c:pt idx="4">
                  <c:v>29</c:v>
                </c:pt>
              </c:numCache>
            </c:numRef>
          </c:val>
          <c:extLst>
            <c:ext xmlns:c16="http://schemas.microsoft.com/office/drawing/2014/chart" uri="{C3380CC4-5D6E-409C-BE32-E72D297353CC}">
              <c16:uniqueId val="{00000000-FBAA-4C0B-82E3-7DD804AA1316}"/>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Range Inventory</c:v>
                </c:pt>
              </c:strCache>
            </c:strRef>
          </c:tx>
          <c:cat>
            <c:strRef>
              <c:f>Sheet1!$A$2:$A$7</c:f>
              <c:strCache>
                <c:ptCount val="6"/>
                <c:pt idx="0">
                  <c:v>Viewport</c:v>
                </c:pt>
                <c:pt idx="1">
                  <c:v>Track</c:v>
                </c:pt>
                <c:pt idx="2">
                  <c:v>Audit</c:v>
                </c:pt>
                <c:pt idx="3">
                  <c:v>Ledger</c:v>
                </c:pt>
                <c:pt idx="4">
                  <c:v>Review</c:v>
                </c:pt>
                <c:pt idx="5">
                  <c:v>Marker</c:v>
                </c:pt>
              </c:strCache>
            </c:strRef>
          </c:cat>
          <c:val>
            <c:numRef>
              <c:f>Sheet1!$B$2:$B$7</c:f>
              <c:numCache>
                <c:formatCode>General</c:formatCode>
                <c:ptCount val="6"/>
                <c:pt idx="0">
                  <c:v>79</c:v>
                </c:pt>
                <c:pt idx="1">
                  <c:v>51</c:v>
                </c:pt>
                <c:pt idx="2">
                  <c:v>43</c:v>
                </c:pt>
                <c:pt idx="3">
                  <c:v>14</c:v>
                </c:pt>
                <c:pt idx="4">
                  <c:v>48</c:v>
                </c:pt>
                <c:pt idx="5">
                  <c:v>25</c:v>
                </c:pt>
              </c:numCache>
            </c:numRef>
          </c:val>
          <c:extLst>
            <c:ext xmlns:c16="http://schemas.microsoft.com/office/drawing/2014/chart" uri="{C3380CC4-5D6E-409C-BE32-E72D297353CC}">
              <c16:uniqueId val="{00000000-82D8-4AFE-99A4-5051BBF599F4}"/>
            </c:ext>
          </c:extLst>
        </c:ser>
        <c:ser>
          <c:idx val="1"/>
          <c:order val="1"/>
          <c:tx>
            <c:strRef>
              <c:f>Sheet1!$C$1</c:f>
              <c:strCache>
                <c:ptCount val="1"/>
                <c:pt idx="0">
                  <c:v>Scope</c:v>
                </c:pt>
              </c:strCache>
            </c:strRef>
          </c:tx>
          <c:cat>
            <c:strRef>
              <c:f>Sheet1!$A$2:$A$7</c:f>
              <c:strCache>
                <c:ptCount val="6"/>
                <c:pt idx="0">
                  <c:v>Viewport</c:v>
                </c:pt>
                <c:pt idx="1">
                  <c:v>Track</c:v>
                </c:pt>
                <c:pt idx="2">
                  <c:v>Audit</c:v>
                </c:pt>
                <c:pt idx="3">
                  <c:v>Ledger</c:v>
                </c:pt>
                <c:pt idx="4">
                  <c:v>Review</c:v>
                </c:pt>
                <c:pt idx="5">
                  <c:v>Marker</c:v>
                </c:pt>
              </c:strCache>
            </c:strRef>
          </c:cat>
          <c:val>
            <c:numRef>
              <c:f>Sheet1!$C$2:$C$7</c:f>
              <c:numCache>
                <c:formatCode>General</c:formatCode>
                <c:ptCount val="6"/>
                <c:pt idx="0">
                  <c:v>46</c:v>
                </c:pt>
                <c:pt idx="1">
                  <c:v>28</c:v>
                </c:pt>
                <c:pt idx="2">
                  <c:v>49</c:v>
                </c:pt>
                <c:pt idx="3">
                  <c:v>37</c:v>
                </c:pt>
                <c:pt idx="4">
                  <c:v>71</c:v>
                </c:pt>
                <c:pt idx="5">
                  <c:v>89</c:v>
                </c:pt>
              </c:numCache>
            </c:numRef>
          </c:val>
          <c:extLst>
            <c:ext xmlns:c16="http://schemas.microsoft.com/office/drawing/2014/chart" uri="{C3380CC4-5D6E-409C-BE32-E72D297353CC}">
              <c16:uniqueId val="{00000001-82D8-4AFE-99A4-5051BBF599F4}"/>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Program Velocity Heading</a:t>
            </a:r>
          </a:p>
        </c:rich>
      </c:tx>
      <c:overlay val="0"/>
    </c:title>
    <c:autoTitleDeleted val="0"/>
    <c:plotArea>
      <c:layout/>
      <c:barChart>
        <c:barDir val="bar"/>
        <c:grouping val="clustered"/>
        <c:varyColors val="1"/>
        <c:ser>
          <c:idx val="0"/>
          <c:order val="0"/>
          <c:tx>
            <c:strRef>
              <c:f>Sheet1!$B$1</c:f>
              <c:strCache>
                <c:ptCount val="1"/>
                <c:pt idx="0">
                  <c:v>Signal Panel</c:v>
                </c:pt>
              </c:strCache>
            </c:strRef>
          </c:tx>
          <c:invertIfNegative val="1"/>
          <c:cat>
            <c:strRef>
              <c:f>Sheet1!$A$2:$A$6</c:f>
              <c:strCache>
                <c:ptCount val="5"/>
                <c:pt idx="0">
                  <c:v>Metric</c:v>
                </c:pt>
                <c:pt idx="1">
                  <c:v>Asset</c:v>
                </c:pt>
                <c:pt idx="2">
                  <c:v>Model</c:v>
                </c:pt>
                <c:pt idx="3">
                  <c:v>Review</c:v>
                </c:pt>
                <c:pt idx="4">
                  <c:v>Engine</c:v>
                </c:pt>
              </c:strCache>
            </c:strRef>
          </c:cat>
          <c:val>
            <c:numRef>
              <c:f>Sheet1!$B$2:$B$6</c:f>
              <c:numCache>
                <c:formatCode>General</c:formatCode>
                <c:ptCount val="5"/>
                <c:pt idx="0">
                  <c:v>95</c:v>
                </c:pt>
                <c:pt idx="1">
                  <c:v>74</c:v>
                </c:pt>
                <c:pt idx="2">
                  <c:v>58</c:v>
                </c:pt>
                <c:pt idx="3">
                  <c:v>70</c:v>
                </c:pt>
                <c:pt idx="4">
                  <c:v>54</c:v>
                </c:pt>
              </c:numCache>
            </c:numRef>
          </c:val>
          <c:extLst>
            <c:ext xmlns:c16="http://schemas.microsoft.com/office/drawing/2014/chart" uri="{C3380CC4-5D6E-409C-BE32-E72D297353CC}">
              <c16:uniqueId val="{00000000-103A-41CF-A32B-48A410F86322}"/>
            </c:ext>
          </c:extLst>
        </c:ser>
        <c:ser>
          <c:idx val="1"/>
          <c:order val="1"/>
          <c:tx>
            <c:strRef>
              <c:f>Sheet1!$C$1</c:f>
              <c:strCache>
                <c:ptCount val="1"/>
                <c:pt idx="0">
                  <c:v>Indicator Velocity</c:v>
                </c:pt>
              </c:strCache>
            </c:strRef>
          </c:tx>
          <c:invertIfNegative val="1"/>
          <c:cat>
            <c:strRef>
              <c:f>Sheet1!$A$2:$A$6</c:f>
              <c:strCache>
                <c:ptCount val="5"/>
                <c:pt idx="0">
                  <c:v>Metric</c:v>
                </c:pt>
                <c:pt idx="1">
                  <c:v>Asset</c:v>
                </c:pt>
                <c:pt idx="2">
                  <c:v>Model</c:v>
                </c:pt>
                <c:pt idx="3">
                  <c:v>Review</c:v>
                </c:pt>
                <c:pt idx="4">
                  <c:v>Engine</c:v>
                </c:pt>
              </c:strCache>
            </c:strRef>
          </c:cat>
          <c:val>
            <c:numRef>
              <c:f>Sheet1!$C$2:$C$6</c:f>
              <c:numCache>
                <c:formatCode>General</c:formatCode>
                <c:ptCount val="5"/>
                <c:pt idx="0">
                  <c:v>92</c:v>
                </c:pt>
                <c:pt idx="1">
                  <c:v>20</c:v>
                </c:pt>
                <c:pt idx="2">
                  <c:v>13</c:v>
                </c:pt>
                <c:pt idx="3">
                  <c:v>37</c:v>
                </c:pt>
                <c:pt idx="4">
                  <c:v>27</c:v>
                </c:pt>
              </c:numCache>
            </c:numRef>
          </c:val>
          <c:extLst>
            <c:ext xmlns:c16="http://schemas.microsoft.com/office/drawing/2014/chart" uri="{C3380CC4-5D6E-409C-BE32-E72D297353CC}">
              <c16:uniqueId val="{00000001-103A-41CF-A32B-48A410F8632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Review Array Method Detail Segment</a:t>
            </a:r>
          </a:p>
        </c:rich>
      </c:tx>
      <c:overlay val="0"/>
    </c:title>
    <c:autoTitleDeleted val="0"/>
    <c:plotArea>
      <c:layout/>
      <c:pieChart>
        <c:varyColors val="1"/>
        <c:ser>
          <c:idx val="0"/>
          <c:order val="0"/>
          <c:tx>
            <c:strRef>
              <c:f>Sheet1!$B$1</c:f>
              <c:strCache>
                <c:ptCount val="1"/>
                <c:pt idx="0">
                  <c:v>Metric</c:v>
                </c:pt>
              </c:strCache>
            </c:strRef>
          </c:tx>
          <c:cat>
            <c:strRef>
              <c:f>Sheet1!$A$2:$A$5</c:f>
              <c:strCache>
                <c:ptCount val="4"/>
                <c:pt idx="0">
                  <c:v>Structure</c:v>
                </c:pt>
                <c:pt idx="1">
                  <c:v>Kernel</c:v>
                </c:pt>
                <c:pt idx="2">
                  <c:v>Graph</c:v>
                </c:pt>
                <c:pt idx="3">
                  <c:v>Pulse</c:v>
                </c:pt>
              </c:strCache>
            </c:strRef>
          </c:cat>
          <c:val>
            <c:numRef>
              <c:f>Sheet1!$B$2:$B$5</c:f>
              <c:numCache>
                <c:formatCode>General</c:formatCode>
                <c:ptCount val="4"/>
                <c:pt idx="0">
                  <c:v>27</c:v>
                </c:pt>
                <c:pt idx="1">
                  <c:v>75</c:v>
                </c:pt>
                <c:pt idx="2">
                  <c:v>92</c:v>
                </c:pt>
                <c:pt idx="3">
                  <c:v>62</c:v>
                </c:pt>
              </c:numCache>
            </c:numRef>
          </c:val>
          <c:extLst>
            <c:ext xmlns:c16="http://schemas.microsoft.com/office/drawing/2014/chart" uri="{C3380CC4-5D6E-409C-BE32-E72D297353CC}">
              <c16:uniqueId val="{00000000-348C-452E-9CF1-E76DCB13D146}"/>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Instance Brief</c:v>
                </c:pt>
              </c:strCache>
            </c:strRef>
          </c:tx>
          <c:cat>
            <c:strRef>
              <c:f>Sheet1!$A$2:$A$6</c:f>
              <c:strCache>
                <c:ptCount val="5"/>
                <c:pt idx="0">
                  <c:v>Intent</c:v>
                </c:pt>
                <c:pt idx="1">
                  <c:v>Track</c:v>
                </c:pt>
                <c:pt idx="2">
                  <c:v>Factor</c:v>
                </c:pt>
                <c:pt idx="3">
                  <c:v>Scope</c:v>
                </c:pt>
                <c:pt idx="4">
                  <c:v>Object</c:v>
                </c:pt>
              </c:strCache>
            </c:strRef>
          </c:cat>
          <c:val>
            <c:numRef>
              <c:f>Sheet1!$B$2:$B$6</c:f>
              <c:numCache>
                <c:formatCode>General</c:formatCode>
                <c:ptCount val="5"/>
                <c:pt idx="0">
                  <c:v>31</c:v>
                </c:pt>
                <c:pt idx="1">
                  <c:v>46</c:v>
                </c:pt>
                <c:pt idx="2">
                  <c:v>76</c:v>
                </c:pt>
                <c:pt idx="3">
                  <c:v>69</c:v>
                </c:pt>
                <c:pt idx="4">
                  <c:v>20</c:v>
                </c:pt>
              </c:numCache>
            </c:numRef>
          </c:val>
          <c:smooth val="0"/>
          <c:extLst>
            <c:ext xmlns:c16="http://schemas.microsoft.com/office/drawing/2014/chart" uri="{C3380CC4-5D6E-409C-BE32-E72D297353CC}">
              <c16:uniqueId val="{00000000-7121-4F78-93BC-F7D1738DA2A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Ledger Register Signal</a:t>
            </a:r>
          </a:p>
        </c:rich>
      </c:tx>
      <c:overlay val="0"/>
    </c:title>
    <c:autoTitleDeleted val="0"/>
    <c:plotArea>
      <c:layout/>
      <c:barChart>
        <c:barDir val="bar"/>
        <c:grouping val="clustered"/>
        <c:varyColors val="1"/>
        <c:ser>
          <c:idx val="0"/>
          <c:order val="0"/>
          <c:tx>
            <c:strRef>
              <c:f>Sheet1!$B$1</c:f>
              <c:strCache>
                <c:ptCount val="1"/>
                <c:pt idx="0">
                  <c:v>Friction Stream</c:v>
                </c:pt>
              </c:strCache>
            </c:strRef>
          </c:tx>
          <c:invertIfNegative val="1"/>
          <c:cat>
            <c:strRef>
              <c:f>Sheet1!$A$2:$A$6</c:f>
              <c:strCache>
                <c:ptCount val="5"/>
                <c:pt idx="0">
                  <c:v>Filter</c:v>
                </c:pt>
                <c:pt idx="1">
                  <c:v>Feature</c:v>
                </c:pt>
                <c:pt idx="2">
                  <c:v>Energy</c:v>
                </c:pt>
                <c:pt idx="3">
                  <c:v>Packet</c:v>
                </c:pt>
                <c:pt idx="4">
                  <c:v>Atlas</c:v>
                </c:pt>
              </c:strCache>
            </c:strRef>
          </c:cat>
          <c:val>
            <c:numRef>
              <c:f>Sheet1!$B$2:$B$6</c:f>
              <c:numCache>
                <c:formatCode>General</c:formatCode>
                <c:ptCount val="5"/>
                <c:pt idx="0">
                  <c:v>30</c:v>
                </c:pt>
                <c:pt idx="1">
                  <c:v>36</c:v>
                </c:pt>
                <c:pt idx="2">
                  <c:v>31</c:v>
                </c:pt>
                <c:pt idx="3">
                  <c:v>46</c:v>
                </c:pt>
                <c:pt idx="4">
                  <c:v>49</c:v>
                </c:pt>
              </c:numCache>
            </c:numRef>
          </c:val>
          <c:extLst>
            <c:ext xmlns:c16="http://schemas.microsoft.com/office/drawing/2014/chart" uri="{C3380CC4-5D6E-409C-BE32-E72D297353CC}">
              <c16:uniqueId val="{00000000-96FA-44F6-B45F-69481544352C}"/>
            </c:ext>
          </c:extLst>
        </c:ser>
        <c:ser>
          <c:idx val="1"/>
          <c:order val="1"/>
          <c:tx>
            <c:strRef>
              <c:f>Sheet1!$C$1</c:f>
              <c:strCache>
                <c:ptCount val="1"/>
                <c:pt idx="0">
                  <c:v>Payload</c:v>
                </c:pt>
              </c:strCache>
            </c:strRef>
          </c:tx>
          <c:invertIfNegative val="1"/>
          <c:cat>
            <c:strRef>
              <c:f>Sheet1!$A$2:$A$6</c:f>
              <c:strCache>
                <c:ptCount val="5"/>
                <c:pt idx="0">
                  <c:v>Filter</c:v>
                </c:pt>
                <c:pt idx="1">
                  <c:v>Feature</c:v>
                </c:pt>
                <c:pt idx="2">
                  <c:v>Energy</c:v>
                </c:pt>
                <c:pt idx="3">
                  <c:v>Packet</c:v>
                </c:pt>
                <c:pt idx="4">
                  <c:v>Atlas</c:v>
                </c:pt>
              </c:strCache>
            </c:strRef>
          </c:cat>
          <c:val>
            <c:numRef>
              <c:f>Sheet1!$C$2:$C$6</c:f>
              <c:numCache>
                <c:formatCode>General</c:formatCode>
                <c:ptCount val="5"/>
                <c:pt idx="0">
                  <c:v>18</c:v>
                </c:pt>
                <c:pt idx="1">
                  <c:v>24</c:v>
                </c:pt>
                <c:pt idx="2">
                  <c:v>46</c:v>
                </c:pt>
                <c:pt idx="3">
                  <c:v>81</c:v>
                </c:pt>
                <c:pt idx="4">
                  <c:v>60</c:v>
                </c:pt>
              </c:numCache>
            </c:numRef>
          </c:val>
          <c:extLst>
            <c:ext xmlns:c16="http://schemas.microsoft.com/office/drawing/2014/chart" uri="{C3380CC4-5D6E-409C-BE32-E72D297353CC}">
              <c16:uniqueId val="{00000001-96FA-44F6-B45F-69481544352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Connector Workflow Origin</a:t>
            </a:r>
          </a:p>
        </c:rich>
      </c:tx>
      <c:overlay val="0"/>
    </c:title>
    <c:autoTitleDeleted val="0"/>
    <c:plotArea>
      <c:layout/>
      <c:doughnutChart>
        <c:varyColors val="1"/>
        <c:ser>
          <c:idx val="0"/>
          <c:order val="0"/>
          <c:tx>
            <c:strRef>
              <c:f>Sheet1!$B$1</c:f>
              <c:strCache>
                <c:ptCount val="1"/>
                <c:pt idx="0">
                  <c:v>Goal Blueprint</c:v>
                </c:pt>
              </c:strCache>
            </c:strRef>
          </c:tx>
          <c:cat>
            <c:strRef>
              <c:f>Sheet1!$A$2:$A$5</c:f>
              <c:strCache>
                <c:ptCount val="4"/>
                <c:pt idx="0">
                  <c:v>Profile</c:v>
                </c:pt>
                <c:pt idx="1">
                  <c:v>Dispatch</c:v>
                </c:pt>
                <c:pt idx="2">
                  <c:v>Case</c:v>
                </c:pt>
                <c:pt idx="3">
                  <c:v>Benchmark</c:v>
                </c:pt>
              </c:strCache>
            </c:strRef>
          </c:cat>
          <c:val>
            <c:numRef>
              <c:f>Sheet1!$B$2:$B$5</c:f>
              <c:numCache>
                <c:formatCode>General</c:formatCode>
                <c:ptCount val="4"/>
                <c:pt idx="0">
                  <c:v>46</c:v>
                </c:pt>
                <c:pt idx="1">
                  <c:v>10</c:v>
                </c:pt>
                <c:pt idx="2">
                  <c:v>56</c:v>
                </c:pt>
                <c:pt idx="3">
                  <c:v>41</c:v>
                </c:pt>
              </c:numCache>
            </c:numRef>
          </c:val>
          <c:extLst>
            <c:ext xmlns:c16="http://schemas.microsoft.com/office/drawing/2014/chart" uri="{C3380CC4-5D6E-409C-BE32-E72D297353CC}">
              <c16:uniqueId val="{00000000-935F-4D69-9021-8CF5926853C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0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Measure Benchmark</a:t>
            </a:r>
          </a:p>
        </c:rich>
      </c:tx>
      <c:overlay val="0"/>
    </c:title>
    <c:autoTitleDeleted val="0"/>
    <c:plotArea>
      <c:layout/>
      <c:barChart>
        <c:barDir val="bar"/>
        <c:grouping val="clustered"/>
        <c:varyColors val="1"/>
        <c:ser>
          <c:idx val="0"/>
          <c:order val="0"/>
          <c:tx>
            <c:strRef>
              <c:f>Sheet1!$B$1</c:f>
              <c:strCache>
                <c:ptCount val="1"/>
                <c:pt idx="0">
                  <c:v>Group</c:v>
                </c:pt>
              </c:strCache>
            </c:strRef>
          </c:tx>
          <c:invertIfNegative val="1"/>
          <c:cat>
            <c:strRef>
              <c:f>Sheet1!$A$2:$A$5</c:f>
              <c:strCache>
                <c:ptCount val="4"/>
                <c:pt idx="0">
                  <c:v>Transform</c:v>
                </c:pt>
                <c:pt idx="1">
                  <c:v>Anchor</c:v>
                </c:pt>
                <c:pt idx="2">
                  <c:v>Span</c:v>
                </c:pt>
                <c:pt idx="3">
                  <c:v>Archive</c:v>
                </c:pt>
              </c:strCache>
            </c:strRef>
          </c:cat>
          <c:val>
            <c:numRef>
              <c:f>Sheet1!$B$2:$B$5</c:f>
              <c:numCache>
                <c:formatCode>General</c:formatCode>
                <c:ptCount val="4"/>
                <c:pt idx="0">
                  <c:v>54</c:v>
                </c:pt>
                <c:pt idx="1">
                  <c:v>65</c:v>
                </c:pt>
                <c:pt idx="2">
                  <c:v>15</c:v>
                </c:pt>
                <c:pt idx="3">
                  <c:v>21</c:v>
                </c:pt>
              </c:numCache>
            </c:numRef>
          </c:val>
          <c:extLst>
            <c:ext xmlns:c16="http://schemas.microsoft.com/office/drawing/2014/chart" uri="{C3380CC4-5D6E-409C-BE32-E72D297353CC}">
              <c16:uniqueId val="{00000000-1BC7-4172-B11B-908D803B43C4}"/>
            </c:ext>
          </c:extLst>
        </c:ser>
        <c:ser>
          <c:idx val="1"/>
          <c:order val="1"/>
          <c:tx>
            <c:strRef>
              <c:f>Sheet1!$C$1</c:f>
              <c:strCache>
                <c:ptCount val="1"/>
                <c:pt idx="0">
                  <c:v>Beta Field</c:v>
                </c:pt>
              </c:strCache>
            </c:strRef>
          </c:tx>
          <c:invertIfNegative val="1"/>
          <c:cat>
            <c:strRef>
              <c:f>Sheet1!$A$2:$A$5</c:f>
              <c:strCache>
                <c:ptCount val="4"/>
                <c:pt idx="0">
                  <c:v>Transform</c:v>
                </c:pt>
                <c:pt idx="1">
                  <c:v>Anchor</c:v>
                </c:pt>
                <c:pt idx="2">
                  <c:v>Span</c:v>
                </c:pt>
                <c:pt idx="3">
                  <c:v>Archive</c:v>
                </c:pt>
              </c:strCache>
            </c:strRef>
          </c:cat>
          <c:val>
            <c:numRef>
              <c:f>Sheet1!$C$2:$C$5</c:f>
              <c:numCache>
                <c:formatCode>General</c:formatCode>
                <c:ptCount val="4"/>
                <c:pt idx="0">
                  <c:v>94</c:v>
                </c:pt>
                <c:pt idx="1">
                  <c:v>59</c:v>
                </c:pt>
                <c:pt idx="2">
                  <c:v>81</c:v>
                </c:pt>
                <c:pt idx="3">
                  <c:v>94</c:v>
                </c:pt>
              </c:numCache>
            </c:numRef>
          </c:val>
          <c:extLst>
            <c:ext xmlns:c16="http://schemas.microsoft.com/office/drawing/2014/chart" uri="{C3380CC4-5D6E-409C-BE32-E72D297353CC}">
              <c16:uniqueId val="{00000001-1BC7-4172-B11B-908D803B43C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0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North Interface</c:v>
                </c:pt>
              </c:strCache>
            </c:strRef>
          </c:tx>
          <c:cat>
            <c:strRef>
              <c:f>Sheet1!$A$2:$A$6</c:f>
              <c:strCache>
                <c:ptCount val="5"/>
                <c:pt idx="0">
                  <c:v>Trend</c:v>
                </c:pt>
                <c:pt idx="1">
                  <c:v>Filter</c:v>
                </c:pt>
                <c:pt idx="2">
                  <c:v>Profile</c:v>
                </c:pt>
                <c:pt idx="3">
                  <c:v>Map</c:v>
                </c:pt>
                <c:pt idx="4">
                  <c:v>Measure</c:v>
                </c:pt>
              </c:strCache>
            </c:strRef>
          </c:cat>
          <c:val>
            <c:numRef>
              <c:f>Sheet1!$B$2:$B$6</c:f>
              <c:numCache>
                <c:formatCode>General</c:formatCode>
                <c:ptCount val="5"/>
                <c:pt idx="0">
                  <c:v>87</c:v>
                </c:pt>
                <c:pt idx="1">
                  <c:v>44</c:v>
                </c:pt>
                <c:pt idx="2">
                  <c:v>74</c:v>
                </c:pt>
                <c:pt idx="3">
                  <c:v>89</c:v>
                </c:pt>
                <c:pt idx="4">
                  <c:v>8</c:v>
                </c:pt>
              </c:numCache>
            </c:numRef>
          </c:val>
          <c:extLst>
            <c:ext xmlns:c16="http://schemas.microsoft.com/office/drawing/2014/chart" uri="{C3380CC4-5D6E-409C-BE32-E72D297353CC}">
              <c16:uniqueId val="{00000000-F63F-4BE1-9AD2-6250AF471393}"/>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0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Trend Array Review</a:t>
            </a:r>
          </a:p>
        </c:rich>
      </c:tx>
      <c:overlay val="0"/>
    </c:title>
    <c:autoTitleDeleted val="0"/>
    <c:plotArea>
      <c:layout/>
      <c:barChart>
        <c:barDir val="col"/>
        <c:grouping val="clustered"/>
        <c:varyColors val="1"/>
        <c:ser>
          <c:idx val="0"/>
          <c:order val="0"/>
          <c:tx>
            <c:strRef>
              <c:f>Sheet1!$B$1</c:f>
              <c:strCache>
                <c:ptCount val="1"/>
                <c:pt idx="0">
                  <c:v>Deck</c:v>
                </c:pt>
              </c:strCache>
            </c:strRef>
          </c:tx>
          <c:invertIfNegative val="1"/>
          <c:cat>
            <c:strRef>
              <c:f>Sheet1!$A$2:$A$5</c:f>
              <c:strCache>
                <c:ptCount val="4"/>
                <c:pt idx="0">
                  <c:v>Vector</c:v>
                </c:pt>
                <c:pt idx="1">
                  <c:v>Compass</c:v>
                </c:pt>
                <c:pt idx="2">
                  <c:v>Terminal</c:v>
                </c:pt>
                <c:pt idx="3">
                  <c:v>Flow</c:v>
                </c:pt>
              </c:strCache>
            </c:strRef>
          </c:cat>
          <c:val>
            <c:numRef>
              <c:f>Sheet1!$B$2:$B$5</c:f>
              <c:numCache>
                <c:formatCode>General</c:formatCode>
                <c:ptCount val="4"/>
                <c:pt idx="0">
                  <c:v>9</c:v>
                </c:pt>
                <c:pt idx="1">
                  <c:v>37</c:v>
                </c:pt>
                <c:pt idx="2">
                  <c:v>90</c:v>
                </c:pt>
                <c:pt idx="3">
                  <c:v>54</c:v>
                </c:pt>
              </c:numCache>
            </c:numRef>
          </c:val>
          <c:extLst>
            <c:ext xmlns:c16="http://schemas.microsoft.com/office/drawing/2014/chart" uri="{C3380CC4-5D6E-409C-BE32-E72D297353CC}">
              <c16:uniqueId val="{00000000-F2A8-4D89-9F1E-C8F6421FFD5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0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Energy Module</a:t>
            </a:r>
          </a:p>
        </c:rich>
      </c:tx>
      <c:overlay val="0"/>
    </c:title>
    <c:autoTitleDeleted val="0"/>
    <c:plotArea>
      <c:layout/>
      <c:lineChart>
        <c:grouping val="standard"/>
        <c:varyColors val="0"/>
        <c:ser>
          <c:idx val="0"/>
          <c:order val="0"/>
          <c:tx>
            <c:strRef>
              <c:f>Sheet1!$B$1</c:f>
              <c:strCache>
                <c:ptCount val="1"/>
                <c:pt idx="0">
                  <c:v>Direction</c:v>
                </c:pt>
              </c:strCache>
            </c:strRef>
          </c:tx>
          <c:cat>
            <c:strRef>
              <c:f>Sheet1!$A$2:$A$6</c:f>
              <c:strCache>
                <c:ptCount val="5"/>
                <c:pt idx="0">
                  <c:v>Program</c:v>
                </c:pt>
                <c:pt idx="1">
                  <c:v>Ledger</c:v>
                </c:pt>
                <c:pt idx="2">
                  <c:v>Cluster</c:v>
                </c:pt>
                <c:pt idx="3">
                  <c:v>Atlas</c:v>
                </c:pt>
                <c:pt idx="4">
                  <c:v>Relay</c:v>
                </c:pt>
              </c:strCache>
            </c:strRef>
          </c:cat>
          <c:val>
            <c:numRef>
              <c:f>Sheet1!$B$2:$B$6</c:f>
              <c:numCache>
                <c:formatCode>General</c:formatCode>
                <c:ptCount val="5"/>
                <c:pt idx="0">
                  <c:v>90</c:v>
                </c:pt>
                <c:pt idx="1">
                  <c:v>36</c:v>
                </c:pt>
                <c:pt idx="2">
                  <c:v>67</c:v>
                </c:pt>
                <c:pt idx="3">
                  <c:v>66</c:v>
                </c:pt>
                <c:pt idx="4">
                  <c:v>56</c:v>
                </c:pt>
              </c:numCache>
            </c:numRef>
          </c:val>
          <c:smooth val="0"/>
          <c:extLst>
            <c:ext xmlns:c16="http://schemas.microsoft.com/office/drawing/2014/chart" uri="{C3380CC4-5D6E-409C-BE32-E72D297353CC}">
              <c16:uniqueId val="{00000000-5541-4896-B1BC-62FD2C584A1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0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Foundation Lens Discovery Foundation Package</a:t>
            </a:r>
          </a:p>
        </c:rich>
      </c:tx>
      <c:overlay val="0"/>
    </c:title>
    <c:autoTitleDeleted val="0"/>
    <c:plotArea>
      <c:layout/>
      <c:doughnutChart>
        <c:varyColors val="1"/>
        <c:ser>
          <c:idx val="0"/>
          <c:order val="0"/>
          <c:tx>
            <c:strRef>
              <c:f>Sheet1!$B$1</c:f>
              <c:strCache>
                <c:ptCount val="1"/>
                <c:pt idx="0">
                  <c:v>Process Output</c:v>
                </c:pt>
              </c:strCache>
            </c:strRef>
          </c:tx>
          <c:cat>
            <c:strRef>
              <c:f>Sheet1!$A$2:$A$5</c:f>
              <c:strCache>
                <c:ptCount val="4"/>
                <c:pt idx="0">
                  <c:v>Alpha</c:v>
                </c:pt>
                <c:pt idx="1">
                  <c:v>Connector</c:v>
                </c:pt>
                <c:pt idx="2">
                  <c:v>Pattern</c:v>
                </c:pt>
                <c:pt idx="3">
                  <c:v>Option</c:v>
                </c:pt>
              </c:strCache>
            </c:strRef>
          </c:cat>
          <c:val>
            <c:numRef>
              <c:f>Sheet1!$B$2:$B$5</c:f>
              <c:numCache>
                <c:formatCode>General</c:formatCode>
                <c:ptCount val="4"/>
                <c:pt idx="0">
                  <c:v>11</c:v>
                </c:pt>
                <c:pt idx="1">
                  <c:v>37</c:v>
                </c:pt>
                <c:pt idx="2">
                  <c:v>78</c:v>
                </c:pt>
                <c:pt idx="3">
                  <c:v>69</c:v>
                </c:pt>
              </c:numCache>
            </c:numRef>
          </c:val>
          <c:extLst>
            <c:ext xmlns:c16="http://schemas.microsoft.com/office/drawing/2014/chart" uri="{C3380CC4-5D6E-409C-BE32-E72D297353CC}">
              <c16:uniqueId val="{00000000-B840-4B25-BC1C-3062B248F95F}"/>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0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Method Interface</c:v>
                </c:pt>
              </c:strCache>
            </c:strRef>
          </c:tx>
          <c:cat>
            <c:strRef>
              <c:f>Sheet1!$A$2:$A$6</c:f>
              <c:strCache>
                <c:ptCount val="5"/>
                <c:pt idx="0">
                  <c:v>Workflow</c:v>
                </c:pt>
                <c:pt idx="1">
                  <c:v>Drift</c:v>
                </c:pt>
                <c:pt idx="2">
                  <c:v>Explorer</c:v>
                </c:pt>
                <c:pt idx="3">
                  <c:v>Format</c:v>
                </c:pt>
                <c:pt idx="4">
                  <c:v>Input</c:v>
                </c:pt>
              </c:strCache>
            </c:strRef>
          </c:cat>
          <c:val>
            <c:numRef>
              <c:f>Sheet1!$B$2:$B$6</c:f>
              <c:numCache>
                <c:formatCode>General</c:formatCode>
                <c:ptCount val="5"/>
                <c:pt idx="0">
                  <c:v>33</c:v>
                </c:pt>
                <c:pt idx="1">
                  <c:v>73</c:v>
                </c:pt>
                <c:pt idx="2">
                  <c:v>79</c:v>
                </c:pt>
                <c:pt idx="3">
                  <c:v>40</c:v>
                </c:pt>
                <c:pt idx="4">
                  <c:v>47</c:v>
                </c:pt>
              </c:numCache>
            </c:numRef>
          </c:val>
          <c:extLst>
            <c:ext xmlns:c16="http://schemas.microsoft.com/office/drawing/2014/chart" uri="{C3380CC4-5D6E-409C-BE32-E72D297353CC}">
              <c16:uniqueId val="{00000000-ACB7-4FAB-8E59-B3EBD63DF3F7}"/>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0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Entity</c:v>
                </c:pt>
              </c:strCache>
            </c:strRef>
          </c:tx>
          <c:cat>
            <c:strRef>
              <c:f>Sheet1!$A$2:$A$5</c:f>
              <c:strCache>
                <c:ptCount val="4"/>
                <c:pt idx="0">
                  <c:v>Edge</c:v>
                </c:pt>
                <c:pt idx="1">
                  <c:v>Canvas</c:v>
                </c:pt>
                <c:pt idx="2">
                  <c:v>Tile</c:v>
                </c:pt>
                <c:pt idx="3">
                  <c:v>Release</c:v>
                </c:pt>
              </c:strCache>
            </c:strRef>
          </c:cat>
          <c:val>
            <c:numRef>
              <c:f>Sheet1!$B$2:$B$5</c:f>
              <c:numCache>
                <c:formatCode>General</c:formatCode>
                <c:ptCount val="4"/>
                <c:pt idx="0">
                  <c:v>87</c:v>
                </c:pt>
                <c:pt idx="1">
                  <c:v>89</c:v>
                </c:pt>
                <c:pt idx="2">
                  <c:v>41</c:v>
                </c:pt>
                <c:pt idx="3">
                  <c:v>60</c:v>
                </c:pt>
              </c:numCache>
            </c:numRef>
          </c:val>
          <c:extLst>
            <c:ext xmlns:c16="http://schemas.microsoft.com/office/drawing/2014/chart" uri="{C3380CC4-5D6E-409C-BE32-E72D297353CC}">
              <c16:uniqueId val="{00000000-2782-40A3-AE27-31DD19F1D4B3}"/>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0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Compass</c:v>
                </c:pt>
              </c:strCache>
            </c:strRef>
          </c:tx>
          <c:cat>
            <c:strRef>
              <c:f>Sheet1!$A$2:$A$4</c:f>
              <c:strCache>
                <c:ptCount val="3"/>
                <c:pt idx="0">
                  <c:v>Trend</c:v>
                </c:pt>
                <c:pt idx="1">
                  <c:v>Map</c:v>
                </c:pt>
                <c:pt idx="2">
                  <c:v>Marker</c:v>
                </c:pt>
              </c:strCache>
            </c:strRef>
          </c:cat>
          <c:val>
            <c:numRef>
              <c:f>Sheet1!$B$2:$B$4</c:f>
              <c:numCache>
                <c:formatCode>General</c:formatCode>
                <c:ptCount val="3"/>
                <c:pt idx="0">
                  <c:v>44</c:v>
                </c:pt>
                <c:pt idx="1">
                  <c:v>52</c:v>
                </c:pt>
                <c:pt idx="2">
                  <c:v>23</c:v>
                </c:pt>
              </c:numCache>
            </c:numRef>
          </c:val>
          <c:smooth val="0"/>
          <c:extLst>
            <c:ext xmlns:c16="http://schemas.microsoft.com/office/drawing/2014/chart" uri="{C3380CC4-5D6E-409C-BE32-E72D297353CC}">
              <c16:uniqueId val="{00000000-C2E6-437D-B7CA-B917EA9611E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0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Position Action</a:t>
            </a:r>
          </a:p>
        </c:rich>
      </c:tx>
      <c:overlay val="0"/>
    </c:title>
    <c:autoTitleDeleted val="0"/>
    <c:plotArea>
      <c:layout/>
      <c:lineChart>
        <c:grouping val="standard"/>
        <c:varyColors val="0"/>
        <c:ser>
          <c:idx val="0"/>
          <c:order val="0"/>
          <c:tx>
            <c:strRef>
              <c:f>Sheet1!$B$1</c:f>
              <c:strCache>
                <c:ptCount val="1"/>
                <c:pt idx="0">
                  <c:v>Loop</c:v>
                </c:pt>
              </c:strCache>
            </c:strRef>
          </c:tx>
          <c:cat>
            <c:strRef>
              <c:f>Sheet1!$A$2:$A$4</c:f>
              <c:strCache>
                <c:ptCount val="3"/>
                <c:pt idx="0">
                  <c:v>Vector</c:v>
                </c:pt>
                <c:pt idx="1">
                  <c:v>Span</c:v>
                </c:pt>
                <c:pt idx="2">
                  <c:v>Connector</c:v>
                </c:pt>
              </c:strCache>
            </c:strRef>
          </c:cat>
          <c:val>
            <c:numRef>
              <c:f>Sheet1!$B$2:$B$4</c:f>
              <c:numCache>
                <c:formatCode>General</c:formatCode>
                <c:ptCount val="3"/>
                <c:pt idx="0">
                  <c:v>64</c:v>
                </c:pt>
                <c:pt idx="1">
                  <c:v>30</c:v>
                </c:pt>
                <c:pt idx="2">
                  <c:v>9</c:v>
                </c:pt>
              </c:numCache>
            </c:numRef>
          </c:val>
          <c:smooth val="0"/>
          <c:extLst>
            <c:ext xmlns:c16="http://schemas.microsoft.com/office/drawing/2014/chart" uri="{C3380CC4-5D6E-409C-BE32-E72D297353CC}">
              <c16:uniqueId val="{00000000-E6DB-4440-A05C-A19B4B9B4535}"/>
            </c:ext>
          </c:extLst>
        </c:ser>
        <c:ser>
          <c:idx val="1"/>
          <c:order val="1"/>
          <c:tx>
            <c:strRef>
              <c:f>Sheet1!$C$1</c:f>
              <c:strCache>
                <c:ptCount val="1"/>
                <c:pt idx="0">
                  <c:v>Option</c:v>
                </c:pt>
              </c:strCache>
            </c:strRef>
          </c:tx>
          <c:cat>
            <c:strRef>
              <c:f>Sheet1!$A$2:$A$4</c:f>
              <c:strCache>
                <c:ptCount val="3"/>
                <c:pt idx="0">
                  <c:v>Vector</c:v>
                </c:pt>
                <c:pt idx="1">
                  <c:v>Span</c:v>
                </c:pt>
                <c:pt idx="2">
                  <c:v>Connector</c:v>
                </c:pt>
              </c:strCache>
            </c:strRef>
          </c:cat>
          <c:val>
            <c:numRef>
              <c:f>Sheet1!$C$2:$C$4</c:f>
              <c:numCache>
                <c:formatCode>General</c:formatCode>
                <c:ptCount val="3"/>
                <c:pt idx="0">
                  <c:v>39</c:v>
                </c:pt>
                <c:pt idx="1">
                  <c:v>20</c:v>
                </c:pt>
                <c:pt idx="2">
                  <c:v>36</c:v>
                </c:pt>
              </c:numCache>
            </c:numRef>
          </c:val>
          <c:smooth val="0"/>
          <c:extLst>
            <c:ext xmlns:c16="http://schemas.microsoft.com/office/drawing/2014/chart" uri="{C3380CC4-5D6E-409C-BE32-E72D297353CC}">
              <c16:uniqueId val="{00000001-E6DB-4440-A05C-A19B4B9B453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Path</c:v>
                </c:pt>
              </c:strCache>
            </c:strRef>
          </c:tx>
          <c:cat>
            <c:strRef>
              <c:f>Sheet1!$A$2:$A$5</c:f>
              <c:strCache>
                <c:ptCount val="4"/>
                <c:pt idx="0">
                  <c:v>Brief</c:v>
                </c:pt>
                <c:pt idx="1">
                  <c:v>Handle</c:v>
                </c:pt>
                <c:pt idx="2">
                  <c:v>Grid</c:v>
                </c:pt>
                <c:pt idx="3">
                  <c:v>Agenda</c:v>
                </c:pt>
              </c:strCache>
            </c:strRef>
          </c:cat>
          <c:val>
            <c:numRef>
              <c:f>Sheet1!$B$2:$B$5</c:f>
              <c:numCache>
                <c:formatCode>General</c:formatCode>
                <c:ptCount val="4"/>
                <c:pt idx="0">
                  <c:v>85</c:v>
                </c:pt>
                <c:pt idx="1">
                  <c:v>67</c:v>
                </c:pt>
                <c:pt idx="2">
                  <c:v>52</c:v>
                </c:pt>
                <c:pt idx="3">
                  <c:v>66</c:v>
                </c:pt>
              </c:numCache>
            </c:numRef>
          </c:val>
          <c:extLst>
            <c:ext xmlns:c16="http://schemas.microsoft.com/office/drawing/2014/chart" uri="{C3380CC4-5D6E-409C-BE32-E72D297353CC}">
              <c16:uniqueId val="{00000000-4045-411C-BA21-82E07DF390E2}"/>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Estimate</c:v>
                </c:pt>
              </c:strCache>
            </c:strRef>
          </c:tx>
          <c:cat>
            <c:strRef>
              <c:f>Sheet1!$A$2:$A$4</c:f>
              <c:strCache>
                <c:ptCount val="3"/>
                <c:pt idx="0">
                  <c:v>Reference</c:v>
                </c:pt>
                <c:pt idx="1">
                  <c:v>Gradient</c:v>
                </c:pt>
                <c:pt idx="2">
                  <c:v>Expansion</c:v>
                </c:pt>
              </c:strCache>
            </c:strRef>
          </c:cat>
          <c:val>
            <c:numRef>
              <c:f>Sheet1!$B$2:$B$4</c:f>
              <c:numCache>
                <c:formatCode>General</c:formatCode>
                <c:ptCount val="3"/>
                <c:pt idx="0">
                  <c:v>90</c:v>
                </c:pt>
                <c:pt idx="1">
                  <c:v>53</c:v>
                </c:pt>
                <c:pt idx="2">
                  <c:v>64</c:v>
                </c:pt>
              </c:numCache>
            </c:numRef>
          </c:val>
          <c:extLst>
            <c:ext xmlns:c16="http://schemas.microsoft.com/office/drawing/2014/chart" uri="{C3380CC4-5D6E-409C-BE32-E72D297353CC}">
              <c16:uniqueId val="{00000000-87E6-43F4-9E7F-4D85E61F437C}"/>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Variant Milestone Needle Horizon Guide</a:t>
            </a:r>
          </a:p>
        </c:rich>
      </c:tx>
      <c:overlay val="0"/>
    </c:title>
    <c:autoTitleDeleted val="0"/>
    <c:plotArea>
      <c:layout/>
      <c:areaChart>
        <c:grouping val="standard"/>
        <c:varyColors val="0"/>
        <c:ser>
          <c:idx val="0"/>
          <c:order val="0"/>
          <c:tx>
            <c:strRef>
              <c:f>Sheet1!$B$1</c:f>
              <c:strCache>
                <c:ptCount val="1"/>
                <c:pt idx="0">
                  <c:v>Deck</c:v>
                </c:pt>
              </c:strCache>
            </c:strRef>
          </c:tx>
          <c:cat>
            <c:strRef>
              <c:f>Sheet1!$A$2:$A$7</c:f>
              <c:strCache>
                <c:ptCount val="6"/>
                <c:pt idx="0">
                  <c:v>Beta</c:v>
                </c:pt>
                <c:pt idx="1">
                  <c:v>Echo</c:v>
                </c:pt>
                <c:pt idx="2">
                  <c:v>Entity</c:v>
                </c:pt>
                <c:pt idx="3">
                  <c:v>Dispatch</c:v>
                </c:pt>
                <c:pt idx="4">
                  <c:v>Model</c:v>
                </c:pt>
                <c:pt idx="5">
                  <c:v>Format</c:v>
                </c:pt>
              </c:strCache>
            </c:strRef>
          </c:cat>
          <c:val>
            <c:numRef>
              <c:f>Sheet1!$B$2:$B$7</c:f>
              <c:numCache>
                <c:formatCode>General</c:formatCode>
                <c:ptCount val="6"/>
                <c:pt idx="0">
                  <c:v>15</c:v>
                </c:pt>
                <c:pt idx="1">
                  <c:v>84</c:v>
                </c:pt>
                <c:pt idx="2">
                  <c:v>87</c:v>
                </c:pt>
                <c:pt idx="3">
                  <c:v>95</c:v>
                </c:pt>
                <c:pt idx="4">
                  <c:v>86</c:v>
                </c:pt>
                <c:pt idx="5">
                  <c:v>95</c:v>
                </c:pt>
              </c:numCache>
            </c:numRef>
          </c:val>
          <c:extLst>
            <c:ext xmlns:c16="http://schemas.microsoft.com/office/drawing/2014/chart" uri="{C3380CC4-5D6E-409C-BE32-E72D297353CC}">
              <c16:uniqueId val="{00000000-3749-4196-A84E-69BE28D7AD67}"/>
            </c:ext>
          </c:extLst>
        </c:ser>
        <c:ser>
          <c:idx val="1"/>
          <c:order val="1"/>
          <c:tx>
            <c:strRef>
              <c:f>Sheet1!$C$1</c:f>
              <c:strCache>
                <c:ptCount val="1"/>
                <c:pt idx="0">
                  <c:v>Build</c:v>
                </c:pt>
              </c:strCache>
            </c:strRef>
          </c:tx>
          <c:cat>
            <c:strRef>
              <c:f>Sheet1!$A$2:$A$7</c:f>
              <c:strCache>
                <c:ptCount val="6"/>
                <c:pt idx="0">
                  <c:v>Beta</c:v>
                </c:pt>
                <c:pt idx="1">
                  <c:v>Echo</c:v>
                </c:pt>
                <c:pt idx="2">
                  <c:v>Entity</c:v>
                </c:pt>
                <c:pt idx="3">
                  <c:v>Dispatch</c:v>
                </c:pt>
                <c:pt idx="4">
                  <c:v>Model</c:v>
                </c:pt>
                <c:pt idx="5">
                  <c:v>Format</c:v>
                </c:pt>
              </c:strCache>
            </c:strRef>
          </c:cat>
          <c:val>
            <c:numRef>
              <c:f>Sheet1!$C$2:$C$7</c:f>
              <c:numCache>
                <c:formatCode>General</c:formatCode>
                <c:ptCount val="6"/>
                <c:pt idx="0">
                  <c:v>22</c:v>
                </c:pt>
                <c:pt idx="1">
                  <c:v>73</c:v>
                </c:pt>
                <c:pt idx="2">
                  <c:v>23</c:v>
                </c:pt>
                <c:pt idx="3">
                  <c:v>25</c:v>
                </c:pt>
                <c:pt idx="4">
                  <c:v>60</c:v>
                </c:pt>
                <c:pt idx="5">
                  <c:v>86</c:v>
                </c:pt>
              </c:numCache>
            </c:numRef>
          </c:val>
          <c:extLst>
            <c:ext xmlns:c16="http://schemas.microsoft.com/office/drawing/2014/chart" uri="{C3380CC4-5D6E-409C-BE32-E72D297353CC}">
              <c16:uniqueId val="{00000001-3749-4196-A84E-69BE28D7AD67}"/>
            </c:ext>
          </c:extLst>
        </c:ser>
        <c:ser>
          <c:idx val="2"/>
          <c:order val="2"/>
          <c:tx>
            <c:strRef>
              <c:f>Sheet1!$D$1</c:f>
              <c:strCache>
                <c:ptCount val="1"/>
                <c:pt idx="0">
                  <c:v>Duration</c:v>
                </c:pt>
              </c:strCache>
            </c:strRef>
          </c:tx>
          <c:cat>
            <c:strRef>
              <c:f>Sheet1!$A$2:$A$7</c:f>
              <c:strCache>
                <c:ptCount val="6"/>
                <c:pt idx="0">
                  <c:v>Beta</c:v>
                </c:pt>
                <c:pt idx="1">
                  <c:v>Echo</c:v>
                </c:pt>
                <c:pt idx="2">
                  <c:v>Entity</c:v>
                </c:pt>
                <c:pt idx="3">
                  <c:v>Dispatch</c:v>
                </c:pt>
                <c:pt idx="4">
                  <c:v>Model</c:v>
                </c:pt>
                <c:pt idx="5">
                  <c:v>Format</c:v>
                </c:pt>
              </c:strCache>
            </c:strRef>
          </c:cat>
          <c:val>
            <c:numRef>
              <c:f>Sheet1!$D$2:$D$7</c:f>
              <c:numCache>
                <c:formatCode>General</c:formatCode>
                <c:ptCount val="6"/>
                <c:pt idx="0">
                  <c:v>17</c:v>
                </c:pt>
                <c:pt idx="1">
                  <c:v>41</c:v>
                </c:pt>
                <c:pt idx="2">
                  <c:v>25</c:v>
                </c:pt>
                <c:pt idx="3">
                  <c:v>67</c:v>
                </c:pt>
                <c:pt idx="4">
                  <c:v>68</c:v>
                </c:pt>
                <c:pt idx="5">
                  <c:v>26</c:v>
                </c:pt>
              </c:numCache>
            </c:numRef>
          </c:val>
          <c:extLst>
            <c:ext xmlns:c16="http://schemas.microsoft.com/office/drawing/2014/chart" uri="{C3380CC4-5D6E-409C-BE32-E72D297353CC}">
              <c16:uniqueId val="{00000002-3749-4196-A84E-69BE28D7AD67}"/>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1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Impact Catalog</c:v>
                </c:pt>
              </c:strCache>
            </c:strRef>
          </c:tx>
          <c:cat>
            <c:strRef>
              <c:f>Sheet1!$A$2:$A$7</c:f>
              <c:strCache>
                <c:ptCount val="6"/>
                <c:pt idx="0">
                  <c:v>Craft</c:v>
                </c:pt>
                <c:pt idx="1">
                  <c:v>Route</c:v>
                </c:pt>
                <c:pt idx="2">
                  <c:v>Zone</c:v>
                </c:pt>
                <c:pt idx="3">
                  <c:v>Reference</c:v>
                </c:pt>
                <c:pt idx="4">
                  <c:v>Aspect</c:v>
                </c:pt>
                <c:pt idx="5">
                  <c:v>Link</c:v>
                </c:pt>
              </c:strCache>
            </c:strRef>
          </c:cat>
          <c:val>
            <c:numRef>
              <c:f>Sheet1!$B$2:$B$7</c:f>
              <c:numCache>
                <c:formatCode>General</c:formatCode>
                <c:ptCount val="6"/>
                <c:pt idx="0">
                  <c:v>29</c:v>
                </c:pt>
                <c:pt idx="1">
                  <c:v>64</c:v>
                </c:pt>
                <c:pt idx="2">
                  <c:v>90</c:v>
                </c:pt>
                <c:pt idx="3">
                  <c:v>9</c:v>
                </c:pt>
                <c:pt idx="4">
                  <c:v>38</c:v>
                </c:pt>
                <c:pt idx="5">
                  <c:v>26</c:v>
                </c:pt>
              </c:numCache>
            </c:numRef>
          </c:val>
          <c:extLst>
            <c:ext xmlns:c16="http://schemas.microsoft.com/office/drawing/2014/chart" uri="{C3380CC4-5D6E-409C-BE32-E72D297353CC}">
              <c16:uniqueId val="{00000000-CC6C-4F45-860E-74E36DE5688B}"/>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Target Module</a:t>
            </a:r>
          </a:p>
        </c:rich>
      </c:tx>
      <c:overlay val="0"/>
    </c:title>
    <c:autoTitleDeleted val="0"/>
    <c:plotArea>
      <c:layout/>
      <c:doughnutChart>
        <c:varyColors val="1"/>
        <c:ser>
          <c:idx val="0"/>
          <c:order val="0"/>
          <c:tx>
            <c:strRef>
              <c:f>Sheet1!$B$1</c:f>
              <c:strCache>
                <c:ptCount val="1"/>
                <c:pt idx="0">
                  <c:v>Frequency</c:v>
                </c:pt>
              </c:strCache>
            </c:strRef>
          </c:tx>
          <c:cat>
            <c:strRef>
              <c:f>Sheet1!$A$2:$A$5</c:f>
              <c:strCache>
                <c:ptCount val="4"/>
                <c:pt idx="0">
                  <c:v>Balance</c:v>
                </c:pt>
                <c:pt idx="1">
                  <c:v>Anchor</c:v>
                </c:pt>
                <c:pt idx="2">
                  <c:v>Stack</c:v>
                </c:pt>
                <c:pt idx="3">
                  <c:v>Deployment</c:v>
                </c:pt>
              </c:strCache>
            </c:strRef>
          </c:cat>
          <c:val>
            <c:numRef>
              <c:f>Sheet1!$B$2:$B$5</c:f>
              <c:numCache>
                <c:formatCode>General</c:formatCode>
                <c:ptCount val="4"/>
                <c:pt idx="0">
                  <c:v>90</c:v>
                </c:pt>
                <c:pt idx="1">
                  <c:v>54</c:v>
                </c:pt>
                <c:pt idx="2">
                  <c:v>33</c:v>
                </c:pt>
                <c:pt idx="3">
                  <c:v>39</c:v>
                </c:pt>
              </c:numCache>
            </c:numRef>
          </c:val>
          <c:extLst>
            <c:ext xmlns:c16="http://schemas.microsoft.com/office/drawing/2014/chart" uri="{C3380CC4-5D6E-409C-BE32-E72D297353CC}">
              <c16:uniqueId val="{00000000-DF3E-4866-A5FC-9C3623D69C1C}"/>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Audit</c:v>
                </c:pt>
              </c:strCache>
            </c:strRef>
          </c:tx>
          <c:invertIfNegative val="1"/>
          <c:cat>
            <c:strRef>
              <c:f>Sheet1!$A$2:$A$5</c:f>
              <c:strCache>
                <c:ptCount val="4"/>
                <c:pt idx="0">
                  <c:v>Station</c:v>
                </c:pt>
                <c:pt idx="1">
                  <c:v>Queue</c:v>
                </c:pt>
                <c:pt idx="2">
                  <c:v>Topology</c:v>
                </c:pt>
                <c:pt idx="3">
                  <c:v>Reference</c:v>
                </c:pt>
              </c:strCache>
            </c:strRef>
          </c:cat>
          <c:val>
            <c:numRef>
              <c:f>Sheet1!$B$2:$B$5</c:f>
              <c:numCache>
                <c:formatCode>General</c:formatCode>
                <c:ptCount val="4"/>
                <c:pt idx="0">
                  <c:v>57</c:v>
                </c:pt>
                <c:pt idx="1">
                  <c:v>80</c:v>
                </c:pt>
                <c:pt idx="2">
                  <c:v>30</c:v>
                </c:pt>
                <c:pt idx="3">
                  <c:v>43</c:v>
                </c:pt>
              </c:numCache>
            </c:numRef>
          </c:val>
          <c:extLst>
            <c:ext xmlns:c16="http://schemas.microsoft.com/office/drawing/2014/chart" uri="{C3380CC4-5D6E-409C-BE32-E72D297353CC}">
              <c16:uniqueId val="{00000000-933C-45ED-AAC3-0C0A836B28F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Transit Focus</a:t>
            </a:r>
          </a:p>
        </c:rich>
      </c:tx>
      <c:overlay val="0"/>
    </c:title>
    <c:autoTitleDeleted val="0"/>
    <c:plotArea>
      <c:layout/>
      <c:pieChart>
        <c:varyColors val="1"/>
        <c:ser>
          <c:idx val="0"/>
          <c:order val="0"/>
          <c:tx>
            <c:strRef>
              <c:f>Sheet1!$B$1</c:f>
              <c:strCache>
                <c:ptCount val="1"/>
                <c:pt idx="0">
                  <c:v>Datum Matrix</c:v>
                </c:pt>
              </c:strCache>
            </c:strRef>
          </c:tx>
          <c:cat>
            <c:strRef>
              <c:f>Sheet1!$A$2:$A$5</c:f>
              <c:strCache>
                <c:ptCount val="4"/>
                <c:pt idx="0">
                  <c:v>Signal</c:v>
                </c:pt>
                <c:pt idx="1">
                  <c:v>Format</c:v>
                </c:pt>
                <c:pt idx="2">
                  <c:v>Panel</c:v>
                </c:pt>
                <c:pt idx="3">
                  <c:v>Envelope</c:v>
                </c:pt>
              </c:strCache>
            </c:strRef>
          </c:cat>
          <c:val>
            <c:numRef>
              <c:f>Sheet1!$B$2:$B$5</c:f>
              <c:numCache>
                <c:formatCode>General</c:formatCode>
                <c:ptCount val="4"/>
                <c:pt idx="0">
                  <c:v>31</c:v>
                </c:pt>
                <c:pt idx="1">
                  <c:v>86</c:v>
                </c:pt>
                <c:pt idx="2">
                  <c:v>70</c:v>
                </c:pt>
                <c:pt idx="3">
                  <c:v>12</c:v>
                </c:pt>
              </c:numCache>
            </c:numRef>
          </c:val>
          <c:extLst>
            <c:ext xmlns:c16="http://schemas.microsoft.com/office/drawing/2014/chart" uri="{C3380CC4-5D6E-409C-BE32-E72D297353CC}">
              <c16:uniqueId val="{00000000-14A4-4D0D-BE70-926BD885756D}"/>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Pulse</c:v>
                </c:pt>
              </c:strCache>
            </c:strRef>
          </c:tx>
          <c:cat>
            <c:strRef>
              <c:f>Sheet1!$A$2:$A$5</c:f>
              <c:strCache>
                <c:ptCount val="4"/>
                <c:pt idx="0">
                  <c:v>Topology</c:v>
                </c:pt>
                <c:pt idx="1">
                  <c:v>Texture</c:v>
                </c:pt>
                <c:pt idx="2">
                  <c:v>Signal</c:v>
                </c:pt>
                <c:pt idx="3">
                  <c:v>Alignment</c:v>
                </c:pt>
              </c:strCache>
            </c:strRef>
          </c:cat>
          <c:val>
            <c:numRef>
              <c:f>Sheet1!$B$2:$B$5</c:f>
              <c:numCache>
                <c:formatCode>General</c:formatCode>
                <c:ptCount val="4"/>
                <c:pt idx="0">
                  <c:v>95</c:v>
                </c:pt>
                <c:pt idx="1">
                  <c:v>47</c:v>
                </c:pt>
                <c:pt idx="2">
                  <c:v>43</c:v>
                </c:pt>
                <c:pt idx="3">
                  <c:v>53</c:v>
                </c:pt>
              </c:numCache>
            </c:numRef>
          </c:val>
          <c:extLst>
            <c:ext xmlns:c16="http://schemas.microsoft.com/office/drawing/2014/chart" uri="{C3380CC4-5D6E-409C-BE32-E72D297353CC}">
              <c16:uniqueId val="{00000000-4429-4A3D-AF4C-C7F4C53F2D58}"/>
            </c:ext>
          </c:extLst>
        </c:ser>
        <c:ser>
          <c:idx val="1"/>
          <c:order val="1"/>
          <c:tx>
            <c:strRef>
              <c:f>Sheet1!$C$1</c:f>
              <c:strCache>
                <c:ptCount val="1"/>
                <c:pt idx="0">
                  <c:v>Frequency</c:v>
                </c:pt>
              </c:strCache>
            </c:strRef>
          </c:tx>
          <c:cat>
            <c:strRef>
              <c:f>Sheet1!$A$2:$A$5</c:f>
              <c:strCache>
                <c:ptCount val="4"/>
                <c:pt idx="0">
                  <c:v>Topology</c:v>
                </c:pt>
                <c:pt idx="1">
                  <c:v>Texture</c:v>
                </c:pt>
                <c:pt idx="2">
                  <c:v>Signal</c:v>
                </c:pt>
                <c:pt idx="3">
                  <c:v>Alignment</c:v>
                </c:pt>
              </c:strCache>
            </c:strRef>
          </c:cat>
          <c:val>
            <c:numRef>
              <c:f>Sheet1!$C$2:$C$5</c:f>
              <c:numCache>
                <c:formatCode>General</c:formatCode>
                <c:ptCount val="4"/>
                <c:pt idx="0">
                  <c:v>64</c:v>
                </c:pt>
                <c:pt idx="1">
                  <c:v>25</c:v>
                </c:pt>
                <c:pt idx="2">
                  <c:v>10</c:v>
                </c:pt>
                <c:pt idx="3">
                  <c:v>73</c:v>
                </c:pt>
              </c:numCache>
            </c:numRef>
          </c:val>
          <c:extLst>
            <c:ext xmlns:c16="http://schemas.microsoft.com/office/drawing/2014/chart" uri="{C3380CC4-5D6E-409C-BE32-E72D297353CC}">
              <c16:uniqueId val="{00000001-4429-4A3D-AF4C-C7F4C53F2D58}"/>
            </c:ext>
          </c:extLst>
        </c:ser>
        <c:ser>
          <c:idx val="2"/>
          <c:order val="2"/>
          <c:tx>
            <c:strRef>
              <c:f>Sheet1!$D$1</c:f>
              <c:strCache>
                <c:ptCount val="1"/>
                <c:pt idx="0">
                  <c:v>Review</c:v>
                </c:pt>
              </c:strCache>
            </c:strRef>
          </c:tx>
          <c:cat>
            <c:strRef>
              <c:f>Sheet1!$A$2:$A$5</c:f>
              <c:strCache>
                <c:ptCount val="4"/>
                <c:pt idx="0">
                  <c:v>Topology</c:v>
                </c:pt>
                <c:pt idx="1">
                  <c:v>Texture</c:v>
                </c:pt>
                <c:pt idx="2">
                  <c:v>Signal</c:v>
                </c:pt>
                <c:pt idx="3">
                  <c:v>Alignment</c:v>
                </c:pt>
              </c:strCache>
            </c:strRef>
          </c:cat>
          <c:val>
            <c:numRef>
              <c:f>Sheet1!$D$2:$D$5</c:f>
              <c:numCache>
                <c:formatCode>General</c:formatCode>
                <c:ptCount val="4"/>
                <c:pt idx="0">
                  <c:v>18</c:v>
                </c:pt>
                <c:pt idx="1">
                  <c:v>66</c:v>
                </c:pt>
                <c:pt idx="2">
                  <c:v>8</c:v>
                </c:pt>
                <c:pt idx="3">
                  <c:v>74</c:v>
                </c:pt>
              </c:numCache>
            </c:numRef>
          </c:val>
          <c:extLst>
            <c:ext xmlns:c16="http://schemas.microsoft.com/office/drawing/2014/chart" uri="{C3380CC4-5D6E-409C-BE32-E72D297353CC}">
              <c16:uniqueId val="{00000002-4429-4A3D-AF4C-C7F4C53F2D58}"/>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Lens Briefing</a:t>
            </a:r>
          </a:p>
        </c:rich>
      </c:tx>
      <c:overlay val="0"/>
    </c:title>
    <c:autoTitleDeleted val="0"/>
    <c:plotArea>
      <c:layout/>
      <c:barChart>
        <c:barDir val="bar"/>
        <c:grouping val="clustered"/>
        <c:varyColors val="1"/>
        <c:ser>
          <c:idx val="0"/>
          <c:order val="0"/>
          <c:tx>
            <c:strRef>
              <c:f>Sheet1!$B$1</c:f>
              <c:strCache>
                <c:ptCount val="1"/>
                <c:pt idx="0">
                  <c:v>Core Link</c:v>
                </c:pt>
              </c:strCache>
            </c:strRef>
          </c:tx>
          <c:invertIfNegative val="1"/>
          <c:cat>
            <c:strRef>
              <c:f>Sheet1!$A$2:$A$5</c:f>
              <c:strCache>
                <c:ptCount val="4"/>
                <c:pt idx="0">
                  <c:v>Connector</c:v>
                </c:pt>
                <c:pt idx="1">
                  <c:v>Marker</c:v>
                </c:pt>
                <c:pt idx="2">
                  <c:v>Estimate</c:v>
                </c:pt>
                <c:pt idx="3">
                  <c:v>Foundation</c:v>
                </c:pt>
              </c:strCache>
            </c:strRef>
          </c:cat>
          <c:val>
            <c:numRef>
              <c:f>Sheet1!$B$2:$B$5</c:f>
              <c:numCache>
                <c:formatCode>General</c:formatCode>
                <c:ptCount val="4"/>
                <c:pt idx="0">
                  <c:v>44</c:v>
                </c:pt>
                <c:pt idx="1">
                  <c:v>47</c:v>
                </c:pt>
                <c:pt idx="2">
                  <c:v>30</c:v>
                </c:pt>
                <c:pt idx="3">
                  <c:v>15</c:v>
                </c:pt>
              </c:numCache>
            </c:numRef>
          </c:val>
          <c:extLst>
            <c:ext xmlns:c16="http://schemas.microsoft.com/office/drawing/2014/chart" uri="{C3380CC4-5D6E-409C-BE32-E72D297353CC}">
              <c16:uniqueId val="{00000000-9901-453E-8E89-2D2721A3B3A2}"/>
            </c:ext>
          </c:extLst>
        </c:ser>
        <c:ser>
          <c:idx val="1"/>
          <c:order val="1"/>
          <c:tx>
            <c:strRef>
              <c:f>Sheet1!$C$1</c:f>
              <c:strCache>
                <c:ptCount val="1"/>
                <c:pt idx="0">
                  <c:v>Workflow Option</c:v>
                </c:pt>
              </c:strCache>
            </c:strRef>
          </c:tx>
          <c:invertIfNegative val="1"/>
          <c:cat>
            <c:strRef>
              <c:f>Sheet1!$A$2:$A$5</c:f>
              <c:strCache>
                <c:ptCount val="4"/>
                <c:pt idx="0">
                  <c:v>Connector</c:v>
                </c:pt>
                <c:pt idx="1">
                  <c:v>Marker</c:v>
                </c:pt>
                <c:pt idx="2">
                  <c:v>Estimate</c:v>
                </c:pt>
                <c:pt idx="3">
                  <c:v>Foundation</c:v>
                </c:pt>
              </c:strCache>
            </c:strRef>
          </c:cat>
          <c:val>
            <c:numRef>
              <c:f>Sheet1!$C$2:$C$5</c:f>
              <c:numCache>
                <c:formatCode>General</c:formatCode>
                <c:ptCount val="4"/>
                <c:pt idx="0">
                  <c:v>16</c:v>
                </c:pt>
                <c:pt idx="1">
                  <c:v>10</c:v>
                </c:pt>
                <c:pt idx="2">
                  <c:v>38</c:v>
                </c:pt>
                <c:pt idx="3">
                  <c:v>16</c:v>
                </c:pt>
              </c:numCache>
            </c:numRef>
          </c:val>
          <c:extLst>
            <c:ext xmlns:c16="http://schemas.microsoft.com/office/drawing/2014/chart" uri="{C3380CC4-5D6E-409C-BE32-E72D297353CC}">
              <c16:uniqueId val="{00000001-9901-453E-8E89-2D2721A3B3A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Link Source</c:v>
                </c:pt>
              </c:strCache>
            </c:strRef>
          </c:tx>
          <c:invertIfNegative val="1"/>
          <c:cat>
            <c:strRef>
              <c:f>Sheet1!$A$2:$A$7</c:f>
              <c:strCache>
                <c:ptCount val="6"/>
                <c:pt idx="0">
                  <c:v>Factor</c:v>
                </c:pt>
                <c:pt idx="1">
                  <c:v>Object</c:v>
                </c:pt>
                <c:pt idx="2">
                  <c:v>Atlas</c:v>
                </c:pt>
                <c:pt idx="3">
                  <c:v>Pipeline</c:v>
                </c:pt>
                <c:pt idx="4">
                  <c:v>Switch</c:v>
                </c:pt>
                <c:pt idx="5">
                  <c:v>Proof</c:v>
                </c:pt>
              </c:strCache>
            </c:strRef>
          </c:cat>
          <c:val>
            <c:numRef>
              <c:f>Sheet1!$B$2:$B$7</c:f>
              <c:numCache>
                <c:formatCode>General</c:formatCode>
                <c:ptCount val="6"/>
                <c:pt idx="0">
                  <c:v>29</c:v>
                </c:pt>
                <c:pt idx="1">
                  <c:v>45</c:v>
                </c:pt>
                <c:pt idx="2">
                  <c:v>75</c:v>
                </c:pt>
                <c:pt idx="3">
                  <c:v>43</c:v>
                </c:pt>
                <c:pt idx="4">
                  <c:v>73</c:v>
                </c:pt>
                <c:pt idx="5">
                  <c:v>83</c:v>
                </c:pt>
              </c:numCache>
            </c:numRef>
          </c:val>
          <c:extLst>
            <c:ext xmlns:c16="http://schemas.microsoft.com/office/drawing/2014/chart" uri="{C3380CC4-5D6E-409C-BE32-E72D297353CC}">
              <c16:uniqueId val="{00000000-BDD4-46D6-9C09-B43392CEEB45}"/>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Estimate Pulse</c:v>
                </c:pt>
              </c:strCache>
            </c:strRef>
          </c:tx>
          <c:invertIfNegative val="1"/>
          <c:cat>
            <c:strRef>
              <c:f>Sheet1!$A$2:$A$6</c:f>
              <c:strCache>
                <c:ptCount val="5"/>
                <c:pt idx="0">
                  <c:v>Deck</c:v>
                </c:pt>
                <c:pt idx="1">
                  <c:v>Echo</c:v>
                </c:pt>
                <c:pt idx="2">
                  <c:v>Lens</c:v>
                </c:pt>
                <c:pt idx="3">
                  <c:v>Precision</c:v>
                </c:pt>
                <c:pt idx="4">
                  <c:v>Packet</c:v>
                </c:pt>
              </c:strCache>
            </c:strRef>
          </c:cat>
          <c:val>
            <c:numRef>
              <c:f>Sheet1!$B$2:$B$6</c:f>
              <c:numCache>
                <c:formatCode>General</c:formatCode>
                <c:ptCount val="5"/>
                <c:pt idx="0">
                  <c:v>51</c:v>
                </c:pt>
                <c:pt idx="1">
                  <c:v>49</c:v>
                </c:pt>
                <c:pt idx="2">
                  <c:v>34</c:v>
                </c:pt>
                <c:pt idx="3">
                  <c:v>78</c:v>
                </c:pt>
                <c:pt idx="4">
                  <c:v>87</c:v>
                </c:pt>
              </c:numCache>
            </c:numRef>
          </c:val>
          <c:extLst>
            <c:ext xmlns:c16="http://schemas.microsoft.com/office/drawing/2014/chart" uri="{C3380CC4-5D6E-409C-BE32-E72D297353CC}">
              <c16:uniqueId val="{00000000-E992-4CA0-AF9C-6B4ADDB9B62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Aspect Gradient Narrative Horizon</a:t>
            </a:r>
          </a:p>
        </c:rich>
      </c:tx>
      <c:overlay val="0"/>
    </c:title>
    <c:autoTitleDeleted val="0"/>
    <c:plotArea>
      <c:layout/>
      <c:barChart>
        <c:barDir val="bar"/>
        <c:grouping val="clustered"/>
        <c:varyColors val="1"/>
        <c:ser>
          <c:idx val="0"/>
          <c:order val="0"/>
          <c:tx>
            <c:strRef>
              <c:f>Sheet1!$B$1</c:f>
              <c:strCache>
                <c:ptCount val="1"/>
                <c:pt idx="0">
                  <c:v>Queue</c:v>
                </c:pt>
              </c:strCache>
            </c:strRef>
          </c:tx>
          <c:invertIfNegative val="1"/>
          <c:cat>
            <c:strRef>
              <c:f>Sheet1!$A$2:$A$7</c:f>
              <c:strCache>
                <c:ptCount val="6"/>
                <c:pt idx="0">
                  <c:v>Format</c:v>
                </c:pt>
                <c:pt idx="1">
                  <c:v>Center</c:v>
                </c:pt>
                <c:pt idx="2">
                  <c:v>Alpha</c:v>
                </c:pt>
                <c:pt idx="3">
                  <c:v>Limit</c:v>
                </c:pt>
                <c:pt idx="4">
                  <c:v>Gradient</c:v>
                </c:pt>
                <c:pt idx="5">
                  <c:v>Field</c:v>
                </c:pt>
              </c:strCache>
            </c:strRef>
          </c:cat>
          <c:val>
            <c:numRef>
              <c:f>Sheet1!$B$2:$B$7</c:f>
              <c:numCache>
                <c:formatCode>General</c:formatCode>
                <c:ptCount val="6"/>
                <c:pt idx="0">
                  <c:v>34</c:v>
                </c:pt>
                <c:pt idx="1">
                  <c:v>20</c:v>
                </c:pt>
                <c:pt idx="2">
                  <c:v>38</c:v>
                </c:pt>
                <c:pt idx="3">
                  <c:v>10</c:v>
                </c:pt>
                <c:pt idx="4">
                  <c:v>34</c:v>
                </c:pt>
                <c:pt idx="5">
                  <c:v>23</c:v>
                </c:pt>
              </c:numCache>
            </c:numRef>
          </c:val>
          <c:extLst>
            <c:ext xmlns:c16="http://schemas.microsoft.com/office/drawing/2014/chart" uri="{C3380CC4-5D6E-409C-BE32-E72D297353CC}">
              <c16:uniqueId val="{00000000-FE37-46F2-B1E6-3842B2DE661B}"/>
            </c:ext>
          </c:extLst>
        </c:ser>
        <c:ser>
          <c:idx val="1"/>
          <c:order val="1"/>
          <c:tx>
            <c:strRef>
              <c:f>Sheet1!$C$1</c:f>
              <c:strCache>
                <c:ptCount val="1"/>
                <c:pt idx="0">
                  <c:v>Insight Baseline</c:v>
                </c:pt>
              </c:strCache>
            </c:strRef>
          </c:tx>
          <c:invertIfNegative val="1"/>
          <c:cat>
            <c:strRef>
              <c:f>Sheet1!$A$2:$A$7</c:f>
              <c:strCache>
                <c:ptCount val="6"/>
                <c:pt idx="0">
                  <c:v>Format</c:v>
                </c:pt>
                <c:pt idx="1">
                  <c:v>Center</c:v>
                </c:pt>
                <c:pt idx="2">
                  <c:v>Alpha</c:v>
                </c:pt>
                <c:pt idx="3">
                  <c:v>Limit</c:v>
                </c:pt>
                <c:pt idx="4">
                  <c:v>Gradient</c:v>
                </c:pt>
                <c:pt idx="5">
                  <c:v>Field</c:v>
                </c:pt>
              </c:strCache>
            </c:strRef>
          </c:cat>
          <c:val>
            <c:numRef>
              <c:f>Sheet1!$C$2:$C$7</c:f>
              <c:numCache>
                <c:formatCode>General</c:formatCode>
                <c:ptCount val="6"/>
                <c:pt idx="0">
                  <c:v>49</c:v>
                </c:pt>
                <c:pt idx="1">
                  <c:v>51</c:v>
                </c:pt>
                <c:pt idx="2">
                  <c:v>19</c:v>
                </c:pt>
                <c:pt idx="3">
                  <c:v>75</c:v>
                </c:pt>
                <c:pt idx="4">
                  <c:v>61</c:v>
                </c:pt>
                <c:pt idx="5">
                  <c:v>9</c:v>
                </c:pt>
              </c:numCache>
            </c:numRef>
          </c:val>
          <c:extLst>
            <c:ext xmlns:c16="http://schemas.microsoft.com/office/drawing/2014/chart" uri="{C3380CC4-5D6E-409C-BE32-E72D297353CC}">
              <c16:uniqueId val="{00000001-FE37-46F2-B1E6-3842B2DE661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Input</c:v>
                </c:pt>
              </c:strCache>
            </c:strRef>
          </c:tx>
          <c:cat>
            <c:strRef>
              <c:f>Sheet1!$A$2:$A$4</c:f>
              <c:strCache>
                <c:ptCount val="3"/>
                <c:pt idx="0">
                  <c:v>Panel</c:v>
                </c:pt>
                <c:pt idx="1">
                  <c:v>Track</c:v>
                </c:pt>
                <c:pt idx="2">
                  <c:v>Token</c:v>
                </c:pt>
              </c:strCache>
            </c:strRef>
          </c:cat>
          <c:val>
            <c:numRef>
              <c:f>Sheet1!$B$2:$B$4</c:f>
              <c:numCache>
                <c:formatCode>General</c:formatCode>
                <c:ptCount val="3"/>
                <c:pt idx="0">
                  <c:v>61</c:v>
                </c:pt>
                <c:pt idx="1">
                  <c:v>30</c:v>
                </c:pt>
                <c:pt idx="2">
                  <c:v>14</c:v>
                </c:pt>
              </c:numCache>
            </c:numRef>
          </c:val>
          <c:smooth val="0"/>
          <c:extLst>
            <c:ext xmlns:c16="http://schemas.microsoft.com/office/drawing/2014/chart" uri="{C3380CC4-5D6E-409C-BE32-E72D297353CC}">
              <c16:uniqueId val="{00000000-6CEC-43F0-BD96-3003DBF24376}"/>
            </c:ext>
          </c:extLst>
        </c:ser>
        <c:ser>
          <c:idx val="1"/>
          <c:order val="1"/>
          <c:tx>
            <c:strRef>
              <c:f>Sheet1!$C$1</c:f>
              <c:strCache>
                <c:ptCount val="1"/>
                <c:pt idx="0">
                  <c:v>System Request</c:v>
                </c:pt>
              </c:strCache>
            </c:strRef>
          </c:tx>
          <c:cat>
            <c:strRef>
              <c:f>Sheet1!$A$2:$A$4</c:f>
              <c:strCache>
                <c:ptCount val="3"/>
                <c:pt idx="0">
                  <c:v>Panel</c:v>
                </c:pt>
                <c:pt idx="1">
                  <c:v>Track</c:v>
                </c:pt>
                <c:pt idx="2">
                  <c:v>Token</c:v>
                </c:pt>
              </c:strCache>
            </c:strRef>
          </c:cat>
          <c:val>
            <c:numRef>
              <c:f>Sheet1!$C$2:$C$4</c:f>
              <c:numCache>
                <c:formatCode>General</c:formatCode>
                <c:ptCount val="3"/>
                <c:pt idx="0">
                  <c:v>61</c:v>
                </c:pt>
                <c:pt idx="1">
                  <c:v>44</c:v>
                </c:pt>
                <c:pt idx="2">
                  <c:v>76</c:v>
                </c:pt>
              </c:numCache>
            </c:numRef>
          </c:val>
          <c:smooth val="0"/>
          <c:extLst>
            <c:ext xmlns:c16="http://schemas.microsoft.com/office/drawing/2014/chart" uri="{C3380CC4-5D6E-409C-BE32-E72D297353CC}">
              <c16:uniqueId val="{00000001-6CEC-43F0-BD96-3003DBF2437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Flow Waypoint Field Source</a:t>
            </a:r>
          </a:p>
        </c:rich>
      </c:tx>
      <c:overlay val="0"/>
    </c:title>
    <c:autoTitleDeleted val="0"/>
    <c:plotArea>
      <c:layout/>
      <c:areaChart>
        <c:grouping val="standard"/>
        <c:varyColors val="0"/>
        <c:ser>
          <c:idx val="0"/>
          <c:order val="0"/>
          <c:tx>
            <c:strRef>
              <c:f>Sheet1!$B$1</c:f>
              <c:strCache>
                <c:ptCount val="1"/>
                <c:pt idx="0">
                  <c:v>Balance</c:v>
                </c:pt>
              </c:strCache>
            </c:strRef>
          </c:tx>
          <c:cat>
            <c:strRef>
              <c:f>Sheet1!$A$2:$A$5</c:f>
              <c:strCache>
                <c:ptCount val="4"/>
                <c:pt idx="0">
                  <c:v>Status</c:v>
                </c:pt>
                <c:pt idx="1">
                  <c:v>Apex</c:v>
                </c:pt>
                <c:pt idx="2">
                  <c:v>Route</c:v>
                </c:pt>
                <c:pt idx="3">
                  <c:v>Payload</c:v>
                </c:pt>
              </c:strCache>
            </c:strRef>
          </c:cat>
          <c:val>
            <c:numRef>
              <c:f>Sheet1!$B$2:$B$5</c:f>
              <c:numCache>
                <c:formatCode>General</c:formatCode>
                <c:ptCount val="4"/>
                <c:pt idx="0">
                  <c:v>44</c:v>
                </c:pt>
                <c:pt idx="1">
                  <c:v>39</c:v>
                </c:pt>
                <c:pt idx="2">
                  <c:v>8</c:v>
                </c:pt>
                <c:pt idx="3">
                  <c:v>43</c:v>
                </c:pt>
              </c:numCache>
            </c:numRef>
          </c:val>
          <c:extLst>
            <c:ext xmlns:c16="http://schemas.microsoft.com/office/drawing/2014/chart" uri="{C3380CC4-5D6E-409C-BE32-E72D297353CC}">
              <c16:uniqueId val="{00000000-0F98-49A1-803B-F0977B1B821D}"/>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1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Mesh Switch</c:v>
                </c:pt>
              </c:strCache>
            </c:strRef>
          </c:tx>
          <c:cat>
            <c:strRef>
              <c:f>Sheet1!$A$2:$A$4</c:f>
              <c:strCache>
                <c:ptCount val="3"/>
                <c:pt idx="0">
                  <c:v>Level</c:v>
                </c:pt>
                <c:pt idx="1">
                  <c:v>Depth</c:v>
                </c:pt>
                <c:pt idx="2">
                  <c:v>Pixel</c:v>
                </c:pt>
              </c:strCache>
            </c:strRef>
          </c:cat>
          <c:val>
            <c:numRef>
              <c:f>Sheet1!$B$2:$B$4</c:f>
              <c:numCache>
                <c:formatCode>General</c:formatCode>
                <c:ptCount val="3"/>
                <c:pt idx="0">
                  <c:v>84</c:v>
                </c:pt>
                <c:pt idx="1">
                  <c:v>34</c:v>
                </c:pt>
                <c:pt idx="2">
                  <c:v>94</c:v>
                </c:pt>
              </c:numCache>
            </c:numRef>
          </c:val>
          <c:extLst>
            <c:ext xmlns:c16="http://schemas.microsoft.com/office/drawing/2014/chart" uri="{C3380CC4-5D6E-409C-BE32-E72D297353CC}">
              <c16:uniqueId val="{00000000-4090-4873-88EB-EE92B937AF69}"/>
            </c:ext>
          </c:extLst>
        </c:ser>
        <c:ser>
          <c:idx val="1"/>
          <c:order val="1"/>
          <c:tx>
            <c:strRef>
              <c:f>Sheet1!$C$1</c:f>
              <c:strCache>
                <c:ptCount val="1"/>
                <c:pt idx="0">
                  <c:v>Result</c:v>
                </c:pt>
              </c:strCache>
            </c:strRef>
          </c:tx>
          <c:cat>
            <c:strRef>
              <c:f>Sheet1!$A$2:$A$4</c:f>
              <c:strCache>
                <c:ptCount val="3"/>
                <c:pt idx="0">
                  <c:v>Level</c:v>
                </c:pt>
                <c:pt idx="1">
                  <c:v>Depth</c:v>
                </c:pt>
                <c:pt idx="2">
                  <c:v>Pixel</c:v>
                </c:pt>
              </c:strCache>
            </c:strRef>
          </c:cat>
          <c:val>
            <c:numRef>
              <c:f>Sheet1!$C$2:$C$4</c:f>
              <c:numCache>
                <c:formatCode>General</c:formatCode>
                <c:ptCount val="3"/>
                <c:pt idx="0">
                  <c:v>33</c:v>
                </c:pt>
                <c:pt idx="1">
                  <c:v>83</c:v>
                </c:pt>
                <c:pt idx="2">
                  <c:v>80</c:v>
                </c:pt>
              </c:numCache>
            </c:numRef>
          </c:val>
          <c:extLst>
            <c:ext xmlns:c16="http://schemas.microsoft.com/office/drawing/2014/chart" uri="{C3380CC4-5D6E-409C-BE32-E72D297353CC}">
              <c16:uniqueId val="{00000001-4090-4873-88EB-EE92B937AF69}"/>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Method Version</c:v>
                </c:pt>
              </c:strCache>
            </c:strRef>
          </c:tx>
          <c:invertIfNegative val="1"/>
          <c:cat>
            <c:strRef>
              <c:f>Sheet1!$A$2:$A$5</c:f>
              <c:strCache>
                <c:ptCount val="4"/>
                <c:pt idx="0">
                  <c:v>Profile</c:v>
                </c:pt>
                <c:pt idx="1">
                  <c:v>State</c:v>
                </c:pt>
                <c:pt idx="2">
                  <c:v>Drive</c:v>
                </c:pt>
                <c:pt idx="3">
                  <c:v>Compass</c:v>
                </c:pt>
              </c:strCache>
            </c:strRef>
          </c:cat>
          <c:val>
            <c:numRef>
              <c:f>Sheet1!$B$2:$B$5</c:f>
              <c:numCache>
                <c:formatCode>General</c:formatCode>
                <c:ptCount val="4"/>
                <c:pt idx="0">
                  <c:v>57</c:v>
                </c:pt>
                <c:pt idx="1">
                  <c:v>26</c:v>
                </c:pt>
                <c:pt idx="2">
                  <c:v>34</c:v>
                </c:pt>
                <c:pt idx="3">
                  <c:v>16</c:v>
                </c:pt>
              </c:numCache>
            </c:numRef>
          </c:val>
          <c:extLst>
            <c:ext xmlns:c16="http://schemas.microsoft.com/office/drawing/2014/chart" uri="{C3380CC4-5D6E-409C-BE32-E72D297353CC}">
              <c16:uniqueId val="{00000000-E3BB-4D37-83FA-492E1FF66A88}"/>
            </c:ext>
          </c:extLst>
        </c:ser>
        <c:ser>
          <c:idx val="1"/>
          <c:order val="1"/>
          <c:tx>
            <c:strRef>
              <c:f>Sheet1!$C$1</c:f>
              <c:strCache>
                <c:ptCount val="1"/>
                <c:pt idx="0">
                  <c:v>Adaptive</c:v>
                </c:pt>
              </c:strCache>
            </c:strRef>
          </c:tx>
          <c:invertIfNegative val="1"/>
          <c:cat>
            <c:strRef>
              <c:f>Sheet1!$A$2:$A$5</c:f>
              <c:strCache>
                <c:ptCount val="4"/>
                <c:pt idx="0">
                  <c:v>Profile</c:v>
                </c:pt>
                <c:pt idx="1">
                  <c:v>State</c:v>
                </c:pt>
                <c:pt idx="2">
                  <c:v>Drive</c:v>
                </c:pt>
                <c:pt idx="3">
                  <c:v>Compass</c:v>
                </c:pt>
              </c:strCache>
            </c:strRef>
          </c:cat>
          <c:val>
            <c:numRef>
              <c:f>Sheet1!$C$2:$C$5</c:f>
              <c:numCache>
                <c:formatCode>General</c:formatCode>
                <c:ptCount val="4"/>
                <c:pt idx="0">
                  <c:v>18</c:v>
                </c:pt>
                <c:pt idx="1">
                  <c:v>92</c:v>
                </c:pt>
                <c:pt idx="2">
                  <c:v>19</c:v>
                </c:pt>
                <c:pt idx="3">
                  <c:v>91</c:v>
                </c:pt>
              </c:numCache>
            </c:numRef>
          </c:val>
          <c:extLst>
            <c:ext xmlns:c16="http://schemas.microsoft.com/office/drawing/2014/chart" uri="{C3380CC4-5D6E-409C-BE32-E72D297353CC}">
              <c16:uniqueId val="{00000001-E3BB-4D37-83FA-492E1FF66A88}"/>
            </c:ext>
          </c:extLst>
        </c:ser>
        <c:ser>
          <c:idx val="2"/>
          <c:order val="2"/>
          <c:tx>
            <c:strRef>
              <c:f>Sheet1!$D$1</c:f>
              <c:strCache>
                <c:ptCount val="1"/>
                <c:pt idx="0">
                  <c:v>Narrative</c:v>
                </c:pt>
              </c:strCache>
            </c:strRef>
          </c:tx>
          <c:invertIfNegative val="1"/>
          <c:cat>
            <c:strRef>
              <c:f>Sheet1!$A$2:$A$5</c:f>
              <c:strCache>
                <c:ptCount val="4"/>
                <c:pt idx="0">
                  <c:v>Profile</c:v>
                </c:pt>
                <c:pt idx="1">
                  <c:v>State</c:v>
                </c:pt>
                <c:pt idx="2">
                  <c:v>Drive</c:v>
                </c:pt>
                <c:pt idx="3">
                  <c:v>Compass</c:v>
                </c:pt>
              </c:strCache>
            </c:strRef>
          </c:cat>
          <c:val>
            <c:numRef>
              <c:f>Sheet1!$D$2:$D$5</c:f>
              <c:numCache>
                <c:formatCode>General</c:formatCode>
                <c:ptCount val="4"/>
                <c:pt idx="0">
                  <c:v>13</c:v>
                </c:pt>
                <c:pt idx="1">
                  <c:v>31</c:v>
                </c:pt>
                <c:pt idx="2">
                  <c:v>61</c:v>
                </c:pt>
                <c:pt idx="3">
                  <c:v>83</c:v>
                </c:pt>
              </c:numCache>
            </c:numRef>
          </c:val>
          <c:extLst>
            <c:ext xmlns:c16="http://schemas.microsoft.com/office/drawing/2014/chart" uri="{C3380CC4-5D6E-409C-BE32-E72D297353CC}">
              <c16:uniqueId val="{00000002-E3BB-4D37-83FA-492E1FF66A8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Drift Path</c:v>
                </c:pt>
              </c:strCache>
            </c:strRef>
          </c:tx>
          <c:invertIfNegative val="1"/>
          <c:cat>
            <c:strRef>
              <c:f>Sheet1!$A$2:$A$4</c:f>
              <c:strCache>
                <c:ptCount val="3"/>
                <c:pt idx="0">
                  <c:v>Sequence</c:v>
                </c:pt>
                <c:pt idx="1">
                  <c:v>Node</c:v>
                </c:pt>
                <c:pt idx="2">
                  <c:v>Cycle</c:v>
                </c:pt>
              </c:strCache>
            </c:strRef>
          </c:cat>
          <c:val>
            <c:numRef>
              <c:f>Sheet1!$B$2:$B$4</c:f>
              <c:numCache>
                <c:formatCode>General</c:formatCode>
                <c:ptCount val="3"/>
                <c:pt idx="0">
                  <c:v>10</c:v>
                </c:pt>
                <c:pt idx="1">
                  <c:v>45</c:v>
                </c:pt>
                <c:pt idx="2">
                  <c:v>48</c:v>
                </c:pt>
              </c:numCache>
            </c:numRef>
          </c:val>
          <c:extLst>
            <c:ext xmlns:c16="http://schemas.microsoft.com/office/drawing/2014/chart" uri="{C3380CC4-5D6E-409C-BE32-E72D297353CC}">
              <c16:uniqueId val="{00000000-F074-439D-B1DB-DAF0D9A8DE3E}"/>
            </c:ext>
          </c:extLst>
        </c:ser>
        <c:ser>
          <c:idx val="1"/>
          <c:order val="1"/>
          <c:tx>
            <c:strRef>
              <c:f>Sheet1!$C$1</c:f>
              <c:strCache>
                <c:ptCount val="1"/>
                <c:pt idx="0">
                  <c:v>Compass</c:v>
                </c:pt>
              </c:strCache>
            </c:strRef>
          </c:tx>
          <c:invertIfNegative val="1"/>
          <c:cat>
            <c:strRef>
              <c:f>Sheet1!$A$2:$A$4</c:f>
              <c:strCache>
                <c:ptCount val="3"/>
                <c:pt idx="0">
                  <c:v>Sequence</c:v>
                </c:pt>
                <c:pt idx="1">
                  <c:v>Node</c:v>
                </c:pt>
                <c:pt idx="2">
                  <c:v>Cycle</c:v>
                </c:pt>
              </c:strCache>
            </c:strRef>
          </c:cat>
          <c:val>
            <c:numRef>
              <c:f>Sheet1!$C$2:$C$4</c:f>
              <c:numCache>
                <c:formatCode>General</c:formatCode>
                <c:ptCount val="3"/>
                <c:pt idx="0">
                  <c:v>58</c:v>
                </c:pt>
                <c:pt idx="1">
                  <c:v>61</c:v>
                </c:pt>
                <c:pt idx="2">
                  <c:v>27</c:v>
                </c:pt>
              </c:numCache>
            </c:numRef>
          </c:val>
          <c:extLst>
            <c:ext xmlns:c16="http://schemas.microsoft.com/office/drawing/2014/chart" uri="{C3380CC4-5D6E-409C-BE32-E72D297353CC}">
              <c16:uniqueId val="{00000001-F074-439D-B1DB-DAF0D9A8DE3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Harbor</c:v>
                </c:pt>
              </c:strCache>
            </c:strRef>
          </c:tx>
          <c:cat>
            <c:strRef>
              <c:f>Sheet1!$A$2:$A$6</c:f>
              <c:strCache>
                <c:ptCount val="5"/>
                <c:pt idx="0">
                  <c:v>Exchange</c:v>
                </c:pt>
                <c:pt idx="1">
                  <c:v>Design</c:v>
                </c:pt>
                <c:pt idx="2">
                  <c:v>Command</c:v>
                </c:pt>
                <c:pt idx="3">
                  <c:v>Estimate</c:v>
                </c:pt>
                <c:pt idx="4">
                  <c:v>Limit</c:v>
                </c:pt>
              </c:strCache>
            </c:strRef>
          </c:cat>
          <c:val>
            <c:numRef>
              <c:f>Sheet1!$B$2:$B$6</c:f>
              <c:numCache>
                <c:formatCode>General</c:formatCode>
                <c:ptCount val="5"/>
                <c:pt idx="0">
                  <c:v>79</c:v>
                </c:pt>
                <c:pt idx="1">
                  <c:v>65</c:v>
                </c:pt>
                <c:pt idx="2">
                  <c:v>38</c:v>
                </c:pt>
                <c:pt idx="3">
                  <c:v>48</c:v>
                </c:pt>
                <c:pt idx="4">
                  <c:v>36</c:v>
                </c:pt>
              </c:numCache>
            </c:numRef>
          </c:val>
          <c:smooth val="0"/>
          <c:extLst>
            <c:ext xmlns:c16="http://schemas.microsoft.com/office/drawing/2014/chart" uri="{C3380CC4-5D6E-409C-BE32-E72D297353CC}">
              <c16:uniqueId val="{00000000-7CFB-47E8-9BFD-605DB433A12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Delta Map Alignment Stack</a:t>
            </a:r>
          </a:p>
        </c:rich>
      </c:tx>
      <c:overlay val="0"/>
    </c:title>
    <c:autoTitleDeleted val="0"/>
    <c:plotArea>
      <c:layout/>
      <c:barChart>
        <c:barDir val="col"/>
        <c:grouping val="clustered"/>
        <c:varyColors val="1"/>
        <c:ser>
          <c:idx val="0"/>
          <c:order val="0"/>
          <c:tx>
            <c:strRef>
              <c:f>Sheet1!$B$1</c:f>
              <c:strCache>
                <c:ptCount val="1"/>
                <c:pt idx="0">
                  <c:v>Diagram</c:v>
                </c:pt>
              </c:strCache>
            </c:strRef>
          </c:tx>
          <c:invertIfNegative val="1"/>
          <c:cat>
            <c:strRef>
              <c:f>Sheet1!$A$2:$A$7</c:f>
              <c:strCache>
                <c:ptCount val="6"/>
                <c:pt idx="0">
                  <c:v>Feature</c:v>
                </c:pt>
                <c:pt idx="1">
                  <c:v>Portal</c:v>
                </c:pt>
                <c:pt idx="2">
                  <c:v>Gradient</c:v>
                </c:pt>
                <c:pt idx="3">
                  <c:v>Summary</c:v>
                </c:pt>
                <c:pt idx="4">
                  <c:v>Heading</c:v>
                </c:pt>
                <c:pt idx="5">
                  <c:v>Signal</c:v>
                </c:pt>
              </c:strCache>
            </c:strRef>
          </c:cat>
          <c:val>
            <c:numRef>
              <c:f>Sheet1!$B$2:$B$7</c:f>
              <c:numCache>
                <c:formatCode>General</c:formatCode>
                <c:ptCount val="6"/>
                <c:pt idx="0">
                  <c:v>47</c:v>
                </c:pt>
                <c:pt idx="1">
                  <c:v>10</c:v>
                </c:pt>
                <c:pt idx="2">
                  <c:v>16</c:v>
                </c:pt>
                <c:pt idx="3">
                  <c:v>56</c:v>
                </c:pt>
                <c:pt idx="4">
                  <c:v>76</c:v>
                </c:pt>
                <c:pt idx="5">
                  <c:v>33</c:v>
                </c:pt>
              </c:numCache>
            </c:numRef>
          </c:val>
          <c:extLst>
            <c:ext xmlns:c16="http://schemas.microsoft.com/office/drawing/2014/chart" uri="{C3380CC4-5D6E-409C-BE32-E72D297353CC}">
              <c16:uniqueId val="{00000000-FC8B-4803-BC37-68EB51E48A72}"/>
            </c:ext>
          </c:extLst>
        </c:ser>
        <c:ser>
          <c:idx val="1"/>
          <c:order val="1"/>
          <c:tx>
            <c:strRef>
              <c:f>Sheet1!$C$1</c:f>
              <c:strCache>
                <c:ptCount val="1"/>
                <c:pt idx="0">
                  <c:v>Node Concept</c:v>
                </c:pt>
              </c:strCache>
            </c:strRef>
          </c:tx>
          <c:invertIfNegative val="1"/>
          <c:cat>
            <c:strRef>
              <c:f>Sheet1!$A$2:$A$7</c:f>
              <c:strCache>
                <c:ptCount val="6"/>
                <c:pt idx="0">
                  <c:v>Feature</c:v>
                </c:pt>
                <c:pt idx="1">
                  <c:v>Portal</c:v>
                </c:pt>
                <c:pt idx="2">
                  <c:v>Gradient</c:v>
                </c:pt>
                <c:pt idx="3">
                  <c:v>Summary</c:v>
                </c:pt>
                <c:pt idx="4">
                  <c:v>Heading</c:v>
                </c:pt>
                <c:pt idx="5">
                  <c:v>Signal</c:v>
                </c:pt>
              </c:strCache>
            </c:strRef>
          </c:cat>
          <c:val>
            <c:numRef>
              <c:f>Sheet1!$C$2:$C$7</c:f>
              <c:numCache>
                <c:formatCode>General</c:formatCode>
                <c:ptCount val="6"/>
                <c:pt idx="0">
                  <c:v>14</c:v>
                </c:pt>
                <c:pt idx="1">
                  <c:v>31</c:v>
                </c:pt>
                <c:pt idx="2">
                  <c:v>37</c:v>
                </c:pt>
                <c:pt idx="3">
                  <c:v>42</c:v>
                </c:pt>
                <c:pt idx="4">
                  <c:v>92</c:v>
                </c:pt>
                <c:pt idx="5">
                  <c:v>57</c:v>
                </c:pt>
              </c:numCache>
            </c:numRef>
          </c:val>
          <c:extLst>
            <c:ext xmlns:c16="http://schemas.microsoft.com/office/drawing/2014/chart" uri="{C3380CC4-5D6E-409C-BE32-E72D297353CC}">
              <c16:uniqueId val="{00000001-FC8B-4803-BC37-68EB51E48A72}"/>
            </c:ext>
          </c:extLst>
        </c:ser>
        <c:ser>
          <c:idx val="2"/>
          <c:order val="2"/>
          <c:tx>
            <c:strRef>
              <c:f>Sheet1!$D$1</c:f>
              <c:strCache>
                <c:ptCount val="1"/>
                <c:pt idx="0">
                  <c:v>Dispatch</c:v>
                </c:pt>
              </c:strCache>
            </c:strRef>
          </c:tx>
          <c:invertIfNegative val="1"/>
          <c:cat>
            <c:strRef>
              <c:f>Sheet1!$A$2:$A$7</c:f>
              <c:strCache>
                <c:ptCount val="6"/>
                <c:pt idx="0">
                  <c:v>Feature</c:v>
                </c:pt>
                <c:pt idx="1">
                  <c:v>Portal</c:v>
                </c:pt>
                <c:pt idx="2">
                  <c:v>Gradient</c:v>
                </c:pt>
                <c:pt idx="3">
                  <c:v>Summary</c:v>
                </c:pt>
                <c:pt idx="4">
                  <c:v>Heading</c:v>
                </c:pt>
                <c:pt idx="5">
                  <c:v>Signal</c:v>
                </c:pt>
              </c:strCache>
            </c:strRef>
          </c:cat>
          <c:val>
            <c:numRef>
              <c:f>Sheet1!$D$2:$D$7</c:f>
              <c:numCache>
                <c:formatCode>General</c:formatCode>
                <c:ptCount val="6"/>
                <c:pt idx="0">
                  <c:v>66</c:v>
                </c:pt>
                <c:pt idx="1">
                  <c:v>63</c:v>
                </c:pt>
                <c:pt idx="2">
                  <c:v>83</c:v>
                </c:pt>
                <c:pt idx="3">
                  <c:v>83</c:v>
                </c:pt>
                <c:pt idx="4">
                  <c:v>48</c:v>
                </c:pt>
                <c:pt idx="5">
                  <c:v>71</c:v>
                </c:pt>
              </c:numCache>
            </c:numRef>
          </c:val>
          <c:extLst>
            <c:ext xmlns:c16="http://schemas.microsoft.com/office/drawing/2014/chart" uri="{C3380CC4-5D6E-409C-BE32-E72D297353CC}">
              <c16:uniqueId val="{00000002-FC8B-4803-BC37-68EB51E48A7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Milestone Element</c:v>
                </c:pt>
              </c:strCache>
            </c:strRef>
          </c:tx>
          <c:cat>
            <c:strRef>
              <c:f>Sheet1!$A$2:$A$7</c:f>
              <c:strCache>
                <c:ptCount val="6"/>
                <c:pt idx="0">
                  <c:v>Cycle</c:v>
                </c:pt>
                <c:pt idx="1">
                  <c:v>Design</c:v>
                </c:pt>
                <c:pt idx="2">
                  <c:v>Edge</c:v>
                </c:pt>
                <c:pt idx="3">
                  <c:v>Horizon</c:v>
                </c:pt>
                <c:pt idx="4">
                  <c:v>Surface</c:v>
                </c:pt>
                <c:pt idx="5">
                  <c:v>Density</c:v>
                </c:pt>
              </c:strCache>
            </c:strRef>
          </c:cat>
          <c:val>
            <c:numRef>
              <c:f>Sheet1!$B$2:$B$7</c:f>
              <c:numCache>
                <c:formatCode>General</c:formatCode>
                <c:ptCount val="6"/>
                <c:pt idx="0">
                  <c:v>22</c:v>
                </c:pt>
                <c:pt idx="1">
                  <c:v>63</c:v>
                </c:pt>
                <c:pt idx="2">
                  <c:v>76</c:v>
                </c:pt>
                <c:pt idx="3">
                  <c:v>76</c:v>
                </c:pt>
                <c:pt idx="4">
                  <c:v>46</c:v>
                </c:pt>
                <c:pt idx="5">
                  <c:v>71</c:v>
                </c:pt>
              </c:numCache>
            </c:numRef>
          </c:val>
          <c:extLst>
            <c:ext xmlns:c16="http://schemas.microsoft.com/office/drawing/2014/chart" uri="{C3380CC4-5D6E-409C-BE32-E72D297353CC}">
              <c16:uniqueId val="{00000000-5395-4AC4-AC35-1DED9FEB6CBF}"/>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Alpha Beta Array Lens</a:t>
            </a:r>
          </a:p>
        </c:rich>
      </c:tx>
      <c:overlay val="0"/>
    </c:title>
    <c:autoTitleDeleted val="0"/>
    <c:plotArea>
      <c:layout/>
      <c:doughnutChart>
        <c:varyColors val="1"/>
        <c:ser>
          <c:idx val="0"/>
          <c:order val="0"/>
          <c:tx>
            <c:strRef>
              <c:f>Sheet1!$B$1</c:f>
              <c:strCache>
                <c:ptCount val="1"/>
                <c:pt idx="0">
                  <c:v>Lens Loop</c:v>
                </c:pt>
              </c:strCache>
            </c:strRef>
          </c:tx>
          <c:cat>
            <c:strRef>
              <c:f>Sheet1!$A$2:$A$5</c:f>
              <c:strCache>
                <c:ptCount val="4"/>
                <c:pt idx="0">
                  <c:v>Moment</c:v>
                </c:pt>
                <c:pt idx="1">
                  <c:v>Signal</c:v>
                </c:pt>
                <c:pt idx="2">
                  <c:v>Harbor</c:v>
                </c:pt>
                <c:pt idx="3">
                  <c:v>Spectrum</c:v>
                </c:pt>
              </c:strCache>
            </c:strRef>
          </c:cat>
          <c:val>
            <c:numRef>
              <c:f>Sheet1!$B$2:$B$5</c:f>
              <c:numCache>
                <c:formatCode>General</c:formatCode>
                <c:ptCount val="4"/>
                <c:pt idx="0">
                  <c:v>29</c:v>
                </c:pt>
                <c:pt idx="1">
                  <c:v>8</c:v>
                </c:pt>
                <c:pt idx="2">
                  <c:v>63</c:v>
                </c:pt>
                <c:pt idx="3">
                  <c:v>21</c:v>
                </c:pt>
              </c:numCache>
            </c:numRef>
          </c:val>
          <c:extLst>
            <c:ext xmlns:c16="http://schemas.microsoft.com/office/drawing/2014/chart" uri="{C3380CC4-5D6E-409C-BE32-E72D297353CC}">
              <c16:uniqueId val="{00000000-6F54-4A97-B556-DED52EF7490D}"/>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Factor Library Lineage</a:t>
            </a:r>
          </a:p>
        </c:rich>
      </c:tx>
      <c:overlay val="0"/>
    </c:title>
    <c:autoTitleDeleted val="0"/>
    <c:plotArea>
      <c:layout/>
      <c:barChart>
        <c:barDir val="col"/>
        <c:grouping val="clustered"/>
        <c:varyColors val="1"/>
        <c:ser>
          <c:idx val="0"/>
          <c:order val="0"/>
          <c:tx>
            <c:strRef>
              <c:f>Sheet1!$B$1</c:f>
              <c:strCache>
                <c:ptCount val="1"/>
                <c:pt idx="0">
                  <c:v>Apex Layer</c:v>
                </c:pt>
              </c:strCache>
            </c:strRef>
          </c:tx>
          <c:invertIfNegative val="1"/>
          <c:cat>
            <c:strRef>
              <c:f>Sheet1!$A$2:$A$7</c:f>
              <c:strCache>
                <c:ptCount val="6"/>
                <c:pt idx="0">
                  <c:v>Cell</c:v>
                </c:pt>
                <c:pt idx="1">
                  <c:v>Proof</c:v>
                </c:pt>
                <c:pt idx="2">
                  <c:v>Drive</c:v>
                </c:pt>
                <c:pt idx="3">
                  <c:v>Scope</c:v>
                </c:pt>
                <c:pt idx="4">
                  <c:v>Library</c:v>
                </c:pt>
                <c:pt idx="5">
                  <c:v>Density</c:v>
                </c:pt>
              </c:strCache>
            </c:strRef>
          </c:cat>
          <c:val>
            <c:numRef>
              <c:f>Sheet1!$B$2:$B$7</c:f>
              <c:numCache>
                <c:formatCode>General</c:formatCode>
                <c:ptCount val="6"/>
                <c:pt idx="0">
                  <c:v>11</c:v>
                </c:pt>
                <c:pt idx="1">
                  <c:v>37</c:v>
                </c:pt>
                <c:pt idx="2">
                  <c:v>16</c:v>
                </c:pt>
                <c:pt idx="3">
                  <c:v>74</c:v>
                </c:pt>
                <c:pt idx="4">
                  <c:v>18</c:v>
                </c:pt>
                <c:pt idx="5">
                  <c:v>82</c:v>
                </c:pt>
              </c:numCache>
            </c:numRef>
          </c:val>
          <c:extLst>
            <c:ext xmlns:c16="http://schemas.microsoft.com/office/drawing/2014/chart" uri="{C3380CC4-5D6E-409C-BE32-E72D297353CC}">
              <c16:uniqueId val="{00000000-9479-4610-B426-766799FB938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Reserve Group</c:v>
                </c:pt>
              </c:strCache>
            </c:strRef>
          </c:tx>
          <c:cat>
            <c:strRef>
              <c:f>Sheet1!$A$2:$A$4</c:f>
              <c:strCache>
                <c:ptCount val="3"/>
                <c:pt idx="0">
                  <c:v>Model</c:v>
                </c:pt>
                <c:pt idx="1">
                  <c:v>Query</c:v>
                </c:pt>
                <c:pt idx="2">
                  <c:v>Case</c:v>
                </c:pt>
              </c:strCache>
            </c:strRef>
          </c:cat>
          <c:val>
            <c:numRef>
              <c:f>Sheet1!$B$2:$B$4</c:f>
              <c:numCache>
                <c:formatCode>General</c:formatCode>
                <c:ptCount val="3"/>
                <c:pt idx="0">
                  <c:v>33</c:v>
                </c:pt>
                <c:pt idx="1">
                  <c:v>79</c:v>
                </c:pt>
                <c:pt idx="2">
                  <c:v>11</c:v>
                </c:pt>
              </c:numCache>
            </c:numRef>
          </c:val>
          <c:extLst>
            <c:ext xmlns:c16="http://schemas.microsoft.com/office/drawing/2014/chart" uri="{C3380CC4-5D6E-409C-BE32-E72D297353CC}">
              <c16:uniqueId val="{00000000-4071-4C5B-A42B-7FF67441654D}"/>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1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Delta Thread</c:v>
                </c:pt>
              </c:strCache>
            </c:strRef>
          </c:tx>
          <c:cat>
            <c:strRef>
              <c:f>Sheet1!$A$2:$A$5</c:f>
              <c:strCache>
                <c:ptCount val="4"/>
                <c:pt idx="0">
                  <c:v>Portal</c:v>
                </c:pt>
                <c:pt idx="1">
                  <c:v>Cycle</c:v>
                </c:pt>
                <c:pt idx="2">
                  <c:v>Deck</c:v>
                </c:pt>
                <c:pt idx="3">
                  <c:v>System</c:v>
                </c:pt>
              </c:strCache>
            </c:strRef>
          </c:cat>
          <c:val>
            <c:numRef>
              <c:f>Sheet1!$B$2:$B$5</c:f>
              <c:numCache>
                <c:formatCode>General</c:formatCode>
                <c:ptCount val="4"/>
                <c:pt idx="0">
                  <c:v>24</c:v>
                </c:pt>
                <c:pt idx="1">
                  <c:v>79</c:v>
                </c:pt>
                <c:pt idx="2">
                  <c:v>10</c:v>
                </c:pt>
                <c:pt idx="3">
                  <c:v>44</c:v>
                </c:pt>
              </c:numCache>
            </c:numRef>
          </c:val>
          <c:extLst>
            <c:ext xmlns:c16="http://schemas.microsoft.com/office/drawing/2014/chart" uri="{C3380CC4-5D6E-409C-BE32-E72D297353CC}">
              <c16:uniqueId val="{00000000-0CEC-4D44-8AD7-66B602DD5B7B}"/>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Register Drive Spectrum</a:t>
            </a:r>
          </a:p>
        </c:rich>
      </c:tx>
      <c:overlay val="0"/>
    </c:title>
    <c:autoTitleDeleted val="0"/>
    <c:plotArea>
      <c:layout/>
      <c:doughnutChart>
        <c:varyColors val="1"/>
        <c:ser>
          <c:idx val="0"/>
          <c:order val="0"/>
          <c:tx>
            <c:strRef>
              <c:f>Sheet1!$B$1</c:f>
              <c:strCache>
                <c:ptCount val="1"/>
                <c:pt idx="0">
                  <c:v>Template Pixel</c:v>
                </c:pt>
              </c:strCache>
            </c:strRef>
          </c:tx>
          <c:cat>
            <c:strRef>
              <c:f>Sheet1!$A$2:$A$5</c:f>
              <c:strCache>
                <c:ptCount val="4"/>
                <c:pt idx="0">
                  <c:v>View</c:v>
                </c:pt>
                <c:pt idx="1">
                  <c:v>Bridge</c:v>
                </c:pt>
                <c:pt idx="2">
                  <c:v>Sync</c:v>
                </c:pt>
                <c:pt idx="3">
                  <c:v>Queue</c:v>
                </c:pt>
              </c:strCache>
            </c:strRef>
          </c:cat>
          <c:val>
            <c:numRef>
              <c:f>Sheet1!$B$2:$B$5</c:f>
              <c:numCache>
                <c:formatCode>General</c:formatCode>
                <c:ptCount val="4"/>
                <c:pt idx="0">
                  <c:v>81</c:v>
                </c:pt>
                <c:pt idx="1">
                  <c:v>40</c:v>
                </c:pt>
                <c:pt idx="2">
                  <c:v>30</c:v>
                </c:pt>
                <c:pt idx="3">
                  <c:v>93</c:v>
                </c:pt>
              </c:numCache>
            </c:numRef>
          </c:val>
          <c:extLst>
            <c:ext xmlns:c16="http://schemas.microsoft.com/office/drawing/2014/chart" uri="{C3380CC4-5D6E-409C-BE32-E72D297353CC}">
              <c16:uniqueId val="{00000000-2DF2-47E8-AB10-4C36A2CF0032}"/>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Snapshot Compass</a:t>
            </a:r>
          </a:p>
        </c:rich>
      </c:tx>
      <c:overlay val="0"/>
    </c:title>
    <c:autoTitleDeleted val="0"/>
    <c:plotArea>
      <c:layout/>
      <c:areaChart>
        <c:grouping val="standard"/>
        <c:varyColors val="0"/>
        <c:ser>
          <c:idx val="0"/>
          <c:order val="0"/>
          <c:tx>
            <c:strRef>
              <c:f>Sheet1!$B$1</c:f>
              <c:strCache>
                <c:ptCount val="1"/>
                <c:pt idx="0">
                  <c:v>Service</c:v>
                </c:pt>
              </c:strCache>
            </c:strRef>
          </c:tx>
          <c:cat>
            <c:strRef>
              <c:f>Sheet1!$A$2:$A$7</c:f>
              <c:strCache>
                <c:ptCount val="6"/>
                <c:pt idx="0">
                  <c:v>Map</c:v>
                </c:pt>
                <c:pt idx="1">
                  <c:v>Segment</c:v>
                </c:pt>
                <c:pt idx="2">
                  <c:v>Marker</c:v>
                </c:pt>
                <c:pt idx="3">
                  <c:v>Texture</c:v>
                </c:pt>
                <c:pt idx="4">
                  <c:v>Portal</c:v>
                </c:pt>
                <c:pt idx="5">
                  <c:v>Datum</c:v>
                </c:pt>
              </c:strCache>
            </c:strRef>
          </c:cat>
          <c:val>
            <c:numRef>
              <c:f>Sheet1!$B$2:$B$7</c:f>
              <c:numCache>
                <c:formatCode>General</c:formatCode>
                <c:ptCount val="6"/>
                <c:pt idx="0">
                  <c:v>52</c:v>
                </c:pt>
                <c:pt idx="1">
                  <c:v>32</c:v>
                </c:pt>
                <c:pt idx="2">
                  <c:v>24</c:v>
                </c:pt>
                <c:pt idx="3">
                  <c:v>64</c:v>
                </c:pt>
                <c:pt idx="4">
                  <c:v>15</c:v>
                </c:pt>
                <c:pt idx="5">
                  <c:v>35</c:v>
                </c:pt>
              </c:numCache>
            </c:numRef>
          </c:val>
          <c:extLst>
            <c:ext xmlns:c16="http://schemas.microsoft.com/office/drawing/2014/chart" uri="{C3380CC4-5D6E-409C-BE32-E72D297353CC}">
              <c16:uniqueId val="{00000000-8D54-4D2E-BE97-9F1A33244714}"/>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Record Queue Network Report Query</a:t>
            </a:r>
          </a:p>
        </c:rich>
      </c:tx>
      <c:overlay val="0"/>
    </c:title>
    <c:autoTitleDeleted val="0"/>
    <c:plotArea>
      <c:layout/>
      <c:lineChart>
        <c:grouping val="standard"/>
        <c:varyColors val="0"/>
        <c:ser>
          <c:idx val="0"/>
          <c:order val="0"/>
          <c:tx>
            <c:strRef>
              <c:f>Sheet1!$B$1</c:f>
              <c:strCache>
                <c:ptCount val="1"/>
                <c:pt idx="0">
                  <c:v>Capacity Interval</c:v>
                </c:pt>
              </c:strCache>
            </c:strRef>
          </c:tx>
          <c:cat>
            <c:strRef>
              <c:f>Sheet1!$A$2:$A$4</c:f>
              <c:strCache>
                <c:ptCount val="3"/>
                <c:pt idx="0">
                  <c:v>Delta</c:v>
                </c:pt>
                <c:pt idx="1">
                  <c:v>Drive</c:v>
                </c:pt>
                <c:pt idx="2">
                  <c:v>Station</c:v>
                </c:pt>
              </c:strCache>
            </c:strRef>
          </c:cat>
          <c:val>
            <c:numRef>
              <c:f>Sheet1!$B$2:$B$4</c:f>
              <c:numCache>
                <c:formatCode>General</c:formatCode>
                <c:ptCount val="3"/>
                <c:pt idx="0">
                  <c:v>47</c:v>
                </c:pt>
                <c:pt idx="1">
                  <c:v>18</c:v>
                </c:pt>
                <c:pt idx="2">
                  <c:v>12</c:v>
                </c:pt>
              </c:numCache>
            </c:numRef>
          </c:val>
          <c:smooth val="0"/>
          <c:extLst>
            <c:ext xmlns:c16="http://schemas.microsoft.com/office/drawing/2014/chart" uri="{C3380CC4-5D6E-409C-BE32-E72D297353CC}">
              <c16:uniqueId val="{00000000-EE2D-450A-89F4-E67E2CFF1FD9}"/>
            </c:ext>
          </c:extLst>
        </c:ser>
        <c:ser>
          <c:idx val="1"/>
          <c:order val="1"/>
          <c:tx>
            <c:strRef>
              <c:f>Sheet1!$C$1</c:f>
              <c:strCache>
                <c:ptCount val="1"/>
                <c:pt idx="0">
                  <c:v>Brief Interval</c:v>
                </c:pt>
              </c:strCache>
            </c:strRef>
          </c:tx>
          <c:cat>
            <c:strRef>
              <c:f>Sheet1!$A$2:$A$4</c:f>
              <c:strCache>
                <c:ptCount val="3"/>
                <c:pt idx="0">
                  <c:v>Delta</c:v>
                </c:pt>
                <c:pt idx="1">
                  <c:v>Drive</c:v>
                </c:pt>
                <c:pt idx="2">
                  <c:v>Station</c:v>
                </c:pt>
              </c:strCache>
            </c:strRef>
          </c:cat>
          <c:val>
            <c:numRef>
              <c:f>Sheet1!$C$2:$C$4</c:f>
              <c:numCache>
                <c:formatCode>General</c:formatCode>
                <c:ptCount val="3"/>
                <c:pt idx="0">
                  <c:v>49</c:v>
                </c:pt>
                <c:pt idx="1">
                  <c:v>45</c:v>
                </c:pt>
                <c:pt idx="2">
                  <c:v>73</c:v>
                </c:pt>
              </c:numCache>
            </c:numRef>
          </c:val>
          <c:smooth val="0"/>
          <c:extLst>
            <c:ext xmlns:c16="http://schemas.microsoft.com/office/drawing/2014/chart" uri="{C3380CC4-5D6E-409C-BE32-E72D297353CC}">
              <c16:uniqueId val="{00000001-EE2D-450A-89F4-E67E2CFF1FD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Scale Origin</c:v>
                </c:pt>
              </c:strCache>
            </c:strRef>
          </c:tx>
          <c:cat>
            <c:strRef>
              <c:f>Sheet1!$A$2:$A$5</c:f>
              <c:strCache>
                <c:ptCount val="4"/>
                <c:pt idx="0">
                  <c:v>Texture</c:v>
                </c:pt>
                <c:pt idx="1">
                  <c:v>Epoch</c:v>
                </c:pt>
                <c:pt idx="2">
                  <c:v>State</c:v>
                </c:pt>
                <c:pt idx="3">
                  <c:v>Group</c:v>
                </c:pt>
              </c:strCache>
            </c:strRef>
          </c:cat>
          <c:val>
            <c:numRef>
              <c:f>Sheet1!$B$2:$B$5</c:f>
              <c:numCache>
                <c:formatCode>General</c:formatCode>
                <c:ptCount val="4"/>
                <c:pt idx="0">
                  <c:v>94</c:v>
                </c:pt>
                <c:pt idx="1">
                  <c:v>78</c:v>
                </c:pt>
                <c:pt idx="2">
                  <c:v>25</c:v>
                </c:pt>
                <c:pt idx="3">
                  <c:v>38</c:v>
                </c:pt>
              </c:numCache>
            </c:numRef>
          </c:val>
          <c:extLst>
            <c:ext xmlns:c16="http://schemas.microsoft.com/office/drawing/2014/chart" uri="{C3380CC4-5D6E-409C-BE32-E72D297353CC}">
              <c16:uniqueId val="{00000000-E705-4F2A-B018-2C277BF632D4}"/>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Indicator Column</c:v>
                </c:pt>
              </c:strCache>
            </c:strRef>
          </c:tx>
          <c:cat>
            <c:strRef>
              <c:f>Sheet1!$A$2:$A$4</c:f>
              <c:strCache>
                <c:ptCount val="3"/>
                <c:pt idx="0">
                  <c:v>Datum</c:v>
                </c:pt>
                <c:pt idx="1">
                  <c:v>Duration</c:v>
                </c:pt>
                <c:pt idx="2">
                  <c:v>Stack</c:v>
                </c:pt>
              </c:strCache>
            </c:strRef>
          </c:cat>
          <c:val>
            <c:numRef>
              <c:f>Sheet1!$B$2:$B$4</c:f>
              <c:numCache>
                <c:formatCode>General</c:formatCode>
                <c:ptCount val="3"/>
                <c:pt idx="0">
                  <c:v>34</c:v>
                </c:pt>
                <c:pt idx="1">
                  <c:v>26</c:v>
                </c:pt>
                <c:pt idx="2">
                  <c:v>16</c:v>
                </c:pt>
              </c:numCache>
            </c:numRef>
          </c:val>
          <c:extLst>
            <c:ext xmlns:c16="http://schemas.microsoft.com/office/drawing/2014/chart" uri="{C3380CC4-5D6E-409C-BE32-E72D297353CC}">
              <c16:uniqueId val="{00000000-FE0C-4109-BFE9-1484F6E677C9}"/>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Position</c:v>
                </c:pt>
              </c:strCache>
            </c:strRef>
          </c:tx>
          <c:cat>
            <c:strRef>
              <c:f>Sheet1!$A$2:$A$4</c:f>
              <c:strCache>
                <c:ptCount val="3"/>
                <c:pt idx="0">
                  <c:v>Explorer</c:v>
                </c:pt>
                <c:pt idx="1">
                  <c:v>Schema</c:v>
                </c:pt>
                <c:pt idx="2">
                  <c:v>Function</c:v>
                </c:pt>
              </c:strCache>
            </c:strRef>
          </c:cat>
          <c:val>
            <c:numRef>
              <c:f>Sheet1!$B$2:$B$4</c:f>
              <c:numCache>
                <c:formatCode>General</c:formatCode>
                <c:ptCount val="3"/>
                <c:pt idx="0">
                  <c:v>25</c:v>
                </c:pt>
                <c:pt idx="1">
                  <c:v>47</c:v>
                </c:pt>
                <c:pt idx="2">
                  <c:v>80</c:v>
                </c:pt>
              </c:numCache>
            </c:numRef>
          </c:val>
          <c:smooth val="0"/>
          <c:extLst>
            <c:ext xmlns:c16="http://schemas.microsoft.com/office/drawing/2014/chart" uri="{C3380CC4-5D6E-409C-BE32-E72D297353CC}">
              <c16:uniqueId val="{00000000-8CE2-4158-A6A0-1CD7FF6F87A6}"/>
            </c:ext>
          </c:extLst>
        </c:ser>
        <c:ser>
          <c:idx val="1"/>
          <c:order val="1"/>
          <c:tx>
            <c:strRef>
              <c:f>Sheet1!$C$1</c:f>
              <c:strCache>
                <c:ptCount val="1"/>
                <c:pt idx="0">
                  <c:v>Program</c:v>
                </c:pt>
              </c:strCache>
            </c:strRef>
          </c:tx>
          <c:cat>
            <c:strRef>
              <c:f>Sheet1!$A$2:$A$4</c:f>
              <c:strCache>
                <c:ptCount val="3"/>
                <c:pt idx="0">
                  <c:v>Explorer</c:v>
                </c:pt>
                <c:pt idx="1">
                  <c:v>Schema</c:v>
                </c:pt>
                <c:pt idx="2">
                  <c:v>Function</c:v>
                </c:pt>
              </c:strCache>
            </c:strRef>
          </c:cat>
          <c:val>
            <c:numRef>
              <c:f>Sheet1!$C$2:$C$4</c:f>
              <c:numCache>
                <c:formatCode>General</c:formatCode>
                <c:ptCount val="3"/>
                <c:pt idx="0">
                  <c:v>24</c:v>
                </c:pt>
                <c:pt idx="1">
                  <c:v>71</c:v>
                </c:pt>
                <c:pt idx="2">
                  <c:v>72</c:v>
                </c:pt>
              </c:numCache>
            </c:numRef>
          </c:val>
          <c:smooth val="0"/>
          <c:extLst>
            <c:ext xmlns:c16="http://schemas.microsoft.com/office/drawing/2014/chart" uri="{C3380CC4-5D6E-409C-BE32-E72D297353CC}">
              <c16:uniqueId val="{00000001-8CE2-4158-A6A0-1CD7FF6F87A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Queueing Sync</c:v>
                </c:pt>
              </c:strCache>
            </c:strRef>
          </c:tx>
          <c:cat>
            <c:strRef>
              <c:f>Sheet1!$A$2:$A$4</c:f>
              <c:strCache>
                <c:ptCount val="3"/>
                <c:pt idx="0">
                  <c:v>Vertex</c:v>
                </c:pt>
                <c:pt idx="1">
                  <c:v>Route</c:v>
                </c:pt>
                <c:pt idx="2">
                  <c:v>Order</c:v>
                </c:pt>
              </c:strCache>
            </c:strRef>
          </c:cat>
          <c:val>
            <c:numRef>
              <c:f>Sheet1!$B$2:$B$4</c:f>
              <c:numCache>
                <c:formatCode>General</c:formatCode>
                <c:ptCount val="3"/>
                <c:pt idx="0">
                  <c:v>62</c:v>
                </c:pt>
                <c:pt idx="1">
                  <c:v>11</c:v>
                </c:pt>
                <c:pt idx="2">
                  <c:v>27</c:v>
                </c:pt>
              </c:numCache>
            </c:numRef>
          </c:val>
          <c:extLst>
            <c:ext xmlns:c16="http://schemas.microsoft.com/office/drawing/2014/chart" uri="{C3380CC4-5D6E-409C-BE32-E72D297353CC}">
              <c16:uniqueId val="{00000000-6DC8-48BF-A443-8C84F85ACE35}"/>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Node Bridge Module Limit Stage</a:t>
            </a:r>
          </a:p>
        </c:rich>
      </c:tx>
      <c:overlay val="0"/>
    </c:title>
    <c:autoTitleDeleted val="0"/>
    <c:plotArea>
      <c:layout/>
      <c:lineChart>
        <c:grouping val="standard"/>
        <c:varyColors val="0"/>
        <c:ser>
          <c:idx val="0"/>
          <c:order val="0"/>
          <c:tx>
            <c:strRef>
              <c:f>Sheet1!$B$1</c:f>
              <c:strCache>
                <c:ptCount val="1"/>
                <c:pt idx="0">
                  <c:v>Datum Route</c:v>
                </c:pt>
              </c:strCache>
            </c:strRef>
          </c:tx>
          <c:cat>
            <c:strRef>
              <c:f>Sheet1!$A$2:$A$7</c:f>
              <c:strCache>
                <c:ptCount val="6"/>
                <c:pt idx="0">
                  <c:v>Package</c:v>
                </c:pt>
                <c:pt idx="1">
                  <c:v>Result</c:v>
                </c:pt>
                <c:pt idx="2">
                  <c:v>Segment</c:v>
                </c:pt>
                <c:pt idx="3">
                  <c:v>Feature</c:v>
                </c:pt>
                <c:pt idx="4">
                  <c:v>Memory</c:v>
                </c:pt>
                <c:pt idx="5">
                  <c:v>System</c:v>
                </c:pt>
              </c:strCache>
            </c:strRef>
          </c:cat>
          <c:val>
            <c:numRef>
              <c:f>Sheet1!$B$2:$B$7</c:f>
              <c:numCache>
                <c:formatCode>General</c:formatCode>
                <c:ptCount val="6"/>
                <c:pt idx="0">
                  <c:v>50</c:v>
                </c:pt>
                <c:pt idx="1">
                  <c:v>34</c:v>
                </c:pt>
                <c:pt idx="2">
                  <c:v>89</c:v>
                </c:pt>
                <c:pt idx="3">
                  <c:v>8</c:v>
                </c:pt>
                <c:pt idx="4">
                  <c:v>11</c:v>
                </c:pt>
                <c:pt idx="5">
                  <c:v>37</c:v>
                </c:pt>
              </c:numCache>
            </c:numRef>
          </c:val>
          <c:smooth val="0"/>
          <c:extLst>
            <c:ext xmlns:c16="http://schemas.microsoft.com/office/drawing/2014/chart" uri="{C3380CC4-5D6E-409C-BE32-E72D297353CC}">
              <c16:uniqueId val="{00000000-F0E7-49F3-9577-941020CDF75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Region</c:v>
                </c:pt>
              </c:strCache>
            </c:strRef>
          </c:tx>
          <c:cat>
            <c:strRef>
              <c:f>Sheet1!$A$2:$A$4</c:f>
              <c:strCache>
                <c:ptCount val="3"/>
                <c:pt idx="0">
                  <c:v>Blueprint</c:v>
                </c:pt>
                <c:pt idx="1">
                  <c:v>Deck</c:v>
                </c:pt>
                <c:pt idx="2">
                  <c:v>Request</c:v>
                </c:pt>
              </c:strCache>
            </c:strRef>
          </c:cat>
          <c:val>
            <c:numRef>
              <c:f>Sheet1!$B$2:$B$4</c:f>
              <c:numCache>
                <c:formatCode>General</c:formatCode>
                <c:ptCount val="3"/>
                <c:pt idx="0">
                  <c:v>49</c:v>
                </c:pt>
                <c:pt idx="1">
                  <c:v>28</c:v>
                </c:pt>
                <c:pt idx="2">
                  <c:v>84</c:v>
                </c:pt>
              </c:numCache>
            </c:numRef>
          </c:val>
          <c:extLst>
            <c:ext xmlns:c16="http://schemas.microsoft.com/office/drawing/2014/chart" uri="{C3380CC4-5D6E-409C-BE32-E72D297353CC}">
              <c16:uniqueId val="{00000000-B139-4F16-AAD4-ADB942ACE7F7}"/>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Explorer</c:v>
                </c:pt>
              </c:strCache>
            </c:strRef>
          </c:tx>
          <c:cat>
            <c:strRef>
              <c:f>Sheet1!$A$2:$A$6</c:f>
              <c:strCache>
                <c:ptCount val="5"/>
                <c:pt idx="0">
                  <c:v>Concept</c:v>
                </c:pt>
                <c:pt idx="1">
                  <c:v>Clarity</c:v>
                </c:pt>
                <c:pt idx="2">
                  <c:v>Sample</c:v>
                </c:pt>
                <c:pt idx="3">
                  <c:v>Sequence</c:v>
                </c:pt>
                <c:pt idx="4">
                  <c:v>North</c:v>
                </c:pt>
              </c:strCache>
            </c:strRef>
          </c:cat>
          <c:val>
            <c:numRef>
              <c:f>Sheet1!$B$2:$B$6</c:f>
              <c:numCache>
                <c:formatCode>General</c:formatCode>
                <c:ptCount val="5"/>
                <c:pt idx="0">
                  <c:v>90</c:v>
                </c:pt>
                <c:pt idx="1">
                  <c:v>67</c:v>
                </c:pt>
                <c:pt idx="2">
                  <c:v>8</c:v>
                </c:pt>
                <c:pt idx="3">
                  <c:v>36</c:v>
                </c:pt>
                <c:pt idx="4">
                  <c:v>36</c:v>
                </c:pt>
              </c:numCache>
            </c:numRef>
          </c:val>
          <c:smooth val="0"/>
          <c:extLst>
            <c:ext xmlns:c16="http://schemas.microsoft.com/office/drawing/2014/chart" uri="{C3380CC4-5D6E-409C-BE32-E72D297353CC}">
              <c16:uniqueId val="{00000000-1A93-47A9-971D-F68518A636F5}"/>
            </c:ext>
          </c:extLst>
        </c:ser>
        <c:ser>
          <c:idx val="1"/>
          <c:order val="1"/>
          <c:tx>
            <c:strRef>
              <c:f>Sheet1!$C$1</c:f>
              <c:strCache>
                <c:ptCount val="1"/>
                <c:pt idx="0">
                  <c:v>Signal</c:v>
                </c:pt>
              </c:strCache>
            </c:strRef>
          </c:tx>
          <c:cat>
            <c:strRef>
              <c:f>Sheet1!$A$2:$A$6</c:f>
              <c:strCache>
                <c:ptCount val="5"/>
                <c:pt idx="0">
                  <c:v>Concept</c:v>
                </c:pt>
                <c:pt idx="1">
                  <c:v>Clarity</c:v>
                </c:pt>
                <c:pt idx="2">
                  <c:v>Sample</c:v>
                </c:pt>
                <c:pt idx="3">
                  <c:v>Sequence</c:v>
                </c:pt>
                <c:pt idx="4">
                  <c:v>North</c:v>
                </c:pt>
              </c:strCache>
            </c:strRef>
          </c:cat>
          <c:val>
            <c:numRef>
              <c:f>Sheet1!$C$2:$C$6</c:f>
              <c:numCache>
                <c:formatCode>General</c:formatCode>
                <c:ptCount val="5"/>
                <c:pt idx="0">
                  <c:v>34</c:v>
                </c:pt>
                <c:pt idx="1">
                  <c:v>94</c:v>
                </c:pt>
                <c:pt idx="2">
                  <c:v>9</c:v>
                </c:pt>
                <c:pt idx="3">
                  <c:v>63</c:v>
                </c:pt>
                <c:pt idx="4">
                  <c:v>66</c:v>
                </c:pt>
              </c:numCache>
            </c:numRef>
          </c:val>
          <c:smooth val="0"/>
          <c:extLst>
            <c:ext xmlns:c16="http://schemas.microsoft.com/office/drawing/2014/chart" uri="{C3380CC4-5D6E-409C-BE32-E72D297353CC}">
              <c16:uniqueId val="{00000001-1A93-47A9-971D-F68518A636F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Feature</c:v>
                </c:pt>
              </c:strCache>
            </c:strRef>
          </c:tx>
          <c:cat>
            <c:strRef>
              <c:f>Sheet1!$A$2:$A$4</c:f>
              <c:strCache>
                <c:ptCount val="3"/>
                <c:pt idx="0">
                  <c:v>Duration</c:v>
                </c:pt>
                <c:pt idx="1">
                  <c:v>Center</c:v>
                </c:pt>
                <c:pt idx="2">
                  <c:v>Graph</c:v>
                </c:pt>
              </c:strCache>
            </c:strRef>
          </c:cat>
          <c:val>
            <c:numRef>
              <c:f>Sheet1!$B$2:$B$4</c:f>
              <c:numCache>
                <c:formatCode>General</c:formatCode>
                <c:ptCount val="3"/>
                <c:pt idx="0">
                  <c:v>13</c:v>
                </c:pt>
                <c:pt idx="1">
                  <c:v>54</c:v>
                </c:pt>
                <c:pt idx="2">
                  <c:v>64</c:v>
                </c:pt>
              </c:numCache>
            </c:numRef>
          </c:val>
          <c:extLst>
            <c:ext xmlns:c16="http://schemas.microsoft.com/office/drawing/2014/chart" uri="{C3380CC4-5D6E-409C-BE32-E72D297353CC}">
              <c16:uniqueId val="{00000000-B8C9-4D1D-BB1E-9355E14BBFF2}"/>
            </c:ext>
          </c:extLst>
        </c:ser>
        <c:ser>
          <c:idx val="1"/>
          <c:order val="1"/>
          <c:tx>
            <c:strRef>
              <c:f>Sheet1!$C$1</c:f>
              <c:strCache>
                <c:ptCount val="1"/>
                <c:pt idx="0">
                  <c:v>Echo Point</c:v>
                </c:pt>
              </c:strCache>
            </c:strRef>
          </c:tx>
          <c:cat>
            <c:strRef>
              <c:f>Sheet1!$A$2:$A$4</c:f>
              <c:strCache>
                <c:ptCount val="3"/>
                <c:pt idx="0">
                  <c:v>Duration</c:v>
                </c:pt>
                <c:pt idx="1">
                  <c:v>Center</c:v>
                </c:pt>
                <c:pt idx="2">
                  <c:v>Graph</c:v>
                </c:pt>
              </c:strCache>
            </c:strRef>
          </c:cat>
          <c:val>
            <c:numRef>
              <c:f>Sheet1!$C$2:$C$4</c:f>
              <c:numCache>
                <c:formatCode>General</c:formatCode>
                <c:ptCount val="3"/>
                <c:pt idx="0">
                  <c:v>56</c:v>
                </c:pt>
                <c:pt idx="1">
                  <c:v>79</c:v>
                </c:pt>
                <c:pt idx="2">
                  <c:v>39</c:v>
                </c:pt>
              </c:numCache>
            </c:numRef>
          </c:val>
          <c:extLst>
            <c:ext xmlns:c16="http://schemas.microsoft.com/office/drawing/2014/chart" uri="{C3380CC4-5D6E-409C-BE32-E72D297353CC}">
              <c16:uniqueId val="{00000001-B8C9-4D1D-BB1E-9355E14BBFF2}"/>
            </c:ext>
          </c:extLst>
        </c:ser>
        <c:ser>
          <c:idx val="2"/>
          <c:order val="2"/>
          <c:tx>
            <c:strRef>
              <c:f>Sheet1!$D$1</c:f>
              <c:strCache>
                <c:ptCount val="1"/>
                <c:pt idx="0">
                  <c:v>Signal Mode</c:v>
                </c:pt>
              </c:strCache>
            </c:strRef>
          </c:tx>
          <c:cat>
            <c:strRef>
              <c:f>Sheet1!$A$2:$A$4</c:f>
              <c:strCache>
                <c:ptCount val="3"/>
                <c:pt idx="0">
                  <c:v>Duration</c:v>
                </c:pt>
                <c:pt idx="1">
                  <c:v>Center</c:v>
                </c:pt>
                <c:pt idx="2">
                  <c:v>Graph</c:v>
                </c:pt>
              </c:strCache>
            </c:strRef>
          </c:cat>
          <c:val>
            <c:numRef>
              <c:f>Sheet1!$D$2:$D$4</c:f>
              <c:numCache>
                <c:formatCode>General</c:formatCode>
                <c:ptCount val="3"/>
                <c:pt idx="0">
                  <c:v>20</c:v>
                </c:pt>
                <c:pt idx="1">
                  <c:v>58</c:v>
                </c:pt>
                <c:pt idx="2">
                  <c:v>36</c:v>
                </c:pt>
              </c:numCache>
            </c:numRef>
          </c:val>
          <c:extLst>
            <c:ext xmlns:c16="http://schemas.microsoft.com/office/drawing/2014/chart" uri="{C3380CC4-5D6E-409C-BE32-E72D297353CC}">
              <c16:uniqueId val="{00000002-B8C9-4D1D-BB1E-9355E14BBFF2}"/>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Variant Token</a:t>
            </a:r>
          </a:p>
        </c:rich>
      </c:tx>
      <c:overlay val="0"/>
    </c:title>
    <c:autoTitleDeleted val="0"/>
    <c:plotArea>
      <c:layout/>
      <c:barChart>
        <c:barDir val="bar"/>
        <c:grouping val="clustered"/>
        <c:varyColors val="1"/>
        <c:ser>
          <c:idx val="0"/>
          <c:order val="0"/>
          <c:tx>
            <c:strRef>
              <c:f>Sheet1!$B$1</c:f>
              <c:strCache>
                <c:ptCount val="1"/>
                <c:pt idx="0">
                  <c:v>Package Source</c:v>
                </c:pt>
              </c:strCache>
            </c:strRef>
          </c:tx>
          <c:invertIfNegative val="1"/>
          <c:cat>
            <c:strRef>
              <c:f>Sheet1!$A$2:$A$4</c:f>
              <c:strCache>
                <c:ptCount val="3"/>
                <c:pt idx="0">
                  <c:v>Input</c:v>
                </c:pt>
                <c:pt idx="1">
                  <c:v>Story</c:v>
                </c:pt>
                <c:pt idx="2">
                  <c:v>Logic</c:v>
                </c:pt>
              </c:strCache>
            </c:strRef>
          </c:cat>
          <c:val>
            <c:numRef>
              <c:f>Sheet1!$B$2:$B$4</c:f>
              <c:numCache>
                <c:formatCode>General</c:formatCode>
                <c:ptCount val="3"/>
                <c:pt idx="0">
                  <c:v>65</c:v>
                </c:pt>
                <c:pt idx="1">
                  <c:v>37</c:v>
                </c:pt>
                <c:pt idx="2">
                  <c:v>60</c:v>
                </c:pt>
              </c:numCache>
            </c:numRef>
          </c:val>
          <c:extLst>
            <c:ext xmlns:c16="http://schemas.microsoft.com/office/drawing/2014/chart" uri="{C3380CC4-5D6E-409C-BE32-E72D297353CC}">
              <c16:uniqueId val="{00000000-4518-4584-A6B5-32820D512A09}"/>
            </c:ext>
          </c:extLst>
        </c:ser>
        <c:ser>
          <c:idx val="1"/>
          <c:order val="1"/>
          <c:tx>
            <c:strRef>
              <c:f>Sheet1!$C$1</c:f>
              <c:strCache>
                <c:ptCount val="1"/>
                <c:pt idx="0">
                  <c:v>Strategy Limit</c:v>
                </c:pt>
              </c:strCache>
            </c:strRef>
          </c:tx>
          <c:invertIfNegative val="1"/>
          <c:cat>
            <c:strRef>
              <c:f>Sheet1!$A$2:$A$4</c:f>
              <c:strCache>
                <c:ptCount val="3"/>
                <c:pt idx="0">
                  <c:v>Input</c:v>
                </c:pt>
                <c:pt idx="1">
                  <c:v>Story</c:v>
                </c:pt>
                <c:pt idx="2">
                  <c:v>Logic</c:v>
                </c:pt>
              </c:strCache>
            </c:strRef>
          </c:cat>
          <c:val>
            <c:numRef>
              <c:f>Sheet1!$C$2:$C$4</c:f>
              <c:numCache>
                <c:formatCode>General</c:formatCode>
                <c:ptCount val="3"/>
                <c:pt idx="0">
                  <c:v>59</c:v>
                </c:pt>
                <c:pt idx="1">
                  <c:v>28</c:v>
                </c:pt>
                <c:pt idx="2">
                  <c:v>26</c:v>
                </c:pt>
              </c:numCache>
            </c:numRef>
          </c:val>
          <c:extLst>
            <c:ext xmlns:c16="http://schemas.microsoft.com/office/drawing/2014/chart" uri="{C3380CC4-5D6E-409C-BE32-E72D297353CC}">
              <c16:uniqueId val="{00000001-4518-4584-A6B5-32820D512A09}"/>
            </c:ext>
          </c:extLst>
        </c:ser>
        <c:ser>
          <c:idx val="2"/>
          <c:order val="2"/>
          <c:tx>
            <c:strRef>
              <c:f>Sheet1!$D$1</c:f>
              <c:strCache>
                <c:ptCount val="1"/>
                <c:pt idx="0">
                  <c:v>Metric</c:v>
                </c:pt>
              </c:strCache>
            </c:strRef>
          </c:tx>
          <c:invertIfNegative val="1"/>
          <c:cat>
            <c:strRef>
              <c:f>Sheet1!$A$2:$A$4</c:f>
              <c:strCache>
                <c:ptCount val="3"/>
                <c:pt idx="0">
                  <c:v>Input</c:v>
                </c:pt>
                <c:pt idx="1">
                  <c:v>Story</c:v>
                </c:pt>
                <c:pt idx="2">
                  <c:v>Logic</c:v>
                </c:pt>
              </c:strCache>
            </c:strRef>
          </c:cat>
          <c:val>
            <c:numRef>
              <c:f>Sheet1!$D$2:$D$4</c:f>
              <c:numCache>
                <c:formatCode>General</c:formatCode>
                <c:ptCount val="3"/>
                <c:pt idx="0">
                  <c:v>31</c:v>
                </c:pt>
                <c:pt idx="1">
                  <c:v>32</c:v>
                </c:pt>
                <c:pt idx="2">
                  <c:v>27</c:v>
                </c:pt>
              </c:numCache>
            </c:numRef>
          </c:val>
          <c:extLst>
            <c:ext xmlns:c16="http://schemas.microsoft.com/office/drawing/2014/chart" uri="{C3380CC4-5D6E-409C-BE32-E72D297353CC}">
              <c16:uniqueId val="{00000002-4518-4584-A6B5-32820D512A0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Moment Cadence Loop</a:t>
            </a:r>
          </a:p>
        </c:rich>
      </c:tx>
      <c:overlay val="0"/>
    </c:title>
    <c:autoTitleDeleted val="0"/>
    <c:plotArea>
      <c:layout/>
      <c:barChart>
        <c:barDir val="bar"/>
        <c:grouping val="clustered"/>
        <c:varyColors val="1"/>
        <c:ser>
          <c:idx val="0"/>
          <c:order val="0"/>
          <c:tx>
            <c:strRef>
              <c:f>Sheet1!$B$1</c:f>
              <c:strCache>
                <c:ptCount val="1"/>
                <c:pt idx="0">
                  <c:v>Moment Echo</c:v>
                </c:pt>
              </c:strCache>
            </c:strRef>
          </c:tx>
          <c:invertIfNegative val="1"/>
          <c:cat>
            <c:strRef>
              <c:f>Sheet1!$A$2:$A$7</c:f>
              <c:strCache>
                <c:ptCount val="6"/>
                <c:pt idx="0">
                  <c:v>Domain</c:v>
                </c:pt>
                <c:pt idx="1">
                  <c:v>Delta</c:v>
                </c:pt>
                <c:pt idx="2">
                  <c:v>Queueing</c:v>
                </c:pt>
                <c:pt idx="3">
                  <c:v>Stream</c:v>
                </c:pt>
                <c:pt idx="4">
                  <c:v>Proof</c:v>
                </c:pt>
                <c:pt idx="5">
                  <c:v>Horizon</c:v>
                </c:pt>
              </c:strCache>
            </c:strRef>
          </c:cat>
          <c:val>
            <c:numRef>
              <c:f>Sheet1!$B$2:$B$7</c:f>
              <c:numCache>
                <c:formatCode>General</c:formatCode>
                <c:ptCount val="6"/>
                <c:pt idx="0">
                  <c:v>22</c:v>
                </c:pt>
                <c:pt idx="1">
                  <c:v>33</c:v>
                </c:pt>
                <c:pt idx="2">
                  <c:v>61</c:v>
                </c:pt>
                <c:pt idx="3">
                  <c:v>13</c:v>
                </c:pt>
                <c:pt idx="4">
                  <c:v>17</c:v>
                </c:pt>
                <c:pt idx="5">
                  <c:v>77</c:v>
                </c:pt>
              </c:numCache>
            </c:numRef>
          </c:val>
          <c:extLst>
            <c:ext xmlns:c16="http://schemas.microsoft.com/office/drawing/2014/chart" uri="{C3380CC4-5D6E-409C-BE32-E72D297353CC}">
              <c16:uniqueId val="{00000000-B48F-4F2E-B04D-CD3602D5E4B2}"/>
            </c:ext>
          </c:extLst>
        </c:ser>
        <c:ser>
          <c:idx val="1"/>
          <c:order val="1"/>
          <c:tx>
            <c:strRef>
              <c:f>Sheet1!$C$1</c:f>
              <c:strCache>
                <c:ptCount val="1"/>
                <c:pt idx="0">
                  <c:v>Coverage Baseline</c:v>
                </c:pt>
              </c:strCache>
            </c:strRef>
          </c:tx>
          <c:invertIfNegative val="1"/>
          <c:cat>
            <c:strRef>
              <c:f>Sheet1!$A$2:$A$7</c:f>
              <c:strCache>
                <c:ptCount val="6"/>
                <c:pt idx="0">
                  <c:v>Domain</c:v>
                </c:pt>
                <c:pt idx="1">
                  <c:v>Delta</c:v>
                </c:pt>
                <c:pt idx="2">
                  <c:v>Queueing</c:v>
                </c:pt>
                <c:pt idx="3">
                  <c:v>Stream</c:v>
                </c:pt>
                <c:pt idx="4">
                  <c:v>Proof</c:v>
                </c:pt>
                <c:pt idx="5">
                  <c:v>Horizon</c:v>
                </c:pt>
              </c:strCache>
            </c:strRef>
          </c:cat>
          <c:val>
            <c:numRef>
              <c:f>Sheet1!$C$2:$C$7</c:f>
              <c:numCache>
                <c:formatCode>General</c:formatCode>
                <c:ptCount val="6"/>
                <c:pt idx="0">
                  <c:v>8</c:v>
                </c:pt>
                <c:pt idx="1">
                  <c:v>76</c:v>
                </c:pt>
                <c:pt idx="2">
                  <c:v>60</c:v>
                </c:pt>
                <c:pt idx="3">
                  <c:v>39</c:v>
                </c:pt>
                <c:pt idx="4">
                  <c:v>92</c:v>
                </c:pt>
                <c:pt idx="5">
                  <c:v>19</c:v>
                </c:pt>
              </c:numCache>
            </c:numRef>
          </c:val>
          <c:extLst>
            <c:ext xmlns:c16="http://schemas.microsoft.com/office/drawing/2014/chart" uri="{C3380CC4-5D6E-409C-BE32-E72D297353CC}">
              <c16:uniqueId val="{00000001-B48F-4F2E-B04D-CD3602D5E4B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Texture Cluster</c:v>
                </c:pt>
              </c:strCache>
            </c:strRef>
          </c:tx>
          <c:invertIfNegative val="1"/>
          <c:cat>
            <c:strRef>
              <c:f>Sheet1!$A$2:$A$7</c:f>
              <c:strCache>
                <c:ptCount val="6"/>
                <c:pt idx="0">
                  <c:v>Craft</c:v>
                </c:pt>
                <c:pt idx="1">
                  <c:v>Handle</c:v>
                </c:pt>
                <c:pt idx="2">
                  <c:v>Indicator</c:v>
                </c:pt>
                <c:pt idx="3">
                  <c:v>Memory</c:v>
                </c:pt>
                <c:pt idx="4">
                  <c:v>Cadence</c:v>
                </c:pt>
                <c:pt idx="5">
                  <c:v>Handle</c:v>
                </c:pt>
              </c:strCache>
            </c:strRef>
          </c:cat>
          <c:val>
            <c:numRef>
              <c:f>Sheet1!$B$2:$B$7</c:f>
              <c:numCache>
                <c:formatCode>General</c:formatCode>
                <c:ptCount val="6"/>
                <c:pt idx="0">
                  <c:v>13</c:v>
                </c:pt>
                <c:pt idx="1">
                  <c:v>75</c:v>
                </c:pt>
                <c:pt idx="2">
                  <c:v>79</c:v>
                </c:pt>
                <c:pt idx="3">
                  <c:v>89</c:v>
                </c:pt>
                <c:pt idx="4">
                  <c:v>61</c:v>
                </c:pt>
                <c:pt idx="5">
                  <c:v>52</c:v>
                </c:pt>
              </c:numCache>
            </c:numRef>
          </c:val>
          <c:extLst>
            <c:ext xmlns:c16="http://schemas.microsoft.com/office/drawing/2014/chart" uri="{C3380CC4-5D6E-409C-BE32-E72D297353CC}">
              <c16:uniqueId val="{00000000-767C-46CB-854D-C9A8A242B67C}"/>
            </c:ext>
          </c:extLst>
        </c:ser>
        <c:ser>
          <c:idx val="1"/>
          <c:order val="1"/>
          <c:tx>
            <c:strRef>
              <c:f>Sheet1!$C$1</c:f>
              <c:strCache>
                <c:ptCount val="1"/>
                <c:pt idx="0">
                  <c:v>Channel Proof</c:v>
                </c:pt>
              </c:strCache>
            </c:strRef>
          </c:tx>
          <c:invertIfNegative val="1"/>
          <c:cat>
            <c:strRef>
              <c:f>Sheet1!$A$2:$A$7</c:f>
              <c:strCache>
                <c:ptCount val="6"/>
                <c:pt idx="0">
                  <c:v>Craft</c:v>
                </c:pt>
                <c:pt idx="1">
                  <c:v>Handle</c:v>
                </c:pt>
                <c:pt idx="2">
                  <c:v>Indicator</c:v>
                </c:pt>
                <c:pt idx="3">
                  <c:v>Memory</c:v>
                </c:pt>
                <c:pt idx="4">
                  <c:v>Cadence</c:v>
                </c:pt>
                <c:pt idx="5">
                  <c:v>Handle</c:v>
                </c:pt>
              </c:strCache>
            </c:strRef>
          </c:cat>
          <c:val>
            <c:numRef>
              <c:f>Sheet1!$C$2:$C$7</c:f>
              <c:numCache>
                <c:formatCode>General</c:formatCode>
                <c:ptCount val="6"/>
                <c:pt idx="0">
                  <c:v>34</c:v>
                </c:pt>
                <c:pt idx="1">
                  <c:v>15</c:v>
                </c:pt>
                <c:pt idx="2">
                  <c:v>88</c:v>
                </c:pt>
                <c:pt idx="3">
                  <c:v>82</c:v>
                </c:pt>
                <c:pt idx="4">
                  <c:v>60</c:v>
                </c:pt>
                <c:pt idx="5">
                  <c:v>72</c:v>
                </c:pt>
              </c:numCache>
            </c:numRef>
          </c:val>
          <c:extLst>
            <c:ext xmlns:c16="http://schemas.microsoft.com/office/drawing/2014/chart" uri="{C3380CC4-5D6E-409C-BE32-E72D297353CC}">
              <c16:uniqueId val="{00000001-767C-46CB-854D-C9A8A242B67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Path Region Topology Precision</a:t>
            </a:r>
          </a:p>
        </c:rich>
      </c:tx>
      <c:overlay val="0"/>
    </c:title>
    <c:autoTitleDeleted val="0"/>
    <c:plotArea>
      <c:layout/>
      <c:barChart>
        <c:barDir val="col"/>
        <c:grouping val="clustered"/>
        <c:varyColors val="1"/>
        <c:ser>
          <c:idx val="0"/>
          <c:order val="0"/>
          <c:tx>
            <c:strRef>
              <c:f>Sheet1!$B$1</c:f>
              <c:strCache>
                <c:ptCount val="1"/>
                <c:pt idx="0">
                  <c:v>Table Node</c:v>
                </c:pt>
              </c:strCache>
            </c:strRef>
          </c:tx>
          <c:invertIfNegative val="1"/>
          <c:cat>
            <c:strRef>
              <c:f>Sheet1!$A$2:$A$6</c:f>
              <c:strCache>
                <c:ptCount val="5"/>
                <c:pt idx="0">
                  <c:v>Drive</c:v>
                </c:pt>
                <c:pt idx="1">
                  <c:v>Mode</c:v>
                </c:pt>
                <c:pt idx="2">
                  <c:v>Route</c:v>
                </c:pt>
                <c:pt idx="3">
                  <c:v>Domain</c:v>
                </c:pt>
                <c:pt idx="4">
                  <c:v>Dispatch</c:v>
                </c:pt>
              </c:strCache>
            </c:strRef>
          </c:cat>
          <c:val>
            <c:numRef>
              <c:f>Sheet1!$B$2:$B$6</c:f>
              <c:numCache>
                <c:formatCode>General</c:formatCode>
                <c:ptCount val="5"/>
                <c:pt idx="0">
                  <c:v>76</c:v>
                </c:pt>
                <c:pt idx="1">
                  <c:v>17</c:v>
                </c:pt>
                <c:pt idx="2">
                  <c:v>87</c:v>
                </c:pt>
                <c:pt idx="3">
                  <c:v>24</c:v>
                </c:pt>
                <c:pt idx="4">
                  <c:v>57</c:v>
                </c:pt>
              </c:numCache>
            </c:numRef>
          </c:val>
          <c:extLst>
            <c:ext xmlns:c16="http://schemas.microsoft.com/office/drawing/2014/chart" uri="{C3380CC4-5D6E-409C-BE32-E72D297353CC}">
              <c16:uniqueId val="{00000000-6CD2-47B4-A333-83905C5DAD1B}"/>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Feature</c:v>
                </c:pt>
              </c:strCache>
            </c:strRef>
          </c:tx>
          <c:cat>
            <c:strRef>
              <c:f>Sheet1!$A$2:$A$7</c:f>
              <c:strCache>
                <c:ptCount val="6"/>
                <c:pt idx="0">
                  <c:v>Beta</c:v>
                </c:pt>
                <c:pt idx="1">
                  <c:v>Packet</c:v>
                </c:pt>
                <c:pt idx="2">
                  <c:v>Summary</c:v>
                </c:pt>
                <c:pt idx="3">
                  <c:v>Detail</c:v>
                </c:pt>
                <c:pt idx="4">
                  <c:v>Terminal</c:v>
                </c:pt>
                <c:pt idx="5">
                  <c:v>Terminal</c:v>
                </c:pt>
              </c:strCache>
            </c:strRef>
          </c:cat>
          <c:val>
            <c:numRef>
              <c:f>Sheet1!$B$2:$B$7</c:f>
              <c:numCache>
                <c:formatCode>General</c:formatCode>
                <c:ptCount val="6"/>
                <c:pt idx="0">
                  <c:v>26</c:v>
                </c:pt>
                <c:pt idx="1">
                  <c:v>72</c:v>
                </c:pt>
                <c:pt idx="2">
                  <c:v>62</c:v>
                </c:pt>
                <c:pt idx="3">
                  <c:v>53</c:v>
                </c:pt>
                <c:pt idx="4">
                  <c:v>81</c:v>
                </c:pt>
                <c:pt idx="5">
                  <c:v>77</c:v>
                </c:pt>
              </c:numCache>
            </c:numRef>
          </c:val>
          <c:smooth val="0"/>
          <c:extLst>
            <c:ext xmlns:c16="http://schemas.microsoft.com/office/drawing/2014/chart" uri="{C3380CC4-5D6E-409C-BE32-E72D297353CC}">
              <c16:uniqueId val="{00000000-B96C-40A8-AF7C-35AFECE6ED2F}"/>
            </c:ext>
          </c:extLst>
        </c:ser>
        <c:ser>
          <c:idx val="1"/>
          <c:order val="1"/>
          <c:tx>
            <c:strRef>
              <c:f>Sheet1!$C$1</c:f>
              <c:strCache>
                <c:ptCount val="1"/>
                <c:pt idx="0">
                  <c:v>Command</c:v>
                </c:pt>
              </c:strCache>
            </c:strRef>
          </c:tx>
          <c:cat>
            <c:strRef>
              <c:f>Sheet1!$A$2:$A$7</c:f>
              <c:strCache>
                <c:ptCount val="6"/>
                <c:pt idx="0">
                  <c:v>Beta</c:v>
                </c:pt>
                <c:pt idx="1">
                  <c:v>Packet</c:v>
                </c:pt>
                <c:pt idx="2">
                  <c:v>Summary</c:v>
                </c:pt>
                <c:pt idx="3">
                  <c:v>Detail</c:v>
                </c:pt>
                <c:pt idx="4">
                  <c:v>Terminal</c:v>
                </c:pt>
                <c:pt idx="5">
                  <c:v>Terminal</c:v>
                </c:pt>
              </c:strCache>
            </c:strRef>
          </c:cat>
          <c:val>
            <c:numRef>
              <c:f>Sheet1!$C$2:$C$7</c:f>
              <c:numCache>
                <c:formatCode>General</c:formatCode>
                <c:ptCount val="6"/>
                <c:pt idx="0">
                  <c:v>80</c:v>
                </c:pt>
                <c:pt idx="1">
                  <c:v>32</c:v>
                </c:pt>
                <c:pt idx="2">
                  <c:v>66</c:v>
                </c:pt>
                <c:pt idx="3">
                  <c:v>68</c:v>
                </c:pt>
                <c:pt idx="4">
                  <c:v>28</c:v>
                </c:pt>
                <c:pt idx="5">
                  <c:v>95</c:v>
                </c:pt>
              </c:numCache>
            </c:numRef>
          </c:val>
          <c:smooth val="0"/>
          <c:extLst>
            <c:ext xmlns:c16="http://schemas.microsoft.com/office/drawing/2014/chart" uri="{C3380CC4-5D6E-409C-BE32-E72D297353CC}">
              <c16:uniqueId val="{00000001-B96C-40A8-AF7C-35AFECE6ED2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Volume Motion</c:v>
                </c:pt>
              </c:strCache>
            </c:strRef>
          </c:tx>
          <c:cat>
            <c:strRef>
              <c:f>Sheet1!$A$2:$A$5</c:f>
              <c:strCache>
                <c:ptCount val="4"/>
                <c:pt idx="0">
                  <c:v>Device</c:v>
                </c:pt>
                <c:pt idx="1">
                  <c:v>Beta</c:v>
                </c:pt>
                <c:pt idx="2">
                  <c:v>Reference</c:v>
                </c:pt>
                <c:pt idx="3">
                  <c:v>Hub</c:v>
                </c:pt>
              </c:strCache>
            </c:strRef>
          </c:cat>
          <c:val>
            <c:numRef>
              <c:f>Sheet1!$B$2:$B$5</c:f>
              <c:numCache>
                <c:formatCode>General</c:formatCode>
                <c:ptCount val="4"/>
                <c:pt idx="0">
                  <c:v>40</c:v>
                </c:pt>
                <c:pt idx="1">
                  <c:v>66</c:v>
                </c:pt>
                <c:pt idx="2">
                  <c:v>46</c:v>
                </c:pt>
                <c:pt idx="3">
                  <c:v>92</c:v>
                </c:pt>
              </c:numCache>
            </c:numRef>
          </c:val>
          <c:extLst>
            <c:ext xmlns:c16="http://schemas.microsoft.com/office/drawing/2014/chart" uri="{C3380CC4-5D6E-409C-BE32-E72D297353CC}">
              <c16:uniqueId val="{00000000-2CD0-4F61-A9D3-230663858F4D}"/>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Hub</c:v>
                </c:pt>
              </c:strCache>
            </c:strRef>
          </c:tx>
          <c:cat>
            <c:strRef>
              <c:f>Sheet1!$A$2:$A$5</c:f>
              <c:strCache>
                <c:ptCount val="4"/>
                <c:pt idx="0">
                  <c:v>Waypoint</c:v>
                </c:pt>
                <c:pt idx="1">
                  <c:v>State</c:v>
                </c:pt>
                <c:pt idx="2">
                  <c:v>Focus</c:v>
                </c:pt>
                <c:pt idx="3">
                  <c:v>Account</c:v>
                </c:pt>
              </c:strCache>
            </c:strRef>
          </c:cat>
          <c:val>
            <c:numRef>
              <c:f>Sheet1!$B$2:$B$5</c:f>
              <c:numCache>
                <c:formatCode>General</c:formatCode>
                <c:ptCount val="4"/>
                <c:pt idx="0">
                  <c:v>84</c:v>
                </c:pt>
                <c:pt idx="1">
                  <c:v>67</c:v>
                </c:pt>
                <c:pt idx="2">
                  <c:v>63</c:v>
                </c:pt>
                <c:pt idx="3">
                  <c:v>88</c:v>
                </c:pt>
              </c:numCache>
            </c:numRef>
          </c:val>
          <c:extLst>
            <c:ext xmlns:c16="http://schemas.microsoft.com/office/drawing/2014/chart" uri="{C3380CC4-5D6E-409C-BE32-E72D297353CC}">
              <c16:uniqueId val="{00000000-2764-43FE-87B0-065677900A9A}"/>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Checkpoint Apex Workflow Pulse Package</a:t>
            </a:r>
          </a:p>
        </c:rich>
      </c:tx>
      <c:overlay val="0"/>
    </c:title>
    <c:autoTitleDeleted val="0"/>
    <c:plotArea>
      <c:layout/>
      <c:lineChart>
        <c:grouping val="standard"/>
        <c:varyColors val="0"/>
        <c:ser>
          <c:idx val="0"/>
          <c:order val="0"/>
          <c:tx>
            <c:strRef>
              <c:f>Sheet1!$B$1</c:f>
              <c:strCache>
                <c:ptCount val="1"/>
                <c:pt idx="0">
                  <c:v>Filter Order</c:v>
                </c:pt>
              </c:strCache>
            </c:strRef>
          </c:tx>
          <c:cat>
            <c:strRef>
              <c:f>Sheet1!$A$2:$A$7</c:f>
              <c:strCache>
                <c:ptCount val="6"/>
                <c:pt idx="0">
                  <c:v>Focus</c:v>
                </c:pt>
                <c:pt idx="1">
                  <c:v>Volume</c:v>
                </c:pt>
                <c:pt idx="2">
                  <c:v>Range</c:v>
                </c:pt>
                <c:pt idx="3">
                  <c:v>Anchor</c:v>
                </c:pt>
                <c:pt idx="4">
                  <c:v>Velocity</c:v>
                </c:pt>
                <c:pt idx="5">
                  <c:v>Envelope</c:v>
                </c:pt>
              </c:strCache>
            </c:strRef>
          </c:cat>
          <c:val>
            <c:numRef>
              <c:f>Sheet1!$B$2:$B$7</c:f>
              <c:numCache>
                <c:formatCode>General</c:formatCode>
                <c:ptCount val="6"/>
                <c:pt idx="0">
                  <c:v>13</c:v>
                </c:pt>
                <c:pt idx="1">
                  <c:v>20</c:v>
                </c:pt>
                <c:pt idx="2">
                  <c:v>20</c:v>
                </c:pt>
                <c:pt idx="3">
                  <c:v>12</c:v>
                </c:pt>
                <c:pt idx="4">
                  <c:v>28</c:v>
                </c:pt>
                <c:pt idx="5">
                  <c:v>33</c:v>
                </c:pt>
              </c:numCache>
            </c:numRef>
          </c:val>
          <c:smooth val="0"/>
          <c:extLst>
            <c:ext xmlns:c16="http://schemas.microsoft.com/office/drawing/2014/chart" uri="{C3380CC4-5D6E-409C-BE32-E72D297353CC}">
              <c16:uniqueId val="{00000000-9498-4273-8CB2-F81795052E8F}"/>
            </c:ext>
          </c:extLst>
        </c:ser>
        <c:ser>
          <c:idx val="1"/>
          <c:order val="1"/>
          <c:tx>
            <c:strRef>
              <c:f>Sheet1!$C$1</c:f>
              <c:strCache>
                <c:ptCount val="1"/>
                <c:pt idx="0">
                  <c:v>Needle</c:v>
                </c:pt>
              </c:strCache>
            </c:strRef>
          </c:tx>
          <c:cat>
            <c:strRef>
              <c:f>Sheet1!$A$2:$A$7</c:f>
              <c:strCache>
                <c:ptCount val="6"/>
                <c:pt idx="0">
                  <c:v>Focus</c:v>
                </c:pt>
                <c:pt idx="1">
                  <c:v>Volume</c:v>
                </c:pt>
                <c:pt idx="2">
                  <c:v>Range</c:v>
                </c:pt>
                <c:pt idx="3">
                  <c:v>Anchor</c:v>
                </c:pt>
                <c:pt idx="4">
                  <c:v>Velocity</c:v>
                </c:pt>
                <c:pt idx="5">
                  <c:v>Envelope</c:v>
                </c:pt>
              </c:strCache>
            </c:strRef>
          </c:cat>
          <c:val>
            <c:numRef>
              <c:f>Sheet1!$C$2:$C$7</c:f>
              <c:numCache>
                <c:formatCode>General</c:formatCode>
                <c:ptCount val="6"/>
                <c:pt idx="0">
                  <c:v>83</c:v>
                </c:pt>
                <c:pt idx="1">
                  <c:v>12</c:v>
                </c:pt>
                <c:pt idx="2">
                  <c:v>22</c:v>
                </c:pt>
                <c:pt idx="3">
                  <c:v>18</c:v>
                </c:pt>
                <c:pt idx="4">
                  <c:v>57</c:v>
                </c:pt>
                <c:pt idx="5">
                  <c:v>37</c:v>
                </c:pt>
              </c:numCache>
            </c:numRef>
          </c:val>
          <c:smooth val="0"/>
          <c:extLst>
            <c:ext xmlns:c16="http://schemas.microsoft.com/office/drawing/2014/chart" uri="{C3380CC4-5D6E-409C-BE32-E72D297353CC}">
              <c16:uniqueId val="{00000001-9498-4273-8CB2-F81795052E8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Proof Reference Device Orbit Data</a:t>
            </a:r>
          </a:p>
        </c:rich>
      </c:tx>
      <c:overlay val="0"/>
    </c:title>
    <c:autoTitleDeleted val="0"/>
    <c:plotArea>
      <c:layout/>
      <c:barChart>
        <c:barDir val="col"/>
        <c:grouping val="clustered"/>
        <c:varyColors val="1"/>
        <c:ser>
          <c:idx val="0"/>
          <c:order val="0"/>
          <c:tx>
            <c:strRef>
              <c:f>Sheet1!$B$1</c:f>
              <c:strCache>
                <c:ptCount val="1"/>
                <c:pt idx="0">
                  <c:v>Interface Account</c:v>
                </c:pt>
              </c:strCache>
            </c:strRef>
          </c:tx>
          <c:invertIfNegative val="1"/>
          <c:cat>
            <c:strRef>
              <c:f>Sheet1!$A$2:$A$6</c:f>
              <c:strCache>
                <c:ptCount val="5"/>
                <c:pt idx="0">
                  <c:v>Bundle</c:v>
                </c:pt>
                <c:pt idx="1">
                  <c:v>Relay</c:v>
                </c:pt>
                <c:pt idx="2">
                  <c:v>Station</c:v>
                </c:pt>
                <c:pt idx="3">
                  <c:v>Story</c:v>
                </c:pt>
                <c:pt idx="4">
                  <c:v>Cortex</c:v>
                </c:pt>
              </c:strCache>
            </c:strRef>
          </c:cat>
          <c:val>
            <c:numRef>
              <c:f>Sheet1!$B$2:$B$6</c:f>
              <c:numCache>
                <c:formatCode>General</c:formatCode>
                <c:ptCount val="5"/>
                <c:pt idx="0">
                  <c:v>58</c:v>
                </c:pt>
                <c:pt idx="1">
                  <c:v>30</c:v>
                </c:pt>
                <c:pt idx="2">
                  <c:v>18</c:v>
                </c:pt>
                <c:pt idx="3">
                  <c:v>42</c:v>
                </c:pt>
                <c:pt idx="4">
                  <c:v>74</c:v>
                </c:pt>
              </c:numCache>
            </c:numRef>
          </c:val>
          <c:extLst>
            <c:ext xmlns:c16="http://schemas.microsoft.com/office/drawing/2014/chart" uri="{C3380CC4-5D6E-409C-BE32-E72D297353CC}">
              <c16:uniqueId val="{00000000-0BD9-4F10-80B0-A054B622523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Precision Inventory Frame</a:t>
            </a:r>
          </a:p>
        </c:rich>
      </c:tx>
      <c:overlay val="0"/>
    </c:title>
    <c:autoTitleDeleted val="0"/>
    <c:plotArea>
      <c:layout/>
      <c:barChart>
        <c:barDir val="bar"/>
        <c:grouping val="clustered"/>
        <c:varyColors val="1"/>
        <c:ser>
          <c:idx val="0"/>
          <c:order val="0"/>
          <c:tx>
            <c:strRef>
              <c:f>Sheet1!$B$1</c:f>
              <c:strCache>
                <c:ptCount val="1"/>
                <c:pt idx="0">
                  <c:v>Trend</c:v>
                </c:pt>
              </c:strCache>
            </c:strRef>
          </c:tx>
          <c:invertIfNegative val="1"/>
          <c:cat>
            <c:strRef>
              <c:f>Sheet1!$A$2:$A$5</c:f>
              <c:strCache>
                <c:ptCount val="4"/>
                <c:pt idx="0">
                  <c:v>Status</c:v>
                </c:pt>
                <c:pt idx="1">
                  <c:v>Sequence</c:v>
                </c:pt>
                <c:pt idx="2">
                  <c:v>Network</c:v>
                </c:pt>
                <c:pt idx="3">
                  <c:v>Deployment</c:v>
                </c:pt>
              </c:strCache>
            </c:strRef>
          </c:cat>
          <c:val>
            <c:numRef>
              <c:f>Sheet1!$B$2:$B$5</c:f>
              <c:numCache>
                <c:formatCode>General</c:formatCode>
                <c:ptCount val="4"/>
                <c:pt idx="0">
                  <c:v>92</c:v>
                </c:pt>
                <c:pt idx="1">
                  <c:v>65</c:v>
                </c:pt>
                <c:pt idx="2">
                  <c:v>79</c:v>
                </c:pt>
                <c:pt idx="3">
                  <c:v>31</c:v>
                </c:pt>
              </c:numCache>
            </c:numRef>
          </c:val>
          <c:extLst>
            <c:ext xmlns:c16="http://schemas.microsoft.com/office/drawing/2014/chart" uri="{C3380CC4-5D6E-409C-BE32-E72D297353CC}">
              <c16:uniqueId val="{00000000-90F2-4D62-AC29-3B4051A6555E}"/>
            </c:ext>
          </c:extLst>
        </c:ser>
        <c:ser>
          <c:idx val="1"/>
          <c:order val="1"/>
          <c:tx>
            <c:strRef>
              <c:f>Sheet1!$C$1</c:f>
              <c:strCache>
                <c:ptCount val="1"/>
                <c:pt idx="0">
                  <c:v>Dashboard</c:v>
                </c:pt>
              </c:strCache>
            </c:strRef>
          </c:tx>
          <c:invertIfNegative val="1"/>
          <c:cat>
            <c:strRef>
              <c:f>Sheet1!$A$2:$A$5</c:f>
              <c:strCache>
                <c:ptCount val="4"/>
                <c:pt idx="0">
                  <c:v>Status</c:v>
                </c:pt>
                <c:pt idx="1">
                  <c:v>Sequence</c:v>
                </c:pt>
                <c:pt idx="2">
                  <c:v>Network</c:v>
                </c:pt>
                <c:pt idx="3">
                  <c:v>Deployment</c:v>
                </c:pt>
              </c:strCache>
            </c:strRef>
          </c:cat>
          <c:val>
            <c:numRef>
              <c:f>Sheet1!$C$2:$C$5</c:f>
              <c:numCache>
                <c:formatCode>General</c:formatCode>
                <c:ptCount val="4"/>
                <c:pt idx="0">
                  <c:v>48</c:v>
                </c:pt>
                <c:pt idx="1">
                  <c:v>84</c:v>
                </c:pt>
                <c:pt idx="2">
                  <c:v>38</c:v>
                </c:pt>
                <c:pt idx="3">
                  <c:v>77</c:v>
                </c:pt>
              </c:numCache>
            </c:numRef>
          </c:val>
          <c:extLst>
            <c:ext xmlns:c16="http://schemas.microsoft.com/office/drawing/2014/chart" uri="{C3380CC4-5D6E-409C-BE32-E72D297353CC}">
              <c16:uniqueId val="{00000001-90F2-4D62-AC29-3B4051A6555E}"/>
            </c:ext>
          </c:extLst>
        </c:ser>
        <c:ser>
          <c:idx val="2"/>
          <c:order val="2"/>
          <c:tx>
            <c:strRef>
              <c:f>Sheet1!$D$1</c:f>
              <c:strCache>
                <c:ptCount val="1"/>
                <c:pt idx="0">
                  <c:v>Milestone Ledger</c:v>
                </c:pt>
              </c:strCache>
            </c:strRef>
          </c:tx>
          <c:invertIfNegative val="1"/>
          <c:cat>
            <c:strRef>
              <c:f>Sheet1!$A$2:$A$5</c:f>
              <c:strCache>
                <c:ptCount val="4"/>
                <c:pt idx="0">
                  <c:v>Status</c:v>
                </c:pt>
                <c:pt idx="1">
                  <c:v>Sequence</c:v>
                </c:pt>
                <c:pt idx="2">
                  <c:v>Network</c:v>
                </c:pt>
                <c:pt idx="3">
                  <c:v>Deployment</c:v>
                </c:pt>
              </c:strCache>
            </c:strRef>
          </c:cat>
          <c:val>
            <c:numRef>
              <c:f>Sheet1!$D$2:$D$5</c:f>
              <c:numCache>
                <c:formatCode>General</c:formatCode>
                <c:ptCount val="4"/>
                <c:pt idx="0">
                  <c:v>84</c:v>
                </c:pt>
                <c:pt idx="1">
                  <c:v>91</c:v>
                </c:pt>
                <c:pt idx="2">
                  <c:v>30</c:v>
                </c:pt>
                <c:pt idx="3">
                  <c:v>22</c:v>
                </c:pt>
              </c:numCache>
            </c:numRef>
          </c:val>
          <c:extLst>
            <c:ext xmlns:c16="http://schemas.microsoft.com/office/drawing/2014/chart" uri="{C3380CC4-5D6E-409C-BE32-E72D297353CC}">
              <c16:uniqueId val="{00000002-90F2-4D62-AC29-3B4051A6555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Build</c:v>
                </c:pt>
              </c:strCache>
            </c:strRef>
          </c:tx>
          <c:invertIfNegative val="1"/>
          <c:cat>
            <c:strRef>
              <c:f>Sheet1!$A$2:$A$6</c:f>
              <c:strCache>
                <c:ptCount val="5"/>
                <c:pt idx="0">
                  <c:v>Orbit</c:v>
                </c:pt>
                <c:pt idx="1">
                  <c:v>Limit</c:v>
                </c:pt>
                <c:pt idx="2">
                  <c:v>Frame</c:v>
                </c:pt>
                <c:pt idx="3">
                  <c:v>Engine</c:v>
                </c:pt>
                <c:pt idx="4">
                  <c:v>Heading</c:v>
                </c:pt>
              </c:strCache>
            </c:strRef>
          </c:cat>
          <c:val>
            <c:numRef>
              <c:f>Sheet1!$B$2:$B$6</c:f>
              <c:numCache>
                <c:formatCode>General</c:formatCode>
                <c:ptCount val="5"/>
                <c:pt idx="0">
                  <c:v>64</c:v>
                </c:pt>
                <c:pt idx="1">
                  <c:v>43</c:v>
                </c:pt>
                <c:pt idx="2">
                  <c:v>60</c:v>
                </c:pt>
                <c:pt idx="3">
                  <c:v>56</c:v>
                </c:pt>
                <c:pt idx="4">
                  <c:v>81</c:v>
                </c:pt>
              </c:numCache>
            </c:numRef>
          </c:val>
          <c:extLst>
            <c:ext xmlns:c16="http://schemas.microsoft.com/office/drawing/2014/chart" uri="{C3380CC4-5D6E-409C-BE32-E72D297353CC}">
              <c16:uniqueId val="{00000000-0374-409B-B7CF-CFF2B91A1BFE}"/>
            </c:ext>
          </c:extLst>
        </c:ser>
        <c:ser>
          <c:idx val="1"/>
          <c:order val="1"/>
          <c:tx>
            <c:strRef>
              <c:f>Sheet1!$C$1</c:f>
              <c:strCache>
                <c:ptCount val="1"/>
                <c:pt idx="0">
                  <c:v>Diagram Radius</c:v>
                </c:pt>
              </c:strCache>
            </c:strRef>
          </c:tx>
          <c:invertIfNegative val="1"/>
          <c:cat>
            <c:strRef>
              <c:f>Sheet1!$A$2:$A$6</c:f>
              <c:strCache>
                <c:ptCount val="5"/>
                <c:pt idx="0">
                  <c:v>Orbit</c:v>
                </c:pt>
                <c:pt idx="1">
                  <c:v>Limit</c:v>
                </c:pt>
                <c:pt idx="2">
                  <c:v>Frame</c:v>
                </c:pt>
                <c:pt idx="3">
                  <c:v>Engine</c:v>
                </c:pt>
                <c:pt idx="4">
                  <c:v>Heading</c:v>
                </c:pt>
              </c:strCache>
            </c:strRef>
          </c:cat>
          <c:val>
            <c:numRef>
              <c:f>Sheet1!$C$2:$C$6</c:f>
              <c:numCache>
                <c:formatCode>General</c:formatCode>
                <c:ptCount val="5"/>
                <c:pt idx="0">
                  <c:v>65</c:v>
                </c:pt>
                <c:pt idx="1">
                  <c:v>83</c:v>
                </c:pt>
                <c:pt idx="2">
                  <c:v>22</c:v>
                </c:pt>
                <c:pt idx="3">
                  <c:v>31</c:v>
                </c:pt>
                <c:pt idx="4">
                  <c:v>19</c:v>
                </c:pt>
              </c:numCache>
            </c:numRef>
          </c:val>
          <c:extLst>
            <c:ext xmlns:c16="http://schemas.microsoft.com/office/drawing/2014/chart" uri="{C3380CC4-5D6E-409C-BE32-E72D297353CC}">
              <c16:uniqueId val="{00000001-0374-409B-B7CF-CFF2B91A1BF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Adaptive Insight</a:t>
            </a:r>
          </a:p>
        </c:rich>
      </c:tx>
      <c:overlay val="0"/>
    </c:title>
    <c:autoTitleDeleted val="0"/>
    <c:plotArea>
      <c:layout/>
      <c:barChart>
        <c:barDir val="bar"/>
        <c:grouping val="clustered"/>
        <c:varyColors val="1"/>
        <c:ser>
          <c:idx val="0"/>
          <c:order val="0"/>
          <c:tx>
            <c:strRef>
              <c:f>Sheet1!$B$1</c:f>
              <c:strCache>
                <c:ptCount val="1"/>
                <c:pt idx="0">
                  <c:v>Instance</c:v>
                </c:pt>
              </c:strCache>
            </c:strRef>
          </c:tx>
          <c:invertIfNegative val="1"/>
          <c:cat>
            <c:strRef>
              <c:f>Sheet1!$A$2:$A$5</c:f>
              <c:strCache>
                <c:ptCount val="4"/>
                <c:pt idx="0">
                  <c:v>Profile</c:v>
                </c:pt>
                <c:pt idx="1">
                  <c:v>Queue</c:v>
                </c:pt>
                <c:pt idx="2">
                  <c:v>Surface</c:v>
                </c:pt>
                <c:pt idx="3">
                  <c:v>Pixel</c:v>
                </c:pt>
              </c:strCache>
            </c:strRef>
          </c:cat>
          <c:val>
            <c:numRef>
              <c:f>Sheet1!$B$2:$B$5</c:f>
              <c:numCache>
                <c:formatCode>General</c:formatCode>
                <c:ptCount val="4"/>
                <c:pt idx="0">
                  <c:v>9</c:v>
                </c:pt>
                <c:pt idx="1">
                  <c:v>89</c:v>
                </c:pt>
                <c:pt idx="2">
                  <c:v>43</c:v>
                </c:pt>
                <c:pt idx="3">
                  <c:v>29</c:v>
                </c:pt>
              </c:numCache>
            </c:numRef>
          </c:val>
          <c:extLst>
            <c:ext xmlns:c16="http://schemas.microsoft.com/office/drawing/2014/chart" uri="{C3380CC4-5D6E-409C-BE32-E72D297353CC}">
              <c16:uniqueId val="{00000000-0CD0-4638-8876-A945E12F1E3D}"/>
            </c:ext>
          </c:extLst>
        </c:ser>
        <c:ser>
          <c:idx val="1"/>
          <c:order val="1"/>
          <c:tx>
            <c:strRef>
              <c:f>Sheet1!$C$1</c:f>
              <c:strCache>
                <c:ptCount val="1"/>
                <c:pt idx="0">
                  <c:v>Runtime Foundation</c:v>
                </c:pt>
              </c:strCache>
            </c:strRef>
          </c:tx>
          <c:invertIfNegative val="1"/>
          <c:cat>
            <c:strRef>
              <c:f>Sheet1!$A$2:$A$5</c:f>
              <c:strCache>
                <c:ptCount val="4"/>
                <c:pt idx="0">
                  <c:v>Profile</c:v>
                </c:pt>
                <c:pt idx="1">
                  <c:v>Queue</c:v>
                </c:pt>
                <c:pt idx="2">
                  <c:v>Surface</c:v>
                </c:pt>
                <c:pt idx="3">
                  <c:v>Pixel</c:v>
                </c:pt>
              </c:strCache>
            </c:strRef>
          </c:cat>
          <c:val>
            <c:numRef>
              <c:f>Sheet1!$C$2:$C$5</c:f>
              <c:numCache>
                <c:formatCode>General</c:formatCode>
                <c:ptCount val="4"/>
                <c:pt idx="0">
                  <c:v>83</c:v>
                </c:pt>
                <c:pt idx="1">
                  <c:v>79</c:v>
                </c:pt>
                <c:pt idx="2">
                  <c:v>49</c:v>
                </c:pt>
                <c:pt idx="3">
                  <c:v>79</c:v>
                </c:pt>
              </c:numCache>
            </c:numRef>
          </c:val>
          <c:extLst>
            <c:ext xmlns:c16="http://schemas.microsoft.com/office/drawing/2014/chart" uri="{C3380CC4-5D6E-409C-BE32-E72D297353CC}">
              <c16:uniqueId val="{00000001-0CD0-4638-8876-A945E12F1E3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Element</c:v>
                </c:pt>
              </c:strCache>
            </c:strRef>
          </c:tx>
          <c:cat>
            <c:strRef>
              <c:f>Sheet1!$A$2:$A$5</c:f>
              <c:strCache>
                <c:ptCount val="4"/>
                <c:pt idx="0">
                  <c:v>Edge</c:v>
                </c:pt>
                <c:pt idx="1">
                  <c:v>Interval</c:v>
                </c:pt>
                <c:pt idx="2">
                  <c:v>Terminal</c:v>
                </c:pt>
                <c:pt idx="3">
                  <c:v>Terminal</c:v>
                </c:pt>
              </c:strCache>
            </c:strRef>
          </c:cat>
          <c:val>
            <c:numRef>
              <c:f>Sheet1!$B$2:$B$5</c:f>
              <c:numCache>
                <c:formatCode>General</c:formatCode>
                <c:ptCount val="4"/>
                <c:pt idx="0">
                  <c:v>9</c:v>
                </c:pt>
                <c:pt idx="1">
                  <c:v>17</c:v>
                </c:pt>
                <c:pt idx="2">
                  <c:v>72</c:v>
                </c:pt>
                <c:pt idx="3">
                  <c:v>55</c:v>
                </c:pt>
              </c:numCache>
            </c:numRef>
          </c:val>
          <c:extLst>
            <c:ext xmlns:c16="http://schemas.microsoft.com/office/drawing/2014/chart" uri="{C3380CC4-5D6E-409C-BE32-E72D297353CC}">
              <c16:uniqueId val="{00000000-48B8-463D-ACFA-F461BB55CCAE}"/>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Lineage Briefing Drive</a:t>
            </a:r>
          </a:p>
        </c:rich>
      </c:tx>
      <c:overlay val="0"/>
    </c:title>
    <c:autoTitleDeleted val="0"/>
    <c:plotArea>
      <c:layout/>
      <c:doughnutChart>
        <c:varyColors val="1"/>
        <c:ser>
          <c:idx val="0"/>
          <c:order val="0"/>
          <c:tx>
            <c:strRef>
              <c:f>Sheet1!$B$1</c:f>
              <c:strCache>
                <c:ptCount val="1"/>
                <c:pt idx="0">
                  <c:v>Control Stack</c:v>
                </c:pt>
              </c:strCache>
            </c:strRef>
          </c:tx>
          <c:cat>
            <c:strRef>
              <c:f>Sheet1!$A$2:$A$6</c:f>
              <c:strCache>
                <c:ptCount val="5"/>
                <c:pt idx="0">
                  <c:v>Sequence</c:v>
                </c:pt>
                <c:pt idx="1">
                  <c:v>Matrix</c:v>
                </c:pt>
                <c:pt idx="2">
                  <c:v>Chart</c:v>
                </c:pt>
                <c:pt idx="3">
                  <c:v>Track</c:v>
                </c:pt>
                <c:pt idx="4">
                  <c:v>Exchange</c:v>
                </c:pt>
              </c:strCache>
            </c:strRef>
          </c:cat>
          <c:val>
            <c:numRef>
              <c:f>Sheet1!$B$2:$B$6</c:f>
              <c:numCache>
                <c:formatCode>General</c:formatCode>
                <c:ptCount val="5"/>
                <c:pt idx="0">
                  <c:v>93</c:v>
                </c:pt>
                <c:pt idx="1">
                  <c:v>33</c:v>
                </c:pt>
                <c:pt idx="2">
                  <c:v>25</c:v>
                </c:pt>
                <c:pt idx="3">
                  <c:v>31</c:v>
                </c:pt>
                <c:pt idx="4">
                  <c:v>10</c:v>
                </c:pt>
              </c:numCache>
            </c:numRef>
          </c:val>
          <c:extLst>
            <c:ext xmlns:c16="http://schemas.microsoft.com/office/drawing/2014/chart" uri="{C3380CC4-5D6E-409C-BE32-E72D297353CC}">
              <c16:uniqueId val="{00000000-85D9-4243-8BE5-2781727C023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Profile Frequency</c:v>
                </c:pt>
              </c:strCache>
            </c:strRef>
          </c:tx>
          <c:cat>
            <c:strRef>
              <c:f>Sheet1!$A$2:$A$7</c:f>
              <c:strCache>
                <c:ptCount val="6"/>
                <c:pt idx="0">
                  <c:v>Iteration</c:v>
                </c:pt>
                <c:pt idx="1">
                  <c:v>Process</c:v>
                </c:pt>
                <c:pt idx="2">
                  <c:v>Frequency</c:v>
                </c:pt>
                <c:pt idx="3">
                  <c:v>Pixel</c:v>
                </c:pt>
                <c:pt idx="4">
                  <c:v>Sequence</c:v>
                </c:pt>
                <c:pt idx="5">
                  <c:v>Texture</c:v>
                </c:pt>
              </c:strCache>
            </c:strRef>
          </c:cat>
          <c:val>
            <c:numRef>
              <c:f>Sheet1!$B$2:$B$7</c:f>
              <c:numCache>
                <c:formatCode>General</c:formatCode>
                <c:ptCount val="6"/>
                <c:pt idx="0">
                  <c:v>25</c:v>
                </c:pt>
                <c:pt idx="1">
                  <c:v>72</c:v>
                </c:pt>
                <c:pt idx="2">
                  <c:v>70</c:v>
                </c:pt>
                <c:pt idx="3">
                  <c:v>29</c:v>
                </c:pt>
                <c:pt idx="4">
                  <c:v>69</c:v>
                </c:pt>
                <c:pt idx="5">
                  <c:v>18</c:v>
                </c:pt>
              </c:numCache>
            </c:numRef>
          </c:val>
          <c:extLst>
            <c:ext xmlns:c16="http://schemas.microsoft.com/office/drawing/2014/chart" uri="{C3380CC4-5D6E-409C-BE32-E72D297353CC}">
              <c16:uniqueId val="{00000000-35BD-440B-BAB6-B800D75CBEE9}"/>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Journey Model</c:v>
                </c:pt>
              </c:strCache>
            </c:strRef>
          </c:tx>
          <c:cat>
            <c:strRef>
              <c:f>Sheet1!$A$2:$A$5</c:f>
              <c:strCache>
                <c:ptCount val="4"/>
                <c:pt idx="0">
                  <c:v>Balance</c:v>
                </c:pt>
                <c:pt idx="1">
                  <c:v>Structure</c:v>
                </c:pt>
                <c:pt idx="2">
                  <c:v>Asset</c:v>
                </c:pt>
                <c:pt idx="3">
                  <c:v>Route</c:v>
                </c:pt>
              </c:strCache>
            </c:strRef>
          </c:cat>
          <c:val>
            <c:numRef>
              <c:f>Sheet1!$B$2:$B$5</c:f>
              <c:numCache>
                <c:formatCode>General</c:formatCode>
                <c:ptCount val="4"/>
                <c:pt idx="0">
                  <c:v>56</c:v>
                </c:pt>
                <c:pt idx="1">
                  <c:v>77</c:v>
                </c:pt>
                <c:pt idx="2">
                  <c:v>80</c:v>
                </c:pt>
                <c:pt idx="3">
                  <c:v>30</c:v>
                </c:pt>
              </c:numCache>
            </c:numRef>
          </c:val>
          <c:extLst>
            <c:ext xmlns:c16="http://schemas.microsoft.com/office/drawing/2014/chart" uri="{C3380CC4-5D6E-409C-BE32-E72D297353CC}">
              <c16:uniqueId val="{00000000-86E4-4279-B2AE-EE0C7ACFB643}"/>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1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Portal Baseline</c:v>
                </c:pt>
              </c:strCache>
            </c:strRef>
          </c:tx>
          <c:cat>
            <c:strRef>
              <c:f>Sheet1!$A$2:$A$4</c:f>
              <c:strCache>
                <c:ptCount val="3"/>
                <c:pt idx="0">
                  <c:v>Order</c:v>
                </c:pt>
                <c:pt idx="1">
                  <c:v>Position</c:v>
                </c:pt>
                <c:pt idx="2">
                  <c:v>Edge</c:v>
                </c:pt>
              </c:strCache>
            </c:strRef>
          </c:cat>
          <c:val>
            <c:numRef>
              <c:f>Sheet1!$B$2:$B$4</c:f>
              <c:numCache>
                <c:formatCode>General</c:formatCode>
                <c:ptCount val="3"/>
                <c:pt idx="0">
                  <c:v>49</c:v>
                </c:pt>
                <c:pt idx="1">
                  <c:v>70</c:v>
                </c:pt>
                <c:pt idx="2">
                  <c:v>54</c:v>
                </c:pt>
              </c:numCache>
            </c:numRef>
          </c:val>
          <c:smooth val="0"/>
          <c:extLst>
            <c:ext xmlns:c16="http://schemas.microsoft.com/office/drawing/2014/chart" uri="{C3380CC4-5D6E-409C-BE32-E72D297353CC}">
              <c16:uniqueId val="{00000000-E9EC-4D95-A593-E4D177C3DA86}"/>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Catalog Object Waypoint Orbit</a:t>
            </a:r>
          </a:p>
        </c:rich>
      </c:tx>
      <c:overlay val="0"/>
    </c:title>
    <c:autoTitleDeleted val="0"/>
    <c:plotArea>
      <c:layout/>
      <c:lineChart>
        <c:grouping val="standard"/>
        <c:varyColors val="0"/>
        <c:ser>
          <c:idx val="0"/>
          <c:order val="0"/>
          <c:tx>
            <c:strRef>
              <c:f>Sheet1!$B$1</c:f>
              <c:strCache>
                <c:ptCount val="1"/>
                <c:pt idx="0">
                  <c:v>Window</c:v>
                </c:pt>
              </c:strCache>
            </c:strRef>
          </c:tx>
          <c:cat>
            <c:strRef>
              <c:f>Sheet1!$A$2:$A$6</c:f>
              <c:strCache>
                <c:ptCount val="5"/>
                <c:pt idx="0">
                  <c:v>Filter</c:v>
                </c:pt>
                <c:pt idx="1">
                  <c:v>Node</c:v>
                </c:pt>
                <c:pt idx="2">
                  <c:v>Expansion</c:v>
                </c:pt>
                <c:pt idx="3">
                  <c:v>Track</c:v>
                </c:pt>
                <c:pt idx="4">
                  <c:v>Balance</c:v>
                </c:pt>
              </c:strCache>
            </c:strRef>
          </c:cat>
          <c:val>
            <c:numRef>
              <c:f>Sheet1!$B$2:$B$6</c:f>
              <c:numCache>
                <c:formatCode>General</c:formatCode>
                <c:ptCount val="5"/>
                <c:pt idx="0">
                  <c:v>78</c:v>
                </c:pt>
                <c:pt idx="1">
                  <c:v>14</c:v>
                </c:pt>
                <c:pt idx="2">
                  <c:v>46</c:v>
                </c:pt>
                <c:pt idx="3">
                  <c:v>67</c:v>
                </c:pt>
                <c:pt idx="4">
                  <c:v>45</c:v>
                </c:pt>
              </c:numCache>
            </c:numRef>
          </c:val>
          <c:smooth val="0"/>
          <c:extLst>
            <c:ext xmlns:c16="http://schemas.microsoft.com/office/drawing/2014/chart" uri="{C3380CC4-5D6E-409C-BE32-E72D297353CC}">
              <c16:uniqueId val="{00000000-02D8-4A27-8009-8AE07805D225}"/>
            </c:ext>
          </c:extLst>
        </c:ser>
        <c:ser>
          <c:idx val="1"/>
          <c:order val="1"/>
          <c:tx>
            <c:strRef>
              <c:f>Sheet1!$C$1</c:f>
              <c:strCache>
                <c:ptCount val="1"/>
                <c:pt idx="0">
                  <c:v>Harbor</c:v>
                </c:pt>
              </c:strCache>
            </c:strRef>
          </c:tx>
          <c:cat>
            <c:strRef>
              <c:f>Sheet1!$A$2:$A$6</c:f>
              <c:strCache>
                <c:ptCount val="5"/>
                <c:pt idx="0">
                  <c:v>Filter</c:v>
                </c:pt>
                <c:pt idx="1">
                  <c:v>Node</c:v>
                </c:pt>
                <c:pt idx="2">
                  <c:v>Expansion</c:v>
                </c:pt>
                <c:pt idx="3">
                  <c:v>Track</c:v>
                </c:pt>
                <c:pt idx="4">
                  <c:v>Balance</c:v>
                </c:pt>
              </c:strCache>
            </c:strRef>
          </c:cat>
          <c:val>
            <c:numRef>
              <c:f>Sheet1!$C$2:$C$6</c:f>
              <c:numCache>
                <c:formatCode>General</c:formatCode>
                <c:ptCount val="5"/>
                <c:pt idx="0">
                  <c:v>75</c:v>
                </c:pt>
                <c:pt idx="1">
                  <c:v>40</c:v>
                </c:pt>
                <c:pt idx="2">
                  <c:v>22</c:v>
                </c:pt>
                <c:pt idx="3">
                  <c:v>92</c:v>
                </c:pt>
                <c:pt idx="4">
                  <c:v>60</c:v>
                </c:pt>
              </c:numCache>
            </c:numRef>
          </c:val>
          <c:smooth val="0"/>
          <c:extLst>
            <c:ext xmlns:c16="http://schemas.microsoft.com/office/drawing/2014/chart" uri="{C3380CC4-5D6E-409C-BE32-E72D297353CC}">
              <c16:uniqueId val="{00000001-02D8-4A27-8009-8AE07805D22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Connector</c:v>
                </c:pt>
              </c:strCache>
            </c:strRef>
          </c:tx>
          <c:cat>
            <c:strRef>
              <c:f>Sheet1!$A$2:$A$5</c:f>
              <c:strCache>
                <c:ptCount val="4"/>
                <c:pt idx="0">
                  <c:v>Coverage</c:v>
                </c:pt>
                <c:pt idx="1">
                  <c:v>Mode</c:v>
                </c:pt>
                <c:pt idx="2">
                  <c:v>Queue</c:v>
                </c:pt>
                <c:pt idx="3">
                  <c:v>Factor</c:v>
                </c:pt>
              </c:strCache>
            </c:strRef>
          </c:cat>
          <c:val>
            <c:numRef>
              <c:f>Sheet1!$B$2:$B$5</c:f>
              <c:numCache>
                <c:formatCode>General</c:formatCode>
                <c:ptCount val="4"/>
                <c:pt idx="0">
                  <c:v>26</c:v>
                </c:pt>
                <c:pt idx="1">
                  <c:v>52</c:v>
                </c:pt>
                <c:pt idx="2">
                  <c:v>12</c:v>
                </c:pt>
                <c:pt idx="3">
                  <c:v>75</c:v>
                </c:pt>
              </c:numCache>
            </c:numRef>
          </c:val>
          <c:extLst>
            <c:ext xmlns:c16="http://schemas.microsoft.com/office/drawing/2014/chart" uri="{C3380CC4-5D6E-409C-BE32-E72D297353CC}">
              <c16:uniqueId val="{00000000-619E-4122-92C5-60463C747E96}"/>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Limit Intent</c:v>
                </c:pt>
              </c:strCache>
            </c:strRef>
          </c:tx>
          <c:invertIfNegative val="1"/>
          <c:cat>
            <c:strRef>
              <c:f>Sheet1!$A$2:$A$7</c:f>
              <c:strCache>
                <c:ptCount val="6"/>
                <c:pt idx="0">
                  <c:v>Volume</c:v>
                </c:pt>
                <c:pt idx="1">
                  <c:v>Result</c:v>
                </c:pt>
                <c:pt idx="2">
                  <c:v>Harbor</c:v>
                </c:pt>
                <c:pt idx="3">
                  <c:v>Pulse</c:v>
                </c:pt>
                <c:pt idx="4">
                  <c:v>Program</c:v>
                </c:pt>
                <c:pt idx="5">
                  <c:v>Release</c:v>
                </c:pt>
              </c:strCache>
            </c:strRef>
          </c:cat>
          <c:val>
            <c:numRef>
              <c:f>Sheet1!$B$2:$B$7</c:f>
              <c:numCache>
                <c:formatCode>General</c:formatCode>
                <c:ptCount val="6"/>
                <c:pt idx="0">
                  <c:v>89</c:v>
                </c:pt>
                <c:pt idx="1">
                  <c:v>29</c:v>
                </c:pt>
                <c:pt idx="2">
                  <c:v>80</c:v>
                </c:pt>
                <c:pt idx="3">
                  <c:v>77</c:v>
                </c:pt>
                <c:pt idx="4">
                  <c:v>67</c:v>
                </c:pt>
                <c:pt idx="5">
                  <c:v>64</c:v>
                </c:pt>
              </c:numCache>
            </c:numRef>
          </c:val>
          <c:extLst>
            <c:ext xmlns:c16="http://schemas.microsoft.com/office/drawing/2014/chart" uri="{C3380CC4-5D6E-409C-BE32-E72D297353CC}">
              <c16:uniqueId val="{00000000-FF0A-43FE-90D9-60E0164559B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Canvas Station Horizon Viewport</a:t>
            </a:r>
          </a:p>
        </c:rich>
      </c:tx>
      <c:overlay val="0"/>
    </c:title>
    <c:autoTitleDeleted val="0"/>
    <c:plotArea>
      <c:layout/>
      <c:barChart>
        <c:barDir val="col"/>
        <c:grouping val="clustered"/>
        <c:varyColors val="1"/>
        <c:ser>
          <c:idx val="0"/>
          <c:order val="0"/>
          <c:tx>
            <c:strRef>
              <c:f>Sheet1!$B$1</c:f>
              <c:strCache>
                <c:ptCount val="1"/>
                <c:pt idx="0">
                  <c:v>Library Estimate</c:v>
                </c:pt>
              </c:strCache>
            </c:strRef>
          </c:tx>
          <c:invertIfNegative val="1"/>
          <c:cat>
            <c:strRef>
              <c:f>Sheet1!$A$2:$A$5</c:f>
              <c:strCache>
                <c:ptCount val="4"/>
                <c:pt idx="0">
                  <c:v>Token</c:v>
                </c:pt>
                <c:pt idx="1">
                  <c:v>Library</c:v>
                </c:pt>
                <c:pt idx="2">
                  <c:v>Drift</c:v>
                </c:pt>
                <c:pt idx="3">
                  <c:v>Case</c:v>
                </c:pt>
              </c:strCache>
            </c:strRef>
          </c:cat>
          <c:val>
            <c:numRef>
              <c:f>Sheet1!$B$2:$B$5</c:f>
              <c:numCache>
                <c:formatCode>General</c:formatCode>
                <c:ptCount val="4"/>
                <c:pt idx="0">
                  <c:v>46</c:v>
                </c:pt>
                <c:pt idx="1">
                  <c:v>62</c:v>
                </c:pt>
                <c:pt idx="2">
                  <c:v>22</c:v>
                </c:pt>
                <c:pt idx="3">
                  <c:v>73</c:v>
                </c:pt>
              </c:numCache>
            </c:numRef>
          </c:val>
          <c:extLst>
            <c:ext xmlns:c16="http://schemas.microsoft.com/office/drawing/2014/chart" uri="{C3380CC4-5D6E-409C-BE32-E72D297353CC}">
              <c16:uniqueId val="{00000000-7104-44A6-BC4E-0E5D91D877C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Frequency Relay</c:v>
                </c:pt>
              </c:strCache>
            </c:strRef>
          </c:tx>
          <c:cat>
            <c:strRef>
              <c:f>Sheet1!$A$2:$A$7</c:f>
              <c:strCache>
                <c:ptCount val="6"/>
                <c:pt idx="0">
                  <c:v>Summary</c:v>
                </c:pt>
                <c:pt idx="1">
                  <c:v>Matrix</c:v>
                </c:pt>
                <c:pt idx="2">
                  <c:v>Signal</c:v>
                </c:pt>
                <c:pt idx="3">
                  <c:v>Resource</c:v>
                </c:pt>
                <c:pt idx="4">
                  <c:v>Feature</c:v>
                </c:pt>
                <c:pt idx="5">
                  <c:v>Channel</c:v>
                </c:pt>
              </c:strCache>
            </c:strRef>
          </c:cat>
          <c:val>
            <c:numRef>
              <c:f>Sheet1!$B$2:$B$7</c:f>
              <c:numCache>
                <c:formatCode>General</c:formatCode>
                <c:ptCount val="6"/>
                <c:pt idx="0">
                  <c:v>48</c:v>
                </c:pt>
                <c:pt idx="1">
                  <c:v>66</c:v>
                </c:pt>
                <c:pt idx="2">
                  <c:v>70</c:v>
                </c:pt>
                <c:pt idx="3">
                  <c:v>8</c:v>
                </c:pt>
                <c:pt idx="4">
                  <c:v>67</c:v>
                </c:pt>
                <c:pt idx="5">
                  <c:v>32</c:v>
                </c:pt>
              </c:numCache>
            </c:numRef>
          </c:val>
          <c:extLst>
            <c:ext xmlns:c16="http://schemas.microsoft.com/office/drawing/2014/chart" uri="{C3380CC4-5D6E-409C-BE32-E72D297353CC}">
              <c16:uniqueId val="{00000000-F9E6-4FEA-8B59-A8E128CE2787}"/>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Array Domain</a:t>
            </a:r>
          </a:p>
        </c:rich>
      </c:tx>
      <c:overlay val="0"/>
    </c:title>
    <c:autoTitleDeleted val="0"/>
    <c:plotArea>
      <c:layout/>
      <c:doughnutChart>
        <c:varyColors val="1"/>
        <c:ser>
          <c:idx val="0"/>
          <c:order val="0"/>
          <c:tx>
            <c:strRef>
              <c:f>Sheet1!$B$1</c:f>
              <c:strCache>
                <c:ptCount val="1"/>
                <c:pt idx="0">
                  <c:v>Discovery Account</c:v>
                </c:pt>
              </c:strCache>
            </c:strRef>
          </c:tx>
          <c:cat>
            <c:strRef>
              <c:f>Sheet1!$A$2:$A$4</c:f>
              <c:strCache>
                <c:ptCount val="3"/>
                <c:pt idx="0">
                  <c:v>Narrative</c:v>
                </c:pt>
                <c:pt idx="1">
                  <c:v>Variant</c:v>
                </c:pt>
                <c:pt idx="2">
                  <c:v>Waypoint</c:v>
                </c:pt>
              </c:strCache>
            </c:strRef>
          </c:cat>
          <c:val>
            <c:numRef>
              <c:f>Sheet1!$B$2:$B$4</c:f>
              <c:numCache>
                <c:formatCode>General</c:formatCode>
                <c:ptCount val="3"/>
                <c:pt idx="0">
                  <c:v>87</c:v>
                </c:pt>
                <c:pt idx="1">
                  <c:v>50</c:v>
                </c:pt>
                <c:pt idx="2">
                  <c:v>13</c:v>
                </c:pt>
              </c:numCache>
            </c:numRef>
          </c:val>
          <c:extLst>
            <c:ext xmlns:c16="http://schemas.microsoft.com/office/drawing/2014/chart" uri="{C3380CC4-5D6E-409C-BE32-E72D297353CC}">
              <c16:uniqueId val="{00000000-3B94-41F0-89AC-C7073707DA4E}"/>
            </c:ext>
          </c:extLst>
        </c:ser>
        <c:dLbls>
          <c:showLegendKey val="0"/>
          <c:showVal val="0"/>
          <c:showCatName val="0"/>
          <c:showSerName val="0"/>
          <c:showPercent val="0"/>
          <c:showBubbleSize val="0"/>
          <c:showLeaderLines val="1"/>
        </c:dLbls>
        <c:firstSliceAng val="0"/>
        <c:holeSize val="50"/>
      </c:doughnut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Energy Cluster</c:v>
                </c:pt>
              </c:strCache>
            </c:strRef>
          </c:tx>
          <c:cat>
            <c:strRef>
              <c:f>Sheet1!$A$2:$A$6</c:f>
              <c:strCache>
                <c:ptCount val="5"/>
                <c:pt idx="0">
                  <c:v>Goal</c:v>
                </c:pt>
                <c:pt idx="1">
                  <c:v>Profile</c:v>
                </c:pt>
                <c:pt idx="2">
                  <c:v>North</c:v>
                </c:pt>
                <c:pt idx="3">
                  <c:v>Needle</c:v>
                </c:pt>
                <c:pt idx="4">
                  <c:v>Motion</c:v>
                </c:pt>
              </c:strCache>
            </c:strRef>
          </c:cat>
          <c:val>
            <c:numRef>
              <c:f>Sheet1!$B$2:$B$6</c:f>
              <c:numCache>
                <c:formatCode>General</c:formatCode>
                <c:ptCount val="5"/>
                <c:pt idx="0">
                  <c:v>9</c:v>
                </c:pt>
                <c:pt idx="1">
                  <c:v>21</c:v>
                </c:pt>
                <c:pt idx="2">
                  <c:v>21</c:v>
                </c:pt>
                <c:pt idx="3">
                  <c:v>80</c:v>
                </c:pt>
                <c:pt idx="4">
                  <c:v>42</c:v>
                </c:pt>
              </c:numCache>
            </c:numRef>
          </c:val>
          <c:smooth val="0"/>
          <c:extLst>
            <c:ext xmlns:c16="http://schemas.microsoft.com/office/drawing/2014/chart" uri="{C3380CC4-5D6E-409C-BE32-E72D297353CC}">
              <c16:uniqueId val="{00000000-DFB7-49F2-9432-DCC2041B9170}"/>
            </c:ext>
          </c:extLst>
        </c:ser>
        <c:ser>
          <c:idx val="1"/>
          <c:order val="1"/>
          <c:tx>
            <c:strRef>
              <c:f>Sheet1!$C$1</c:f>
              <c:strCache>
                <c:ptCount val="1"/>
                <c:pt idx="0">
                  <c:v>Queueing Needle</c:v>
                </c:pt>
              </c:strCache>
            </c:strRef>
          </c:tx>
          <c:cat>
            <c:strRef>
              <c:f>Sheet1!$A$2:$A$6</c:f>
              <c:strCache>
                <c:ptCount val="5"/>
                <c:pt idx="0">
                  <c:v>Goal</c:v>
                </c:pt>
                <c:pt idx="1">
                  <c:v>Profile</c:v>
                </c:pt>
                <c:pt idx="2">
                  <c:v>North</c:v>
                </c:pt>
                <c:pt idx="3">
                  <c:v>Needle</c:v>
                </c:pt>
                <c:pt idx="4">
                  <c:v>Motion</c:v>
                </c:pt>
              </c:strCache>
            </c:strRef>
          </c:cat>
          <c:val>
            <c:numRef>
              <c:f>Sheet1!$C$2:$C$6</c:f>
              <c:numCache>
                <c:formatCode>General</c:formatCode>
                <c:ptCount val="5"/>
                <c:pt idx="0">
                  <c:v>46</c:v>
                </c:pt>
                <c:pt idx="1">
                  <c:v>75</c:v>
                </c:pt>
                <c:pt idx="2">
                  <c:v>19</c:v>
                </c:pt>
                <c:pt idx="3">
                  <c:v>21</c:v>
                </c:pt>
                <c:pt idx="4">
                  <c:v>75</c:v>
                </c:pt>
              </c:numCache>
            </c:numRef>
          </c:val>
          <c:smooth val="0"/>
          <c:extLst>
            <c:ext xmlns:c16="http://schemas.microsoft.com/office/drawing/2014/chart" uri="{C3380CC4-5D6E-409C-BE32-E72D297353CC}">
              <c16:uniqueId val="{00000001-DFB7-49F2-9432-DCC2041B9170}"/>
            </c:ext>
          </c:extLst>
        </c:ser>
        <c:ser>
          <c:idx val="2"/>
          <c:order val="2"/>
          <c:tx>
            <c:strRef>
              <c:f>Sheet1!$D$1</c:f>
              <c:strCache>
                <c:ptCount val="1"/>
                <c:pt idx="0">
                  <c:v>Response</c:v>
                </c:pt>
              </c:strCache>
            </c:strRef>
          </c:tx>
          <c:cat>
            <c:strRef>
              <c:f>Sheet1!$A$2:$A$6</c:f>
              <c:strCache>
                <c:ptCount val="5"/>
                <c:pt idx="0">
                  <c:v>Goal</c:v>
                </c:pt>
                <c:pt idx="1">
                  <c:v>Profile</c:v>
                </c:pt>
                <c:pt idx="2">
                  <c:v>North</c:v>
                </c:pt>
                <c:pt idx="3">
                  <c:v>Needle</c:v>
                </c:pt>
                <c:pt idx="4">
                  <c:v>Motion</c:v>
                </c:pt>
              </c:strCache>
            </c:strRef>
          </c:cat>
          <c:val>
            <c:numRef>
              <c:f>Sheet1!$D$2:$D$6</c:f>
              <c:numCache>
                <c:formatCode>General</c:formatCode>
                <c:ptCount val="5"/>
                <c:pt idx="0">
                  <c:v>58</c:v>
                </c:pt>
                <c:pt idx="1">
                  <c:v>25</c:v>
                </c:pt>
                <c:pt idx="2">
                  <c:v>41</c:v>
                </c:pt>
                <c:pt idx="3">
                  <c:v>85</c:v>
                </c:pt>
                <c:pt idx="4">
                  <c:v>93</c:v>
                </c:pt>
              </c:numCache>
            </c:numRef>
          </c:val>
          <c:smooth val="0"/>
          <c:extLst>
            <c:ext xmlns:c16="http://schemas.microsoft.com/office/drawing/2014/chart" uri="{C3380CC4-5D6E-409C-BE32-E72D297353CC}">
              <c16:uniqueId val="{00000002-DFB7-49F2-9432-DCC2041B917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Token Node</c:v>
                </c:pt>
              </c:strCache>
            </c:strRef>
          </c:tx>
          <c:invertIfNegative val="1"/>
          <c:cat>
            <c:strRef>
              <c:f>Sheet1!$A$2:$A$5</c:f>
              <c:strCache>
                <c:ptCount val="4"/>
                <c:pt idx="0">
                  <c:v>Guide</c:v>
                </c:pt>
                <c:pt idx="1">
                  <c:v>Response</c:v>
                </c:pt>
                <c:pt idx="2">
                  <c:v>Handle</c:v>
                </c:pt>
                <c:pt idx="3">
                  <c:v>Connector</c:v>
                </c:pt>
              </c:strCache>
            </c:strRef>
          </c:cat>
          <c:val>
            <c:numRef>
              <c:f>Sheet1!$B$2:$B$5</c:f>
              <c:numCache>
                <c:formatCode>General</c:formatCode>
                <c:ptCount val="4"/>
                <c:pt idx="0">
                  <c:v>17</c:v>
                </c:pt>
                <c:pt idx="1">
                  <c:v>95</c:v>
                </c:pt>
                <c:pt idx="2">
                  <c:v>70</c:v>
                </c:pt>
                <c:pt idx="3">
                  <c:v>25</c:v>
                </c:pt>
              </c:numCache>
            </c:numRef>
          </c:val>
          <c:extLst>
            <c:ext xmlns:c16="http://schemas.microsoft.com/office/drawing/2014/chart" uri="{C3380CC4-5D6E-409C-BE32-E72D297353CC}">
              <c16:uniqueId val="{00000000-4E9C-4D81-8FF9-CC14C60F5D1F}"/>
            </c:ext>
          </c:extLst>
        </c:ser>
        <c:ser>
          <c:idx val="1"/>
          <c:order val="1"/>
          <c:tx>
            <c:strRef>
              <c:f>Sheet1!$C$1</c:f>
              <c:strCache>
                <c:ptCount val="1"/>
                <c:pt idx="0">
                  <c:v>Checkpoint Expansion</c:v>
                </c:pt>
              </c:strCache>
            </c:strRef>
          </c:tx>
          <c:invertIfNegative val="1"/>
          <c:cat>
            <c:strRef>
              <c:f>Sheet1!$A$2:$A$5</c:f>
              <c:strCache>
                <c:ptCount val="4"/>
                <c:pt idx="0">
                  <c:v>Guide</c:v>
                </c:pt>
                <c:pt idx="1">
                  <c:v>Response</c:v>
                </c:pt>
                <c:pt idx="2">
                  <c:v>Handle</c:v>
                </c:pt>
                <c:pt idx="3">
                  <c:v>Connector</c:v>
                </c:pt>
              </c:strCache>
            </c:strRef>
          </c:cat>
          <c:val>
            <c:numRef>
              <c:f>Sheet1!$C$2:$C$5</c:f>
              <c:numCache>
                <c:formatCode>General</c:formatCode>
                <c:ptCount val="4"/>
                <c:pt idx="0">
                  <c:v>94</c:v>
                </c:pt>
                <c:pt idx="1">
                  <c:v>46</c:v>
                </c:pt>
                <c:pt idx="2">
                  <c:v>40</c:v>
                </c:pt>
                <c:pt idx="3">
                  <c:v>88</c:v>
                </c:pt>
              </c:numCache>
            </c:numRef>
          </c:val>
          <c:extLst>
            <c:ext xmlns:c16="http://schemas.microsoft.com/office/drawing/2014/chart" uri="{C3380CC4-5D6E-409C-BE32-E72D297353CC}">
              <c16:uniqueId val="{00000001-4E9C-4D81-8FF9-CC14C60F5D1F}"/>
            </c:ext>
          </c:extLst>
        </c:ser>
        <c:ser>
          <c:idx val="2"/>
          <c:order val="2"/>
          <c:tx>
            <c:strRef>
              <c:f>Sheet1!$D$1</c:f>
              <c:strCache>
                <c:ptCount val="1"/>
                <c:pt idx="0">
                  <c:v>Group Milestone</c:v>
                </c:pt>
              </c:strCache>
            </c:strRef>
          </c:tx>
          <c:invertIfNegative val="1"/>
          <c:cat>
            <c:strRef>
              <c:f>Sheet1!$A$2:$A$5</c:f>
              <c:strCache>
                <c:ptCount val="4"/>
                <c:pt idx="0">
                  <c:v>Guide</c:v>
                </c:pt>
                <c:pt idx="1">
                  <c:v>Response</c:v>
                </c:pt>
                <c:pt idx="2">
                  <c:v>Handle</c:v>
                </c:pt>
                <c:pt idx="3">
                  <c:v>Connector</c:v>
                </c:pt>
              </c:strCache>
            </c:strRef>
          </c:cat>
          <c:val>
            <c:numRef>
              <c:f>Sheet1!$D$2:$D$5</c:f>
              <c:numCache>
                <c:formatCode>General</c:formatCode>
                <c:ptCount val="4"/>
                <c:pt idx="0">
                  <c:v>12</c:v>
                </c:pt>
                <c:pt idx="1">
                  <c:v>37</c:v>
                </c:pt>
                <c:pt idx="2">
                  <c:v>87</c:v>
                </c:pt>
                <c:pt idx="3">
                  <c:v>54</c:v>
                </c:pt>
              </c:numCache>
            </c:numRef>
          </c:val>
          <c:extLst>
            <c:ext xmlns:c16="http://schemas.microsoft.com/office/drawing/2014/chart" uri="{C3380CC4-5D6E-409C-BE32-E72D297353CC}">
              <c16:uniqueId val="{00000002-4E9C-4D81-8FF9-CC14C60F5D1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Checkpoint Loop Record Cycle</a:t>
            </a:r>
          </a:p>
        </c:rich>
      </c:tx>
      <c:overlay val="0"/>
    </c:title>
    <c:autoTitleDeleted val="0"/>
    <c:plotArea>
      <c:layout/>
      <c:pieChart>
        <c:varyColors val="1"/>
        <c:ser>
          <c:idx val="0"/>
          <c:order val="0"/>
          <c:tx>
            <c:strRef>
              <c:f>Sheet1!$B$1</c:f>
              <c:strCache>
                <c:ptCount val="1"/>
                <c:pt idx="0">
                  <c:v>Layer State</c:v>
                </c:pt>
              </c:strCache>
            </c:strRef>
          </c:tx>
          <c:cat>
            <c:strRef>
              <c:f>Sheet1!$A$2:$A$7</c:f>
              <c:strCache>
                <c:ptCount val="6"/>
                <c:pt idx="0">
                  <c:v>Vector</c:v>
                </c:pt>
                <c:pt idx="1">
                  <c:v>Harbor</c:v>
                </c:pt>
                <c:pt idx="2">
                  <c:v>Process</c:v>
                </c:pt>
                <c:pt idx="3">
                  <c:v>Depth</c:v>
                </c:pt>
                <c:pt idx="4">
                  <c:v>Indicator</c:v>
                </c:pt>
                <c:pt idx="5">
                  <c:v>Zone</c:v>
                </c:pt>
              </c:strCache>
            </c:strRef>
          </c:cat>
          <c:val>
            <c:numRef>
              <c:f>Sheet1!$B$2:$B$7</c:f>
              <c:numCache>
                <c:formatCode>General</c:formatCode>
                <c:ptCount val="6"/>
                <c:pt idx="0">
                  <c:v>37</c:v>
                </c:pt>
                <c:pt idx="1">
                  <c:v>89</c:v>
                </c:pt>
                <c:pt idx="2">
                  <c:v>86</c:v>
                </c:pt>
                <c:pt idx="3">
                  <c:v>86</c:v>
                </c:pt>
                <c:pt idx="4">
                  <c:v>64</c:v>
                </c:pt>
                <c:pt idx="5">
                  <c:v>81</c:v>
                </c:pt>
              </c:numCache>
            </c:numRef>
          </c:val>
          <c:extLst>
            <c:ext xmlns:c16="http://schemas.microsoft.com/office/drawing/2014/chart" uri="{C3380CC4-5D6E-409C-BE32-E72D297353CC}">
              <c16:uniqueId val="{00000000-93E7-4E45-BECD-12C736D888C1}"/>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Benchmark Channel</c:v>
                </c:pt>
              </c:strCache>
            </c:strRef>
          </c:tx>
          <c:invertIfNegative val="1"/>
          <c:cat>
            <c:strRef>
              <c:f>Sheet1!$A$2:$A$6</c:f>
              <c:strCache>
                <c:ptCount val="5"/>
                <c:pt idx="0">
                  <c:v>Option</c:v>
                </c:pt>
                <c:pt idx="1">
                  <c:v>Archive</c:v>
                </c:pt>
                <c:pt idx="2">
                  <c:v>Status</c:v>
                </c:pt>
                <c:pt idx="3">
                  <c:v>Trigger</c:v>
                </c:pt>
                <c:pt idx="4">
                  <c:v>Profile</c:v>
                </c:pt>
              </c:strCache>
            </c:strRef>
          </c:cat>
          <c:val>
            <c:numRef>
              <c:f>Sheet1!$B$2:$B$6</c:f>
              <c:numCache>
                <c:formatCode>General</c:formatCode>
                <c:ptCount val="5"/>
                <c:pt idx="0">
                  <c:v>71</c:v>
                </c:pt>
                <c:pt idx="1">
                  <c:v>69</c:v>
                </c:pt>
                <c:pt idx="2">
                  <c:v>91</c:v>
                </c:pt>
                <c:pt idx="3">
                  <c:v>14</c:v>
                </c:pt>
                <c:pt idx="4">
                  <c:v>73</c:v>
                </c:pt>
              </c:numCache>
            </c:numRef>
          </c:val>
          <c:extLst>
            <c:ext xmlns:c16="http://schemas.microsoft.com/office/drawing/2014/chart" uri="{C3380CC4-5D6E-409C-BE32-E72D297353CC}">
              <c16:uniqueId val="{00000000-87BD-4F5E-A536-1081F51F5323}"/>
            </c:ext>
          </c:extLst>
        </c:ser>
        <c:ser>
          <c:idx val="1"/>
          <c:order val="1"/>
          <c:tx>
            <c:strRef>
              <c:f>Sheet1!$C$1</c:f>
              <c:strCache>
                <c:ptCount val="1"/>
                <c:pt idx="0">
                  <c:v>Span</c:v>
                </c:pt>
              </c:strCache>
            </c:strRef>
          </c:tx>
          <c:invertIfNegative val="1"/>
          <c:cat>
            <c:strRef>
              <c:f>Sheet1!$A$2:$A$6</c:f>
              <c:strCache>
                <c:ptCount val="5"/>
                <c:pt idx="0">
                  <c:v>Option</c:v>
                </c:pt>
                <c:pt idx="1">
                  <c:v>Archive</c:v>
                </c:pt>
                <c:pt idx="2">
                  <c:v>Status</c:v>
                </c:pt>
                <c:pt idx="3">
                  <c:v>Trigger</c:v>
                </c:pt>
                <c:pt idx="4">
                  <c:v>Profile</c:v>
                </c:pt>
              </c:strCache>
            </c:strRef>
          </c:cat>
          <c:val>
            <c:numRef>
              <c:f>Sheet1!$C$2:$C$6</c:f>
              <c:numCache>
                <c:formatCode>General</c:formatCode>
                <c:ptCount val="5"/>
                <c:pt idx="0">
                  <c:v>87</c:v>
                </c:pt>
                <c:pt idx="1">
                  <c:v>77</c:v>
                </c:pt>
                <c:pt idx="2">
                  <c:v>68</c:v>
                </c:pt>
                <c:pt idx="3">
                  <c:v>37</c:v>
                </c:pt>
                <c:pt idx="4">
                  <c:v>9</c:v>
                </c:pt>
              </c:numCache>
            </c:numRef>
          </c:val>
          <c:extLst>
            <c:ext xmlns:c16="http://schemas.microsoft.com/office/drawing/2014/chart" uri="{C3380CC4-5D6E-409C-BE32-E72D297353CC}">
              <c16:uniqueId val="{00000001-87BD-4F5E-A536-1081F51F532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Tile Baseline</c:v>
                </c:pt>
              </c:strCache>
            </c:strRef>
          </c:tx>
          <c:cat>
            <c:strRef>
              <c:f>Sheet1!$A$2:$A$6</c:f>
              <c:strCache>
                <c:ptCount val="5"/>
                <c:pt idx="0">
                  <c:v>Map</c:v>
                </c:pt>
                <c:pt idx="1">
                  <c:v>Route</c:v>
                </c:pt>
                <c:pt idx="2">
                  <c:v>Foundation</c:v>
                </c:pt>
                <c:pt idx="3">
                  <c:v>Order</c:v>
                </c:pt>
                <c:pt idx="4">
                  <c:v>Atlas</c:v>
                </c:pt>
              </c:strCache>
            </c:strRef>
          </c:cat>
          <c:val>
            <c:numRef>
              <c:f>Sheet1!$B$2:$B$6</c:f>
              <c:numCache>
                <c:formatCode>General</c:formatCode>
                <c:ptCount val="5"/>
                <c:pt idx="0">
                  <c:v>19</c:v>
                </c:pt>
                <c:pt idx="1">
                  <c:v>49</c:v>
                </c:pt>
                <c:pt idx="2">
                  <c:v>29</c:v>
                </c:pt>
                <c:pt idx="3">
                  <c:v>9</c:v>
                </c:pt>
                <c:pt idx="4">
                  <c:v>75</c:v>
                </c:pt>
              </c:numCache>
            </c:numRef>
          </c:val>
          <c:extLst>
            <c:ext xmlns:c16="http://schemas.microsoft.com/office/drawing/2014/chart" uri="{C3380CC4-5D6E-409C-BE32-E72D297353CC}">
              <c16:uniqueId val="{00000000-9A00-4BC4-9D30-2D8DE39D9CAA}"/>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Reserve Collection</c:v>
                </c:pt>
              </c:strCache>
            </c:strRef>
          </c:tx>
          <c:cat>
            <c:strRef>
              <c:f>Sheet1!$A$2:$A$7</c:f>
              <c:strCache>
                <c:ptCount val="6"/>
                <c:pt idx="0">
                  <c:v>Atlas</c:v>
                </c:pt>
                <c:pt idx="1">
                  <c:v>Audit</c:v>
                </c:pt>
                <c:pt idx="2">
                  <c:v>Scope</c:v>
                </c:pt>
                <c:pt idx="3">
                  <c:v>Wave</c:v>
                </c:pt>
                <c:pt idx="4">
                  <c:v>Lens</c:v>
                </c:pt>
                <c:pt idx="5">
                  <c:v>Transit</c:v>
                </c:pt>
              </c:strCache>
            </c:strRef>
          </c:cat>
          <c:val>
            <c:numRef>
              <c:f>Sheet1!$B$2:$B$7</c:f>
              <c:numCache>
                <c:formatCode>General</c:formatCode>
                <c:ptCount val="6"/>
                <c:pt idx="0">
                  <c:v>12</c:v>
                </c:pt>
                <c:pt idx="1">
                  <c:v>24</c:v>
                </c:pt>
                <c:pt idx="2">
                  <c:v>49</c:v>
                </c:pt>
                <c:pt idx="3">
                  <c:v>42</c:v>
                </c:pt>
                <c:pt idx="4">
                  <c:v>91</c:v>
                </c:pt>
                <c:pt idx="5">
                  <c:v>26</c:v>
                </c:pt>
              </c:numCache>
            </c:numRef>
          </c:val>
          <c:extLst>
            <c:ext xmlns:c16="http://schemas.microsoft.com/office/drawing/2014/chart" uri="{C3380CC4-5D6E-409C-BE32-E72D297353CC}">
              <c16:uniqueId val="{00000000-40BC-4414-B4AB-E8B2F4EA37C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Iteration Build Track Function</a:t>
            </a:r>
          </a:p>
        </c:rich>
      </c:tx>
      <c:overlay val="0"/>
    </c:title>
    <c:autoTitleDeleted val="0"/>
    <c:plotArea>
      <c:layout/>
      <c:doughnutChart>
        <c:varyColors val="1"/>
        <c:ser>
          <c:idx val="0"/>
          <c:order val="0"/>
          <c:tx>
            <c:strRef>
              <c:f>Sheet1!$B$1</c:f>
              <c:strCache>
                <c:ptCount val="1"/>
                <c:pt idx="0">
                  <c:v>Vector</c:v>
                </c:pt>
              </c:strCache>
            </c:strRef>
          </c:tx>
          <c:cat>
            <c:strRef>
              <c:f>Sheet1!$A$2:$A$7</c:f>
              <c:strCache>
                <c:ptCount val="6"/>
                <c:pt idx="0">
                  <c:v>Anchor</c:v>
                </c:pt>
                <c:pt idx="1">
                  <c:v>Catalog</c:v>
                </c:pt>
                <c:pt idx="2">
                  <c:v>Narrative</c:v>
                </c:pt>
                <c:pt idx="3">
                  <c:v>Grid</c:v>
                </c:pt>
                <c:pt idx="4">
                  <c:v>Format</c:v>
                </c:pt>
                <c:pt idx="5">
                  <c:v>Slice</c:v>
                </c:pt>
              </c:strCache>
            </c:strRef>
          </c:cat>
          <c:val>
            <c:numRef>
              <c:f>Sheet1!$B$2:$B$7</c:f>
              <c:numCache>
                <c:formatCode>General</c:formatCode>
                <c:ptCount val="6"/>
                <c:pt idx="0">
                  <c:v>24</c:v>
                </c:pt>
                <c:pt idx="1">
                  <c:v>20</c:v>
                </c:pt>
                <c:pt idx="2">
                  <c:v>22</c:v>
                </c:pt>
                <c:pt idx="3">
                  <c:v>43</c:v>
                </c:pt>
                <c:pt idx="4">
                  <c:v>65</c:v>
                </c:pt>
                <c:pt idx="5">
                  <c:v>44</c:v>
                </c:pt>
              </c:numCache>
            </c:numRef>
          </c:val>
          <c:extLst>
            <c:ext xmlns:c16="http://schemas.microsoft.com/office/drawing/2014/chart" uri="{C3380CC4-5D6E-409C-BE32-E72D297353CC}">
              <c16:uniqueId val="{00000000-7919-44DE-B4C6-74302468FD9F}"/>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Orbit Workflow Object</a:t>
            </a:r>
          </a:p>
        </c:rich>
      </c:tx>
      <c:overlay val="0"/>
    </c:title>
    <c:autoTitleDeleted val="0"/>
    <c:plotArea>
      <c:layout/>
      <c:barChart>
        <c:barDir val="col"/>
        <c:grouping val="clustered"/>
        <c:varyColors val="1"/>
        <c:ser>
          <c:idx val="0"/>
          <c:order val="0"/>
          <c:tx>
            <c:strRef>
              <c:f>Sheet1!$B$1</c:f>
              <c:strCache>
                <c:ptCount val="1"/>
                <c:pt idx="0">
                  <c:v>Priority Panel</c:v>
                </c:pt>
              </c:strCache>
            </c:strRef>
          </c:tx>
          <c:invertIfNegative val="1"/>
          <c:cat>
            <c:strRef>
              <c:f>Sheet1!$A$2:$A$7</c:f>
              <c:strCache>
                <c:ptCount val="6"/>
                <c:pt idx="0">
                  <c:v>Packet</c:v>
                </c:pt>
                <c:pt idx="1">
                  <c:v>Schema</c:v>
                </c:pt>
                <c:pt idx="2">
                  <c:v>Table</c:v>
                </c:pt>
                <c:pt idx="3">
                  <c:v>Model</c:v>
                </c:pt>
                <c:pt idx="4">
                  <c:v>Hub</c:v>
                </c:pt>
                <c:pt idx="5">
                  <c:v>Deck</c:v>
                </c:pt>
              </c:strCache>
            </c:strRef>
          </c:cat>
          <c:val>
            <c:numRef>
              <c:f>Sheet1!$B$2:$B$7</c:f>
              <c:numCache>
                <c:formatCode>General</c:formatCode>
                <c:ptCount val="6"/>
                <c:pt idx="0">
                  <c:v>48</c:v>
                </c:pt>
                <c:pt idx="1">
                  <c:v>48</c:v>
                </c:pt>
                <c:pt idx="2">
                  <c:v>40</c:v>
                </c:pt>
                <c:pt idx="3">
                  <c:v>33</c:v>
                </c:pt>
                <c:pt idx="4">
                  <c:v>29</c:v>
                </c:pt>
                <c:pt idx="5">
                  <c:v>53</c:v>
                </c:pt>
              </c:numCache>
            </c:numRef>
          </c:val>
          <c:extLst>
            <c:ext xmlns:c16="http://schemas.microsoft.com/office/drawing/2014/chart" uri="{C3380CC4-5D6E-409C-BE32-E72D297353CC}">
              <c16:uniqueId val="{00000000-BBE0-4859-99BF-5CDA9028E15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Vertex Chart Record Impact Envelope</a:t>
            </a:r>
          </a:p>
        </c:rich>
      </c:tx>
      <c:overlay val="0"/>
    </c:title>
    <c:autoTitleDeleted val="0"/>
    <c:plotArea>
      <c:layout/>
      <c:pieChart>
        <c:varyColors val="1"/>
        <c:ser>
          <c:idx val="0"/>
          <c:order val="0"/>
          <c:tx>
            <c:strRef>
              <c:f>Sheet1!$B$1</c:f>
              <c:strCache>
                <c:ptCount val="1"/>
                <c:pt idx="0">
                  <c:v>Orbit</c:v>
                </c:pt>
              </c:strCache>
            </c:strRef>
          </c:tx>
          <c:cat>
            <c:strRef>
              <c:f>Sheet1!$A$2:$A$6</c:f>
              <c:strCache>
                <c:ptCount val="5"/>
                <c:pt idx="0">
                  <c:v>Path</c:v>
                </c:pt>
                <c:pt idx="1">
                  <c:v>Array</c:v>
                </c:pt>
                <c:pt idx="2">
                  <c:v>Detail</c:v>
                </c:pt>
                <c:pt idx="3">
                  <c:v>Grid</c:v>
                </c:pt>
                <c:pt idx="4">
                  <c:v>Element</c:v>
                </c:pt>
              </c:strCache>
            </c:strRef>
          </c:cat>
          <c:val>
            <c:numRef>
              <c:f>Sheet1!$B$2:$B$6</c:f>
              <c:numCache>
                <c:formatCode>General</c:formatCode>
                <c:ptCount val="5"/>
                <c:pt idx="0">
                  <c:v>44</c:v>
                </c:pt>
                <c:pt idx="1">
                  <c:v>80</c:v>
                </c:pt>
                <c:pt idx="2">
                  <c:v>40</c:v>
                </c:pt>
                <c:pt idx="3">
                  <c:v>20</c:v>
                </c:pt>
                <c:pt idx="4">
                  <c:v>62</c:v>
                </c:pt>
              </c:numCache>
            </c:numRef>
          </c:val>
          <c:extLst>
            <c:ext xmlns:c16="http://schemas.microsoft.com/office/drawing/2014/chart" uri="{C3380CC4-5D6E-409C-BE32-E72D297353CC}">
              <c16:uniqueId val="{00000000-4D96-494D-B262-25236F028D2A}"/>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areaChart>
        <c:grouping val="standard"/>
        <c:varyColors val="0"/>
        <c:ser>
          <c:idx val="0"/>
          <c:order val="0"/>
          <c:tx>
            <c:strRef>
              <c:f>Sheet1!$B$1</c:f>
              <c:strCache>
                <c:ptCount val="1"/>
                <c:pt idx="0">
                  <c:v>Stage Kernel</c:v>
                </c:pt>
              </c:strCache>
            </c:strRef>
          </c:tx>
          <c:cat>
            <c:strRef>
              <c:f>Sheet1!$A$2:$A$7</c:f>
              <c:strCache>
                <c:ptCount val="6"/>
                <c:pt idx="0">
                  <c:v>Report</c:v>
                </c:pt>
                <c:pt idx="1">
                  <c:v>Track</c:v>
                </c:pt>
                <c:pt idx="2">
                  <c:v>Package</c:v>
                </c:pt>
                <c:pt idx="3">
                  <c:v>Baseline</c:v>
                </c:pt>
                <c:pt idx="4">
                  <c:v>Feature</c:v>
                </c:pt>
                <c:pt idx="5">
                  <c:v>Level</c:v>
                </c:pt>
              </c:strCache>
            </c:strRef>
          </c:cat>
          <c:val>
            <c:numRef>
              <c:f>Sheet1!$B$2:$B$7</c:f>
              <c:numCache>
                <c:formatCode>General</c:formatCode>
                <c:ptCount val="6"/>
                <c:pt idx="0">
                  <c:v>39</c:v>
                </c:pt>
                <c:pt idx="1">
                  <c:v>44</c:v>
                </c:pt>
                <c:pt idx="2">
                  <c:v>12</c:v>
                </c:pt>
                <c:pt idx="3">
                  <c:v>78</c:v>
                </c:pt>
                <c:pt idx="4">
                  <c:v>93</c:v>
                </c:pt>
                <c:pt idx="5">
                  <c:v>27</c:v>
                </c:pt>
              </c:numCache>
            </c:numRef>
          </c:val>
          <c:extLst>
            <c:ext xmlns:c16="http://schemas.microsoft.com/office/drawing/2014/chart" uri="{C3380CC4-5D6E-409C-BE32-E72D297353CC}">
              <c16:uniqueId val="{00000000-F3A6-46D0-B9C6-4108E521961A}"/>
            </c:ext>
          </c:extLst>
        </c:ser>
        <c:ser>
          <c:idx val="1"/>
          <c:order val="1"/>
          <c:tx>
            <c:strRef>
              <c:f>Sheet1!$C$1</c:f>
              <c:strCache>
                <c:ptCount val="1"/>
                <c:pt idx="0">
                  <c:v>Insight Network</c:v>
                </c:pt>
              </c:strCache>
            </c:strRef>
          </c:tx>
          <c:cat>
            <c:strRef>
              <c:f>Sheet1!$A$2:$A$7</c:f>
              <c:strCache>
                <c:ptCount val="6"/>
                <c:pt idx="0">
                  <c:v>Report</c:v>
                </c:pt>
                <c:pt idx="1">
                  <c:v>Track</c:v>
                </c:pt>
                <c:pt idx="2">
                  <c:v>Package</c:v>
                </c:pt>
                <c:pt idx="3">
                  <c:v>Baseline</c:v>
                </c:pt>
                <c:pt idx="4">
                  <c:v>Feature</c:v>
                </c:pt>
                <c:pt idx="5">
                  <c:v>Level</c:v>
                </c:pt>
              </c:strCache>
            </c:strRef>
          </c:cat>
          <c:val>
            <c:numRef>
              <c:f>Sheet1!$C$2:$C$7</c:f>
              <c:numCache>
                <c:formatCode>General</c:formatCode>
                <c:ptCount val="6"/>
                <c:pt idx="0">
                  <c:v>75</c:v>
                </c:pt>
                <c:pt idx="1">
                  <c:v>65</c:v>
                </c:pt>
                <c:pt idx="2">
                  <c:v>36</c:v>
                </c:pt>
                <c:pt idx="3">
                  <c:v>89</c:v>
                </c:pt>
                <c:pt idx="4">
                  <c:v>91</c:v>
                </c:pt>
                <c:pt idx="5">
                  <c:v>46</c:v>
                </c:pt>
              </c:numCache>
            </c:numRef>
          </c:val>
          <c:extLst>
            <c:ext xmlns:c16="http://schemas.microsoft.com/office/drawing/2014/chart" uri="{C3380CC4-5D6E-409C-BE32-E72D297353CC}">
              <c16:uniqueId val="{00000001-F3A6-46D0-B9C6-4108E521961A}"/>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charts/chart1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Result Pattern Impact</a:t>
            </a:r>
          </a:p>
        </c:rich>
      </c:tx>
      <c:overlay val="0"/>
    </c:title>
    <c:autoTitleDeleted val="0"/>
    <c:plotArea>
      <c:layout/>
      <c:lineChart>
        <c:grouping val="standard"/>
        <c:varyColors val="0"/>
        <c:ser>
          <c:idx val="0"/>
          <c:order val="0"/>
          <c:tx>
            <c:strRef>
              <c:f>Sheet1!$B$1</c:f>
              <c:strCache>
                <c:ptCount val="1"/>
                <c:pt idx="0">
                  <c:v>Device Response</c:v>
                </c:pt>
              </c:strCache>
            </c:strRef>
          </c:tx>
          <c:cat>
            <c:strRef>
              <c:f>Sheet1!$A$2:$A$7</c:f>
              <c:strCache>
                <c:ptCount val="6"/>
                <c:pt idx="0">
                  <c:v>Motion</c:v>
                </c:pt>
                <c:pt idx="1">
                  <c:v>Summary</c:v>
                </c:pt>
                <c:pt idx="2">
                  <c:v>Hub</c:v>
                </c:pt>
                <c:pt idx="3">
                  <c:v>North</c:v>
                </c:pt>
                <c:pt idx="4">
                  <c:v>Schema</c:v>
                </c:pt>
                <c:pt idx="5">
                  <c:v>Briefing</c:v>
                </c:pt>
              </c:strCache>
            </c:strRef>
          </c:cat>
          <c:val>
            <c:numRef>
              <c:f>Sheet1!$B$2:$B$7</c:f>
              <c:numCache>
                <c:formatCode>General</c:formatCode>
                <c:ptCount val="6"/>
                <c:pt idx="0">
                  <c:v>91</c:v>
                </c:pt>
                <c:pt idx="1">
                  <c:v>76</c:v>
                </c:pt>
                <c:pt idx="2">
                  <c:v>21</c:v>
                </c:pt>
                <c:pt idx="3">
                  <c:v>69</c:v>
                </c:pt>
                <c:pt idx="4">
                  <c:v>92</c:v>
                </c:pt>
                <c:pt idx="5">
                  <c:v>54</c:v>
                </c:pt>
              </c:numCache>
            </c:numRef>
          </c:val>
          <c:smooth val="0"/>
          <c:extLst>
            <c:ext xmlns:c16="http://schemas.microsoft.com/office/drawing/2014/chart" uri="{C3380CC4-5D6E-409C-BE32-E72D297353CC}">
              <c16:uniqueId val="{00000000-8EFA-4398-80C3-3BA3C8E52DAB}"/>
            </c:ext>
          </c:extLst>
        </c:ser>
        <c:ser>
          <c:idx val="1"/>
          <c:order val="1"/>
          <c:tx>
            <c:strRef>
              <c:f>Sheet1!$C$1</c:f>
              <c:strCache>
                <c:ptCount val="1"/>
                <c:pt idx="0">
                  <c:v>Dimension Stack</c:v>
                </c:pt>
              </c:strCache>
            </c:strRef>
          </c:tx>
          <c:cat>
            <c:strRef>
              <c:f>Sheet1!$A$2:$A$7</c:f>
              <c:strCache>
                <c:ptCount val="6"/>
                <c:pt idx="0">
                  <c:v>Motion</c:v>
                </c:pt>
                <c:pt idx="1">
                  <c:v>Summary</c:v>
                </c:pt>
                <c:pt idx="2">
                  <c:v>Hub</c:v>
                </c:pt>
                <c:pt idx="3">
                  <c:v>North</c:v>
                </c:pt>
                <c:pt idx="4">
                  <c:v>Schema</c:v>
                </c:pt>
                <c:pt idx="5">
                  <c:v>Briefing</c:v>
                </c:pt>
              </c:strCache>
            </c:strRef>
          </c:cat>
          <c:val>
            <c:numRef>
              <c:f>Sheet1!$C$2:$C$7</c:f>
              <c:numCache>
                <c:formatCode>General</c:formatCode>
                <c:ptCount val="6"/>
                <c:pt idx="0">
                  <c:v>90</c:v>
                </c:pt>
                <c:pt idx="1">
                  <c:v>85</c:v>
                </c:pt>
                <c:pt idx="2">
                  <c:v>67</c:v>
                </c:pt>
                <c:pt idx="3">
                  <c:v>46</c:v>
                </c:pt>
                <c:pt idx="4">
                  <c:v>10</c:v>
                </c:pt>
                <c:pt idx="5">
                  <c:v>23</c:v>
                </c:pt>
              </c:numCache>
            </c:numRef>
          </c:val>
          <c:smooth val="0"/>
          <c:extLst>
            <c:ext xmlns:c16="http://schemas.microsoft.com/office/drawing/2014/chart" uri="{C3380CC4-5D6E-409C-BE32-E72D297353CC}">
              <c16:uniqueId val="{00000001-8EFA-4398-80C3-3BA3C8E52DAB}"/>
            </c:ext>
          </c:extLst>
        </c:ser>
        <c:ser>
          <c:idx val="2"/>
          <c:order val="2"/>
          <c:tx>
            <c:strRef>
              <c:f>Sheet1!$D$1</c:f>
              <c:strCache>
                <c:ptCount val="1"/>
                <c:pt idx="0">
                  <c:v>Explorer</c:v>
                </c:pt>
              </c:strCache>
            </c:strRef>
          </c:tx>
          <c:cat>
            <c:strRef>
              <c:f>Sheet1!$A$2:$A$7</c:f>
              <c:strCache>
                <c:ptCount val="6"/>
                <c:pt idx="0">
                  <c:v>Motion</c:v>
                </c:pt>
                <c:pt idx="1">
                  <c:v>Summary</c:v>
                </c:pt>
                <c:pt idx="2">
                  <c:v>Hub</c:v>
                </c:pt>
                <c:pt idx="3">
                  <c:v>North</c:v>
                </c:pt>
                <c:pt idx="4">
                  <c:v>Schema</c:v>
                </c:pt>
                <c:pt idx="5">
                  <c:v>Briefing</c:v>
                </c:pt>
              </c:strCache>
            </c:strRef>
          </c:cat>
          <c:val>
            <c:numRef>
              <c:f>Sheet1!$D$2:$D$7</c:f>
              <c:numCache>
                <c:formatCode>General</c:formatCode>
                <c:ptCount val="6"/>
                <c:pt idx="0">
                  <c:v>41</c:v>
                </c:pt>
                <c:pt idx="1">
                  <c:v>55</c:v>
                </c:pt>
                <c:pt idx="2">
                  <c:v>47</c:v>
                </c:pt>
                <c:pt idx="3">
                  <c:v>88</c:v>
                </c:pt>
                <c:pt idx="4">
                  <c:v>65</c:v>
                </c:pt>
                <c:pt idx="5">
                  <c:v>13</c:v>
                </c:pt>
              </c:numCache>
            </c:numRef>
          </c:val>
          <c:smooth val="0"/>
          <c:extLst>
            <c:ext xmlns:c16="http://schemas.microsoft.com/office/drawing/2014/chart" uri="{C3380CC4-5D6E-409C-BE32-E72D297353CC}">
              <c16:uniqueId val="{00000002-8EFA-4398-80C3-3BA3C8E52DA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Process Path</a:t>
            </a:r>
          </a:p>
        </c:rich>
      </c:tx>
      <c:overlay val="0"/>
    </c:title>
    <c:autoTitleDeleted val="0"/>
    <c:plotArea>
      <c:layout/>
      <c:barChart>
        <c:barDir val="col"/>
        <c:grouping val="clustered"/>
        <c:varyColors val="1"/>
        <c:ser>
          <c:idx val="0"/>
          <c:order val="0"/>
          <c:tx>
            <c:strRef>
              <c:f>Sheet1!$B$1</c:f>
              <c:strCache>
                <c:ptCount val="1"/>
                <c:pt idx="0">
                  <c:v>Schema Station</c:v>
                </c:pt>
              </c:strCache>
            </c:strRef>
          </c:tx>
          <c:invertIfNegative val="1"/>
          <c:cat>
            <c:strRef>
              <c:f>Sheet1!$A$2:$A$7</c:f>
              <c:strCache>
                <c:ptCount val="6"/>
                <c:pt idx="0">
                  <c:v>Kernel</c:v>
                </c:pt>
                <c:pt idx="1">
                  <c:v>Story</c:v>
                </c:pt>
                <c:pt idx="2">
                  <c:v>Orbit</c:v>
                </c:pt>
                <c:pt idx="3">
                  <c:v>Resource</c:v>
                </c:pt>
                <c:pt idx="4">
                  <c:v>Craft</c:v>
                </c:pt>
                <c:pt idx="5">
                  <c:v>Atlas</c:v>
                </c:pt>
              </c:strCache>
            </c:strRef>
          </c:cat>
          <c:val>
            <c:numRef>
              <c:f>Sheet1!$B$2:$B$7</c:f>
              <c:numCache>
                <c:formatCode>General</c:formatCode>
                <c:ptCount val="6"/>
                <c:pt idx="0">
                  <c:v>67</c:v>
                </c:pt>
                <c:pt idx="1">
                  <c:v>62</c:v>
                </c:pt>
                <c:pt idx="2">
                  <c:v>40</c:v>
                </c:pt>
                <c:pt idx="3">
                  <c:v>17</c:v>
                </c:pt>
                <c:pt idx="4">
                  <c:v>11</c:v>
                </c:pt>
                <c:pt idx="5">
                  <c:v>93</c:v>
                </c:pt>
              </c:numCache>
            </c:numRef>
          </c:val>
          <c:extLst>
            <c:ext xmlns:c16="http://schemas.microsoft.com/office/drawing/2014/chart" uri="{C3380CC4-5D6E-409C-BE32-E72D297353CC}">
              <c16:uniqueId val="{00000000-B620-430B-8FFB-B78245217C33}"/>
            </c:ext>
          </c:extLst>
        </c:ser>
        <c:ser>
          <c:idx val="1"/>
          <c:order val="1"/>
          <c:tx>
            <c:strRef>
              <c:f>Sheet1!$C$1</c:f>
              <c:strCache>
                <c:ptCount val="1"/>
                <c:pt idx="0">
                  <c:v>Spectrum Compass</c:v>
                </c:pt>
              </c:strCache>
            </c:strRef>
          </c:tx>
          <c:invertIfNegative val="1"/>
          <c:cat>
            <c:strRef>
              <c:f>Sheet1!$A$2:$A$7</c:f>
              <c:strCache>
                <c:ptCount val="6"/>
                <c:pt idx="0">
                  <c:v>Kernel</c:v>
                </c:pt>
                <c:pt idx="1">
                  <c:v>Story</c:v>
                </c:pt>
                <c:pt idx="2">
                  <c:v>Orbit</c:v>
                </c:pt>
                <c:pt idx="3">
                  <c:v>Resource</c:v>
                </c:pt>
                <c:pt idx="4">
                  <c:v>Craft</c:v>
                </c:pt>
                <c:pt idx="5">
                  <c:v>Atlas</c:v>
                </c:pt>
              </c:strCache>
            </c:strRef>
          </c:cat>
          <c:val>
            <c:numRef>
              <c:f>Sheet1!$C$2:$C$7</c:f>
              <c:numCache>
                <c:formatCode>General</c:formatCode>
                <c:ptCount val="6"/>
                <c:pt idx="0">
                  <c:v>19</c:v>
                </c:pt>
                <c:pt idx="1">
                  <c:v>26</c:v>
                </c:pt>
                <c:pt idx="2">
                  <c:v>55</c:v>
                </c:pt>
                <c:pt idx="3">
                  <c:v>67</c:v>
                </c:pt>
                <c:pt idx="4">
                  <c:v>80</c:v>
                </c:pt>
                <c:pt idx="5">
                  <c:v>74</c:v>
                </c:pt>
              </c:numCache>
            </c:numRef>
          </c:val>
          <c:extLst>
            <c:ext xmlns:c16="http://schemas.microsoft.com/office/drawing/2014/chart" uri="{C3380CC4-5D6E-409C-BE32-E72D297353CC}">
              <c16:uniqueId val="{00000001-B620-430B-8FFB-B78245217C33}"/>
            </c:ext>
          </c:extLst>
        </c:ser>
        <c:ser>
          <c:idx val="2"/>
          <c:order val="2"/>
          <c:tx>
            <c:strRef>
              <c:f>Sheet1!$D$1</c:f>
              <c:strCache>
                <c:ptCount val="1"/>
                <c:pt idx="0">
                  <c:v>Volume</c:v>
                </c:pt>
              </c:strCache>
            </c:strRef>
          </c:tx>
          <c:invertIfNegative val="1"/>
          <c:cat>
            <c:strRef>
              <c:f>Sheet1!$A$2:$A$7</c:f>
              <c:strCache>
                <c:ptCount val="6"/>
                <c:pt idx="0">
                  <c:v>Kernel</c:v>
                </c:pt>
                <c:pt idx="1">
                  <c:v>Story</c:v>
                </c:pt>
                <c:pt idx="2">
                  <c:v>Orbit</c:v>
                </c:pt>
                <c:pt idx="3">
                  <c:v>Resource</c:v>
                </c:pt>
                <c:pt idx="4">
                  <c:v>Craft</c:v>
                </c:pt>
                <c:pt idx="5">
                  <c:v>Atlas</c:v>
                </c:pt>
              </c:strCache>
            </c:strRef>
          </c:cat>
          <c:val>
            <c:numRef>
              <c:f>Sheet1!$D$2:$D$7</c:f>
              <c:numCache>
                <c:formatCode>General</c:formatCode>
                <c:ptCount val="6"/>
                <c:pt idx="0">
                  <c:v>36</c:v>
                </c:pt>
                <c:pt idx="1">
                  <c:v>58</c:v>
                </c:pt>
                <c:pt idx="2">
                  <c:v>61</c:v>
                </c:pt>
                <c:pt idx="3">
                  <c:v>51</c:v>
                </c:pt>
                <c:pt idx="4">
                  <c:v>72</c:v>
                </c:pt>
                <c:pt idx="5">
                  <c:v>61</c:v>
                </c:pt>
              </c:numCache>
            </c:numRef>
          </c:val>
          <c:extLst>
            <c:ext xmlns:c16="http://schemas.microsoft.com/office/drawing/2014/chart" uri="{C3380CC4-5D6E-409C-BE32-E72D297353CC}">
              <c16:uniqueId val="{00000002-B620-430B-8FFB-B78245217C3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Query Case</c:v>
                </c:pt>
              </c:strCache>
            </c:strRef>
          </c:tx>
          <c:invertIfNegative val="1"/>
          <c:cat>
            <c:strRef>
              <c:f>Sheet1!$A$2:$A$5</c:f>
              <c:strCache>
                <c:ptCount val="4"/>
                <c:pt idx="0">
                  <c:v>Kernel</c:v>
                </c:pt>
                <c:pt idx="1">
                  <c:v>Orbit</c:v>
                </c:pt>
                <c:pt idx="2">
                  <c:v>Echo</c:v>
                </c:pt>
                <c:pt idx="3">
                  <c:v>Stack</c:v>
                </c:pt>
              </c:strCache>
            </c:strRef>
          </c:cat>
          <c:val>
            <c:numRef>
              <c:f>Sheet1!$B$2:$B$5</c:f>
              <c:numCache>
                <c:formatCode>General</c:formatCode>
                <c:ptCount val="4"/>
                <c:pt idx="0">
                  <c:v>27</c:v>
                </c:pt>
                <c:pt idx="1">
                  <c:v>61</c:v>
                </c:pt>
                <c:pt idx="2">
                  <c:v>85</c:v>
                </c:pt>
                <c:pt idx="3">
                  <c:v>89</c:v>
                </c:pt>
              </c:numCache>
            </c:numRef>
          </c:val>
          <c:extLst>
            <c:ext xmlns:c16="http://schemas.microsoft.com/office/drawing/2014/chart" uri="{C3380CC4-5D6E-409C-BE32-E72D297353CC}">
              <c16:uniqueId val="{00000000-1A0F-48BB-98E5-0D243BBF738D}"/>
            </c:ext>
          </c:extLst>
        </c:ser>
        <c:ser>
          <c:idx val="1"/>
          <c:order val="1"/>
          <c:tx>
            <c:strRef>
              <c:f>Sheet1!$C$1</c:f>
              <c:strCache>
                <c:ptCount val="1"/>
                <c:pt idx="0">
                  <c:v>Threshold Spectrum</c:v>
                </c:pt>
              </c:strCache>
            </c:strRef>
          </c:tx>
          <c:invertIfNegative val="1"/>
          <c:cat>
            <c:strRef>
              <c:f>Sheet1!$A$2:$A$5</c:f>
              <c:strCache>
                <c:ptCount val="4"/>
                <c:pt idx="0">
                  <c:v>Kernel</c:v>
                </c:pt>
                <c:pt idx="1">
                  <c:v>Orbit</c:v>
                </c:pt>
                <c:pt idx="2">
                  <c:v>Echo</c:v>
                </c:pt>
                <c:pt idx="3">
                  <c:v>Stack</c:v>
                </c:pt>
              </c:strCache>
            </c:strRef>
          </c:cat>
          <c:val>
            <c:numRef>
              <c:f>Sheet1!$C$2:$C$5</c:f>
              <c:numCache>
                <c:formatCode>General</c:formatCode>
                <c:ptCount val="4"/>
                <c:pt idx="0">
                  <c:v>8</c:v>
                </c:pt>
                <c:pt idx="1">
                  <c:v>73</c:v>
                </c:pt>
                <c:pt idx="2">
                  <c:v>28</c:v>
                </c:pt>
                <c:pt idx="3">
                  <c:v>85</c:v>
                </c:pt>
              </c:numCache>
            </c:numRef>
          </c:val>
          <c:extLst>
            <c:ext xmlns:c16="http://schemas.microsoft.com/office/drawing/2014/chart" uri="{C3380CC4-5D6E-409C-BE32-E72D297353CC}">
              <c16:uniqueId val="{00000001-1A0F-48BB-98E5-0D243BBF738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Narrative Exchange Harbor Cell Entity</a:t>
            </a:r>
          </a:p>
        </c:rich>
      </c:tx>
      <c:overlay val="0"/>
    </c:title>
    <c:autoTitleDeleted val="0"/>
    <c:plotArea>
      <c:layout/>
      <c:lineChart>
        <c:grouping val="standard"/>
        <c:varyColors val="0"/>
        <c:ser>
          <c:idx val="0"/>
          <c:order val="0"/>
          <c:tx>
            <c:strRef>
              <c:f>Sheet1!$B$1</c:f>
              <c:strCache>
                <c:ptCount val="1"/>
                <c:pt idx="0">
                  <c:v>Direction Needle</c:v>
                </c:pt>
              </c:strCache>
            </c:strRef>
          </c:tx>
          <c:cat>
            <c:strRef>
              <c:f>Sheet1!$A$2:$A$4</c:f>
              <c:strCache>
                <c:ptCount val="3"/>
                <c:pt idx="0">
                  <c:v>Group</c:v>
                </c:pt>
                <c:pt idx="1">
                  <c:v>Summary</c:v>
                </c:pt>
                <c:pt idx="2">
                  <c:v>Epoch</c:v>
                </c:pt>
              </c:strCache>
            </c:strRef>
          </c:cat>
          <c:val>
            <c:numRef>
              <c:f>Sheet1!$B$2:$B$4</c:f>
              <c:numCache>
                <c:formatCode>General</c:formatCode>
                <c:ptCount val="3"/>
                <c:pt idx="0">
                  <c:v>43</c:v>
                </c:pt>
                <c:pt idx="1">
                  <c:v>71</c:v>
                </c:pt>
                <c:pt idx="2">
                  <c:v>47</c:v>
                </c:pt>
              </c:numCache>
            </c:numRef>
          </c:val>
          <c:smooth val="0"/>
          <c:extLst>
            <c:ext xmlns:c16="http://schemas.microsoft.com/office/drawing/2014/chart" uri="{C3380CC4-5D6E-409C-BE32-E72D297353CC}">
              <c16:uniqueId val="{00000000-E0DD-4D5B-8822-01F0FAC2F872}"/>
            </c:ext>
          </c:extLst>
        </c:ser>
        <c:ser>
          <c:idx val="1"/>
          <c:order val="1"/>
          <c:tx>
            <c:strRef>
              <c:f>Sheet1!$C$1</c:f>
              <c:strCache>
                <c:ptCount val="1"/>
                <c:pt idx="0">
                  <c:v>Queueing Viewport</c:v>
                </c:pt>
              </c:strCache>
            </c:strRef>
          </c:tx>
          <c:cat>
            <c:strRef>
              <c:f>Sheet1!$A$2:$A$4</c:f>
              <c:strCache>
                <c:ptCount val="3"/>
                <c:pt idx="0">
                  <c:v>Group</c:v>
                </c:pt>
                <c:pt idx="1">
                  <c:v>Summary</c:v>
                </c:pt>
                <c:pt idx="2">
                  <c:v>Epoch</c:v>
                </c:pt>
              </c:strCache>
            </c:strRef>
          </c:cat>
          <c:val>
            <c:numRef>
              <c:f>Sheet1!$C$2:$C$4</c:f>
              <c:numCache>
                <c:formatCode>General</c:formatCode>
                <c:ptCount val="3"/>
                <c:pt idx="0">
                  <c:v>86</c:v>
                </c:pt>
                <c:pt idx="1">
                  <c:v>45</c:v>
                </c:pt>
                <c:pt idx="2">
                  <c:v>11</c:v>
                </c:pt>
              </c:numCache>
            </c:numRef>
          </c:val>
          <c:smooth val="0"/>
          <c:extLst>
            <c:ext xmlns:c16="http://schemas.microsoft.com/office/drawing/2014/chart" uri="{C3380CC4-5D6E-409C-BE32-E72D297353CC}">
              <c16:uniqueId val="{00000001-E0DD-4D5B-8822-01F0FAC2F87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Feature Aspect</c:v>
                </c:pt>
              </c:strCache>
            </c:strRef>
          </c:tx>
          <c:cat>
            <c:strRef>
              <c:f>Sheet1!$A$2:$A$4</c:f>
              <c:strCache>
                <c:ptCount val="3"/>
                <c:pt idx="0">
                  <c:v>Atlas</c:v>
                </c:pt>
                <c:pt idx="1">
                  <c:v>Strategy</c:v>
                </c:pt>
                <c:pt idx="2">
                  <c:v>Kernel</c:v>
                </c:pt>
              </c:strCache>
            </c:strRef>
          </c:cat>
          <c:val>
            <c:numRef>
              <c:f>Sheet1!$B$2:$B$4</c:f>
              <c:numCache>
                <c:formatCode>General</c:formatCode>
                <c:ptCount val="3"/>
                <c:pt idx="0">
                  <c:v>11</c:v>
                </c:pt>
                <c:pt idx="1">
                  <c:v>32</c:v>
                </c:pt>
                <c:pt idx="2">
                  <c:v>48</c:v>
                </c:pt>
              </c:numCache>
            </c:numRef>
          </c:val>
          <c:smooth val="0"/>
          <c:extLst>
            <c:ext xmlns:c16="http://schemas.microsoft.com/office/drawing/2014/chart" uri="{C3380CC4-5D6E-409C-BE32-E72D297353CC}">
              <c16:uniqueId val="{00000000-255B-4795-8AA8-3D526ED80322}"/>
            </c:ext>
          </c:extLst>
        </c:ser>
        <c:ser>
          <c:idx val="1"/>
          <c:order val="1"/>
          <c:tx>
            <c:strRef>
              <c:f>Sheet1!$C$1</c:f>
              <c:strCache>
                <c:ptCount val="1"/>
                <c:pt idx="0">
                  <c:v>Trend Diagram</c:v>
                </c:pt>
              </c:strCache>
            </c:strRef>
          </c:tx>
          <c:cat>
            <c:strRef>
              <c:f>Sheet1!$A$2:$A$4</c:f>
              <c:strCache>
                <c:ptCount val="3"/>
                <c:pt idx="0">
                  <c:v>Atlas</c:v>
                </c:pt>
                <c:pt idx="1">
                  <c:v>Strategy</c:v>
                </c:pt>
                <c:pt idx="2">
                  <c:v>Kernel</c:v>
                </c:pt>
              </c:strCache>
            </c:strRef>
          </c:cat>
          <c:val>
            <c:numRef>
              <c:f>Sheet1!$C$2:$C$4</c:f>
              <c:numCache>
                <c:formatCode>General</c:formatCode>
                <c:ptCount val="3"/>
                <c:pt idx="0">
                  <c:v>90</c:v>
                </c:pt>
                <c:pt idx="1">
                  <c:v>37</c:v>
                </c:pt>
                <c:pt idx="2">
                  <c:v>68</c:v>
                </c:pt>
              </c:numCache>
            </c:numRef>
          </c:val>
          <c:smooth val="0"/>
          <c:extLst>
            <c:ext xmlns:c16="http://schemas.microsoft.com/office/drawing/2014/chart" uri="{C3380CC4-5D6E-409C-BE32-E72D297353CC}">
              <c16:uniqueId val="{00000001-255B-4795-8AA8-3D526ED80322}"/>
            </c:ext>
          </c:extLst>
        </c:ser>
        <c:ser>
          <c:idx val="2"/>
          <c:order val="2"/>
          <c:tx>
            <c:strRef>
              <c:f>Sheet1!$D$1</c:f>
              <c:strCache>
                <c:ptCount val="1"/>
                <c:pt idx="0">
                  <c:v>Terminal</c:v>
                </c:pt>
              </c:strCache>
            </c:strRef>
          </c:tx>
          <c:cat>
            <c:strRef>
              <c:f>Sheet1!$A$2:$A$4</c:f>
              <c:strCache>
                <c:ptCount val="3"/>
                <c:pt idx="0">
                  <c:v>Atlas</c:v>
                </c:pt>
                <c:pt idx="1">
                  <c:v>Strategy</c:v>
                </c:pt>
                <c:pt idx="2">
                  <c:v>Kernel</c:v>
                </c:pt>
              </c:strCache>
            </c:strRef>
          </c:cat>
          <c:val>
            <c:numRef>
              <c:f>Sheet1!$D$2:$D$4</c:f>
              <c:numCache>
                <c:formatCode>General</c:formatCode>
                <c:ptCount val="3"/>
                <c:pt idx="0">
                  <c:v>58</c:v>
                </c:pt>
                <c:pt idx="1">
                  <c:v>26</c:v>
                </c:pt>
                <c:pt idx="2">
                  <c:v>63</c:v>
                </c:pt>
              </c:numCache>
            </c:numRef>
          </c:val>
          <c:smooth val="0"/>
          <c:extLst>
            <c:ext xmlns:c16="http://schemas.microsoft.com/office/drawing/2014/chart" uri="{C3380CC4-5D6E-409C-BE32-E72D297353CC}">
              <c16:uniqueId val="{00000002-255B-4795-8AA8-3D526ED8032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Group Checkpoint</a:t>
            </a:r>
          </a:p>
        </c:rich>
      </c:tx>
      <c:overlay val="0"/>
    </c:title>
    <c:autoTitleDeleted val="0"/>
    <c:plotArea>
      <c:layout/>
      <c:lineChart>
        <c:grouping val="standard"/>
        <c:varyColors val="0"/>
        <c:ser>
          <c:idx val="0"/>
          <c:order val="0"/>
          <c:tx>
            <c:strRef>
              <c:f>Sheet1!$B$1</c:f>
              <c:strCache>
                <c:ptCount val="1"/>
                <c:pt idx="0">
                  <c:v>Envelope</c:v>
                </c:pt>
              </c:strCache>
            </c:strRef>
          </c:tx>
          <c:cat>
            <c:strRef>
              <c:f>Sheet1!$A$2:$A$7</c:f>
              <c:strCache>
                <c:ptCount val="6"/>
                <c:pt idx="0">
                  <c:v>Group</c:v>
                </c:pt>
                <c:pt idx="1">
                  <c:v>Brief</c:v>
                </c:pt>
                <c:pt idx="2">
                  <c:v>Bridge</c:v>
                </c:pt>
                <c:pt idx="3">
                  <c:v>Brief</c:v>
                </c:pt>
                <c:pt idx="4">
                  <c:v>Tile</c:v>
                </c:pt>
                <c:pt idx="5">
                  <c:v>Design</c:v>
                </c:pt>
              </c:strCache>
            </c:strRef>
          </c:cat>
          <c:val>
            <c:numRef>
              <c:f>Sheet1!$B$2:$B$7</c:f>
              <c:numCache>
                <c:formatCode>General</c:formatCode>
                <c:ptCount val="6"/>
                <c:pt idx="0">
                  <c:v>56</c:v>
                </c:pt>
                <c:pt idx="1">
                  <c:v>15</c:v>
                </c:pt>
                <c:pt idx="2">
                  <c:v>60</c:v>
                </c:pt>
                <c:pt idx="3">
                  <c:v>82</c:v>
                </c:pt>
                <c:pt idx="4">
                  <c:v>82</c:v>
                </c:pt>
                <c:pt idx="5">
                  <c:v>42</c:v>
                </c:pt>
              </c:numCache>
            </c:numRef>
          </c:val>
          <c:smooth val="0"/>
          <c:extLst>
            <c:ext xmlns:c16="http://schemas.microsoft.com/office/drawing/2014/chart" uri="{C3380CC4-5D6E-409C-BE32-E72D297353CC}">
              <c16:uniqueId val="{00000000-295B-43AA-B204-04B74659B231}"/>
            </c:ext>
          </c:extLst>
        </c:ser>
        <c:ser>
          <c:idx val="1"/>
          <c:order val="1"/>
          <c:tx>
            <c:strRef>
              <c:f>Sheet1!$C$1</c:f>
              <c:strCache>
                <c:ptCount val="1"/>
                <c:pt idx="0">
                  <c:v>Dispatch Reference</c:v>
                </c:pt>
              </c:strCache>
            </c:strRef>
          </c:tx>
          <c:cat>
            <c:strRef>
              <c:f>Sheet1!$A$2:$A$7</c:f>
              <c:strCache>
                <c:ptCount val="6"/>
                <c:pt idx="0">
                  <c:v>Group</c:v>
                </c:pt>
                <c:pt idx="1">
                  <c:v>Brief</c:v>
                </c:pt>
                <c:pt idx="2">
                  <c:v>Bridge</c:v>
                </c:pt>
                <c:pt idx="3">
                  <c:v>Brief</c:v>
                </c:pt>
                <c:pt idx="4">
                  <c:v>Tile</c:v>
                </c:pt>
                <c:pt idx="5">
                  <c:v>Design</c:v>
                </c:pt>
              </c:strCache>
            </c:strRef>
          </c:cat>
          <c:val>
            <c:numRef>
              <c:f>Sheet1!$C$2:$C$7</c:f>
              <c:numCache>
                <c:formatCode>General</c:formatCode>
                <c:ptCount val="6"/>
                <c:pt idx="0">
                  <c:v>42</c:v>
                </c:pt>
                <c:pt idx="1">
                  <c:v>91</c:v>
                </c:pt>
                <c:pt idx="2">
                  <c:v>74</c:v>
                </c:pt>
                <c:pt idx="3">
                  <c:v>9</c:v>
                </c:pt>
                <c:pt idx="4">
                  <c:v>87</c:v>
                </c:pt>
                <c:pt idx="5">
                  <c:v>19</c:v>
                </c:pt>
              </c:numCache>
            </c:numRef>
          </c:val>
          <c:smooth val="0"/>
          <c:extLst>
            <c:ext xmlns:c16="http://schemas.microsoft.com/office/drawing/2014/chart" uri="{C3380CC4-5D6E-409C-BE32-E72D297353CC}">
              <c16:uniqueId val="{00000001-295B-43AA-B204-04B74659B23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charts/chart1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Interface Target</c:v>
                </c:pt>
              </c:strCache>
            </c:strRef>
          </c:tx>
          <c:invertIfNegative val="1"/>
          <c:cat>
            <c:strRef>
              <c:f>Sheet1!$A$2:$A$4</c:f>
              <c:strCache>
                <c:ptCount val="3"/>
                <c:pt idx="0">
                  <c:v>Datum</c:v>
                </c:pt>
                <c:pt idx="1">
                  <c:v>Adaptive</c:v>
                </c:pt>
                <c:pt idx="2">
                  <c:v>Intent</c:v>
                </c:pt>
              </c:strCache>
            </c:strRef>
          </c:cat>
          <c:val>
            <c:numRef>
              <c:f>Sheet1!$B$2:$B$4</c:f>
              <c:numCache>
                <c:formatCode>General</c:formatCode>
                <c:ptCount val="3"/>
                <c:pt idx="0">
                  <c:v>41</c:v>
                </c:pt>
                <c:pt idx="1">
                  <c:v>94</c:v>
                </c:pt>
                <c:pt idx="2">
                  <c:v>62</c:v>
                </c:pt>
              </c:numCache>
            </c:numRef>
          </c:val>
          <c:extLst>
            <c:ext xmlns:c16="http://schemas.microsoft.com/office/drawing/2014/chart" uri="{C3380CC4-5D6E-409C-BE32-E72D297353CC}">
              <c16:uniqueId val="{00000000-AD26-414C-B761-F59E20359AB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Envelope Connector Diagram</a:t>
            </a:r>
          </a:p>
        </c:rich>
      </c:tx>
      <c:overlay val="0"/>
    </c:title>
    <c:autoTitleDeleted val="0"/>
    <c:plotArea>
      <c:layout/>
      <c:doughnutChart>
        <c:varyColors val="1"/>
        <c:ser>
          <c:idx val="0"/>
          <c:order val="0"/>
          <c:tx>
            <c:strRef>
              <c:f>Sheet1!$B$1</c:f>
              <c:strCache>
                <c:ptCount val="1"/>
                <c:pt idx="0">
                  <c:v>Keyline</c:v>
                </c:pt>
              </c:strCache>
            </c:strRef>
          </c:tx>
          <c:cat>
            <c:strRef>
              <c:f>Sheet1!$A$2:$A$6</c:f>
              <c:strCache>
                <c:ptCount val="5"/>
                <c:pt idx="0">
                  <c:v>Keyline</c:v>
                </c:pt>
                <c:pt idx="1">
                  <c:v>Spectrum</c:v>
                </c:pt>
                <c:pt idx="2">
                  <c:v>Mode</c:v>
                </c:pt>
                <c:pt idx="3">
                  <c:v>Runtime</c:v>
                </c:pt>
                <c:pt idx="4">
                  <c:v>Iteration</c:v>
                </c:pt>
              </c:strCache>
            </c:strRef>
          </c:cat>
          <c:val>
            <c:numRef>
              <c:f>Sheet1!$B$2:$B$6</c:f>
              <c:numCache>
                <c:formatCode>General</c:formatCode>
                <c:ptCount val="5"/>
                <c:pt idx="0">
                  <c:v>82</c:v>
                </c:pt>
                <c:pt idx="1">
                  <c:v>30</c:v>
                </c:pt>
                <c:pt idx="2">
                  <c:v>17</c:v>
                </c:pt>
                <c:pt idx="3">
                  <c:v>64</c:v>
                </c:pt>
                <c:pt idx="4">
                  <c:v>95</c:v>
                </c:pt>
              </c:numCache>
            </c:numRef>
          </c:val>
          <c:extLst>
            <c:ext xmlns:c16="http://schemas.microsoft.com/office/drawing/2014/chart" uri="{C3380CC4-5D6E-409C-BE32-E72D297353CC}">
              <c16:uniqueId val="{00000000-09F8-4754-BDD6-282BF770D148}"/>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Process Template Object Analysis Sync</a:t>
            </a:r>
          </a:p>
        </c:rich>
      </c:tx>
      <c:overlay val="0"/>
    </c:title>
    <c:autoTitleDeleted val="0"/>
    <c:plotArea>
      <c:layout/>
      <c:barChart>
        <c:barDir val="bar"/>
        <c:grouping val="clustered"/>
        <c:varyColors val="1"/>
        <c:ser>
          <c:idx val="0"/>
          <c:order val="0"/>
          <c:tx>
            <c:strRef>
              <c:f>Sheet1!$B$1</c:f>
              <c:strCache>
                <c:ptCount val="1"/>
                <c:pt idx="0">
                  <c:v>Response</c:v>
                </c:pt>
              </c:strCache>
            </c:strRef>
          </c:tx>
          <c:invertIfNegative val="1"/>
          <c:cat>
            <c:strRef>
              <c:f>Sheet1!$A$2:$A$7</c:f>
              <c:strCache>
                <c:ptCount val="6"/>
                <c:pt idx="0">
                  <c:v>Interface</c:v>
                </c:pt>
                <c:pt idx="1">
                  <c:v>Cell</c:v>
                </c:pt>
                <c:pt idx="2">
                  <c:v>Foundation</c:v>
                </c:pt>
                <c:pt idx="3">
                  <c:v>Record</c:v>
                </c:pt>
                <c:pt idx="4">
                  <c:v>Duration</c:v>
                </c:pt>
                <c:pt idx="5">
                  <c:v>Friction</c:v>
                </c:pt>
              </c:strCache>
            </c:strRef>
          </c:cat>
          <c:val>
            <c:numRef>
              <c:f>Sheet1!$B$2:$B$7</c:f>
              <c:numCache>
                <c:formatCode>General</c:formatCode>
                <c:ptCount val="6"/>
                <c:pt idx="0">
                  <c:v>93</c:v>
                </c:pt>
                <c:pt idx="1">
                  <c:v>62</c:v>
                </c:pt>
                <c:pt idx="2">
                  <c:v>63</c:v>
                </c:pt>
                <c:pt idx="3">
                  <c:v>94</c:v>
                </c:pt>
                <c:pt idx="4">
                  <c:v>92</c:v>
                </c:pt>
                <c:pt idx="5">
                  <c:v>41</c:v>
                </c:pt>
              </c:numCache>
            </c:numRef>
          </c:val>
          <c:extLst>
            <c:ext xmlns:c16="http://schemas.microsoft.com/office/drawing/2014/chart" uri="{C3380CC4-5D6E-409C-BE32-E72D297353CC}">
              <c16:uniqueId val="{00000000-D505-4FCF-871A-46798331AEB1}"/>
            </c:ext>
          </c:extLst>
        </c:ser>
        <c:ser>
          <c:idx val="1"/>
          <c:order val="1"/>
          <c:tx>
            <c:strRef>
              <c:f>Sheet1!$C$1</c:f>
              <c:strCache>
                <c:ptCount val="1"/>
                <c:pt idx="0">
                  <c:v>Grid Rhythm</c:v>
                </c:pt>
              </c:strCache>
            </c:strRef>
          </c:tx>
          <c:invertIfNegative val="1"/>
          <c:cat>
            <c:strRef>
              <c:f>Sheet1!$A$2:$A$7</c:f>
              <c:strCache>
                <c:ptCount val="6"/>
                <c:pt idx="0">
                  <c:v>Interface</c:v>
                </c:pt>
                <c:pt idx="1">
                  <c:v>Cell</c:v>
                </c:pt>
                <c:pt idx="2">
                  <c:v>Foundation</c:v>
                </c:pt>
                <c:pt idx="3">
                  <c:v>Record</c:v>
                </c:pt>
                <c:pt idx="4">
                  <c:v>Duration</c:v>
                </c:pt>
                <c:pt idx="5">
                  <c:v>Friction</c:v>
                </c:pt>
              </c:strCache>
            </c:strRef>
          </c:cat>
          <c:val>
            <c:numRef>
              <c:f>Sheet1!$C$2:$C$7</c:f>
              <c:numCache>
                <c:formatCode>General</c:formatCode>
                <c:ptCount val="6"/>
                <c:pt idx="0">
                  <c:v>22</c:v>
                </c:pt>
                <c:pt idx="1">
                  <c:v>65</c:v>
                </c:pt>
                <c:pt idx="2">
                  <c:v>81</c:v>
                </c:pt>
                <c:pt idx="3">
                  <c:v>55</c:v>
                </c:pt>
                <c:pt idx="4">
                  <c:v>74</c:v>
                </c:pt>
                <c:pt idx="5">
                  <c:v>89</c:v>
                </c:pt>
              </c:numCache>
            </c:numRef>
          </c:val>
          <c:extLst>
            <c:ext xmlns:c16="http://schemas.microsoft.com/office/drawing/2014/chart" uri="{C3380CC4-5D6E-409C-BE32-E72D297353CC}">
              <c16:uniqueId val="{00000001-D505-4FCF-871A-46798331AEB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Direction Interval Portal</a:t>
            </a:r>
          </a:p>
        </c:rich>
      </c:tx>
      <c:overlay val="0"/>
    </c:title>
    <c:autoTitleDeleted val="0"/>
    <c:plotArea>
      <c:layout/>
      <c:barChart>
        <c:barDir val="bar"/>
        <c:grouping val="clustered"/>
        <c:varyColors val="1"/>
        <c:ser>
          <c:idx val="0"/>
          <c:order val="0"/>
          <c:tx>
            <c:strRef>
              <c:f>Sheet1!$B$1</c:f>
              <c:strCache>
                <c:ptCount val="1"/>
                <c:pt idx="0">
                  <c:v>Impact Intent</c:v>
                </c:pt>
              </c:strCache>
            </c:strRef>
          </c:tx>
          <c:invertIfNegative val="1"/>
          <c:cat>
            <c:strRef>
              <c:f>Sheet1!$A$2:$A$6</c:f>
              <c:strCache>
                <c:ptCount val="5"/>
                <c:pt idx="0">
                  <c:v>Segment</c:v>
                </c:pt>
                <c:pt idx="1">
                  <c:v>Layer</c:v>
                </c:pt>
                <c:pt idx="2">
                  <c:v>Measure</c:v>
                </c:pt>
                <c:pt idx="3">
                  <c:v>Forecast</c:v>
                </c:pt>
                <c:pt idx="4">
                  <c:v>Query</c:v>
                </c:pt>
              </c:strCache>
            </c:strRef>
          </c:cat>
          <c:val>
            <c:numRef>
              <c:f>Sheet1!$B$2:$B$6</c:f>
              <c:numCache>
                <c:formatCode>General</c:formatCode>
                <c:ptCount val="5"/>
                <c:pt idx="0">
                  <c:v>25</c:v>
                </c:pt>
                <c:pt idx="1">
                  <c:v>46</c:v>
                </c:pt>
                <c:pt idx="2">
                  <c:v>40</c:v>
                </c:pt>
                <c:pt idx="3">
                  <c:v>50</c:v>
                </c:pt>
                <c:pt idx="4">
                  <c:v>83</c:v>
                </c:pt>
              </c:numCache>
            </c:numRef>
          </c:val>
          <c:extLst>
            <c:ext xmlns:c16="http://schemas.microsoft.com/office/drawing/2014/chart" uri="{C3380CC4-5D6E-409C-BE32-E72D297353CC}">
              <c16:uniqueId val="{00000000-DE87-44DA-A675-9BE5F4144D08}"/>
            </c:ext>
          </c:extLst>
        </c:ser>
        <c:ser>
          <c:idx val="1"/>
          <c:order val="1"/>
          <c:tx>
            <c:strRef>
              <c:f>Sheet1!$C$1</c:f>
              <c:strCache>
                <c:ptCount val="1"/>
                <c:pt idx="0">
                  <c:v>Agenda</c:v>
                </c:pt>
              </c:strCache>
            </c:strRef>
          </c:tx>
          <c:invertIfNegative val="1"/>
          <c:cat>
            <c:strRef>
              <c:f>Sheet1!$A$2:$A$6</c:f>
              <c:strCache>
                <c:ptCount val="5"/>
                <c:pt idx="0">
                  <c:v>Segment</c:v>
                </c:pt>
                <c:pt idx="1">
                  <c:v>Layer</c:v>
                </c:pt>
                <c:pt idx="2">
                  <c:v>Measure</c:v>
                </c:pt>
                <c:pt idx="3">
                  <c:v>Forecast</c:v>
                </c:pt>
                <c:pt idx="4">
                  <c:v>Query</c:v>
                </c:pt>
              </c:strCache>
            </c:strRef>
          </c:cat>
          <c:val>
            <c:numRef>
              <c:f>Sheet1!$C$2:$C$6</c:f>
              <c:numCache>
                <c:formatCode>General</c:formatCode>
                <c:ptCount val="5"/>
                <c:pt idx="0">
                  <c:v>69</c:v>
                </c:pt>
                <c:pt idx="1">
                  <c:v>53</c:v>
                </c:pt>
                <c:pt idx="2">
                  <c:v>42</c:v>
                </c:pt>
                <c:pt idx="3">
                  <c:v>24</c:v>
                </c:pt>
                <c:pt idx="4">
                  <c:v>57</c:v>
                </c:pt>
              </c:numCache>
            </c:numRef>
          </c:val>
          <c:extLst>
            <c:ext xmlns:c16="http://schemas.microsoft.com/office/drawing/2014/chart" uri="{C3380CC4-5D6E-409C-BE32-E72D297353CC}">
              <c16:uniqueId val="{00000001-DE87-44DA-A675-9BE5F4144D08}"/>
            </c:ext>
          </c:extLst>
        </c:ser>
        <c:ser>
          <c:idx val="2"/>
          <c:order val="2"/>
          <c:tx>
            <c:strRef>
              <c:f>Sheet1!$D$1</c:f>
              <c:strCache>
                <c:ptCount val="1"/>
                <c:pt idx="0">
                  <c:v>Engine Guide</c:v>
                </c:pt>
              </c:strCache>
            </c:strRef>
          </c:tx>
          <c:invertIfNegative val="1"/>
          <c:cat>
            <c:strRef>
              <c:f>Sheet1!$A$2:$A$6</c:f>
              <c:strCache>
                <c:ptCount val="5"/>
                <c:pt idx="0">
                  <c:v>Segment</c:v>
                </c:pt>
                <c:pt idx="1">
                  <c:v>Layer</c:v>
                </c:pt>
                <c:pt idx="2">
                  <c:v>Measure</c:v>
                </c:pt>
                <c:pt idx="3">
                  <c:v>Forecast</c:v>
                </c:pt>
                <c:pt idx="4">
                  <c:v>Query</c:v>
                </c:pt>
              </c:strCache>
            </c:strRef>
          </c:cat>
          <c:val>
            <c:numRef>
              <c:f>Sheet1!$D$2:$D$6</c:f>
              <c:numCache>
                <c:formatCode>General</c:formatCode>
                <c:ptCount val="5"/>
                <c:pt idx="0">
                  <c:v>41</c:v>
                </c:pt>
                <c:pt idx="1">
                  <c:v>12</c:v>
                </c:pt>
                <c:pt idx="2">
                  <c:v>50</c:v>
                </c:pt>
                <c:pt idx="3">
                  <c:v>80</c:v>
                </c:pt>
                <c:pt idx="4">
                  <c:v>53</c:v>
                </c:pt>
              </c:numCache>
            </c:numRef>
          </c:val>
          <c:extLst>
            <c:ext xmlns:c16="http://schemas.microsoft.com/office/drawing/2014/chart" uri="{C3380CC4-5D6E-409C-BE32-E72D297353CC}">
              <c16:uniqueId val="{00000002-DE87-44DA-A675-9BE5F4144D0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000"/>
              <a:t>Source Register Keyline Profile</a:t>
            </a:r>
          </a:p>
        </c:rich>
      </c:tx>
      <c:overlay val="0"/>
    </c:title>
    <c:autoTitleDeleted val="0"/>
    <c:plotArea>
      <c:layout/>
      <c:pieChart>
        <c:varyColors val="1"/>
        <c:ser>
          <c:idx val="0"/>
          <c:order val="0"/>
          <c:tx>
            <c:strRef>
              <c:f>Sheet1!$B$1</c:f>
              <c:strCache>
                <c:ptCount val="1"/>
                <c:pt idx="0">
                  <c:v>Compass</c:v>
                </c:pt>
              </c:strCache>
            </c:strRef>
          </c:tx>
          <c:cat>
            <c:strRef>
              <c:f>Sheet1!$A$2:$A$5</c:f>
              <c:strCache>
                <c:ptCount val="4"/>
                <c:pt idx="0">
                  <c:v>Graph</c:v>
                </c:pt>
                <c:pt idx="1">
                  <c:v>Hub</c:v>
                </c:pt>
                <c:pt idx="2">
                  <c:v>Ratio</c:v>
                </c:pt>
                <c:pt idx="3">
                  <c:v>Request</c:v>
                </c:pt>
              </c:strCache>
            </c:strRef>
          </c:cat>
          <c:val>
            <c:numRef>
              <c:f>Sheet1!$B$2:$B$5</c:f>
              <c:numCache>
                <c:formatCode>General</c:formatCode>
                <c:ptCount val="4"/>
                <c:pt idx="0">
                  <c:v>10</c:v>
                </c:pt>
                <c:pt idx="1">
                  <c:v>28</c:v>
                </c:pt>
                <c:pt idx="2">
                  <c:v>83</c:v>
                </c:pt>
                <c:pt idx="3">
                  <c:v>13</c:v>
                </c:pt>
              </c:numCache>
            </c:numRef>
          </c:val>
          <c:extLst>
            <c:ext xmlns:c16="http://schemas.microsoft.com/office/drawing/2014/chart" uri="{C3380CC4-5D6E-409C-BE32-E72D297353CC}">
              <c16:uniqueId val="{00000000-18DC-4799-A7D5-9C317D6247FF}"/>
            </c:ext>
          </c:extLst>
        </c:ser>
        <c:dLbls>
          <c:showLegendKey val="0"/>
          <c:showVal val="0"/>
          <c:showCatName val="0"/>
          <c:showSerName val="0"/>
          <c:showPercent val="0"/>
          <c:showBubbleSize val="0"/>
          <c:showLeaderLines val="1"/>
        </c:dLbls>
        <c:firstSliceAng val="0"/>
      </c:pieChart>
    </c:plotArea>
    <c:plotVisOnly val="1"/>
    <c:dispBlanksAs val="gap"/>
    <c:showDLblsOverMax val="1"/>
  </c:chart>
  <c:txPr>
    <a:bodyPr/>
    <a:lstStyle/>
    <a:p>
      <a:pPr>
        <a:defRPr sz="1800"/>
      </a:pPr>
      <a:endParaRPr lang="en-US"/>
    </a:p>
  </c:txPr>
  <c:externalData r:id="rId1">
    <c:autoUpdate val="0"/>
  </c:externalData>
</c:chartSpace>
</file>

<file path=ppt/charts/chart1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Topology Review</a:t>
            </a:r>
          </a:p>
        </c:rich>
      </c:tx>
      <c:overlay val="0"/>
    </c:title>
    <c:autoTitleDeleted val="0"/>
    <c:plotArea>
      <c:layout/>
      <c:barChart>
        <c:barDir val="col"/>
        <c:grouping val="clustered"/>
        <c:varyColors val="1"/>
        <c:ser>
          <c:idx val="0"/>
          <c:order val="0"/>
          <c:tx>
            <c:strRef>
              <c:f>Sheet1!$B$1</c:f>
              <c:strCache>
                <c:ptCount val="1"/>
                <c:pt idx="0">
                  <c:v>Vertex</c:v>
                </c:pt>
              </c:strCache>
            </c:strRef>
          </c:tx>
          <c:invertIfNegative val="1"/>
          <c:cat>
            <c:strRef>
              <c:f>Sheet1!$A$2:$A$4</c:f>
              <c:strCache>
                <c:ptCount val="3"/>
                <c:pt idx="0">
                  <c:v>Draft</c:v>
                </c:pt>
                <c:pt idx="1">
                  <c:v>Center</c:v>
                </c:pt>
                <c:pt idx="2">
                  <c:v>Intent</c:v>
                </c:pt>
              </c:strCache>
            </c:strRef>
          </c:cat>
          <c:val>
            <c:numRef>
              <c:f>Sheet1!$B$2:$B$4</c:f>
              <c:numCache>
                <c:formatCode>General</c:formatCode>
                <c:ptCount val="3"/>
                <c:pt idx="0">
                  <c:v>28</c:v>
                </c:pt>
                <c:pt idx="1">
                  <c:v>36</c:v>
                </c:pt>
                <c:pt idx="2">
                  <c:v>80</c:v>
                </c:pt>
              </c:numCache>
            </c:numRef>
          </c:val>
          <c:extLst>
            <c:ext xmlns:c16="http://schemas.microsoft.com/office/drawing/2014/chart" uri="{C3380CC4-5D6E-409C-BE32-E72D297353CC}">
              <c16:uniqueId val="{00000000-FFFC-4023-9C6C-E0E6A5826550}"/>
            </c:ext>
          </c:extLst>
        </c:ser>
        <c:ser>
          <c:idx val="1"/>
          <c:order val="1"/>
          <c:tx>
            <c:strRef>
              <c:f>Sheet1!$C$1</c:f>
              <c:strCache>
                <c:ptCount val="1"/>
                <c:pt idx="0">
                  <c:v>Detail Feature</c:v>
                </c:pt>
              </c:strCache>
            </c:strRef>
          </c:tx>
          <c:invertIfNegative val="1"/>
          <c:cat>
            <c:strRef>
              <c:f>Sheet1!$A$2:$A$4</c:f>
              <c:strCache>
                <c:ptCount val="3"/>
                <c:pt idx="0">
                  <c:v>Draft</c:v>
                </c:pt>
                <c:pt idx="1">
                  <c:v>Center</c:v>
                </c:pt>
                <c:pt idx="2">
                  <c:v>Intent</c:v>
                </c:pt>
              </c:strCache>
            </c:strRef>
          </c:cat>
          <c:val>
            <c:numRef>
              <c:f>Sheet1!$C$2:$C$4</c:f>
              <c:numCache>
                <c:formatCode>General</c:formatCode>
                <c:ptCount val="3"/>
                <c:pt idx="0">
                  <c:v>62</c:v>
                </c:pt>
                <c:pt idx="1">
                  <c:v>62</c:v>
                </c:pt>
                <c:pt idx="2">
                  <c:v>82</c:v>
                </c:pt>
              </c:numCache>
            </c:numRef>
          </c:val>
          <c:extLst>
            <c:ext xmlns:c16="http://schemas.microsoft.com/office/drawing/2014/chart" uri="{C3380CC4-5D6E-409C-BE32-E72D297353CC}">
              <c16:uniqueId val="{00000001-FFFC-4023-9C6C-E0E6A5826550}"/>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Impact Domain Review Metric</a:t>
            </a:r>
          </a:p>
        </c:rich>
      </c:tx>
      <c:overlay val="0"/>
    </c:title>
    <c:autoTitleDeleted val="0"/>
    <c:plotArea>
      <c:layout/>
      <c:lineChart>
        <c:grouping val="standard"/>
        <c:varyColors val="0"/>
        <c:ser>
          <c:idx val="0"/>
          <c:order val="0"/>
          <c:tx>
            <c:strRef>
              <c:f>Sheet1!$B$1</c:f>
              <c:strCache>
                <c:ptCount val="1"/>
                <c:pt idx="0">
                  <c:v>Lineage Function</c:v>
                </c:pt>
              </c:strCache>
            </c:strRef>
          </c:tx>
          <c:cat>
            <c:strRef>
              <c:f>Sheet1!$A$2:$A$6</c:f>
              <c:strCache>
                <c:ptCount val="5"/>
                <c:pt idx="0">
                  <c:v>Discovery</c:v>
                </c:pt>
                <c:pt idx="1">
                  <c:v>Data</c:v>
                </c:pt>
                <c:pt idx="2">
                  <c:v>Goal</c:v>
                </c:pt>
                <c:pt idx="3">
                  <c:v>Gateway</c:v>
                </c:pt>
                <c:pt idx="4">
                  <c:v>Pattern</c:v>
                </c:pt>
              </c:strCache>
            </c:strRef>
          </c:cat>
          <c:val>
            <c:numRef>
              <c:f>Sheet1!$B$2:$B$6</c:f>
              <c:numCache>
                <c:formatCode>General</c:formatCode>
                <c:ptCount val="5"/>
                <c:pt idx="0">
                  <c:v>35</c:v>
                </c:pt>
                <c:pt idx="1">
                  <c:v>49</c:v>
                </c:pt>
                <c:pt idx="2">
                  <c:v>76</c:v>
                </c:pt>
                <c:pt idx="3">
                  <c:v>85</c:v>
                </c:pt>
                <c:pt idx="4">
                  <c:v>82</c:v>
                </c:pt>
              </c:numCache>
            </c:numRef>
          </c:val>
          <c:smooth val="0"/>
          <c:extLst>
            <c:ext xmlns:c16="http://schemas.microsoft.com/office/drawing/2014/chart" uri="{C3380CC4-5D6E-409C-BE32-E72D297353CC}">
              <c16:uniqueId val="{00000000-D7D8-4562-8FCB-AF89BD434FC0}"/>
            </c:ext>
          </c:extLst>
        </c:ser>
        <c:ser>
          <c:idx val="1"/>
          <c:order val="1"/>
          <c:tx>
            <c:strRef>
              <c:f>Sheet1!$C$1</c:f>
              <c:strCache>
                <c:ptCount val="1"/>
                <c:pt idx="0">
                  <c:v>Timeline Buffer</c:v>
                </c:pt>
              </c:strCache>
            </c:strRef>
          </c:tx>
          <c:cat>
            <c:strRef>
              <c:f>Sheet1!$A$2:$A$6</c:f>
              <c:strCache>
                <c:ptCount val="5"/>
                <c:pt idx="0">
                  <c:v>Discovery</c:v>
                </c:pt>
                <c:pt idx="1">
                  <c:v>Data</c:v>
                </c:pt>
                <c:pt idx="2">
                  <c:v>Goal</c:v>
                </c:pt>
                <c:pt idx="3">
                  <c:v>Gateway</c:v>
                </c:pt>
                <c:pt idx="4">
                  <c:v>Pattern</c:v>
                </c:pt>
              </c:strCache>
            </c:strRef>
          </c:cat>
          <c:val>
            <c:numRef>
              <c:f>Sheet1!$C$2:$C$6</c:f>
              <c:numCache>
                <c:formatCode>General</c:formatCode>
                <c:ptCount val="5"/>
                <c:pt idx="0">
                  <c:v>13</c:v>
                </c:pt>
                <c:pt idx="1">
                  <c:v>62</c:v>
                </c:pt>
                <c:pt idx="2">
                  <c:v>38</c:v>
                </c:pt>
                <c:pt idx="3">
                  <c:v>68</c:v>
                </c:pt>
                <c:pt idx="4">
                  <c:v>14</c:v>
                </c:pt>
              </c:numCache>
            </c:numRef>
          </c:val>
          <c:smooth val="0"/>
          <c:extLst>
            <c:ext xmlns:c16="http://schemas.microsoft.com/office/drawing/2014/chart" uri="{C3380CC4-5D6E-409C-BE32-E72D297353CC}">
              <c16:uniqueId val="{00000001-D7D8-4562-8FCB-AF89BD434FC0}"/>
            </c:ext>
          </c:extLst>
        </c:ser>
        <c:ser>
          <c:idx val="2"/>
          <c:order val="2"/>
          <c:tx>
            <c:strRef>
              <c:f>Sheet1!$D$1</c:f>
              <c:strCache>
                <c:ptCount val="1"/>
                <c:pt idx="0">
                  <c:v>Library</c:v>
                </c:pt>
              </c:strCache>
            </c:strRef>
          </c:tx>
          <c:cat>
            <c:strRef>
              <c:f>Sheet1!$A$2:$A$6</c:f>
              <c:strCache>
                <c:ptCount val="5"/>
                <c:pt idx="0">
                  <c:v>Discovery</c:v>
                </c:pt>
                <c:pt idx="1">
                  <c:v>Data</c:v>
                </c:pt>
                <c:pt idx="2">
                  <c:v>Goal</c:v>
                </c:pt>
                <c:pt idx="3">
                  <c:v>Gateway</c:v>
                </c:pt>
                <c:pt idx="4">
                  <c:v>Pattern</c:v>
                </c:pt>
              </c:strCache>
            </c:strRef>
          </c:cat>
          <c:val>
            <c:numRef>
              <c:f>Sheet1!$D$2:$D$6</c:f>
              <c:numCache>
                <c:formatCode>General</c:formatCode>
                <c:ptCount val="5"/>
                <c:pt idx="0">
                  <c:v>24</c:v>
                </c:pt>
                <c:pt idx="1">
                  <c:v>85</c:v>
                </c:pt>
                <c:pt idx="2">
                  <c:v>56</c:v>
                </c:pt>
                <c:pt idx="3">
                  <c:v>21</c:v>
                </c:pt>
                <c:pt idx="4">
                  <c:v>49</c:v>
                </c:pt>
              </c:numCache>
            </c:numRef>
          </c:val>
          <c:smooth val="0"/>
          <c:extLst>
            <c:ext xmlns:c16="http://schemas.microsoft.com/office/drawing/2014/chart" uri="{C3380CC4-5D6E-409C-BE32-E72D297353CC}">
              <c16:uniqueId val="{00000002-D7D8-4562-8FCB-AF89BD434FC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1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Queue Alpha Ratio Baseline Method</a:t>
            </a:r>
          </a:p>
        </c:rich>
      </c:tx>
      <c:overlay val="0"/>
    </c:title>
    <c:autoTitleDeleted val="0"/>
    <c:plotArea>
      <c:layout/>
      <c:barChart>
        <c:barDir val="bar"/>
        <c:grouping val="clustered"/>
        <c:varyColors val="1"/>
        <c:ser>
          <c:idx val="0"/>
          <c:order val="0"/>
          <c:tx>
            <c:strRef>
              <c:f>Sheet1!$B$1</c:f>
              <c:strCache>
                <c:ptCount val="1"/>
                <c:pt idx="0">
                  <c:v>Network</c:v>
                </c:pt>
              </c:strCache>
            </c:strRef>
          </c:tx>
          <c:invertIfNegative val="1"/>
          <c:cat>
            <c:strRef>
              <c:f>Sheet1!$A$2:$A$7</c:f>
              <c:strCache>
                <c:ptCount val="6"/>
                <c:pt idx="0">
                  <c:v>Portal</c:v>
                </c:pt>
                <c:pt idx="1">
                  <c:v>Vector</c:v>
                </c:pt>
                <c:pt idx="2">
                  <c:v>Queue</c:v>
                </c:pt>
                <c:pt idx="3">
                  <c:v>Token</c:v>
                </c:pt>
                <c:pt idx="4">
                  <c:v>Index</c:v>
                </c:pt>
                <c:pt idx="5">
                  <c:v>Structure</c:v>
                </c:pt>
              </c:strCache>
            </c:strRef>
          </c:cat>
          <c:val>
            <c:numRef>
              <c:f>Sheet1!$B$2:$B$7</c:f>
              <c:numCache>
                <c:formatCode>General</c:formatCode>
                <c:ptCount val="6"/>
                <c:pt idx="0">
                  <c:v>73</c:v>
                </c:pt>
                <c:pt idx="1">
                  <c:v>18</c:v>
                </c:pt>
                <c:pt idx="2">
                  <c:v>58</c:v>
                </c:pt>
                <c:pt idx="3">
                  <c:v>29</c:v>
                </c:pt>
                <c:pt idx="4">
                  <c:v>34</c:v>
                </c:pt>
                <c:pt idx="5">
                  <c:v>59</c:v>
                </c:pt>
              </c:numCache>
            </c:numRef>
          </c:val>
          <c:extLst>
            <c:ext xmlns:c16="http://schemas.microsoft.com/office/drawing/2014/chart" uri="{C3380CC4-5D6E-409C-BE32-E72D297353CC}">
              <c16:uniqueId val="{00000000-F276-4363-BA1E-FF809A4C5256}"/>
            </c:ext>
          </c:extLst>
        </c:ser>
        <c:ser>
          <c:idx val="1"/>
          <c:order val="1"/>
          <c:tx>
            <c:strRef>
              <c:f>Sheet1!$C$1</c:f>
              <c:strCache>
                <c:ptCount val="1"/>
                <c:pt idx="0">
                  <c:v>Horizon Concept</c:v>
                </c:pt>
              </c:strCache>
            </c:strRef>
          </c:tx>
          <c:invertIfNegative val="1"/>
          <c:cat>
            <c:strRef>
              <c:f>Sheet1!$A$2:$A$7</c:f>
              <c:strCache>
                <c:ptCount val="6"/>
                <c:pt idx="0">
                  <c:v>Portal</c:v>
                </c:pt>
                <c:pt idx="1">
                  <c:v>Vector</c:v>
                </c:pt>
                <c:pt idx="2">
                  <c:v>Queue</c:v>
                </c:pt>
                <c:pt idx="3">
                  <c:v>Token</c:v>
                </c:pt>
                <c:pt idx="4">
                  <c:v>Index</c:v>
                </c:pt>
                <c:pt idx="5">
                  <c:v>Structure</c:v>
                </c:pt>
              </c:strCache>
            </c:strRef>
          </c:cat>
          <c:val>
            <c:numRef>
              <c:f>Sheet1!$C$2:$C$7</c:f>
              <c:numCache>
                <c:formatCode>General</c:formatCode>
                <c:ptCount val="6"/>
                <c:pt idx="0">
                  <c:v>25</c:v>
                </c:pt>
                <c:pt idx="1">
                  <c:v>85</c:v>
                </c:pt>
                <c:pt idx="2">
                  <c:v>11</c:v>
                </c:pt>
                <c:pt idx="3">
                  <c:v>75</c:v>
                </c:pt>
                <c:pt idx="4">
                  <c:v>62</c:v>
                </c:pt>
                <c:pt idx="5">
                  <c:v>72</c:v>
                </c:pt>
              </c:numCache>
            </c:numRef>
          </c:val>
          <c:extLst>
            <c:ext xmlns:c16="http://schemas.microsoft.com/office/drawing/2014/chart" uri="{C3380CC4-5D6E-409C-BE32-E72D297353CC}">
              <c16:uniqueId val="{00000001-F276-4363-BA1E-FF809A4C5256}"/>
            </c:ext>
          </c:extLst>
        </c:ser>
        <c:ser>
          <c:idx val="2"/>
          <c:order val="2"/>
          <c:tx>
            <c:strRef>
              <c:f>Sheet1!$D$1</c:f>
              <c:strCache>
                <c:ptCount val="1"/>
                <c:pt idx="0">
                  <c:v>Harbor Core</c:v>
                </c:pt>
              </c:strCache>
            </c:strRef>
          </c:tx>
          <c:invertIfNegative val="1"/>
          <c:cat>
            <c:strRef>
              <c:f>Sheet1!$A$2:$A$7</c:f>
              <c:strCache>
                <c:ptCount val="6"/>
                <c:pt idx="0">
                  <c:v>Portal</c:v>
                </c:pt>
                <c:pt idx="1">
                  <c:v>Vector</c:v>
                </c:pt>
                <c:pt idx="2">
                  <c:v>Queue</c:v>
                </c:pt>
                <c:pt idx="3">
                  <c:v>Token</c:v>
                </c:pt>
                <c:pt idx="4">
                  <c:v>Index</c:v>
                </c:pt>
                <c:pt idx="5">
                  <c:v>Structure</c:v>
                </c:pt>
              </c:strCache>
            </c:strRef>
          </c:cat>
          <c:val>
            <c:numRef>
              <c:f>Sheet1!$D$2:$D$7</c:f>
              <c:numCache>
                <c:formatCode>General</c:formatCode>
                <c:ptCount val="6"/>
                <c:pt idx="0">
                  <c:v>39</c:v>
                </c:pt>
                <c:pt idx="1">
                  <c:v>29</c:v>
                </c:pt>
                <c:pt idx="2">
                  <c:v>82</c:v>
                </c:pt>
                <c:pt idx="3">
                  <c:v>78</c:v>
                </c:pt>
                <c:pt idx="4">
                  <c:v>46</c:v>
                </c:pt>
                <c:pt idx="5">
                  <c:v>81</c:v>
                </c:pt>
              </c:numCache>
            </c:numRef>
          </c:val>
          <c:extLst>
            <c:ext xmlns:c16="http://schemas.microsoft.com/office/drawing/2014/chart" uri="{C3380CC4-5D6E-409C-BE32-E72D297353CC}">
              <c16:uniqueId val="{00000002-F276-4363-BA1E-FF809A4C525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9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Mode Bridge Timeline</a:t>
            </a:r>
          </a:p>
        </c:rich>
      </c:tx>
      <c:overlay val="0"/>
    </c:title>
    <c:autoTitleDeleted val="0"/>
    <c:plotArea>
      <c:layout/>
      <c:barChart>
        <c:barDir val="bar"/>
        <c:grouping val="clustered"/>
        <c:varyColors val="1"/>
        <c:ser>
          <c:idx val="0"/>
          <c:order val="0"/>
          <c:tx>
            <c:strRef>
              <c:f>Sheet1!$B$1</c:f>
              <c:strCache>
                <c:ptCount val="1"/>
                <c:pt idx="0">
                  <c:v>Graph</c:v>
                </c:pt>
              </c:strCache>
            </c:strRef>
          </c:tx>
          <c:invertIfNegative val="1"/>
          <c:cat>
            <c:strRef>
              <c:f>Sheet1!$A$2:$A$6</c:f>
              <c:strCache>
                <c:ptCount val="5"/>
                <c:pt idx="0">
                  <c:v>Node</c:v>
                </c:pt>
                <c:pt idx="1">
                  <c:v>Foundation</c:v>
                </c:pt>
                <c:pt idx="2">
                  <c:v>Connector</c:v>
                </c:pt>
                <c:pt idx="3">
                  <c:v>Track</c:v>
                </c:pt>
                <c:pt idx="4">
                  <c:v>Trace</c:v>
                </c:pt>
              </c:strCache>
            </c:strRef>
          </c:cat>
          <c:val>
            <c:numRef>
              <c:f>Sheet1!$B$2:$B$6</c:f>
              <c:numCache>
                <c:formatCode>General</c:formatCode>
                <c:ptCount val="5"/>
                <c:pt idx="0">
                  <c:v>34</c:v>
                </c:pt>
                <c:pt idx="1">
                  <c:v>83</c:v>
                </c:pt>
                <c:pt idx="2">
                  <c:v>78</c:v>
                </c:pt>
                <c:pt idx="3">
                  <c:v>21</c:v>
                </c:pt>
                <c:pt idx="4">
                  <c:v>92</c:v>
                </c:pt>
              </c:numCache>
            </c:numRef>
          </c:val>
          <c:extLst>
            <c:ext xmlns:c16="http://schemas.microsoft.com/office/drawing/2014/chart" uri="{C3380CC4-5D6E-409C-BE32-E72D297353CC}">
              <c16:uniqueId val="{00000000-CA20-484E-84EE-99143DB53047}"/>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9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Milestone Scale Proof</a:t>
            </a:r>
          </a:p>
        </c:rich>
      </c:tx>
      <c:overlay val="0"/>
    </c:title>
    <c:autoTitleDeleted val="0"/>
    <c:plotArea>
      <c:layout/>
      <c:barChart>
        <c:barDir val="col"/>
        <c:grouping val="clustered"/>
        <c:varyColors val="1"/>
        <c:ser>
          <c:idx val="0"/>
          <c:order val="0"/>
          <c:tx>
            <c:strRef>
              <c:f>Sheet1!$B$1</c:f>
              <c:strCache>
                <c:ptCount val="1"/>
                <c:pt idx="0">
                  <c:v>Query</c:v>
                </c:pt>
              </c:strCache>
            </c:strRef>
          </c:tx>
          <c:invertIfNegative val="1"/>
          <c:cat>
            <c:strRef>
              <c:f>Sheet1!$A$2:$A$7</c:f>
              <c:strCache>
                <c:ptCount val="6"/>
                <c:pt idx="0">
                  <c:v>Journey</c:v>
                </c:pt>
                <c:pt idx="1">
                  <c:v>Horizon</c:v>
                </c:pt>
                <c:pt idx="2">
                  <c:v>Hub</c:v>
                </c:pt>
                <c:pt idx="3">
                  <c:v>Explorer</c:v>
                </c:pt>
                <c:pt idx="4">
                  <c:v>Node</c:v>
                </c:pt>
                <c:pt idx="5">
                  <c:v>Foundation</c:v>
                </c:pt>
              </c:strCache>
            </c:strRef>
          </c:cat>
          <c:val>
            <c:numRef>
              <c:f>Sheet1!$B$2:$B$7</c:f>
              <c:numCache>
                <c:formatCode>General</c:formatCode>
                <c:ptCount val="6"/>
                <c:pt idx="0">
                  <c:v>90</c:v>
                </c:pt>
                <c:pt idx="1">
                  <c:v>58</c:v>
                </c:pt>
                <c:pt idx="2">
                  <c:v>18</c:v>
                </c:pt>
                <c:pt idx="3">
                  <c:v>75</c:v>
                </c:pt>
                <c:pt idx="4">
                  <c:v>20</c:v>
                </c:pt>
                <c:pt idx="5">
                  <c:v>51</c:v>
                </c:pt>
              </c:numCache>
            </c:numRef>
          </c:val>
          <c:extLst>
            <c:ext xmlns:c16="http://schemas.microsoft.com/office/drawing/2014/chart" uri="{C3380CC4-5D6E-409C-BE32-E72D297353CC}">
              <c16:uniqueId val="{00000000-6086-4530-9CF2-FC2837741B69}"/>
            </c:ext>
          </c:extLst>
        </c:ser>
        <c:ser>
          <c:idx val="1"/>
          <c:order val="1"/>
          <c:tx>
            <c:strRef>
              <c:f>Sheet1!$C$1</c:f>
              <c:strCache>
                <c:ptCount val="1"/>
                <c:pt idx="0">
                  <c:v>Ledger</c:v>
                </c:pt>
              </c:strCache>
            </c:strRef>
          </c:tx>
          <c:invertIfNegative val="1"/>
          <c:cat>
            <c:strRef>
              <c:f>Sheet1!$A$2:$A$7</c:f>
              <c:strCache>
                <c:ptCount val="6"/>
                <c:pt idx="0">
                  <c:v>Journey</c:v>
                </c:pt>
                <c:pt idx="1">
                  <c:v>Horizon</c:v>
                </c:pt>
                <c:pt idx="2">
                  <c:v>Hub</c:v>
                </c:pt>
                <c:pt idx="3">
                  <c:v>Explorer</c:v>
                </c:pt>
                <c:pt idx="4">
                  <c:v>Node</c:v>
                </c:pt>
                <c:pt idx="5">
                  <c:v>Foundation</c:v>
                </c:pt>
              </c:strCache>
            </c:strRef>
          </c:cat>
          <c:val>
            <c:numRef>
              <c:f>Sheet1!$C$2:$C$7</c:f>
              <c:numCache>
                <c:formatCode>General</c:formatCode>
                <c:ptCount val="6"/>
                <c:pt idx="0">
                  <c:v>37</c:v>
                </c:pt>
                <c:pt idx="1">
                  <c:v>68</c:v>
                </c:pt>
                <c:pt idx="2">
                  <c:v>88</c:v>
                </c:pt>
                <c:pt idx="3">
                  <c:v>81</c:v>
                </c:pt>
                <c:pt idx="4">
                  <c:v>90</c:v>
                </c:pt>
                <c:pt idx="5">
                  <c:v>40</c:v>
                </c:pt>
              </c:numCache>
            </c:numRef>
          </c:val>
          <c:extLst>
            <c:ext xmlns:c16="http://schemas.microsoft.com/office/drawing/2014/chart" uri="{C3380CC4-5D6E-409C-BE32-E72D297353CC}">
              <c16:uniqueId val="{00000001-6086-4530-9CF2-FC2837741B69}"/>
            </c:ext>
          </c:extLst>
        </c:ser>
        <c:ser>
          <c:idx val="2"/>
          <c:order val="2"/>
          <c:tx>
            <c:strRef>
              <c:f>Sheet1!$D$1</c:f>
              <c:strCache>
                <c:ptCount val="1"/>
                <c:pt idx="0">
                  <c:v>Vertex</c:v>
                </c:pt>
              </c:strCache>
            </c:strRef>
          </c:tx>
          <c:invertIfNegative val="1"/>
          <c:cat>
            <c:strRef>
              <c:f>Sheet1!$A$2:$A$7</c:f>
              <c:strCache>
                <c:ptCount val="6"/>
                <c:pt idx="0">
                  <c:v>Journey</c:v>
                </c:pt>
                <c:pt idx="1">
                  <c:v>Horizon</c:v>
                </c:pt>
                <c:pt idx="2">
                  <c:v>Hub</c:v>
                </c:pt>
                <c:pt idx="3">
                  <c:v>Explorer</c:v>
                </c:pt>
                <c:pt idx="4">
                  <c:v>Node</c:v>
                </c:pt>
                <c:pt idx="5">
                  <c:v>Foundation</c:v>
                </c:pt>
              </c:strCache>
            </c:strRef>
          </c:cat>
          <c:val>
            <c:numRef>
              <c:f>Sheet1!$D$2:$D$7</c:f>
              <c:numCache>
                <c:formatCode>General</c:formatCode>
                <c:ptCount val="6"/>
                <c:pt idx="0">
                  <c:v>89</c:v>
                </c:pt>
                <c:pt idx="1">
                  <c:v>21</c:v>
                </c:pt>
                <c:pt idx="2">
                  <c:v>64</c:v>
                </c:pt>
                <c:pt idx="3">
                  <c:v>93</c:v>
                </c:pt>
                <c:pt idx="4">
                  <c:v>15</c:v>
                </c:pt>
                <c:pt idx="5">
                  <c:v>13</c:v>
                </c:pt>
              </c:numCache>
            </c:numRef>
          </c:val>
          <c:extLst>
            <c:ext xmlns:c16="http://schemas.microsoft.com/office/drawing/2014/chart" uri="{C3380CC4-5D6E-409C-BE32-E72D297353CC}">
              <c16:uniqueId val="{00000002-6086-4530-9CF2-FC2837741B6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9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Phase Factor</c:v>
                </c:pt>
              </c:strCache>
            </c:strRef>
          </c:tx>
          <c:cat>
            <c:strRef>
              <c:f>Sheet1!$A$2:$A$6</c:f>
              <c:strCache>
                <c:ptCount val="5"/>
                <c:pt idx="0">
                  <c:v>Diagram</c:v>
                </c:pt>
                <c:pt idx="1">
                  <c:v>Slice</c:v>
                </c:pt>
                <c:pt idx="2">
                  <c:v>Template</c:v>
                </c:pt>
                <c:pt idx="3">
                  <c:v>Tile</c:v>
                </c:pt>
                <c:pt idx="4">
                  <c:v>Story</c:v>
                </c:pt>
              </c:strCache>
            </c:strRef>
          </c:cat>
          <c:val>
            <c:numRef>
              <c:f>Sheet1!$B$2:$B$6</c:f>
              <c:numCache>
                <c:formatCode>General</c:formatCode>
                <c:ptCount val="5"/>
                <c:pt idx="0">
                  <c:v>77</c:v>
                </c:pt>
                <c:pt idx="1">
                  <c:v>23</c:v>
                </c:pt>
                <c:pt idx="2">
                  <c:v>73</c:v>
                </c:pt>
                <c:pt idx="3">
                  <c:v>29</c:v>
                </c:pt>
                <c:pt idx="4">
                  <c:v>83</c:v>
                </c:pt>
              </c:numCache>
            </c:numRef>
          </c:val>
          <c:extLst>
            <c:ext xmlns:c16="http://schemas.microsoft.com/office/drawing/2014/chart" uri="{C3380CC4-5D6E-409C-BE32-E72D297353CC}">
              <c16:uniqueId val="{00000000-4D04-41E1-90F5-A9779DFA9CC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19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Matrix</c:v>
                </c:pt>
              </c:strCache>
            </c:strRef>
          </c:tx>
          <c:cat>
            <c:strRef>
              <c:f>Sheet1!$A$2:$A$5</c:f>
              <c:strCache>
                <c:ptCount val="4"/>
                <c:pt idx="0">
                  <c:v>Motion</c:v>
                </c:pt>
                <c:pt idx="1">
                  <c:v>Circuit</c:v>
                </c:pt>
                <c:pt idx="2">
                  <c:v>Forecast</c:v>
                </c:pt>
                <c:pt idx="3">
                  <c:v>Interval</c:v>
                </c:pt>
              </c:strCache>
            </c:strRef>
          </c:cat>
          <c:val>
            <c:numRef>
              <c:f>Sheet1!$B$2:$B$5</c:f>
              <c:numCache>
                <c:formatCode>General</c:formatCode>
                <c:ptCount val="4"/>
                <c:pt idx="0">
                  <c:v>24</c:v>
                </c:pt>
                <c:pt idx="1">
                  <c:v>68</c:v>
                </c:pt>
                <c:pt idx="2">
                  <c:v>70</c:v>
                </c:pt>
                <c:pt idx="3">
                  <c:v>33</c:v>
                </c:pt>
              </c:numCache>
            </c:numRef>
          </c:val>
          <c:extLst>
            <c:ext xmlns:c16="http://schemas.microsoft.com/office/drawing/2014/chart" uri="{C3380CC4-5D6E-409C-BE32-E72D297353CC}">
              <c16:uniqueId val="{00000000-CC8D-401F-9AAC-237DA1F4D35E}"/>
            </c:ext>
          </c:extLst>
        </c:ser>
        <c:dLbls>
          <c:showLegendKey val="0"/>
          <c:showVal val="0"/>
          <c:showCatName val="0"/>
          <c:showSerName val="0"/>
          <c:showPercent val="0"/>
          <c:showBubbleSize val="0"/>
          <c:showLeaderLines val="1"/>
        </c:dLbls>
        <c:firstSliceAng val="0"/>
      </c:pieChart>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9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Envelope Handle Hub</a:t>
            </a:r>
          </a:p>
        </c:rich>
      </c:tx>
      <c:overlay val="0"/>
    </c:title>
    <c:autoTitleDeleted val="0"/>
    <c:plotArea>
      <c:layout/>
      <c:barChart>
        <c:barDir val="col"/>
        <c:grouping val="clustered"/>
        <c:varyColors val="1"/>
        <c:ser>
          <c:idx val="0"/>
          <c:order val="0"/>
          <c:tx>
            <c:strRef>
              <c:f>Sheet1!$B$1</c:f>
              <c:strCache>
                <c:ptCount val="1"/>
                <c:pt idx="0">
                  <c:v>Node</c:v>
                </c:pt>
              </c:strCache>
            </c:strRef>
          </c:tx>
          <c:invertIfNegative val="1"/>
          <c:cat>
            <c:strRef>
              <c:f>Sheet1!$A$2:$A$4</c:f>
              <c:strCache>
                <c:ptCount val="3"/>
                <c:pt idx="0">
                  <c:v>Signal</c:v>
                </c:pt>
                <c:pt idx="1">
                  <c:v>Pipeline</c:v>
                </c:pt>
                <c:pt idx="2">
                  <c:v>Waypoint</c:v>
                </c:pt>
              </c:strCache>
            </c:strRef>
          </c:cat>
          <c:val>
            <c:numRef>
              <c:f>Sheet1!$B$2:$B$4</c:f>
              <c:numCache>
                <c:formatCode>General</c:formatCode>
                <c:ptCount val="3"/>
                <c:pt idx="0">
                  <c:v>78</c:v>
                </c:pt>
                <c:pt idx="1">
                  <c:v>54</c:v>
                </c:pt>
                <c:pt idx="2">
                  <c:v>49</c:v>
                </c:pt>
              </c:numCache>
            </c:numRef>
          </c:val>
          <c:extLst>
            <c:ext xmlns:c16="http://schemas.microsoft.com/office/drawing/2014/chart" uri="{C3380CC4-5D6E-409C-BE32-E72D297353CC}">
              <c16:uniqueId val="{00000000-89FB-449D-9546-7ECE7501CD29}"/>
            </c:ext>
          </c:extLst>
        </c:ser>
        <c:ser>
          <c:idx val="1"/>
          <c:order val="1"/>
          <c:tx>
            <c:strRef>
              <c:f>Sheet1!$C$1</c:f>
              <c:strCache>
                <c:ptCount val="1"/>
                <c:pt idx="0">
                  <c:v>Briefing Scope</c:v>
                </c:pt>
              </c:strCache>
            </c:strRef>
          </c:tx>
          <c:invertIfNegative val="1"/>
          <c:cat>
            <c:strRef>
              <c:f>Sheet1!$A$2:$A$4</c:f>
              <c:strCache>
                <c:ptCount val="3"/>
                <c:pt idx="0">
                  <c:v>Signal</c:v>
                </c:pt>
                <c:pt idx="1">
                  <c:v>Pipeline</c:v>
                </c:pt>
                <c:pt idx="2">
                  <c:v>Waypoint</c:v>
                </c:pt>
              </c:strCache>
            </c:strRef>
          </c:cat>
          <c:val>
            <c:numRef>
              <c:f>Sheet1!$C$2:$C$4</c:f>
              <c:numCache>
                <c:formatCode>General</c:formatCode>
                <c:ptCount val="3"/>
                <c:pt idx="0">
                  <c:v>69</c:v>
                </c:pt>
                <c:pt idx="1">
                  <c:v>42</c:v>
                </c:pt>
                <c:pt idx="2">
                  <c:v>16</c:v>
                </c:pt>
              </c:numCache>
            </c:numRef>
          </c:val>
          <c:extLst>
            <c:ext xmlns:c16="http://schemas.microsoft.com/office/drawing/2014/chart" uri="{C3380CC4-5D6E-409C-BE32-E72D297353CC}">
              <c16:uniqueId val="{00000001-89FB-449D-9546-7ECE7501CD29}"/>
            </c:ext>
          </c:extLst>
        </c:ser>
        <c:ser>
          <c:idx val="2"/>
          <c:order val="2"/>
          <c:tx>
            <c:strRef>
              <c:f>Sheet1!$D$1</c:f>
              <c:strCache>
                <c:ptCount val="1"/>
                <c:pt idx="0">
                  <c:v>Blueprint Object</c:v>
                </c:pt>
              </c:strCache>
            </c:strRef>
          </c:tx>
          <c:invertIfNegative val="1"/>
          <c:cat>
            <c:strRef>
              <c:f>Sheet1!$A$2:$A$4</c:f>
              <c:strCache>
                <c:ptCount val="3"/>
                <c:pt idx="0">
                  <c:v>Signal</c:v>
                </c:pt>
                <c:pt idx="1">
                  <c:v>Pipeline</c:v>
                </c:pt>
                <c:pt idx="2">
                  <c:v>Waypoint</c:v>
                </c:pt>
              </c:strCache>
            </c:strRef>
          </c:cat>
          <c:val>
            <c:numRef>
              <c:f>Sheet1!$D$2:$D$4</c:f>
              <c:numCache>
                <c:formatCode>General</c:formatCode>
                <c:ptCount val="3"/>
                <c:pt idx="0">
                  <c:v>49</c:v>
                </c:pt>
                <c:pt idx="1">
                  <c:v>24</c:v>
                </c:pt>
                <c:pt idx="2">
                  <c:v>76</c:v>
                </c:pt>
              </c:numCache>
            </c:numRef>
          </c:val>
          <c:extLst>
            <c:ext xmlns:c16="http://schemas.microsoft.com/office/drawing/2014/chart" uri="{C3380CC4-5D6E-409C-BE32-E72D297353CC}">
              <c16:uniqueId val="{00000002-89FB-449D-9546-7ECE7501CD2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19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000"/>
              <a:t>State Surface Network Strategy Domain</a:t>
            </a:r>
          </a:p>
        </c:rich>
      </c:tx>
      <c:overlay val="0"/>
    </c:title>
    <c:autoTitleDeleted val="0"/>
    <c:plotArea>
      <c:layout/>
      <c:barChart>
        <c:barDir val="bar"/>
        <c:grouping val="clustered"/>
        <c:varyColors val="1"/>
        <c:ser>
          <c:idx val="0"/>
          <c:order val="0"/>
          <c:tx>
            <c:strRef>
              <c:f>Sheet1!$B$1</c:f>
              <c:strCache>
                <c:ptCount val="1"/>
                <c:pt idx="0">
                  <c:v>Column Catalog</c:v>
                </c:pt>
              </c:strCache>
            </c:strRef>
          </c:tx>
          <c:invertIfNegative val="1"/>
          <c:cat>
            <c:strRef>
              <c:f>Sheet1!$A$2:$A$6</c:f>
              <c:strCache>
                <c:ptCount val="5"/>
                <c:pt idx="0">
                  <c:v>Handle</c:v>
                </c:pt>
                <c:pt idx="1">
                  <c:v>Checkpoint</c:v>
                </c:pt>
                <c:pt idx="2">
                  <c:v>Orbit</c:v>
                </c:pt>
                <c:pt idx="3">
                  <c:v>Response</c:v>
                </c:pt>
                <c:pt idx="4">
                  <c:v>Output</c:v>
                </c:pt>
              </c:strCache>
            </c:strRef>
          </c:cat>
          <c:val>
            <c:numRef>
              <c:f>Sheet1!$B$2:$B$6</c:f>
              <c:numCache>
                <c:formatCode>General</c:formatCode>
                <c:ptCount val="5"/>
                <c:pt idx="0">
                  <c:v>41</c:v>
                </c:pt>
                <c:pt idx="1">
                  <c:v>61</c:v>
                </c:pt>
                <c:pt idx="2">
                  <c:v>37</c:v>
                </c:pt>
                <c:pt idx="3">
                  <c:v>42</c:v>
                </c:pt>
                <c:pt idx="4">
                  <c:v>35</c:v>
                </c:pt>
              </c:numCache>
            </c:numRef>
          </c:val>
          <c:extLst>
            <c:ext xmlns:c16="http://schemas.microsoft.com/office/drawing/2014/chart" uri="{C3380CC4-5D6E-409C-BE32-E72D297353CC}">
              <c16:uniqueId val="{00000000-863D-42C2-B944-8675EA4398FA}"/>
            </c:ext>
          </c:extLst>
        </c:ser>
        <c:ser>
          <c:idx val="1"/>
          <c:order val="1"/>
          <c:tx>
            <c:strRef>
              <c:f>Sheet1!$C$1</c:f>
              <c:strCache>
                <c:ptCount val="1"/>
                <c:pt idx="0">
                  <c:v>Channel</c:v>
                </c:pt>
              </c:strCache>
            </c:strRef>
          </c:tx>
          <c:invertIfNegative val="1"/>
          <c:cat>
            <c:strRef>
              <c:f>Sheet1!$A$2:$A$6</c:f>
              <c:strCache>
                <c:ptCount val="5"/>
                <c:pt idx="0">
                  <c:v>Handle</c:v>
                </c:pt>
                <c:pt idx="1">
                  <c:v>Checkpoint</c:v>
                </c:pt>
                <c:pt idx="2">
                  <c:v>Orbit</c:v>
                </c:pt>
                <c:pt idx="3">
                  <c:v>Response</c:v>
                </c:pt>
                <c:pt idx="4">
                  <c:v>Output</c:v>
                </c:pt>
              </c:strCache>
            </c:strRef>
          </c:cat>
          <c:val>
            <c:numRef>
              <c:f>Sheet1!$C$2:$C$6</c:f>
              <c:numCache>
                <c:formatCode>General</c:formatCode>
                <c:ptCount val="5"/>
                <c:pt idx="0">
                  <c:v>45</c:v>
                </c:pt>
                <c:pt idx="1">
                  <c:v>75</c:v>
                </c:pt>
                <c:pt idx="2">
                  <c:v>71</c:v>
                </c:pt>
                <c:pt idx="3">
                  <c:v>59</c:v>
                </c:pt>
                <c:pt idx="4">
                  <c:v>9</c:v>
                </c:pt>
              </c:numCache>
            </c:numRef>
          </c:val>
          <c:extLst>
            <c:ext xmlns:c16="http://schemas.microsoft.com/office/drawing/2014/chart" uri="{C3380CC4-5D6E-409C-BE32-E72D297353CC}">
              <c16:uniqueId val="{00000001-863D-42C2-B944-8675EA4398FA}"/>
            </c:ext>
          </c:extLst>
        </c:ser>
        <c:ser>
          <c:idx val="2"/>
          <c:order val="2"/>
          <c:tx>
            <c:strRef>
              <c:f>Sheet1!$D$1</c:f>
              <c:strCache>
                <c:ptCount val="1"/>
                <c:pt idx="0">
                  <c:v>Filter Format</c:v>
                </c:pt>
              </c:strCache>
            </c:strRef>
          </c:tx>
          <c:invertIfNegative val="1"/>
          <c:cat>
            <c:strRef>
              <c:f>Sheet1!$A$2:$A$6</c:f>
              <c:strCache>
                <c:ptCount val="5"/>
                <c:pt idx="0">
                  <c:v>Handle</c:v>
                </c:pt>
                <c:pt idx="1">
                  <c:v>Checkpoint</c:v>
                </c:pt>
                <c:pt idx="2">
                  <c:v>Orbit</c:v>
                </c:pt>
                <c:pt idx="3">
                  <c:v>Response</c:v>
                </c:pt>
                <c:pt idx="4">
                  <c:v>Output</c:v>
                </c:pt>
              </c:strCache>
            </c:strRef>
          </c:cat>
          <c:val>
            <c:numRef>
              <c:f>Sheet1!$D$2:$D$6</c:f>
              <c:numCache>
                <c:formatCode>General</c:formatCode>
                <c:ptCount val="5"/>
                <c:pt idx="0">
                  <c:v>30</c:v>
                </c:pt>
                <c:pt idx="1">
                  <c:v>93</c:v>
                </c:pt>
                <c:pt idx="2">
                  <c:v>13</c:v>
                </c:pt>
                <c:pt idx="3">
                  <c:v>23</c:v>
                </c:pt>
                <c:pt idx="4">
                  <c:v>40</c:v>
                </c:pt>
              </c:numCache>
            </c:numRef>
          </c:val>
          <c:extLst>
            <c:ext xmlns:c16="http://schemas.microsoft.com/office/drawing/2014/chart" uri="{C3380CC4-5D6E-409C-BE32-E72D297353CC}">
              <c16:uniqueId val="{00000002-863D-42C2-B944-8675EA4398F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9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Relay Surface Query Span Friction</a:t>
            </a:r>
          </a:p>
        </c:rich>
      </c:tx>
      <c:overlay val="0"/>
    </c:title>
    <c:autoTitleDeleted val="0"/>
    <c:plotArea>
      <c:layout/>
      <c:areaChart>
        <c:grouping val="standard"/>
        <c:varyColors val="0"/>
        <c:ser>
          <c:idx val="0"/>
          <c:order val="0"/>
          <c:tx>
            <c:strRef>
              <c:f>Sheet1!$B$1</c:f>
              <c:strCache>
                <c:ptCount val="1"/>
                <c:pt idx="0">
                  <c:v>Lineage</c:v>
                </c:pt>
              </c:strCache>
            </c:strRef>
          </c:tx>
          <c:cat>
            <c:strRef>
              <c:f>Sheet1!$A$2:$A$6</c:f>
              <c:strCache>
                <c:ptCount val="5"/>
                <c:pt idx="0">
                  <c:v>Column</c:v>
                </c:pt>
                <c:pt idx="1">
                  <c:v>Velocity</c:v>
                </c:pt>
                <c:pt idx="2">
                  <c:v>Position</c:v>
                </c:pt>
                <c:pt idx="3">
                  <c:v>Impact</c:v>
                </c:pt>
                <c:pt idx="4">
                  <c:v>Dashboard</c:v>
                </c:pt>
              </c:strCache>
            </c:strRef>
          </c:cat>
          <c:val>
            <c:numRef>
              <c:f>Sheet1!$B$2:$B$6</c:f>
              <c:numCache>
                <c:formatCode>General</c:formatCode>
                <c:ptCount val="5"/>
                <c:pt idx="0">
                  <c:v>16</c:v>
                </c:pt>
                <c:pt idx="1">
                  <c:v>80</c:v>
                </c:pt>
                <c:pt idx="2">
                  <c:v>55</c:v>
                </c:pt>
                <c:pt idx="3">
                  <c:v>18</c:v>
                </c:pt>
                <c:pt idx="4">
                  <c:v>63</c:v>
                </c:pt>
              </c:numCache>
            </c:numRef>
          </c:val>
          <c:extLst>
            <c:ext xmlns:c16="http://schemas.microsoft.com/office/drawing/2014/chart" uri="{C3380CC4-5D6E-409C-BE32-E72D297353CC}">
              <c16:uniqueId val="{00000000-2CC2-48B3-B31D-97BD3AB4B77D}"/>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plotVisOnly val="1"/>
    <c:dispBlanksAs val="zero"/>
    <c:showDLblsOverMax val="0"/>
  </c:chart>
  <c:txPr>
    <a:bodyPr/>
    <a:lstStyle/>
    <a:p>
      <a:pPr>
        <a:defRPr sz="1800"/>
      </a:pPr>
      <a:endParaRPr lang="en-US"/>
    </a:p>
  </c:txPr>
  <c:externalData r:id="rId1">
    <c:autoUpdate val="0"/>
  </c:externalData>
</c:chartSpace>
</file>

<file path=ppt/charts/chart19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Level Signal</c:v>
                </c:pt>
              </c:strCache>
            </c:strRef>
          </c:tx>
          <c:invertIfNegative val="1"/>
          <c:cat>
            <c:strRef>
              <c:f>Sheet1!$A$2:$A$6</c:f>
              <c:strCache>
                <c:ptCount val="5"/>
                <c:pt idx="0">
                  <c:v>Proof</c:v>
                </c:pt>
                <c:pt idx="1">
                  <c:v>Discovery</c:v>
                </c:pt>
                <c:pt idx="2">
                  <c:v>Narrative</c:v>
                </c:pt>
                <c:pt idx="3">
                  <c:v>Baseline</c:v>
                </c:pt>
                <c:pt idx="4">
                  <c:v>Node</c:v>
                </c:pt>
              </c:strCache>
            </c:strRef>
          </c:cat>
          <c:val>
            <c:numRef>
              <c:f>Sheet1!$B$2:$B$6</c:f>
              <c:numCache>
                <c:formatCode>General</c:formatCode>
                <c:ptCount val="5"/>
                <c:pt idx="0">
                  <c:v>40</c:v>
                </c:pt>
                <c:pt idx="1">
                  <c:v>27</c:v>
                </c:pt>
                <c:pt idx="2">
                  <c:v>83</c:v>
                </c:pt>
                <c:pt idx="3">
                  <c:v>30</c:v>
                </c:pt>
                <c:pt idx="4">
                  <c:v>75</c:v>
                </c:pt>
              </c:numCache>
            </c:numRef>
          </c:val>
          <c:extLst>
            <c:ext xmlns:c16="http://schemas.microsoft.com/office/drawing/2014/chart" uri="{C3380CC4-5D6E-409C-BE32-E72D297353CC}">
              <c16:uniqueId val="{00000000-644C-43F8-8E64-B83D35992631}"/>
            </c:ext>
          </c:extLst>
        </c:ser>
        <c:ser>
          <c:idx val="1"/>
          <c:order val="1"/>
          <c:tx>
            <c:strRef>
              <c:f>Sheet1!$C$1</c:f>
              <c:strCache>
                <c:ptCount val="1"/>
                <c:pt idx="0">
                  <c:v>Dispatch Density</c:v>
                </c:pt>
              </c:strCache>
            </c:strRef>
          </c:tx>
          <c:invertIfNegative val="1"/>
          <c:cat>
            <c:strRef>
              <c:f>Sheet1!$A$2:$A$6</c:f>
              <c:strCache>
                <c:ptCount val="5"/>
                <c:pt idx="0">
                  <c:v>Proof</c:v>
                </c:pt>
                <c:pt idx="1">
                  <c:v>Discovery</c:v>
                </c:pt>
                <c:pt idx="2">
                  <c:v>Narrative</c:v>
                </c:pt>
                <c:pt idx="3">
                  <c:v>Baseline</c:v>
                </c:pt>
                <c:pt idx="4">
                  <c:v>Node</c:v>
                </c:pt>
              </c:strCache>
            </c:strRef>
          </c:cat>
          <c:val>
            <c:numRef>
              <c:f>Sheet1!$C$2:$C$6</c:f>
              <c:numCache>
                <c:formatCode>General</c:formatCode>
                <c:ptCount val="5"/>
                <c:pt idx="0">
                  <c:v>81</c:v>
                </c:pt>
                <c:pt idx="1">
                  <c:v>92</c:v>
                </c:pt>
                <c:pt idx="2">
                  <c:v>94</c:v>
                </c:pt>
                <c:pt idx="3">
                  <c:v>80</c:v>
                </c:pt>
                <c:pt idx="4">
                  <c:v>81</c:v>
                </c:pt>
              </c:numCache>
            </c:numRef>
          </c:val>
          <c:extLst>
            <c:ext xmlns:c16="http://schemas.microsoft.com/office/drawing/2014/chart" uri="{C3380CC4-5D6E-409C-BE32-E72D297353CC}">
              <c16:uniqueId val="{00000001-644C-43F8-8E64-B83D35992631}"/>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legend>
      <c:legendPos val="r"/>
      <c:overlay val="1"/>
    </c:legend>
    <c:plotVisOnly val="1"/>
    <c:dispBlanksAs val="gap"/>
    <c:showDLblsOverMax val="1"/>
  </c:chart>
  <c:txPr>
    <a:bodyPr/>
    <a:lstStyle/>
    <a:p>
      <a:pPr>
        <a:defRPr sz="1800"/>
      </a:pPr>
      <a:endParaRPr lang="en-US"/>
    </a:p>
  </c:txPr>
  <c:externalData r:id="rId1">
    <c:autoUpdate val="0"/>
  </c:externalData>
</c:chartSpace>
</file>

<file path=ppt/charts/chart20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r>
              <a:rPr sz="1000"/>
              <a:t>Slice Library Template Viewport Core</a:t>
            </a:r>
          </a:p>
        </c:rich>
      </c:tx>
      <c:overlay val="0"/>
    </c:title>
    <c:autoTitleDeleted val="0"/>
    <c:plotArea>
      <c:layout/>
      <c:areaChart>
        <c:grouping val="standard"/>
        <c:varyColors val="0"/>
        <c:ser>
          <c:idx val="0"/>
          <c:order val="0"/>
          <c:tx>
            <c:strRef>
              <c:f>Sheet1!$B$1</c:f>
              <c:strCache>
                <c:ptCount val="1"/>
                <c:pt idx="0">
                  <c:v>Relay</c:v>
                </c:pt>
              </c:strCache>
            </c:strRef>
          </c:tx>
          <c:cat>
            <c:strRef>
              <c:f>Sheet1!$A$2:$A$7</c:f>
              <c:strCache>
                <c:ptCount val="6"/>
                <c:pt idx="0">
                  <c:v>Flow</c:v>
                </c:pt>
                <c:pt idx="1">
                  <c:v>Order</c:v>
                </c:pt>
                <c:pt idx="2">
                  <c:v>Bundle</c:v>
                </c:pt>
                <c:pt idx="3">
                  <c:v>Station</c:v>
                </c:pt>
                <c:pt idx="4">
                  <c:v>Dispatch</c:v>
                </c:pt>
                <c:pt idx="5">
                  <c:v>Discovery</c:v>
                </c:pt>
              </c:strCache>
            </c:strRef>
          </c:cat>
          <c:val>
            <c:numRef>
              <c:f>Sheet1!$B$2:$B$7</c:f>
              <c:numCache>
                <c:formatCode>General</c:formatCode>
                <c:ptCount val="6"/>
                <c:pt idx="0">
                  <c:v>53</c:v>
                </c:pt>
                <c:pt idx="1">
                  <c:v>91</c:v>
                </c:pt>
                <c:pt idx="2">
                  <c:v>87</c:v>
                </c:pt>
                <c:pt idx="3">
                  <c:v>95</c:v>
                </c:pt>
                <c:pt idx="4">
                  <c:v>85</c:v>
                </c:pt>
                <c:pt idx="5">
                  <c:v>12</c:v>
                </c:pt>
              </c:numCache>
            </c:numRef>
          </c:val>
          <c:extLst>
            <c:ext xmlns:c16="http://schemas.microsoft.com/office/drawing/2014/chart" uri="{C3380CC4-5D6E-409C-BE32-E72D297353CC}">
              <c16:uniqueId val="{00000000-808D-4D8E-AED1-C81E5C2FF408}"/>
            </c:ext>
          </c:extLst>
        </c:ser>
        <c:ser>
          <c:idx val="1"/>
          <c:order val="1"/>
          <c:tx>
            <c:strRef>
              <c:f>Sheet1!$C$1</c:f>
              <c:strCache>
                <c:ptCount val="1"/>
                <c:pt idx="0">
                  <c:v>Build Concept</c:v>
                </c:pt>
              </c:strCache>
            </c:strRef>
          </c:tx>
          <c:cat>
            <c:strRef>
              <c:f>Sheet1!$A$2:$A$7</c:f>
              <c:strCache>
                <c:ptCount val="6"/>
                <c:pt idx="0">
                  <c:v>Flow</c:v>
                </c:pt>
                <c:pt idx="1">
                  <c:v>Order</c:v>
                </c:pt>
                <c:pt idx="2">
                  <c:v>Bundle</c:v>
                </c:pt>
                <c:pt idx="3">
                  <c:v>Station</c:v>
                </c:pt>
                <c:pt idx="4">
                  <c:v>Dispatch</c:v>
                </c:pt>
                <c:pt idx="5">
                  <c:v>Discovery</c:v>
                </c:pt>
              </c:strCache>
            </c:strRef>
          </c:cat>
          <c:val>
            <c:numRef>
              <c:f>Sheet1!$C$2:$C$7</c:f>
              <c:numCache>
                <c:formatCode>General</c:formatCode>
                <c:ptCount val="6"/>
                <c:pt idx="0">
                  <c:v>43</c:v>
                </c:pt>
                <c:pt idx="1">
                  <c:v>29</c:v>
                </c:pt>
                <c:pt idx="2">
                  <c:v>34</c:v>
                </c:pt>
                <c:pt idx="3">
                  <c:v>61</c:v>
                </c:pt>
                <c:pt idx="4">
                  <c:v>88</c:v>
                </c:pt>
                <c:pt idx="5">
                  <c:v>57</c:v>
                </c:pt>
              </c:numCache>
            </c:numRef>
          </c:val>
          <c:extLst>
            <c:ext xmlns:c16="http://schemas.microsoft.com/office/drawing/2014/chart" uri="{C3380CC4-5D6E-409C-BE32-E72D297353CC}">
              <c16:uniqueId val="{00000001-808D-4D8E-AED1-C81E5C2FF408}"/>
            </c:ext>
          </c:extLst>
        </c:ser>
        <c:ser>
          <c:idx val="2"/>
          <c:order val="2"/>
          <c:tx>
            <c:strRef>
              <c:f>Sheet1!$D$1</c:f>
              <c:strCache>
                <c:ptCount val="1"/>
                <c:pt idx="0">
                  <c:v>Grid Response</c:v>
                </c:pt>
              </c:strCache>
            </c:strRef>
          </c:tx>
          <c:cat>
            <c:strRef>
              <c:f>Sheet1!$A$2:$A$7</c:f>
              <c:strCache>
                <c:ptCount val="6"/>
                <c:pt idx="0">
                  <c:v>Flow</c:v>
                </c:pt>
                <c:pt idx="1">
                  <c:v>Order</c:v>
                </c:pt>
                <c:pt idx="2">
                  <c:v>Bundle</c:v>
                </c:pt>
                <c:pt idx="3">
                  <c:v>Station</c:v>
                </c:pt>
                <c:pt idx="4">
                  <c:v>Dispatch</c:v>
                </c:pt>
                <c:pt idx="5">
                  <c:v>Discovery</c:v>
                </c:pt>
              </c:strCache>
            </c:strRef>
          </c:cat>
          <c:val>
            <c:numRef>
              <c:f>Sheet1!$D$2:$D$7</c:f>
              <c:numCache>
                <c:formatCode>General</c:formatCode>
                <c:ptCount val="6"/>
                <c:pt idx="0">
                  <c:v>57</c:v>
                </c:pt>
                <c:pt idx="1">
                  <c:v>18</c:v>
                </c:pt>
                <c:pt idx="2">
                  <c:v>82</c:v>
                </c:pt>
                <c:pt idx="3">
                  <c:v>25</c:v>
                </c:pt>
                <c:pt idx="4">
                  <c:v>81</c:v>
                </c:pt>
                <c:pt idx="5">
                  <c:v>83</c:v>
                </c:pt>
              </c:numCache>
            </c:numRef>
          </c:val>
          <c:extLst>
            <c:ext xmlns:c16="http://schemas.microsoft.com/office/drawing/2014/chart" uri="{C3380CC4-5D6E-409C-BE32-E72D297353CC}">
              <c16:uniqueId val="{00000002-808D-4D8E-AED1-C81E5C2FF408}"/>
            </c:ext>
          </c:extLst>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crossAx val="-2100718248"/>
        <c:crosses val="autoZero"/>
        <c:auto val="1"/>
        <c:lblAlgn val="ctr"/>
        <c:lblOffset val="100"/>
        <c:noMultiLvlLbl val="0"/>
      </c:catAx>
      <c:valAx>
        <c:axId val="-2100718248"/>
        <c:scaling>
          <c:orientation val="minMax"/>
        </c:scaling>
        <c:delete val="0"/>
        <c:axPos val="l"/>
        <c:majorGridlines/>
        <c:numFmt formatCode="General" sourceLinked="1"/>
        <c:majorTickMark val="out"/>
        <c:minorTickMark val="none"/>
        <c:tickLblPos val="nextTo"/>
        <c:crossAx val="-2101159928"/>
        <c:crosses val="autoZero"/>
        <c:crossBetween val="midCat"/>
      </c:valAx>
    </c:plotArea>
    <c:legend>
      <c:legendPos val="r"/>
      <c:overlay val="0"/>
    </c:legend>
    <c:plotVisOnly val="1"/>
    <c:dispBlanksAs val="zero"/>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chart" Target="../charts/chart8.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9.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chart" Target="../charts/chart10.xml"/></Relationships>
</file>

<file path=ppt/slides/_rels/slide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chart" Target="../charts/chart14.xml"/></Relationships>
</file>

<file path=ppt/slides/_rels/slide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chart" Target="../charts/chart16.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7.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chart" Target="../charts/chart18.xml"/></Relationships>
</file>

<file path=ppt/slides/_rels/slide10.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chart" Target="../charts/chart20.xml"/></Relationships>
</file>

<file path=ppt/slides/_rels/slide11.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chart" Target="../charts/char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23.xml"/><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chart" Target="../charts/chart24.xml"/></Relationships>
</file>

<file path=ppt/slides/_rels/slide13.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chart" Target="../charts/chart26.xml"/></Relationships>
</file>

<file path=ppt/slides/_rels/slide14.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chart" Target="../charts/chart28.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29.xml"/><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chart" Target="../charts/chart30.xml"/></Relationships>
</file>

<file path=ppt/slides/_rels/slide16.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chart" Target="../charts/chart32.xml"/></Relationships>
</file>

<file path=ppt/slides/_rels/slide17.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chart" Target="../charts/chart34.xml"/></Relationships>
</file>

<file path=ppt/slides/_rels/slide18.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chart" Target="../charts/chart36.xml"/></Relationships>
</file>

<file path=ppt/slides/_rels/slide19.xml.rels><?xml version="1.0" encoding="UTF-8" standalone="yes"?>
<Relationships xmlns="http://schemas.openxmlformats.org/package/2006/relationships"><Relationship Id="rId3" Type="http://schemas.openxmlformats.org/officeDocument/2006/relationships/chart" Target="../charts/chart38.xml"/><Relationship Id="rId2" Type="http://schemas.openxmlformats.org/officeDocument/2006/relationships/chart" Target="../charts/chart37.xml"/><Relationship Id="rId1" Type="http://schemas.openxmlformats.org/officeDocument/2006/relationships/slideLayout" Target="../slideLayouts/slideLayout7.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chart" Target="../charts/chart40.xml"/></Relationships>
</file>

<file path=ppt/slides/_rels/slide21.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7.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43.xml"/><Relationship Id="rId1" Type="http://schemas.openxmlformats.org/officeDocument/2006/relationships/slideLayout" Target="../slideLayouts/slideLayout7.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chart" Target="../charts/chart44.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45.xml"/><Relationship Id="rId1" Type="http://schemas.openxmlformats.org/officeDocument/2006/relationships/slideLayout" Target="../slideLayouts/slideLayout7.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chart" Target="../charts/chart46.xml"/></Relationships>
</file>

<file path=ppt/slides/_rels/slide24.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chart" Target="../charts/chart48.xml"/></Relationships>
</file>

<file path=ppt/slides/_rels/slide25.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50.svg"/><Relationship Id="rId4" Type="http://schemas.openxmlformats.org/officeDocument/2006/relationships/chart" Target="../charts/chart50.xml"/></Relationships>
</file>

<file path=ppt/slides/_rels/slide26.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53.svg"/><Relationship Id="rId5" Type="http://schemas.openxmlformats.org/officeDocument/2006/relationships/image" Target="../media/image52.svg"/><Relationship Id="rId4" Type="http://schemas.openxmlformats.org/officeDocument/2006/relationships/chart" Target="../charts/chart5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53.xml"/><Relationship Id="rId1" Type="http://schemas.openxmlformats.org/officeDocument/2006/relationships/slideLayout" Target="../slideLayouts/slideLayout7.xml"/><Relationship Id="rId6" Type="http://schemas.openxmlformats.org/officeDocument/2006/relationships/image" Target="../media/image55.svg"/><Relationship Id="rId5" Type="http://schemas.openxmlformats.org/officeDocument/2006/relationships/image" Target="../media/image54.svg"/><Relationship Id="rId4" Type="http://schemas.openxmlformats.org/officeDocument/2006/relationships/chart" Target="../charts/chart54.xml"/></Relationships>
</file>

<file path=ppt/slides/_rels/slide28.xml.rels><?xml version="1.0" encoding="UTF-8" standalone="yes"?>
<Relationships xmlns="http://schemas.openxmlformats.org/package/2006/relationships"><Relationship Id="rId3" Type="http://schemas.openxmlformats.org/officeDocument/2006/relationships/chart" Target="../charts/chart56.xml"/><Relationship Id="rId2" Type="http://schemas.openxmlformats.org/officeDocument/2006/relationships/chart" Target="../charts/chart55.xml"/><Relationship Id="rId1" Type="http://schemas.openxmlformats.org/officeDocument/2006/relationships/slideLayout" Target="../slideLayouts/slideLayout7.xml"/><Relationship Id="rId6" Type="http://schemas.openxmlformats.org/officeDocument/2006/relationships/image" Target="../media/image57.svg"/><Relationship Id="rId5" Type="http://schemas.openxmlformats.org/officeDocument/2006/relationships/image" Target="../media/image56.svg"/><Relationship Id="rId4" Type="http://schemas.openxmlformats.org/officeDocument/2006/relationships/image" Target="../media/image1.jp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57.xml"/><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svg"/><Relationship Id="rId4" Type="http://schemas.openxmlformats.org/officeDocument/2006/relationships/chart" Target="../charts/chart58.xml"/></Relationships>
</file>

<file path=ppt/slides/_rels/slide30.xml.rels><?xml version="1.0" encoding="UTF-8" standalone="yes"?>
<Relationships xmlns="http://schemas.openxmlformats.org/package/2006/relationships"><Relationship Id="rId3" Type="http://schemas.openxmlformats.org/officeDocument/2006/relationships/chart" Target="../charts/chart5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chart" Target="../charts/chart60.xml"/></Relationships>
</file>

<file path=ppt/slides/_rels/slide31.xml.rels><?xml version="1.0" encoding="UTF-8" standalone="yes"?>
<Relationships xmlns="http://schemas.openxmlformats.org/package/2006/relationships"><Relationship Id="rId3" Type="http://schemas.openxmlformats.org/officeDocument/2006/relationships/chart" Target="../charts/chart62.xml"/><Relationship Id="rId2" Type="http://schemas.openxmlformats.org/officeDocument/2006/relationships/chart" Target="../charts/chart61.xml"/><Relationship Id="rId1" Type="http://schemas.openxmlformats.org/officeDocument/2006/relationships/slideLayout" Target="../slideLayouts/slideLayout7.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1.jpg"/></Relationships>
</file>

<file path=ppt/slides/_rels/slide32.xml.rels><?xml version="1.0" encoding="UTF-8" standalone="yes"?>
<Relationships xmlns="http://schemas.openxmlformats.org/package/2006/relationships"><Relationship Id="rId3" Type="http://schemas.openxmlformats.org/officeDocument/2006/relationships/chart" Target="../charts/chart64.xml"/><Relationship Id="rId2" Type="http://schemas.openxmlformats.org/officeDocument/2006/relationships/chart" Target="../charts/chart63.xml"/><Relationship Id="rId1" Type="http://schemas.openxmlformats.org/officeDocument/2006/relationships/slideLayout" Target="../slideLayouts/slideLayout7.xml"/><Relationship Id="rId6" Type="http://schemas.openxmlformats.org/officeDocument/2006/relationships/image" Target="../media/image65.svg"/><Relationship Id="rId5" Type="http://schemas.openxmlformats.org/officeDocument/2006/relationships/image" Target="../media/image64.svg"/><Relationship Id="rId4" Type="http://schemas.openxmlformats.org/officeDocument/2006/relationships/image" Target="../media/image1.jpg"/></Relationships>
</file>

<file path=ppt/slides/_rels/slide33.xml.rels><?xml version="1.0" encoding="UTF-8" standalone="yes"?>
<Relationships xmlns="http://schemas.openxmlformats.org/package/2006/relationships"><Relationship Id="rId3" Type="http://schemas.openxmlformats.org/officeDocument/2006/relationships/chart" Target="../charts/chart6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7.svg"/><Relationship Id="rId5" Type="http://schemas.openxmlformats.org/officeDocument/2006/relationships/image" Target="../media/image66.svg"/><Relationship Id="rId4" Type="http://schemas.openxmlformats.org/officeDocument/2006/relationships/chart" Target="../charts/chart66.xml"/></Relationships>
</file>

<file path=ppt/slides/_rels/slide34.xml.rels><?xml version="1.0" encoding="UTF-8" standalone="yes"?>
<Relationships xmlns="http://schemas.openxmlformats.org/package/2006/relationships"><Relationship Id="rId3" Type="http://schemas.openxmlformats.org/officeDocument/2006/relationships/chart" Target="../charts/chart6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svg"/><Relationship Id="rId4" Type="http://schemas.openxmlformats.org/officeDocument/2006/relationships/chart" Target="../charts/chart68.xml"/></Relationships>
</file>

<file path=ppt/slides/_rels/slide35.xml.rels><?xml version="1.0" encoding="UTF-8" standalone="yes"?>
<Relationships xmlns="http://schemas.openxmlformats.org/package/2006/relationships"><Relationship Id="rId3" Type="http://schemas.openxmlformats.org/officeDocument/2006/relationships/chart" Target="../charts/chart6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chart" Target="../charts/chart70.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71.xml"/><Relationship Id="rId1" Type="http://schemas.openxmlformats.org/officeDocument/2006/relationships/slideLayout" Target="../slideLayouts/slideLayout7.xml"/><Relationship Id="rId6" Type="http://schemas.openxmlformats.org/officeDocument/2006/relationships/image" Target="../media/image73.svg"/><Relationship Id="rId5" Type="http://schemas.openxmlformats.org/officeDocument/2006/relationships/image" Target="../media/image72.svg"/><Relationship Id="rId4" Type="http://schemas.openxmlformats.org/officeDocument/2006/relationships/chart" Target="../charts/chart72.xml"/></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73.xml"/><Relationship Id="rId1" Type="http://schemas.openxmlformats.org/officeDocument/2006/relationships/slideLayout" Target="../slideLayouts/slideLayout7.xml"/><Relationship Id="rId6" Type="http://schemas.openxmlformats.org/officeDocument/2006/relationships/image" Target="../media/image75.svg"/><Relationship Id="rId5" Type="http://schemas.openxmlformats.org/officeDocument/2006/relationships/image" Target="../media/image74.svg"/><Relationship Id="rId4" Type="http://schemas.openxmlformats.org/officeDocument/2006/relationships/chart" Target="../charts/chart74.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75.xml"/><Relationship Id="rId1" Type="http://schemas.openxmlformats.org/officeDocument/2006/relationships/slideLayout" Target="../slideLayouts/slideLayout7.xml"/><Relationship Id="rId6" Type="http://schemas.openxmlformats.org/officeDocument/2006/relationships/image" Target="../media/image77.svg"/><Relationship Id="rId5" Type="http://schemas.openxmlformats.org/officeDocument/2006/relationships/image" Target="../media/image76.svg"/><Relationship Id="rId4" Type="http://schemas.openxmlformats.org/officeDocument/2006/relationships/chart" Target="../charts/chart76.xml"/></Relationships>
</file>

<file path=ppt/slides/_rels/slide39.xml.rels><?xml version="1.0" encoding="UTF-8" standalone="yes"?>
<Relationships xmlns="http://schemas.openxmlformats.org/package/2006/relationships"><Relationship Id="rId3" Type="http://schemas.openxmlformats.org/officeDocument/2006/relationships/chart" Target="../charts/chart7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79.svg"/><Relationship Id="rId5" Type="http://schemas.openxmlformats.org/officeDocument/2006/relationships/image" Target="../media/image78.svg"/><Relationship Id="rId4" Type="http://schemas.openxmlformats.org/officeDocument/2006/relationships/chart" Target="../charts/chart78.xml"/></Relationships>
</file>

<file path=ppt/slides/_rels/slide40.xml.rels><?xml version="1.0" encoding="UTF-8" standalone="yes"?>
<Relationships xmlns="http://schemas.openxmlformats.org/package/2006/relationships"><Relationship Id="rId3" Type="http://schemas.openxmlformats.org/officeDocument/2006/relationships/chart" Target="../charts/chart7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81.svg"/><Relationship Id="rId5" Type="http://schemas.openxmlformats.org/officeDocument/2006/relationships/image" Target="../media/image80.svg"/><Relationship Id="rId4" Type="http://schemas.openxmlformats.org/officeDocument/2006/relationships/chart" Target="../charts/chart80.xml"/></Relationships>
</file>

<file path=ppt/slides/_rels/slide41.xml.rels><?xml version="1.0" encoding="UTF-8" standalone="yes"?>
<Relationships xmlns="http://schemas.openxmlformats.org/package/2006/relationships"><Relationship Id="rId3" Type="http://schemas.openxmlformats.org/officeDocument/2006/relationships/chart" Target="../charts/chart82.xml"/><Relationship Id="rId2" Type="http://schemas.openxmlformats.org/officeDocument/2006/relationships/chart" Target="../charts/chart81.xml"/><Relationship Id="rId1" Type="http://schemas.openxmlformats.org/officeDocument/2006/relationships/slideLayout" Target="../slideLayouts/slideLayout7.xml"/><Relationship Id="rId6" Type="http://schemas.openxmlformats.org/officeDocument/2006/relationships/image" Target="../media/image83.svg"/><Relationship Id="rId5" Type="http://schemas.openxmlformats.org/officeDocument/2006/relationships/image" Target="../media/image82.svg"/><Relationship Id="rId4" Type="http://schemas.openxmlformats.org/officeDocument/2006/relationships/image" Target="../media/image1.jpg"/></Relationships>
</file>

<file path=ppt/slides/_rels/slide42.xml.rels><?xml version="1.0" encoding="UTF-8" standalone="yes"?>
<Relationships xmlns="http://schemas.openxmlformats.org/package/2006/relationships"><Relationship Id="rId3" Type="http://schemas.openxmlformats.org/officeDocument/2006/relationships/chart" Target="../charts/chart8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85.svg"/><Relationship Id="rId5" Type="http://schemas.openxmlformats.org/officeDocument/2006/relationships/image" Target="../media/image84.svg"/><Relationship Id="rId4" Type="http://schemas.openxmlformats.org/officeDocument/2006/relationships/chart" Target="../charts/chart84.xml"/></Relationships>
</file>

<file path=ppt/slides/_rels/slide43.xml.rels><?xml version="1.0" encoding="UTF-8" standalone="yes"?>
<Relationships xmlns="http://schemas.openxmlformats.org/package/2006/relationships"><Relationship Id="rId3" Type="http://schemas.openxmlformats.org/officeDocument/2006/relationships/chart" Target="../charts/chart8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87.svg"/><Relationship Id="rId5" Type="http://schemas.openxmlformats.org/officeDocument/2006/relationships/image" Target="../media/image86.svg"/><Relationship Id="rId4" Type="http://schemas.openxmlformats.org/officeDocument/2006/relationships/chart" Target="../charts/chart86.xml"/></Relationships>
</file>

<file path=ppt/slides/_rels/slide4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87.xml"/><Relationship Id="rId1" Type="http://schemas.openxmlformats.org/officeDocument/2006/relationships/slideLayout" Target="../slideLayouts/slideLayout7.xml"/><Relationship Id="rId6" Type="http://schemas.openxmlformats.org/officeDocument/2006/relationships/image" Target="../media/image89.svg"/><Relationship Id="rId5" Type="http://schemas.openxmlformats.org/officeDocument/2006/relationships/image" Target="../media/image88.svg"/><Relationship Id="rId4" Type="http://schemas.openxmlformats.org/officeDocument/2006/relationships/chart" Target="../charts/chart88.xml"/></Relationships>
</file>

<file path=ppt/slides/_rels/slide45.xml.rels><?xml version="1.0" encoding="UTF-8" standalone="yes"?>
<Relationships xmlns="http://schemas.openxmlformats.org/package/2006/relationships"><Relationship Id="rId3" Type="http://schemas.openxmlformats.org/officeDocument/2006/relationships/chart" Target="../charts/chart8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91.svg"/><Relationship Id="rId5" Type="http://schemas.openxmlformats.org/officeDocument/2006/relationships/image" Target="../media/image90.svg"/><Relationship Id="rId4" Type="http://schemas.openxmlformats.org/officeDocument/2006/relationships/chart" Target="../charts/chart90.xml"/></Relationships>
</file>

<file path=ppt/slides/_rels/slide46.xml.rels><?xml version="1.0" encoding="UTF-8" standalone="yes"?>
<Relationships xmlns="http://schemas.openxmlformats.org/package/2006/relationships"><Relationship Id="rId3" Type="http://schemas.openxmlformats.org/officeDocument/2006/relationships/chart" Target="../charts/chart9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93.svg"/><Relationship Id="rId5" Type="http://schemas.openxmlformats.org/officeDocument/2006/relationships/image" Target="../media/image92.svg"/><Relationship Id="rId4" Type="http://schemas.openxmlformats.org/officeDocument/2006/relationships/chart" Target="../charts/chart92.xml"/></Relationships>
</file>

<file path=ppt/slides/_rels/slide47.xml.rels><?xml version="1.0" encoding="UTF-8" standalone="yes"?>
<Relationships xmlns="http://schemas.openxmlformats.org/package/2006/relationships"><Relationship Id="rId3" Type="http://schemas.openxmlformats.org/officeDocument/2006/relationships/chart" Target="../charts/chart9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95.svg"/><Relationship Id="rId5" Type="http://schemas.openxmlformats.org/officeDocument/2006/relationships/image" Target="../media/image94.svg"/><Relationship Id="rId4" Type="http://schemas.openxmlformats.org/officeDocument/2006/relationships/chart" Target="../charts/chart94.xml"/></Relationships>
</file>

<file path=ppt/slides/_rels/slide48.xml.rels><?xml version="1.0" encoding="UTF-8" standalone="yes"?>
<Relationships xmlns="http://schemas.openxmlformats.org/package/2006/relationships"><Relationship Id="rId3" Type="http://schemas.openxmlformats.org/officeDocument/2006/relationships/chart" Target="../charts/chart9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97.svg"/><Relationship Id="rId5" Type="http://schemas.openxmlformats.org/officeDocument/2006/relationships/image" Target="../media/image96.svg"/><Relationship Id="rId4" Type="http://schemas.openxmlformats.org/officeDocument/2006/relationships/chart" Target="../charts/chart96.xml"/></Relationships>
</file>

<file path=ppt/slides/_rels/slide4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97.xml"/><Relationship Id="rId1" Type="http://schemas.openxmlformats.org/officeDocument/2006/relationships/slideLayout" Target="../slideLayouts/slideLayout7.xml"/><Relationship Id="rId6" Type="http://schemas.openxmlformats.org/officeDocument/2006/relationships/image" Target="../media/image99.svg"/><Relationship Id="rId5" Type="http://schemas.openxmlformats.org/officeDocument/2006/relationships/image" Target="../media/image98.svg"/><Relationship Id="rId4" Type="http://schemas.openxmlformats.org/officeDocument/2006/relationships/chart" Target="../charts/chart98.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99.xml"/><Relationship Id="rId1" Type="http://schemas.openxmlformats.org/officeDocument/2006/relationships/slideLayout" Target="../slideLayouts/slideLayout7.xml"/><Relationship Id="rId6" Type="http://schemas.openxmlformats.org/officeDocument/2006/relationships/image" Target="../media/image101.svg"/><Relationship Id="rId5" Type="http://schemas.openxmlformats.org/officeDocument/2006/relationships/image" Target="../media/image100.svg"/><Relationship Id="rId4" Type="http://schemas.openxmlformats.org/officeDocument/2006/relationships/chart" Target="../charts/chart100.xml"/></Relationships>
</file>

<file path=ppt/slides/_rels/slide5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01.xml"/><Relationship Id="rId1" Type="http://schemas.openxmlformats.org/officeDocument/2006/relationships/slideLayout" Target="../slideLayouts/slideLayout7.xml"/><Relationship Id="rId6" Type="http://schemas.openxmlformats.org/officeDocument/2006/relationships/image" Target="../media/image103.svg"/><Relationship Id="rId5" Type="http://schemas.openxmlformats.org/officeDocument/2006/relationships/image" Target="../media/image102.svg"/><Relationship Id="rId4" Type="http://schemas.openxmlformats.org/officeDocument/2006/relationships/chart" Target="../charts/chart102.xml"/></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03.xml"/><Relationship Id="rId1" Type="http://schemas.openxmlformats.org/officeDocument/2006/relationships/slideLayout" Target="../slideLayouts/slideLayout7.xml"/><Relationship Id="rId6" Type="http://schemas.openxmlformats.org/officeDocument/2006/relationships/image" Target="../media/image105.svg"/><Relationship Id="rId5" Type="http://schemas.openxmlformats.org/officeDocument/2006/relationships/image" Target="../media/image104.svg"/><Relationship Id="rId4" Type="http://schemas.openxmlformats.org/officeDocument/2006/relationships/chart" Target="../charts/chart104.xml"/></Relationships>
</file>

<file path=ppt/slides/_rels/slide53.xml.rels><?xml version="1.0" encoding="UTF-8" standalone="yes"?>
<Relationships xmlns="http://schemas.openxmlformats.org/package/2006/relationships"><Relationship Id="rId3" Type="http://schemas.openxmlformats.org/officeDocument/2006/relationships/chart" Target="../charts/chart106.xml"/><Relationship Id="rId2" Type="http://schemas.openxmlformats.org/officeDocument/2006/relationships/chart" Target="../charts/chart105.xml"/><Relationship Id="rId1" Type="http://schemas.openxmlformats.org/officeDocument/2006/relationships/slideLayout" Target="../slideLayouts/slideLayout7.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jpg"/></Relationships>
</file>

<file path=ppt/slides/_rels/slide54.xml.rels><?xml version="1.0" encoding="UTF-8" standalone="yes"?>
<Relationships xmlns="http://schemas.openxmlformats.org/package/2006/relationships"><Relationship Id="rId3" Type="http://schemas.openxmlformats.org/officeDocument/2006/relationships/chart" Target="../charts/chart10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09.svg"/><Relationship Id="rId5" Type="http://schemas.openxmlformats.org/officeDocument/2006/relationships/image" Target="../media/image108.svg"/><Relationship Id="rId4" Type="http://schemas.openxmlformats.org/officeDocument/2006/relationships/chart" Target="../charts/chart108.xml"/></Relationships>
</file>

<file path=ppt/slides/_rels/slide55.xml.rels><?xml version="1.0" encoding="UTF-8" standalone="yes"?>
<Relationships xmlns="http://schemas.openxmlformats.org/package/2006/relationships"><Relationship Id="rId3" Type="http://schemas.openxmlformats.org/officeDocument/2006/relationships/chart" Target="../charts/chart10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11.svg"/><Relationship Id="rId5" Type="http://schemas.openxmlformats.org/officeDocument/2006/relationships/image" Target="../media/image110.svg"/><Relationship Id="rId4" Type="http://schemas.openxmlformats.org/officeDocument/2006/relationships/chart" Target="../charts/chart110.xml"/></Relationships>
</file>

<file path=ppt/slides/_rels/slide56.xml.rels><?xml version="1.0" encoding="UTF-8" standalone="yes"?>
<Relationships xmlns="http://schemas.openxmlformats.org/package/2006/relationships"><Relationship Id="rId3" Type="http://schemas.openxmlformats.org/officeDocument/2006/relationships/chart" Target="../charts/chart11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13.svg"/><Relationship Id="rId5" Type="http://schemas.openxmlformats.org/officeDocument/2006/relationships/image" Target="../media/image112.svg"/><Relationship Id="rId4" Type="http://schemas.openxmlformats.org/officeDocument/2006/relationships/chart" Target="../charts/chart112.xml"/></Relationships>
</file>

<file path=ppt/slides/_rels/slide57.xml.rels><?xml version="1.0" encoding="UTF-8" standalone="yes"?>
<Relationships xmlns="http://schemas.openxmlformats.org/package/2006/relationships"><Relationship Id="rId3" Type="http://schemas.openxmlformats.org/officeDocument/2006/relationships/chart" Target="../charts/chart11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15.svg"/><Relationship Id="rId5" Type="http://schemas.openxmlformats.org/officeDocument/2006/relationships/image" Target="../media/image114.svg"/><Relationship Id="rId4" Type="http://schemas.openxmlformats.org/officeDocument/2006/relationships/chart" Target="../charts/chart114.xml"/></Relationships>
</file>

<file path=ppt/slides/_rels/slide58.xml.rels><?xml version="1.0" encoding="UTF-8" standalone="yes"?>
<Relationships xmlns="http://schemas.openxmlformats.org/package/2006/relationships"><Relationship Id="rId3" Type="http://schemas.openxmlformats.org/officeDocument/2006/relationships/chart" Target="../charts/chart11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17.svg"/><Relationship Id="rId5" Type="http://schemas.openxmlformats.org/officeDocument/2006/relationships/image" Target="../media/image116.svg"/><Relationship Id="rId4" Type="http://schemas.openxmlformats.org/officeDocument/2006/relationships/chart" Target="../charts/chart116.xml"/></Relationships>
</file>

<file path=ppt/slides/_rels/slide5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17.xml"/><Relationship Id="rId1" Type="http://schemas.openxmlformats.org/officeDocument/2006/relationships/slideLayout" Target="../slideLayouts/slideLayout7.xml"/><Relationship Id="rId6" Type="http://schemas.openxmlformats.org/officeDocument/2006/relationships/image" Target="../media/image119.svg"/><Relationship Id="rId5" Type="http://schemas.openxmlformats.org/officeDocument/2006/relationships/image" Target="../media/image118.svg"/><Relationship Id="rId4" Type="http://schemas.openxmlformats.org/officeDocument/2006/relationships/chart" Target="../charts/chart118.xml"/></Relationships>
</file>

<file path=ppt/slides/_rels/slide6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19.xml"/><Relationship Id="rId1" Type="http://schemas.openxmlformats.org/officeDocument/2006/relationships/slideLayout" Target="../slideLayouts/slideLayout7.xml"/><Relationship Id="rId6" Type="http://schemas.openxmlformats.org/officeDocument/2006/relationships/image" Target="../media/image121.svg"/><Relationship Id="rId5" Type="http://schemas.openxmlformats.org/officeDocument/2006/relationships/image" Target="../media/image120.svg"/><Relationship Id="rId4" Type="http://schemas.openxmlformats.org/officeDocument/2006/relationships/chart" Target="../charts/chart120.xml"/></Relationships>
</file>

<file path=ppt/slides/_rels/slide61.xml.rels><?xml version="1.0" encoding="UTF-8" standalone="yes"?>
<Relationships xmlns="http://schemas.openxmlformats.org/package/2006/relationships"><Relationship Id="rId3" Type="http://schemas.openxmlformats.org/officeDocument/2006/relationships/chart" Target="../charts/chart12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23.svg"/><Relationship Id="rId5" Type="http://schemas.openxmlformats.org/officeDocument/2006/relationships/image" Target="../media/image122.svg"/><Relationship Id="rId4" Type="http://schemas.openxmlformats.org/officeDocument/2006/relationships/chart" Target="../charts/chart122.xml"/></Relationships>
</file>

<file path=ppt/slides/_rels/slide62.xml.rels><?xml version="1.0" encoding="UTF-8" standalone="yes"?>
<Relationships xmlns="http://schemas.openxmlformats.org/package/2006/relationships"><Relationship Id="rId3" Type="http://schemas.openxmlformats.org/officeDocument/2006/relationships/chart" Target="../charts/chart12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25.svg"/><Relationship Id="rId5" Type="http://schemas.openxmlformats.org/officeDocument/2006/relationships/image" Target="../media/image124.svg"/><Relationship Id="rId4" Type="http://schemas.openxmlformats.org/officeDocument/2006/relationships/chart" Target="../charts/chart124.xml"/></Relationships>
</file>

<file path=ppt/slides/_rels/slide63.xml.rels><?xml version="1.0" encoding="UTF-8" standalone="yes"?>
<Relationships xmlns="http://schemas.openxmlformats.org/package/2006/relationships"><Relationship Id="rId3" Type="http://schemas.openxmlformats.org/officeDocument/2006/relationships/chart" Target="../charts/chart12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27.svg"/><Relationship Id="rId5" Type="http://schemas.openxmlformats.org/officeDocument/2006/relationships/image" Target="../media/image126.svg"/><Relationship Id="rId4" Type="http://schemas.openxmlformats.org/officeDocument/2006/relationships/chart" Target="../charts/chart126.xml"/></Relationships>
</file>

<file path=ppt/slides/_rels/slide6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27.xml"/><Relationship Id="rId1" Type="http://schemas.openxmlformats.org/officeDocument/2006/relationships/slideLayout" Target="../slideLayouts/slideLayout7.xml"/><Relationship Id="rId6" Type="http://schemas.openxmlformats.org/officeDocument/2006/relationships/image" Target="../media/image129.svg"/><Relationship Id="rId5" Type="http://schemas.openxmlformats.org/officeDocument/2006/relationships/image" Target="../media/image128.svg"/><Relationship Id="rId4" Type="http://schemas.openxmlformats.org/officeDocument/2006/relationships/chart" Target="../charts/chart128.xml"/></Relationships>
</file>

<file path=ppt/slides/_rels/slide65.xml.rels><?xml version="1.0" encoding="UTF-8" standalone="yes"?>
<Relationships xmlns="http://schemas.openxmlformats.org/package/2006/relationships"><Relationship Id="rId3" Type="http://schemas.openxmlformats.org/officeDocument/2006/relationships/chart" Target="../charts/chart12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31.svg"/><Relationship Id="rId5" Type="http://schemas.openxmlformats.org/officeDocument/2006/relationships/image" Target="../media/image130.svg"/><Relationship Id="rId4" Type="http://schemas.openxmlformats.org/officeDocument/2006/relationships/chart" Target="../charts/chart130.xml"/></Relationships>
</file>

<file path=ppt/slides/_rels/slide66.xml.rels><?xml version="1.0" encoding="UTF-8" standalone="yes"?>
<Relationships xmlns="http://schemas.openxmlformats.org/package/2006/relationships"><Relationship Id="rId3" Type="http://schemas.openxmlformats.org/officeDocument/2006/relationships/chart" Target="../charts/chart13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33.svg"/><Relationship Id="rId5" Type="http://schemas.openxmlformats.org/officeDocument/2006/relationships/image" Target="../media/image132.svg"/><Relationship Id="rId4" Type="http://schemas.openxmlformats.org/officeDocument/2006/relationships/chart" Target="../charts/chart132.xml"/></Relationships>
</file>

<file path=ppt/slides/_rels/slide67.xml.rels><?xml version="1.0" encoding="UTF-8" standalone="yes"?>
<Relationships xmlns="http://schemas.openxmlformats.org/package/2006/relationships"><Relationship Id="rId3" Type="http://schemas.openxmlformats.org/officeDocument/2006/relationships/chart" Target="../charts/chart13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35.svg"/><Relationship Id="rId5" Type="http://schemas.openxmlformats.org/officeDocument/2006/relationships/image" Target="../media/image134.svg"/><Relationship Id="rId4" Type="http://schemas.openxmlformats.org/officeDocument/2006/relationships/chart" Target="../charts/chart134.xml"/></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35.xml"/><Relationship Id="rId1" Type="http://schemas.openxmlformats.org/officeDocument/2006/relationships/slideLayout" Target="../slideLayouts/slideLayout7.xml"/><Relationship Id="rId6" Type="http://schemas.openxmlformats.org/officeDocument/2006/relationships/image" Target="../media/image137.svg"/><Relationship Id="rId5" Type="http://schemas.openxmlformats.org/officeDocument/2006/relationships/image" Target="../media/image136.svg"/><Relationship Id="rId4" Type="http://schemas.openxmlformats.org/officeDocument/2006/relationships/chart" Target="../charts/chart136.xml"/></Relationships>
</file>

<file path=ppt/slides/_rels/slide6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37.xml"/><Relationship Id="rId1" Type="http://schemas.openxmlformats.org/officeDocument/2006/relationships/slideLayout" Target="../slideLayouts/slideLayout7.xml"/><Relationship Id="rId6" Type="http://schemas.openxmlformats.org/officeDocument/2006/relationships/image" Target="../media/image139.svg"/><Relationship Id="rId5" Type="http://schemas.openxmlformats.org/officeDocument/2006/relationships/image" Target="../media/image138.svg"/><Relationship Id="rId4" Type="http://schemas.openxmlformats.org/officeDocument/2006/relationships/chart" Target="../charts/chart138.xml"/></Relationships>
</file>

<file path=ppt/slides/_rels/slide70.xml.rels><?xml version="1.0" encoding="UTF-8" standalone="yes"?>
<Relationships xmlns="http://schemas.openxmlformats.org/package/2006/relationships"><Relationship Id="rId3" Type="http://schemas.openxmlformats.org/officeDocument/2006/relationships/chart" Target="../charts/chart13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41.svg"/><Relationship Id="rId5" Type="http://schemas.openxmlformats.org/officeDocument/2006/relationships/image" Target="../media/image140.svg"/><Relationship Id="rId4" Type="http://schemas.openxmlformats.org/officeDocument/2006/relationships/chart" Target="../charts/chart140.xml"/></Relationships>
</file>

<file path=ppt/slides/_rels/slide71.xml.rels><?xml version="1.0" encoding="UTF-8" standalone="yes"?>
<Relationships xmlns="http://schemas.openxmlformats.org/package/2006/relationships"><Relationship Id="rId3" Type="http://schemas.openxmlformats.org/officeDocument/2006/relationships/chart" Target="../charts/chart14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43.svg"/><Relationship Id="rId5" Type="http://schemas.openxmlformats.org/officeDocument/2006/relationships/image" Target="../media/image142.svg"/><Relationship Id="rId4" Type="http://schemas.openxmlformats.org/officeDocument/2006/relationships/chart" Target="../charts/chart142.xml"/></Relationships>
</file>

<file path=ppt/slides/_rels/slide72.xml.rels><?xml version="1.0" encoding="UTF-8" standalone="yes"?>
<Relationships xmlns="http://schemas.openxmlformats.org/package/2006/relationships"><Relationship Id="rId3" Type="http://schemas.openxmlformats.org/officeDocument/2006/relationships/chart" Target="../charts/chart14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45.svg"/><Relationship Id="rId5" Type="http://schemas.openxmlformats.org/officeDocument/2006/relationships/image" Target="../media/image144.svg"/><Relationship Id="rId4" Type="http://schemas.openxmlformats.org/officeDocument/2006/relationships/chart" Target="../charts/chart144.xml"/></Relationships>
</file>

<file path=ppt/slides/_rels/slide7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45.xml"/><Relationship Id="rId1" Type="http://schemas.openxmlformats.org/officeDocument/2006/relationships/slideLayout" Target="../slideLayouts/slideLayout7.xml"/><Relationship Id="rId6" Type="http://schemas.openxmlformats.org/officeDocument/2006/relationships/image" Target="../media/image147.svg"/><Relationship Id="rId5" Type="http://schemas.openxmlformats.org/officeDocument/2006/relationships/image" Target="../media/image146.svg"/><Relationship Id="rId4" Type="http://schemas.openxmlformats.org/officeDocument/2006/relationships/chart" Target="../charts/chart146.xml"/></Relationships>
</file>

<file path=ppt/slides/_rels/slide74.xml.rels><?xml version="1.0" encoding="UTF-8" standalone="yes"?>
<Relationships xmlns="http://schemas.openxmlformats.org/package/2006/relationships"><Relationship Id="rId3" Type="http://schemas.openxmlformats.org/officeDocument/2006/relationships/chart" Target="../charts/chart14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49.svg"/><Relationship Id="rId5" Type="http://schemas.openxmlformats.org/officeDocument/2006/relationships/image" Target="../media/image148.svg"/><Relationship Id="rId4" Type="http://schemas.openxmlformats.org/officeDocument/2006/relationships/chart" Target="../charts/chart148.xml"/></Relationships>
</file>

<file path=ppt/slides/_rels/slide75.xml.rels><?xml version="1.0" encoding="UTF-8" standalone="yes"?>
<Relationships xmlns="http://schemas.openxmlformats.org/package/2006/relationships"><Relationship Id="rId3" Type="http://schemas.openxmlformats.org/officeDocument/2006/relationships/chart" Target="../charts/chart14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51.svg"/><Relationship Id="rId5" Type="http://schemas.openxmlformats.org/officeDocument/2006/relationships/image" Target="../media/image150.svg"/><Relationship Id="rId4" Type="http://schemas.openxmlformats.org/officeDocument/2006/relationships/chart" Target="../charts/chart150.xml"/></Relationships>
</file>

<file path=ppt/slides/_rels/slide7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51.xml"/><Relationship Id="rId1" Type="http://schemas.openxmlformats.org/officeDocument/2006/relationships/slideLayout" Target="../slideLayouts/slideLayout7.xml"/><Relationship Id="rId6" Type="http://schemas.openxmlformats.org/officeDocument/2006/relationships/image" Target="../media/image153.svg"/><Relationship Id="rId5" Type="http://schemas.openxmlformats.org/officeDocument/2006/relationships/image" Target="../media/image152.svg"/><Relationship Id="rId4" Type="http://schemas.openxmlformats.org/officeDocument/2006/relationships/chart" Target="../charts/chart152.xml"/></Relationships>
</file>

<file path=ppt/slides/_rels/slide7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53.xml"/><Relationship Id="rId1" Type="http://schemas.openxmlformats.org/officeDocument/2006/relationships/slideLayout" Target="../slideLayouts/slideLayout7.xml"/><Relationship Id="rId6" Type="http://schemas.openxmlformats.org/officeDocument/2006/relationships/image" Target="../media/image155.svg"/><Relationship Id="rId5" Type="http://schemas.openxmlformats.org/officeDocument/2006/relationships/image" Target="../media/image154.svg"/><Relationship Id="rId4" Type="http://schemas.openxmlformats.org/officeDocument/2006/relationships/chart" Target="../charts/chart154.xml"/></Relationships>
</file>

<file path=ppt/slides/_rels/slide78.xml.rels><?xml version="1.0" encoding="UTF-8" standalone="yes"?>
<Relationships xmlns="http://schemas.openxmlformats.org/package/2006/relationships"><Relationship Id="rId3" Type="http://schemas.openxmlformats.org/officeDocument/2006/relationships/chart" Target="../charts/chart15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57.svg"/><Relationship Id="rId5" Type="http://schemas.openxmlformats.org/officeDocument/2006/relationships/image" Target="../media/image156.svg"/><Relationship Id="rId4" Type="http://schemas.openxmlformats.org/officeDocument/2006/relationships/chart" Target="../charts/chart156.xml"/></Relationships>
</file>

<file path=ppt/slides/_rels/slide79.xml.rels><?xml version="1.0" encoding="UTF-8" standalone="yes"?>
<Relationships xmlns="http://schemas.openxmlformats.org/package/2006/relationships"><Relationship Id="rId3" Type="http://schemas.openxmlformats.org/officeDocument/2006/relationships/chart" Target="../charts/chart15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59.svg"/><Relationship Id="rId5" Type="http://schemas.openxmlformats.org/officeDocument/2006/relationships/image" Target="../media/image158.svg"/><Relationship Id="rId4" Type="http://schemas.openxmlformats.org/officeDocument/2006/relationships/chart" Target="../charts/chart158.xml"/></Relationships>
</file>

<file path=ppt/slides/_rels/slide80.xml.rels><?xml version="1.0" encoding="UTF-8" standalone="yes"?>
<Relationships xmlns="http://schemas.openxmlformats.org/package/2006/relationships"><Relationship Id="rId3" Type="http://schemas.openxmlformats.org/officeDocument/2006/relationships/chart" Target="../charts/chart15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61.svg"/><Relationship Id="rId5" Type="http://schemas.openxmlformats.org/officeDocument/2006/relationships/image" Target="../media/image160.svg"/><Relationship Id="rId4" Type="http://schemas.openxmlformats.org/officeDocument/2006/relationships/chart" Target="../charts/chart160.xml"/></Relationships>
</file>

<file path=ppt/slides/_rels/slide81.xml.rels><?xml version="1.0" encoding="UTF-8" standalone="yes"?>
<Relationships xmlns="http://schemas.openxmlformats.org/package/2006/relationships"><Relationship Id="rId3" Type="http://schemas.openxmlformats.org/officeDocument/2006/relationships/chart" Target="../charts/chart16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63.svg"/><Relationship Id="rId5" Type="http://schemas.openxmlformats.org/officeDocument/2006/relationships/image" Target="../media/image162.svg"/><Relationship Id="rId4" Type="http://schemas.openxmlformats.org/officeDocument/2006/relationships/chart" Target="../charts/chart162.xml"/></Relationships>
</file>

<file path=ppt/slides/_rels/slide82.xml.rels><?xml version="1.0" encoding="UTF-8" standalone="yes"?>
<Relationships xmlns="http://schemas.openxmlformats.org/package/2006/relationships"><Relationship Id="rId3" Type="http://schemas.openxmlformats.org/officeDocument/2006/relationships/chart" Target="../charts/chart16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65.svg"/><Relationship Id="rId5" Type="http://schemas.openxmlformats.org/officeDocument/2006/relationships/image" Target="../media/image164.svg"/><Relationship Id="rId4" Type="http://schemas.openxmlformats.org/officeDocument/2006/relationships/chart" Target="../charts/chart164.xml"/></Relationships>
</file>

<file path=ppt/slides/_rels/slide8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65.xml"/><Relationship Id="rId1" Type="http://schemas.openxmlformats.org/officeDocument/2006/relationships/slideLayout" Target="../slideLayouts/slideLayout7.xml"/><Relationship Id="rId6" Type="http://schemas.openxmlformats.org/officeDocument/2006/relationships/image" Target="../media/image167.svg"/><Relationship Id="rId5" Type="http://schemas.openxmlformats.org/officeDocument/2006/relationships/image" Target="../media/image166.svg"/><Relationship Id="rId4" Type="http://schemas.openxmlformats.org/officeDocument/2006/relationships/chart" Target="../charts/chart166.xml"/></Relationships>
</file>

<file path=ppt/slides/_rels/slide84.xml.rels><?xml version="1.0" encoding="UTF-8" standalone="yes"?>
<Relationships xmlns="http://schemas.openxmlformats.org/package/2006/relationships"><Relationship Id="rId3" Type="http://schemas.openxmlformats.org/officeDocument/2006/relationships/chart" Target="../charts/chart16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69.svg"/><Relationship Id="rId5" Type="http://schemas.openxmlformats.org/officeDocument/2006/relationships/image" Target="../media/image168.svg"/><Relationship Id="rId4" Type="http://schemas.openxmlformats.org/officeDocument/2006/relationships/chart" Target="../charts/chart168.xml"/></Relationships>
</file>

<file path=ppt/slides/_rels/slide85.xml.rels><?xml version="1.0" encoding="UTF-8" standalone="yes"?>
<Relationships xmlns="http://schemas.openxmlformats.org/package/2006/relationships"><Relationship Id="rId3" Type="http://schemas.openxmlformats.org/officeDocument/2006/relationships/chart" Target="../charts/chart16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71.svg"/><Relationship Id="rId5" Type="http://schemas.openxmlformats.org/officeDocument/2006/relationships/image" Target="../media/image170.svg"/><Relationship Id="rId4" Type="http://schemas.openxmlformats.org/officeDocument/2006/relationships/chart" Target="../charts/chart170.xml"/></Relationships>
</file>

<file path=ppt/slides/_rels/slide8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71.xml"/><Relationship Id="rId1" Type="http://schemas.openxmlformats.org/officeDocument/2006/relationships/slideLayout" Target="../slideLayouts/slideLayout7.xml"/><Relationship Id="rId6" Type="http://schemas.openxmlformats.org/officeDocument/2006/relationships/image" Target="../media/image173.svg"/><Relationship Id="rId5" Type="http://schemas.openxmlformats.org/officeDocument/2006/relationships/image" Target="../media/image172.svg"/><Relationship Id="rId4" Type="http://schemas.openxmlformats.org/officeDocument/2006/relationships/chart" Target="../charts/chart172.xml"/></Relationships>
</file>

<file path=ppt/slides/_rels/slide8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73.xml"/><Relationship Id="rId1" Type="http://schemas.openxmlformats.org/officeDocument/2006/relationships/slideLayout" Target="../slideLayouts/slideLayout7.xml"/><Relationship Id="rId6" Type="http://schemas.openxmlformats.org/officeDocument/2006/relationships/image" Target="../media/image175.svg"/><Relationship Id="rId5" Type="http://schemas.openxmlformats.org/officeDocument/2006/relationships/image" Target="../media/image174.svg"/><Relationship Id="rId4" Type="http://schemas.openxmlformats.org/officeDocument/2006/relationships/chart" Target="../charts/chart174.xml"/></Relationships>
</file>

<file path=ppt/slides/_rels/slide88.xml.rels><?xml version="1.0" encoding="UTF-8" standalone="yes"?>
<Relationships xmlns="http://schemas.openxmlformats.org/package/2006/relationships"><Relationship Id="rId3" Type="http://schemas.openxmlformats.org/officeDocument/2006/relationships/chart" Target="../charts/chart17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77.svg"/><Relationship Id="rId5" Type="http://schemas.openxmlformats.org/officeDocument/2006/relationships/image" Target="../media/image176.svg"/><Relationship Id="rId4" Type="http://schemas.openxmlformats.org/officeDocument/2006/relationships/chart" Target="../charts/chart176.xml"/></Relationships>
</file>

<file path=ppt/slides/_rels/slide89.xml.rels><?xml version="1.0" encoding="UTF-8" standalone="yes"?>
<Relationships xmlns="http://schemas.openxmlformats.org/package/2006/relationships"><Relationship Id="rId3" Type="http://schemas.openxmlformats.org/officeDocument/2006/relationships/chart" Target="../charts/chart17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79.svg"/><Relationship Id="rId5" Type="http://schemas.openxmlformats.org/officeDocument/2006/relationships/image" Target="../media/image178.svg"/><Relationship Id="rId4" Type="http://schemas.openxmlformats.org/officeDocument/2006/relationships/chart" Target="../charts/chart178.xml"/></Relationships>
</file>

<file path=ppt/slides/_rels/slide90.xml.rels><?xml version="1.0" encoding="UTF-8" standalone="yes"?>
<Relationships xmlns="http://schemas.openxmlformats.org/package/2006/relationships"><Relationship Id="rId3" Type="http://schemas.openxmlformats.org/officeDocument/2006/relationships/chart" Target="../charts/chart17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81.svg"/><Relationship Id="rId5" Type="http://schemas.openxmlformats.org/officeDocument/2006/relationships/image" Target="../media/image180.svg"/><Relationship Id="rId4" Type="http://schemas.openxmlformats.org/officeDocument/2006/relationships/chart" Target="../charts/chart180.xml"/></Relationships>
</file>

<file path=ppt/slides/_rels/slide9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81.xml"/><Relationship Id="rId1" Type="http://schemas.openxmlformats.org/officeDocument/2006/relationships/slideLayout" Target="../slideLayouts/slideLayout7.xml"/><Relationship Id="rId6" Type="http://schemas.openxmlformats.org/officeDocument/2006/relationships/image" Target="../media/image183.svg"/><Relationship Id="rId5" Type="http://schemas.openxmlformats.org/officeDocument/2006/relationships/image" Target="../media/image182.svg"/><Relationship Id="rId4" Type="http://schemas.openxmlformats.org/officeDocument/2006/relationships/chart" Target="../charts/chart182.xml"/></Relationships>
</file>

<file path=ppt/slides/_rels/slide92.xml.rels><?xml version="1.0" encoding="UTF-8" standalone="yes"?>
<Relationships xmlns="http://schemas.openxmlformats.org/package/2006/relationships"><Relationship Id="rId3" Type="http://schemas.openxmlformats.org/officeDocument/2006/relationships/chart" Target="../charts/chart184.xml"/><Relationship Id="rId2" Type="http://schemas.openxmlformats.org/officeDocument/2006/relationships/chart" Target="../charts/chart183.xml"/><Relationship Id="rId1" Type="http://schemas.openxmlformats.org/officeDocument/2006/relationships/slideLayout" Target="../slideLayouts/slideLayout7.xml"/><Relationship Id="rId6" Type="http://schemas.openxmlformats.org/officeDocument/2006/relationships/image" Target="../media/image185.svg"/><Relationship Id="rId5" Type="http://schemas.openxmlformats.org/officeDocument/2006/relationships/image" Target="../media/image184.svg"/><Relationship Id="rId4" Type="http://schemas.openxmlformats.org/officeDocument/2006/relationships/image" Target="../media/image1.jpg"/></Relationships>
</file>

<file path=ppt/slides/_rels/slide93.xml.rels><?xml version="1.0" encoding="UTF-8" standalone="yes"?>
<Relationships xmlns="http://schemas.openxmlformats.org/package/2006/relationships"><Relationship Id="rId3" Type="http://schemas.openxmlformats.org/officeDocument/2006/relationships/chart" Target="../charts/chart185.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87.svg"/><Relationship Id="rId5" Type="http://schemas.openxmlformats.org/officeDocument/2006/relationships/image" Target="../media/image186.svg"/><Relationship Id="rId4" Type="http://schemas.openxmlformats.org/officeDocument/2006/relationships/chart" Target="../charts/chart186.xml"/></Relationships>
</file>

<file path=ppt/slides/_rels/slide9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87.xml"/><Relationship Id="rId1" Type="http://schemas.openxmlformats.org/officeDocument/2006/relationships/slideLayout" Target="../slideLayouts/slideLayout7.xml"/><Relationship Id="rId6" Type="http://schemas.openxmlformats.org/officeDocument/2006/relationships/image" Target="../media/image189.svg"/><Relationship Id="rId5" Type="http://schemas.openxmlformats.org/officeDocument/2006/relationships/image" Target="../media/image188.svg"/><Relationship Id="rId4" Type="http://schemas.openxmlformats.org/officeDocument/2006/relationships/chart" Target="../charts/chart188.xml"/></Relationships>
</file>

<file path=ppt/slides/_rels/slide9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89.xml"/><Relationship Id="rId1" Type="http://schemas.openxmlformats.org/officeDocument/2006/relationships/slideLayout" Target="../slideLayouts/slideLayout7.xml"/><Relationship Id="rId6" Type="http://schemas.openxmlformats.org/officeDocument/2006/relationships/image" Target="../media/image191.svg"/><Relationship Id="rId5" Type="http://schemas.openxmlformats.org/officeDocument/2006/relationships/image" Target="../media/image190.svg"/><Relationship Id="rId4" Type="http://schemas.openxmlformats.org/officeDocument/2006/relationships/chart" Target="../charts/chart190.xml"/></Relationships>
</file>

<file path=ppt/slides/_rels/slide9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91.xml"/><Relationship Id="rId1" Type="http://schemas.openxmlformats.org/officeDocument/2006/relationships/slideLayout" Target="../slideLayouts/slideLayout7.xml"/><Relationship Id="rId6" Type="http://schemas.openxmlformats.org/officeDocument/2006/relationships/image" Target="../media/image193.svg"/><Relationship Id="rId5" Type="http://schemas.openxmlformats.org/officeDocument/2006/relationships/image" Target="../media/image192.svg"/><Relationship Id="rId4" Type="http://schemas.openxmlformats.org/officeDocument/2006/relationships/chart" Target="../charts/chart192.xml"/></Relationships>
</file>

<file path=ppt/slides/_rels/slide97.xml.rels><?xml version="1.0" encoding="UTF-8" standalone="yes"?>
<Relationships xmlns="http://schemas.openxmlformats.org/package/2006/relationships"><Relationship Id="rId3" Type="http://schemas.openxmlformats.org/officeDocument/2006/relationships/chart" Target="../charts/chart193.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95.svg"/><Relationship Id="rId5" Type="http://schemas.openxmlformats.org/officeDocument/2006/relationships/image" Target="../media/image194.svg"/><Relationship Id="rId4" Type="http://schemas.openxmlformats.org/officeDocument/2006/relationships/chart" Target="../charts/chart194.xml"/></Relationships>
</file>

<file path=ppt/slides/_rels/slide9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chart" Target="../charts/chart195.xml"/><Relationship Id="rId1" Type="http://schemas.openxmlformats.org/officeDocument/2006/relationships/slideLayout" Target="../slideLayouts/slideLayout7.xml"/><Relationship Id="rId6" Type="http://schemas.openxmlformats.org/officeDocument/2006/relationships/image" Target="../media/image197.svg"/><Relationship Id="rId5" Type="http://schemas.openxmlformats.org/officeDocument/2006/relationships/image" Target="../media/image196.svg"/><Relationship Id="rId4" Type="http://schemas.openxmlformats.org/officeDocument/2006/relationships/chart" Target="../charts/chart196.xml"/></Relationships>
</file>

<file path=ppt/slides/_rels/slide99.xml.rels><?xml version="1.0" encoding="UTF-8" standalone="yes"?>
<Relationships xmlns="http://schemas.openxmlformats.org/package/2006/relationships"><Relationship Id="rId3" Type="http://schemas.openxmlformats.org/officeDocument/2006/relationships/chart" Target="../charts/chart197.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199.svg"/><Relationship Id="rId5" Type="http://schemas.openxmlformats.org/officeDocument/2006/relationships/image" Target="../media/image198.svg"/><Relationship Id="rId4" Type="http://schemas.openxmlformats.org/officeDocument/2006/relationships/chart" Target="../charts/chart198.xml"/></Relationships>
</file>

<file path=ppt/slides/_rels/slide100.xml.rels><?xml version="1.0" encoding="UTF-8" standalone="yes"?>
<Relationships xmlns="http://schemas.openxmlformats.org/package/2006/relationships"><Relationship Id="rId3" Type="http://schemas.openxmlformats.org/officeDocument/2006/relationships/chart" Target="../charts/chart199.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image" Target="../media/image201.svg"/><Relationship Id="rId5" Type="http://schemas.openxmlformats.org/officeDocument/2006/relationships/image" Target="../media/image200.svg"/><Relationship Id="rId4" Type="http://schemas.openxmlformats.org/officeDocument/2006/relationships/chart" Target="../charts/chart2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wn Arrow 1"/>
          <p:cNvSpPr/>
          <p:nvPr/>
        </p:nvSpPr>
        <p:spPr>
          <a:xfrm>
            <a:off x="2437130" y="4778517"/>
            <a:ext cx="2251560" cy="1382942"/>
          </a:xfrm>
          <a:prstGeom prst="downArrow">
            <a:avLst/>
          </a:prstGeom>
          <a:solidFill>
            <a:srgbClr val="50C8E2"/>
          </a:solidFill>
          <a:ln w="17282">
            <a:solidFill>
              <a:srgbClr val="9B558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rapezoid 2"/>
          <p:cNvSpPr/>
          <p:nvPr/>
        </p:nvSpPr>
        <p:spPr>
          <a:xfrm>
            <a:off x="9716492" y="3503190"/>
            <a:ext cx="620072" cy="1854722"/>
          </a:xfrm>
          <a:prstGeom prst="trapezoid">
            <a:avLst/>
          </a:prstGeom>
          <a:noFill/>
          <a:ln w="11826">
            <a:solidFill>
              <a:srgbClr val="3551CE"/>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369555" y="1935721"/>
            <a:ext cx="1731078" cy="1185572"/>
          </a:xfrm>
          <a:prstGeom prst="bentConnector3">
            <a:avLst/>
          </a:prstGeom>
          <a:ln w="30841">
            <a:solidFill>
              <a:srgbClr val="3B5288"/>
            </a:solidFill>
            <a:prstDash val="dot"/>
          </a:ln>
        </p:spPr>
        <p:style>
          <a:lnRef idx="2">
            <a:schemeClr val="accent1"/>
          </a:lnRef>
          <a:fillRef idx="0">
            <a:schemeClr val="accent1"/>
          </a:fillRef>
          <a:effectRef idx="1">
            <a:schemeClr val="accent1"/>
          </a:effectRef>
          <a:fontRef idx="minor">
            <a:schemeClr val="tx1"/>
          </a:fontRef>
        </p:style>
      </p:cxnSp>
      <p:sp>
        <p:nvSpPr>
          <p:cNvPr id="5" name="Freeform 4"/>
          <p:cNvSpPr/>
          <p:nvPr/>
        </p:nvSpPr>
        <p:spPr>
          <a:xfrm>
            <a:off x="2555545" y="397566"/>
            <a:ext cx="969408" cy="1710505"/>
          </a:xfrm>
          <a:custGeom>
            <a:avLst/>
            <a:gdLst/>
            <a:ahLst/>
            <a:cxnLst/>
            <a:rect l="l" t="t" r="r" b="b"/>
            <a:pathLst>
              <a:path w="969408" h="1710505">
                <a:moveTo>
                  <a:pt x="0" y="380113"/>
                </a:moveTo>
                <a:lnTo>
                  <a:pt x="208474" y="0"/>
                </a:lnTo>
                <a:lnTo>
                  <a:pt x="416949" y="513152"/>
                </a:lnTo>
                <a:lnTo>
                  <a:pt x="625424" y="57017"/>
                </a:lnTo>
                <a:lnTo>
                  <a:pt x="969408" y="1330393"/>
                </a:lnTo>
                <a:lnTo>
                  <a:pt x="729662" y="1710505"/>
                </a:lnTo>
                <a:lnTo>
                  <a:pt x="500339" y="1140337"/>
                </a:lnTo>
                <a:lnTo>
                  <a:pt x="239746" y="1653488"/>
                </a:lnTo>
                <a:close/>
              </a:path>
            </a:pathLst>
          </a:custGeom>
          <a:solidFill>
            <a:srgbClr val="24D5D8"/>
          </a:solidFill>
          <a:ln w="31343">
            <a:solidFill>
              <a:srgbClr val="6F64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_example_image.jpg"/>
          <p:cNvPicPr>
            <a:picLocks noChangeAspect="1"/>
          </p:cNvPicPr>
          <p:nvPr/>
        </p:nvPicPr>
        <p:blipFill>
          <a:blip r:embed="rId2"/>
          <a:srcRect l="19083" t="10510" r="10700" b="11031"/>
          <a:stretch>
            <a:fillRect/>
          </a:stretch>
        </p:blipFill>
        <p:spPr>
          <a:xfrm>
            <a:off x="3340426" y="1705297"/>
            <a:ext cx="1023124" cy="1293088"/>
          </a:xfrm>
          <a:prstGeom prst="rect">
            <a:avLst/>
          </a:prstGeom>
        </p:spPr>
      </p:pic>
      <p:sp>
        <p:nvSpPr>
          <p:cNvPr id="7" name="Left Right Ribbon 6"/>
          <p:cNvSpPr/>
          <p:nvPr/>
        </p:nvSpPr>
        <p:spPr>
          <a:xfrm>
            <a:off x="3951534" y="1265061"/>
            <a:ext cx="1242314" cy="360168"/>
          </a:xfrm>
          <a:prstGeom prst="leftRightRibbon">
            <a:avLst/>
          </a:prstGeom>
          <a:noFill/>
          <a:ln w="14118">
            <a:solidFill>
              <a:srgbClr val="52BED7"/>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3875643" y="677319"/>
          <a:ext cx="2516897" cy="14369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Table 8"/>
          <p:cNvGraphicFramePr>
            <a:graphicFrameLocks noGrp="1"/>
          </p:cNvGraphicFramePr>
          <p:nvPr/>
        </p:nvGraphicFramePr>
        <p:xfrm>
          <a:off x="653574" y="3482767"/>
          <a:ext cx="2588587" cy="1054411"/>
        </p:xfrm>
        <a:graphic>
          <a:graphicData uri="http://schemas.openxmlformats.org/drawingml/2006/table">
            <a:tbl>
              <a:tblPr firstRow="1" bandRow="1">
                <a:tableStyleId>{5C22544A-7EE6-4342-B048-85BDC9FD1C3A}</a:tableStyleId>
              </a:tblPr>
              <a:tblGrid>
                <a:gridCol w="862862">
                  <a:extLst>
                    <a:ext uri="{9D8B030D-6E8A-4147-A177-3AD203B41FA5}">
                      <a16:colId xmlns:a16="http://schemas.microsoft.com/office/drawing/2014/main" val="20000"/>
                    </a:ext>
                  </a:extLst>
                </a:gridCol>
                <a:gridCol w="862862">
                  <a:extLst>
                    <a:ext uri="{9D8B030D-6E8A-4147-A177-3AD203B41FA5}">
                      <a16:colId xmlns:a16="http://schemas.microsoft.com/office/drawing/2014/main" val="20001"/>
                    </a:ext>
                  </a:extLst>
                </a:gridCol>
                <a:gridCol w="862863">
                  <a:extLst>
                    <a:ext uri="{9D8B030D-6E8A-4147-A177-3AD203B41FA5}">
                      <a16:colId xmlns:a16="http://schemas.microsoft.com/office/drawing/2014/main" val="20002"/>
                    </a:ext>
                  </a:extLst>
                </a:gridCol>
              </a:tblGrid>
              <a:tr h="175735">
                <a:tc>
                  <a:txBody>
                    <a:bodyPr/>
                    <a:lstStyle/>
                    <a:p>
                      <a:r>
                        <a:rPr sz="900" b="1">
                          <a:solidFill>
                            <a:srgbClr val="397185"/>
                          </a:solidFill>
                        </a:rPr>
                        <a:t>Summary Engine</a:t>
                      </a:r>
                    </a:p>
                  </a:txBody>
                  <a:tcPr>
                    <a:solidFill>
                      <a:srgbClr val="A29281"/>
                    </a:solidFill>
                  </a:tcPr>
                </a:tc>
                <a:tc>
                  <a:txBody>
                    <a:bodyPr/>
                    <a:lstStyle/>
                    <a:p>
                      <a:r>
                        <a:rPr sz="900" b="1">
                          <a:solidFill>
                            <a:srgbClr val="397185"/>
                          </a:solidFill>
                        </a:rPr>
                        <a:t>Packet Discovery</a:t>
                      </a:r>
                    </a:p>
                  </a:txBody>
                  <a:tcPr>
                    <a:solidFill>
                      <a:srgbClr val="A29281"/>
                    </a:solidFill>
                  </a:tcPr>
                </a:tc>
                <a:tc>
                  <a:txBody>
                    <a:bodyPr/>
                    <a:lstStyle/>
                    <a:p>
                      <a:r>
                        <a:rPr sz="900" b="1">
                          <a:solidFill>
                            <a:srgbClr val="397185"/>
                          </a:solidFill>
                        </a:rPr>
                        <a:t>Matrix Field</a:t>
                      </a:r>
                    </a:p>
                  </a:txBody>
                  <a:tcPr>
                    <a:solidFill>
                      <a:srgbClr val="A29281"/>
                    </a:solidFill>
                  </a:tcPr>
                </a:tc>
                <a:extLst>
                  <a:ext uri="{0D108BD9-81ED-4DB2-BD59-A6C34878D82A}">
                    <a16:rowId xmlns:a16="http://schemas.microsoft.com/office/drawing/2014/main" val="10000"/>
                  </a:ext>
                </a:extLst>
              </a:tr>
              <a:tr h="175735">
                <a:tc>
                  <a:txBody>
                    <a:bodyPr/>
                    <a:lstStyle/>
                    <a:p>
                      <a:r>
                        <a:rPr sz="900" b="0">
                          <a:solidFill>
                            <a:srgbClr val="397185"/>
                          </a:solidFill>
                        </a:rPr>
                        <a:t>Orbit Concept</a:t>
                      </a:r>
                    </a:p>
                  </a:txBody>
                  <a:tcPr>
                    <a:solidFill>
                      <a:srgbClr val="D7E3F4"/>
                    </a:solidFill>
                  </a:tcPr>
                </a:tc>
                <a:tc>
                  <a:txBody>
                    <a:bodyPr/>
                    <a:lstStyle/>
                    <a:p>
                      <a:r>
                        <a:rPr sz="900" b="0">
                          <a:solidFill>
                            <a:srgbClr val="397185"/>
                          </a:solidFill>
                        </a:rPr>
                        <a:t>Topology Alignment</a:t>
                      </a:r>
                    </a:p>
                  </a:txBody>
                  <a:tcPr>
                    <a:solidFill>
                      <a:srgbClr val="D7E3F4"/>
                    </a:solidFill>
                  </a:tcPr>
                </a:tc>
                <a:tc>
                  <a:txBody>
                    <a:bodyPr/>
                    <a:lstStyle/>
                    <a:p>
                      <a:r>
                        <a:rPr sz="900" b="0">
                          <a:solidFill>
                            <a:srgbClr val="397185"/>
                          </a:solidFill>
                        </a:rPr>
                        <a:t>Payload Index</a:t>
                      </a:r>
                    </a:p>
                  </a:txBody>
                  <a:tcPr>
                    <a:solidFill>
                      <a:srgbClr val="D7E3F4"/>
                    </a:solidFill>
                  </a:tcPr>
                </a:tc>
                <a:extLst>
                  <a:ext uri="{0D108BD9-81ED-4DB2-BD59-A6C34878D82A}">
                    <a16:rowId xmlns:a16="http://schemas.microsoft.com/office/drawing/2014/main" val="10001"/>
                  </a:ext>
                </a:extLst>
              </a:tr>
              <a:tr h="175735">
                <a:tc>
                  <a:txBody>
                    <a:bodyPr/>
                    <a:lstStyle/>
                    <a:p>
                      <a:r>
                        <a:rPr sz="900" b="0">
                          <a:solidFill>
                            <a:srgbClr val="397185"/>
                          </a:solidFill>
                        </a:rPr>
                        <a:t>Delta State</a:t>
                      </a:r>
                    </a:p>
                  </a:txBody>
                  <a:tcPr>
                    <a:solidFill>
                      <a:srgbClr val="EFF4FA"/>
                    </a:solidFill>
                  </a:tcPr>
                </a:tc>
                <a:tc>
                  <a:txBody>
                    <a:bodyPr/>
                    <a:lstStyle/>
                    <a:p>
                      <a:r>
                        <a:rPr sz="900" b="0">
                          <a:solidFill>
                            <a:srgbClr val="397185"/>
                          </a:solidFill>
                        </a:rPr>
                        <a:t>Keyline Density</a:t>
                      </a:r>
                    </a:p>
                  </a:txBody>
                  <a:tcPr>
                    <a:solidFill>
                      <a:srgbClr val="EFF4FA"/>
                    </a:solidFill>
                  </a:tcPr>
                </a:tc>
                <a:tc>
                  <a:txBody>
                    <a:bodyPr/>
                    <a:lstStyle/>
                    <a:p>
                      <a:r>
                        <a:rPr sz="900" b="0">
                          <a:solidFill>
                            <a:srgbClr val="397185"/>
                          </a:solidFill>
                        </a:rPr>
                        <a:t>Transit Mode</a:t>
                      </a:r>
                    </a:p>
                  </a:txBody>
                  <a:tcPr>
                    <a:solidFill>
                      <a:srgbClr val="EFF4FA"/>
                    </a:solidFill>
                  </a:tcPr>
                </a:tc>
                <a:extLst>
                  <a:ext uri="{0D108BD9-81ED-4DB2-BD59-A6C34878D82A}">
                    <a16:rowId xmlns:a16="http://schemas.microsoft.com/office/drawing/2014/main" val="10002"/>
                  </a:ext>
                </a:extLst>
              </a:tr>
              <a:tr h="175735">
                <a:tc>
                  <a:txBody>
                    <a:bodyPr/>
                    <a:lstStyle/>
                    <a:p>
                      <a:r>
                        <a:rPr sz="900" b="0">
                          <a:solidFill>
                            <a:srgbClr val="397185"/>
                          </a:solidFill>
                        </a:rPr>
                        <a:t>Package Audit</a:t>
                      </a:r>
                    </a:p>
                  </a:txBody>
                  <a:tcPr>
                    <a:solidFill>
                      <a:srgbClr val="D7E3F4"/>
                    </a:solidFill>
                  </a:tcPr>
                </a:tc>
                <a:tc>
                  <a:txBody>
                    <a:bodyPr/>
                    <a:lstStyle/>
                    <a:p>
                      <a:r>
                        <a:rPr sz="900" b="0">
                          <a:solidFill>
                            <a:srgbClr val="397185"/>
                          </a:solidFill>
                        </a:rPr>
                        <a:t>Ledger</a:t>
                      </a:r>
                    </a:p>
                  </a:txBody>
                  <a:tcPr>
                    <a:solidFill>
                      <a:srgbClr val="D7E3F4"/>
                    </a:solidFill>
                  </a:tcPr>
                </a:tc>
                <a:tc>
                  <a:txBody>
                    <a:bodyPr/>
                    <a:lstStyle/>
                    <a:p>
                      <a:r>
                        <a:rPr sz="900" b="0">
                          <a:solidFill>
                            <a:srgbClr val="397185"/>
                          </a:solidFill>
                        </a:rPr>
                        <a:t>Portal Queue</a:t>
                      </a:r>
                    </a:p>
                  </a:txBody>
                  <a:tcPr>
                    <a:solidFill>
                      <a:srgbClr val="D7E3F4"/>
                    </a:solidFill>
                  </a:tcPr>
                </a:tc>
                <a:extLst>
                  <a:ext uri="{0D108BD9-81ED-4DB2-BD59-A6C34878D82A}">
                    <a16:rowId xmlns:a16="http://schemas.microsoft.com/office/drawing/2014/main" val="10003"/>
                  </a:ext>
                </a:extLst>
              </a:tr>
              <a:tr h="175735">
                <a:tc>
                  <a:txBody>
                    <a:bodyPr/>
                    <a:lstStyle/>
                    <a:p>
                      <a:r>
                        <a:rPr sz="900" b="0">
                          <a:solidFill>
                            <a:srgbClr val="397185"/>
                          </a:solidFill>
                        </a:rPr>
                        <a:t>Resource</a:t>
                      </a:r>
                    </a:p>
                  </a:txBody>
                  <a:tcPr>
                    <a:solidFill>
                      <a:srgbClr val="EFF4FA"/>
                    </a:solidFill>
                  </a:tcPr>
                </a:tc>
                <a:tc>
                  <a:txBody>
                    <a:bodyPr/>
                    <a:lstStyle/>
                    <a:p>
                      <a:r>
                        <a:rPr sz="900" b="0">
                          <a:solidFill>
                            <a:srgbClr val="397185"/>
                          </a:solidFill>
                        </a:rPr>
                        <a:t>Grid Device</a:t>
                      </a:r>
                    </a:p>
                  </a:txBody>
                  <a:tcPr>
                    <a:solidFill>
                      <a:srgbClr val="EFF4FA"/>
                    </a:solidFill>
                  </a:tcPr>
                </a:tc>
                <a:tc>
                  <a:txBody>
                    <a:bodyPr/>
                    <a:lstStyle/>
                    <a:p>
                      <a:r>
                        <a:rPr sz="900" b="0">
                          <a:solidFill>
                            <a:srgbClr val="397185"/>
                          </a:solidFill>
                        </a:rPr>
                        <a:t>Guide Threshold</a:t>
                      </a:r>
                    </a:p>
                  </a:txBody>
                  <a:tcPr>
                    <a:solidFill>
                      <a:srgbClr val="EFF4FA"/>
                    </a:solidFill>
                  </a:tcPr>
                </a:tc>
                <a:extLst>
                  <a:ext uri="{0D108BD9-81ED-4DB2-BD59-A6C34878D82A}">
                    <a16:rowId xmlns:a16="http://schemas.microsoft.com/office/drawing/2014/main" val="10004"/>
                  </a:ext>
                </a:extLst>
              </a:tr>
              <a:tr h="175736">
                <a:tc>
                  <a:txBody>
                    <a:bodyPr/>
                    <a:lstStyle/>
                    <a:p>
                      <a:r>
                        <a:rPr sz="900" b="0">
                          <a:solidFill>
                            <a:srgbClr val="397185"/>
                          </a:solidFill>
                        </a:rPr>
                        <a:t>Origin Heading</a:t>
                      </a:r>
                    </a:p>
                  </a:txBody>
                  <a:tcPr>
                    <a:solidFill>
                      <a:srgbClr val="D7E3F4"/>
                    </a:solidFill>
                  </a:tcPr>
                </a:tc>
                <a:tc>
                  <a:txBody>
                    <a:bodyPr/>
                    <a:lstStyle/>
                    <a:p>
                      <a:r>
                        <a:rPr sz="900" b="0">
                          <a:solidFill>
                            <a:srgbClr val="397185"/>
                          </a:solidFill>
                        </a:rPr>
                        <a:t>Adaptive Engine</a:t>
                      </a:r>
                    </a:p>
                  </a:txBody>
                  <a:tcPr>
                    <a:solidFill>
                      <a:srgbClr val="D7E3F4"/>
                    </a:solidFill>
                  </a:tcPr>
                </a:tc>
                <a:tc>
                  <a:txBody>
                    <a:bodyPr/>
                    <a:lstStyle/>
                    <a:p>
                      <a:r>
                        <a:rPr sz="900" b="0">
                          <a:solidFill>
                            <a:srgbClr val="397185"/>
                          </a:solidFill>
                        </a:rPr>
                        <a:t>Module</a:t>
                      </a:r>
                    </a:p>
                  </a:txBody>
                  <a:tcPr>
                    <a:solidFill>
                      <a:srgbClr val="D7E3F4"/>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4965478" y="3798682"/>
            <a:ext cx="1273221" cy="1947922"/>
          </a:xfrm>
          <a:prstGeom prst="rect">
            <a:avLst/>
          </a:prstGeom>
          <a:noFill/>
        </p:spPr>
        <p:txBody>
          <a:bodyPr wrap="none" lIns="81268" tIns="81268" rIns="81268" bIns="81268">
            <a:spAutoFit/>
          </a:bodyPr>
          <a:lstStyle/>
          <a:p>
            <a:r>
              <a:rPr sz="900" b="0" i="0" u="none">
                <a:solidFill>
                  <a:srgbClr val="8F281D"/>
                </a:solidFill>
                <a:latin typeface="Verdana"/>
              </a:rPr>
              <a:t>Tile Program</a:t>
            </a:r>
          </a:p>
        </p:txBody>
      </p:sp>
      <p:sp>
        <p:nvSpPr>
          <p:cNvPr id="11" name="Up Ribbon 10"/>
          <p:cNvSpPr/>
          <p:nvPr/>
        </p:nvSpPr>
        <p:spPr>
          <a:xfrm>
            <a:off x="1834104" y="1416663"/>
            <a:ext cx="1172680" cy="678278"/>
          </a:xfrm>
          <a:prstGeom prst="ribbon2">
            <a:avLst/>
          </a:prstGeom>
          <a:solidFill>
            <a:srgbClr val="7764D7"/>
          </a:solidFill>
          <a:ln w="20525">
            <a:solidFill>
              <a:srgbClr val="3CC47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urved Right Arrow 11"/>
          <p:cNvSpPr/>
          <p:nvPr/>
        </p:nvSpPr>
        <p:spPr>
          <a:xfrm>
            <a:off x="10257036" y="330205"/>
            <a:ext cx="1656331" cy="1456922"/>
          </a:xfrm>
          <a:prstGeom prst="curvedRightArrow">
            <a:avLst/>
          </a:prstGeom>
          <a:solidFill>
            <a:srgbClr val="2772A0"/>
          </a:solidFill>
          <a:ln w="8495">
            <a:solidFill>
              <a:srgbClr val="E0515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32917" y="4273826"/>
            <a:ext cx="729706" cy="1881401"/>
          </a:xfrm>
          <a:prstGeom prst="rect">
            <a:avLst/>
          </a:prstGeom>
          <a:noFill/>
        </p:spPr>
        <p:txBody>
          <a:bodyPr wrap="none" lIns="86517" tIns="86517" rIns="86517" bIns="86517">
            <a:spAutoFit/>
          </a:bodyPr>
          <a:lstStyle/>
          <a:p>
            <a:r>
              <a:rPr sz="5400" b="1" i="0" u="none">
                <a:solidFill>
                  <a:srgbClr val="A2A983"/>
                </a:solidFill>
                <a:latin typeface="Verdana"/>
              </a:rPr>
              <a:t>Bundle Alignment Service</a:t>
            </a:r>
          </a:p>
        </p:txBody>
      </p:sp>
      <p:cxnSp>
        <p:nvCxnSpPr>
          <p:cNvPr id="14" name="Connector 13"/>
          <p:cNvCxnSpPr/>
          <p:nvPr/>
        </p:nvCxnSpPr>
        <p:spPr>
          <a:xfrm>
            <a:off x="10482244" y="3611389"/>
            <a:ext cx="1364561" cy="531300"/>
          </a:xfrm>
          <a:prstGeom prst="bentConnector3">
            <a:avLst/>
          </a:prstGeom>
          <a:ln w="18574">
            <a:solidFill>
              <a:srgbClr val="81572B"/>
            </a:solidFill>
            <a:prstDash val="dot"/>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093888" y="2386913"/>
            <a:ext cx="475930" cy="964258"/>
          </a:xfrm>
          <a:prstGeom prst="rect">
            <a:avLst/>
          </a:prstGeom>
          <a:noFill/>
        </p:spPr>
        <p:txBody>
          <a:bodyPr wrap="none" lIns="42100" tIns="42100" rIns="42100" bIns="42100">
            <a:spAutoFit/>
          </a:bodyPr>
          <a:lstStyle/>
          <a:p>
            <a:r>
              <a:rPr sz="1000" b="0" i="0" u="none">
                <a:solidFill>
                  <a:srgbClr val="7E48CE"/>
                </a:solidFill>
                <a:latin typeface="Trebuchet MS"/>
              </a:rPr>
              <a:t>Kernel Friction Direction Zone Program Design Pixel Impact Forecast Reserve Scale</a:t>
            </a:r>
          </a:p>
        </p:txBody>
      </p:sp>
      <p:sp>
        <p:nvSpPr>
          <p:cNvPr id="16" name="Rectangle 15"/>
          <p:cNvSpPr/>
          <p:nvPr/>
        </p:nvSpPr>
        <p:spPr>
          <a:xfrm>
            <a:off x="976135" y="5568483"/>
            <a:ext cx="1103645" cy="401132"/>
          </a:xfrm>
          <a:prstGeom prst="rect">
            <a:avLst/>
          </a:prstGeom>
          <a:solidFill>
            <a:srgbClr val="3BB68A"/>
          </a:solidFill>
          <a:ln w="21974">
            <a:solidFill>
              <a:srgbClr val="B7889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_example_image.jpg"/>
          <p:cNvPicPr>
            <a:picLocks noChangeAspect="1"/>
          </p:cNvPicPr>
          <p:nvPr/>
        </p:nvPicPr>
        <p:blipFill>
          <a:blip r:embed="rId2"/>
          <a:srcRect l="7264" t="6765" r="19267" b="6836"/>
          <a:stretch>
            <a:fillRect/>
          </a:stretch>
        </p:blipFill>
        <p:spPr>
          <a:xfrm>
            <a:off x="405020" y="672626"/>
            <a:ext cx="1661213" cy="1119271"/>
          </a:xfrm>
          <a:prstGeom prst="rect">
            <a:avLst/>
          </a:prstGeom>
        </p:spPr>
      </p:pic>
      <p:sp>
        <p:nvSpPr>
          <p:cNvPr id="18" name="Rounded Rectangle 17"/>
          <p:cNvSpPr/>
          <p:nvPr/>
        </p:nvSpPr>
        <p:spPr>
          <a:xfrm>
            <a:off x="405020" y="672626"/>
            <a:ext cx="1661213" cy="1119271"/>
          </a:xfrm>
          <a:prstGeom prst="roundRect">
            <a:avLst/>
          </a:prstGeom>
          <a:noFill/>
          <a:ln w="15240">
            <a:solidFill>
              <a:srgbClr val="8289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396900" y="2267720"/>
            <a:ext cx="788980" cy="1206811"/>
          </a:xfrm>
          <a:prstGeom prst="rect">
            <a:avLst/>
          </a:prstGeom>
          <a:noFill/>
        </p:spPr>
        <p:txBody>
          <a:bodyPr wrap="none" lIns="90784" tIns="90784" rIns="90784" bIns="90784">
            <a:spAutoFit/>
          </a:bodyPr>
          <a:lstStyle/>
          <a:p>
            <a:r>
              <a:rPr sz="1800" b="0" i="0" u="none">
                <a:solidFill>
                  <a:srgbClr val="2FA3B9"/>
                </a:solidFill>
                <a:latin typeface="Georgia"/>
              </a:rPr>
              <a:t>Story Layer Token Point Depth Report Trigger Explorer Canvas Register Factor Access Alpha Pulse Echo Density Pattern Resource Measure Origin Layer Schema Mode Density Keyline Brief Aspect Table Tile Object Order</a:t>
            </a:r>
          </a:p>
        </p:txBody>
      </p:sp>
      <p:graphicFrame>
        <p:nvGraphicFramePr>
          <p:cNvPr id="20" name="Table 19"/>
          <p:cNvGraphicFramePr>
            <a:graphicFrameLocks noGrp="1"/>
          </p:cNvGraphicFramePr>
          <p:nvPr/>
        </p:nvGraphicFramePr>
        <p:xfrm>
          <a:off x="7744083" y="5229834"/>
          <a:ext cx="2595933" cy="925944"/>
        </p:xfrm>
        <a:graphic>
          <a:graphicData uri="http://schemas.openxmlformats.org/drawingml/2006/table">
            <a:tbl>
              <a:tblPr firstRow="1" bandRow="1">
                <a:tableStyleId>{5C22544A-7EE6-4342-B048-85BDC9FD1C3A}</a:tableStyleId>
              </a:tblPr>
              <a:tblGrid>
                <a:gridCol w="432655">
                  <a:extLst>
                    <a:ext uri="{9D8B030D-6E8A-4147-A177-3AD203B41FA5}">
                      <a16:colId xmlns:a16="http://schemas.microsoft.com/office/drawing/2014/main" val="20000"/>
                    </a:ext>
                  </a:extLst>
                </a:gridCol>
                <a:gridCol w="432655">
                  <a:extLst>
                    <a:ext uri="{9D8B030D-6E8A-4147-A177-3AD203B41FA5}">
                      <a16:colId xmlns:a16="http://schemas.microsoft.com/office/drawing/2014/main" val="20001"/>
                    </a:ext>
                  </a:extLst>
                </a:gridCol>
                <a:gridCol w="432655">
                  <a:extLst>
                    <a:ext uri="{9D8B030D-6E8A-4147-A177-3AD203B41FA5}">
                      <a16:colId xmlns:a16="http://schemas.microsoft.com/office/drawing/2014/main" val="20002"/>
                    </a:ext>
                  </a:extLst>
                </a:gridCol>
                <a:gridCol w="432655">
                  <a:extLst>
                    <a:ext uri="{9D8B030D-6E8A-4147-A177-3AD203B41FA5}">
                      <a16:colId xmlns:a16="http://schemas.microsoft.com/office/drawing/2014/main" val="20003"/>
                    </a:ext>
                  </a:extLst>
                </a:gridCol>
                <a:gridCol w="432655">
                  <a:extLst>
                    <a:ext uri="{9D8B030D-6E8A-4147-A177-3AD203B41FA5}">
                      <a16:colId xmlns:a16="http://schemas.microsoft.com/office/drawing/2014/main" val="20004"/>
                    </a:ext>
                  </a:extLst>
                </a:gridCol>
                <a:gridCol w="432658">
                  <a:extLst>
                    <a:ext uri="{9D8B030D-6E8A-4147-A177-3AD203B41FA5}">
                      <a16:colId xmlns:a16="http://schemas.microsoft.com/office/drawing/2014/main" val="20005"/>
                    </a:ext>
                  </a:extLst>
                </a:gridCol>
              </a:tblGrid>
              <a:tr h="231486">
                <a:tc>
                  <a:txBody>
                    <a:bodyPr/>
                    <a:lstStyle/>
                    <a:p>
                      <a:r>
                        <a:rPr sz="800" b="1">
                          <a:solidFill>
                            <a:srgbClr val="C89CCB"/>
                          </a:solidFill>
                        </a:rPr>
                        <a:t>Benchmark</a:t>
                      </a:r>
                    </a:p>
                  </a:txBody>
                  <a:tcPr>
                    <a:solidFill>
                      <a:srgbClr val="1A41C0"/>
                    </a:solidFill>
                  </a:tcPr>
                </a:tc>
                <a:tc>
                  <a:txBody>
                    <a:bodyPr/>
                    <a:lstStyle/>
                    <a:p>
                      <a:r>
                        <a:rPr sz="800" b="1">
                          <a:solidFill>
                            <a:srgbClr val="C89CCB"/>
                          </a:solidFill>
                        </a:rPr>
                        <a:t>Transform</a:t>
                      </a:r>
                    </a:p>
                  </a:txBody>
                  <a:tcPr>
                    <a:solidFill>
                      <a:srgbClr val="1A41C0"/>
                    </a:solidFill>
                  </a:tcPr>
                </a:tc>
                <a:tc>
                  <a:txBody>
                    <a:bodyPr/>
                    <a:lstStyle/>
                    <a:p>
                      <a:r>
                        <a:rPr sz="800" b="1">
                          <a:solidFill>
                            <a:srgbClr val="C89CCB"/>
                          </a:solidFill>
                        </a:rPr>
                        <a:t>Volume Benchmark</a:t>
                      </a:r>
                    </a:p>
                  </a:txBody>
                  <a:tcPr>
                    <a:solidFill>
                      <a:srgbClr val="1A41C0"/>
                    </a:solidFill>
                  </a:tcPr>
                </a:tc>
                <a:tc>
                  <a:txBody>
                    <a:bodyPr/>
                    <a:lstStyle/>
                    <a:p>
                      <a:r>
                        <a:rPr sz="800" b="1">
                          <a:solidFill>
                            <a:srgbClr val="C89CCB"/>
                          </a:solidFill>
                        </a:rPr>
                        <a:t>Tile</a:t>
                      </a:r>
                    </a:p>
                  </a:txBody>
                  <a:tcPr>
                    <a:solidFill>
                      <a:srgbClr val="1A41C0"/>
                    </a:solidFill>
                  </a:tcPr>
                </a:tc>
                <a:tc>
                  <a:txBody>
                    <a:bodyPr/>
                    <a:lstStyle/>
                    <a:p>
                      <a:r>
                        <a:rPr sz="800" b="1">
                          <a:solidFill>
                            <a:srgbClr val="C89CCB"/>
                          </a:solidFill>
                        </a:rPr>
                        <a:t>Terminal</a:t>
                      </a:r>
                    </a:p>
                  </a:txBody>
                  <a:tcPr>
                    <a:solidFill>
                      <a:srgbClr val="1A41C0"/>
                    </a:solidFill>
                  </a:tcPr>
                </a:tc>
                <a:tc>
                  <a:txBody>
                    <a:bodyPr/>
                    <a:lstStyle/>
                    <a:p>
                      <a:r>
                        <a:rPr sz="800" b="1">
                          <a:solidFill>
                            <a:srgbClr val="C89CCB"/>
                          </a:solidFill>
                        </a:rPr>
                        <a:t>Strategy Data</a:t>
                      </a:r>
                    </a:p>
                  </a:txBody>
                  <a:tcPr>
                    <a:solidFill>
                      <a:srgbClr val="1A41C0"/>
                    </a:solidFill>
                  </a:tcPr>
                </a:tc>
                <a:extLst>
                  <a:ext uri="{0D108BD9-81ED-4DB2-BD59-A6C34878D82A}">
                    <a16:rowId xmlns:a16="http://schemas.microsoft.com/office/drawing/2014/main" val="10000"/>
                  </a:ext>
                </a:extLst>
              </a:tr>
              <a:tr h="231486">
                <a:tc>
                  <a:txBody>
                    <a:bodyPr/>
                    <a:lstStyle/>
                    <a:p>
                      <a:r>
                        <a:rPr sz="800" b="0">
                          <a:solidFill>
                            <a:srgbClr val="C89CCB"/>
                          </a:solidFill>
                        </a:rPr>
                        <a:t>Network</a:t>
                      </a:r>
                    </a:p>
                  </a:txBody>
                  <a:tcPr>
                    <a:solidFill>
                      <a:srgbClr val="EBFCFA"/>
                    </a:solidFill>
                  </a:tcPr>
                </a:tc>
                <a:tc>
                  <a:txBody>
                    <a:bodyPr/>
                    <a:lstStyle/>
                    <a:p>
                      <a:r>
                        <a:rPr sz="800" b="0">
                          <a:solidFill>
                            <a:srgbClr val="C89CCB"/>
                          </a:solidFill>
                        </a:rPr>
                        <a:t>Matrix Insight</a:t>
                      </a:r>
                    </a:p>
                  </a:txBody>
                  <a:tcPr>
                    <a:solidFill>
                      <a:srgbClr val="EBFCFA"/>
                    </a:solidFill>
                  </a:tcPr>
                </a:tc>
                <a:tc>
                  <a:txBody>
                    <a:bodyPr/>
                    <a:lstStyle/>
                    <a:p>
                      <a:r>
                        <a:rPr sz="800" b="0">
                          <a:solidFill>
                            <a:srgbClr val="C89CCB"/>
                          </a:solidFill>
                        </a:rPr>
                        <a:t>Terminal Register</a:t>
                      </a:r>
                    </a:p>
                  </a:txBody>
                  <a:tcPr>
                    <a:solidFill>
                      <a:srgbClr val="EBFCFA"/>
                    </a:solidFill>
                  </a:tcPr>
                </a:tc>
                <a:tc>
                  <a:txBody>
                    <a:bodyPr/>
                    <a:lstStyle/>
                    <a:p>
                      <a:r>
                        <a:rPr sz="800" b="0">
                          <a:solidFill>
                            <a:srgbClr val="C89CCB"/>
                          </a:solidFill>
                        </a:rPr>
                        <a:t>Register Inventory</a:t>
                      </a:r>
                    </a:p>
                  </a:txBody>
                  <a:tcPr>
                    <a:solidFill>
                      <a:srgbClr val="EBFCFA"/>
                    </a:solidFill>
                  </a:tcPr>
                </a:tc>
                <a:tc>
                  <a:txBody>
                    <a:bodyPr/>
                    <a:lstStyle/>
                    <a:p>
                      <a:r>
                        <a:rPr sz="800" b="0">
                          <a:solidFill>
                            <a:srgbClr val="C89CCB"/>
                          </a:solidFill>
                        </a:rPr>
                        <a:t>Device</a:t>
                      </a:r>
                    </a:p>
                  </a:txBody>
                  <a:tcPr>
                    <a:solidFill>
                      <a:srgbClr val="EBFCFA"/>
                    </a:solidFill>
                  </a:tcPr>
                </a:tc>
                <a:tc>
                  <a:txBody>
                    <a:bodyPr/>
                    <a:lstStyle/>
                    <a:p>
                      <a:r>
                        <a:rPr sz="800" b="0">
                          <a:solidFill>
                            <a:srgbClr val="C89CCB"/>
                          </a:solidFill>
                        </a:rPr>
                        <a:t>Design Foundation</a:t>
                      </a:r>
                    </a:p>
                  </a:txBody>
                  <a:tcPr>
                    <a:solidFill>
                      <a:srgbClr val="EBFCFA"/>
                    </a:solidFill>
                  </a:tcPr>
                </a:tc>
                <a:extLst>
                  <a:ext uri="{0D108BD9-81ED-4DB2-BD59-A6C34878D82A}">
                    <a16:rowId xmlns:a16="http://schemas.microsoft.com/office/drawing/2014/main" val="10001"/>
                  </a:ext>
                </a:extLst>
              </a:tr>
              <a:tr h="231486">
                <a:tc>
                  <a:txBody>
                    <a:bodyPr/>
                    <a:lstStyle/>
                    <a:p>
                      <a:r>
                        <a:rPr sz="800" b="0">
                          <a:solidFill>
                            <a:srgbClr val="C89CCB"/>
                          </a:solidFill>
                        </a:rPr>
                        <a:t>Keyline Audit</a:t>
                      </a:r>
                    </a:p>
                  </a:txBody>
                  <a:tcPr>
                    <a:solidFill>
                      <a:srgbClr val="EBFCFA"/>
                    </a:solidFill>
                  </a:tcPr>
                </a:tc>
                <a:tc>
                  <a:txBody>
                    <a:bodyPr/>
                    <a:lstStyle/>
                    <a:p>
                      <a:r>
                        <a:rPr sz="800" b="0">
                          <a:solidFill>
                            <a:srgbClr val="C89CCB"/>
                          </a:solidFill>
                        </a:rPr>
                        <a:t>Agenda Audit</a:t>
                      </a:r>
                    </a:p>
                  </a:txBody>
                  <a:tcPr>
                    <a:solidFill>
                      <a:srgbClr val="EBFCFA"/>
                    </a:solidFill>
                  </a:tcPr>
                </a:tc>
                <a:tc>
                  <a:txBody>
                    <a:bodyPr/>
                    <a:lstStyle/>
                    <a:p>
                      <a:r>
                        <a:rPr sz="800" b="0">
                          <a:solidFill>
                            <a:srgbClr val="C89CCB"/>
                          </a:solidFill>
                        </a:rPr>
                        <a:t>Iteration</a:t>
                      </a:r>
                    </a:p>
                  </a:txBody>
                  <a:tcPr>
                    <a:solidFill>
                      <a:srgbClr val="EBFCFA"/>
                    </a:solidFill>
                  </a:tcPr>
                </a:tc>
                <a:tc>
                  <a:txBody>
                    <a:bodyPr/>
                    <a:lstStyle/>
                    <a:p>
                      <a:r>
                        <a:rPr sz="800" b="0">
                          <a:solidFill>
                            <a:srgbClr val="C89CCB"/>
                          </a:solidFill>
                        </a:rPr>
                        <a:t>Level</a:t>
                      </a:r>
                    </a:p>
                  </a:txBody>
                  <a:tcPr>
                    <a:solidFill>
                      <a:srgbClr val="EBFCFA"/>
                    </a:solidFill>
                  </a:tcPr>
                </a:tc>
                <a:tc>
                  <a:txBody>
                    <a:bodyPr/>
                    <a:lstStyle/>
                    <a:p>
                      <a:r>
                        <a:rPr sz="800" b="0">
                          <a:solidFill>
                            <a:srgbClr val="C89CCB"/>
                          </a:solidFill>
                        </a:rPr>
                        <a:t>Scope Tile</a:t>
                      </a:r>
                    </a:p>
                  </a:txBody>
                  <a:tcPr>
                    <a:solidFill>
                      <a:srgbClr val="EBFCFA"/>
                    </a:solidFill>
                  </a:tcPr>
                </a:tc>
                <a:tc>
                  <a:txBody>
                    <a:bodyPr/>
                    <a:lstStyle/>
                    <a:p>
                      <a:r>
                        <a:rPr sz="800" b="0">
                          <a:solidFill>
                            <a:srgbClr val="C89CCB"/>
                          </a:solidFill>
                        </a:rPr>
                        <a:t>Vector</a:t>
                      </a:r>
                    </a:p>
                  </a:txBody>
                  <a:tcPr>
                    <a:solidFill>
                      <a:srgbClr val="EBFCFA"/>
                    </a:solidFill>
                  </a:tcPr>
                </a:tc>
                <a:extLst>
                  <a:ext uri="{0D108BD9-81ED-4DB2-BD59-A6C34878D82A}">
                    <a16:rowId xmlns:a16="http://schemas.microsoft.com/office/drawing/2014/main" val="10002"/>
                  </a:ext>
                </a:extLst>
              </a:tr>
              <a:tr h="231486">
                <a:tc>
                  <a:txBody>
                    <a:bodyPr/>
                    <a:lstStyle/>
                    <a:p>
                      <a:r>
                        <a:rPr sz="800" b="0">
                          <a:solidFill>
                            <a:srgbClr val="C89CCB"/>
                          </a:solidFill>
                        </a:rPr>
                        <a:t>Sync</a:t>
                      </a:r>
                    </a:p>
                  </a:txBody>
                  <a:tcPr>
                    <a:solidFill>
                      <a:srgbClr val="EBFCFA"/>
                    </a:solidFill>
                  </a:tcPr>
                </a:tc>
                <a:tc>
                  <a:txBody>
                    <a:bodyPr/>
                    <a:lstStyle/>
                    <a:p>
                      <a:r>
                        <a:rPr sz="800" b="0">
                          <a:solidFill>
                            <a:srgbClr val="C89CCB"/>
                          </a:solidFill>
                        </a:rPr>
                        <a:t>Point</a:t>
                      </a:r>
                    </a:p>
                  </a:txBody>
                  <a:tcPr>
                    <a:solidFill>
                      <a:srgbClr val="EBFCFA"/>
                    </a:solidFill>
                  </a:tcPr>
                </a:tc>
                <a:tc>
                  <a:txBody>
                    <a:bodyPr/>
                    <a:lstStyle/>
                    <a:p>
                      <a:r>
                        <a:rPr sz="800" b="0">
                          <a:solidFill>
                            <a:srgbClr val="C89CCB"/>
                          </a:solidFill>
                        </a:rPr>
                        <a:t>Catalog Interface</a:t>
                      </a:r>
                    </a:p>
                  </a:txBody>
                  <a:tcPr>
                    <a:solidFill>
                      <a:srgbClr val="EBFCFA"/>
                    </a:solidFill>
                  </a:tcPr>
                </a:tc>
                <a:tc>
                  <a:txBody>
                    <a:bodyPr/>
                    <a:lstStyle/>
                    <a:p>
                      <a:r>
                        <a:rPr sz="800" b="0">
                          <a:solidFill>
                            <a:srgbClr val="C89CCB"/>
                          </a:solidFill>
                        </a:rPr>
                        <a:t>Relay</a:t>
                      </a:r>
                    </a:p>
                  </a:txBody>
                  <a:tcPr>
                    <a:solidFill>
                      <a:srgbClr val="EBFCFA"/>
                    </a:solidFill>
                  </a:tcPr>
                </a:tc>
                <a:tc>
                  <a:txBody>
                    <a:bodyPr/>
                    <a:lstStyle/>
                    <a:p>
                      <a:r>
                        <a:rPr sz="800" b="0">
                          <a:solidFill>
                            <a:srgbClr val="C89CCB"/>
                          </a:solidFill>
                        </a:rPr>
                        <a:t>Sequence Record</a:t>
                      </a:r>
                    </a:p>
                  </a:txBody>
                  <a:tcPr>
                    <a:solidFill>
                      <a:srgbClr val="EBFCFA"/>
                    </a:solidFill>
                  </a:tcPr>
                </a:tc>
                <a:tc>
                  <a:txBody>
                    <a:bodyPr/>
                    <a:lstStyle/>
                    <a:p>
                      <a:r>
                        <a:rPr sz="800" b="0">
                          <a:solidFill>
                            <a:srgbClr val="C89CCB"/>
                          </a:solidFill>
                        </a:rPr>
                        <a:t>Cluster</a:t>
                      </a:r>
                    </a:p>
                  </a:txBody>
                  <a:tcPr>
                    <a:solidFill>
                      <a:srgbClr val="EBFCFA"/>
                    </a:solidFill>
                  </a:tcPr>
                </a:tc>
                <a:extLst>
                  <a:ext uri="{0D108BD9-81ED-4DB2-BD59-A6C34878D82A}">
                    <a16:rowId xmlns:a16="http://schemas.microsoft.com/office/drawing/2014/main" val="10003"/>
                  </a:ext>
                </a:extLst>
              </a:tr>
            </a:tbl>
          </a:graphicData>
        </a:graphic>
      </p:graphicFrame>
      <p:sp>
        <p:nvSpPr>
          <p:cNvPr id="21" name="Freeform 20"/>
          <p:cNvSpPr/>
          <p:nvPr/>
        </p:nvSpPr>
        <p:spPr>
          <a:xfrm>
            <a:off x="6434846" y="196129"/>
            <a:ext cx="1805017" cy="1498207"/>
          </a:xfrm>
          <a:custGeom>
            <a:avLst/>
            <a:gdLst/>
            <a:ahLst/>
            <a:cxnLst/>
            <a:rect l="l" t="t" r="r" b="b"/>
            <a:pathLst>
              <a:path w="1805017" h="1498207">
                <a:moveTo>
                  <a:pt x="902509" y="0"/>
                </a:moveTo>
                <a:lnTo>
                  <a:pt x="1128136" y="374551"/>
                </a:lnTo>
                <a:lnTo>
                  <a:pt x="1692204" y="269677"/>
                </a:lnTo>
                <a:lnTo>
                  <a:pt x="1372565" y="749103"/>
                </a:lnTo>
                <a:lnTo>
                  <a:pt x="1805017" y="1168601"/>
                </a:lnTo>
                <a:lnTo>
                  <a:pt x="1128136" y="1078709"/>
                </a:lnTo>
                <a:lnTo>
                  <a:pt x="902509" y="1498207"/>
                </a:lnTo>
                <a:lnTo>
                  <a:pt x="676881" y="1078709"/>
                </a:lnTo>
                <a:lnTo>
                  <a:pt x="0" y="1168601"/>
                </a:lnTo>
                <a:lnTo>
                  <a:pt x="432452" y="749103"/>
                </a:lnTo>
                <a:lnTo>
                  <a:pt x="112813" y="269677"/>
                </a:lnTo>
                <a:lnTo>
                  <a:pt x="676881" y="374551"/>
                </a:lnTo>
                <a:close/>
              </a:path>
            </a:pathLst>
          </a:custGeom>
          <a:solidFill>
            <a:srgbClr val="8B4639"/>
          </a:solidFill>
          <a:ln w="13932">
            <a:solidFill>
              <a:srgbClr val="B72C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Explosion 21"/>
          <p:cNvSpPr/>
          <p:nvPr/>
        </p:nvSpPr>
        <p:spPr>
          <a:xfrm>
            <a:off x="5280176" y="385014"/>
            <a:ext cx="1121286" cy="1584548"/>
          </a:xfrm>
          <a:prstGeom prst="irregularSeal1">
            <a:avLst/>
          </a:prstGeom>
          <a:solidFill>
            <a:srgbClr val="8BACB9"/>
          </a:solidFill>
          <a:ln w="28531">
            <a:solidFill>
              <a:srgbClr val="2CDE1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98901" y="2046655"/>
            <a:ext cx="4018964" cy="333126"/>
          </a:xfrm>
          <a:prstGeom prst="rect">
            <a:avLst/>
          </a:prstGeom>
          <a:noFill/>
        </p:spPr>
        <p:txBody>
          <a:bodyPr wrap="none" lIns="56021" tIns="56021" rIns="56021" bIns="56021">
            <a:spAutoFit/>
          </a:bodyPr>
          <a:lstStyle/>
          <a:p>
            <a:r>
              <a:rPr sz="2100" b="0" i="0" u="none">
                <a:solidFill>
                  <a:srgbClr val="945998"/>
                </a:solidFill>
                <a:latin typeface="Calibri"/>
              </a:rPr>
              <a:t>Pipeline Capacity Envelope Schema Orbit Field Craft Metric Reserve Layer Craft</a:t>
            </a:r>
          </a:p>
        </p:txBody>
      </p:sp>
      <p:pic>
        <p:nvPicPr>
          <p:cNvPr id="24" name="Picture 23" descr="_example_image.jpg"/>
          <p:cNvPicPr>
            <a:picLocks noChangeAspect="1"/>
          </p:cNvPicPr>
          <p:nvPr/>
        </p:nvPicPr>
        <p:blipFill>
          <a:blip r:embed="rId2"/>
          <a:srcRect l="3791" t="7365" r="4657" b="15373"/>
          <a:stretch>
            <a:fillRect/>
          </a:stretch>
        </p:blipFill>
        <p:spPr>
          <a:xfrm>
            <a:off x="8381563" y="532063"/>
            <a:ext cx="1977216" cy="1316778"/>
          </a:xfrm>
          <a:prstGeom prst="rect">
            <a:avLst/>
          </a:prstGeom>
        </p:spPr>
      </p:pic>
      <p:sp>
        <p:nvSpPr>
          <p:cNvPr id="25" name="Rounded Rectangle 24"/>
          <p:cNvSpPr/>
          <p:nvPr/>
        </p:nvSpPr>
        <p:spPr>
          <a:xfrm>
            <a:off x="8381563" y="532063"/>
            <a:ext cx="1977216" cy="1316778"/>
          </a:xfrm>
          <a:prstGeom prst="roundRect">
            <a:avLst/>
          </a:prstGeom>
          <a:noFill/>
          <a:ln w="15240">
            <a:solidFill>
              <a:srgbClr val="4974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5871779" y="6311198"/>
            <a:ext cx="3089729" cy="409523"/>
          </a:xfrm>
          <a:prstGeom prst="curvedConnector3">
            <a:avLst/>
          </a:prstGeom>
          <a:ln w="30403">
            <a:solidFill>
              <a:srgbClr val="92B121"/>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27" name="Chart 26"/>
          <p:cNvGraphicFramePr>
            <a:graphicFrameLocks noGrp="1"/>
          </p:cNvGraphicFramePr>
          <p:nvPr/>
        </p:nvGraphicFramePr>
        <p:xfrm>
          <a:off x="3448090" y="3288981"/>
          <a:ext cx="2141556" cy="1726885"/>
        </p:xfrm>
        <a:graphic>
          <a:graphicData uri="http://schemas.openxmlformats.org/drawingml/2006/chart">
            <c:chart xmlns:c="http://schemas.openxmlformats.org/drawingml/2006/chart" xmlns:r="http://schemas.openxmlformats.org/officeDocument/2006/relationships" r:id="rId4"/>
          </a:graphicData>
        </a:graphic>
      </p:graphicFrame>
      <p:sp>
        <p:nvSpPr>
          <p:cNvPr id="28" name="TextBox 27"/>
          <p:cNvSpPr txBox="1"/>
          <p:nvPr/>
        </p:nvSpPr>
        <p:spPr>
          <a:xfrm>
            <a:off x="6955350" y="2486076"/>
            <a:ext cx="2242818" cy="1803325"/>
          </a:xfrm>
          <a:prstGeom prst="rect">
            <a:avLst/>
          </a:prstGeom>
          <a:noFill/>
        </p:spPr>
        <p:txBody>
          <a:bodyPr wrap="none" lIns="55012" tIns="55012" rIns="55012" bIns="55012">
            <a:spAutoFit/>
          </a:bodyPr>
          <a:lstStyle/>
          <a:p>
            <a:r>
              <a:rPr sz="2000" b="1" i="0" u="none">
                <a:solidFill>
                  <a:srgbClr val="E1CACE"/>
                </a:solidFill>
                <a:latin typeface="Aptos"/>
              </a:rPr>
              <a:t>Impact Detail Span Queue Threshold Element Epoch Package</a:t>
            </a:r>
          </a:p>
        </p:txBody>
      </p:sp>
      <p:pic>
        <p:nvPicPr>
          <p:cNvPr id="30" name="Graphic 29">
            <a:extLst>
              <a:ext uri="{FF2B5EF4-FFF2-40B4-BE49-F238E27FC236}">
                <a16:creationId xmlns:a16="http://schemas.microsoft.com/office/drawing/2014/main" id="{D6CB1813-A611-29FF-1AED-03FAD1AEC8A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85658" y="4791634"/>
            <a:ext cx="1168951" cy="1561972"/>
          </a:xfrm>
          <a:prstGeom prst="rect">
            <a:avLst/>
          </a:prstGeom>
        </p:spPr>
      </p:pic>
      <p:pic>
        <p:nvPicPr>
          <p:cNvPr id="32" name="Graphic 31">
            <a:extLst>
              <a:ext uri="{FF2B5EF4-FFF2-40B4-BE49-F238E27FC236}">
                <a16:creationId xmlns:a16="http://schemas.microsoft.com/office/drawing/2014/main" id="{657B47CA-5622-994D-F60B-387FD36E2C1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006933" y="4904954"/>
            <a:ext cx="2322145" cy="8403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16264" y="4060543"/>
            <a:ext cx="537373" cy="2425269"/>
          </a:xfrm>
          <a:prstGeom prst="rect">
            <a:avLst/>
          </a:prstGeom>
          <a:noFill/>
        </p:spPr>
        <p:txBody>
          <a:bodyPr wrap="none" lIns="49026" tIns="49026" rIns="49026" bIns="49026">
            <a:spAutoFit/>
          </a:bodyPr>
          <a:lstStyle/>
          <a:p>
            <a:r>
              <a:rPr sz="2200" b="1" i="0" u="sng">
                <a:solidFill>
                  <a:srgbClr val="5F53C2"/>
                </a:solidFill>
                <a:latin typeface="Calibri"/>
              </a:rPr>
              <a:t>Datum Build Datum Resource Origin Brief State Dispatch Strategy Moment Needle Intent Factor Format</a:t>
            </a:r>
          </a:p>
        </p:txBody>
      </p:sp>
      <p:sp>
        <p:nvSpPr>
          <p:cNvPr id="3" name="Up Arrow 2"/>
          <p:cNvSpPr/>
          <p:nvPr/>
        </p:nvSpPr>
        <p:spPr>
          <a:xfrm>
            <a:off x="460774" y="3463307"/>
            <a:ext cx="880633" cy="1977830"/>
          </a:xfrm>
          <a:prstGeom prst="upArrow">
            <a:avLst/>
          </a:prstGeom>
          <a:solidFill>
            <a:srgbClr val="D57B7C"/>
          </a:solidFill>
          <a:ln w="18962">
            <a:solidFill>
              <a:srgbClr val="8A5FA3"/>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27908" y="2689412"/>
            <a:ext cx="623665" cy="2036868"/>
          </a:xfrm>
          <a:prstGeom prst="rect">
            <a:avLst/>
          </a:prstGeom>
          <a:noFill/>
        </p:spPr>
        <p:txBody>
          <a:bodyPr wrap="none" lIns="36439" tIns="36439" rIns="36439" bIns="36439">
            <a:spAutoFit/>
          </a:bodyPr>
          <a:lstStyle/>
          <a:p>
            <a:r>
              <a:rPr sz="1100" b="0" i="0" u="none">
                <a:solidFill>
                  <a:srgbClr val="8A281C"/>
                </a:solidFill>
                <a:latin typeface="Calibri"/>
              </a:rPr>
              <a:t>Gradient Checkpoint Source Model Coverage</a:t>
            </a:r>
          </a:p>
        </p:txBody>
      </p:sp>
      <p:graphicFrame>
        <p:nvGraphicFramePr>
          <p:cNvPr id="5" name="Table 4"/>
          <p:cNvGraphicFramePr>
            <a:graphicFrameLocks noGrp="1"/>
          </p:cNvGraphicFramePr>
          <p:nvPr/>
        </p:nvGraphicFramePr>
        <p:xfrm>
          <a:off x="7129665" y="970281"/>
          <a:ext cx="2094728" cy="1128091"/>
        </p:xfrm>
        <a:graphic>
          <a:graphicData uri="http://schemas.openxmlformats.org/drawingml/2006/table">
            <a:tbl>
              <a:tblPr firstRow="1" bandRow="1">
                <a:tableStyleId>{5C22544A-7EE6-4342-B048-85BDC9FD1C3A}</a:tableStyleId>
              </a:tblPr>
              <a:tblGrid>
                <a:gridCol w="1047364">
                  <a:extLst>
                    <a:ext uri="{9D8B030D-6E8A-4147-A177-3AD203B41FA5}">
                      <a16:colId xmlns:a16="http://schemas.microsoft.com/office/drawing/2014/main" val="20000"/>
                    </a:ext>
                  </a:extLst>
                </a:gridCol>
                <a:gridCol w="1047364">
                  <a:extLst>
                    <a:ext uri="{9D8B030D-6E8A-4147-A177-3AD203B41FA5}">
                      <a16:colId xmlns:a16="http://schemas.microsoft.com/office/drawing/2014/main" val="20001"/>
                    </a:ext>
                  </a:extLst>
                </a:gridCol>
              </a:tblGrid>
              <a:tr h="282022">
                <a:tc>
                  <a:txBody>
                    <a:bodyPr/>
                    <a:lstStyle/>
                    <a:p>
                      <a:r>
                        <a:rPr sz="1000" b="1">
                          <a:solidFill>
                            <a:srgbClr val="97A574"/>
                          </a:solidFill>
                        </a:rPr>
                        <a:t>Duration Range</a:t>
                      </a:r>
                    </a:p>
                  </a:txBody>
                  <a:tcPr>
                    <a:solidFill>
                      <a:srgbClr val="35B83B"/>
                    </a:solidFill>
                  </a:tcPr>
                </a:tc>
                <a:tc>
                  <a:txBody>
                    <a:bodyPr/>
                    <a:lstStyle/>
                    <a:p>
                      <a:r>
                        <a:rPr sz="1000" b="1">
                          <a:solidFill>
                            <a:srgbClr val="97A574"/>
                          </a:solidFill>
                        </a:rPr>
                        <a:t>Network Alignment</a:t>
                      </a:r>
                    </a:p>
                  </a:txBody>
                  <a:tcPr>
                    <a:solidFill>
                      <a:srgbClr val="35B83B"/>
                    </a:solidFill>
                  </a:tcPr>
                </a:tc>
                <a:extLst>
                  <a:ext uri="{0D108BD9-81ED-4DB2-BD59-A6C34878D82A}">
                    <a16:rowId xmlns:a16="http://schemas.microsoft.com/office/drawing/2014/main" val="10000"/>
                  </a:ext>
                </a:extLst>
              </a:tr>
              <a:tr h="282022">
                <a:tc>
                  <a:txBody>
                    <a:bodyPr/>
                    <a:lstStyle/>
                    <a:p>
                      <a:r>
                        <a:rPr sz="1000" b="0">
                          <a:solidFill>
                            <a:srgbClr val="97A574"/>
                          </a:solidFill>
                        </a:rPr>
                        <a:t>Canvas</a:t>
                      </a:r>
                    </a:p>
                  </a:txBody>
                  <a:tcPr>
                    <a:solidFill>
                      <a:srgbClr val="D6BBF0"/>
                    </a:solidFill>
                  </a:tcPr>
                </a:tc>
                <a:tc>
                  <a:txBody>
                    <a:bodyPr/>
                    <a:lstStyle/>
                    <a:p>
                      <a:r>
                        <a:rPr sz="1000" b="0">
                          <a:solidFill>
                            <a:srgbClr val="97A574"/>
                          </a:solidFill>
                        </a:rPr>
                        <a:t>Delta Region</a:t>
                      </a:r>
                    </a:p>
                  </a:txBody>
                  <a:tcPr>
                    <a:solidFill>
                      <a:srgbClr val="D6BBF0"/>
                    </a:solidFill>
                  </a:tcPr>
                </a:tc>
                <a:extLst>
                  <a:ext uri="{0D108BD9-81ED-4DB2-BD59-A6C34878D82A}">
                    <a16:rowId xmlns:a16="http://schemas.microsoft.com/office/drawing/2014/main" val="10001"/>
                  </a:ext>
                </a:extLst>
              </a:tr>
              <a:tr h="282022">
                <a:tc>
                  <a:txBody>
                    <a:bodyPr/>
                    <a:lstStyle/>
                    <a:p>
                      <a:r>
                        <a:rPr sz="1000" b="0">
                          <a:solidFill>
                            <a:srgbClr val="97A574"/>
                          </a:solidFill>
                        </a:rPr>
                        <a:t>Drive Program</a:t>
                      </a:r>
                    </a:p>
                  </a:txBody>
                  <a:tcPr>
                    <a:solidFill>
                      <a:srgbClr val="F4ECFB"/>
                    </a:solidFill>
                  </a:tcPr>
                </a:tc>
                <a:tc>
                  <a:txBody>
                    <a:bodyPr/>
                    <a:lstStyle/>
                    <a:p>
                      <a:r>
                        <a:rPr sz="1000" b="0">
                          <a:solidFill>
                            <a:srgbClr val="97A574"/>
                          </a:solidFill>
                        </a:rPr>
                        <a:t>Goal Mode</a:t>
                      </a:r>
                    </a:p>
                  </a:txBody>
                  <a:tcPr>
                    <a:solidFill>
                      <a:srgbClr val="F4ECFB"/>
                    </a:solidFill>
                  </a:tcPr>
                </a:tc>
                <a:extLst>
                  <a:ext uri="{0D108BD9-81ED-4DB2-BD59-A6C34878D82A}">
                    <a16:rowId xmlns:a16="http://schemas.microsoft.com/office/drawing/2014/main" val="10002"/>
                  </a:ext>
                </a:extLst>
              </a:tr>
              <a:tr h="282025">
                <a:tc>
                  <a:txBody>
                    <a:bodyPr/>
                    <a:lstStyle/>
                    <a:p>
                      <a:r>
                        <a:rPr sz="1000" b="0">
                          <a:solidFill>
                            <a:srgbClr val="97A574"/>
                          </a:solidFill>
                        </a:rPr>
                        <a:t>Draft Signal</a:t>
                      </a:r>
                    </a:p>
                  </a:txBody>
                  <a:tcPr>
                    <a:solidFill>
                      <a:srgbClr val="D6BBF0"/>
                    </a:solidFill>
                  </a:tcPr>
                </a:tc>
                <a:tc>
                  <a:txBody>
                    <a:bodyPr/>
                    <a:lstStyle/>
                    <a:p>
                      <a:r>
                        <a:rPr sz="1000" b="0">
                          <a:solidFill>
                            <a:srgbClr val="97A574"/>
                          </a:solidFill>
                        </a:rPr>
                        <a:t>Asset Column</a:t>
                      </a:r>
                    </a:p>
                  </a:txBody>
                  <a:tcPr>
                    <a:solidFill>
                      <a:srgbClr val="D6BBF0"/>
                    </a:solidFill>
                  </a:tcPr>
                </a:tc>
                <a:extLst>
                  <a:ext uri="{0D108BD9-81ED-4DB2-BD59-A6C34878D82A}">
                    <a16:rowId xmlns:a16="http://schemas.microsoft.com/office/drawing/2014/main" val="10003"/>
                  </a:ext>
                </a:extLst>
              </a:tr>
            </a:tbl>
          </a:graphicData>
        </a:graphic>
      </p:graphicFrame>
      <p:pic>
        <p:nvPicPr>
          <p:cNvPr id="6" name="Picture 5" descr="_example_image.jpg"/>
          <p:cNvPicPr>
            <a:picLocks noChangeAspect="1"/>
          </p:cNvPicPr>
          <p:nvPr/>
        </p:nvPicPr>
        <p:blipFill>
          <a:blip r:embed="rId2"/>
          <a:srcRect l="5954" t="11352" r="9180" b="20764"/>
          <a:stretch>
            <a:fillRect/>
          </a:stretch>
        </p:blipFill>
        <p:spPr>
          <a:xfrm>
            <a:off x="2094798" y="3347330"/>
            <a:ext cx="2550398" cy="1524081"/>
          </a:xfrm>
          <a:prstGeom prst="rect">
            <a:avLst/>
          </a:prstGeom>
        </p:spPr>
      </p:pic>
      <p:sp>
        <p:nvSpPr>
          <p:cNvPr id="7" name="Rounded Rectangle 6"/>
          <p:cNvSpPr/>
          <p:nvPr/>
        </p:nvSpPr>
        <p:spPr>
          <a:xfrm>
            <a:off x="2094798" y="3347330"/>
            <a:ext cx="2550398" cy="1524081"/>
          </a:xfrm>
          <a:prstGeom prst="roundRect">
            <a:avLst/>
          </a:prstGeom>
          <a:noFill/>
          <a:ln w="15240">
            <a:solidFill>
              <a:srgbClr val="5581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l="11551" t="21038" r="15943" b="15846"/>
          <a:stretch>
            <a:fillRect/>
          </a:stretch>
        </p:blipFill>
        <p:spPr>
          <a:xfrm>
            <a:off x="2561433" y="1740663"/>
            <a:ext cx="1398764" cy="878550"/>
          </a:xfrm>
          <a:prstGeom prst="rect">
            <a:avLst/>
          </a:prstGeom>
        </p:spPr>
      </p:pic>
      <p:sp>
        <p:nvSpPr>
          <p:cNvPr id="9" name="8-Point Star 8"/>
          <p:cNvSpPr/>
          <p:nvPr/>
        </p:nvSpPr>
        <p:spPr>
          <a:xfrm>
            <a:off x="8894031" y="1786213"/>
            <a:ext cx="1552712" cy="1364114"/>
          </a:xfrm>
          <a:prstGeom prst="star8">
            <a:avLst/>
          </a:prstGeom>
          <a:solidFill>
            <a:srgbClr val="DAD781"/>
          </a:solidFill>
          <a:ln w="7243">
            <a:solidFill>
              <a:srgbClr val="9CD9D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11559" y="2046742"/>
            <a:ext cx="1019562" cy="1081333"/>
          </a:xfrm>
          <a:prstGeom prst="rect">
            <a:avLst/>
          </a:prstGeom>
          <a:noFill/>
        </p:spPr>
        <p:txBody>
          <a:bodyPr wrap="none" lIns="60495" tIns="60495" rIns="60495" bIns="60495">
            <a:spAutoFit/>
          </a:bodyPr>
          <a:lstStyle/>
          <a:p>
            <a:r>
              <a:rPr sz="4300" b="1" i="0" u="none">
                <a:solidFill>
                  <a:srgbClr val="5B79C5"/>
                </a:solidFill>
                <a:latin typeface="Calibri"/>
              </a:rPr>
              <a:t>Range Limit Region</a:t>
            </a:r>
          </a:p>
        </p:txBody>
      </p:sp>
      <p:sp>
        <p:nvSpPr>
          <p:cNvPr id="11" name="Freeform 10"/>
          <p:cNvSpPr/>
          <p:nvPr/>
        </p:nvSpPr>
        <p:spPr>
          <a:xfrm>
            <a:off x="1010521" y="4405524"/>
            <a:ext cx="1364207" cy="1045650"/>
          </a:xfrm>
          <a:custGeom>
            <a:avLst/>
            <a:gdLst/>
            <a:ahLst/>
            <a:cxnLst/>
            <a:rect l="l" t="t" r="r" b="b"/>
            <a:pathLst>
              <a:path w="1364207" h="1045650">
                <a:moveTo>
                  <a:pt x="0" y="232367"/>
                </a:moveTo>
                <a:lnTo>
                  <a:pt x="293378" y="0"/>
                </a:lnTo>
                <a:lnTo>
                  <a:pt x="586756" y="313695"/>
                </a:lnTo>
                <a:lnTo>
                  <a:pt x="880133" y="34855"/>
                </a:lnTo>
                <a:lnTo>
                  <a:pt x="1364207" y="813284"/>
                </a:lnTo>
                <a:lnTo>
                  <a:pt x="1026822" y="1045650"/>
                </a:lnTo>
                <a:lnTo>
                  <a:pt x="704107" y="697100"/>
                </a:lnTo>
                <a:lnTo>
                  <a:pt x="337384" y="1010795"/>
                </a:lnTo>
                <a:close/>
              </a:path>
            </a:pathLst>
          </a:custGeom>
          <a:solidFill>
            <a:srgbClr val="39A953"/>
          </a:solidFill>
          <a:ln w="13052">
            <a:solidFill>
              <a:srgbClr val="3228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5925781" y="343461"/>
            <a:ext cx="827702" cy="698961"/>
          </a:xfrm>
          <a:custGeom>
            <a:avLst/>
            <a:gdLst/>
            <a:ahLst/>
            <a:cxnLst/>
            <a:rect l="l" t="t" r="r" b="b"/>
            <a:pathLst>
              <a:path w="827702" h="698961">
                <a:moveTo>
                  <a:pt x="89000" y="118972"/>
                </a:moveTo>
                <a:lnTo>
                  <a:pt x="293701" y="0"/>
                </a:lnTo>
                <a:lnTo>
                  <a:pt x="605202" y="59486"/>
                </a:lnTo>
                <a:lnTo>
                  <a:pt x="827702" y="282559"/>
                </a:lnTo>
                <a:lnTo>
                  <a:pt x="712002" y="579989"/>
                </a:lnTo>
                <a:lnTo>
                  <a:pt x="382701" y="698961"/>
                </a:lnTo>
                <a:lnTo>
                  <a:pt x="53400" y="505631"/>
                </a:lnTo>
                <a:lnTo>
                  <a:pt x="0" y="252815"/>
                </a:lnTo>
                <a:close/>
              </a:path>
            </a:pathLst>
          </a:custGeom>
          <a:solidFill>
            <a:srgbClr val="7D4DBF"/>
          </a:solidFill>
          <a:ln w="9419">
            <a:solidFill>
              <a:srgbClr val="CE9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Chart 12"/>
          <p:cNvGraphicFramePr>
            <a:graphicFrameLocks noGrp="1"/>
          </p:cNvGraphicFramePr>
          <p:nvPr/>
        </p:nvGraphicFramePr>
        <p:xfrm>
          <a:off x="5573930" y="1420872"/>
          <a:ext cx="2083568" cy="1918033"/>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5078923" y="3912740"/>
            <a:ext cx="1692565" cy="1442480"/>
          </a:xfrm>
          <a:prstGeom prst="rect">
            <a:avLst/>
          </a:prstGeom>
          <a:noFill/>
        </p:spPr>
        <p:txBody>
          <a:bodyPr wrap="none" lIns="32370" tIns="32370" rIns="32370" bIns="32370">
            <a:spAutoFit/>
          </a:bodyPr>
          <a:lstStyle/>
          <a:p>
            <a:r>
              <a:rPr sz="900" b="1" i="0" u="none">
                <a:solidFill>
                  <a:srgbClr val="A9872D"/>
                </a:solidFill>
                <a:latin typeface="Aptos"/>
              </a:rPr>
              <a:t>Feature Foundation Portal Canvas Scale Envelope Portal Phase Module Region Result Journey Adaptive Priority Priority Marker Pipeline Circuit Column Asset Pixel Analysis Workflow Indicator Queueing Payload Viewport Trend Iteration Keyline Range Sync Program Account Ratio Hub Datum Snapshot Path Exchange Center</a:t>
            </a:r>
          </a:p>
        </p:txBody>
      </p:sp>
      <p:pic>
        <p:nvPicPr>
          <p:cNvPr id="15" name="Picture 14" descr="_example_image.jpg"/>
          <p:cNvPicPr>
            <a:picLocks noChangeAspect="1"/>
          </p:cNvPicPr>
          <p:nvPr/>
        </p:nvPicPr>
        <p:blipFill>
          <a:blip r:embed="rId2"/>
          <a:srcRect l="21267" t="2527" r="11100" b="12031"/>
          <a:stretch>
            <a:fillRect/>
          </a:stretch>
        </p:blipFill>
        <p:spPr>
          <a:xfrm>
            <a:off x="3484117" y="331849"/>
            <a:ext cx="2363771" cy="850630"/>
          </a:xfrm>
          <a:prstGeom prst="rect">
            <a:avLst/>
          </a:prstGeom>
        </p:spPr>
      </p:pic>
      <p:sp>
        <p:nvSpPr>
          <p:cNvPr id="16" name="Rounded Rectangle 15"/>
          <p:cNvSpPr/>
          <p:nvPr/>
        </p:nvSpPr>
        <p:spPr>
          <a:xfrm>
            <a:off x="3484117" y="331849"/>
            <a:ext cx="2363771" cy="850630"/>
          </a:xfrm>
          <a:prstGeom prst="roundRect">
            <a:avLst/>
          </a:prstGeom>
          <a:noFill/>
          <a:ln w="15240">
            <a:solidFill>
              <a:srgbClr val="C425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57829" y="4985624"/>
            <a:ext cx="833562" cy="1129955"/>
          </a:xfrm>
          <a:prstGeom prst="rect">
            <a:avLst/>
          </a:prstGeom>
          <a:noFill/>
        </p:spPr>
        <p:txBody>
          <a:bodyPr wrap="none" lIns="57699" tIns="57699" rIns="57699" bIns="57699">
            <a:spAutoFit/>
          </a:bodyPr>
          <a:lstStyle/>
          <a:p>
            <a:r>
              <a:rPr sz="1200" b="0" i="0" u="none">
                <a:solidFill>
                  <a:srgbClr val="392351"/>
                </a:solidFill>
                <a:latin typeface="Aptos"/>
              </a:rPr>
              <a:t>Packet</a:t>
            </a:r>
          </a:p>
        </p:txBody>
      </p:sp>
      <p:sp>
        <p:nvSpPr>
          <p:cNvPr id="18" name="Trapezoid 17"/>
          <p:cNvSpPr/>
          <p:nvPr/>
        </p:nvSpPr>
        <p:spPr>
          <a:xfrm>
            <a:off x="456845" y="2219506"/>
            <a:ext cx="2477193" cy="1060838"/>
          </a:xfrm>
          <a:prstGeom prst="trapezoid">
            <a:avLst/>
          </a:prstGeom>
          <a:solidFill>
            <a:srgbClr val="6A2EAC"/>
          </a:solidFill>
          <a:ln w="25164">
            <a:solidFill>
              <a:srgbClr val="77D5BE"/>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ata 18"/>
          <p:cNvSpPr/>
          <p:nvPr/>
        </p:nvSpPr>
        <p:spPr>
          <a:xfrm>
            <a:off x="10399559" y="5800777"/>
            <a:ext cx="1297548" cy="755103"/>
          </a:xfrm>
          <a:prstGeom prst="flowChartInputOutput">
            <a:avLst/>
          </a:prstGeom>
          <a:solidFill>
            <a:srgbClr val="CD36C4"/>
          </a:solidFill>
          <a:ln w="22794">
            <a:solidFill>
              <a:srgbClr val="76A15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11275" y="3190612"/>
            <a:ext cx="695056" cy="1753890"/>
          </a:xfrm>
          <a:prstGeom prst="rect">
            <a:avLst/>
          </a:prstGeom>
          <a:noFill/>
        </p:spPr>
        <p:txBody>
          <a:bodyPr wrap="none" lIns="22587" tIns="22587" rIns="22587" bIns="22587">
            <a:spAutoFit/>
          </a:bodyPr>
          <a:lstStyle/>
          <a:p>
            <a:r>
              <a:rPr sz="3200" b="1" i="0" u="none">
                <a:solidFill>
                  <a:srgbClr val="4CC0BA"/>
                </a:solidFill>
                <a:latin typeface="Verdana"/>
              </a:rPr>
              <a:t>Stage Dimension Program Cluster</a:t>
            </a:r>
          </a:p>
        </p:txBody>
      </p:sp>
      <p:cxnSp>
        <p:nvCxnSpPr>
          <p:cNvPr id="21" name="Connector 20"/>
          <p:cNvCxnSpPr/>
          <p:nvPr/>
        </p:nvCxnSpPr>
        <p:spPr>
          <a:xfrm flipV="1">
            <a:off x="4613242" y="2905949"/>
            <a:ext cx="1232202" cy="989256"/>
          </a:xfrm>
          <a:prstGeom prst="bentConnector3">
            <a:avLst/>
          </a:prstGeom>
          <a:ln w="48840">
            <a:solidFill>
              <a:srgbClr val="8A2EA6"/>
            </a:solidFill>
            <a:prstDash val="dash"/>
          </a:ln>
        </p:spPr>
        <p:style>
          <a:lnRef idx="2">
            <a:schemeClr val="accent1"/>
          </a:lnRef>
          <a:fillRef idx="0">
            <a:schemeClr val="accent1"/>
          </a:fillRef>
          <a:effectRef idx="1">
            <a:schemeClr val="accent1"/>
          </a:effectRef>
          <a:fontRef idx="minor">
            <a:schemeClr val="tx1"/>
          </a:fontRef>
        </p:style>
      </p:cxnSp>
      <p:sp>
        <p:nvSpPr>
          <p:cNvPr id="22" name="Rectangular Callout 21"/>
          <p:cNvSpPr/>
          <p:nvPr/>
        </p:nvSpPr>
        <p:spPr>
          <a:xfrm>
            <a:off x="2055132" y="1278866"/>
            <a:ext cx="2039467" cy="432911"/>
          </a:xfrm>
          <a:prstGeom prst="wedgeRectCallout">
            <a:avLst/>
          </a:prstGeom>
          <a:solidFill>
            <a:srgbClr val="D5639B"/>
          </a:solidFill>
          <a:ln w="18045">
            <a:solidFill>
              <a:srgbClr val="74E69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3" name="Connector 22"/>
          <p:cNvCxnSpPr/>
          <p:nvPr/>
        </p:nvCxnSpPr>
        <p:spPr>
          <a:xfrm flipV="1">
            <a:off x="10514576" y="3861312"/>
            <a:ext cx="1405559" cy="385788"/>
          </a:xfrm>
          <a:prstGeom prst="line">
            <a:avLst/>
          </a:prstGeom>
          <a:ln w="44005">
            <a:solidFill>
              <a:srgbClr val="C580E4"/>
            </a:solidFill>
            <a:prstDash val="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24952" y="1464977"/>
            <a:ext cx="1160905" cy="562990"/>
          </a:xfrm>
          <a:prstGeom prst="line">
            <a:avLst/>
          </a:prstGeom>
          <a:ln w="29059">
            <a:solidFill>
              <a:srgbClr val="80D530"/>
            </a:solidFill>
            <a:prstDash val="dot"/>
          </a:ln>
        </p:spPr>
        <p:style>
          <a:lnRef idx="2">
            <a:schemeClr val="accent1"/>
          </a:lnRef>
          <a:fillRef idx="0">
            <a:schemeClr val="accent1"/>
          </a:fillRef>
          <a:effectRef idx="1">
            <a:schemeClr val="accent1"/>
          </a:effectRef>
          <a:fontRef idx="minor">
            <a:schemeClr val="tx1"/>
          </a:fontRef>
        </p:style>
      </p:cxnSp>
      <p:sp>
        <p:nvSpPr>
          <p:cNvPr id="25" name="Cube 24"/>
          <p:cNvSpPr/>
          <p:nvPr/>
        </p:nvSpPr>
        <p:spPr>
          <a:xfrm>
            <a:off x="7404097" y="5715276"/>
            <a:ext cx="1178628" cy="508171"/>
          </a:xfrm>
          <a:prstGeom prst="cube">
            <a:avLst/>
          </a:prstGeom>
          <a:solidFill>
            <a:srgbClr val="DBD185"/>
          </a:solidFill>
          <a:ln w="17492">
            <a:solidFill>
              <a:srgbClr val="699352"/>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Table 25"/>
          <p:cNvGraphicFramePr>
            <a:graphicFrameLocks noGrp="1"/>
          </p:cNvGraphicFramePr>
          <p:nvPr/>
        </p:nvGraphicFramePr>
        <p:xfrm>
          <a:off x="8107763" y="4821684"/>
          <a:ext cx="2501823" cy="1141156"/>
        </p:xfrm>
        <a:graphic>
          <a:graphicData uri="http://schemas.openxmlformats.org/drawingml/2006/table">
            <a:tbl>
              <a:tblPr firstRow="1" bandRow="1">
                <a:tableStyleId>{5C22544A-7EE6-4342-B048-85BDC9FD1C3A}</a:tableStyleId>
              </a:tblPr>
              <a:tblGrid>
                <a:gridCol w="1250911">
                  <a:extLst>
                    <a:ext uri="{9D8B030D-6E8A-4147-A177-3AD203B41FA5}">
                      <a16:colId xmlns:a16="http://schemas.microsoft.com/office/drawing/2014/main" val="20000"/>
                    </a:ext>
                  </a:extLst>
                </a:gridCol>
                <a:gridCol w="1250912">
                  <a:extLst>
                    <a:ext uri="{9D8B030D-6E8A-4147-A177-3AD203B41FA5}">
                      <a16:colId xmlns:a16="http://schemas.microsoft.com/office/drawing/2014/main" val="20001"/>
                    </a:ext>
                  </a:extLst>
                </a:gridCol>
              </a:tblGrid>
              <a:tr h="380385">
                <a:tc>
                  <a:txBody>
                    <a:bodyPr/>
                    <a:lstStyle/>
                    <a:p>
                      <a:r>
                        <a:rPr sz="1000" b="1">
                          <a:solidFill>
                            <a:srgbClr val="85BB82"/>
                          </a:solidFill>
                        </a:rPr>
                        <a:t>Input</a:t>
                      </a:r>
                    </a:p>
                  </a:txBody>
                  <a:tcPr>
                    <a:solidFill>
                      <a:srgbClr val="2F209D"/>
                    </a:solidFill>
                  </a:tcPr>
                </a:tc>
                <a:tc>
                  <a:txBody>
                    <a:bodyPr/>
                    <a:lstStyle/>
                    <a:p>
                      <a:r>
                        <a:rPr sz="1000" b="1">
                          <a:solidFill>
                            <a:srgbClr val="85BB82"/>
                          </a:solidFill>
                        </a:rPr>
                        <a:t>Signal Release</a:t>
                      </a:r>
                    </a:p>
                  </a:txBody>
                  <a:tcPr>
                    <a:solidFill>
                      <a:srgbClr val="2F209D"/>
                    </a:solidFill>
                  </a:tcPr>
                </a:tc>
                <a:extLst>
                  <a:ext uri="{0D108BD9-81ED-4DB2-BD59-A6C34878D82A}">
                    <a16:rowId xmlns:a16="http://schemas.microsoft.com/office/drawing/2014/main" val="10000"/>
                  </a:ext>
                </a:extLst>
              </a:tr>
              <a:tr h="380385">
                <a:tc>
                  <a:txBody>
                    <a:bodyPr/>
                    <a:lstStyle/>
                    <a:p>
                      <a:r>
                        <a:rPr sz="1000" b="0">
                          <a:solidFill>
                            <a:srgbClr val="85BB82"/>
                          </a:solidFill>
                        </a:rPr>
                        <a:t>Loop</a:t>
                      </a:r>
                    </a:p>
                  </a:txBody>
                  <a:tcPr>
                    <a:solidFill>
                      <a:srgbClr val="EDECF8"/>
                    </a:solidFill>
                  </a:tcPr>
                </a:tc>
                <a:tc>
                  <a:txBody>
                    <a:bodyPr/>
                    <a:lstStyle/>
                    <a:p>
                      <a:r>
                        <a:rPr sz="1000" b="0">
                          <a:solidFill>
                            <a:srgbClr val="85BB82"/>
                          </a:solidFill>
                        </a:rPr>
                        <a:t>Narrative</a:t>
                      </a:r>
                    </a:p>
                  </a:txBody>
                  <a:tcPr>
                    <a:solidFill>
                      <a:srgbClr val="EDECF8"/>
                    </a:solidFill>
                  </a:tcPr>
                </a:tc>
                <a:extLst>
                  <a:ext uri="{0D108BD9-81ED-4DB2-BD59-A6C34878D82A}">
                    <a16:rowId xmlns:a16="http://schemas.microsoft.com/office/drawing/2014/main" val="10001"/>
                  </a:ext>
                </a:extLst>
              </a:tr>
              <a:tr h="380386">
                <a:tc>
                  <a:txBody>
                    <a:bodyPr/>
                    <a:lstStyle/>
                    <a:p>
                      <a:r>
                        <a:rPr sz="1000" b="0">
                          <a:solidFill>
                            <a:srgbClr val="85BB82"/>
                          </a:solidFill>
                        </a:rPr>
                        <a:t>Transform Radius</a:t>
                      </a:r>
                    </a:p>
                  </a:txBody>
                  <a:tcPr>
                    <a:solidFill>
                      <a:srgbClr val="EDECF8"/>
                    </a:solidFill>
                  </a:tcPr>
                </a:tc>
                <a:tc>
                  <a:txBody>
                    <a:bodyPr/>
                    <a:lstStyle/>
                    <a:p>
                      <a:r>
                        <a:rPr sz="1000" b="0">
                          <a:solidFill>
                            <a:srgbClr val="85BB82"/>
                          </a:solidFill>
                        </a:rPr>
                        <a:t>Envelope</a:t>
                      </a:r>
                    </a:p>
                  </a:txBody>
                  <a:tcPr>
                    <a:solidFill>
                      <a:srgbClr val="EDECF8"/>
                    </a:solidFill>
                  </a:tcPr>
                </a:tc>
                <a:extLst>
                  <a:ext uri="{0D108BD9-81ED-4DB2-BD59-A6C34878D82A}">
                    <a16:rowId xmlns:a16="http://schemas.microsoft.com/office/drawing/2014/main" val="10002"/>
                  </a:ext>
                </a:extLst>
              </a:tr>
            </a:tbl>
          </a:graphicData>
        </a:graphic>
      </p:graphicFrame>
      <p:sp>
        <p:nvSpPr>
          <p:cNvPr id="27" name="Not Equal 26"/>
          <p:cNvSpPr/>
          <p:nvPr/>
        </p:nvSpPr>
        <p:spPr>
          <a:xfrm>
            <a:off x="6096627" y="2274947"/>
            <a:ext cx="1894605" cy="563358"/>
          </a:xfrm>
          <a:prstGeom prst="mathNotEqual">
            <a:avLst/>
          </a:prstGeom>
          <a:solidFill>
            <a:srgbClr val="7727AF"/>
          </a:solidFill>
          <a:ln w="11854">
            <a:solidFill>
              <a:srgbClr val="8A7A7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Chart 27"/>
          <p:cNvGraphicFramePr>
            <a:graphicFrameLocks noGrp="1"/>
          </p:cNvGraphicFramePr>
          <p:nvPr/>
        </p:nvGraphicFramePr>
        <p:xfrm>
          <a:off x="9492704" y="891837"/>
          <a:ext cx="2400562" cy="2752657"/>
        </p:xfrm>
        <a:graphic>
          <a:graphicData uri="http://schemas.openxmlformats.org/drawingml/2006/chart">
            <c:chart xmlns:c="http://schemas.openxmlformats.org/drawingml/2006/chart" xmlns:r="http://schemas.openxmlformats.org/officeDocument/2006/relationships" r:id="rId4"/>
          </a:graphicData>
        </a:graphic>
      </p:graphicFrame>
      <p:pic>
        <p:nvPicPr>
          <p:cNvPr id="30" name="Graphic 29">
            <a:extLst>
              <a:ext uri="{FF2B5EF4-FFF2-40B4-BE49-F238E27FC236}">
                <a16:creationId xmlns:a16="http://schemas.microsoft.com/office/drawing/2014/main" id="{8B5A5B04-B337-6A62-190D-1EE25455240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795838" y="409047"/>
            <a:ext cx="1004330" cy="749341"/>
          </a:xfrm>
          <a:prstGeom prst="rect">
            <a:avLst/>
          </a:prstGeom>
        </p:spPr>
      </p:pic>
      <p:pic>
        <p:nvPicPr>
          <p:cNvPr id="32" name="Graphic 31">
            <a:extLst>
              <a:ext uri="{FF2B5EF4-FFF2-40B4-BE49-F238E27FC236}">
                <a16:creationId xmlns:a16="http://schemas.microsoft.com/office/drawing/2014/main" id="{59B8BB39-1519-15AF-0FB7-A23F8AF45DD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457332" y="5856420"/>
            <a:ext cx="3037239" cy="8417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3083954" y="4834632"/>
            <a:ext cx="977595" cy="972732"/>
          </a:xfrm>
          <a:custGeom>
            <a:avLst/>
            <a:gdLst/>
            <a:ahLst/>
            <a:cxnLst/>
            <a:rect l="l" t="t" r="r" b="b"/>
            <a:pathLst>
              <a:path w="977595" h="972732">
                <a:moveTo>
                  <a:pt x="0" y="216163"/>
                </a:moveTo>
                <a:lnTo>
                  <a:pt x="210236" y="0"/>
                </a:lnTo>
                <a:lnTo>
                  <a:pt x="420471" y="291820"/>
                </a:lnTo>
                <a:lnTo>
                  <a:pt x="630706" y="32424"/>
                </a:lnTo>
                <a:lnTo>
                  <a:pt x="977595" y="756569"/>
                </a:lnTo>
                <a:lnTo>
                  <a:pt x="735824" y="972732"/>
                </a:lnTo>
                <a:lnTo>
                  <a:pt x="504565" y="648488"/>
                </a:lnTo>
                <a:lnTo>
                  <a:pt x="241771" y="940308"/>
                </a:lnTo>
                <a:close/>
              </a:path>
            </a:pathLst>
          </a:custGeom>
          <a:solidFill>
            <a:srgbClr val="E55A26"/>
          </a:solidFill>
          <a:ln w="25544">
            <a:solidFill>
              <a:srgbClr val="444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flipV="1">
            <a:off x="475643" y="2970655"/>
            <a:ext cx="2394072" cy="411775"/>
          </a:xfrm>
          <a:prstGeom prst="curvedConnector3">
            <a:avLst/>
          </a:prstGeom>
          <a:ln w="32643">
            <a:solidFill>
              <a:srgbClr val="4EB977"/>
            </a:solidFill>
            <a:prstDash val="solid"/>
          </a:ln>
        </p:spPr>
        <p:style>
          <a:lnRef idx="2">
            <a:schemeClr val="accent1"/>
          </a:lnRef>
          <a:fillRef idx="0">
            <a:schemeClr val="accent1"/>
          </a:fillRef>
          <a:effectRef idx="1">
            <a:schemeClr val="accent1"/>
          </a:effectRef>
          <a:fontRef idx="minor">
            <a:schemeClr val="tx1"/>
          </a:fontRef>
        </p:style>
      </p:cxnSp>
      <p:sp>
        <p:nvSpPr>
          <p:cNvPr id="4" name="Oval Callout 3"/>
          <p:cNvSpPr/>
          <p:nvPr/>
        </p:nvSpPr>
        <p:spPr>
          <a:xfrm>
            <a:off x="4503652" y="3915702"/>
            <a:ext cx="2043519" cy="1583632"/>
          </a:xfrm>
          <a:prstGeom prst="wedgeEllipseCallout">
            <a:avLst/>
          </a:prstGeom>
          <a:solidFill>
            <a:srgbClr val="292890"/>
          </a:solidFill>
          <a:ln w="20660">
            <a:solidFill>
              <a:srgbClr val="71B22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redefined Process 4"/>
          <p:cNvSpPr/>
          <p:nvPr/>
        </p:nvSpPr>
        <p:spPr>
          <a:xfrm>
            <a:off x="10691961" y="2152849"/>
            <a:ext cx="634231" cy="1508242"/>
          </a:xfrm>
          <a:prstGeom prst="flowChartPredefinedProcess">
            <a:avLst/>
          </a:prstGeom>
          <a:solidFill>
            <a:srgbClr val="B78AC2"/>
          </a:solidFill>
          <a:ln w="10219">
            <a:solidFill>
              <a:srgbClr val="43A74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81289" y="5631578"/>
            <a:ext cx="2506752" cy="835814"/>
          </a:xfrm>
          <a:prstGeom prst="rect">
            <a:avLst/>
          </a:prstGeom>
          <a:solidFill>
            <a:srgbClr val="C66C9B"/>
          </a:solidFill>
        </p:spPr>
        <p:txBody>
          <a:bodyPr wrap="none" lIns="18798" tIns="18798" rIns="18798" bIns="18798">
            <a:spAutoFit/>
          </a:bodyPr>
          <a:lstStyle/>
          <a:p>
            <a:r>
              <a:rPr sz="4800" b="1" i="0" u="none">
                <a:solidFill>
                  <a:srgbClr val="693551"/>
                </a:solidFill>
                <a:latin typeface="Calibri"/>
              </a:rPr>
              <a:t>Briefing Explorer Sync Library Schema</a:t>
            </a:r>
          </a:p>
        </p:txBody>
      </p:sp>
      <p:sp>
        <p:nvSpPr>
          <p:cNvPr id="7" name="Right Triangle 6"/>
          <p:cNvSpPr/>
          <p:nvPr/>
        </p:nvSpPr>
        <p:spPr>
          <a:xfrm>
            <a:off x="8777582" y="324003"/>
            <a:ext cx="1661444" cy="851688"/>
          </a:xfrm>
          <a:prstGeom prst="rtTriangle">
            <a:avLst/>
          </a:prstGeom>
          <a:solidFill>
            <a:srgbClr val="1F206D"/>
          </a:solidFill>
          <a:ln w="28408">
            <a:solidFill>
              <a:srgbClr val="A7274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a:stretch>
            <a:fillRect/>
          </a:stretch>
        </p:blipFill>
        <p:spPr>
          <a:xfrm>
            <a:off x="849610" y="170274"/>
            <a:ext cx="1040881" cy="1134800"/>
          </a:xfrm>
          <a:prstGeom prst="rect">
            <a:avLst/>
          </a:prstGeom>
        </p:spPr>
      </p:pic>
      <p:sp>
        <p:nvSpPr>
          <p:cNvPr id="9" name="Rounded Rectangle 8"/>
          <p:cNvSpPr/>
          <p:nvPr/>
        </p:nvSpPr>
        <p:spPr>
          <a:xfrm>
            <a:off x="849610" y="170274"/>
            <a:ext cx="1040881" cy="1134800"/>
          </a:xfrm>
          <a:prstGeom prst="roundRect">
            <a:avLst/>
          </a:prstGeom>
          <a:noFill/>
          <a:ln w="15240">
            <a:solidFill>
              <a:srgbClr val="C0E3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2822" y="2457931"/>
            <a:ext cx="891697" cy="1038880"/>
          </a:xfrm>
          <a:prstGeom prst="rect">
            <a:avLst/>
          </a:prstGeom>
          <a:noFill/>
        </p:spPr>
        <p:txBody>
          <a:bodyPr wrap="none" lIns="51773" tIns="51773" rIns="51773" bIns="51773">
            <a:spAutoFit/>
          </a:bodyPr>
          <a:lstStyle/>
          <a:p>
            <a:r>
              <a:rPr sz="1300" b="0" i="0" u="none">
                <a:solidFill>
                  <a:srgbClr val="98A6E6"/>
                </a:solidFill>
                <a:latin typeface="Aptos"/>
              </a:rPr>
              <a:t>Connector Format Atlas Energy Narrative Request Trigger Link Baseline Trend Route Diagram Story Goal Balance Result Network North Event Limit</a:t>
            </a:r>
          </a:p>
        </p:txBody>
      </p:sp>
      <p:graphicFrame>
        <p:nvGraphicFramePr>
          <p:cNvPr id="11" name="Chart 10"/>
          <p:cNvGraphicFramePr>
            <a:graphicFrameLocks noGrp="1"/>
          </p:cNvGraphicFramePr>
          <p:nvPr/>
        </p:nvGraphicFramePr>
        <p:xfrm>
          <a:off x="9178489" y="1355768"/>
          <a:ext cx="2478729" cy="15766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a:graphicFrameLocks noGrp="1"/>
          </p:cNvGraphicFramePr>
          <p:nvPr/>
        </p:nvGraphicFramePr>
        <p:xfrm>
          <a:off x="6691550" y="4639962"/>
          <a:ext cx="3000641" cy="1895654"/>
        </p:xfrm>
        <a:graphic>
          <a:graphicData uri="http://schemas.openxmlformats.org/drawingml/2006/chart">
            <c:chart xmlns:c="http://schemas.openxmlformats.org/drawingml/2006/chart" xmlns:r="http://schemas.openxmlformats.org/officeDocument/2006/relationships" r:id="rId4"/>
          </a:graphicData>
        </a:graphic>
      </p:graphicFrame>
      <p:cxnSp>
        <p:nvCxnSpPr>
          <p:cNvPr id="13" name="Connector 12"/>
          <p:cNvCxnSpPr/>
          <p:nvPr/>
        </p:nvCxnSpPr>
        <p:spPr>
          <a:xfrm>
            <a:off x="6199245" y="1025969"/>
            <a:ext cx="1696254" cy="521183"/>
          </a:xfrm>
          <a:prstGeom prst="curvedConnector3">
            <a:avLst/>
          </a:prstGeom>
          <a:ln w="43636">
            <a:solidFill>
              <a:srgbClr val="8083D8"/>
            </a:solidFill>
            <a:prstDash val="dash"/>
          </a:ln>
        </p:spPr>
        <p:style>
          <a:lnRef idx="2">
            <a:schemeClr val="accent1"/>
          </a:lnRef>
          <a:fillRef idx="0">
            <a:schemeClr val="accent1"/>
          </a:fillRef>
          <a:effectRef idx="1">
            <a:schemeClr val="accent1"/>
          </a:effectRef>
          <a:fontRef idx="minor">
            <a:schemeClr val="tx1"/>
          </a:fontRef>
        </p:style>
      </p:cxnSp>
      <p:pic>
        <p:nvPicPr>
          <p:cNvPr id="14" name="Picture 13" descr="_example_image.jpg"/>
          <p:cNvPicPr>
            <a:picLocks noChangeAspect="1"/>
          </p:cNvPicPr>
          <p:nvPr/>
        </p:nvPicPr>
        <p:blipFill>
          <a:blip r:embed="rId2"/>
          <a:srcRect l="2000" t="10510" r="10096" b="18150"/>
          <a:stretch>
            <a:fillRect/>
          </a:stretch>
        </p:blipFill>
        <p:spPr>
          <a:xfrm>
            <a:off x="7179046" y="1684470"/>
            <a:ext cx="1458144" cy="2114419"/>
          </a:xfrm>
          <a:prstGeom prst="rect">
            <a:avLst/>
          </a:prstGeom>
        </p:spPr>
      </p:pic>
      <p:cxnSp>
        <p:nvCxnSpPr>
          <p:cNvPr id="15" name="Connector 14"/>
          <p:cNvCxnSpPr/>
          <p:nvPr/>
        </p:nvCxnSpPr>
        <p:spPr>
          <a:xfrm>
            <a:off x="420483" y="1875351"/>
            <a:ext cx="1039208" cy="948746"/>
          </a:xfrm>
          <a:prstGeom prst="bentConnector3">
            <a:avLst/>
          </a:prstGeom>
          <a:ln w="42365">
            <a:solidFill>
              <a:srgbClr val="971B2C"/>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8538696" y="4492160"/>
          <a:ext cx="3250042" cy="1439680"/>
        </p:xfrm>
        <a:graphic>
          <a:graphicData uri="http://schemas.openxmlformats.org/drawingml/2006/table">
            <a:tbl>
              <a:tblPr firstRow="1" bandRow="1">
                <a:tableStyleId>{5C22544A-7EE6-4342-B048-85BDC9FD1C3A}</a:tableStyleId>
              </a:tblPr>
              <a:tblGrid>
                <a:gridCol w="541673">
                  <a:extLst>
                    <a:ext uri="{9D8B030D-6E8A-4147-A177-3AD203B41FA5}">
                      <a16:colId xmlns:a16="http://schemas.microsoft.com/office/drawing/2014/main" val="20000"/>
                    </a:ext>
                  </a:extLst>
                </a:gridCol>
                <a:gridCol w="541673">
                  <a:extLst>
                    <a:ext uri="{9D8B030D-6E8A-4147-A177-3AD203B41FA5}">
                      <a16:colId xmlns:a16="http://schemas.microsoft.com/office/drawing/2014/main" val="20001"/>
                    </a:ext>
                  </a:extLst>
                </a:gridCol>
                <a:gridCol w="541673">
                  <a:extLst>
                    <a:ext uri="{9D8B030D-6E8A-4147-A177-3AD203B41FA5}">
                      <a16:colId xmlns:a16="http://schemas.microsoft.com/office/drawing/2014/main" val="20002"/>
                    </a:ext>
                  </a:extLst>
                </a:gridCol>
                <a:gridCol w="541673">
                  <a:extLst>
                    <a:ext uri="{9D8B030D-6E8A-4147-A177-3AD203B41FA5}">
                      <a16:colId xmlns:a16="http://schemas.microsoft.com/office/drawing/2014/main" val="20003"/>
                    </a:ext>
                  </a:extLst>
                </a:gridCol>
                <a:gridCol w="541673">
                  <a:extLst>
                    <a:ext uri="{9D8B030D-6E8A-4147-A177-3AD203B41FA5}">
                      <a16:colId xmlns:a16="http://schemas.microsoft.com/office/drawing/2014/main" val="20004"/>
                    </a:ext>
                  </a:extLst>
                </a:gridCol>
                <a:gridCol w="541677">
                  <a:extLst>
                    <a:ext uri="{9D8B030D-6E8A-4147-A177-3AD203B41FA5}">
                      <a16:colId xmlns:a16="http://schemas.microsoft.com/office/drawing/2014/main" val="20005"/>
                    </a:ext>
                  </a:extLst>
                </a:gridCol>
              </a:tblGrid>
              <a:tr h="719840">
                <a:tc>
                  <a:txBody>
                    <a:bodyPr/>
                    <a:lstStyle/>
                    <a:p>
                      <a:r>
                        <a:rPr sz="900" b="0">
                          <a:solidFill>
                            <a:srgbClr val="26DADE"/>
                          </a:solidFill>
                        </a:rPr>
                        <a:t>Needle</a:t>
                      </a:r>
                    </a:p>
                  </a:txBody>
                  <a:tcPr>
                    <a:solidFill>
                      <a:srgbClr val="DDF4EB"/>
                    </a:solidFill>
                  </a:tcPr>
                </a:tc>
                <a:tc>
                  <a:txBody>
                    <a:bodyPr/>
                    <a:lstStyle/>
                    <a:p>
                      <a:r>
                        <a:rPr sz="900" b="0">
                          <a:solidFill>
                            <a:srgbClr val="26DADE"/>
                          </a:solidFill>
                        </a:rPr>
                        <a:t>Cluster</a:t>
                      </a:r>
                    </a:p>
                  </a:txBody>
                  <a:tcPr>
                    <a:solidFill>
                      <a:srgbClr val="DDF4EB"/>
                    </a:solidFill>
                  </a:tcPr>
                </a:tc>
                <a:tc>
                  <a:txBody>
                    <a:bodyPr/>
                    <a:lstStyle/>
                    <a:p>
                      <a:r>
                        <a:rPr sz="900" b="0">
                          <a:solidFill>
                            <a:srgbClr val="26DADE"/>
                          </a:solidFill>
                        </a:rPr>
                        <a:t>Review</a:t>
                      </a:r>
                    </a:p>
                  </a:txBody>
                  <a:tcPr>
                    <a:solidFill>
                      <a:srgbClr val="DDF4EB"/>
                    </a:solidFill>
                  </a:tcPr>
                </a:tc>
                <a:tc>
                  <a:txBody>
                    <a:bodyPr/>
                    <a:lstStyle/>
                    <a:p>
                      <a:r>
                        <a:rPr sz="900" b="0">
                          <a:solidFill>
                            <a:srgbClr val="26DADE"/>
                          </a:solidFill>
                        </a:rPr>
                        <a:t>Array</a:t>
                      </a:r>
                    </a:p>
                  </a:txBody>
                  <a:tcPr>
                    <a:solidFill>
                      <a:srgbClr val="DDF4EB"/>
                    </a:solidFill>
                  </a:tcPr>
                </a:tc>
                <a:tc>
                  <a:txBody>
                    <a:bodyPr/>
                    <a:lstStyle/>
                    <a:p>
                      <a:r>
                        <a:rPr sz="900" b="0">
                          <a:solidFill>
                            <a:srgbClr val="26DADE"/>
                          </a:solidFill>
                        </a:rPr>
                        <a:t>Node Horizon</a:t>
                      </a:r>
                    </a:p>
                  </a:txBody>
                  <a:tcPr>
                    <a:solidFill>
                      <a:srgbClr val="DDF4EB"/>
                    </a:solidFill>
                  </a:tcPr>
                </a:tc>
                <a:tc>
                  <a:txBody>
                    <a:bodyPr/>
                    <a:lstStyle/>
                    <a:p>
                      <a:r>
                        <a:rPr sz="900" b="0">
                          <a:solidFill>
                            <a:srgbClr val="26DADE"/>
                          </a:solidFill>
                        </a:rPr>
                        <a:t>Collection</a:t>
                      </a:r>
                    </a:p>
                  </a:txBody>
                  <a:tcPr>
                    <a:solidFill>
                      <a:srgbClr val="DDF4EB"/>
                    </a:solidFill>
                  </a:tcPr>
                </a:tc>
                <a:extLst>
                  <a:ext uri="{0D108BD9-81ED-4DB2-BD59-A6C34878D82A}">
                    <a16:rowId xmlns:a16="http://schemas.microsoft.com/office/drawing/2014/main" val="10000"/>
                  </a:ext>
                </a:extLst>
              </a:tr>
              <a:tr h="719840">
                <a:tc>
                  <a:txBody>
                    <a:bodyPr/>
                    <a:lstStyle/>
                    <a:p>
                      <a:r>
                        <a:rPr sz="900" b="0">
                          <a:solidFill>
                            <a:srgbClr val="26DADE"/>
                          </a:solidFill>
                        </a:rPr>
                        <a:t>Topology Layer</a:t>
                      </a:r>
                    </a:p>
                  </a:txBody>
                  <a:tcPr>
                    <a:solidFill>
                      <a:srgbClr val="D8F3E8"/>
                    </a:solidFill>
                  </a:tcPr>
                </a:tc>
                <a:tc>
                  <a:txBody>
                    <a:bodyPr/>
                    <a:lstStyle/>
                    <a:p>
                      <a:r>
                        <a:rPr sz="900" b="0">
                          <a:solidFill>
                            <a:srgbClr val="26DADE"/>
                          </a:solidFill>
                        </a:rPr>
                        <a:t>Design Deck</a:t>
                      </a:r>
                    </a:p>
                  </a:txBody>
                  <a:tcPr>
                    <a:solidFill>
                      <a:srgbClr val="D8F3E8"/>
                    </a:solidFill>
                  </a:tcPr>
                </a:tc>
                <a:tc>
                  <a:txBody>
                    <a:bodyPr/>
                    <a:lstStyle/>
                    <a:p>
                      <a:r>
                        <a:rPr sz="900" b="0">
                          <a:solidFill>
                            <a:srgbClr val="26DADE"/>
                          </a:solidFill>
                        </a:rPr>
                        <a:t>Diagram Deck</a:t>
                      </a:r>
                    </a:p>
                  </a:txBody>
                  <a:tcPr>
                    <a:solidFill>
                      <a:srgbClr val="D8F3E8"/>
                    </a:solidFill>
                  </a:tcPr>
                </a:tc>
                <a:tc>
                  <a:txBody>
                    <a:bodyPr/>
                    <a:lstStyle/>
                    <a:p>
                      <a:r>
                        <a:rPr sz="900" b="0">
                          <a:solidFill>
                            <a:srgbClr val="26DADE"/>
                          </a:solidFill>
                        </a:rPr>
                        <a:t>Strategy</a:t>
                      </a:r>
                    </a:p>
                  </a:txBody>
                  <a:tcPr>
                    <a:solidFill>
                      <a:srgbClr val="D8F3E8"/>
                    </a:solidFill>
                  </a:tcPr>
                </a:tc>
                <a:tc>
                  <a:txBody>
                    <a:bodyPr/>
                    <a:lstStyle/>
                    <a:p>
                      <a:r>
                        <a:rPr sz="900" b="0">
                          <a:solidFill>
                            <a:srgbClr val="26DADE"/>
                          </a:solidFill>
                        </a:rPr>
                        <a:t>Method Diagram</a:t>
                      </a:r>
                    </a:p>
                  </a:txBody>
                  <a:tcPr>
                    <a:solidFill>
                      <a:srgbClr val="D8F3E8"/>
                    </a:solidFill>
                  </a:tcPr>
                </a:tc>
                <a:tc>
                  <a:txBody>
                    <a:bodyPr/>
                    <a:lstStyle/>
                    <a:p>
                      <a:r>
                        <a:rPr sz="900" b="0">
                          <a:solidFill>
                            <a:srgbClr val="26DADE"/>
                          </a:solidFill>
                        </a:rPr>
                        <a:t>Output</a:t>
                      </a:r>
                    </a:p>
                  </a:txBody>
                  <a:tcPr>
                    <a:solidFill>
                      <a:srgbClr val="D8F3E8"/>
                    </a:solidFill>
                  </a:tcPr>
                </a:tc>
                <a:extLst>
                  <a:ext uri="{0D108BD9-81ED-4DB2-BD59-A6C34878D82A}">
                    <a16:rowId xmlns:a16="http://schemas.microsoft.com/office/drawing/2014/main" val="10001"/>
                  </a:ext>
                </a:extLst>
              </a:tr>
            </a:tbl>
          </a:graphicData>
        </a:graphic>
      </p:graphicFrame>
      <p:pic>
        <p:nvPicPr>
          <p:cNvPr id="17" name="Picture 16" descr="_example_image.jpg"/>
          <p:cNvPicPr>
            <a:picLocks noChangeAspect="1"/>
          </p:cNvPicPr>
          <p:nvPr/>
        </p:nvPicPr>
        <p:blipFill>
          <a:blip r:embed="rId2"/>
          <a:srcRect/>
          <a:stretch>
            <a:fillRect/>
          </a:stretch>
        </p:blipFill>
        <p:spPr>
          <a:xfrm>
            <a:off x="2800793" y="3008530"/>
            <a:ext cx="1893508" cy="951490"/>
          </a:xfrm>
          <a:prstGeom prst="rect">
            <a:avLst/>
          </a:prstGeom>
        </p:spPr>
      </p:pic>
      <p:sp>
        <p:nvSpPr>
          <p:cNvPr id="18" name="Line Callout 2 17"/>
          <p:cNvSpPr/>
          <p:nvPr/>
        </p:nvSpPr>
        <p:spPr>
          <a:xfrm>
            <a:off x="2645892" y="1817100"/>
            <a:ext cx="922263" cy="1245365"/>
          </a:xfrm>
          <a:prstGeom prst="borderCallout2">
            <a:avLst/>
          </a:prstGeom>
          <a:solidFill>
            <a:srgbClr val="E0772E"/>
          </a:solidFill>
          <a:ln w="20408">
            <a:solidFill>
              <a:srgbClr val="A68E1A"/>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945" y="834547"/>
            <a:ext cx="777737" cy="686167"/>
          </a:xfrm>
          <a:prstGeom prst="rect">
            <a:avLst/>
          </a:prstGeom>
          <a:noFill/>
        </p:spPr>
        <p:txBody>
          <a:bodyPr wrap="none" lIns="53091" tIns="53091" rIns="53091" bIns="53091">
            <a:spAutoFit/>
          </a:bodyPr>
          <a:lstStyle/>
          <a:p>
            <a:r>
              <a:rPr sz="900" b="0" i="0" u="none">
                <a:solidFill>
                  <a:srgbClr val="7AA67D"/>
                </a:solidFill>
                <a:latin typeface="Calibri"/>
              </a:rPr>
              <a:t>Panel Layer Impact Lineage Plan Packet Summary Narrative Coverage Threshold Iteration Agenda</a:t>
            </a:r>
          </a:p>
        </p:txBody>
      </p:sp>
      <p:sp>
        <p:nvSpPr>
          <p:cNvPr id="20" name="TextBox 19"/>
          <p:cNvSpPr txBox="1"/>
          <p:nvPr/>
        </p:nvSpPr>
        <p:spPr>
          <a:xfrm>
            <a:off x="3143492" y="4177810"/>
            <a:ext cx="826779" cy="448954"/>
          </a:xfrm>
          <a:prstGeom prst="rect">
            <a:avLst/>
          </a:prstGeom>
          <a:noFill/>
        </p:spPr>
        <p:txBody>
          <a:bodyPr wrap="none" lIns="72065" tIns="72065" rIns="72065" bIns="72065">
            <a:spAutoFit/>
          </a:bodyPr>
          <a:lstStyle/>
          <a:p>
            <a:r>
              <a:rPr sz="800" b="0" i="0" u="none">
                <a:solidFill>
                  <a:srgbClr val="297F8B"/>
                </a:solidFill>
                <a:latin typeface="Calibri"/>
              </a:rPr>
              <a:t>Capacity Intent Lens Focus Device Beacon Control Target</a:t>
            </a:r>
          </a:p>
        </p:txBody>
      </p:sp>
      <p:sp>
        <p:nvSpPr>
          <p:cNvPr id="21" name="Quad Arrow 20"/>
          <p:cNvSpPr/>
          <p:nvPr/>
        </p:nvSpPr>
        <p:spPr>
          <a:xfrm>
            <a:off x="7460411" y="3880505"/>
            <a:ext cx="1350574" cy="246084"/>
          </a:xfrm>
          <a:prstGeom prst="quadArrow">
            <a:avLst/>
          </a:prstGeom>
          <a:noFill/>
          <a:ln w="24280">
            <a:solidFill>
              <a:srgbClr val="BA668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7902" y="2467841"/>
            <a:ext cx="810610" cy="332458"/>
          </a:xfrm>
          <a:prstGeom prst="rect">
            <a:avLst/>
          </a:prstGeom>
          <a:noFill/>
        </p:spPr>
        <p:txBody>
          <a:bodyPr wrap="none" lIns="35177" tIns="35177" rIns="35177" bIns="35177">
            <a:spAutoFit/>
          </a:bodyPr>
          <a:lstStyle/>
          <a:p>
            <a:r>
              <a:rPr sz="1100" b="0" i="0" u="none">
                <a:solidFill>
                  <a:srgbClr val="98BC46"/>
                </a:solidFill>
                <a:latin typeface="Aptos"/>
              </a:rPr>
              <a:t>Review Process Inventory Kernel Cell Payload Window Bundle Texture Diagram Summary Clarity Brief Envelope Milestone Runtime Canvas Point Canvas Plan Result Spectrum Route Process Register Segment Waypoint Capacity Pulse Path Build Packet Graph North Station</a:t>
            </a:r>
          </a:p>
        </p:txBody>
      </p:sp>
      <p:sp>
        <p:nvSpPr>
          <p:cNvPr id="23" name="TextBox 22"/>
          <p:cNvSpPr txBox="1"/>
          <p:nvPr/>
        </p:nvSpPr>
        <p:spPr>
          <a:xfrm>
            <a:off x="8865286" y="3583384"/>
            <a:ext cx="1188118" cy="799893"/>
          </a:xfrm>
          <a:prstGeom prst="rect">
            <a:avLst/>
          </a:prstGeom>
          <a:solidFill>
            <a:srgbClr val="8B2354"/>
          </a:solidFill>
        </p:spPr>
        <p:txBody>
          <a:bodyPr wrap="none" lIns="50979" tIns="50979" rIns="50979" bIns="50979">
            <a:spAutoFit/>
          </a:bodyPr>
          <a:lstStyle/>
          <a:p>
            <a:r>
              <a:rPr sz="1200" b="0" i="0" u="none">
                <a:solidFill>
                  <a:srgbClr val="3A307E"/>
                </a:solidFill>
                <a:latin typeface="Georgia"/>
              </a:rPr>
              <a:t>Inventory Zone Pipeline Ledger Concept Design Range Order Canvas</a:t>
            </a:r>
          </a:p>
        </p:txBody>
      </p:sp>
      <p:sp>
        <p:nvSpPr>
          <p:cNvPr id="24" name="Plus 23"/>
          <p:cNvSpPr/>
          <p:nvPr/>
        </p:nvSpPr>
        <p:spPr>
          <a:xfrm>
            <a:off x="567047" y="3576456"/>
            <a:ext cx="1846529" cy="1905209"/>
          </a:xfrm>
          <a:prstGeom prst="mathPlus">
            <a:avLst/>
          </a:prstGeom>
          <a:solidFill>
            <a:srgbClr val="931F92"/>
          </a:solidFill>
          <a:ln w="15776">
            <a:solidFill>
              <a:srgbClr val="2BAEC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10548950" y="3198724"/>
            <a:ext cx="1319040" cy="1250592"/>
          </a:xfrm>
          <a:custGeom>
            <a:avLst/>
            <a:gdLst/>
            <a:ahLst/>
            <a:cxnLst/>
            <a:rect l="l" t="t" r="r" b="b"/>
            <a:pathLst>
              <a:path w="1319040" h="1250592">
                <a:moveTo>
                  <a:pt x="0" y="277909"/>
                </a:moveTo>
                <a:lnTo>
                  <a:pt x="283664" y="0"/>
                </a:lnTo>
                <a:lnTo>
                  <a:pt x="567329" y="375177"/>
                </a:lnTo>
                <a:lnTo>
                  <a:pt x="850994" y="41686"/>
                </a:lnTo>
                <a:lnTo>
                  <a:pt x="1319040" y="972683"/>
                </a:lnTo>
                <a:lnTo>
                  <a:pt x="992826" y="1250592"/>
                </a:lnTo>
                <a:lnTo>
                  <a:pt x="680795" y="833728"/>
                </a:lnTo>
                <a:lnTo>
                  <a:pt x="326214" y="1208906"/>
                </a:lnTo>
                <a:close/>
              </a:path>
            </a:pathLst>
          </a:custGeom>
          <a:solidFill>
            <a:srgbClr val="2FCB9E"/>
          </a:solidFill>
          <a:ln w="21422">
            <a:solidFill>
              <a:srgbClr val="2CCD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Swoosh Arrow 25"/>
          <p:cNvSpPr/>
          <p:nvPr/>
        </p:nvSpPr>
        <p:spPr>
          <a:xfrm>
            <a:off x="4925424" y="2034870"/>
            <a:ext cx="2062562" cy="1800924"/>
          </a:xfrm>
          <a:prstGeom prst="swooshArrow">
            <a:avLst/>
          </a:prstGeom>
          <a:solidFill>
            <a:srgbClr val="B19890"/>
          </a:solidFill>
          <a:ln w="22597">
            <a:solidFill>
              <a:srgbClr val="55A8A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7" name="Table 26"/>
          <p:cNvGraphicFramePr>
            <a:graphicFrameLocks noGrp="1"/>
          </p:cNvGraphicFramePr>
          <p:nvPr/>
        </p:nvGraphicFramePr>
        <p:xfrm>
          <a:off x="2438157" y="510016"/>
          <a:ext cx="3421054" cy="1260690"/>
        </p:xfrm>
        <a:graphic>
          <a:graphicData uri="http://schemas.openxmlformats.org/drawingml/2006/table">
            <a:tbl>
              <a:tblPr firstRow="1" bandRow="1">
                <a:tableStyleId>{5C22544A-7EE6-4342-B048-85BDC9FD1C3A}</a:tableStyleId>
              </a:tblPr>
              <a:tblGrid>
                <a:gridCol w="855263">
                  <a:extLst>
                    <a:ext uri="{9D8B030D-6E8A-4147-A177-3AD203B41FA5}">
                      <a16:colId xmlns:a16="http://schemas.microsoft.com/office/drawing/2014/main" val="20000"/>
                    </a:ext>
                  </a:extLst>
                </a:gridCol>
                <a:gridCol w="855263">
                  <a:extLst>
                    <a:ext uri="{9D8B030D-6E8A-4147-A177-3AD203B41FA5}">
                      <a16:colId xmlns:a16="http://schemas.microsoft.com/office/drawing/2014/main" val="20001"/>
                    </a:ext>
                  </a:extLst>
                </a:gridCol>
                <a:gridCol w="855263">
                  <a:extLst>
                    <a:ext uri="{9D8B030D-6E8A-4147-A177-3AD203B41FA5}">
                      <a16:colId xmlns:a16="http://schemas.microsoft.com/office/drawing/2014/main" val="20002"/>
                    </a:ext>
                  </a:extLst>
                </a:gridCol>
                <a:gridCol w="855265">
                  <a:extLst>
                    <a:ext uri="{9D8B030D-6E8A-4147-A177-3AD203B41FA5}">
                      <a16:colId xmlns:a16="http://schemas.microsoft.com/office/drawing/2014/main" val="20003"/>
                    </a:ext>
                  </a:extLst>
                </a:gridCol>
              </a:tblGrid>
              <a:tr h="315172">
                <a:tc>
                  <a:txBody>
                    <a:bodyPr/>
                    <a:lstStyle/>
                    <a:p>
                      <a:r>
                        <a:rPr sz="1000" b="1">
                          <a:solidFill>
                            <a:srgbClr val="4E1CBC"/>
                          </a:solidFill>
                        </a:rPr>
                        <a:t>Control</a:t>
                      </a:r>
                    </a:p>
                  </a:txBody>
                  <a:tcPr>
                    <a:solidFill>
                      <a:srgbClr val="8D608F"/>
                    </a:solidFill>
                  </a:tcPr>
                </a:tc>
                <a:tc>
                  <a:txBody>
                    <a:bodyPr/>
                    <a:lstStyle/>
                    <a:p>
                      <a:r>
                        <a:rPr sz="1000" b="1">
                          <a:solidFill>
                            <a:srgbClr val="4E1CBC"/>
                          </a:solidFill>
                        </a:rPr>
                        <a:t>Flow</a:t>
                      </a:r>
                    </a:p>
                  </a:txBody>
                  <a:tcPr>
                    <a:solidFill>
                      <a:srgbClr val="8D608F"/>
                    </a:solidFill>
                  </a:tcPr>
                </a:tc>
                <a:tc>
                  <a:txBody>
                    <a:bodyPr/>
                    <a:lstStyle/>
                    <a:p>
                      <a:r>
                        <a:rPr sz="1000" b="1">
                          <a:solidFill>
                            <a:srgbClr val="4E1CBC"/>
                          </a:solidFill>
                        </a:rPr>
                        <a:t>Analysis</a:t>
                      </a:r>
                    </a:p>
                  </a:txBody>
                  <a:tcPr>
                    <a:solidFill>
                      <a:srgbClr val="8D608F"/>
                    </a:solidFill>
                  </a:tcPr>
                </a:tc>
                <a:tc>
                  <a:txBody>
                    <a:bodyPr/>
                    <a:lstStyle/>
                    <a:p>
                      <a:r>
                        <a:rPr sz="1000" b="1">
                          <a:solidFill>
                            <a:srgbClr val="4E1CBC"/>
                          </a:solidFill>
                        </a:rPr>
                        <a:t>Input</a:t>
                      </a:r>
                    </a:p>
                  </a:txBody>
                  <a:tcPr>
                    <a:solidFill>
                      <a:srgbClr val="8D608F"/>
                    </a:solidFill>
                  </a:tcPr>
                </a:tc>
                <a:extLst>
                  <a:ext uri="{0D108BD9-81ED-4DB2-BD59-A6C34878D82A}">
                    <a16:rowId xmlns:a16="http://schemas.microsoft.com/office/drawing/2014/main" val="10000"/>
                  </a:ext>
                </a:extLst>
              </a:tr>
              <a:tr h="315172">
                <a:tc>
                  <a:txBody>
                    <a:bodyPr/>
                    <a:lstStyle/>
                    <a:p>
                      <a:r>
                        <a:rPr sz="1000" b="0">
                          <a:solidFill>
                            <a:srgbClr val="4E1CBC"/>
                          </a:solidFill>
                        </a:rPr>
                        <a:t>Milestone</a:t>
                      </a:r>
                    </a:p>
                  </a:txBody>
                  <a:tcPr>
                    <a:solidFill>
                      <a:srgbClr val="D2D3F8"/>
                    </a:solidFill>
                  </a:tcPr>
                </a:tc>
                <a:tc>
                  <a:txBody>
                    <a:bodyPr/>
                    <a:lstStyle/>
                    <a:p>
                      <a:r>
                        <a:rPr sz="1000" b="0">
                          <a:solidFill>
                            <a:srgbClr val="4E1CBC"/>
                          </a:solidFill>
                        </a:rPr>
                        <a:t>Cluster</a:t>
                      </a:r>
                    </a:p>
                  </a:txBody>
                  <a:tcPr>
                    <a:solidFill>
                      <a:srgbClr val="D2D3F8"/>
                    </a:solidFill>
                  </a:tcPr>
                </a:tc>
                <a:tc>
                  <a:txBody>
                    <a:bodyPr/>
                    <a:lstStyle/>
                    <a:p>
                      <a:r>
                        <a:rPr sz="1000" b="0">
                          <a:solidFill>
                            <a:srgbClr val="4E1CBC"/>
                          </a:solidFill>
                        </a:rPr>
                        <a:t>Diagram</a:t>
                      </a:r>
                    </a:p>
                  </a:txBody>
                  <a:tcPr>
                    <a:solidFill>
                      <a:srgbClr val="D2D3F8"/>
                    </a:solidFill>
                  </a:tcPr>
                </a:tc>
                <a:tc>
                  <a:txBody>
                    <a:bodyPr/>
                    <a:lstStyle/>
                    <a:p>
                      <a:r>
                        <a:rPr sz="1000" b="0">
                          <a:solidFill>
                            <a:srgbClr val="4E1CBC"/>
                          </a:solidFill>
                        </a:rPr>
                        <a:t>Program Input</a:t>
                      </a:r>
                    </a:p>
                  </a:txBody>
                  <a:tcPr>
                    <a:solidFill>
                      <a:srgbClr val="D2D3F8"/>
                    </a:solidFill>
                  </a:tcPr>
                </a:tc>
                <a:extLst>
                  <a:ext uri="{0D108BD9-81ED-4DB2-BD59-A6C34878D82A}">
                    <a16:rowId xmlns:a16="http://schemas.microsoft.com/office/drawing/2014/main" val="10001"/>
                  </a:ext>
                </a:extLst>
              </a:tr>
              <a:tr h="315172">
                <a:tc>
                  <a:txBody>
                    <a:bodyPr/>
                    <a:lstStyle/>
                    <a:p>
                      <a:r>
                        <a:rPr sz="1000" b="0">
                          <a:solidFill>
                            <a:srgbClr val="4E1CBC"/>
                          </a:solidFill>
                        </a:rPr>
                        <a:t>Intent</a:t>
                      </a:r>
                    </a:p>
                  </a:txBody>
                  <a:tcPr>
                    <a:solidFill>
                      <a:srgbClr val="D2D3F8"/>
                    </a:solidFill>
                  </a:tcPr>
                </a:tc>
                <a:tc>
                  <a:txBody>
                    <a:bodyPr/>
                    <a:lstStyle/>
                    <a:p>
                      <a:r>
                        <a:rPr sz="1000" b="0">
                          <a:solidFill>
                            <a:srgbClr val="4E1CBC"/>
                          </a:solidFill>
                        </a:rPr>
                        <a:t>Trigger Runtime</a:t>
                      </a:r>
                    </a:p>
                  </a:txBody>
                  <a:tcPr>
                    <a:solidFill>
                      <a:srgbClr val="D2D3F8"/>
                    </a:solidFill>
                  </a:tcPr>
                </a:tc>
                <a:tc>
                  <a:txBody>
                    <a:bodyPr/>
                    <a:lstStyle/>
                    <a:p>
                      <a:r>
                        <a:rPr sz="1000" b="0">
                          <a:solidFill>
                            <a:srgbClr val="4E1CBC"/>
                          </a:solidFill>
                        </a:rPr>
                        <a:t>Hub</a:t>
                      </a:r>
                    </a:p>
                  </a:txBody>
                  <a:tcPr>
                    <a:solidFill>
                      <a:srgbClr val="D2D3F8"/>
                    </a:solidFill>
                  </a:tcPr>
                </a:tc>
                <a:tc>
                  <a:txBody>
                    <a:bodyPr/>
                    <a:lstStyle/>
                    <a:p>
                      <a:r>
                        <a:rPr sz="1000" b="0">
                          <a:solidFill>
                            <a:srgbClr val="4E1CBC"/>
                          </a:solidFill>
                        </a:rPr>
                        <a:t>Slice</a:t>
                      </a:r>
                    </a:p>
                  </a:txBody>
                  <a:tcPr>
                    <a:solidFill>
                      <a:srgbClr val="D2D3F8"/>
                    </a:solidFill>
                  </a:tcPr>
                </a:tc>
                <a:extLst>
                  <a:ext uri="{0D108BD9-81ED-4DB2-BD59-A6C34878D82A}">
                    <a16:rowId xmlns:a16="http://schemas.microsoft.com/office/drawing/2014/main" val="10002"/>
                  </a:ext>
                </a:extLst>
              </a:tr>
              <a:tr h="315174">
                <a:tc>
                  <a:txBody>
                    <a:bodyPr/>
                    <a:lstStyle/>
                    <a:p>
                      <a:r>
                        <a:rPr sz="1000" b="0">
                          <a:solidFill>
                            <a:srgbClr val="4E1CBC"/>
                          </a:solidFill>
                        </a:rPr>
                        <a:t>Blueprint</a:t>
                      </a:r>
                    </a:p>
                  </a:txBody>
                  <a:tcPr>
                    <a:solidFill>
                      <a:srgbClr val="D2D3F8"/>
                    </a:solidFill>
                  </a:tcPr>
                </a:tc>
                <a:tc>
                  <a:txBody>
                    <a:bodyPr/>
                    <a:lstStyle/>
                    <a:p>
                      <a:r>
                        <a:rPr sz="1000" b="0">
                          <a:solidFill>
                            <a:srgbClr val="4E1CBC"/>
                          </a:solidFill>
                        </a:rPr>
                        <a:t>Mesh</a:t>
                      </a:r>
                    </a:p>
                  </a:txBody>
                  <a:tcPr>
                    <a:solidFill>
                      <a:srgbClr val="D2D3F8"/>
                    </a:solidFill>
                  </a:tcPr>
                </a:tc>
                <a:tc>
                  <a:txBody>
                    <a:bodyPr/>
                    <a:lstStyle/>
                    <a:p>
                      <a:r>
                        <a:rPr sz="1000" b="0">
                          <a:solidFill>
                            <a:srgbClr val="4E1CBC"/>
                          </a:solidFill>
                        </a:rPr>
                        <a:t>Build</a:t>
                      </a:r>
                    </a:p>
                  </a:txBody>
                  <a:tcPr>
                    <a:solidFill>
                      <a:srgbClr val="D2D3F8"/>
                    </a:solidFill>
                  </a:tcPr>
                </a:tc>
                <a:tc>
                  <a:txBody>
                    <a:bodyPr/>
                    <a:lstStyle/>
                    <a:p>
                      <a:r>
                        <a:rPr sz="1000" b="0">
                          <a:solidFill>
                            <a:srgbClr val="4E1CBC"/>
                          </a:solidFill>
                        </a:rPr>
                        <a:t>Status Craft</a:t>
                      </a:r>
                    </a:p>
                  </a:txBody>
                  <a:tcPr>
                    <a:solidFill>
                      <a:srgbClr val="D2D3F8"/>
                    </a:solidFill>
                  </a:tcPr>
                </a:tc>
                <a:extLst>
                  <a:ext uri="{0D108BD9-81ED-4DB2-BD59-A6C34878D82A}">
                    <a16:rowId xmlns:a16="http://schemas.microsoft.com/office/drawing/2014/main" val="10003"/>
                  </a:ext>
                </a:extLst>
              </a:tr>
            </a:tbl>
          </a:graphicData>
        </a:graphic>
      </p:graphicFrame>
      <p:pic>
        <p:nvPicPr>
          <p:cNvPr id="29" name="Graphic 28">
            <a:extLst>
              <a:ext uri="{FF2B5EF4-FFF2-40B4-BE49-F238E27FC236}">
                <a16:creationId xmlns:a16="http://schemas.microsoft.com/office/drawing/2014/main" id="{E02F9256-676D-21ED-68EA-592B87BA2FC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388774" y="1469576"/>
            <a:ext cx="1070028" cy="1525556"/>
          </a:xfrm>
          <a:prstGeom prst="rect">
            <a:avLst/>
          </a:prstGeom>
        </p:spPr>
      </p:pic>
      <p:pic>
        <p:nvPicPr>
          <p:cNvPr id="31" name="Graphic 30">
            <a:extLst>
              <a:ext uri="{FF2B5EF4-FFF2-40B4-BE49-F238E27FC236}">
                <a16:creationId xmlns:a16="http://schemas.microsoft.com/office/drawing/2014/main" id="{05E706D3-FB54-CCAC-4B4E-EAC58152075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508594" y="2254474"/>
            <a:ext cx="1429736" cy="8668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967291" y="2109863"/>
          <a:ext cx="2210458" cy="1035332"/>
        </p:xfrm>
        <a:graphic>
          <a:graphicData uri="http://schemas.openxmlformats.org/drawingml/2006/table">
            <a:tbl>
              <a:tblPr firstRow="1" bandRow="1">
                <a:tableStyleId>{5C22544A-7EE6-4342-B048-85BDC9FD1C3A}</a:tableStyleId>
              </a:tblPr>
              <a:tblGrid>
                <a:gridCol w="736819">
                  <a:extLst>
                    <a:ext uri="{9D8B030D-6E8A-4147-A177-3AD203B41FA5}">
                      <a16:colId xmlns:a16="http://schemas.microsoft.com/office/drawing/2014/main" val="20000"/>
                    </a:ext>
                  </a:extLst>
                </a:gridCol>
                <a:gridCol w="736819">
                  <a:extLst>
                    <a:ext uri="{9D8B030D-6E8A-4147-A177-3AD203B41FA5}">
                      <a16:colId xmlns:a16="http://schemas.microsoft.com/office/drawing/2014/main" val="20001"/>
                    </a:ext>
                  </a:extLst>
                </a:gridCol>
                <a:gridCol w="736820">
                  <a:extLst>
                    <a:ext uri="{9D8B030D-6E8A-4147-A177-3AD203B41FA5}">
                      <a16:colId xmlns:a16="http://schemas.microsoft.com/office/drawing/2014/main" val="20002"/>
                    </a:ext>
                  </a:extLst>
                </a:gridCol>
              </a:tblGrid>
              <a:tr h="207066">
                <a:tc>
                  <a:txBody>
                    <a:bodyPr/>
                    <a:lstStyle/>
                    <a:p>
                      <a:r>
                        <a:rPr sz="900" b="1">
                          <a:solidFill>
                            <a:srgbClr val="65A85E"/>
                          </a:solidFill>
                        </a:rPr>
                        <a:t>Depth Drift</a:t>
                      </a:r>
                    </a:p>
                  </a:txBody>
                  <a:tcPr>
                    <a:solidFill>
                      <a:srgbClr val="4D784F"/>
                    </a:solidFill>
                  </a:tcPr>
                </a:tc>
                <a:tc>
                  <a:txBody>
                    <a:bodyPr/>
                    <a:lstStyle/>
                    <a:p>
                      <a:r>
                        <a:rPr sz="900" b="1">
                          <a:solidFill>
                            <a:srgbClr val="65A85E"/>
                          </a:solidFill>
                        </a:rPr>
                        <a:t>Pipeline</a:t>
                      </a:r>
                    </a:p>
                  </a:txBody>
                  <a:tcPr>
                    <a:solidFill>
                      <a:srgbClr val="4D784F"/>
                    </a:solidFill>
                  </a:tcPr>
                </a:tc>
                <a:tc>
                  <a:txBody>
                    <a:bodyPr/>
                    <a:lstStyle/>
                    <a:p>
                      <a:r>
                        <a:rPr sz="900" b="1">
                          <a:solidFill>
                            <a:srgbClr val="65A85E"/>
                          </a:solidFill>
                        </a:rPr>
                        <a:t>Expansion Ledger</a:t>
                      </a:r>
                    </a:p>
                  </a:txBody>
                  <a:tcPr>
                    <a:solidFill>
                      <a:srgbClr val="4D784F"/>
                    </a:solidFill>
                  </a:tcPr>
                </a:tc>
                <a:extLst>
                  <a:ext uri="{0D108BD9-81ED-4DB2-BD59-A6C34878D82A}">
                    <a16:rowId xmlns:a16="http://schemas.microsoft.com/office/drawing/2014/main" val="10000"/>
                  </a:ext>
                </a:extLst>
              </a:tr>
              <a:tr h="207066">
                <a:tc>
                  <a:txBody>
                    <a:bodyPr/>
                    <a:lstStyle/>
                    <a:p>
                      <a:r>
                        <a:rPr sz="900" b="0">
                          <a:solidFill>
                            <a:srgbClr val="65A85E"/>
                          </a:solidFill>
                        </a:rPr>
                        <a:t>North</a:t>
                      </a:r>
                    </a:p>
                  </a:txBody>
                  <a:tcPr>
                    <a:solidFill>
                      <a:srgbClr val="BDB1BE"/>
                    </a:solidFill>
                  </a:tcPr>
                </a:tc>
                <a:tc>
                  <a:txBody>
                    <a:bodyPr/>
                    <a:lstStyle/>
                    <a:p>
                      <a:r>
                        <a:rPr sz="900" b="0">
                          <a:solidFill>
                            <a:srgbClr val="65A85E"/>
                          </a:solidFill>
                        </a:rPr>
                        <a:t>Queue</a:t>
                      </a:r>
                    </a:p>
                  </a:txBody>
                  <a:tcPr>
                    <a:solidFill>
                      <a:srgbClr val="BDB1BE"/>
                    </a:solidFill>
                  </a:tcPr>
                </a:tc>
                <a:tc>
                  <a:txBody>
                    <a:bodyPr/>
                    <a:lstStyle/>
                    <a:p>
                      <a:r>
                        <a:rPr sz="900" b="0">
                          <a:solidFill>
                            <a:srgbClr val="65A85E"/>
                          </a:solidFill>
                        </a:rPr>
                        <a:t>Track</a:t>
                      </a:r>
                    </a:p>
                  </a:txBody>
                  <a:tcPr>
                    <a:solidFill>
                      <a:srgbClr val="BDB1BE"/>
                    </a:solidFill>
                  </a:tcPr>
                </a:tc>
                <a:extLst>
                  <a:ext uri="{0D108BD9-81ED-4DB2-BD59-A6C34878D82A}">
                    <a16:rowId xmlns:a16="http://schemas.microsoft.com/office/drawing/2014/main" val="10001"/>
                  </a:ext>
                </a:extLst>
              </a:tr>
              <a:tr h="207066">
                <a:tc>
                  <a:txBody>
                    <a:bodyPr/>
                    <a:lstStyle/>
                    <a:p>
                      <a:r>
                        <a:rPr sz="900" b="0">
                          <a:solidFill>
                            <a:srgbClr val="65A85E"/>
                          </a:solidFill>
                        </a:rPr>
                        <a:t>Feature</a:t>
                      </a:r>
                    </a:p>
                  </a:txBody>
                  <a:tcPr>
                    <a:solidFill>
                      <a:srgbClr val="E6E2E6"/>
                    </a:solidFill>
                  </a:tcPr>
                </a:tc>
                <a:tc>
                  <a:txBody>
                    <a:bodyPr/>
                    <a:lstStyle/>
                    <a:p>
                      <a:r>
                        <a:rPr sz="900" b="0">
                          <a:solidFill>
                            <a:srgbClr val="65A85E"/>
                          </a:solidFill>
                        </a:rPr>
                        <a:t>Action Library</a:t>
                      </a:r>
                    </a:p>
                  </a:txBody>
                  <a:tcPr>
                    <a:solidFill>
                      <a:srgbClr val="E6E2E6"/>
                    </a:solidFill>
                  </a:tcPr>
                </a:tc>
                <a:tc>
                  <a:txBody>
                    <a:bodyPr/>
                    <a:lstStyle/>
                    <a:p>
                      <a:r>
                        <a:rPr sz="900" b="0">
                          <a:solidFill>
                            <a:srgbClr val="65A85E"/>
                          </a:solidFill>
                        </a:rPr>
                        <a:t>Duration</a:t>
                      </a:r>
                    </a:p>
                  </a:txBody>
                  <a:tcPr>
                    <a:solidFill>
                      <a:srgbClr val="E6E2E6"/>
                    </a:solidFill>
                  </a:tcPr>
                </a:tc>
                <a:extLst>
                  <a:ext uri="{0D108BD9-81ED-4DB2-BD59-A6C34878D82A}">
                    <a16:rowId xmlns:a16="http://schemas.microsoft.com/office/drawing/2014/main" val="10002"/>
                  </a:ext>
                </a:extLst>
              </a:tr>
              <a:tr h="207066">
                <a:tc>
                  <a:txBody>
                    <a:bodyPr/>
                    <a:lstStyle/>
                    <a:p>
                      <a:r>
                        <a:rPr sz="900" b="0">
                          <a:solidFill>
                            <a:srgbClr val="65A85E"/>
                          </a:solidFill>
                        </a:rPr>
                        <a:t>Coverage Transit</a:t>
                      </a:r>
                    </a:p>
                  </a:txBody>
                  <a:tcPr>
                    <a:solidFill>
                      <a:srgbClr val="BDB1BE"/>
                    </a:solidFill>
                  </a:tcPr>
                </a:tc>
                <a:tc>
                  <a:txBody>
                    <a:bodyPr/>
                    <a:lstStyle/>
                    <a:p>
                      <a:r>
                        <a:rPr sz="900" b="0">
                          <a:solidFill>
                            <a:srgbClr val="65A85E"/>
                          </a:solidFill>
                        </a:rPr>
                        <a:t>Vertex</a:t>
                      </a:r>
                    </a:p>
                  </a:txBody>
                  <a:tcPr>
                    <a:solidFill>
                      <a:srgbClr val="BDB1BE"/>
                    </a:solidFill>
                  </a:tcPr>
                </a:tc>
                <a:tc>
                  <a:txBody>
                    <a:bodyPr/>
                    <a:lstStyle/>
                    <a:p>
                      <a:r>
                        <a:rPr sz="900" b="0">
                          <a:solidFill>
                            <a:srgbClr val="65A85E"/>
                          </a:solidFill>
                        </a:rPr>
                        <a:t>Expansion</a:t>
                      </a:r>
                    </a:p>
                  </a:txBody>
                  <a:tcPr>
                    <a:solidFill>
                      <a:srgbClr val="BDB1BE"/>
                    </a:solidFill>
                  </a:tcPr>
                </a:tc>
                <a:extLst>
                  <a:ext uri="{0D108BD9-81ED-4DB2-BD59-A6C34878D82A}">
                    <a16:rowId xmlns:a16="http://schemas.microsoft.com/office/drawing/2014/main" val="10003"/>
                  </a:ext>
                </a:extLst>
              </a:tr>
              <a:tr h="207068">
                <a:tc>
                  <a:txBody>
                    <a:bodyPr/>
                    <a:lstStyle/>
                    <a:p>
                      <a:r>
                        <a:rPr sz="900" b="0">
                          <a:solidFill>
                            <a:srgbClr val="65A85E"/>
                          </a:solidFill>
                        </a:rPr>
                        <a:t>Texture Spectrum</a:t>
                      </a:r>
                    </a:p>
                  </a:txBody>
                  <a:tcPr>
                    <a:solidFill>
                      <a:srgbClr val="E6E2E6"/>
                    </a:solidFill>
                  </a:tcPr>
                </a:tc>
                <a:tc>
                  <a:txBody>
                    <a:bodyPr/>
                    <a:lstStyle/>
                    <a:p>
                      <a:r>
                        <a:rPr sz="900" b="0">
                          <a:solidFill>
                            <a:srgbClr val="65A85E"/>
                          </a:solidFill>
                        </a:rPr>
                        <a:t>Case Guide</a:t>
                      </a:r>
                    </a:p>
                  </a:txBody>
                  <a:tcPr>
                    <a:solidFill>
                      <a:srgbClr val="E6E2E6"/>
                    </a:solidFill>
                  </a:tcPr>
                </a:tc>
                <a:tc>
                  <a:txBody>
                    <a:bodyPr/>
                    <a:lstStyle/>
                    <a:p>
                      <a:r>
                        <a:rPr sz="900" b="0">
                          <a:solidFill>
                            <a:srgbClr val="65A85E"/>
                          </a:solidFill>
                        </a:rPr>
                        <a:t>Snapshot</a:t>
                      </a:r>
                    </a:p>
                  </a:txBody>
                  <a:tcPr>
                    <a:solidFill>
                      <a:srgbClr val="E6E2E6"/>
                    </a:solidFill>
                  </a:tcPr>
                </a:tc>
                <a:extLst>
                  <a:ext uri="{0D108BD9-81ED-4DB2-BD59-A6C34878D82A}">
                    <a16:rowId xmlns:a16="http://schemas.microsoft.com/office/drawing/2014/main" val="10004"/>
                  </a:ext>
                </a:extLst>
              </a:tr>
            </a:tbl>
          </a:graphicData>
        </a:graphic>
      </p:graphicFrame>
      <p:sp>
        <p:nvSpPr>
          <p:cNvPr id="3" name="Freeform 2"/>
          <p:cNvSpPr/>
          <p:nvPr/>
        </p:nvSpPr>
        <p:spPr>
          <a:xfrm>
            <a:off x="10133669" y="5696239"/>
            <a:ext cx="741407" cy="948326"/>
          </a:xfrm>
          <a:custGeom>
            <a:avLst/>
            <a:gdLst/>
            <a:ahLst/>
            <a:cxnLst/>
            <a:rect l="l" t="t" r="r" b="b"/>
            <a:pathLst>
              <a:path w="741407" h="948326">
                <a:moveTo>
                  <a:pt x="370703" y="0"/>
                </a:moveTo>
                <a:lnTo>
                  <a:pt x="463379" y="237081"/>
                </a:lnTo>
                <a:lnTo>
                  <a:pt x="695069" y="170699"/>
                </a:lnTo>
                <a:lnTo>
                  <a:pt x="563778" y="474163"/>
                </a:lnTo>
                <a:lnTo>
                  <a:pt x="741407" y="739694"/>
                </a:lnTo>
                <a:lnTo>
                  <a:pt x="463379" y="682795"/>
                </a:lnTo>
                <a:lnTo>
                  <a:pt x="370703" y="948326"/>
                </a:lnTo>
                <a:lnTo>
                  <a:pt x="278027" y="682795"/>
                </a:lnTo>
                <a:lnTo>
                  <a:pt x="0" y="739694"/>
                </a:lnTo>
                <a:lnTo>
                  <a:pt x="177629" y="474163"/>
                </a:lnTo>
                <a:lnTo>
                  <a:pt x="46338" y="170699"/>
                </a:lnTo>
                <a:lnTo>
                  <a:pt x="278027" y="237081"/>
                </a:lnTo>
                <a:close/>
              </a:path>
            </a:pathLst>
          </a:custGeom>
          <a:solidFill>
            <a:srgbClr val="678247"/>
          </a:solidFill>
          <a:ln w="6595">
            <a:solidFill>
              <a:srgbClr val="2D979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ular Callout 3"/>
          <p:cNvSpPr/>
          <p:nvPr/>
        </p:nvSpPr>
        <p:spPr>
          <a:xfrm>
            <a:off x="4716242" y="4332880"/>
            <a:ext cx="2197820" cy="1556451"/>
          </a:xfrm>
          <a:prstGeom prst="wedgeRoundRectCallout">
            <a:avLst/>
          </a:prstGeom>
          <a:solidFill>
            <a:srgbClr val="CC77D7"/>
          </a:solidFill>
          <a:ln w="22360">
            <a:solidFill>
              <a:srgbClr val="8982A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882818" y="825670"/>
            <a:ext cx="1104707" cy="1139594"/>
          </a:xfrm>
          <a:custGeom>
            <a:avLst/>
            <a:gdLst/>
            <a:ahLst/>
            <a:cxnLst/>
            <a:rect l="l" t="t" r="r" b="b"/>
            <a:pathLst>
              <a:path w="1104707" h="1139594">
                <a:moveTo>
                  <a:pt x="552354" y="0"/>
                </a:moveTo>
                <a:lnTo>
                  <a:pt x="690442" y="284899"/>
                </a:lnTo>
                <a:lnTo>
                  <a:pt x="1035663" y="205127"/>
                </a:lnTo>
                <a:lnTo>
                  <a:pt x="840038" y="569797"/>
                </a:lnTo>
                <a:lnTo>
                  <a:pt x="1104707" y="888884"/>
                </a:lnTo>
                <a:lnTo>
                  <a:pt x="690442" y="820508"/>
                </a:lnTo>
                <a:lnTo>
                  <a:pt x="552354" y="1139594"/>
                </a:lnTo>
                <a:lnTo>
                  <a:pt x="414265" y="820508"/>
                </a:lnTo>
                <a:lnTo>
                  <a:pt x="0" y="888884"/>
                </a:lnTo>
                <a:lnTo>
                  <a:pt x="264670" y="569797"/>
                </a:lnTo>
                <a:lnTo>
                  <a:pt x="69044" y="205127"/>
                </a:lnTo>
                <a:lnTo>
                  <a:pt x="414265" y="284899"/>
                </a:lnTo>
                <a:close/>
              </a:path>
            </a:pathLst>
          </a:custGeom>
          <a:solidFill>
            <a:srgbClr val="BAC66C"/>
          </a:solidFill>
          <a:ln w="28412">
            <a:solidFill>
              <a:srgbClr val="3883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4919021" y="809181"/>
            <a:ext cx="871843" cy="958839"/>
          </a:xfrm>
          <a:prstGeom prst="line">
            <a:avLst/>
          </a:prstGeom>
          <a:ln w="21214">
            <a:solidFill>
              <a:srgbClr val="82DFA4"/>
            </a:solidFill>
            <a:prstDash val="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47515" y="2558994"/>
            <a:ext cx="1206701" cy="1147132"/>
          </a:xfrm>
          <a:prstGeom prst="rect">
            <a:avLst/>
          </a:prstGeom>
          <a:noFill/>
        </p:spPr>
        <p:txBody>
          <a:bodyPr wrap="none" lIns="34999" tIns="34999" rIns="34999" bIns="34999">
            <a:spAutoFit/>
          </a:bodyPr>
          <a:lstStyle/>
          <a:p>
            <a:r>
              <a:rPr sz="1100" b="0" i="0" u="none">
                <a:solidFill>
                  <a:srgbClr val="B626E0"/>
                </a:solidFill>
                <a:latin typeface="Trebuchet MS"/>
              </a:rPr>
              <a:t>Echo</a:t>
            </a:r>
          </a:p>
        </p:txBody>
      </p:sp>
      <p:pic>
        <p:nvPicPr>
          <p:cNvPr id="8" name="Picture 7" descr="_example_image.jpg"/>
          <p:cNvPicPr>
            <a:picLocks noChangeAspect="1"/>
          </p:cNvPicPr>
          <p:nvPr/>
        </p:nvPicPr>
        <p:blipFill>
          <a:blip r:embed="rId2"/>
          <a:srcRect l="75" t="17583" r="7617" b="18110"/>
          <a:stretch>
            <a:fillRect/>
          </a:stretch>
        </p:blipFill>
        <p:spPr>
          <a:xfrm>
            <a:off x="2242233" y="3681144"/>
            <a:ext cx="1386331" cy="1717050"/>
          </a:xfrm>
          <a:prstGeom prst="rect">
            <a:avLst/>
          </a:prstGeom>
        </p:spPr>
      </p:pic>
      <p:sp>
        <p:nvSpPr>
          <p:cNvPr id="9" name="Rounded Rectangle 8"/>
          <p:cNvSpPr/>
          <p:nvPr/>
        </p:nvSpPr>
        <p:spPr>
          <a:xfrm>
            <a:off x="2242233" y="3681144"/>
            <a:ext cx="1386331" cy="1717050"/>
          </a:xfrm>
          <a:prstGeom prst="roundRect">
            <a:avLst/>
          </a:prstGeom>
          <a:noFill/>
          <a:ln w="15240">
            <a:solidFill>
              <a:srgbClr val="E0B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20978" y="655707"/>
            <a:ext cx="2331750" cy="2425293"/>
          </a:xfrm>
          <a:prstGeom prst="rect">
            <a:avLst/>
          </a:prstGeom>
          <a:noFill/>
        </p:spPr>
        <p:txBody>
          <a:bodyPr wrap="none" lIns="46706" tIns="46706" rIns="46706" bIns="46706">
            <a:spAutoFit/>
          </a:bodyPr>
          <a:lstStyle/>
          <a:p>
            <a:r>
              <a:rPr sz="1100" b="0" i="0" u="sng">
                <a:solidFill>
                  <a:srgbClr val="2CA728"/>
                </a:solidFill>
                <a:latin typeface="Aptos"/>
              </a:rPr>
              <a:t>Brief</a:t>
            </a:r>
          </a:p>
        </p:txBody>
      </p:sp>
      <p:graphicFrame>
        <p:nvGraphicFramePr>
          <p:cNvPr id="11" name="Chart 10"/>
          <p:cNvGraphicFramePr>
            <a:graphicFrameLocks noGrp="1"/>
          </p:cNvGraphicFramePr>
          <p:nvPr/>
        </p:nvGraphicFramePr>
        <p:xfrm>
          <a:off x="5297405" y="285922"/>
          <a:ext cx="2400382" cy="1735565"/>
        </p:xfrm>
        <a:graphic>
          <a:graphicData uri="http://schemas.openxmlformats.org/drawingml/2006/chart">
            <c:chart xmlns:c="http://schemas.openxmlformats.org/drawingml/2006/chart" xmlns:r="http://schemas.openxmlformats.org/officeDocument/2006/relationships" r:id="rId3"/>
          </a:graphicData>
        </a:graphic>
      </p:graphicFrame>
      <p:sp>
        <p:nvSpPr>
          <p:cNvPr id="12" name="Circular Arrow 11"/>
          <p:cNvSpPr/>
          <p:nvPr/>
        </p:nvSpPr>
        <p:spPr>
          <a:xfrm>
            <a:off x="1705745" y="3554462"/>
            <a:ext cx="933726" cy="973880"/>
          </a:xfrm>
          <a:prstGeom prst="circularArrow">
            <a:avLst/>
          </a:prstGeom>
          <a:solidFill>
            <a:srgbClr val="D3385A"/>
          </a:solidFill>
          <a:ln w="9247">
            <a:solidFill>
              <a:srgbClr val="2BB7A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32254" y="3978148"/>
            <a:ext cx="1143705" cy="2296248"/>
          </a:xfrm>
          <a:prstGeom prst="rect">
            <a:avLst/>
          </a:prstGeom>
          <a:noFill/>
        </p:spPr>
        <p:txBody>
          <a:bodyPr wrap="none" lIns="32333" tIns="32333" rIns="32333" bIns="32333">
            <a:spAutoFit/>
          </a:bodyPr>
          <a:lstStyle/>
          <a:p>
            <a:r>
              <a:rPr sz="1700" b="0" i="0" u="none">
                <a:solidFill>
                  <a:srgbClr val="337D2D"/>
                </a:solidFill>
                <a:latin typeface="Arial"/>
              </a:rPr>
              <a:t>Array Topology Echo North Resource Pipeline Mesh Discovery Matrix Hub Datum Register Cycle Field Strategy Audit Stream Spectrum Priority Lens Panel Collection</a:t>
            </a:r>
          </a:p>
        </p:txBody>
      </p:sp>
      <p:graphicFrame>
        <p:nvGraphicFramePr>
          <p:cNvPr id="14" name="Table 13"/>
          <p:cNvGraphicFramePr>
            <a:graphicFrameLocks noGrp="1"/>
          </p:cNvGraphicFramePr>
          <p:nvPr/>
        </p:nvGraphicFramePr>
        <p:xfrm>
          <a:off x="1497563" y="5470430"/>
          <a:ext cx="4014323" cy="1129733"/>
        </p:xfrm>
        <a:graphic>
          <a:graphicData uri="http://schemas.openxmlformats.org/drawingml/2006/table">
            <a:tbl>
              <a:tblPr firstRow="1" bandRow="1">
                <a:tableStyleId>{5C22544A-7EE6-4342-B048-85BDC9FD1C3A}</a:tableStyleId>
              </a:tblPr>
              <a:tblGrid>
                <a:gridCol w="1338107">
                  <a:extLst>
                    <a:ext uri="{9D8B030D-6E8A-4147-A177-3AD203B41FA5}">
                      <a16:colId xmlns:a16="http://schemas.microsoft.com/office/drawing/2014/main" val="20000"/>
                    </a:ext>
                  </a:extLst>
                </a:gridCol>
                <a:gridCol w="1338107">
                  <a:extLst>
                    <a:ext uri="{9D8B030D-6E8A-4147-A177-3AD203B41FA5}">
                      <a16:colId xmlns:a16="http://schemas.microsoft.com/office/drawing/2014/main" val="20001"/>
                    </a:ext>
                  </a:extLst>
                </a:gridCol>
                <a:gridCol w="1338109">
                  <a:extLst>
                    <a:ext uri="{9D8B030D-6E8A-4147-A177-3AD203B41FA5}">
                      <a16:colId xmlns:a16="http://schemas.microsoft.com/office/drawing/2014/main" val="20002"/>
                    </a:ext>
                  </a:extLst>
                </a:gridCol>
              </a:tblGrid>
              <a:tr h="376577">
                <a:tc>
                  <a:txBody>
                    <a:bodyPr/>
                    <a:lstStyle/>
                    <a:p>
                      <a:r>
                        <a:rPr sz="600" b="1">
                          <a:solidFill>
                            <a:srgbClr val="C68841"/>
                          </a:solidFill>
                        </a:rPr>
                        <a:t>Terminal</a:t>
                      </a:r>
                    </a:p>
                  </a:txBody>
                  <a:tcPr>
                    <a:solidFill>
                      <a:srgbClr val="6932C4"/>
                    </a:solidFill>
                  </a:tcPr>
                </a:tc>
                <a:tc>
                  <a:txBody>
                    <a:bodyPr/>
                    <a:lstStyle/>
                    <a:p>
                      <a:r>
                        <a:rPr sz="600" b="1">
                          <a:solidFill>
                            <a:srgbClr val="C68841"/>
                          </a:solidFill>
                        </a:rPr>
                        <a:t>Element Sync</a:t>
                      </a:r>
                    </a:p>
                  </a:txBody>
                  <a:tcPr>
                    <a:solidFill>
                      <a:srgbClr val="6932C4"/>
                    </a:solidFill>
                  </a:tcPr>
                </a:tc>
                <a:tc>
                  <a:txBody>
                    <a:bodyPr/>
                    <a:lstStyle/>
                    <a:p>
                      <a:r>
                        <a:rPr sz="600" b="1">
                          <a:solidFill>
                            <a:srgbClr val="C68841"/>
                          </a:solidFill>
                        </a:rPr>
                        <a:t>Datum Position</a:t>
                      </a:r>
                    </a:p>
                  </a:txBody>
                  <a:tcPr>
                    <a:solidFill>
                      <a:srgbClr val="6932C4"/>
                    </a:solidFill>
                  </a:tcPr>
                </a:tc>
                <a:extLst>
                  <a:ext uri="{0D108BD9-81ED-4DB2-BD59-A6C34878D82A}">
                    <a16:rowId xmlns:a16="http://schemas.microsoft.com/office/drawing/2014/main" val="10000"/>
                  </a:ext>
                </a:extLst>
              </a:tr>
              <a:tr h="376577">
                <a:tc>
                  <a:txBody>
                    <a:bodyPr/>
                    <a:lstStyle/>
                    <a:p>
                      <a:r>
                        <a:rPr sz="600" b="0">
                          <a:solidFill>
                            <a:srgbClr val="C68841"/>
                          </a:solidFill>
                        </a:rPr>
                        <a:t>Network</a:t>
                      </a:r>
                    </a:p>
                  </a:txBody>
                  <a:tcPr>
                    <a:solidFill>
                      <a:srgbClr val="F0BEE5"/>
                    </a:solidFill>
                  </a:tcPr>
                </a:tc>
                <a:tc>
                  <a:txBody>
                    <a:bodyPr/>
                    <a:lstStyle/>
                    <a:p>
                      <a:r>
                        <a:rPr sz="600" b="0">
                          <a:solidFill>
                            <a:srgbClr val="C68841"/>
                          </a:solidFill>
                        </a:rPr>
                        <a:t>Viewport Measure</a:t>
                      </a:r>
                    </a:p>
                  </a:txBody>
                  <a:tcPr>
                    <a:solidFill>
                      <a:srgbClr val="F0BEE5"/>
                    </a:solidFill>
                  </a:tcPr>
                </a:tc>
                <a:tc>
                  <a:txBody>
                    <a:bodyPr/>
                    <a:lstStyle/>
                    <a:p>
                      <a:r>
                        <a:rPr sz="600" b="0">
                          <a:solidFill>
                            <a:srgbClr val="C68841"/>
                          </a:solidFill>
                        </a:rPr>
                        <a:t>Token Guide</a:t>
                      </a:r>
                    </a:p>
                  </a:txBody>
                  <a:tcPr>
                    <a:solidFill>
                      <a:srgbClr val="F0BEE5"/>
                    </a:solidFill>
                  </a:tcPr>
                </a:tc>
                <a:extLst>
                  <a:ext uri="{0D108BD9-81ED-4DB2-BD59-A6C34878D82A}">
                    <a16:rowId xmlns:a16="http://schemas.microsoft.com/office/drawing/2014/main" val="10001"/>
                  </a:ext>
                </a:extLst>
              </a:tr>
              <a:tr h="376579">
                <a:tc>
                  <a:txBody>
                    <a:bodyPr/>
                    <a:lstStyle/>
                    <a:p>
                      <a:r>
                        <a:rPr sz="600" b="0">
                          <a:solidFill>
                            <a:srgbClr val="C68841"/>
                          </a:solidFill>
                        </a:rPr>
                        <a:t>Alpha Origin</a:t>
                      </a:r>
                    </a:p>
                  </a:txBody>
                  <a:tcPr>
                    <a:solidFill>
                      <a:srgbClr val="FBF0F9"/>
                    </a:solidFill>
                  </a:tcPr>
                </a:tc>
                <a:tc>
                  <a:txBody>
                    <a:bodyPr/>
                    <a:lstStyle/>
                    <a:p>
                      <a:r>
                        <a:rPr sz="600" b="0">
                          <a:solidFill>
                            <a:srgbClr val="C68841"/>
                          </a:solidFill>
                        </a:rPr>
                        <a:t>Plan</a:t>
                      </a:r>
                    </a:p>
                  </a:txBody>
                  <a:tcPr>
                    <a:solidFill>
                      <a:srgbClr val="FBF0F9"/>
                    </a:solidFill>
                  </a:tcPr>
                </a:tc>
                <a:tc>
                  <a:txBody>
                    <a:bodyPr/>
                    <a:lstStyle/>
                    <a:p>
                      <a:r>
                        <a:rPr sz="600" b="0">
                          <a:solidFill>
                            <a:srgbClr val="C68841"/>
                          </a:solidFill>
                        </a:rPr>
                        <a:t>Device</a:t>
                      </a:r>
                    </a:p>
                  </a:txBody>
                  <a:tcPr>
                    <a:solidFill>
                      <a:srgbClr val="FBF0F9"/>
                    </a:solidFill>
                  </a:tcPr>
                </a:tc>
                <a:extLst>
                  <a:ext uri="{0D108BD9-81ED-4DB2-BD59-A6C34878D82A}">
                    <a16:rowId xmlns:a16="http://schemas.microsoft.com/office/drawing/2014/main" val="10002"/>
                  </a:ext>
                </a:extLst>
              </a:tr>
            </a:tbl>
          </a:graphicData>
        </a:graphic>
      </p:graphicFrame>
      <p:sp>
        <p:nvSpPr>
          <p:cNvPr id="15" name="8-Point Star 14"/>
          <p:cNvSpPr/>
          <p:nvPr/>
        </p:nvSpPr>
        <p:spPr>
          <a:xfrm>
            <a:off x="6876313" y="280807"/>
            <a:ext cx="1676616" cy="1634431"/>
          </a:xfrm>
          <a:prstGeom prst="star8">
            <a:avLst/>
          </a:prstGeom>
          <a:solidFill>
            <a:srgbClr val="BD9130"/>
          </a:solidFill>
          <a:ln w="26133">
            <a:solidFill>
              <a:srgbClr val="E02DE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_example_image.jpg"/>
          <p:cNvPicPr>
            <a:picLocks noChangeAspect="1"/>
          </p:cNvPicPr>
          <p:nvPr/>
        </p:nvPicPr>
        <p:blipFill>
          <a:blip r:embed="rId2"/>
          <a:srcRect l="13095" t="16723" r="10060" b="17932"/>
          <a:stretch>
            <a:fillRect/>
          </a:stretch>
        </p:blipFill>
        <p:spPr>
          <a:xfrm>
            <a:off x="9223140" y="392306"/>
            <a:ext cx="1930680" cy="863616"/>
          </a:xfrm>
          <a:prstGeom prst="rect">
            <a:avLst/>
          </a:prstGeom>
        </p:spPr>
      </p:pic>
      <p:sp>
        <p:nvSpPr>
          <p:cNvPr id="17" name="Rounded Rectangle 16"/>
          <p:cNvSpPr/>
          <p:nvPr/>
        </p:nvSpPr>
        <p:spPr>
          <a:xfrm>
            <a:off x="9223140" y="392306"/>
            <a:ext cx="1930680" cy="863616"/>
          </a:xfrm>
          <a:prstGeom prst="roundRect">
            <a:avLst/>
          </a:prstGeom>
          <a:noFill/>
          <a:ln w="15240">
            <a:solidFill>
              <a:srgbClr val="38A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28496" y="2746956"/>
            <a:ext cx="578763" cy="1896104"/>
          </a:xfrm>
          <a:prstGeom prst="rect">
            <a:avLst/>
          </a:prstGeom>
          <a:noFill/>
        </p:spPr>
        <p:txBody>
          <a:bodyPr wrap="none" lIns="59832" tIns="59832" rIns="59832" bIns="59832">
            <a:spAutoFit/>
          </a:bodyPr>
          <a:lstStyle/>
          <a:p>
            <a:r>
              <a:rPr sz="4400" b="1" i="1" u="sng">
                <a:solidFill>
                  <a:srgbClr val="523333"/>
                </a:solidFill>
                <a:latin typeface="Verdana"/>
              </a:rPr>
              <a:t>Briefing Profile Connector Vertex Kernel</a:t>
            </a:r>
          </a:p>
        </p:txBody>
      </p:sp>
      <p:sp>
        <p:nvSpPr>
          <p:cNvPr id="19" name="Left-Right Arrow Callout 18"/>
          <p:cNvSpPr/>
          <p:nvPr/>
        </p:nvSpPr>
        <p:spPr>
          <a:xfrm>
            <a:off x="3698313" y="4081598"/>
            <a:ext cx="985226" cy="353725"/>
          </a:xfrm>
          <a:prstGeom prst="leftRightArrowCallout">
            <a:avLst/>
          </a:prstGeom>
          <a:solidFill>
            <a:srgbClr val="B3B8B9"/>
          </a:solidFill>
          <a:ln w="10276">
            <a:solidFill>
              <a:srgbClr val="19D88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5869819" y="5828159"/>
            <a:ext cx="2516518" cy="404276"/>
          </a:xfrm>
          <a:prstGeom prst="line">
            <a:avLst/>
          </a:prstGeom>
          <a:ln w="12064">
            <a:solidFill>
              <a:srgbClr val="64193A"/>
            </a:solidFill>
            <a:prstDash val="solid"/>
          </a:ln>
        </p:spPr>
        <p:style>
          <a:lnRef idx="2">
            <a:schemeClr val="accent1"/>
          </a:lnRef>
          <a:fillRef idx="0">
            <a:schemeClr val="accent1"/>
          </a:fillRef>
          <a:effectRef idx="1">
            <a:schemeClr val="accent1"/>
          </a:effectRef>
          <a:fontRef idx="minor">
            <a:schemeClr val="tx1"/>
          </a:fontRef>
        </p:style>
      </p:cxnSp>
      <p:sp>
        <p:nvSpPr>
          <p:cNvPr id="21" name="Striped Right Arrow 20"/>
          <p:cNvSpPr/>
          <p:nvPr/>
        </p:nvSpPr>
        <p:spPr>
          <a:xfrm>
            <a:off x="6345991" y="2488851"/>
            <a:ext cx="1228536" cy="867423"/>
          </a:xfrm>
          <a:prstGeom prst="stripedRightArrow">
            <a:avLst/>
          </a:prstGeom>
          <a:solidFill>
            <a:srgbClr val="B958A5"/>
          </a:solidFill>
          <a:ln w="28590">
            <a:solidFill>
              <a:srgbClr val="D5D35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_example_image.jpg"/>
          <p:cNvPicPr>
            <a:picLocks noChangeAspect="1"/>
          </p:cNvPicPr>
          <p:nvPr/>
        </p:nvPicPr>
        <p:blipFill>
          <a:blip r:embed="rId2"/>
          <a:srcRect/>
          <a:stretch>
            <a:fillRect/>
          </a:stretch>
        </p:blipFill>
        <p:spPr>
          <a:xfrm>
            <a:off x="727906" y="4364012"/>
            <a:ext cx="1476022" cy="1221353"/>
          </a:xfrm>
          <a:prstGeom prst="rect">
            <a:avLst/>
          </a:prstGeom>
        </p:spPr>
      </p:pic>
      <p:sp>
        <p:nvSpPr>
          <p:cNvPr id="23" name="Rounded Rectangle 22"/>
          <p:cNvSpPr/>
          <p:nvPr/>
        </p:nvSpPr>
        <p:spPr>
          <a:xfrm>
            <a:off x="727906" y="4364012"/>
            <a:ext cx="1476022" cy="1221353"/>
          </a:xfrm>
          <a:prstGeom prst="roundRect">
            <a:avLst/>
          </a:prstGeom>
          <a:noFill/>
          <a:ln w="15240">
            <a:solidFill>
              <a:srgbClr val="DD7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0178769" y="1694108"/>
            <a:ext cx="992788" cy="1222053"/>
          </a:xfrm>
          <a:prstGeom prst="bentConnector3">
            <a:avLst/>
          </a:prstGeom>
          <a:ln w="33023">
            <a:solidFill>
              <a:srgbClr val="6CD19D"/>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21196" y="3151213"/>
            <a:ext cx="1209509" cy="2208491"/>
          </a:xfrm>
          <a:prstGeom prst="rect">
            <a:avLst/>
          </a:prstGeom>
          <a:noFill/>
        </p:spPr>
        <p:txBody>
          <a:bodyPr wrap="none" lIns="43566" tIns="43566" rIns="43566" bIns="43566">
            <a:spAutoFit/>
          </a:bodyPr>
          <a:lstStyle/>
          <a:p>
            <a:r>
              <a:rPr sz="5000" b="1" i="0" u="none">
                <a:solidFill>
                  <a:srgbClr val="5A8ACC"/>
                </a:solidFill>
                <a:latin typeface="Calibri"/>
              </a:rPr>
              <a:t>Version Library</a:t>
            </a:r>
          </a:p>
        </p:txBody>
      </p:sp>
      <p:sp>
        <p:nvSpPr>
          <p:cNvPr id="26" name="Circular Arrow 25"/>
          <p:cNvSpPr/>
          <p:nvPr/>
        </p:nvSpPr>
        <p:spPr>
          <a:xfrm>
            <a:off x="5799039" y="931121"/>
            <a:ext cx="612084" cy="260239"/>
          </a:xfrm>
          <a:prstGeom prst="circularArrow">
            <a:avLst/>
          </a:prstGeom>
          <a:solidFill>
            <a:srgbClr val="AE8285"/>
          </a:solidFill>
          <a:ln w="12304">
            <a:solidFill>
              <a:srgbClr val="70DC5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7" name="Chart 26"/>
          <p:cNvGraphicFramePr>
            <a:graphicFrameLocks noGrp="1"/>
          </p:cNvGraphicFramePr>
          <p:nvPr/>
        </p:nvGraphicFramePr>
        <p:xfrm>
          <a:off x="8880366" y="1199033"/>
          <a:ext cx="2458279" cy="1437125"/>
        </p:xfrm>
        <a:graphic>
          <a:graphicData uri="http://schemas.openxmlformats.org/drawingml/2006/chart">
            <c:chart xmlns:c="http://schemas.openxmlformats.org/drawingml/2006/chart" xmlns:r="http://schemas.openxmlformats.org/officeDocument/2006/relationships" r:id="rId4"/>
          </a:graphicData>
        </a:graphic>
      </p:graphicFrame>
      <p:sp>
        <p:nvSpPr>
          <p:cNvPr id="28" name="TextBox 27"/>
          <p:cNvSpPr txBox="1"/>
          <p:nvPr/>
        </p:nvSpPr>
        <p:spPr>
          <a:xfrm>
            <a:off x="4511091" y="3212605"/>
            <a:ext cx="1214203" cy="860394"/>
          </a:xfrm>
          <a:prstGeom prst="rect">
            <a:avLst/>
          </a:prstGeom>
          <a:noFill/>
        </p:spPr>
        <p:txBody>
          <a:bodyPr wrap="none" lIns="24776" tIns="24776" rIns="24776" bIns="24776">
            <a:spAutoFit/>
          </a:bodyPr>
          <a:lstStyle/>
          <a:p>
            <a:r>
              <a:rPr sz="1000" b="1" i="0" u="none">
                <a:solidFill>
                  <a:srgbClr val="4F4A5F"/>
                </a:solidFill>
                <a:latin typeface="Verdana"/>
              </a:rPr>
              <a:t>Guide Engine Group Trace Input Chart Span Signal Input Intent</a:t>
            </a:r>
          </a:p>
        </p:txBody>
      </p:sp>
      <p:sp>
        <p:nvSpPr>
          <p:cNvPr id="29" name="Striped Right Arrow 28"/>
          <p:cNvSpPr/>
          <p:nvPr/>
        </p:nvSpPr>
        <p:spPr>
          <a:xfrm>
            <a:off x="280592" y="3733069"/>
            <a:ext cx="860441" cy="705166"/>
          </a:xfrm>
          <a:prstGeom prst="stripedRightArrow">
            <a:avLst/>
          </a:prstGeom>
          <a:solidFill>
            <a:srgbClr val="AE7C20"/>
          </a:solidFill>
          <a:ln w="10284">
            <a:solidFill>
              <a:srgbClr val="2EC39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Graphic 30">
            <a:extLst>
              <a:ext uri="{FF2B5EF4-FFF2-40B4-BE49-F238E27FC236}">
                <a16:creationId xmlns:a16="http://schemas.microsoft.com/office/drawing/2014/main" id="{7DDF11D7-D334-A18E-0B75-3509D888032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590451" y="2819402"/>
            <a:ext cx="2026635" cy="998065"/>
          </a:xfrm>
          <a:prstGeom prst="rect">
            <a:avLst/>
          </a:prstGeom>
        </p:spPr>
      </p:pic>
      <p:pic>
        <p:nvPicPr>
          <p:cNvPr id="33" name="Graphic 32">
            <a:extLst>
              <a:ext uri="{FF2B5EF4-FFF2-40B4-BE49-F238E27FC236}">
                <a16:creationId xmlns:a16="http://schemas.microsoft.com/office/drawing/2014/main" id="{6B28B013-0DEC-8BDA-1C67-16BAFF425F6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13182" y="1727781"/>
            <a:ext cx="1923771" cy="11577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p-Down Arrow 1"/>
          <p:cNvSpPr/>
          <p:nvPr/>
        </p:nvSpPr>
        <p:spPr>
          <a:xfrm>
            <a:off x="2202896" y="5667579"/>
            <a:ext cx="610159" cy="780343"/>
          </a:xfrm>
          <a:prstGeom prst="upDownArrow">
            <a:avLst/>
          </a:prstGeom>
          <a:solidFill>
            <a:srgbClr val="A646AC"/>
          </a:solidFill>
          <a:ln w="14700">
            <a:solidFill>
              <a:srgbClr val="7E8BA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Chart 2"/>
          <p:cNvGraphicFramePr>
            <a:graphicFrameLocks noGrp="1"/>
          </p:cNvGraphicFramePr>
          <p:nvPr/>
        </p:nvGraphicFramePr>
        <p:xfrm>
          <a:off x="6967355" y="2799676"/>
          <a:ext cx="2775991" cy="184626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p:cNvGraphicFramePr>
            <a:graphicFrameLocks noGrp="1"/>
          </p:cNvGraphicFramePr>
          <p:nvPr/>
        </p:nvGraphicFramePr>
        <p:xfrm>
          <a:off x="9701344" y="2001222"/>
          <a:ext cx="2170142" cy="2111598"/>
        </p:xfrm>
        <a:graphic>
          <a:graphicData uri="http://schemas.openxmlformats.org/drawingml/2006/table">
            <a:tbl>
              <a:tblPr firstRow="1" bandRow="1">
                <a:tableStyleId>{5C22544A-7EE6-4342-B048-85BDC9FD1C3A}</a:tableStyleId>
              </a:tblPr>
              <a:tblGrid>
                <a:gridCol w="434028">
                  <a:extLst>
                    <a:ext uri="{9D8B030D-6E8A-4147-A177-3AD203B41FA5}">
                      <a16:colId xmlns:a16="http://schemas.microsoft.com/office/drawing/2014/main" val="20000"/>
                    </a:ext>
                  </a:extLst>
                </a:gridCol>
                <a:gridCol w="434028">
                  <a:extLst>
                    <a:ext uri="{9D8B030D-6E8A-4147-A177-3AD203B41FA5}">
                      <a16:colId xmlns:a16="http://schemas.microsoft.com/office/drawing/2014/main" val="20001"/>
                    </a:ext>
                  </a:extLst>
                </a:gridCol>
                <a:gridCol w="434028">
                  <a:extLst>
                    <a:ext uri="{9D8B030D-6E8A-4147-A177-3AD203B41FA5}">
                      <a16:colId xmlns:a16="http://schemas.microsoft.com/office/drawing/2014/main" val="20002"/>
                    </a:ext>
                  </a:extLst>
                </a:gridCol>
                <a:gridCol w="434028">
                  <a:extLst>
                    <a:ext uri="{9D8B030D-6E8A-4147-A177-3AD203B41FA5}">
                      <a16:colId xmlns:a16="http://schemas.microsoft.com/office/drawing/2014/main" val="20003"/>
                    </a:ext>
                  </a:extLst>
                </a:gridCol>
                <a:gridCol w="434030">
                  <a:extLst>
                    <a:ext uri="{9D8B030D-6E8A-4147-A177-3AD203B41FA5}">
                      <a16:colId xmlns:a16="http://schemas.microsoft.com/office/drawing/2014/main" val="20004"/>
                    </a:ext>
                  </a:extLst>
                </a:gridCol>
              </a:tblGrid>
              <a:tr h="1055799">
                <a:tc>
                  <a:txBody>
                    <a:bodyPr/>
                    <a:lstStyle/>
                    <a:p>
                      <a:r>
                        <a:rPr sz="800" b="1">
                          <a:solidFill>
                            <a:srgbClr val="B393DF"/>
                          </a:solidFill>
                        </a:rPr>
                        <a:t>Craft</a:t>
                      </a:r>
                    </a:p>
                  </a:txBody>
                  <a:tcPr>
                    <a:solidFill>
                      <a:srgbClr val="72B253"/>
                    </a:solidFill>
                  </a:tcPr>
                </a:tc>
                <a:tc>
                  <a:txBody>
                    <a:bodyPr/>
                    <a:lstStyle/>
                    <a:p>
                      <a:r>
                        <a:rPr sz="800" b="1">
                          <a:solidFill>
                            <a:srgbClr val="B393DF"/>
                          </a:solidFill>
                        </a:rPr>
                        <a:t>Profile Strategy</a:t>
                      </a:r>
                    </a:p>
                  </a:txBody>
                  <a:tcPr>
                    <a:solidFill>
                      <a:srgbClr val="72B253"/>
                    </a:solidFill>
                  </a:tcPr>
                </a:tc>
                <a:tc>
                  <a:txBody>
                    <a:bodyPr/>
                    <a:lstStyle/>
                    <a:p>
                      <a:r>
                        <a:rPr sz="800" b="1">
                          <a:solidFill>
                            <a:srgbClr val="B393DF"/>
                          </a:solidFill>
                        </a:rPr>
                        <a:t>Thread Texture</a:t>
                      </a:r>
                    </a:p>
                  </a:txBody>
                  <a:tcPr>
                    <a:solidFill>
                      <a:srgbClr val="72B253"/>
                    </a:solidFill>
                  </a:tcPr>
                </a:tc>
                <a:tc>
                  <a:txBody>
                    <a:bodyPr/>
                    <a:lstStyle/>
                    <a:p>
                      <a:r>
                        <a:rPr sz="800" b="1">
                          <a:solidFill>
                            <a:srgbClr val="B393DF"/>
                          </a:solidFill>
                        </a:rPr>
                        <a:t>Bundle</a:t>
                      </a:r>
                    </a:p>
                  </a:txBody>
                  <a:tcPr>
                    <a:solidFill>
                      <a:srgbClr val="72B253"/>
                    </a:solidFill>
                  </a:tcPr>
                </a:tc>
                <a:tc>
                  <a:txBody>
                    <a:bodyPr/>
                    <a:lstStyle/>
                    <a:p>
                      <a:r>
                        <a:rPr sz="800" b="1">
                          <a:solidFill>
                            <a:srgbClr val="B393DF"/>
                          </a:solidFill>
                        </a:rPr>
                        <a:t>Concept Status</a:t>
                      </a:r>
                    </a:p>
                  </a:txBody>
                  <a:tcPr>
                    <a:solidFill>
                      <a:srgbClr val="72B253"/>
                    </a:solidFill>
                  </a:tcPr>
                </a:tc>
                <a:extLst>
                  <a:ext uri="{0D108BD9-81ED-4DB2-BD59-A6C34878D82A}">
                    <a16:rowId xmlns:a16="http://schemas.microsoft.com/office/drawing/2014/main" val="10000"/>
                  </a:ext>
                </a:extLst>
              </a:tr>
              <a:tr h="1055799">
                <a:tc>
                  <a:txBody>
                    <a:bodyPr/>
                    <a:lstStyle/>
                    <a:p>
                      <a:r>
                        <a:rPr sz="800" b="0">
                          <a:solidFill>
                            <a:srgbClr val="B393DF"/>
                          </a:solidFill>
                        </a:rPr>
                        <a:t>Tile Collection</a:t>
                      </a:r>
                    </a:p>
                  </a:txBody>
                  <a:tcPr>
                    <a:solidFill>
                      <a:srgbClr val="E1FAEA"/>
                    </a:solidFill>
                  </a:tcPr>
                </a:tc>
                <a:tc>
                  <a:txBody>
                    <a:bodyPr/>
                    <a:lstStyle/>
                    <a:p>
                      <a:r>
                        <a:rPr sz="800" b="0">
                          <a:solidFill>
                            <a:srgbClr val="B393DF"/>
                          </a:solidFill>
                        </a:rPr>
                        <a:t>Element Limit</a:t>
                      </a:r>
                    </a:p>
                  </a:txBody>
                  <a:tcPr>
                    <a:solidFill>
                      <a:srgbClr val="E1FAEA"/>
                    </a:solidFill>
                  </a:tcPr>
                </a:tc>
                <a:tc>
                  <a:txBody>
                    <a:bodyPr/>
                    <a:lstStyle/>
                    <a:p>
                      <a:r>
                        <a:rPr sz="800" b="0">
                          <a:solidFill>
                            <a:srgbClr val="B393DF"/>
                          </a:solidFill>
                        </a:rPr>
                        <a:t>Tile Goal</a:t>
                      </a:r>
                    </a:p>
                  </a:txBody>
                  <a:tcPr>
                    <a:solidFill>
                      <a:srgbClr val="E1FAEA"/>
                    </a:solidFill>
                  </a:tcPr>
                </a:tc>
                <a:tc>
                  <a:txBody>
                    <a:bodyPr/>
                    <a:lstStyle/>
                    <a:p>
                      <a:r>
                        <a:rPr sz="800" b="0">
                          <a:solidFill>
                            <a:srgbClr val="B393DF"/>
                          </a:solidFill>
                        </a:rPr>
                        <a:t>Forecast Asset</a:t>
                      </a:r>
                    </a:p>
                  </a:txBody>
                  <a:tcPr>
                    <a:solidFill>
                      <a:srgbClr val="E1FAEA"/>
                    </a:solidFill>
                  </a:tcPr>
                </a:tc>
                <a:tc>
                  <a:txBody>
                    <a:bodyPr/>
                    <a:lstStyle/>
                    <a:p>
                      <a:r>
                        <a:rPr sz="800" b="0">
                          <a:solidFill>
                            <a:srgbClr val="B393DF"/>
                          </a:solidFill>
                        </a:rPr>
                        <a:t>Insight</a:t>
                      </a:r>
                    </a:p>
                  </a:txBody>
                  <a:tcPr>
                    <a:solidFill>
                      <a:srgbClr val="E1FAEA"/>
                    </a:solidFill>
                  </a:tcPr>
                </a:tc>
                <a:extLst>
                  <a:ext uri="{0D108BD9-81ED-4DB2-BD59-A6C34878D82A}">
                    <a16:rowId xmlns:a16="http://schemas.microsoft.com/office/drawing/2014/main" val="10001"/>
                  </a:ext>
                </a:extLst>
              </a:tr>
            </a:tbl>
          </a:graphicData>
        </a:graphic>
      </p:graphicFrame>
      <p:pic>
        <p:nvPicPr>
          <p:cNvPr id="5" name="Picture 4" descr="_example_image.jpg"/>
          <p:cNvPicPr>
            <a:picLocks noChangeAspect="1"/>
          </p:cNvPicPr>
          <p:nvPr/>
        </p:nvPicPr>
        <p:blipFill>
          <a:blip r:embed="rId3"/>
          <a:srcRect/>
          <a:stretch>
            <a:fillRect/>
          </a:stretch>
        </p:blipFill>
        <p:spPr>
          <a:xfrm>
            <a:off x="8473499" y="4652342"/>
            <a:ext cx="1106944" cy="875018"/>
          </a:xfrm>
          <a:prstGeom prst="rect">
            <a:avLst/>
          </a:prstGeom>
        </p:spPr>
      </p:pic>
      <p:sp>
        <p:nvSpPr>
          <p:cNvPr id="6" name="Rounded Rectangle 5"/>
          <p:cNvSpPr/>
          <p:nvPr/>
        </p:nvSpPr>
        <p:spPr>
          <a:xfrm>
            <a:off x="8473499" y="4652342"/>
            <a:ext cx="1106944" cy="875018"/>
          </a:xfrm>
          <a:prstGeom prst="roundRect">
            <a:avLst/>
          </a:prstGeom>
          <a:noFill/>
          <a:ln w="15240">
            <a:solidFill>
              <a:srgbClr val="4D3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3337" y="1685867"/>
          <a:ext cx="2559594" cy="1553453"/>
        </p:xfrm>
        <a:graphic>
          <a:graphicData uri="http://schemas.openxmlformats.org/drawingml/2006/table">
            <a:tbl>
              <a:tblPr firstRow="1" bandRow="1">
                <a:tableStyleId>{5C22544A-7EE6-4342-B048-85BDC9FD1C3A}</a:tableStyleId>
              </a:tblPr>
              <a:tblGrid>
                <a:gridCol w="511918">
                  <a:extLst>
                    <a:ext uri="{9D8B030D-6E8A-4147-A177-3AD203B41FA5}">
                      <a16:colId xmlns:a16="http://schemas.microsoft.com/office/drawing/2014/main" val="20000"/>
                    </a:ext>
                  </a:extLst>
                </a:gridCol>
                <a:gridCol w="511918">
                  <a:extLst>
                    <a:ext uri="{9D8B030D-6E8A-4147-A177-3AD203B41FA5}">
                      <a16:colId xmlns:a16="http://schemas.microsoft.com/office/drawing/2014/main" val="20001"/>
                    </a:ext>
                  </a:extLst>
                </a:gridCol>
                <a:gridCol w="511918">
                  <a:extLst>
                    <a:ext uri="{9D8B030D-6E8A-4147-A177-3AD203B41FA5}">
                      <a16:colId xmlns:a16="http://schemas.microsoft.com/office/drawing/2014/main" val="20002"/>
                    </a:ext>
                  </a:extLst>
                </a:gridCol>
                <a:gridCol w="511918">
                  <a:extLst>
                    <a:ext uri="{9D8B030D-6E8A-4147-A177-3AD203B41FA5}">
                      <a16:colId xmlns:a16="http://schemas.microsoft.com/office/drawing/2014/main" val="20003"/>
                    </a:ext>
                  </a:extLst>
                </a:gridCol>
                <a:gridCol w="511922">
                  <a:extLst>
                    <a:ext uri="{9D8B030D-6E8A-4147-A177-3AD203B41FA5}">
                      <a16:colId xmlns:a16="http://schemas.microsoft.com/office/drawing/2014/main" val="20004"/>
                    </a:ext>
                  </a:extLst>
                </a:gridCol>
              </a:tblGrid>
              <a:tr h="388363">
                <a:tc>
                  <a:txBody>
                    <a:bodyPr/>
                    <a:lstStyle/>
                    <a:p>
                      <a:r>
                        <a:rPr sz="1200" b="1">
                          <a:solidFill>
                            <a:srgbClr val="7C7919"/>
                          </a:solidFill>
                        </a:rPr>
                        <a:t>Stage</a:t>
                      </a:r>
                    </a:p>
                  </a:txBody>
                  <a:tcPr>
                    <a:solidFill>
                      <a:srgbClr val="1B5CD2"/>
                    </a:solidFill>
                  </a:tcPr>
                </a:tc>
                <a:tc>
                  <a:txBody>
                    <a:bodyPr/>
                    <a:lstStyle/>
                    <a:p>
                      <a:r>
                        <a:rPr sz="1200" b="1">
                          <a:solidFill>
                            <a:srgbClr val="7C7919"/>
                          </a:solidFill>
                        </a:rPr>
                        <a:t>Briefing Threshold</a:t>
                      </a:r>
                    </a:p>
                  </a:txBody>
                  <a:tcPr>
                    <a:solidFill>
                      <a:srgbClr val="1B5CD2"/>
                    </a:solidFill>
                  </a:tcPr>
                </a:tc>
                <a:tc>
                  <a:txBody>
                    <a:bodyPr/>
                    <a:lstStyle/>
                    <a:p>
                      <a:r>
                        <a:rPr sz="1200" b="1">
                          <a:solidFill>
                            <a:srgbClr val="7C7919"/>
                          </a:solidFill>
                        </a:rPr>
                        <a:t>Transform Audit</a:t>
                      </a:r>
                    </a:p>
                  </a:txBody>
                  <a:tcPr>
                    <a:solidFill>
                      <a:srgbClr val="1B5CD2"/>
                    </a:solidFill>
                  </a:tcPr>
                </a:tc>
                <a:tc>
                  <a:txBody>
                    <a:bodyPr/>
                    <a:lstStyle/>
                    <a:p>
                      <a:r>
                        <a:rPr sz="1200" b="1">
                          <a:solidFill>
                            <a:srgbClr val="7C7919"/>
                          </a:solidFill>
                        </a:rPr>
                        <a:t>Path</a:t>
                      </a:r>
                    </a:p>
                  </a:txBody>
                  <a:tcPr>
                    <a:solidFill>
                      <a:srgbClr val="1B5CD2"/>
                    </a:solidFill>
                  </a:tcPr>
                </a:tc>
                <a:tc>
                  <a:txBody>
                    <a:bodyPr/>
                    <a:lstStyle/>
                    <a:p>
                      <a:r>
                        <a:rPr sz="1200" b="1">
                          <a:solidFill>
                            <a:srgbClr val="7C7919"/>
                          </a:solidFill>
                        </a:rPr>
                        <a:t>Harbor Beacon</a:t>
                      </a:r>
                    </a:p>
                  </a:txBody>
                  <a:tcPr>
                    <a:solidFill>
                      <a:srgbClr val="1B5CD2"/>
                    </a:solidFill>
                  </a:tcPr>
                </a:tc>
                <a:extLst>
                  <a:ext uri="{0D108BD9-81ED-4DB2-BD59-A6C34878D82A}">
                    <a16:rowId xmlns:a16="http://schemas.microsoft.com/office/drawing/2014/main" val="10000"/>
                  </a:ext>
                </a:extLst>
              </a:tr>
              <a:tr h="388363">
                <a:tc>
                  <a:txBody>
                    <a:bodyPr/>
                    <a:lstStyle/>
                    <a:p>
                      <a:r>
                        <a:rPr sz="1200" b="0">
                          <a:solidFill>
                            <a:srgbClr val="7C7919"/>
                          </a:solidFill>
                        </a:rPr>
                        <a:t>Resource Reference</a:t>
                      </a:r>
                    </a:p>
                  </a:txBody>
                  <a:tcPr>
                    <a:solidFill>
                      <a:srgbClr val="CDBFE0"/>
                    </a:solidFill>
                  </a:tcPr>
                </a:tc>
                <a:tc>
                  <a:txBody>
                    <a:bodyPr/>
                    <a:lstStyle/>
                    <a:p>
                      <a:r>
                        <a:rPr sz="1200" b="0">
                          <a:solidFill>
                            <a:srgbClr val="7C7919"/>
                          </a:solidFill>
                        </a:rPr>
                        <a:t>Vector Feature</a:t>
                      </a:r>
                    </a:p>
                  </a:txBody>
                  <a:tcPr>
                    <a:solidFill>
                      <a:srgbClr val="CDBFE0"/>
                    </a:solidFill>
                  </a:tcPr>
                </a:tc>
                <a:tc>
                  <a:txBody>
                    <a:bodyPr/>
                    <a:lstStyle/>
                    <a:p>
                      <a:r>
                        <a:rPr sz="1200" b="0">
                          <a:solidFill>
                            <a:srgbClr val="7C7919"/>
                          </a:solidFill>
                        </a:rPr>
                        <a:t>Heading</a:t>
                      </a:r>
                    </a:p>
                  </a:txBody>
                  <a:tcPr>
                    <a:solidFill>
                      <a:srgbClr val="CDBFE0"/>
                    </a:solidFill>
                  </a:tcPr>
                </a:tc>
                <a:tc>
                  <a:txBody>
                    <a:bodyPr/>
                    <a:lstStyle/>
                    <a:p>
                      <a:r>
                        <a:rPr sz="1200" b="0">
                          <a:solidFill>
                            <a:srgbClr val="7C7919"/>
                          </a:solidFill>
                        </a:rPr>
                        <a:t>Source Program</a:t>
                      </a:r>
                    </a:p>
                  </a:txBody>
                  <a:tcPr>
                    <a:solidFill>
                      <a:srgbClr val="CDBFE0"/>
                    </a:solidFill>
                  </a:tcPr>
                </a:tc>
                <a:tc>
                  <a:txBody>
                    <a:bodyPr/>
                    <a:lstStyle/>
                    <a:p>
                      <a:r>
                        <a:rPr sz="1200" b="0">
                          <a:solidFill>
                            <a:srgbClr val="7C7919"/>
                          </a:solidFill>
                        </a:rPr>
                        <a:t>Atlas Pixel</a:t>
                      </a:r>
                    </a:p>
                  </a:txBody>
                  <a:tcPr>
                    <a:solidFill>
                      <a:srgbClr val="CDBFE0"/>
                    </a:solidFill>
                  </a:tcPr>
                </a:tc>
                <a:extLst>
                  <a:ext uri="{0D108BD9-81ED-4DB2-BD59-A6C34878D82A}">
                    <a16:rowId xmlns:a16="http://schemas.microsoft.com/office/drawing/2014/main" val="10001"/>
                  </a:ext>
                </a:extLst>
              </a:tr>
              <a:tr h="388363">
                <a:tc>
                  <a:txBody>
                    <a:bodyPr/>
                    <a:lstStyle/>
                    <a:p>
                      <a:r>
                        <a:rPr sz="1200" b="0">
                          <a:solidFill>
                            <a:srgbClr val="7C7919"/>
                          </a:solidFill>
                        </a:rPr>
                        <a:t>Echo</a:t>
                      </a:r>
                    </a:p>
                  </a:txBody>
                  <a:tcPr>
                    <a:solidFill>
                      <a:srgbClr val="F1EDF6"/>
                    </a:solidFill>
                  </a:tcPr>
                </a:tc>
                <a:tc>
                  <a:txBody>
                    <a:bodyPr/>
                    <a:lstStyle/>
                    <a:p>
                      <a:r>
                        <a:rPr sz="1200" b="0">
                          <a:solidFill>
                            <a:srgbClr val="7C7919"/>
                          </a:solidFill>
                        </a:rPr>
                        <a:t>Structure View</a:t>
                      </a:r>
                    </a:p>
                  </a:txBody>
                  <a:tcPr>
                    <a:solidFill>
                      <a:srgbClr val="CDBFE0"/>
                    </a:solidFill>
                  </a:tcPr>
                </a:tc>
                <a:tc>
                  <a:txBody>
                    <a:bodyPr/>
                    <a:lstStyle/>
                    <a:p>
                      <a:r>
                        <a:rPr sz="1200" b="0">
                          <a:solidFill>
                            <a:srgbClr val="7C7919"/>
                          </a:solidFill>
                        </a:rPr>
                        <a:t>Vertex</a:t>
                      </a:r>
                    </a:p>
                  </a:txBody>
                  <a:tcPr>
                    <a:solidFill>
                      <a:srgbClr val="F1EDF6"/>
                    </a:solidFill>
                  </a:tcPr>
                </a:tc>
                <a:tc>
                  <a:txBody>
                    <a:bodyPr/>
                    <a:lstStyle/>
                    <a:p>
                      <a:r>
                        <a:rPr sz="1200" b="0">
                          <a:solidFill>
                            <a:srgbClr val="7C7919"/>
                          </a:solidFill>
                        </a:rPr>
                        <a:t>Marker Beta</a:t>
                      </a:r>
                    </a:p>
                  </a:txBody>
                  <a:tcPr>
                    <a:solidFill>
                      <a:srgbClr val="CDBFE0"/>
                    </a:solidFill>
                  </a:tcPr>
                </a:tc>
                <a:tc>
                  <a:txBody>
                    <a:bodyPr/>
                    <a:lstStyle/>
                    <a:p>
                      <a:r>
                        <a:rPr sz="1200" b="0">
                          <a:solidFill>
                            <a:srgbClr val="7C7919"/>
                          </a:solidFill>
                        </a:rPr>
                        <a:t>Query Timeline</a:t>
                      </a:r>
                    </a:p>
                  </a:txBody>
                  <a:tcPr>
                    <a:solidFill>
                      <a:srgbClr val="F1EDF6"/>
                    </a:solidFill>
                  </a:tcPr>
                </a:tc>
                <a:extLst>
                  <a:ext uri="{0D108BD9-81ED-4DB2-BD59-A6C34878D82A}">
                    <a16:rowId xmlns:a16="http://schemas.microsoft.com/office/drawing/2014/main" val="10002"/>
                  </a:ext>
                </a:extLst>
              </a:tr>
              <a:tr h="388364">
                <a:tc>
                  <a:txBody>
                    <a:bodyPr/>
                    <a:lstStyle/>
                    <a:p>
                      <a:r>
                        <a:rPr sz="1200" b="0">
                          <a:solidFill>
                            <a:srgbClr val="7C7919"/>
                          </a:solidFill>
                        </a:rPr>
                        <a:t>Phase Agenda</a:t>
                      </a:r>
                    </a:p>
                  </a:txBody>
                  <a:tcPr>
                    <a:solidFill>
                      <a:srgbClr val="CDBFE0"/>
                    </a:solidFill>
                  </a:tcPr>
                </a:tc>
                <a:tc>
                  <a:txBody>
                    <a:bodyPr/>
                    <a:lstStyle/>
                    <a:p>
                      <a:r>
                        <a:rPr sz="1200" b="0">
                          <a:solidFill>
                            <a:srgbClr val="7C7919"/>
                          </a:solidFill>
                        </a:rPr>
                        <a:t>Horizon</a:t>
                      </a:r>
                    </a:p>
                  </a:txBody>
                  <a:tcPr>
                    <a:solidFill>
                      <a:srgbClr val="CDBFE0"/>
                    </a:solidFill>
                  </a:tcPr>
                </a:tc>
                <a:tc>
                  <a:txBody>
                    <a:bodyPr/>
                    <a:lstStyle/>
                    <a:p>
                      <a:r>
                        <a:rPr sz="1200" b="0">
                          <a:solidFill>
                            <a:srgbClr val="7C7919"/>
                          </a:solidFill>
                        </a:rPr>
                        <a:t>Discovery</a:t>
                      </a:r>
                    </a:p>
                  </a:txBody>
                  <a:tcPr>
                    <a:solidFill>
                      <a:srgbClr val="CDBFE0"/>
                    </a:solidFill>
                  </a:tcPr>
                </a:tc>
                <a:tc>
                  <a:txBody>
                    <a:bodyPr/>
                    <a:lstStyle/>
                    <a:p>
                      <a:r>
                        <a:rPr sz="1200" b="0">
                          <a:solidFill>
                            <a:srgbClr val="7C7919"/>
                          </a:solidFill>
                        </a:rPr>
                        <a:t>Flow Event</a:t>
                      </a:r>
                    </a:p>
                  </a:txBody>
                  <a:tcPr>
                    <a:solidFill>
                      <a:srgbClr val="CDBFE0"/>
                    </a:solidFill>
                  </a:tcPr>
                </a:tc>
                <a:tc>
                  <a:txBody>
                    <a:bodyPr/>
                    <a:lstStyle/>
                    <a:p>
                      <a:r>
                        <a:rPr sz="1200" b="0">
                          <a:solidFill>
                            <a:srgbClr val="7C7919"/>
                          </a:solidFill>
                        </a:rPr>
                        <a:t>Network Duration</a:t>
                      </a:r>
                    </a:p>
                  </a:txBody>
                  <a:tcPr>
                    <a:solidFill>
                      <a:srgbClr val="CDBFE0"/>
                    </a:solidFill>
                  </a:tcPr>
                </a:tc>
                <a:extLst>
                  <a:ext uri="{0D108BD9-81ED-4DB2-BD59-A6C34878D82A}">
                    <a16:rowId xmlns:a16="http://schemas.microsoft.com/office/drawing/2014/main" val="10003"/>
                  </a:ext>
                </a:extLst>
              </a:tr>
            </a:tbl>
          </a:graphicData>
        </a:graphic>
      </p:graphicFrame>
      <p:cxnSp>
        <p:nvCxnSpPr>
          <p:cNvPr id="8" name="Connector 7"/>
          <p:cNvCxnSpPr/>
          <p:nvPr/>
        </p:nvCxnSpPr>
        <p:spPr>
          <a:xfrm flipV="1">
            <a:off x="6020766" y="4076038"/>
            <a:ext cx="1376830" cy="379859"/>
          </a:xfrm>
          <a:prstGeom prst="bentConnector3">
            <a:avLst/>
          </a:prstGeom>
          <a:ln w="14061">
            <a:solidFill>
              <a:srgbClr val="D23CBF"/>
            </a:solidFill>
            <a:prstDash val="dash"/>
          </a:ln>
        </p:spPr>
        <p:style>
          <a:lnRef idx="2">
            <a:schemeClr val="accent1"/>
          </a:lnRef>
          <a:fillRef idx="0">
            <a:schemeClr val="accent1"/>
          </a:fillRef>
          <a:effectRef idx="1">
            <a:schemeClr val="accent1"/>
          </a:effectRef>
          <a:fontRef idx="minor">
            <a:schemeClr val="tx1"/>
          </a:fontRef>
        </p:style>
      </p:cxnSp>
      <p:sp>
        <p:nvSpPr>
          <p:cNvPr id="9" name="Diamond 8"/>
          <p:cNvSpPr/>
          <p:nvPr/>
        </p:nvSpPr>
        <p:spPr>
          <a:xfrm>
            <a:off x="2118229" y="3520160"/>
            <a:ext cx="515566" cy="727312"/>
          </a:xfrm>
          <a:prstGeom prst="diamond">
            <a:avLst/>
          </a:prstGeom>
          <a:noFill/>
          <a:ln w="25121">
            <a:solidFill>
              <a:srgbClr val="9A92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01895" y="274938"/>
            <a:ext cx="1662595" cy="1666728"/>
          </a:xfrm>
          <a:prstGeom prst="rect">
            <a:avLst/>
          </a:prstGeom>
          <a:noFill/>
        </p:spPr>
        <p:txBody>
          <a:bodyPr wrap="none" lIns="59163" tIns="59163" rIns="59163" bIns="59163">
            <a:spAutoFit/>
          </a:bodyPr>
          <a:lstStyle/>
          <a:p>
            <a:r>
              <a:rPr sz="800" b="0" i="0" u="none">
                <a:solidFill>
                  <a:srgbClr val="887B6E"/>
                </a:solidFill>
                <a:latin typeface="Georgia"/>
              </a:rPr>
              <a:t>Object</a:t>
            </a:r>
          </a:p>
        </p:txBody>
      </p:sp>
      <p:pic>
        <p:nvPicPr>
          <p:cNvPr id="11" name="Picture 10" descr="_example_image.jpg"/>
          <p:cNvPicPr>
            <a:picLocks noChangeAspect="1"/>
          </p:cNvPicPr>
          <p:nvPr/>
        </p:nvPicPr>
        <p:blipFill>
          <a:blip r:embed="rId3"/>
          <a:srcRect l="13817" t="10777" r="7666" b="14237"/>
          <a:stretch>
            <a:fillRect/>
          </a:stretch>
        </p:blipFill>
        <p:spPr>
          <a:xfrm>
            <a:off x="148739" y="3719684"/>
            <a:ext cx="1587995" cy="750892"/>
          </a:xfrm>
          <a:prstGeom prst="rect">
            <a:avLst/>
          </a:prstGeom>
        </p:spPr>
      </p:pic>
      <p:pic>
        <p:nvPicPr>
          <p:cNvPr id="12" name="Picture 11" descr="_example_image.jpg"/>
          <p:cNvPicPr>
            <a:picLocks noChangeAspect="1"/>
          </p:cNvPicPr>
          <p:nvPr/>
        </p:nvPicPr>
        <p:blipFill>
          <a:blip r:embed="rId3"/>
          <a:srcRect l="2749" t="10889" r="17783" b="358"/>
          <a:stretch>
            <a:fillRect/>
          </a:stretch>
        </p:blipFill>
        <p:spPr>
          <a:xfrm>
            <a:off x="1025799" y="296152"/>
            <a:ext cx="2754803" cy="797359"/>
          </a:xfrm>
          <a:prstGeom prst="rect">
            <a:avLst/>
          </a:prstGeom>
        </p:spPr>
      </p:pic>
      <p:sp>
        <p:nvSpPr>
          <p:cNvPr id="13" name="TextBox 12"/>
          <p:cNvSpPr txBox="1"/>
          <p:nvPr/>
        </p:nvSpPr>
        <p:spPr>
          <a:xfrm>
            <a:off x="3019851" y="4122538"/>
            <a:ext cx="1515922" cy="2379408"/>
          </a:xfrm>
          <a:prstGeom prst="rect">
            <a:avLst/>
          </a:prstGeom>
          <a:noFill/>
        </p:spPr>
        <p:txBody>
          <a:bodyPr wrap="none" lIns="18575" tIns="18575" rIns="18575" bIns="18575">
            <a:spAutoFit/>
          </a:bodyPr>
          <a:lstStyle/>
          <a:p>
            <a:r>
              <a:rPr sz="2700" b="0" i="0" u="none">
                <a:solidFill>
                  <a:srgbClr val="DC363E"/>
                </a:solidFill>
                <a:latin typeface="Trebuchet MS"/>
              </a:rPr>
              <a:t>Context Switch Diagram Apex Datum Feature Topology</a:t>
            </a:r>
          </a:p>
        </p:txBody>
      </p:sp>
      <p:sp>
        <p:nvSpPr>
          <p:cNvPr id="14" name="TextBox 13"/>
          <p:cNvSpPr txBox="1"/>
          <p:nvPr/>
        </p:nvSpPr>
        <p:spPr>
          <a:xfrm>
            <a:off x="8079575" y="3296637"/>
            <a:ext cx="893349" cy="1343064"/>
          </a:xfrm>
          <a:prstGeom prst="rect">
            <a:avLst/>
          </a:prstGeom>
          <a:solidFill>
            <a:srgbClr val="8288E2"/>
          </a:solidFill>
        </p:spPr>
        <p:txBody>
          <a:bodyPr wrap="none" lIns="76599" tIns="76599" rIns="76599" bIns="76599">
            <a:spAutoFit/>
          </a:bodyPr>
          <a:lstStyle/>
          <a:p>
            <a:r>
              <a:rPr sz="1400" b="1" i="1" u="none">
                <a:solidFill>
                  <a:srgbClr val="37BF28"/>
                </a:solidFill>
                <a:latin typeface="Georgia"/>
              </a:rPr>
              <a:t>Grid Thread</a:t>
            </a:r>
          </a:p>
        </p:txBody>
      </p:sp>
      <p:sp>
        <p:nvSpPr>
          <p:cNvPr id="15" name="16-Point Star 14"/>
          <p:cNvSpPr/>
          <p:nvPr/>
        </p:nvSpPr>
        <p:spPr>
          <a:xfrm>
            <a:off x="652923" y="4776311"/>
            <a:ext cx="404804" cy="928616"/>
          </a:xfrm>
          <a:prstGeom prst="star16">
            <a:avLst/>
          </a:prstGeom>
          <a:noFill/>
          <a:ln w="12253">
            <a:solidFill>
              <a:srgbClr val="45B69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a:off x="1224705" y="5040250"/>
            <a:ext cx="1738035" cy="912045"/>
          </a:xfrm>
          <a:prstGeom prst="curvedConnector3">
            <a:avLst/>
          </a:prstGeom>
          <a:ln w="19220">
            <a:solidFill>
              <a:srgbClr val="D33061"/>
            </a:solidFill>
            <a:prstDash val="dot"/>
          </a:ln>
        </p:spPr>
        <p:style>
          <a:lnRef idx="2">
            <a:schemeClr val="accent1"/>
          </a:lnRef>
          <a:fillRef idx="0">
            <a:schemeClr val="accent1"/>
          </a:fillRef>
          <a:effectRef idx="1">
            <a:schemeClr val="accent1"/>
          </a:effectRef>
          <a:fontRef idx="minor">
            <a:schemeClr val="tx1"/>
          </a:fontRef>
        </p:style>
      </p:cxnSp>
      <p:sp>
        <p:nvSpPr>
          <p:cNvPr id="17" name="Left-Right Arrow Callout 16"/>
          <p:cNvSpPr/>
          <p:nvPr/>
        </p:nvSpPr>
        <p:spPr>
          <a:xfrm>
            <a:off x="10578996" y="527940"/>
            <a:ext cx="1136763" cy="769713"/>
          </a:xfrm>
          <a:prstGeom prst="leftRightArrowCallout">
            <a:avLst/>
          </a:prstGeom>
          <a:solidFill>
            <a:srgbClr val="4D994C"/>
          </a:solidFill>
          <a:ln w="19810">
            <a:solidFill>
              <a:srgbClr val="9C82C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cument 17"/>
          <p:cNvSpPr/>
          <p:nvPr/>
        </p:nvSpPr>
        <p:spPr>
          <a:xfrm>
            <a:off x="6213928" y="4674009"/>
            <a:ext cx="2285567" cy="1669867"/>
          </a:xfrm>
          <a:prstGeom prst="flowChartDocument">
            <a:avLst/>
          </a:prstGeom>
          <a:solidFill>
            <a:srgbClr val="5586D4"/>
          </a:solidFill>
          <a:ln w="24266">
            <a:solidFill>
              <a:srgbClr val="DC2E2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01750" y="5608414"/>
            <a:ext cx="1217274" cy="933398"/>
          </a:xfrm>
          <a:prstGeom prst="rect">
            <a:avLst/>
          </a:prstGeom>
          <a:noFill/>
        </p:spPr>
        <p:txBody>
          <a:bodyPr wrap="none" lIns="51812" tIns="51812" rIns="51812" bIns="51812">
            <a:spAutoFit/>
          </a:bodyPr>
          <a:lstStyle/>
          <a:p>
            <a:r>
              <a:rPr sz="1400" b="1" i="0" u="none">
                <a:solidFill>
                  <a:srgbClr val="DD1D9D"/>
                </a:solidFill>
                <a:latin typeface="Verdana"/>
              </a:rPr>
              <a:t>Grid Drive Detail Capacity Command Coverage Frequency Portal Bundle Atlas Event Origin Explorer Format Texture Build Transit Memory Token Lineage Gateway Build Keyline Order Zone System</a:t>
            </a:r>
          </a:p>
        </p:txBody>
      </p:sp>
      <p:sp>
        <p:nvSpPr>
          <p:cNvPr id="20" name="Right Arrow 19"/>
          <p:cNvSpPr/>
          <p:nvPr/>
        </p:nvSpPr>
        <p:spPr>
          <a:xfrm>
            <a:off x="5438723" y="5941435"/>
            <a:ext cx="631902" cy="522327"/>
          </a:xfrm>
          <a:prstGeom prst="rightArrow">
            <a:avLst/>
          </a:prstGeom>
          <a:solidFill>
            <a:srgbClr val="3C458B"/>
          </a:solidFill>
          <a:ln w="28155">
            <a:solidFill>
              <a:srgbClr val="5472D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757131" y="1947248"/>
            <a:ext cx="3773025" cy="1982630"/>
          </a:xfrm>
          <a:prstGeom prst="rect">
            <a:avLst/>
          </a:prstGeom>
          <a:solidFill>
            <a:srgbClr val="7B9298"/>
          </a:solidFill>
        </p:spPr>
        <p:txBody>
          <a:bodyPr wrap="none" lIns="45212" tIns="45212" rIns="45212" bIns="45212">
            <a:spAutoFit/>
          </a:bodyPr>
          <a:lstStyle/>
          <a:p>
            <a:r>
              <a:rPr sz="5400" b="1" i="0" u="none">
                <a:solidFill>
                  <a:srgbClr val="8F5724"/>
                </a:solidFill>
                <a:latin typeface="Calibri"/>
              </a:rPr>
              <a:t>Source Cycle</a:t>
            </a:r>
          </a:p>
        </p:txBody>
      </p:sp>
      <p:sp>
        <p:nvSpPr>
          <p:cNvPr id="22" name="Parallelogram 21"/>
          <p:cNvSpPr/>
          <p:nvPr/>
        </p:nvSpPr>
        <p:spPr>
          <a:xfrm>
            <a:off x="2554901" y="1541187"/>
            <a:ext cx="2107367" cy="258763"/>
          </a:xfrm>
          <a:prstGeom prst="parallelogram">
            <a:avLst/>
          </a:prstGeom>
          <a:solidFill>
            <a:srgbClr val="2B5632"/>
          </a:solidFill>
          <a:ln w="10603">
            <a:solidFill>
              <a:srgbClr val="BA3A9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31980" y="1012979"/>
            <a:ext cx="746300" cy="2118986"/>
          </a:xfrm>
          <a:prstGeom prst="rect">
            <a:avLst/>
          </a:prstGeom>
          <a:noFill/>
        </p:spPr>
        <p:txBody>
          <a:bodyPr wrap="none" lIns="33799" tIns="33799" rIns="33799" bIns="33799">
            <a:spAutoFit/>
          </a:bodyPr>
          <a:lstStyle/>
          <a:p>
            <a:r>
              <a:rPr sz="1400" b="0" i="0" u="none">
                <a:solidFill>
                  <a:srgbClr val="36573D"/>
                </a:solidFill>
                <a:latin typeface="Trebuchet MS"/>
              </a:rPr>
              <a:t>Diagram</a:t>
            </a:r>
          </a:p>
        </p:txBody>
      </p:sp>
      <p:sp>
        <p:nvSpPr>
          <p:cNvPr id="24" name="Freeform 23"/>
          <p:cNvSpPr/>
          <p:nvPr/>
        </p:nvSpPr>
        <p:spPr>
          <a:xfrm>
            <a:off x="1194182" y="5963362"/>
            <a:ext cx="688692" cy="603468"/>
          </a:xfrm>
          <a:custGeom>
            <a:avLst/>
            <a:gdLst/>
            <a:ahLst/>
            <a:cxnLst/>
            <a:rect l="l" t="t" r="r" b="b"/>
            <a:pathLst>
              <a:path w="688692" h="603468">
                <a:moveTo>
                  <a:pt x="0" y="293352"/>
                </a:moveTo>
                <a:lnTo>
                  <a:pt x="118484" y="0"/>
                </a:lnTo>
                <a:lnTo>
                  <a:pt x="244374" y="251445"/>
                </a:lnTo>
                <a:lnTo>
                  <a:pt x="370264" y="502890"/>
                </a:lnTo>
                <a:lnTo>
                  <a:pt x="503560" y="209538"/>
                </a:lnTo>
                <a:lnTo>
                  <a:pt x="688692" y="318497"/>
                </a:lnTo>
                <a:lnTo>
                  <a:pt x="688692" y="603468"/>
                </a:lnTo>
                <a:lnTo>
                  <a:pt x="0" y="603468"/>
                </a:lnTo>
                <a:close/>
              </a:path>
            </a:pathLst>
          </a:custGeom>
          <a:solidFill>
            <a:srgbClr val="22766F"/>
          </a:solidFill>
          <a:ln w="19393">
            <a:solidFill>
              <a:srgbClr val="3744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V="1">
            <a:off x="9570872" y="4218978"/>
            <a:ext cx="1110567" cy="746613"/>
          </a:xfrm>
          <a:prstGeom prst="line">
            <a:avLst/>
          </a:prstGeom>
          <a:ln w="17369">
            <a:solidFill>
              <a:srgbClr val="DB49AB"/>
            </a:solidFill>
            <a:prstDash val="dashDot"/>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10087286" y="5101215"/>
            <a:ext cx="1082080" cy="969729"/>
          </a:xfrm>
          <a:custGeom>
            <a:avLst/>
            <a:gdLst/>
            <a:ahLst/>
            <a:cxnLst/>
            <a:rect l="l" t="t" r="r" b="b"/>
            <a:pathLst>
              <a:path w="1082080" h="969729">
                <a:moveTo>
                  <a:pt x="541040" y="0"/>
                </a:moveTo>
                <a:lnTo>
                  <a:pt x="676300" y="242432"/>
                </a:lnTo>
                <a:lnTo>
                  <a:pt x="1014450" y="174551"/>
                </a:lnTo>
                <a:lnTo>
                  <a:pt x="822832" y="484864"/>
                </a:lnTo>
                <a:lnTo>
                  <a:pt x="1082080" y="756389"/>
                </a:lnTo>
                <a:lnTo>
                  <a:pt x="676300" y="698205"/>
                </a:lnTo>
                <a:lnTo>
                  <a:pt x="541040" y="969729"/>
                </a:lnTo>
                <a:lnTo>
                  <a:pt x="405780" y="698205"/>
                </a:lnTo>
                <a:lnTo>
                  <a:pt x="0" y="756389"/>
                </a:lnTo>
                <a:lnTo>
                  <a:pt x="259249" y="484864"/>
                </a:lnTo>
                <a:lnTo>
                  <a:pt x="67630" y="174551"/>
                </a:lnTo>
                <a:lnTo>
                  <a:pt x="405780" y="242432"/>
                </a:lnTo>
                <a:close/>
              </a:path>
            </a:pathLst>
          </a:custGeom>
          <a:solidFill>
            <a:srgbClr val="40847E"/>
          </a:solidFill>
          <a:ln w="6424">
            <a:solidFill>
              <a:srgbClr val="5D9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7" name="Chart 26"/>
          <p:cNvGraphicFramePr>
            <a:graphicFrameLocks noGrp="1"/>
          </p:cNvGraphicFramePr>
          <p:nvPr/>
        </p:nvGraphicFramePr>
        <p:xfrm>
          <a:off x="9004944" y="768135"/>
          <a:ext cx="2116800" cy="2260493"/>
        </p:xfrm>
        <a:graphic>
          <a:graphicData uri="http://schemas.openxmlformats.org/drawingml/2006/chart">
            <c:chart xmlns:c="http://schemas.openxmlformats.org/drawingml/2006/chart" xmlns:r="http://schemas.openxmlformats.org/officeDocument/2006/relationships" r:id="rId4"/>
          </a:graphicData>
        </a:graphic>
      </p:graphicFrame>
      <p:pic>
        <p:nvPicPr>
          <p:cNvPr id="29" name="Graphic 28">
            <a:extLst>
              <a:ext uri="{FF2B5EF4-FFF2-40B4-BE49-F238E27FC236}">
                <a16:creationId xmlns:a16="http://schemas.microsoft.com/office/drawing/2014/main" id="{4D96AADE-8874-5B33-8730-C529328536FA}"/>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048342" y="4671530"/>
            <a:ext cx="1000669" cy="926263"/>
          </a:xfrm>
          <a:prstGeom prst="rect">
            <a:avLst/>
          </a:prstGeom>
        </p:spPr>
      </p:pic>
      <p:pic>
        <p:nvPicPr>
          <p:cNvPr id="31" name="Graphic 30">
            <a:extLst>
              <a:ext uri="{FF2B5EF4-FFF2-40B4-BE49-F238E27FC236}">
                <a16:creationId xmlns:a16="http://schemas.microsoft.com/office/drawing/2014/main" id="{ECFEBFF7-242E-9C89-1795-D8F6997FEC6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888561" y="4966828"/>
            <a:ext cx="1495032" cy="9251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259811" y="5005854"/>
          <a:ext cx="3476891" cy="1418024"/>
        </p:xfrm>
        <a:graphic>
          <a:graphicData uri="http://schemas.openxmlformats.org/drawingml/2006/table">
            <a:tbl>
              <a:tblPr firstRow="1" bandRow="1">
                <a:tableStyleId>{5C22544A-7EE6-4342-B048-85BDC9FD1C3A}</a:tableStyleId>
              </a:tblPr>
              <a:tblGrid>
                <a:gridCol w="869222">
                  <a:extLst>
                    <a:ext uri="{9D8B030D-6E8A-4147-A177-3AD203B41FA5}">
                      <a16:colId xmlns:a16="http://schemas.microsoft.com/office/drawing/2014/main" val="20000"/>
                    </a:ext>
                  </a:extLst>
                </a:gridCol>
                <a:gridCol w="869222">
                  <a:extLst>
                    <a:ext uri="{9D8B030D-6E8A-4147-A177-3AD203B41FA5}">
                      <a16:colId xmlns:a16="http://schemas.microsoft.com/office/drawing/2014/main" val="20001"/>
                    </a:ext>
                  </a:extLst>
                </a:gridCol>
                <a:gridCol w="869222">
                  <a:extLst>
                    <a:ext uri="{9D8B030D-6E8A-4147-A177-3AD203B41FA5}">
                      <a16:colId xmlns:a16="http://schemas.microsoft.com/office/drawing/2014/main" val="20002"/>
                    </a:ext>
                  </a:extLst>
                </a:gridCol>
                <a:gridCol w="869225">
                  <a:extLst>
                    <a:ext uri="{9D8B030D-6E8A-4147-A177-3AD203B41FA5}">
                      <a16:colId xmlns:a16="http://schemas.microsoft.com/office/drawing/2014/main" val="20003"/>
                    </a:ext>
                  </a:extLst>
                </a:gridCol>
              </a:tblGrid>
              <a:tr h="354506">
                <a:tc>
                  <a:txBody>
                    <a:bodyPr/>
                    <a:lstStyle/>
                    <a:p>
                      <a:r>
                        <a:rPr sz="1300" b="1">
                          <a:solidFill>
                            <a:srgbClr val="4BB360"/>
                          </a:solidFill>
                        </a:rPr>
                        <a:t>Build</a:t>
                      </a:r>
                    </a:p>
                  </a:txBody>
                  <a:tcPr>
                    <a:solidFill>
                      <a:srgbClr val="204162"/>
                    </a:solidFill>
                  </a:tcPr>
                </a:tc>
                <a:tc>
                  <a:txBody>
                    <a:bodyPr/>
                    <a:lstStyle/>
                    <a:p>
                      <a:r>
                        <a:rPr sz="1300" b="1">
                          <a:solidFill>
                            <a:srgbClr val="4BB360"/>
                          </a:solidFill>
                        </a:rPr>
                        <a:t>Bridge</a:t>
                      </a:r>
                    </a:p>
                  </a:txBody>
                  <a:tcPr>
                    <a:solidFill>
                      <a:srgbClr val="204162"/>
                    </a:solidFill>
                  </a:tcPr>
                </a:tc>
                <a:tc>
                  <a:txBody>
                    <a:bodyPr/>
                    <a:lstStyle/>
                    <a:p>
                      <a:r>
                        <a:rPr sz="1300" b="1">
                          <a:solidFill>
                            <a:srgbClr val="4BB360"/>
                          </a:solidFill>
                        </a:rPr>
                        <a:t>Adaptive</a:t>
                      </a:r>
                    </a:p>
                  </a:txBody>
                  <a:tcPr>
                    <a:solidFill>
                      <a:srgbClr val="204162"/>
                    </a:solidFill>
                  </a:tcPr>
                </a:tc>
                <a:tc>
                  <a:txBody>
                    <a:bodyPr/>
                    <a:lstStyle/>
                    <a:p>
                      <a:r>
                        <a:rPr sz="1300" b="1">
                          <a:solidFill>
                            <a:srgbClr val="4BB360"/>
                          </a:solidFill>
                        </a:rPr>
                        <a:t>Method</a:t>
                      </a:r>
                    </a:p>
                  </a:txBody>
                  <a:tcPr>
                    <a:solidFill>
                      <a:srgbClr val="204162"/>
                    </a:solidFill>
                  </a:tcPr>
                </a:tc>
                <a:extLst>
                  <a:ext uri="{0D108BD9-81ED-4DB2-BD59-A6C34878D82A}">
                    <a16:rowId xmlns:a16="http://schemas.microsoft.com/office/drawing/2014/main" val="10000"/>
                  </a:ext>
                </a:extLst>
              </a:tr>
              <a:tr h="354506">
                <a:tc>
                  <a:txBody>
                    <a:bodyPr/>
                    <a:lstStyle/>
                    <a:p>
                      <a:r>
                        <a:rPr sz="1300" b="0">
                          <a:solidFill>
                            <a:srgbClr val="4BB360"/>
                          </a:solidFill>
                        </a:rPr>
                        <a:t>Method Mesh</a:t>
                      </a:r>
                    </a:p>
                  </a:txBody>
                  <a:tcPr>
                    <a:solidFill>
                      <a:srgbClr val="ECD3E2"/>
                    </a:solidFill>
                  </a:tcPr>
                </a:tc>
                <a:tc>
                  <a:txBody>
                    <a:bodyPr/>
                    <a:lstStyle/>
                    <a:p>
                      <a:r>
                        <a:rPr sz="1300" b="0">
                          <a:solidFill>
                            <a:srgbClr val="4BB360"/>
                          </a:solidFill>
                        </a:rPr>
                        <a:t>Queue Milestone</a:t>
                      </a:r>
                    </a:p>
                  </a:txBody>
                  <a:tcPr>
                    <a:solidFill>
                      <a:srgbClr val="ECD3E2"/>
                    </a:solidFill>
                  </a:tcPr>
                </a:tc>
                <a:tc>
                  <a:txBody>
                    <a:bodyPr/>
                    <a:lstStyle/>
                    <a:p>
                      <a:r>
                        <a:rPr sz="1300" b="0">
                          <a:solidFill>
                            <a:srgbClr val="4BB360"/>
                          </a:solidFill>
                        </a:rPr>
                        <a:t>Analysis</a:t>
                      </a:r>
                    </a:p>
                  </a:txBody>
                  <a:tcPr>
                    <a:solidFill>
                      <a:srgbClr val="ECD3E2"/>
                    </a:solidFill>
                  </a:tcPr>
                </a:tc>
                <a:tc>
                  <a:txBody>
                    <a:bodyPr/>
                    <a:lstStyle/>
                    <a:p>
                      <a:r>
                        <a:rPr sz="1300" b="0">
                          <a:solidFill>
                            <a:srgbClr val="4BB360"/>
                          </a:solidFill>
                        </a:rPr>
                        <a:t>Surface Level</a:t>
                      </a:r>
                    </a:p>
                  </a:txBody>
                  <a:tcPr>
                    <a:solidFill>
                      <a:srgbClr val="ECD3E2"/>
                    </a:solidFill>
                  </a:tcPr>
                </a:tc>
                <a:extLst>
                  <a:ext uri="{0D108BD9-81ED-4DB2-BD59-A6C34878D82A}">
                    <a16:rowId xmlns:a16="http://schemas.microsoft.com/office/drawing/2014/main" val="10001"/>
                  </a:ext>
                </a:extLst>
              </a:tr>
              <a:tr h="354506">
                <a:tc>
                  <a:txBody>
                    <a:bodyPr/>
                    <a:lstStyle/>
                    <a:p>
                      <a:r>
                        <a:rPr sz="1300" b="0">
                          <a:solidFill>
                            <a:srgbClr val="4BB360"/>
                          </a:solidFill>
                        </a:rPr>
                        <a:t>Track Object</a:t>
                      </a:r>
                    </a:p>
                  </a:txBody>
                  <a:tcPr>
                    <a:solidFill>
                      <a:srgbClr val="F9F1F5"/>
                    </a:solidFill>
                  </a:tcPr>
                </a:tc>
                <a:tc>
                  <a:txBody>
                    <a:bodyPr/>
                    <a:lstStyle/>
                    <a:p>
                      <a:r>
                        <a:rPr sz="1300" b="0">
                          <a:solidFill>
                            <a:srgbClr val="4BB360"/>
                          </a:solidFill>
                        </a:rPr>
                        <a:t>Graph</a:t>
                      </a:r>
                    </a:p>
                  </a:txBody>
                  <a:tcPr>
                    <a:solidFill>
                      <a:srgbClr val="ECD3E2"/>
                    </a:solidFill>
                  </a:tcPr>
                </a:tc>
                <a:tc>
                  <a:txBody>
                    <a:bodyPr/>
                    <a:lstStyle/>
                    <a:p>
                      <a:r>
                        <a:rPr sz="1300" b="0">
                          <a:solidFill>
                            <a:srgbClr val="4BB360"/>
                          </a:solidFill>
                        </a:rPr>
                        <a:t>Envelope</a:t>
                      </a:r>
                    </a:p>
                  </a:txBody>
                  <a:tcPr>
                    <a:solidFill>
                      <a:srgbClr val="F9F1F5"/>
                    </a:solidFill>
                  </a:tcPr>
                </a:tc>
                <a:tc>
                  <a:txBody>
                    <a:bodyPr/>
                    <a:lstStyle/>
                    <a:p>
                      <a:r>
                        <a:rPr sz="1300" b="0">
                          <a:solidFill>
                            <a:srgbClr val="4BB360"/>
                          </a:solidFill>
                        </a:rPr>
                        <a:t>Buffer Heading</a:t>
                      </a:r>
                    </a:p>
                  </a:txBody>
                  <a:tcPr>
                    <a:solidFill>
                      <a:srgbClr val="ECD3E2"/>
                    </a:solidFill>
                  </a:tcPr>
                </a:tc>
                <a:extLst>
                  <a:ext uri="{0D108BD9-81ED-4DB2-BD59-A6C34878D82A}">
                    <a16:rowId xmlns:a16="http://schemas.microsoft.com/office/drawing/2014/main" val="10002"/>
                  </a:ext>
                </a:extLst>
              </a:tr>
              <a:tr h="354506">
                <a:tc>
                  <a:txBody>
                    <a:bodyPr/>
                    <a:lstStyle/>
                    <a:p>
                      <a:r>
                        <a:rPr sz="1300" b="0">
                          <a:solidFill>
                            <a:srgbClr val="4BB360"/>
                          </a:solidFill>
                        </a:rPr>
                        <a:t>Trend</a:t>
                      </a:r>
                    </a:p>
                  </a:txBody>
                  <a:tcPr>
                    <a:solidFill>
                      <a:srgbClr val="ECD3E2"/>
                    </a:solidFill>
                  </a:tcPr>
                </a:tc>
                <a:tc>
                  <a:txBody>
                    <a:bodyPr/>
                    <a:lstStyle/>
                    <a:p>
                      <a:r>
                        <a:rPr sz="1300" b="0">
                          <a:solidFill>
                            <a:srgbClr val="4BB360"/>
                          </a:solidFill>
                        </a:rPr>
                        <a:t>Drive</a:t>
                      </a:r>
                    </a:p>
                  </a:txBody>
                  <a:tcPr>
                    <a:solidFill>
                      <a:srgbClr val="ECD3E2"/>
                    </a:solidFill>
                  </a:tcPr>
                </a:tc>
                <a:tc>
                  <a:txBody>
                    <a:bodyPr/>
                    <a:lstStyle/>
                    <a:p>
                      <a:r>
                        <a:rPr sz="1300" b="0">
                          <a:solidFill>
                            <a:srgbClr val="4BB360"/>
                          </a:solidFill>
                        </a:rPr>
                        <a:t>Rhythm</a:t>
                      </a:r>
                    </a:p>
                  </a:txBody>
                  <a:tcPr>
                    <a:solidFill>
                      <a:srgbClr val="ECD3E2"/>
                    </a:solidFill>
                  </a:tcPr>
                </a:tc>
                <a:tc>
                  <a:txBody>
                    <a:bodyPr/>
                    <a:lstStyle/>
                    <a:p>
                      <a:r>
                        <a:rPr sz="1300" b="0">
                          <a:solidFill>
                            <a:srgbClr val="4BB360"/>
                          </a:solidFill>
                        </a:rPr>
                        <a:t>Depth</a:t>
                      </a:r>
                    </a:p>
                  </a:txBody>
                  <a:tcPr>
                    <a:solidFill>
                      <a:srgbClr val="ECD3E2"/>
                    </a:solidFill>
                  </a:tcPr>
                </a:tc>
                <a:extLst>
                  <a:ext uri="{0D108BD9-81ED-4DB2-BD59-A6C34878D82A}">
                    <a16:rowId xmlns:a16="http://schemas.microsoft.com/office/drawing/2014/main" val="10003"/>
                  </a:ext>
                </a:extLst>
              </a:tr>
            </a:tbl>
          </a:graphicData>
        </a:graphic>
      </p:graphicFrame>
      <p:sp>
        <p:nvSpPr>
          <p:cNvPr id="3" name="TextBox 2"/>
          <p:cNvSpPr txBox="1"/>
          <p:nvPr/>
        </p:nvSpPr>
        <p:spPr>
          <a:xfrm>
            <a:off x="757167" y="3015614"/>
            <a:ext cx="2689353" cy="2275985"/>
          </a:xfrm>
          <a:prstGeom prst="rect">
            <a:avLst/>
          </a:prstGeom>
          <a:noFill/>
        </p:spPr>
        <p:txBody>
          <a:bodyPr wrap="none" lIns="41024" tIns="41024" rIns="41024" bIns="41024">
            <a:spAutoFit/>
          </a:bodyPr>
          <a:lstStyle/>
          <a:p>
            <a:r>
              <a:rPr sz="800" b="0" i="1" u="none">
                <a:solidFill>
                  <a:srgbClr val="9564B1"/>
                </a:solidFill>
                <a:latin typeface="Arial"/>
              </a:rPr>
              <a:t>Window Guide Queueing Viewport Diagram Template Record Clarity Transform Brief Story Level</a:t>
            </a:r>
          </a:p>
        </p:txBody>
      </p:sp>
      <p:sp>
        <p:nvSpPr>
          <p:cNvPr id="4" name="Display 3"/>
          <p:cNvSpPr/>
          <p:nvPr/>
        </p:nvSpPr>
        <p:spPr>
          <a:xfrm>
            <a:off x="5562969" y="3653575"/>
            <a:ext cx="1861377" cy="1320550"/>
          </a:xfrm>
          <a:prstGeom prst="flowChartDisplay">
            <a:avLst/>
          </a:prstGeom>
          <a:solidFill>
            <a:srgbClr val="4B3BAE"/>
          </a:solidFill>
          <a:ln w="14665">
            <a:solidFill>
              <a:srgbClr val="69B721"/>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5837478" y="5503351"/>
            <a:ext cx="956025" cy="821272"/>
          </a:xfrm>
          <a:custGeom>
            <a:avLst/>
            <a:gdLst/>
            <a:ahLst/>
            <a:cxnLst/>
            <a:rect l="l" t="t" r="r" b="b"/>
            <a:pathLst>
              <a:path w="956025" h="821272">
                <a:moveTo>
                  <a:pt x="478012" y="0"/>
                </a:moveTo>
                <a:lnTo>
                  <a:pt x="597515" y="205318"/>
                </a:lnTo>
                <a:lnTo>
                  <a:pt x="896273" y="147829"/>
                </a:lnTo>
                <a:lnTo>
                  <a:pt x="726977" y="410636"/>
                </a:lnTo>
                <a:lnTo>
                  <a:pt x="956025" y="640592"/>
                </a:lnTo>
                <a:lnTo>
                  <a:pt x="597515" y="591316"/>
                </a:lnTo>
                <a:lnTo>
                  <a:pt x="478012" y="821272"/>
                </a:lnTo>
                <a:lnTo>
                  <a:pt x="358509" y="591316"/>
                </a:lnTo>
                <a:lnTo>
                  <a:pt x="0" y="640592"/>
                </a:lnTo>
                <a:lnTo>
                  <a:pt x="229047" y="410636"/>
                </a:lnTo>
                <a:lnTo>
                  <a:pt x="59751" y="147829"/>
                </a:lnTo>
                <a:lnTo>
                  <a:pt x="358509" y="205318"/>
                </a:lnTo>
                <a:close/>
              </a:path>
            </a:pathLst>
          </a:custGeom>
          <a:solidFill>
            <a:srgbClr val="B2337D"/>
          </a:solidFill>
          <a:ln w="8737">
            <a:solidFill>
              <a:srgbClr val="48C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1648510" y="302938"/>
          <a:ext cx="2835400" cy="1385920"/>
        </p:xfrm>
        <a:graphic>
          <a:graphicData uri="http://schemas.openxmlformats.org/drawingml/2006/chart">
            <c:chart xmlns:c="http://schemas.openxmlformats.org/drawingml/2006/chart" xmlns:r="http://schemas.openxmlformats.org/officeDocument/2006/relationships" r:id="rId2"/>
          </a:graphicData>
        </a:graphic>
      </p:graphicFrame>
      <p:sp>
        <p:nvSpPr>
          <p:cNvPr id="7" name="Decision 6"/>
          <p:cNvSpPr/>
          <p:nvPr/>
        </p:nvSpPr>
        <p:spPr>
          <a:xfrm>
            <a:off x="7385417" y="5666132"/>
            <a:ext cx="735531" cy="713232"/>
          </a:xfrm>
          <a:prstGeom prst="flowChartDecision">
            <a:avLst/>
          </a:prstGeom>
          <a:solidFill>
            <a:srgbClr val="CA4ACE"/>
          </a:solidFill>
          <a:ln w="22216">
            <a:solidFill>
              <a:srgbClr val="C4ADA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15500" y="319126"/>
            <a:ext cx="1821249" cy="1383722"/>
          </a:xfrm>
          <a:prstGeom prst="rect">
            <a:avLst/>
          </a:prstGeom>
          <a:noFill/>
        </p:spPr>
        <p:txBody>
          <a:bodyPr wrap="none" lIns="22788" tIns="22788" rIns="22788" bIns="22788">
            <a:spAutoFit/>
          </a:bodyPr>
          <a:lstStyle/>
          <a:p>
            <a:r>
              <a:rPr sz="1000" b="0" i="0" u="none">
                <a:solidFill>
                  <a:srgbClr val="CCD42A"/>
                </a:solidFill>
                <a:latin typeface="Aptos"/>
              </a:rPr>
              <a:t>Cell Context Stack</a:t>
            </a:r>
          </a:p>
        </p:txBody>
      </p:sp>
      <p:sp>
        <p:nvSpPr>
          <p:cNvPr id="9" name="TextBox 8"/>
          <p:cNvSpPr txBox="1"/>
          <p:nvPr/>
        </p:nvSpPr>
        <p:spPr>
          <a:xfrm>
            <a:off x="2835639" y="1328741"/>
            <a:ext cx="596166" cy="1629753"/>
          </a:xfrm>
          <a:prstGeom prst="rect">
            <a:avLst/>
          </a:prstGeom>
          <a:solidFill>
            <a:srgbClr val="DB2675"/>
          </a:solidFill>
        </p:spPr>
        <p:txBody>
          <a:bodyPr wrap="none" lIns="21916" tIns="21916" rIns="21916" bIns="21916">
            <a:spAutoFit/>
          </a:bodyPr>
          <a:lstStyle/>
          <a:p>
            <a:r>
              <a:rPr sz="3900" b="1" i="1" u="none">
                <a:solidFill>
                  <a:srgbClr val="524137"/>
                </a:solidFill>
                <a:latin typeface="Calibri"/>
              </a:rPr>
              <a:t>Field Motion</a:t>
            </a:r>
          </a:p>
        </p:txBody>
      </p:sp>
      <p:graphicFrame>
        <p:nvGraphicFramePr>
          <p:cNvPr id="10" name="Chart 9"/>
          <p:cNvGraphicFramePr>
            <a:graphicFrameLocks noGrp="1"/>
          </p:cNvGraphicFramePr>
          <p:nvPr/>
        </p:nvGraphicFramePr>
        <p:xfrm>
          <a:off x="8935245" y="2745294"/>
          <a:ext cx="2620395" cy="2375117"/>
        </p:xfrm>
        <a:graphic>
          <a:graphicData uri="http://schemas.openxmlformats.org/drawingml/2006/chart">
            <c:chart xmlns:c="http://schemas.openxmlformats.org/drawingml/2006/chart" xmlns:r="http://schemas.openxmlformats.org/officeDocument/2006/relationships" r:id="rId3"/>
          </a:graphicData>
        </a:graphic>
      </p:graphicFrame>
      <p:cxnSp>
        <p:nvCxnSpPr>
          <p:cNvPr id="11" name="Connector 10"/>
          <p:cNvCxnSpPr/>
          <p:nvPr/>
        </p:nvCxnSpPr>
        <p:spPr>
          <a:xfrm flipV="1">
            <a:off x="409490" y="5399263"/>
            <a:ext cx="911988" cy="940327"/>
          </a:xfrm>
          <a:prstGeom prst="bentConnector3">
            <a:avLst/>
          </a:prstGeom>
          <a:ln w="37365">
            <a:solidFill>
              <a:srgbClr val="B36056"/>
            </a:solidFill>
            <a:prstDash val="dashDot"/>
          </a:ln>
        </p:spPr>
        <p:style>
          <a:lnRef idx="2">
            <a:schemeClr val="accent1"/>
          </a:lnRef>
          <a:fillRef idx="0">
            <a:schemeClr val="accent1"/>
          </a:fillRef>
          <a:effectRef idx="1">
            <a:schemeClr val="accent1"/>
          </a:effectRef>
          <a:fontRef idx="minor">
            <a:schemeClr val="tx1"/>
          </a:fontRef>
        </p:style>
      </p:cxnSp>
      <p:pic>
        <p:nvPicPr>
          <p:cNvPr id="12" name="Picture 11" descr="_example_image.jpg"/>
          <p:cNvPicPr>
            <a:picLocks noChangeAspect="1"/>
          </p:cNvPicPr>
          <p:nvPr/>
        </p:nvPicPr>
        <p:blipFill>
          <a:blip r:embed="rId4"/>
          <a:srcRect l="19034" t="12016" r="416" b="3443"/>
          <a:stretch>
            <a:fillRect/>
          </a:stretch>
        </p:blipFill>
        <p:spPr>
          <a:xfrm>
            <a:off x="7571345" y="3433370"/>
            <a:ext cx="1388474" cy="1554600"/>
          </a:xfrm>
          <a:prstGeom prst="rect">
            <a:avLst/>
          </a:prstGeom>
        </p:spPr>
      </p:pic>
      <p:sp>
        <p:nvSpPr>
          <p:cNvPr id="13" name="Heart 12"/>
          <p:cNvSpPr/>
          <p:nvPr/>
        </p:nvSpPr>
        <p:spPr>
          <a:xfrm>
            <a:off x="439938" y="507604"/>
            <a:ext cx="2251489" cy="495320"/>
          </a:xfrm>
          <a:prstGeom prst="heart">
            <a:avLst/>
          </a:prstGeom>
          <a:solidFill>
            <a:srgbClr val="8E26A1"/>
          </a:solidFill>
          <a:ln w="26647">
            <a:solidFill>
              <a:srgbClr val="7B49A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81312" y="5164648"/>
            <a:ext cx="1111819" cy="1050100"/>
          </a:xfrm>
          <a:prstGeom prst="rect">
            <a:avLst/>
          </a:prstGeom>
          <a:noFill/>
        </p:spPr>
        <p:txBody>
          <a:bodyPr wrap="none" lIns="77589" tIns="77589" rIns="77589" bIns="77589">
            <a:spAutoFit/>
          </a:bodyPr>
          <a:lstStyle/>
          <a:p>
            <a:r>
              <a:rPr sz="2100" b="1" i="0" u="none">
                <a:solidFill>
                  <a:srgbClr val="6D763B"/>
                </a:solidFill>
                <a:latin typeface="Aptos"/>
              </a:rPr>
              <a:t>Transit Aspect Harbor Marker Baseline</a:t>
            </a:r>
          </a:p>
        </p:txBody>
      </p:sp>
      <p:sp>
        <p:nvSpPr>
          <p:cNvPr id="15" name="Hexagon 14"/>
          <p:cNvSpPr/>
          <p:nvPr/>
        </p:nvSpPr>
        <p:spPr>
          <a:xfrm>
            <a:off x="4319358" y="1364261"/>
            <a:ext cx="1082394" cy="320129"/>
          </a:xfrm>
          <a:prstGeom prst="hexagon">
            <a:avLst/>
          </a:prstGeom>
          <a:solidFill>
            <a:srgbClr val="E2BE8E"/>
          </a:solidFill>
          <a:ln w="24233">
            <a:solidFill>
              <a:srgbClr val="259538"/>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exagon 15"/>
          <p:cNvSpPr/>
          <p:nvPr/>
        </p:nvSpPr>
        <p:spPr>
          <a:xfrm>
            <a:off x="5177561" y="5246120"/>
            <a:ext cx="1087579" cy="407251"/>
          </a:xfrm>
          <a:prstGeom prst="hexagon">
            <a:avLst/>
          </a:prstGeom>
          <a:solidFill>
            <a:srgbClr val="19DE72"/>
          </a:solidFill>
          <a:ln w="8794">
            <a:solidFill>
              <a:srgbClr val="305C6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Callout 16"/>
          <p:cNvSpPr/>
          <p:nvPr/>
        </p:nvSpPr>
        <p:spPr>
          <a:xfrm>
            <a:off x="9510628" y="4085871"/>
            <a:ext cx="1733154" cy="705918"/>
          </a:xfrm>
          <a:prstGeom prst="wedgeEllipseCallout">
            <a:avLst/>
          </a:prstGeom>
          <a:noFill/>
          <a:ln w="29461">
            <a:solidFill>
              <a:srgbClr val="5C52CD"/>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3666361" y="623456"/>
            <a:ext cx="2639097" cy="486272"/>
          </a:xfrm>
          <a:prstGeom prst="curvedConnector3">
            <a:avLst/>
          </a:prstGeom>
          <a:ln w="24706">
            <a:solidFill>
              <a:srgbClr val="8D61E3"/>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9345395" y="5599841"/>
          <a:ext cx="2444776" cy="947992"/>
        </p:xfrm>
        <a:graphic>
          <a:graphicData uri="http://schemas.openxmlformats.org/drawingml/2006/table">
            <a:tbl>
              <a:tblPr firstRow="1" bandRow="1">
                <a:tableStyleId>{5C22544A-7EE6-4342-B048-85BDC9FD1C3A}</a:tableStyleId>
              </a:tblPr>
              <a:tblGrid>
                <a:gridCol w="611194">
                  <a:extLst>
                    <a:ext uri="{9D8B030D-6E8A-4147-A177-3AD203B41FA5}">
                      <a16:colId xmlns:a16="http://schemas.microsoft.com/office/drawing/2014/main" val="20000"/>
                    </a:ext>
                  </a:extLst>
                </a:gridCol>
                <a:gridCol w="611194">
                  <a:extLst>
                    <a:ext uri="{9D8B030D-6E8A-4147-A177-3AD203B41FA5}">
                      <a16:colId xmlns:a16="http://schemas.microsoft.com/office/drawing/2014/main" val="20001"/>
                    </a:ext>
                  </a:extLst>
                </a:gridCol>
                <a:gridCol w="611194">
                  <a:extLst>
                    <a:ext uri="{9D8B030D-6E8A-4147-A177-3AD203B41FA5}">
                      <a16:colId xmlns:a16="http://schemas.microsoft.com/office/drawing/2014/main" val="20002"/>
                    </a:ext>
                  </a:extLst>
                </a:gridCol>
                <a:gridCol w="611194">
                  <a:extLst>
                    <a:ext uri="{9D8B030D-6E8A-4147-A177-3AD203B41FA5}">
                      <a16:colId xmlns:a16="http://schemas.microsoft.com/office/drawing/2014/main" val="20003"/>
                    </a:ext>
                  </a:extLst>
                </a:gridCol>
              </a:tblGrid>
              <a:tr h="473996">
                <a:tc>
                  <a:txBody>
                    <a:bodyPr/>
                    <a:lstStyle/>
                    <a:p>
                      <a:r>
                        <a:rPr sz="700" b="1">
                          <a:solidFill>
                            <a:srgbClr val="C3A2CF"/>
                          </a:solidFill>
                        </a:rPr>
                        <a:t>Factor</a:t>
                      </a:r>
                    </a:p>
                  </a:txBody>
                  <a:tcPr>
                    <a:solidFill>
                      <a:srgbClr val="84B373"/>
                    </a:solidFill>
                  </a:tcPr>
                </a:tc>
                <a:tc>
                  <a:txBody>
                    <a:bodyPr/>
                    <a:lstStyle/>
                    <a:p>
                      <a:r>
                        <a:rPr sz="700" b="1">
                          <a:solidFill>
                            <a:srgbClr val="C3A2CF"/>
                          </a:solidFill>
                        </a:rPr>
                        <a:t>Queueing</a:t>
                      </a:r>
                    </a:p>
                  </a:txBody>
                  <a:tcPr>
                    <a:solidFill>
                      <a:srgbClr val="84B373"/>
                    </a:solidFill>
                  </a:tcPr>
                </a:tc>
                <a:tc>
                  <a:txBody>
                    <a:bodyPr/>
                    <a:lstStyle/>
                    <a:p>
                      <a:r>
                        <a:rPr sz="700" b="1">
                          <a:solidFill>
                            <a:srgbClr val="C3A2CF"/>
                          </a:solidFill>
                        </a:rPr>
                        <a:t>Asset Sequence</a:t>
                      </a:r>
                    </a:p>
                  </a:txBody>
                  <a:tcPr>
                    <a:solidFill>
                      <a:srgbClr val="84B373"/>
                    </a:solidFill>
                  </a:tcPr>
                </a:tc>
                <a:tc>
                  <a:txBody>
                    <a:bodyPr/>
                    <a:lstStyle/>
                    <a:p>
                      <a:r>
                        <a:rPr sz="700" b="1">
                          <a:solidFill>
                            <a:srgbClr val="C3A2CF"/>
                          </a:solidFill>
                        </a:rPr>
                        <a:t>Workflow Snapshot</a:t>
                      </a:r>
                    </a:p>
                  </a:txBody>
                  <a:tcPr>
                    <a:solidFill>
                      <a:srgbClr val="84B373"/>
                    </a:solidFill>
                  </a:tcPr>
                </a:tc>
                <a:extLst>
                  <a:ext uri="{0D108BD9-81ED-4DB2-BD59-A6C34878D82A}">
                    <a16:rowId xmlns:a16="http://schemas.microsoft.com/office/drawing/2014/main" val="10000"/>
                  </a:ext>
                </a:extLst>
              </a:tr>
              <a:tr h="473996">
                <a:tc>
                  <a:txBody>
                    <a:bodyPr/>
                    <a:lstStyle/>
                    <a:p>
                      <a:r>
                        <a:rPr sz="700" b="0">
                          <a:solidFill>
                            <a:srgbClr val="C3A2CF"/>
                          </a:solidFill>
                        </a:rPr>
                        <a:t>Switch Needle</a:t>
                      </a:r>
                    </a:p>
                  </a:txBody>
                  <a:tcPr>
                    <a:solidFill>
                      <a:srgbClr val="FCEDF3"/>
                    </a:solidFill>
                  </a:tcPr>
                </a:tc>
                <a:tc>
                  <a:txBody>
                    <a:bodyPr/>
                    <a:lstStyle/>
                    <a:p>
                      <a:r>
                        <a:rPr sz="700" b="0">
                          <a:solidFill>
                            <a:srgbClr val="C3A2CF"/>
                          </a:solidFill>
                        </a:rPr>
                        <a:t>Threshold Program</a:t>
                      </a:r>
                    </a:p>
                  </a:txBody>
                  <a:tcPr>
                    <a:solidFill>
                      <a:srgbClr val="FCEDF3"/>
                    </a:solidFill>
                  </a:tcPr>
                </a:tc>
                <a:tc>
                  <a:txBody>
                    <a:bodyPr/>
                    <a:lstStyle/>
                    <a:p>
                      <a:r>
                        <a:rPr sz="700" b="0">
                          <a:solidFill>
                            <a:srgbClr val="C3A2CF"/>
                          </a:solidFill>
                        </a:rPr>
                        <a:t>Lineage Register</a:t>
                      </a:r>
                    </a:p>
                  </a:txBody>
                  <a:tcPr>
                    <a:solidFill>
                      <a:srgbClr val="FCEDF3"/>
                    </a:solidFill>
                  </a:tcPr>
                </a:tc>
                <a:tc>
                  <a:txBody>
                    <a:bodyPr/>
                    <a:lstStyle/>
                    <a:p>
                      <a:r>
                        <a:rPr sz="700" b="0">
                          <a:solidFill>
                            <a:srgbClr val="C3A2CF"/>
                          </a:solidFill>
                        </a:rPr>
                        <a:t>Phase Input</a:t>
                      </a:r>
                    </a:p>
                  </a:txBody>
                  <a:tcPr>
                    <a:solidFill>
                      <a:srgbClr val="FCEDF3"/>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5988152" y="1840915"/>
            <a:ext cx="3476232" cy="1440756"/>
          </a:xfrm>
          <a:prstGeom prst="rect">
            <a:avLst/>
          </a:prstGeom>
          <a:noFill/>
        </p:spPr>
        <p:txBody>
          <a:bodyPr wrap="none" lIns="63631" tIns="63631" rIns="63631" bIns="63631">
            <a:spAutoFit/>
          </a:bodyPr>
          <a:lstStyle/>
          <a:p>
            <a:r>
              <a:rPr sz="2000" b="0" i="0" u="sng">
                <a:solidFill>
                  <a:srgbClr val="CB988B"/>
                </a:solidFill>
                <a:latin typeface="Trebuchet MS"/>
              </a:rPr>
              <a:t>Region Milestone Segment Connector Data Threshold Clarity Mode</a:t>
            </a:r>
          </a:p>
        </p:txBody>
      </p:sp>
      <p:sp>
        <p:nvSpPr>
          <p:cNvPr id="21" name="Freeform 20"/>
          <p:cNvSpPr/>
          <p:nvPr/>
        </p:nvSpPr>
        <p:spPr>
          <a:xfrm>
            <a:off x="6126095" y="585946"/>
            <a:ext cx="1017716" cy="1117062"/>
          </a:xfrm>
          <a:custGeom>
            <a:avLst/>
            <a:gdLst/>
            <a:ahLst/>
            <a:cxnLst/>
            <a:rect l="l" t="t" r="r" b="b"/>
            <a:pathLst>
              <a:path w="1017716" h="1117062">
                <a:moveTo>
                  <a:pt x="0" y="543016"/>
                </a:moveTo>
                <a:lnTo>
                  <a:pt x="175091" y="0"/>
                </a:lnTo>
                <a:lnTo>
                  <a:pt x="361125" y="465443"/>
                </a:lnTo>
                <a:lnTo>
                  <a:pt x="547159" y="930885"/>
                </a:lnTo>
                <a:lnTo>
                  <a:pt x="744136" y="387869"/>
                </a:lnTo>
                <a:lnTo>
                  <a:pt x="1017716" y="589561"/>
                </a:lnTo>
                <a:lnTo>
                  <a:pt x="1017716" y="1117062"/>
                </a:lnTo>
                <a:lnTo>
                  <a:pt x="0" y="1117062"/>
                </a:lnTo>
                <a:close/>
              </a:path>
            </a:pathLst>
          </a:custGeom>
          <a:solidFill>
            <a:srgbClr val="C22E21"/>
          </a:solidFill>
          <a:ln w="7973">
            <a:solidFill>
              <a:srgbClr val="DE6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727673" y="1449109"/>
            <a:ext cx="1922785" cy="1382952"/>
          </a:xfrm>
          <a:prstGeom prst="bentConnector3">
            <a:avLst/>
          </a:prstGeom>
          <a:ln w="15003">
            <a:solidFill>
              <a:srgbClr val="318D65"/>
            </a:solidFill>
            <a:prstDash val="dot"/>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02369" y="4067522"/>
            <a:ext cx="1034688" cy="1112877"/>
          </a:xfrm>
          <a:prstGeom prst="rect">
            <a:avLst/>
          </a:prstGeom>
          <a:noFill/>
        </p:spPr>
        <p:txBody>
          <a:bodyPr wrap="none" lIns="85442" tIns="85442" rIns="85442" bIns="85442">
            <a:spAutoFit/>
          </a:bodyPr>
          <a:lstStyle/>
          <a:p>
            <a:r>
              <a:rPr sz="1000" b="0" i="0" u="none">
                <a:solidFill>
                  <a:srgbClr val="3B6545"/>
                </a:solidFill>
                <a:latin typeface="Arial"/>
              </a:rPr>
              <a:t>Delta Matrix Loop Volume Snapshot Reserve Archive Thread Function Terminal Span Hub Report Sync Measure Service Dimension Array Expansion View View</a:t>
            </a:r>
          </a:p>
        </p:txBody>
      </p:sp>
      <p:pic>
        <p:nvPicPr>
          <p:cNvPr id="24" name="Picture 23" descr="_example_image.jpg"/>
          <p:cNvPicPr>
            <a:picLocks noChangeAspect="1"/>
          </p:cNvPicPr>
          <p:nvPr/>
        </p:nvPicPr>
        <p:blipFill>
          <a:blip r:embed="rId4"/>
          <a:srcRect l="19403" t="20078" r="21089" b="8313"/>
          <a:stretch>
            <a:fillRect/>
          </a:stretch>
        </p:blipFill>
        <p:spPr>
          <a:xfrm>
            <a:off x="10184469" y="1016247"/>
            <a:ext cx="1282928" cy="1260966"/>
          </a:xfrm>
          <a:prstGeom prst="rect">
            <a:avLst/>
          </a:prstGeom>
        </p:spPr>
      </p:pic>
      <p:sp>
        <p:nvSpPr>
          <p:cNvPr id="25" name="Rounded Rectangle 24"/>
          <p:cNvSpPr/>
          <p:nvPr/>
        </p:nvSpPr>
        <p:spPr>
          <a:xfrm>
            <a:off x="10184469" y="1016247"/>
            <a:ext cx="1282928" cy="1260966"/>
          </a:xfrm>
          <a:prstGeom prst="roundRect">
            <a:avLst/>
          </a:prstGeom>
          <a:noFill/>
          <a:ln w="15240">
            <a:solidFill>
              <a:srgbClr val="6231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Quad Arrow 25"/>
          <p:cNvSpPr/>
          <p:nvPr/>
        </p:nvSpPr>
        <p:spPr>
          <a:xfrm>
            <a:off x="9452584" y="374137"/>
            <a:ext cx="555971" cy="1334975"/>
          </a:xfrm>
          <a:prstGeom prst="quadArrow">
            <a:avLst/>
          </a:prstGeom>
          <a:solidFill>
            <a:srgbClr val="363C67"/>
          </a:solidFill>
          <a:ln w="20822">
            <a:solidFill>
              <a:srgbClr val="6C701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_example_image.jpg"/>
          <p:cNvPicPr>
            <a:picLocks noChangeAspect="1"/>
          </p:cNvPicPr>
          <p:nvPr/>
        </p:nvPicPr>
        <p:blipFill>
          <a:blip r:embed="rId4"/>
          <a:srcRect/>
          <a:stretch>
            <a:fillRect/>
          </a:stretch>
        </p:blipFill>
        <p:spPr>
          <a:xfrm>
            <a:off x="4337965" y="2431792"/>
            <a:ext cx="1782394" cy="827978"/>
          </a:xfrm>
          <a:prstGeom prst="rect">
            <a:avLst/>
          </a:prstGeom>
        </p:spPr>
      </p:pic>
      <p:sp>
        <p:nvSpPr>
          <p:cNvPr id="28" name="Rounded Rectangle 27"/>
          <p:cNvSpPr/>
          <p:nvPr/>
        </p:nvSpPr>
        <p:spPr>
          <a:xfrm>
            <a:off x="4337965" y="2431792"/>
            <a:ext cx="1782394" cy="827978"/>
          </a:xfrm>
          <a:prstGeom prst="roundRect">
            <a:avLst/>
          </a:prstGeom>
          <a:noFill/>
          <a:ln w="15240">
            <a:solidFill>
              <a:srgbClr val="6BA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52588719-A1E6-0F73-44DD-E1515525509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907492" y="2877221"/>
            <a:ext cx="934492" cy="1116790"/>
          </a:xfrm>
          <a:prstGeom prst="rect">
            <a:avLst/>
          </a:prstGeom>
        </p:spPr>
      </p:pic>
      <p:pic>
        <p:nvPicPr>
          <p:cNvPr id="32" name="Graphic 31">
            <a:extLst>
              <a:ext uri="{FF2B5EF4-FFF2-40B4-BE49-F238E27FC236}">
                <a16:creationId xmlns:a16="http://schemas.microsoft.com/office/drawing/2014/main" id="{BD373DA4-6E14-08EF-D848-678D9A9D0B5F}"/>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432354" y="1787607"/>
            <a:ext cx="2161110" cy="7674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501804" y="2153905"/>
            <a:ext cx="1083901" cy="1540607"/>
          </a:xfrm>
          <a:prstGeom prst="rect">
            <a:avLst/>
          </a:prstGeom>
          <a:noFill/>
        </p:spPr>
        <p:txBody>
          <a:bodyPr wrap="none" lIns="25459" tIns="25459" rIns="25459" bIns="25459">
            <a:spAutoFit/>
          </a:bodyPr>
          <a:lstStyle/>
          <a:p>
            <a:r>
              <a:rPr sz="2000" b="1" i="0" u="none">
                <a:solidFill>
                  <a:srgbClr val="505321"/>
                </a:solidFill>
                <a:latin typeface="Arial"/>
              </a:rPr>
              <a:t>Scope Trace Coverage Stream Grid Stage</a:t>
            </a:r>
          </a:p>
        </p:txBody>
      </p:sp>
      <p:sp>
        <p:nvSpPr>
          <p:cNvPr id="3" name="Oval Callout 2"/>
          <p:cNvSpPr/>
          <p:nvPr/>
        </p:nvSpPr>
        <p:spPr>
          <a:xfrm>
            <a:off x="6085624" y="5989376"/>
            <a:ext cx="417173" cy="464579"/>
          </a:xfrm>
          <a:prstGeom prst="wedgeEllipseCallout">
            <a:avLst/>
          </a:prstGeom>
          <a:solidFill>
            <a:srgbClr val="B03F46"/>
          </a:solidFill>
          <a:ln w="18863">
            <a:solidFill>
              <a:srgbClr val="94D1AD"/>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3732023" y="3957035"/>
            <a:ext cx="811642" cy="812862"/>
          </a:xfrm>
          <a:custGeom>
            <a:avLst/>
            <a:gdLst/>
            <a:ahLst/>
            <a:cxnLst/>
            <a:rect l="l" t="t" r="r" b="b"/>
            <a:pathLst>
              <a:path w="811642" h="812862">
                <a:moveTo>
                  <a:pt x="405821" y="0"/>
                </a:moveTo>
                <a:lnTo>
                  <a:pt x="507276" y="203215"/>
                </a:lnTo>
                <a:lnTo>
                  <a:pt x="760915" y="146315"/>
                </a:lnTo>
                <a:lnTo>
                  <a:pt x="617186" y="406431"/>
                </a:lnTo>
                <a:lnTo>
                  <a:pt x="811642" y="634032"/>
                </a:lnTo>
                <a:lnTo>
                  <a:pt x="507276" y="585261"/>
                </a:lnTo>
                <a:lnTo>
                  <a:pt x="405821" y="812862"/>
                </a:lnTo>
                <a:lnTo>
                  <a:pt x="304366" y="585261"/>
                </a:lnTo>
                <a:lnTo>
                  <a:pt x="0" y="634032"/>
                </a:lnTo>
                <a:lnTo>
                  <a:pt x="194456" y="406431"/>
                </a:lnTo>
                <a:lnTo>
                  <a:pt x="50728" y="146315"/>
                </a:lnTo>
                <a:lnTo>
                  <a:pt x="304366" y="203215"/>
                </a:lnTo>
                <a:close/>
              </a:path>
            </a:pathLst>
          </a:custGeom>
          <a:solidFill>
            <a:srgbClr val="439F51"/>
          </a:solidFill>
          <a:ln w="7091">
            <a:solidFill>
              <a:srgbClr val="A491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ecision 4"/>
          <p:cNvSpPr/>
          <p:nvPr/>
        </p:nvSpPr>
        <p:spPr>
          <a:xfrm>
            <a:off x="9198560" y="572249"/>
            <a:ext cx="940898" cy="234543"/>
          </a:xfrm>
          <a:prstGeom prst="flowChartDecision">
            <a:avLst/>
          </a:prstGeom>
          <a:solidFill>
            <a:srgbClr val="454B68"/>
          </a:solidFill>
          <a:ln w="22879">
            <a:solidFill>
              <a:srgbClr val="41B49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a:off x="4003081" y="487812"/>
            <a:ext cx="3174925" cy="523004"/>
          </a:xfrm>
          <a:prstGeom prst="line">
            <a:avLst/>
          </a:prstGeom>
          <a:ln w="23930">
            <a:solidFill>
              <a:srgbClr val="41C6BE"/>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5028849" y="1062067"/>
          <a:ext cx="3000002" cy="2529701"/>
        </p:xfrm>
        <a:graphic>
          <a:graphicData uri="http://schemas.openxmlformats.org/drawingml/2006/table">
            <a:tbl>
              <a:tblPr firstRow="1" bandRow="1">
                <a:tableStyleId>{5C22544A-7EE6-4342-B048-85BDC9FD1C3A}</a:tableStyleId>
              </a:tblPr>
              <a:tblGrid>
                <a:gridCol w="750000">
                  <a:extLst>
                    <a:ext uri="{9D8B030D-6E8A-4147-A177-3AD203B41FA5}">
                      <a16:colId xmlns:a16="http://schemas.microsoft.com/office/drawing/2014/main" val="20000"/>
                    </a:ext>
                  </a:extLst>
                </a:gridCol>
                <a:gridCol w="75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750002">
                  <a:extLst>
                    <a:ext uri="{9D8B030D-6E8A-4147-A177-3AD203B41FA5}">
                      <a16:colId xmlns:a16="http://schemas.microsoft.com/office/drawing/2014/main" val="20003"/>
                    </a:ext>
                  </a:extLst>
                </a:gridCol>
              </a:tblGrid>
              <a:tr h="843233">
                <a:tc>
                  <a:txBody>
                    <a:bodyPr/>
                    <a:lstStyle/>
                    <a:p>
                      <a:r>
                        <a:rPr sz="800" b="1">
                          <a:solidFill>
                            <a:srgbClr val="6FBA53"/>
                          </a:solidFill>
                        </a:rPr>
                        <a:t>Indicator</a:t>
                      </a:r>
                    </a:p>
                  </a:txBody>
                  <a:tcPr>
                    <a:solidFill>
                      <a:srgbClr val="B94A99"/>
                    </a:solidFill>
                  </a:tcPr>
                </a:tc>
                <a:tc>
                  <a:txBody>
                    <a:bodyPr/>
                    <a:lstStyle/>
                    <a:p>
                      <a:r>
                        <a:rPr sz="800" b="1">
                          <a:solidFill>
                            <a:srgbClr val="6FBA53"/>
                          </a:solidFill>
                        </a:rPr>
                        <a:t>Slice Link</a:t>
                      </a:r>
                    </a:p>
                  </a:txBody>
                  <a:tcPr>
                    <a:solidFill>
                      <a:srgbClr val="B94A99"/>
                    </a:solidFill>
                  </a:tcPr>
                </a:tc>
                <a:tc>
                  <a:txBody>
                    <a:bodyPr/>
                    <a:lstStyle/>
                    <a:p>
                      <a:r>
                        <a:rPr sz="800" b="1">
                          <a:solidFill>
                            <a:srgbClr val="6FBA53"/>
                          </a:solidFill>
                        </a:rPr>
                        <a:t>Strategy Drift</a:t>
                      </a:r>
                    </a:p>
                  </a:txBody>
                  <a:tcPr>
                    <a:solidFill>
                      <a:srgbClr val="B94A99"/>
                    </a:solidFill>
                  </a:tcPr>
                </a:tc>
                <a:tc>
                  <a:txBody>
                    <a:bodyPr/>
                    <a:lstStyle/>
                    <a:p>
                      <a:r>
                        <a:rPr sz="800" b="1">
                          <a:solidFill>
                            <a:srgbClr val="6FBA53"/>
                          </a:solidFill>
                        </a:rPr>
                        <a:t>Review</a:t>
                      </a:r>
                    </a:p>
                  </a:txBody>
                  <a:tcPr>
                    <a:solidFill>
                      <a:srgbClr val="B94A99"/>
                    </a:solidFill>
                  </a:tcPr>
                </a:tc>
                <a:extLst>
                  <a:ext uri="{0D108BD9-81ED-4DB2-BD59-A6C34878D82A}">
                    <a16:rowId xmlns:a16="http://schemas.microsoft.com/office/drawing/2014/main" val="10000"/>
                  </a:ext>
                </a:extLst>
              </a:tr>
              <a:tr h="843233">
                <a:tc>
                  <a:txBody>
                    <a:bodyPr/>
                    <a:lstStyle/>
                    <a:p>
                      <a:r>
                        <a:rPr sz="800" b="0">
                          <a:solidFill>
                            <a:srgbClr val="6FBA53"/>
                          </a:solidFill>
                        </a:rPr>
                        <a:t>Span</a:t>
                      </a:r>
                    </a:p>
                  </a:txBody>
                  <a:tcPr>
                    <a:solidFill>
                      <a:srgbClr val="E5BAEE"/>
                    </a:solidFill>
                  </a:tcPr>
                </a:tc>
                <a:tc>
                  <a:txBody>
                    <a:bodyPr/>
                    <a:lstStyle/>
                    <a:p>
                      <a:r>
                        <a:rPr sz="800" b="0">
                          <a:solidFill>
                            <a:srgbClr val="6FBA53"/>
                          </a:solidFill>
                        </a:rPr>
                        <a:t>Case</a:t>
                      </a:r>
                    </a:p>
                  </a:txBody>
                  <a:tcPr>
                    <a:solidFill>
                      <a:srgbClr val="E5BAEE"/>
                    </a:solidFill>
                  </a:tcPr>
                </a:tc>
                <a:tc>
                  <a:txBody>
                    <a:bodyPr/>
                    <a:lstStyle/>
                    <a:p>
                      <a:r>
                        <a:rPr sz="800" b="0">
                          <a:solidFill>
                            <a:srgbClr val="6FBA53"/>
                          </a:solidFill>
                        </a:rPr>
                        <a:t>Input Device</a:t>
                      </a:r>
                    </a:p>
                  </a:txBody>
                  <a:tcPr>
                    <a:solidFill>
                      <a:srgbClr val="E5BAEE"/>
                    </a:solidFill>
                  </a:tcPr>
                </a:tc>
                <a:tc>
                  <a:txBody>
                    <a:bodyPr/>
                    <a:lstStyle/>
                    <a:p>
                      <a:r>
                        <a:rPr sz="800" b="0">
                          <a:solidFill>
                            <a:srgbClr val="6FBA53"/>
                          </a:solidFill>
                        </a:rPr>
                        <a:t>Timeline</a:t>
                      </a:r>
                    </a:p>
                  </a:txBody>
                  <a:tcPr>
                    <a:solidFill>
                      <a:srgbClr val="E5BAEE"/>
                    </a:solidFill>
                  </a:tcPr>
                </a:tc>
                <a:extLst>
                  <a:ext uri="{0D108BD9-81ED-4DB2-BD59-A6C34878D82A}">
                    <a16:rowId xmlns:a16="http://schemas.microsoft.com/office/drawing/2014/main" val="10001"/>
                  </a:ext>
                </a:extLst>
              </a:tr>
              <a:tr h="843235">
                <a:tc>
                  <a:txBody>
                    <a:bodyPr/>
                    <a:lstStyle/>
                    <a:p>
                      <a:r>
                        <a:rPr sz="800" b="0">
                          <a:solidFill>
                            <a:srgbClr val="6FBA53"/>
                          </a:solidFill>
                        </a:rPr>
                        <a:t>Summary</a:t>
                      </a:r>
                    </a:p>
                  </a:txBody>
                  <a:tcPr>
                    <a:solidFill>
                      <a:srgbClr val="F4E3F8"/>
                    </a:solidFill>
                  </a:tcPr>
                </a:tc>
                <a:tc>
                  <a:txBody>
                    <a:bodyPr/>
                    <a:lstStyle/>
                    <a:p>
                      <a:r>
                        <a:rPr sz="800" b="0">
                          <a:solidFill>
                            <a:srgbClr val="6FBA53"/>
                          </a:solidFill>
                        </a:rPr>
                        <a:t>Response</a:t>
                      </a:r>
                    </a:p>
                  </a:txBody>
                  <a:tcPr>
                    <a:solidFill>
                      <a:srgbClr val="E5BAEE"/>
                    </a:solidFill>
                  </a:tcPr>
                </a:tc>
                <a:tc>
                  <a:txBody>
                    <a:bodyPr/>
                    <a:lstStyle/>
                    <a:p>
                      <a:r>
                        <a:rPr sz="800" b="0">
                          <a:solidFill>
                            <a:srgbClr val="6FBA53"/>
                          </a:solidFill>
                        </a:rPr>
                        <a:t>Trigger</a:t>
                      </a:r>
                    </a:p>
                  </a:txBody>
                  <a:tcPr>
                    <a:solidFill>
                      <a:srgbClr val="F4E3F8"/>
                    </a:solidFill>
                  </a:tcPr>
                </a:tc>
                <a:tc>
                  <a:txBody>
                    <a:bodyPr/>
                    <a:lstStyle/>
                    <a:p>
                      <a:r>
                        <a:rPr sz="800" b="0">
                          <a:solidFill>
                            <a:srgbClr val="6FBA53"/>
                          </a:solidFill>
                        </a:rPr>
                        <a:t>Transform Region</a:t>
                      </a:r>
                    </a:p>
                  </a:txBody>
                  <a:tcPr>
                    <a:solidFill>
                      <a:srgbClr val="E5BAEE"/>
                    </a:solidFill>
                  </a:tcPr>
                </a:tc>
                <a:extLst>
                  <a:ext uri="{0D108BD9-81ED-4DB2-BD59-A6C34878D82A}">
                    <a16:rowId xmlns:a16="http://schemas.microsoft.com/office/drawing/2014/main" val="10002"/>
                  </a:ext>
                </a:extLst>
              </a:tr>
            </a:tbl>
          </a:graphicData>
        </a:graphic>
      </p:graphicFrame>
      <p:pic>
        <p:nvPicPr>
          <p:cNvPr id="8" name="Picture 7" descr="_example_image.jpg"/>
          <p:cNvPicPr>
            <a:picLocks noChangeAspect="1"/>
          </p:cNvPicPr>
          <p:nvPr/>
        </p:nvPicPr>
        <p:blipFill>
          <a:blip r:embed="rId2"/>
          <a:srcRect l="11344" t="15734" r="20843" b="17712"/>
          <a:stretch>
            <a:fillRect/>
          </a:stretch>
        </p:blipFill>
        <p:spPr>
          <a:xfrm>
            <a:off x="8555519" y="923576"/>
            <a:ext cx="3249738" cy="1058493"/>
          </a:xfrm>
          <a:prstGeom prst="rect">
            <a:avLst/>
          </a:prstGeom>
        </p:spPr>
      </p:pic>
      <p:sp>
        <p:nvSpPr>
          <p:cNvPr id="9" name="Rounded Rectangle 8"/>
          <p:cNvSpPr/>
          <p:nvPr/>
        </p:nvSpPr>
        <p:spPr>
          <a:xfrm>
            <a:off x="8555519" y="923576"/>
            <a:ext cx="3249738" cy="1058493"/>
          </a:xfrm>
          <a:prstGeom prst="roundRect">
            <a:avLst/>
          </a:prstGeom>
          <a:noFill/>
          <a:ln w="15240">
            <a:solidFill>
              <a:srgbClr val="D120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ata 9"/>
          <p:cNvSpPr/>
          <p:nvPr/>
        </p:nvSpPr>
        <p:spPr>
          <a:xfrm>
            <a:off x="1019901" y="341379"/>
            <a:ext cx="1136906" cy="583119"/>
          </a:xfrm>
          <a:prstGeom prst="flowChartInputOutput">
            <a:avLst/>
          </a:prstGeom>
          <a:solidFill>
            <a:srgbClr val="E2B83E"/>
          </a:solidFill>
          <a:ln w="24312">
            <a:solidFill>
              <a:srgbClr val="9462D2"/>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828888" y="4387138"/>
            <a:ext cx="985479" cy="2171831"/>
          </a:xfrm>
          <a:prstGeom prst="rect">
            <a:avLst/>
          </a:prstGeom>
          <a:noFill/>
        </p:spPr>
        <p:txBody>
          <a:bodyPr wrap="none" lIns="26311" tIns="26311" rIns="26311" bIns="26311">
            <a:spAutoFit/>
          </a:bodyPr>
          <a:lstStyle/>
          <a:p>
            <a:r>
              <a:rPr sz="1400" b="1" i="0" u="none">
                <a:solidFill>
                  <a:srgbClr val="1CC9D4"/>
                </a:solidFill>
                <a:latin typeface="Calibri"/>
              </a:rPr>
              <a:t>Group Drift Stage Package Module Logic Window Craft Report Topology Depth Echo Depth Center Cortex Stream Moment Diagram Coverage</a:t>
            </a:r>
          </a:p>
        </p:txBody>
      </p:sp>
      <p:sp>
        <p:nvSpPr>
          <p:cNvPr id="12" name="TextBox 11"/>
          <p:cNvSpPr txBox="1"/>
          <p:nvPr/>
        </p:nvSpPr>
        <p:spPr>
          <a:xfrm>
            <a:off x="5003958" y="3789357"/>
            <a:ext cx="595963" cy="1563956"/>
          </a:xfrm>
          <a:prstGeom prst="rect">
            <a:avLst/>
          </a:prstGeom>
          <a:noFill/>
        </p:spPr>
        <p:txBody>
          <a:bodyPr wrap="none" lIns="81917" tIns="81917" rIns="81917" bIns="81917">
            <a:spAutoFit/>
          </a:bodyPr>
          <a:lstStyle/>
          <a:p>
            <a:r>
              <a:rPr sz="2500" b="0" i="0" u="none">
                <a:solidFill>
                  <a:srgbClr val="AF6D6A"/>
                </a:solidFill>
                <a:latin typeface="Georgia"/>
              </a:rPr>
              <a:t>Access Thread Report Command Release North Bundle Portal Packet Metric Journey Catalog Center Map</a:t>
            </a:r>
          </a:p>
        </p:txBody>
      </p:sp>
      <p:sp>
        <p:nvSpPr>
          <p:cNvPr id="13" name="TextBox 12"/>
          <p:cNvSpPr txBox="1"/>
          <p:nvPr/>
        </p:nvSpPr>
        <p:spPr>
          <a:xfrm>
            <a:off x="6079980" y="3785871"/>
            <a:ext cx="998725" cy="1905047"/>
          </a:xfrm>
          <a:prstGeom prst="rect">
            <a:avLst/>
          </a:prstGeom>
          <a:solidFill>
            <a:srgbClr val="805231"/>
          </a:solidFill>
        </p:spPr>
        <p:txBody>
          <a:bodyPr wrap="none" lIns="23580" tIns="23580" rIns="23580" bIns="23580">
            <a:spAutoFit/>
          </a:bodyPr>
          <a:lstStyle/>
          <a:p>
            <a:r>
              <a:rPr sz="1000" b="0" i="0" u="none">
                <a:solidFill>
                  <a:srgbClr val="53DE44"/>
                </a:solidFill>
                <a:latin typeface="Verdana"/>
              </a:rPr>
              <a:t>Concept Detail Beta Trace Viewport Delta Channel Ledger Library Review Cell Center Service Factor Grid Discovery Audit Briefing Method Center Horizon Adaptive Cadence Point Blueprint Dashboard Query Balance Trace Plan Narrative Queueing Scope Briefing</a:t>
            </a:r>
          </a:p>
        </p:txBody>
      </p:sp>
      <p:graphicFrame>
        <p:nvGraphicFramePr>
          <p:cNvPr id="14" name="Chart 13"/>
          <p:cNvGraphicFramePr>
            <a:graphicFrameLocks noGrp="1"/>
          </p:cNvGraphicFramePr>
          <p:nvPr/>
        </p:nvGraphicFramePr>
        <p:xfrm>
          <a:off x="8673114" y="3440961"/>
          <a:ext cx="3284774" cy="1581443"/>
        </p:xfrm>
        <a:graphic>
          <a:graphicData uri="http://schemas.openxmlformats.org/drawingml/2006/chart">
            <c:chart xmlns:c="http://schemas.openxmlformats.org/drawingml/2006/chart" xmlns:r="http://schemas.openxmlformats.org/officeDocument/2006/relationships" r:id="rId3"/>
          </a:graphicData>
        </a:graphic>
      </p:graphicFrame>
      <p:sp>
        <p:nvSpPr>
          <p:cNvPr id="15" name="Display 14"/>
          <p:cNvSpPr/>
          <p:nvPr/>
        </p:nvSpPr>
        <p:spPr>
          <a:xfrm>
            <a:off x="3302913" y="542422"/>
            <a:ext cx="450424" cy="865725"/>
          </a:xfrm>
          <a:prstGeom prst="flowChartDisplay">
            <a:avLst/>
          </a:prstGeom>
          <a:solidFill>
            <a:srgbClr val="AE9762"/>
          </a:solidFill>
          <a:ln w="19217">
            <a:solidFill>
              <a:srgbClr val="8E59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1317934" y="4553458"/>
          <a:ext cx="2975594" cy="1612466"/>
        </p:xfrm>
        <a:graphic>
          <a:graphicData uri="http://schemas.openxmlformats.org/drawingml/2006/table">
            <a:tbl>
              <a:tblPr firstRow="1" bandRow="1">
                <a:tableStyleId>{5C22544A-7EE6-4342-B048-85BDC9FD1C3A}</a:tableStyleId>
              </a:tblPr>
              <a:tblGrid>
                <a:gridCol w="495932">
                  <a:extLst>
                    <a:ext uri="{9D8B030D-6E8A-4147-A177-3AD203B41FA5}">
                      <a16:colId xmlns:a16="http://schemas.microsoft.com/office/drawing/2014/main" val="20000"/>
                    </a:ext>
                  </a:extLst>
                </a:gridCol>
                <a:gridCol w="495932">
                  <a:extLst>
                    <a:ext uri="{9D8B030D-6E8A-4147-A177-3AD203B41FA5}">
                      <a16:colId xmlns:a16="http://schemas.microsoft.com/office/drawing/2014/main" val="20001"/>
                    </a:ext>
                  </a:extLst>
                </a:gridCol>
                <a:gridCol w="495932">
                  <a:extLst>
                    <a:ext uri="{9D8B030D-6E8A-4147-A177-3AD203B41FA5}">
                      <a16:colId xmlns:a16="http://schemas.microsoft.com/office/drawing/2014/main" val="20002"/>
                    </a:ext>
                  </a:extLst>
                </a:gridCol>
                <a:gridCol w="495932">
                  <a:extLst>
                    <a:ext uri="{9D8B030D-6E8A-4147-A177-3AD203B41FA5}">
                      <a16:colId xmlns:a16="http://schemas.microsoft.com/office/drawing/2014/main" val="20003"/>
                    </a:ext>
                  </a:extLst>
                </a:gridCol>
                <a:gridCol w="495932">
                  <a:extLst>
                    <a:ext uri="{9D8B030D-6E8A-4147-A177-3AD203B41FA5}">
                      <a16:colId xmlns:a16="http://schemas.microsoft.com/office/drawing/2014/main" val="20004"/>
                    </a:ext>
                  </a:extLst>
                </a:gridCol>
                <a:gridCol w="495934">
                  <a:extLst>
                    <a:ext uri="{9D8B030D-6E8A-4147-A177-3AD203B41FA5}">
                      <a16:colId xmlns:a16="http://schemas.microsoft.com/office/drawing/2014/main" val="20005"/>
                    </a:ext>
                  </a:extLst>
                </a:gridCol>
              </a:tblGrid>
              <a:tr h="322493">
                <a:tc>
                  <a:txBody>
                    <a:bodyPr/>
                    <a:lstStyle/>
                    <a:p>
                      <a:r>
                        <a:rPr sz="1200" b="0">
                          <a:solidFill>
                            <a:srgbClr val="DBA851"/>
                          </a:solidFill>
                        </a:rPr>
                        <a:t>Blueprint</a:t>
                      </a:r>
                    </a:p>
                  </a:txBody>
                  <a:tcPr>
                    <a:solidFill>
                      <a:srgbClr val="F5F2F6"/>
                    </a:solidFill>
                  </a:tcPr>
                </a:tc>
                <a:tc>
                  <a:txBody>
                    <a:bodyPr/>
                    <a:lstStyle/>
                    <a:p>
                      <a:r>
                        <a:rPr sz="1200" b="0">
                          <a:solidFill>
                            <a:srgbClr val="DBA851"/>
                          </a:solidFill>
                        </a:rPr>
                        <a:t>Datum Lineage</a:t>
                      </a:r>
                    </a:p>
                  </a:txBody>
                  <a:tcPr>
                    <a:solidFill>
                      <a:srgbClr val="D8CBDD"/>
                    </a:solidFill>
                  </a:tcPr>
                </a:tc>
                <a:tc>
                  <a:txBody>
                    <a:bodyPr/>
                    <a:lstStyle/>
                    <a:p>
                      <a:r>
                        <a:rPr sz="1200" b="0">
                          <a:solidFill>
                            <a:srgbClr val="DBA851"/>
                          </a:solidFill>
                        </a:rPr>
                        <a:t>Query</a:t>
                      </a:r>
                    </a:p>
                  </a:txBody>
                  <a:tcPr>
                    <a:solidFill>
                      <a:srgbClr val="F5F2F6"/>
                    </a:solidFill>
                  </a:tcPr>
                </a:tc>
                <a:tc>
                  <a:txBody>
                    <a:bodyPr/>
                    <a:lstStyle/>
                    <a:p>
                      <a:r>
                        <a:rPr sz="1200" b="0">
                          <a:solidFill>
                            <a:srgbClr val="DBA851"/>
                          </a:solidFill>
                        </a:rPr>
                        <a:t>Relay</a:t>
                      </a:r>
                    </a:p>
                  </a:txBody>
                  <a:tcPr>
                    <a:solidFill>
                      <a:srgbClr val="D8CBDD"/>
                    </a:solidFill>
                  </a:tcPr>
                </a:tc>
                <a:tc>
                  <a:txBody>
                    <a:bodyPr/>
                    <a:lstStyle/>
                    <a:p>
                      <a:r>
                        <a:rPr sz="1200" b="0">
                          <a:solidFill>
                            <a:srgbClr val="DBA851"/>
                          </a:solidFill>
                        </a:rPr>
                        <a:t>Handle Apex</a:t>
                      </a:r>
                    </a:p>
                  </a:txBody>
                  <a:tcPr>
                    <a:solidFill>
                      <a:srgbClr val="F5F2F6"/>
                    </a:solidFill>
                  </a:tcPr>
                </a:tc>
                <a:tc>
                  <a:txBody>
                    <a:bodyPr/>
                    <a:lstStyle/>
                    <a:p>
                      <a:r>
                        <a:rPr sz="1200" b="0">
                          <a:solidFill>
                            <a:srgbClr val="DBA851"/>
                          </a:solidFill>
                        </a:rPr>
                        <a:t>Control</a:t>
                      </a:r>
                    </a:p>
                  </a:txBody>
                  <a:tcPr>
                    <a:solidFill>
                      <a:srgbClr val="D8CBDD"/>
                    </a:solidFill>
                  </a:tcPr>
                </a:tc>
                <a:extLst>
                  <a:ext uri="{0D108BD9-81ED-4DB2-BD59-A6C34878D82A}">
                    <a16:rowId xmlns:a16="http://schemas.microsoft.com/office/drawing/2014/main" val="10000"/>
                  </a:ext>
                </a:extLst>
              </a:tr>
              <a:tr h="322493">
                <a:tc>
                  <a:txBody>
                    <a:bodyPr/>
                    <a:lstStyle/>
                    <a:p>
                      <a:r>
                        <a:rPr sz="1200" b="0">
                          <a:solidFill>
                            <a:srgbClr val="DBA851"/>
                          </a:solidFill>
                        </a:rPr>
                        <a:t>Link Position</a:t>
                      </a:r>
                    </a:p>
                  </a:txBody>
                  <a:tcPr>
                    <a:solidFill>
                      <a:srgbClr val="F5F2F6"/>
                    </a:solidFill>
                  </a:tcPr>
                </a:tc>
                <a:tc>
                  <a:txBody>
                    <a:bodyPr/>
                    <a:lstStyle/>
                    <a:p>
                      <a:r>
                        <a:rPr sz="1200" b="0">
                          <a:solidFill>
                            <a:srgbClr val="DBA851"/>
                          </a:solidFill>
                        </a:rPr>
                        <a:t>Waypoint Marker</a:t>
                      </a:r>
                    </a:p>
                  </a:txBody>
                  <a:tcPr>
                    <a:solidFill>
                      <a:srgbClr val="D8CBDD"/>
                    </a:solidFill>
                  </a:tcPr>
                </a:tc>
                <a:tc>
                  <a:txBody>
                    <a:bodyPr/>
                    <a:lstStyle/>
                    <a:p>
                      <a:r>
                        <a:rPr sz="1200" b="0">
                          <a:solidFill>
                            <a:srgbClr val="DBA851"/>
                          </a:solidFill>
                        </a:rPr>
                        <a:t>Analysis</a:t>
                      </a:r>
                    </a:p>
                  </a:txBody>
                  <a:tcPr>
                    <a:solidFill>
                      <a:srgbClr val="F5F2F6"/>
                    </a:solidFill>
                  </a:tcPr>
                </a:tc>
                <a:tc>
                  <a:txBody>
                    <a:bodyPr/>
                    <a:lstStyle/>
                    <a:p>
                      <a:r>
                        <a:rPr sz="1200" b="0">
                          <a:solidFill>
                            <a:srgbClr val="DBA851"/>
                          </a:solidFill>
                        </a:rPr>
                        <a:t>Control Cortex</a:t>
                      </a:r>
                    </a:p>
                  </a:txBody>
                  <a:tcPr>
                    <a:solidFill>
                      <a:srgbClr val="D8CBDD"/>
                    </a:solidFill>
                  </a:tcPr>
                </a:tc>
                <a:tc>
                  <a:txBody>
                    <a:bodyPr/>
                    <a:lstStyle/>
                    <a:p>
                      <a:r>
                        <a:rPr sz="1200" b="0">
                          <a:solidFill>
                            <a:srgbClr val="DBA851"/>
                          </a:solidFill>
                        </a:rPr>
                        <a:t>Status Control</a:t>
                      </a:r>
                    </a:p>
                  </a:txBody>
                  <a:tcPr>
                    <a:solidFill>
                      <a:srgbClr val="F5F2F6"/>
                    </a:solidFill>
                  </a:tcPr>
                </a:tc>
                <a:tc>
                  <a:txBody>
                    <a:bodyPr/>
                    <a:lstStyle/>
                    <a:p>
                      <a:r>
                        <a:rPr sz="1200" b="0">
                          <a:solidFill>
                            <a:srgbClr val="DBA851"/>
                          </a:solidFill>
                        </a:rPr>
                        <a:t>Circuit Plan</a:t>
                      </a:r>
                    </a:p>
                  </a:txBody>
                  <a:tcPr>
                    <a:solidFill>
                      <a:srgbClr val="D8CBDD"/>
                    </a:solidFill>
                  </a:tcPr>
                </a:tc>
                <a:extLst>
                  <a:ext uri="{0D108BD9-81ED-4DB2-BD59-A6C34878D82A}">
                    <a16:rowId xmlns:a16="http://schemas.microsoft.com/office/drawing/2014/main" val="10001"/>
                  </a:ext>
                </a:extLst>
              </a:tr>
              <a:tr h="322493">
                <a:tc>
                  <a:txBody>
                    <a:bodyPr/>
                    <a:lstStyle/>
                    <a:p>
                      <a:r>
                        <a:rPr sz="1200" b="0">
                          <a:solidFill>
                            <a:srgbClr val="DBA851"/>
                          </a:solidFill>
                        </a:rPr>
                        <a:t>Friction</a:t>
                      </a:r>
                    </a:p>
                  </a:txBody>
                  <a:tcPr>
                    <a:solidFill>
                      <a:srgbClr val="F5F2F6"/>
                    </a:solidFill>
                  </a:tcPr>
                </a:tc>
                <a:tc>
                  <a:txBody>
                    <a:bodyPr/>
                    <a:lstStyle/>
                    <a:p>
                      <a:r>
                        <a:rPr sz="1200" b="0">
                          <a:solidFill>
                            <a:srgbClr val="DBA851"/>
                          </a:solidFill>
                        </a:rPr>
                        <a:t>Map Output</a:t>
                      </a:r>
                    </a:p>
                  </a:txBody>
                  <a:tcPr>
                    <a:solidFill>
                      <a:srgbClr val="D8CBDD"/>
                    </a:solidFill>
                  </a:tcPr>
                </a:tc>
                <a:tc>
                  <a:txBody>
                    <a:bodyPr/>
                    <a:lstStyle/>
                    <a:p>
                      <a:r>
                        <a:rPr sz="1200" b="0">
                          <a:solidFill>
                            <a:srgbClr val="DBA851"/>
                          </a:solidFill>
                        </a:rPr>
                        <a:t>Marker Queueing</a:t>
                      </a:r>
                    </a:p>
                  </a:txBody>
                  <a:tcPr>
                    <a:solidFill>
                      <a:srgbClr val="F5F2F6"/>
                    </a:solidFill>
                  </a:tcPr>
                </a:tc>
                <a:tc>
                  <a:txBody>
                    <a:bodyPr/>
                    <a:lstStyle/>
                    <a:p>
                      <a:r>
                        <a:rPr sz="1200" b="0">
                          <a:solidFill>
                            <a:srgbClr val="DBA851"/>
                          </a:solidFill>
                        </a:rPr>
                        <a:t>Ledger</a:t>
                      </a:r>
                    </a:p>
                  </a:txBody>
                  <a:tcPr>
                    <a:solidFill>
                      <a:srgbClr val="D8CBDD"/>
                    </a:solidFill>
                  </a:tcPr>
                </a:tc>
                <a:tc>
                  <a:txBody>
                    <a:bodyPr/>
                    <a:lstStyle/>
                    <a:p>
                      <a:r>
                        <a:rPr sz="1200" b="0">
                          <a:solidFill>
                            <a:srgbClr val="DBA851"/>
                          </a:solidFill>
                        </a:rPr>
                        <a:t>Node</a:t>
                      </a:r>
                    </a:p>
                  </a:txBody>
                  <a:tcPr>
                    <a:solidFill>
                      <a:srgbClr val="F5F2F6"/>
                    </a:solidFill>
                  </a:tcPr>
                </a:tc>
                <a:tc>
                  <a:txBody>
                    <a:bodyPr/>
                    <a:lstStyle/>
                    <a:p>
                      <a:r>
                        <a:rPr sz="1200" b="0">
                          <a:solidFill>
                            <a:srgbClr val="DBA851"/>
                          </a:solidFill>
                        </a:rPr>
                        <a:t>Forecast</a:t>
                      </a:r>
                    </a:p>
                  </a:txBody>
                  <a:tcPr>
                    <a:solidFill>
                      <a:srgbClr val="D8CBDD"/>
                    </a:solidFill>
                  </a:tcPr>
                </a:tc>
                <a:extLst>
                  <a:ext uri="{0D108BD9-81ED-4DB2-BD59-A6C34878D82A}">
                    <a16:rowId xmlns:a16="http://schemas.microsoft.com/office/drawing/2014/main" val="10002"/>
                  </a:ext>
                </a:extLst>
              </a:tr>
              <a:tr h="322493">
                <a:tc>
                  <a:txBody>
                    <a:bodyPr/>
                    <a:lstStyle/>
                    <a:p>
                      <a:r>
                        <a:rPr sz="1200" b="0">
                          <a:solidFill>
                            <a:srgbClr val="DBA851"/>
                          </a:solidFill>
                        </a:rPr>
                        <a:t>Frame Response</a:t>
                      </a:r>
                    </a:p>
                  </a:txBody>
                  <a:tcPr>
                    <a:solidFill>
                      <a:srgbClr val="F5F2F6"/>
                    </a:solidFill>
                  </a:tcPr>
                </a:tc>
                <a:tc>
                  <a:txBody>
                    <a:bodyPr/>
                    <a:lstStyle/>
                    <a:p>
                      <a:r>
                        <a:rPr sz="1200" b="0">
                          <a:solidFill>
                            <a:srgbClr val="DBA851"/>
                          </a:solidFill>
                        </a:rPr>
                        <a:t>Volume Hub</a:t>
                      </a:r>
                    </a:p>
                  </a:txBody>
                  <a:tcPr>
                    <a:solidFill>
                      <a:srgbClr val="D8CBDD"/>
                    </a:solidFill>
                  </a:tcPr>
                </a:tc>
                <a:tc>
                  <a:txBody>
                    <a:bodyPr/>
                    <a:lstStyle/>
                    <a:p>
                      <a:r>
                        <a:rPr sz="1200" b="0">
                          <a:solidFill>
                            <a:srgbClr val="DBA851"/>
                          </a:solidFill>
                        </a:rPr>
                        <a:t>Variant</a:t>
                      </a:r>
                    </a:p>
                  </a:txBody>
                  <a:tcPr>
                    <a:solidFill>
                      <a:srgbClr val="F5F2F6"/>
                    </a:solidFill>
                  </a:tcPr>
                </a:tc>
                <a:tc>
                  <a:txBody>
                    <a:bodyPr/>
                    <a:lstStyle/>
                    <a:p>
                      <a:r>
                        <a:rPr sz="1200" b="0">
                          <a:solidFill>
                            <a:srgbClr val="DBA851"/>
                          </a:solidFill>
                        </a:rPr>
                        <a:t>Mesh</a:t>
                      </a:r>
                    </a:p>
                  </a:txBody>
                  <a:tcPr>
                    <a:solidFill>
                      <a:srgbClr val="D8CBDD"/>
                    </a:solidFill>
                  </a:tcPr>
                </a:tc>
                <a:tc>
                  <a:txBody>
                    <a:bodyPr/>
                    <a:lstStyle/>
                    <a:p>
                      <a:r>
                        <a:rPr sz="1200" b="0">
                          <a:solidFill>
                            <a:srgbClr val="DBA851"/>
                          </a:solidFill>
                        </a:rPr>
                        <a:t>Panel</a:t>
                      </a:r>
                    </a:p>
                  </a:txBody>
                  <a:tcPr>
                    <a:solidFill>
                      <a:srgbClr val="F5F2F6"/>
                    </a:solidFill>
                  </a:tcPr>
                </a:tc>
                <a:tc>
                  <a:txBody>
                    <a:bodyPr/>
                    <a:lstStyle/>
                    <a:p>
                      <a:r>
                        <a:rPr sz="1200" b="0">
                          <a:solidFill>
                            <a:srgbClr val="DBA851"/>
                          </a:solidFill>
                        </a:rPr>
                        <a:t>Beta Connector</a:t>
                      </a:r>
                    </a:p>
                  </a:txBody>
                  <a:tcPr>
                    <a:solidFill>
                      <a:srgbClr val="D8CBDD"/>
                    </a:solidFill>
                  </a:tcPr>
                </a:tc>
                <a:extLst>
                  <a:ext uri="{0D108BD9-81ED-4DB2-BD59-A6C34878D82A}">
                    <a16:rowId xmlns:a16="http://schemas.microsoft.com/office/drawing/2014/main" val="10003"/>
                  </a:ext>
                </a:extLst>
              </a:tr>
              <a:tr h="322494">
                <a:tc>
                  <a:txBody>
                    <a:bodyPr/>
                    <a:lstStyle/>
                    <a:p>
                      <a:r>
                        <a:rPr sz="1200" b="0">
                          <a:solidFill>
                            <a:srgbClr val="DBA851"/>
                          </a:solidFill>
                        </a:rPr>
                        <a:t>Impact Package</a:t>
                      </a:r>
                    </a:p>
                  </a:txBody>
                  <a:tcPr>
                    <a:solidFill>
                      <a:srgbClr val="F5F2F6"/>
                    </a:solidFill>
                  </a:tcPr>
                </a:tc>
                <a:tc>
                  <a:txBody>
                    <a:bodyPr/>
                    <a:lstStyle/>
                    <a:p>
                      <a:r>
                        <a:rPr sz="1200" b="0">
                          <a:solidFill>
                            <a:srgbClr val="DBA851"/>
                          </a:solidFill>
                        </a:rPr>
                        <a:t>Access</a:t>
                      </a:r>
                    </a:p>
                  </a:txBody>
                  <a:tcPr>
                    <a:solidFill>
                      <a:srgbClr val="D8CBDD"/>
                    </a:solidFill>
                  </a:tcPr>
                </a:tc>
                <a:tc>
                  <a:txBody>
                    <a:bodyPr/>
                    <a:lstStyle/>
                    <a:p>
                      <a:r>
                        <a:rPr sz="1200" b="0">
                          <a:solidFill>
                            <a:srgbClr val="DBA851"/>
                          </a:solidFill>
                        </a:rPr>
                        <a:t>Logic Dashboard</a:t>
                      </a:r>
                    </a:p>
                  </a:txBody>
                  <a:tcPr>
                    <a:solidFill>
                      <a:srgbClr val="F5F2F6"/>
                    </a:solidFill>
                  </a:tcPr>
                </a:tc>
                <a:tc>
                  <a:txBody>
                    <a:bodyPr/>
                    <a:lstStyle/>
                    <a:p>
                      <a:r>
                        <a:rPr sz="1200" b="0">
                          <a:solidFill>
                            <a:srgbClr val="DBA851"/>
                          </a:solidFill>
                        </a:rPr>
                        <a:t>Catalog Module</a:t>
                      </a:r>
                    </a:p>
                  </a:txBody>
                  <a:tcPr>
                    <a:solidFill>
                      <a:srgbClr val="D8CBDD"/>
                    </a:solidFill>
                  </a:tcPr>
                </a:tc>
                <a:tc>
                  <a:txBody>
                    <a:bodyPr/>
                    <a:lstStyle/>
                    <a:p>
                      <a:r>
                        <a:rPr sz="1200" b="0">
                          <a:solidFill>
                            <a:srgbClr val="DBA851"/>
                          </a:solidFill>
                        </a:rPr>
                        <a:t>Window Order</a:t>
                      </a:r>
                    </a:p>
                  </a:txBody>
                  <a:tcPr>
                    <a:solidFill>
                      <a:srgbClr val="F5F2F6"/>
                    </a:solidFill>
                  </a:tcPr>
                </a:tc>
                <a:tc>
                  <a:txBody>
                    <a:bodyPr/>
                    <a:lstStyle/>
                    <a:p>
                      <a:r>
                        <a:rPr sz="1200" b="0">
                          <a:solidFill>
                            <a:srgbClr val="DBA851"/>
                          </a:solidFill>
                        </a:rPr>
                        <a:t>Scale</a:t>
                      </a:r>
                    </a:p>
                  </a:txBody>
                  <a:tcPr>
                    <a:solidFill>
                      <a:srgbClr val="D8CBDD"/>
                    </a:solidFill>
                  </a:tcPr>
                </a:tc>
                <a:extLst>
                  <a:ext uri="{0D108BD9-81ED-4DB2-BD59-A6C34878D82A}">
                    <a16:rowId xmlns:a16="http://schemas.microsoft.com/office/drawing/2014/main" val="10004"/>
                  </a:ext>
                </a:extLst>
              </a:tr>
            </a:tbl>
          </a:graphicData>
        </a:graphic>
      </p:graphicFrame>
      <p:sp>
        <p:nvSpPr>
          <p:cNvPr id="17" name="Freeform 16"/>
          <p:cNvSpPr/>
          <p:nvPr/>
        </p:nvSpPr>
        <p:spPr>
          <a:xfrm>
            <a:off x="3309899" y="2548814"/>
            <a:ext cx="766637" cy="533824"/>
          </a:xfrm>
          <a:custGeom>
            <a:avLst/>
            <a:gdLst/>
            <a:ahLst/>
            <a:cxnLst/>
            <a:rect l="l" t="t" r="r" b="b"/>
            <a:pathLst>
              <a:path w="766637" h="533824">
                <a:moveTo>
                  <a:pt x="82434" y="90864"/>
                </a:moveTo>
                <a:lnTo>
                  <a:pt x="272033" y="0"/>
                </a:lnTo>
                <a:lnTo>
                  <a:pt x="560552" y="45432"/>
                </a:lnTo>
                <a:lnTo>
                  <a:pt x="766637" y="215802"/>
                </a:lnTo>
                <a:lnTo>
                  <a:pt x="659473" y="442961"/>
                </a:lnTo>
                <a:lnTo>
                  <a:pt x="354467" y="533824"/>
                </a:lnTo>
                <a:lnTo>
                  <a:pt x="49461" y="386171"/>
                </a:lnTo>
                <a:lnTo>
                  <a:pt x="0" y="193086"/>
                </a:lnTo>
                <a:close/>
              </a:path>
            </a:pathLst>
          </a:custGeom>
          <a:solidFill>
            <a:srgbClr val="7554C3"/>
          </a:solidFill>
          <a:ln w="15140">
            <a:solidFill>
              <a:srgbClr val="2B88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2"/>
          <a:srcRect l="5834" t="1445" r="13152" b="215"/>
          <a:stretch>
            <a:fillRect/>
          </a:stretch>
        </p:blipFill>
        <p:spPr>
          <a:xfrm>
            <a:off x="1745871" y="699516"/>
            <a:ext cx="1453667" cy="1828433"/>
          </a:xfrm>
          <a:prstGeom prst="rect">
            <a:avLst/>
          </a:prstGeom>
        </p:spPr>
      </p:pic>
      <p:cxnSp>
        <p:nvCxnSpPr>
          <p:cNvPr id="19" name="Connector 18"/>
          <p:cNvCxnSpPr/>
          <p:nvPr/>
        </p:nvCxnSpPr>
        <p:spPr>
          <a:xfrm flipV="1">
            <a:off x="8507152" y="3048944"/>
            <a:ext cx="1628954" cy="441872"/>
          </a:xfrm>
          <a:prstGeom prst="line">
            <a:avLst/>
          </a:prstGeom>
          <a:ln w="27502">
            <a:solidFill>
              <a:srgbClr val="9649AE"/>
            </a:solidFill>
            <a:prstDash val="lgDash"/>
          </a:ln>
        </p:spPr>
        <p:style>
          <a:lnRef idx="2">
            <a:schemeClr val="accent1"/>
          </a:lnRef>
          <a:fillRef idx="0">
            <a:schemeClr val="accent1"/>
          </a:fillRef>
          <a:effectRef idx="1">
            <a:schemeClr val="accent1"/>
          </a:effectRef>
          <a:fontRef idx="minor">
            <a:schemeClr val="tx1"/>
          </a:fontRef>
        </p:style>
      </p:cxnSp>
      <p:sp>
        <p:nvSpPr>
          <p:cNvPr id="20" name="Decision 19"/>
          <p:cNvSpPr/>
          <p:nvPr/>
        </p:nvSpPr>
        <p:spPr>
          <a:xfrm>
            <a:off x="7549600" y="5442645"/>
            <a:ext cx="1834374" cy="345407"/>
          </a:xfrm>
          <a:prstGeom prst="flowChartDecision">
            <a:avLst/>
          </a:prstGeom>
          <a:solidFill>
            <a:srgbClr val="DFB2C0"/>
          </a:solidFill>
          <a:ln w="13120">
            <a:solidFill>
              <a:srgbClr val="28DD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07534" y="3376501"/>
            <a:ext cx="1459629" cy="1605346"/>
          </a:xfrm>
          <a:prstGeom prst="rect">
            <a:avLst/>
          </a:prstGeom>
          <a:noFill/>
        </p:spPr>
        <p:txBody>
          <a:bodyPr wrap="none" lIns="49923" tIns="49923" rIns="49923" bIns="49923">
            <a:spAutoFit/>
          </a:bodyPr>
          <a:lstStyle/>
          <a:p>
            <a:r>
              <a:rPr sz="800" b="0" i="0" u="none">
                <a:solidFill>
                  <a:srgbClr val="93CDC9"/>
                </a:solidFill>
                <a:latin typeface="Verdana"/>
              </a:rPr>
              <a:t>Velocity</a:t>
            </a:r>
          </a:p>
        </p:txBody>
      </p:sp>
      <p:sp>
        <p:nvSpPr>
          <p:cNvPr id="22" name="TextBox 21"/>
          <p:cNvSpPr txBox="1"/>
          <p:nvPr/>
        </p:nvSpPr>
        <p:spPr>
          <a:xfrm>
            <a:off x="3581722" y="1436609"/>
            <a:ext cx="851824" cy="820701"/>
          </a:xfrm>
          <a:prstGeom prst="rect">
            <a:avLst/>
          </a:prstGeom>
          <a:noFill/>
        </p:spPr>
        <p:txBody>
          <a:bodyPr wrap="none" lIns="34616" tIns="34616" rIns="34616" bIns="34616">
            <a:spAutoFit/>
          </a:bodyPr>
          <a:lstStyle/>
          <a:p>
            <a:r>
              <a:rPr sz="1400" b="0" i="1" u="sng">
                <a:solidFill>
                  <a:srgbClr val="374EC5"/>
                </a:solidFill>
                <a:latin typeface="Calibri"/>
              </a:rPr>
              <a:t>Index Analysis Clarity</a:t>
            </a:r>
          </a:p>
        </p:txBody>
      </p:sp>
      <p:pic>
        <p:nvPicPr>
          <p:cNvPr id="23" name="Picture 22" descr="_example_image.jpg"/>
          <p:cNvPicPr>
            <a:picLocks noChangeAspect="1"/>
          </p:cNvPicPr>
          <p:nvPr/>
        </p:nvPicPr>
        <p:blipFill>
          <a:blip r:embed="rId2"/>
          <a:srcRect l="10046" t="19952" r="11735" b="6337"/>
          <a:stretch>
            <a:fillRect/>
          </a:stretch>
        </p:blipFill>
        <p:spPr>
          <a:xfrm>
            <a:off x="9274209" y="4968303"/>
            <a:ext cx="1197723" cy="789543"/>
          </a:xfrm>
          <a:prstGeom prst="rect">
            <a:avLst/>
          </a:prstGeom>
        </p:spPr>
      </p:pic>
      <p:graphicFrame>
        <p:nvGraphicFramePr>
          <p:cNvPr id="24" name="Chart 23"/>
          <p:cNvGraphicFramePr>
            <a:graphicFrameLocks noGrp="1"/>
          </p:cNvGraphicFramePr>
          <p:nvPr/>
        </p:nvGraphicFramePr>
        <p:xfrm>
          <a:off x="2438018" y="1096830"/>
          <a:ext cx="2255052" cy="1800201"/>
        </p:xfrm>
        <a:graphic>
          <a:graphicData uri="http://schemas.openxmlformats.org/drawingml/2006/chart">
            <c:chart xmlns:c="http://schemas.openxmlformats.org/drawingml/2006/chart" xmlns:r="http://schemas.openxmlformats.org/officeDocument/2006/relationships" r:id="rId4"/>
          </a:graphicData>
        </a:graphic>
      </p:graphicFrame>
      <p:sp>
        <p:nvSpPr>
          <p:cNvPr id="25" name="Multiply 24"/>
          <p:cNvSpPr/>
          <p:nvPr/>
        </p:nvSpPr>
        <p:spPr>
          <a:xfrm>
            <a:off x="2292585" y="3297774"/>
            <a:ext cx="1329240" cy="993465"/>
          </a:xfrm>
          <a:prstGeom prst="mathMultiply">
            <a:avLst/>
          </a:prstGeom>
          <a:solidFill>
            <a:srgbClr val="964E5E"/>
          </a:solidFill>
          <a:ln w="30446">
            <a:solidFill>
              <a:srgbClr val="5CC37B"/>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4668995" y="5650531"/>
            <a:ext cx="2786951" cy="509402"/>
          </a:xfrm>
          <a:prstGeom prst="curvedConnector3">
            <a:avLst/>
          </a:prstGeom>
          <a:ln w="29525">
            <a:solidFill>
              <a:srgbClr val="D02A8F"/>
            </a:solidFill>
            <a:prstDash val="dash"/>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a:off x="7615973" y="454277"/>
            <a:ext cx="608932" cy="815764"/>
          </a:xfrm>
          <a:prstGeom prst="triangle">
            <a:avLst/>
          </a:prstGeom>
          <a:noFill/>
          <a:ln w="12605">
            <a:solidFill>
              <a:srgbClr val="BDC09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02519D05-638B-1BC5-8631-9A4849DDEFB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620176" y="2225675"/>
            <a:ext cx="1141496" cy="810667"/>
          </a:xfrm>
          <a:prstGeom prst="rect">
            <a:avLst/>
          </a:prstGeom>
        </p:spPr>
      </p:pic>
      <p:pic>
        <p:nvPicPr>
          <p:cNvPr id="31" name="Graphic 30">
            <a:extLst>
              <a:ext uri="{FF2B5EF4-FFF2-40B4-BE49-F238E27FC236}">
                <a16:creationId xmlns:a16="http://schemas.microsoft.com/office/drawing/2014/main" id="{962593CB-20A8-0278-03CB-EA58DFC1571B}"/>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70634" y="2738734"/>
            <a:ext cx="2349311" cy="158725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18876" t="1719" r="6707" b="15386"/>
          <a:stretch>
            <a:fillRect/>
          </a:stretch>
        </p:blipFill>
        <p:spPr>
          <a:xfrm>
            <a:off x="6679043" y="1115201"/>
            <a:ext cx="1863584" cy="814713"/>
          </a:xfrm>
          <a:prstGeom prst="rect">
            <a:avLst/>
          </a:prstGeom>
        </p:spPr>
      </p:pic>
      <p:sp>
        <p:nvSpPr>
          <p:cNvPr id="3" name="Rounded Rectangle 2"/>
          <p:cNvSpPr/>
          <p:nvPr/>
        </p:nvSpPr>
        <p:spPr>
          <a:xfrm>
            <a:off x="6679043" y="1115201"/>
            <a:ext cx="1863584" cy="814713"/>
          </a:xfrm>
          <a:prstGeom prst="roundRect">
            <a:avLst/>
          </a:prstGeom>
          <a:noFill/>
          <a:ln w="15240">
            <a:solidFill>
              <a:srgbClr val="6D33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2825397" y="5701445"/>
            <a:ext cx="844379" cy="949367"/>
          </a:xfrm>
          <a:prstGeom prst="bentConnector3">
            <a:avLst/>
          </a:prstGeom>
          <a:ln w="41046">
            <a:solidFill>
              <a:srgbClr val="57361C"/>
            </a:solidFill>
            <a:prstDash val="solid"/>
          </a:ln>
        </p:spPr>
        <p:style>
          <a:lnRef idx="2">
            <a:schemeClr val="accent1"/>
          </a:lnRef>
          <a:fillRef idx="0">
            <a:schemeClr val="accent1"/>
          </a:fillRef>
          <a:effectRef idx="1">
            <a:schemeClr val="accent1"/>
          </a:effectRef>
          <a:fontRef idx="minor">
            <a:schemeClr val="tx1"/>
          </a:fontRef>
        </p:style>
      </p:cxnSp>
      <p:pic>
        <p:nvPicPr>
          <p:cNvPr id="5" name="Picture 4" descr="_example_image.jpg"/>
          <p:cNvPicPr>
            <a:picLocks noChangeAspect="1"/>
          </p:cNvPicPr>
          <p:nvPr/>
        </p:nvPicPr>
        <p:blipFill>
          <a:blip r:embed="rId2"/>
          <a:srcRect l="10902" t="9829" r="2502" b="724"/>
          <a:stretch>
            <a:fillRect/>
          </a:stretch>
        </p:blipFill>
        <p:spPr>
          <a:xfrm>
            <a:off x="7638871" y="2821725"/>
            <a:ext cx="2623596" cy="987886"/>
          </a:xfrm>
          <a:prstGeom prst="rect">
            <a:avLst/>
          </a:prstGeom>
        </p:spPr>
      </p:pic>
      <p:sp>
        <p:nvSpPr>
          <p:cNvPr id="6" name="Down Arrow 5"/>
          <p:cNvSpPr/>
          <p:nvPr/>
        </p:nvSpPr>
        <p:spPr>
          <a:xfrm>
            <a:off x="9824529" y="5300698"/>
            <a:ext cx="534128" cy="605511"/>
          </a:xfrm>
          <a:prstGeom prst="downArrow">
            <a:avLst/>
          </a:prstGeom>
          <a:solidFill>
            <a:srgbClr val="DB5870"/>
          </a:solidFill>
          <a:ln w="24965">
            <a:solidFill>
              <a:srgbClr val="D4D34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Left Arrow 6"/>
          <p:cNvSpPr/>
          <p:nvPr/>
        </p:nvSpPr>
        <p:spPr>
          <a:xfrm>
            <a:off x="1555464" y="4766048"/>
            <a:ext cx="2050827" cy="504392"/>
          </a:xfrm>
          <a:prstGeom prst="leftArrow">
            <a:avLst/>
          </a:prstGeom>
          <a:solidFill>
            <a:srgbClr val="68D0D0"/>
          </a:solidFill>
          <a:ln w="9359">
            <a:solidFill>
              <a:srgbClr val="B65DA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28658" y="3245813"/>
            <a:ext cx="851306" cy="2062772"/>
          </a:xfrm>
          <a:prstGeom prst="rect">
            <a:avLst/>
          </a:prstGeom>
          <a:noFill/>
        </p:spPr>
        <p:txBody>
          <a:bodyPr wrap="none" lIns="53587" tIns="53587" rIns="53587" bIns="53587">
            <a:spAutoFit/>
          </a:bodyPr>
          <a:lstStyle/>
          <a:p>
            <a:r>
              <a:rPr sz="1400" b="1" i="1" u="none">
                <a:solidFill>
                  <a:srgbClr val="47A3AE"/>
                </a:solidFill>
                <a:latin typeface="Arial"/>
              </a:rPr>
              <a:t>Measure Alpha Drive Mode Token Discovery Edge Variant Canvas Explorer Logic Archive Interface Function Estimate Function Pixel Response Design Measure Density Report</a:t>
            </a:r>
          </a:p>
        </p:txBody>
      </p:sp>
      <p:sp>
        <p:nvSpPr>
          <p:cNvPr id="9" name="Predefined Process 8"/>
          <p:cNvSpPr/>
          <p:nvPr/>
        </p:nvSpPr>
        <p:spPr>
          <a:xfrm>
            <a:off x="5520682" y="894399"/>
            <a:ext cx="1120547" cy="1835618"/>
          </a:xfrm>
          <a:prstGeom prst="flowChartPredefinedProcess">
            <a:avLst/>
          </a:prstGeom>
          <a:solidFill>
            <a:srgbClr val="209E38"/>
          </a:solidFill>
          <a:ln w="9885">
            <a:solidFill>
              <a:srgbClr val="4A2BE3"/>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363463" y="5344077"/>
          <a:ext cx="2284390" cy="1371904"/>
        </p:xfrm>
        <a:graphic>
          <a:graphicData uri="http://schemas.openxmlformats.org/drawingml/2006/table">
            <a:tbl>
              <a:tblPr firstRow="1" bandRow="1">
                <a:tableStyleId>{5C22544A-7EE6-4342-B048-85BDC9FD1C3A}</a:tableStyleId>
              </a:tblPr>
              <a:tblGrid>
                <a:gridCol w="380731">
                  <a:extLst>
                    <a:ext uri="{9D8B030D-6E8A-4147-A177-3AD203B41FA5}">
                      <a16:colId xmlns:a16="http://schemas.microsoft.com/office/drawing/2014/main" val="20000"/>
                    </a:ext>
                  </a:extLst>
                </a:gridCol>
                <a:gridCol w="380731">
                  <a:extLst>
                    <a:ext uri="{9D8B030D-6E8A-4147-A177-3AD203B41FA5}">
                      <a16:colId xmlns:a16="http://schemas.microsoft.com/office/drawing/2014/main" val="20001"/>
                    </a:ext>
                  </a:extLst>
                </a:gridCol>
                <a:gridCol w="380731">
                  <a:extLst>
                    <a:ext uri="{9D8B030D-6E8A-4147-A177-3AD203B41FA5}">
                      <a16:colId xmlns:a16="http://schemas.microsoft.com/office/drawing/2014/main" val="20002"/>
                    </a:ext>
                  </a:extLst>
                </a:gridCol>
                <a:gridCol w="380731">
                  <a:extLst>
                    <a:ext uri="{9D8B030D-6E8A-4147-A177-3AD203B41FA5}">
                      <a16:colId xmlns:a16="http://schemas.microsoft.com/office/drawing/2014/main" val="20003"/>
                    </a:ext>
                  </a:extLst>
                </a:gridCol>
                <a:gridCol w="380731">
                  <a:extLst>
                    <a:ext uri="{9D8B030D-6E8A-4147-A177-3AD203B41FA5}">
                      <a16:colId xmlns:a16="http://schemas.microsoft.com/office/drawing/2014/main" val="20004"/>
                    </a:ext>
                  </a:extLst>
                </a:gridCol>
                <a:gridCol w="380735">
                  <a:extLst>
                    <a:ext uri="{9D8B030D-6E8A-4147-A177-3AD203B41FA5}">
                      <a16:colId xmlns:a16="http://schemas.microsoft.com/office/drawing/2014/main" val="20005"/>
                    </a:ext>
                  </a:extLst>
                </a:gridCol>
              </a:tblGrid>
              <a:tr h="342976">
                <a:tc>
                  <a:txBody>
                    <a:bodyPr/>
                    <a:lstStyle/>
                    <a:p>
                      <a:r>
                        <a:rPr sz="800" b="1">
                          <a:solidFill>
                            <a:srgbClr val="525E9C"/>
                          </a:solidFill>
                        </a:rPr>
                        <a:t>Node</a:t>
                      </a:r>
                    </a:p>
                  </a:txBody>
                  <a:tcPr>
                    <a:solidFill>
                      <a:srgbClr val="624737"/>
                    </a:solidFill>
                  </a:tcPr>
                </a:tc>
                <a:tc>
                  <a:txBody>
                    <a:bodyPr/>
                    <a:lstStyle/>
                    <a:p>
                      <a:r>
                        <a:rPr sz="800" b="1">
                          <a:solidFill>
                            <a:srgbClr val="525E9C"/>
                          </a:solidFill>
                        </a:rPr>
                        <a:t>Buffer</a:t>
                      </a:r>
                    </a:p>
                  </a:txBody>
                  <a:tcPr>
                    <a:solidFill>
                      <a:srgbClr val="624737"/>
                    </a:solidFill>
                  </a:tcPr>
                </a:tc>
                <a:tc>
                  <a:txBody>
                    <a:bodyPr/>
                    <a:lstStyle/>
                    <a:p>
                      <a:r>
                        <a:rPr sz="800" b="1">
                          <a:solidFill>
                            <a:srgbClr val="525E9C"/>
                          </a:solidFill>
                        </a:rPr>
                        <a:t>Service Edge</a:t>
                      </a:r>
                    </a:p>
                  </a:txBody>
                  <a:tcPr>
                    <a:solidFill>
                      <a:srgbClr val="624737"/>
                    </a:solidFill>
                  </a:tcPr>
                </a:tc>
                <a:tc>
                  <a:txBody>
                    <a:bodyPr/>
                    <a:lstStyle/>
                    <a:p>
                      <a:r>
                        <a:rPr sz="800" b="1">
                          <a:solidFill>
                            <a:srgbClr val="525E9C"/>
                          </a:solidFill>
                        </a:rPr>
                        <a:t>Filter</a:t>
                      </a:r>
                    </a:p>
                  </a:txBody>
                  <a:tcPr>
                    <a:solidFill>
                      <a:srgbClr val="624737"/>
                    </a:solidFill>
                  </a:tcPr>
                </a:tc>
                <a:tc>
                  <a:txBody>
                    <a:bodyPr/>
                    <a:lstStyle/>
                    <a:p>
                      <a:r>
                        <a:rPr sz="800" b="1">
                          <a:solidFill>
                            <a:srgbClr val="525E9C"/>
                          </a:solidFill>
                        </a:rPr>
                        <a:t>Snapshot</a:t>
                      </a:r>
                    </a:p>
                  </a:txBody>
                  <a:tcPr>
                    <a:solidFill>
                      <a:srgbClr val="624737"/>
                    </a:solidFill>
                  </a:tcPr>
                </a:tc>
                <a:tc>
                  <a:txBody>
                    <a:bodyPr/>
                    <a:lstStyle/>
                    <a:p>
                      <a:r>
                        <a:rPr sz="800" b="1">
                          <a:solidFill>
                            <a:srgbClr val="525E9C"/>
                          </a:solidFill>
                        </a:rPr>
                        <a:t>Module Variant</a:t>
                      </a:r>
                    </a:p>
                  </a:txBody>
                  <a:tcPr>
                    <a:solidFill>
                      <a:srgbClr val="624737"/>
                    </a:solidFill>
                  </a:tcPr>
                </a:tc>
                <a:extLst>
                  <a:ext uri="{0D108BD9-81ED-4DB2-BD59-A6C34878D82A}">
                    <a16:rowId xmlns:a16="http://schemas.microsoft.com/office/drawing/2014/main" val="10000"/>
                  </a:ext>
                </a:extLst>
              </a:tr>
              <a:tr h="342976">
                <a:tc>
                  <a:txBody>
                    <a:bodyPr/>
                    <a:lstStyle/>
                    <a:p>
                      <a:r>
                        <a:rPr sz="800" b="0">
                          <a:solidFill>
                            <a:srgbClr val="525E9C"/>
                          </a:solidFill>
                        </a:rPr>
                        <a:t>Wave Build</a:t>
                      </a:r>
                    </a:p>
                  </a:txBody>
                  <a:tcPr>
                    <a:solidFill>
                      <a:srgbClr val="F0F3F1"/>
                    </a:solidFill>
                  </a:tcPr>
                </a:tc>
                <a:tc>
                  <a:txBody>
                    <a:bodyPr/>
                    <a:lstStyle/>
                    <a:p>
                      <a:r>
                        <a:rPr sz="800" b="0">
                          <a:solidFill>
                            <a:srgbClr val="525E9C"/>
                          </a:solidFill>
                        </a:rPr>
                        <a:t>Stream</a:t>
                      </a:r>
                    </a:p>
                  </a:txBody>
                  <a:tcPr>
                    <a:solidFill>
                      <a:srgbClr val="F0F3F1"/>
                    </a:solidFill>
                  </a:tcPr>
                </a:tc>
                <a:tc>
                  <a:txBody>
                    <a:bodyPr/>
                    <a:lstStyle/>
                    <a:p>
                      <a:r>
                        <a:rPr sz="800" b="0">
                          <a:solidFill>
                            <a:srgbClr val="525E9C"/>
                          </a:solidFill>
                        </a:rPr>
                        <a:t>Register</a:t>
                      </a:r>
                    </a:p>
                  </a:txBody>
                  <a:tcPr>
                    <a:solidFill>
                      <a:srgbClr val="F0F3F1"/>
                    </a:solidFill>
                  </a:tcPr>
                </a:tc>
                <a:tc>
                  <a:txBody>
                    <a:bodyPr/>
                    <a:lstStyle/>
                    <a:p>
                      <a:r>
                        <a:rPr sz="800" b="0">
                          <a:solidFill>
                            <a:srgbClr val="525E9C"/>
                          </a:solidFill>
                        </a:rPr>
                        <a:t>Cadence Draft</a:t>
                      </a:r>
                    </a:p>
                  </a:txBody>
                  <a:tcPr>
                    <a:solidFill>
                      <a:srgbClr val="F0F3F1"/>
                    </a:solidFill>
                  </a:tcPr>
                </a:tc>
                <a:tc>
                  <a:txBody>
                    <a:bodyPr/>
                    <a:lstStyle/>
                    <a:p>
                      <a:r>
                        <a:rPr sz="800" b="0">
                          <a:solidFill>
                            <a:srgbClr val="525E9C"/>
                          </a:solidFill>
                        </a:rPr>
                        <a:t>Canvas Sync</a:t>
                      </a:r>
                    </a:p>
                  </a:txBody>
                  <a:tcPr>
                    <a:solidFill>
                      <a:srgbClr val="F0F3F1"/>
                    </a:solidFill>
                  </a:tcPr>
                </a:tc>
                <a:tc>
                  <a:txBody>
                    <a:bodyPr/>
                    <a:lstStyle/>
                    <a:p>
                      <a:r>
                        <a:rPr sz="800" b="0">
                          <a:solidFill>
                            <a:srgbClr val="525E9C"/>
                          </a:solidFill>
                        </a:rPr>
                        <a:t>Trigger Panel</a:t>
                      </a:r>
                    </a:p>
                  </a:txBody>
                  <a:tcPr>
                    <a:solidFill>
                      <a:srgbClr val="F0F3F1"/>
                    </a:solidFill>
                  </a:tcPr>
                </a:tc>
                <a:extLst>
                  <a:ext uri="{0D108BD9-81ED-4DB2-BD59-A6C34878D82A}">
                    <a16:rowId xmlns:a16="http://schemas.microsoft.com/office/drawing/2014/main" val="10001"/>
                  </a:ext>
                </a:extLst>
              </a:tr>
              <a:tr h="342976">
                <a:tc>
                  <a:txBody>
                    <a:bodyPr/>
                    <a:lstStyle/>
                    <a:p>
                      <a:r>
                        <a:rPr sz="800" b="0">
                          <a:solidFill>
                            <a:srgbClr val="525E9C"/>
                          </a:solidFill>
                        </a:rPr>
                        <a:t>Method</a:t>
                      </a:r>
                    </a:p>
                  </a:txBody>
                  <a:tcPr>
                    <a:solidFill>
                      <a:srgbClr val="F0F3F1"/>
                    </a:solidFill>
                  </a:tcPr>
                </a:tc>
                <a:tc>
                  <a:txBody>
                    <a:bodyPr/>
                    <a:lstStyle/>
                    <a:p>
                      <a:r>
                        <a:rPr sz="800" b="0">
                          <a:solidFill>
                            <a:srgbClr val="525E9C"/>
                          </a:solidFill>
                        </a:rPr>
                        <a:t>Deployment Benchmark</a:t>
                      </a:r>
                    </a:p>
                  </a:txBody>
                  <a:tcPr>
                    <a:solidFill>
                      <a:srgbClr val="F0F3F1"/>
                    </a:solidFill>
                  </a:tcPr>
                </a:tc>
                <a:tc>
                  <a:txBody>
                    <a:bodyPr/>
                    <a:lstStyle/>
                    <a:p>
                      <a:r>
                        <a:rPr sz="800" b="0">
                          <a:solidFill>
                            <a:srgbClr val="525E9C"/>
                          </a:solidFill>
                        </a:rPr>
                        <a:t>Direction</a:t>
                      </a:r>
                    </a:p>
                  </a:txBody>
                  <a:tcPr>
                    <a:solidFill>
                      <a:srgbClr val="F0F3F1"/>
                    </a:solidFill>
                  </a:tcPr>
                </a:tc>
                <a:tc>
                  <a:txBody>
                    <a:bodyPr/>
                    <a:lstStyle/>
                    <a:p>
                      <a:r>
                        <a:rPr sz="800" b="0">
                          <a:solidFill>
                            <a:srgbClr val="525E9C"/>
                          </a:solidFill>
                        </a:rPr>
                        <a:t>Needle</a:t>
                      </a:r>
                    </a:p>
                  </a:txBody>
                  <a:tcPr>
                    <a:solidFill>
                      <a:srgbClr val="F0F3F1"/>
                    </a:solidFill>
                  </a:tcPr>
                </a:tc>
                <a:tc>
                  <a:txBody>
                    <a:bodyPr/>
                    <a:lstStyle/>
                    <a:p>
                      <a:r>
                        <a:rPr sz="800" b="0">
                          <a:solidFill>
                            <a:srgbClr val="525E9C"/>
                          </a:solidFill>
                        </a:rPr>
                        <a:t>Segment</a:t>
                      </a:r>
                    </a:p>
                  </a:txBody>
                  <a:tcPr>
                    <a:solidFill>
                      <a:srgbClr val="F0F3F1"/>
                    </a:solidFill>
                  </a:tcPr>
                </a:tc>
                <a:tc>
                  <a:txBody>
                    <a:bodyPr/>
                    <a:lstStyle/>
                    <a:p>
                      <a:r>
                        <a:rPr sz="800" b="0">
                          <a:solidFill>
                            <a:srgbClr val="525E9C"/>
                          </a:solidFill>
                        </a:rPr>
                        <a:t>Density Scale</a:t>
                      </a:r>
                    </a:p>
                  </a:txBody>
                  <a:tcPr>
                    <a:solidFill>
                      <a:srgbClr val="F0F3F1"/>
                    </a:solidFill>
                  </a:tcPr>
                </a:tc>
                <a:extLst>
                  <a:ext uri="{0D108BD9-81ED-4DB2-BD59-A6C34878D82A}">
                    <a16:rowId xmlns:a16="http://schemas.microsoft.com/office/drawing/2014/main" val="10002"/>
                  </a:ext>
                </a:extLst>
              </a:tr>
              <a:tr h="342976">
                <a:tc>
                  <a:txBody>
                    <a:bodyPr/>
                    <a:lstStyle/>
                    <a:p>
                      <a:r>
                        <a:rPr sz="800" b="0">
                          <a:solidFill>
                            <a:srgbClr val="525E9C"/>
                          </a:solidFill>
                        </a:rPr>
                        <a:t>Package</a:t>
                      </a:r>
                    </a:p>
                  </a:txBody>
                  <a:tcPr>
                    <a:solidFill>
                      <a:srgbClr val="F0F3F1"/>
                    </a:solidFill>
                  </a:tcPr>
                </a:tc>
                <a:tc>
                  <a:txBody>
                    <a:bodyPr/>
                    <a:lstStyle/>
                    <a:p>
                      <a:r>
                        <a:rPr sz="800" b="0">
                          <a:solidFill>
                            <a:srgbClr val="525E9C"/>
                          </a:solidFill>
                        </a:rPr>
                        <a:t>Cortex Panel</a:t>
                      </a:r>
                    </a:p>
                  </a:txBody>
                  <a:tcPr>
                    <a:solidFill>
                      <a:srgbClr val="F0F3F1"/>
                    </a:solidFill>
                  </a:tcPr>
                </a:tc>
                <a:tc>
                  <a:txBody>
                    <a:bodyPr/>
                    <a:lstStyle/>
                    <a:p>
                      <a:r>
                        <a:rPr sz="800" b="0">
                          <a:solidFill>
                            <a:srgbClr val="525E9C"/>
                          </a:solidFill>
                        </a:rPr>
                        <a:t>Viewport</a:t>
                      </a:r>
                    </a:p>
                  </a:txBody>
                  <a:tcPr>
                    <a:solidFill>
                      <a:srgbClr val="F0F3F1"/>
                    </a:solidFill>
                  </a:tcPr>
                </a:tc>
                <a:tc>
                  <a:txBody>
                    <a:bodyPr/>
                    <a:lstStyle/>
                    <a:p>
                      <a:r>
                        <a:rPr sz="800" b="0">
                          <a:solidFill>
                            <a:srgbClr val="525E9C"/>
                          </a:solidFill>
                        </a:rPr>
                        <a:t>Epoch Kernel</a:t>
                      </a:r>
                    </a:p>
                  </a:txBody>
                  <a:tcPr>
                    <a:solidFill>
                      <a:srgbClr val="F0F3F1"/>
                    </a:solidFill>
                  </a:tcPr>
                </a:tc>
                <a:tc>
                  <a:txBody>
                    <a:bodyPr/>
                    <a:lstStyle/>
                    <a:p>
                      <a:r>
                        <a:rPr sz="800" b="0">
                          <a:solidFill>
                            <a:srgbClr val="525E9C"/>
                          </a:solidFill>
                        </a:rPr>
                        <a:t>Entity Transit</a:t>
                      </a:r>
                    </a:p>
                  </a:txBody>
                  <a:tcPr>
                    <a:solidFill>
                      <a:srgbClr val="F0F3F1"/>
                    </a:solidFill>
                  </a:tcPr>
                </a:tc>
                <a:tc>
                  <a:txBody>
                    <a:bodyPr/>
                    <a:lstStyle/>
                    <a:p>
                      <a:r>
                        <a:rPr sz="800" b="0">
                          <a:solidFill>
                            <a:srgbClr val="525E9C"/>
                          </a:solidFill>
                        </a:rPr>
                        <a:t>Catalog Program</a:t>
                      </a:r>
                    </a:p>
                  </a:txBody>
                  <a:tcPr>
                    <a:solidFill>
                      <a:srgbClr val="F0F3F1"/>
                    </a:solidFill>
                  </a:tcPr>
                </a:tc>
                <a:extLst>
                  <a:ext uri="{0D108BD9-81ED-4DB2-BD59-A6C34878D82A}">
                    <a16:rowId xmlns:a16="http://schemas.microsoft.com/office/drawing/2014/main" val="10003"/>
                  </a:ext>
                </a:extLst>
              </a:tr>
            </a:tbl>
          </a:graphicData>
        </a:graphic>
      </p:graphicFrame>
      <p:sp>
        <p:nvSpPr>
          <p:cNvPr id="11" name="Freeform 10"/>
          <p:cNvSpPr/>
          <p:nvPr/>
        </p:nvSpPr>
        <p:spPr>
          <a:xfrm>
            <a:off x="10597694" y="3182579"/>
            <a:ext cx="1139293" cy="583966"/>
          </a:xfrm>
          <a:custGeom>
            <a:avLst/>
            <a:gdLst/>
            <a:ahLst/>
            <a:cxnLst/>
            <a:rect l="l" t="t" r="r" b="b"/>
            <a:pathLst>
              <a:path w="1139293" h="583966">
                <a:moveTo>
                  <a:pt x="0" y="129770"/>
                </a:moveTo>
                <a:lnTo>
                  <a:pt x="245009" y="0"/>
                </a:lnTo>
                <a:lnTo>
                  <a:pt x="490018" y="175189"/>
                </a:lnTo>
                <a:lnTo>
                  <a:pt x="735028" y="19465"/>
                </a:lnTo>
                <a:lnTo>
                  <a:pt x="1139293" y="454196"/>
                </a:lnTo>
                <a:lnTo>
                  <a:pt x="857532" y="583966"/>
                </a:lnTo>
                <a:lnTo>
                  <a:pt x="588022" y="389310"/>
                </a:lnTo>
                <a:lnTo>
                  <a:pt x="281761" y="564500"/>
                </a:lnTo>
                <a:close/>
              </a:path>
            </a:pathLst>
          </a:custGeom>
          <a:solidFill>
            <a:srgbClr val="2149DA"/>
          </a:solidFill>
          <a:ln w="33005">
            <a:solidFill>
              <a:srgbClr val="2CD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62382" y="4014667"/>
            <a:ext cx="2826882" cy="679172"/>
          </a:xfrm>
          <a:prstGeom prst="rect">
            <a:avLst/>
          </a:prstGeom>
          <a:noFill/>
        </p:spPr>
        <p:txBody>
          <a:bodyPr wrap="none" lIns="21839" tIns="21839" rIns="21839" bIns="21839">
            <a:spAutoFit/>
          </a:bodyPr>
          <a:lstStyle/>
          <a:p>
            <a:r>
              <a:rPr sz="900" b="0" i="0" u="none">
                <a:solidFill>
                  <a:srgbClr val="47D636"/>
                </a:solidFill>
                <a:latin typeface="Arial"/>
              </a:rPr>
              <a:t>Network Velocity Priority Handle Bridge Graph Sequence Interval Beta Envelope Plan Record</a:t>
            </a:r>
          </a:p>
        </p:txBody>
      </p:sp>
      <p:pic>
        <p:nvPicPr>
          <p:cNvPr id="13" name="Picture 12" descr="_example_image.jpg"/>
          <p:cNvPicPr>
            <a:picLocks noChangeAspect="1"/>
          </p:cNvPicPr>
          <p:nvPr/>
        </p:nvPicPr>
        <p:blipFill>
          <a:blip r:embed="rId2"/>
          <a:srcRect l="16652" t="206" r="3807" b="15434"/>
          <a:stretch>
            <a:fillRect/>
          </a:stretch>
        </p:blipFill>
        <p:spPr>
          <a:xfrm>
            <a:off x="4277989" y="2822727"/>
            <a:ext cx="1838561" cy="827976"/>
          </a:xfrm>
          <a:prstGeom prst="rect">
            <a:avLst/>
          </a:prstGeom>
        </p:spPr>
      </p:pic>
      <p:sp>
        <p:nvSpPr>
          <p:cNvPr id="14" name="Rounded Rectangle 13"/>
          <p:cNvSpPr/>
          <p:nvPr/>
        </p:nvSpPr>
        <p:spPr>
          <a:xfrm>
            <a:off x="4277989" y="2822727"/>
            <a:ext cx="1838561" cy="827976"/>
          </a:xfrm>
          <a:prstGeom prst="roundRect">
            <a:avLst/>
          </a:prstGeom>
          <a:noFill/>
          <a:ln w="15240">
            <a:solidFill>
              <a:srgbClr val="7B9F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06480" y="2079332"/>
            <a:ext cx="3531744" cy="706163"/>
          </a:xfrm>
          <a:prstGeom prst="rect">
            <a:avLst/>
          </a:prstGeom>
          <a:noFill/>
        </p:spPr>
        <p:txBody>
          <a:bodyPr wrap="none" lIns="27884" tIns="27884" rIns="27884" bIns="27884">
            <a:spAutoFit/>
          </a:bodyPr>
          <a:lstStyle/>
          <a:p>
            <a:r>
              <a:rPr sz="5100" b="1" i="0" u="none">
                <a:solidFill>
                  <a:srgbClr val="6FCC9C"/>
                </a:solidFill>
                <a:latin typeface="Georgia"/>
              </a:rPr>
              <a:t>Canvas Direction Dimension Datum Apex</a:t>
            </a:r>
          </a:p>
        </p:txBody>
      </p:sp>
      <p:cxnSp>
        <p:nvCxnSpPr>
          <p:cNvPr id="16" name="Connector 15"/>
          <p:cNvCxnSpPr/>
          <p:nvPr/>
        </p:nvCxnSpPr>
        <p:spPr>
          <a:xfrm>
            <a:off x="286103" y="3033528"/>
            <a:ext cx="1179847" cy="702595"/>
          </a:xfrm>
          <a:prstGeom prst="line">
            <a:avLst/>
          </a:prstGeom>
          <a:ln w="50394">
            <a:solidFill>
              <a:srgbClr val="E5192A"/>
            </a:solidFill>
            <a:prstDash val="lgDash"/>
          </a:ln>
        </p:spPr>
        <p:style>
          <a:lnRef idx="2">
            <a:schemeClr val="accent1"/>
          </a:lnRef>
          <a:fillRef idx="0">
            <a:schemeClr val="accent1"/>
          </a:fillRef>
          <a:effectRef idx="1">
            <a:schemeClr val="accent1"/>
          </a:effectRef>
          <a:fontRef idx="minor">
            <a:schemeClr val="tx1"/>
          </a:fontRef>
        </p:style>
      </p:cxnSp>
      <p:sp>
        <p:nvSpPr>
          <p:cNvPr id="17" name="Minus 16"/>
          <p:cNvSpPr/>
          <p:nvPr/>
        </p:nvSpPr>
        <p:spPr>
          <a:xfrm>
            <a:off x="4264969" y="5879165"/>
            <a:ext cx="1264023" cy="652173"/>
          </a:xfrm>
          <a:prstGeom prst="mathMinus">
            <a:avLst/>
          </a:prstGeom>
          <a:noFill/>
          <a:ln w="29313">
            <a:solidFill>
              <a:srgbClr val="AA439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8364570" y="148724"/>
            <a:ext cx="3686308" cy="835482"/>
          </a:xfrm>
          <a:prstGeom prst="curvedConnector3">
            <a:avLst/>
          </a:prstGeom>
          <a:ln w="19336">
            <a:solidFill>
              <a:srgbClr val="B262B1"/>
            </a:solidFill>
            <a:prstDash val="dash"/>
          </a:ln>
        </p:spPr>
        <p:style>
          <a:lnRef idx="2">
            <a:schemeClr val="accent1"/>
          </a:lnRef>
          <a:fillRef idx="0">
            <a:schemeClr val="accent1"/>
          </a:fillRef>
          <a:effectRef idx="1">
            <a:schemeClr val="accent1"/>
          </a:effectRef>
          <a:fontRef idx="minor">
            <a:schemeClr val="tx1"/>
          </a:fontRef>
        </p:style>
      </p:cxnSp>
      <p:sp>
        <p:nvSpPr>
          <p:cNvPr id="19" name="Minus 18"/>
          <p:cNvSpPr/>
          <p:nvPr/>
        </p:nvSpPr>
        <p:spPr>
          <a:xfrm>
            <a:off x="7215143" y="2506432"/>
            <a:ext cx="365213" cy="477804"/>
          </a:xfrm>
          <a:prstGeom prst="mathMinus">
            <a:avLst/>
          </a:prstGeom>
          <a:solidFill>
            <a:srgbClr val="B35BB7"/>
          </a:solidFill>
          <a:ln w="21405">
            <a:solidFill>
              <a:srgbClr val="E571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87214" y="3015666"/>
            <a:ext cx="756923" cy="1239321"/>
          </a:xfrm>
          <a:prstGeom prst="rect">
            <a:avLst/>
          </a:prstGeom>
          <a:noFill/>
        </p:spPr>
        <p:txBody>
          <a:bodyPr wrap="none" lIns="38061" tIns="38061" rIns="38061" bIns="38061">
            <a:spAutoFit/>
          </a:bodyPr>
          <a:lstStyle/>
          <a:p>
            <a:r>
              <a:rPr sz="2700" b="0" i="0" u="none">
                <a:solidFill>
                  <a:srgbClr val="B43090"/>
                </a:solidFill>
                <a:latin typeface="Verdana"/>
              </a:rPr>
              <a:t>Texture Precision Benchmark Aspect Wave Region Switch Dimension Position Beacon</a:t>
            </a:r>
          </a:p>
        </p:txBody>
      </p:sp>
      <p:graphicFrame>
        <p:nvGraphicFramePr>
          <p:cNvPr id="21" name="Chart 20"/>
          <p:cNvGraphicFramePr>
            <a:graphicFrameLocks noGrp="1"/>
          </p:cNvGraphicFramePr>
          <p:nvPr/>
        </p:nvGraphicFramePr>
        <p:xfrm>
          <a:off x="1594482" y="4120843"/>
          <a:ext cx="2196239" cy="1444374"/>
        </p:xfrm>
        <a:graphic>
          <a:graphicData uri="http://schemas.openxmlformats.org/drawingml/2006/chart">
            <c:chart xmlns:c="http://schemas.openxmlformats.org/drawingml/2006/chart" xmlns:r="http://schemas.openxmlformats.org/officeDocument/2006/relationships" r:id="rId3"/>
          </a:graphicData>
        </a:graphic>
      </p:graphicFrame>
      <p:sp>
        <p:nvSpPr>
          <p:cNvPr id="22" name="8-Point Star 21"/>
          <p:cNvSpPr/>
          <p:nvPr/>
        </p:nvSpPr>
        <p:spPr>
          <a:xfrm>
            <a:off x="3640910" y="3660828"/>
            <a:ext cx="1916542" cy="1338801"/>
          </a:xfrm>
          <a:prstGeom prst="star8">
            <a:avLst/>
          </a:prstGeom>
          <a:solidFill>
            <a:srgbClr val="74B49A"/>
          </a:solidFill>
          <a:ln w="19138">
            <a:solidFill>
              <a:srgbClr val="73DFA2"/>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546439" y="1389875"/>
            <a:ext cx="766298" cy="433888"/>
          </a:xfrm>
          <a:custGeom>
            <a:avLst/>
            <a:gdLst/>
            <a:ahLst/>
            <a:cxnLst/>
            <a:rect l="l" t="t" r="r" b="b"/>
            <a:pathLst>
              <a:path w="766298" h="433888">
                <a:moveTo>
                  <a:pt x="0" y="210918"/>
                </a:moveTo>
                <a:lnTo>
                  <a:pt x="131836" y="0"/>
                </a:lnTo>
                <a:lnTo>
                  <a:pt x="271912" y="180787"/>
                </a:lnTo>
                <a:lnTo>
                  <a:pt x="411988" y="361573"/>
                </a:lnTo>
                <a:lnTo>
                  <a:pt x="560304" y="150656"/>
                </a:lnTo>
                <a:lnTo>
                  <a:pt x="766298" y="228996"/>
                </a:lnTo>
                <a:lnTo>
                  <a:pt x="766298" y="433888"/>
                </a:lnTo>
                <a:lnTo>
                  <a:pt x="0" y="433888"/>
                </a:lnTo>
                <a:close/>
              </a:path>
            </a:pathLst>
          </a:custGeom>
          <a:solidFill>
            <a:srgbClr val="C721B2"/>
          </a:solidFill>
          <a:ln w="12801">
            <a:solidFill>
              <a:srgbClr val="E02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Chart 23"/>
          <p:cNvGraphicFramePr>
            <a:graphicFrameLocks noGrp="1"/>
          </p:cNvGraphicFramePr>
          <p:nvPr/>
        </p:nvGraphicFramePr>
        <p:xfrm>
          <a:off x="9284062" y="4681851"/>
          <a:ext cx="2498885" cy="188144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Table 24"/>
          <p:cNvGraphicFramePr>
            <a:graphicFrameLocks noGrp="1"/>
          </p:cNvGraphicFramePr>
          <p:nvPr/>
        </p:nvGraphicFramePr>
        <p:xfrm>
          <a:off x="8851350" y="935727"/>
          <a:ext cx="2829555" cy="937138"/>
        </p:xfrm>
        <a:graphic>
          <a:graphicData uri="http://schemas.openxmlformats.org/drawingml/2006/table">
            <a:tbl>
              <a:tblPr firstRow="1" bandRow="1">
                <a:tableStyleId>{5C22544A-7EE6-4342-B048-85BDC9FD1C3A}</a:tableStyleId>
              </a:tblPr>
              <a:tblGrid>
                <a:gridCol w="565911">
                  <a:extLst>
                    <a:ext uri="{9D8B030D-6E8A-4147-A177-3AD203B41FA5}">
                      <a16:colId xmlns:a16="http://schemas.microsoft.com/office/drawing/2014/main" val="20000"/>
                    </a:ext>
                  </a:extLst>
                </a:gridCol>
                <a:gridCol w="565911">
                  <a:extLst>
                    <a:ext uri="{9D8B030D-6E8A-4147-A177-3AD203B41FA5}">
                      <a16:colId xmlns:a16="http://schemas.microsoft.com/office/drawing/2014/main" val="20001"/>
                    </a:ext>
                  </a:extLst>
                </a:gridCol>
                <a:gridCol w="565911">
                  <a:extLst>
                    <a:ext uri="{9D8B030D-6E8A-4147-A177-3AD203B41FA5}">
                      <a16:colId xmlns:a16="http://schemas.microsoft.com/office/drawing/2014/main" val="20002"/>
                    </a:ext>
                  </a:extLst>
                </a:gridCol>
                <a:gridCol w="565911">
                  <a:extLst>
                    <a:ext uri="{9D8B030D-6E8A-4147-A177-3AD203B41FA5}">
                      <a16:colId xmlns:a16="http://schemas.microsoft.com/office/drawing/2014/main" val="20003"/>
                    </a:ext>
                  </a:extLst>
                </a:gridCol>
                <a:gridCol w="565911">
                  <a:extLst>
                    <a:ext uri="{9D8B030D-6E8A-4147-A177-3AD203B41FA5}">
                      <a16:colId xmlns:a16="http://schemas.microsoft.com/office/drawing/2014/main" val="20004"/>
                    </a:ext>
                  </a:extLst>
                </a:gridCol>
              </a:tblGrid>
              <a:tr h="133876">
                <a:tc>
                  <a:txBody>
                    <a:bodyPr/>
                    <a:lstStyle/>
                    <a:p>
                      <a:r>
                        <a:rPr sz="1300" b="0">
                          <a:solidFill>
                            <a:srgbClr val="3DDE1E"/>
                          </a:solidFill>
                        </a:rPr>
                        <a:t>Exchange Drive</a:t>
                      </a:r>
                    </a:p>
                  </a:txBody>
                  <a:tcPr>
                    <a:solidFill>
                      <a:srgbClr val="F2EAEB"/>
                    </a:solidFill>
                  </a:tcPr>
                </a:tc>
                <a:tc>
                  <a:txBody>
                    <a:bodyPr/>
                    <a:lstStyle/>
                    <a:p>
                      <a:r>
                        <a:rPr sz="1300" b="0">
                          <a:solidFill>
                            <a:srgbClr val="3DDE1E"/>
                          </a:solidFill>
                        </a:rPr>
                        <a:t>Filter Adaptive</a:t>
                      </a:r>
                    </a:p>
                  </a:txBody>
                  <a:tcPr>
                    <a:solidFill>
                      <a:srgbClr val="E2CFD1"/>
                    </a:solidFill>
                  </a:tcPr>
                </a:tc>
                <a:tc>
                  <a:txBody>
                    <a:bodyPr/>
                    <a:lstStyle/>
                    <a:p>
                      <a:r>
                        <a:rPr sz="1300" b="0">
                          <a:solidFill>
                            <a:srgbClr val="3DDE1E"/>
                          </a:solidFill>
                        </a:rPr>
                        <a:t>Energy Design</a:t>
                      </a:r>
                    </a:p>
                  </a:txBody>
                  <a:tcPr>
                    <a:solidFill>
                      <a:srgbClr val="F2EAEB"/>
                    </a:solidFill>
                  </a:tcPr>
                </a:tc>
                <a:tc>
                  <a:txBody>
                    <a:bodyPr/>
                    <a:lstStyle/>
                    <a:p>
                      <a:r>
                        <a:rPr sz="1300" b="0">
                          <a:solidFill>
                            <a:srgbClr val="3DDE1E"/>
                          </a:solidFill>
                        </a:rPr>
                        <a:t>Measure Drift</a:t>
                      </a:r>
                    </a:p>
                  </a:txBody>
                  <a:tcPr>
                    <a:solidFill>
                      <a:srgbClr val="E2CFD1"/>
                    </a:solidFill>
                  </a:tcPr>
                </a:tc>
                <a:tc>
                  <a:txBody>
                    <a:bodyPr/>
                    <a:lstStyle/>
                    <a:p>
                      <a:r>
                        <a:rPr sz="1300" b="0">
                          <a:solidFill>
                            <a:srgbClr val="3DDE1E"/>
                          </a:solidFill>
                        </a:rPr>
                        <a:t>Vertex</a:t>
                      </a:r>
                    </a:p>
                  </a:txBody>
                  <a:tcPr>
                    <a:solidFill>
                      <a:srgbClr val="F2EAEB"/>
                    </a:solidFill>
                  </a:tcPr>
                </a:tc>
                <a:extLst>
                  <a:ext uri="{0D108BD9-81ED-4DB2-BD59-A6C34878D82A}">
                    <a16:rowId xmlns:a16="http://schemas.microsoft.com/office/drawing/2014/main" val="10000"/>
                  </a:ext>
                </a:extLst>
              </a:tr>
              <a:tr h="133876">
                <a:tc>
                  <a:txBody>
                    <a:bodyPr/>
                    <a:lstStyle/>
                    <a:p>
                      <a:r>
                        <a:rPr sz="1300" b="0">
                          <a:solidFill>
                            <a:srgbClr val="3DDE1E"/>
                          </a:solidFill>
                        </a:rPr>
                        <a:t>Workflow</a:t>
                      </a:r>
                    </a:p>
                  </a:txBody>
                  <a:tcPr>
                    <a:solidFill>
                      <a:srgbClr val="F2EAEB"/>
                    </a:solidFill>
                  </a:tcPr>
                </a:tc>
                <a:tc>
                  <a:txBody>
                    <a:bodyPr/>
                    <a:lstStyle/>
                    <a:p>
                      <a:r>
                        <a:rPr sz="1300" b="0">
                          <a:solidFill>
                            <a:srgbClr val="3DDE1E"/>
                          </a:solidFill>
                        </a:rPr>
                        <a:t>Snapshot Craft</a:t>
                      </a:r>
                    </a:p>
                  </a:txBody>
                  <a:tcPr>
                    <a:solidFill>
                      <a:srgbClr val="E2CFD1"/>
                    </a:solidFill>
                  </a:tcPr>
                </a:tc>
                <a:tc>
                  <a:txBody>
                    <a:bodyPr/>
                    <a:lstStyle/>
                    <a:p>
                      <a:r>
                        <a:rPr sz="1300" b="0">
                          <a:solidFill>
                            <a:srgbClr val="3DDE1E"/>
                          </a:solidFill>
                        </a:rPr>
                        <a:t>Apex</a:t>
                      </a:r>
                    </a:p>
                  </a:txBody>
                  <a:tcPr>
                    <a:solidFill>
                      <a:srgbClr val="F2EAEB"/>
                    </a:solidFill>
                  </a:tcPr>
                </a:tc>
                <a:tc>
                  <a:txBody>
                    <a:bodyPr/>
                    <a:lstStyle/>
                    <a:p>
                      <a:r>
                        <a:rPr sz="1300" b="0">
                          <a:solidFill>
                            <a:srgbClr val="3DDE1E"/>
                          </a:solidFill>
                        </a:rPr>
                        <a:t>Discovery Stack</a:t>
                      </a:r>
                    </a:p>
                  </a:txBody>
                  <a:tcPr>
                    <a:solidFill>
                      <a:srgbClr val="E2CFD1"/>
                    </a:solidFill>
                  </a:tcPr>
                </a:tc>
                <a:tc>
                  <a:txBody>
                    <a:bodyPr/>
                    <a:lstStyle/>
                    <a:p>
                      <a:r>
                        <a:rPr sz="1300" b="0">
                          <a:solidFill>
                            <a:srgbClr val="3DDE1E"/>
                          </a:solidFill>
                        </a:rPr>
                        <a:t>Discovery</a:t>
                      </a:r>
                    </a:p>
                  </a:txBody>
                  <a:tcPr>
                    <a:solidFill>
                      <a:srgbClr val="F2EAEB"/>
                    </a:solidFill>
                  </a:tcPr>
                </a:tc>
                <a:extLst>
                  <a:ext uri="{0D108BD9-81ED-4DB2-BD59-A6C34878D82A}">
                    <a16:rowId xmlns:a16="http://schemas.microsoft.com/office/drawing/2014/main" val="10001"/>
                  </a:ext>
                </a:extLst>
              </a:tr>
              <a:tr h="133876">
                <a:tc>
                  <a:txBody>
                    <a:bodyPr/>
                    <a:lstStyle/>
                    <a:p>
                      <a:r>
                        <a:rPr sz="1300" b="0">
                          <a:solidFill>
                            <a:srgbClr val="3DDE1E"/>
                          </a:solidFill>
                        </a:rPr>
                        <a:t>Delta</a:t>
                      </a:r>
                    </a:p>
                  </a:txBody>
                  <a:tcPr>
                    <a:solidFill>
                      <a:srgbClr val="F2EAEB"/>
                    </a:solidFill>
                  </a:tcPr>
                </a:tc>
                <a:tc>
                  <a:txBody>
                    <a:bodyPr/>
                    <a:lstStyle/>
                    <a:p>
                      <a:r>
                        <a:rPr sz="1300" b="0">
                          <a:solidFill>
                            <a:srgbClr val="3DDE1E"/>
                          </a:solidFill>
                        </a:rPr>
                        <a:t>Reserve</a:t>
                      </a:r>
                    </a:p>
                  </a:txBody>
                  <a:tcPr>
                    <a:solidFill>
                      <a:srgbClr val="E2CFD1"/>
                    </a:solidFill>
                  </a:tcPr>
                </a:tc>
                <a:tc>
                  <a:txBody>
                    <a:bodyPr/>
                    <a:lstStyle/>
                    <a:p>
                      <a:r>
                        <a:rPr sz="1300" b="0">
                          <a:solidFill>
                            <a:srgbClr val="3DDE1E"/>
                          </a:solidFill>
                        </a:rPr>
                        <a:t>Portal</a:t>
                      </a:r>
                    </a:p>
                  </a:txBody>
                  <a:tcPr>
                    <a:solidFill>
                      <a:srgbClr val="F2EAEB"/>
                    </a:solidFill>
                  </a:tcPr>
                </a:tc>
                <a:tc>
                  <a:txBody>
                    <a:bodyPr/>
                    <a:lstStyle/>
                    <a:p>
                      <a:r>
                        <a:rPr sz="1300" b="0">
                          <a:solidFill>
                            <a:srgbClr val="3DDE1E"/>
                          </a:solidFill>
                        </a:rPr>
                        <a:t>Horizon</a:t>
                      </a:r>
                    </a:p>
                  </a:txBody>
                  <a:tcPr>
                    <a:solidFill>
                      <a:srgbClr val="E2CFD1"/>
                    </a:solidFill>
                  </a:tcPr>
                </a:tc>
                <a:tc>
                  <a:txBody>
                    <a:bodyPr/>
                    <a:lstStyle/>
                    <a:p>
                      <a:r>
                        <a:rPr sz="1300" b="0">
                          <a:solidFill>
                            <a:srgbClr val="3DDE1E"/>
                          </a:solidFill>
                        </a:rPr>
                        <a:t>State Packet</a:t>
                      </a:r>
                    </a:p>
                  </a:txBody>
                  <a:tcPr>
                    <a:solidFill>
                      <a:srgbClr val="F2EAEB"/>
                    </a:solidFill>
                  </a:tcPr>
                </a:tc>
                <a:extLst>
                  <a:ext uri="{0D108BD9-81ED-4DB2-BD59-A6C34878D82A}">
                    <a16:rowId xmlns:a16="http://schemas.microsoft.com/office/drawing/2014/main" val="10002"/>
                  </a:ext>
                </a:extLst>
              </a:tr>
              <a:tr h="133876">
                <a:tc>
                  <a:txBody>
                    <a:bodyPr/>
                    <a:lstStyle/>
                    <a:p>
                      <a:r>
                        <a:rPr sz="1300" b="0">
                          <a:solidFill>
                            <a:srgbClr val="3DDE1E"/>
                          </a:solidFill>
                        </a:rPr>
                        <a:t>Library Story</a:t>
                      </a:r>
                    </a:p>
                  </a:txBody>
                  <a:tcPr>
                    <a:solidFill>
                      <a:srgbClr val="F2EAEB"/>
                    </a:solidFill>
                  </a:tcPr>
                </a:tc>
                <a:tc>
                  <a:txBody>
                    <a:bodyPr/>
                    <a:lstStyle/>
                    <a:p>
                      <a:r>
                        <a:rPr sz="1300" b="0">
                          <a:solidFill>
                            <a:srgbClr val="3DDE1E"/>
                          </a:solidFill>
                        </a:rPr>
                        <a:t>Vector</a:t>
                      </a:r>
                    </a:p>
                  </a:txBody>
                  <a:tcPr>
                    <a:solidFill>
                      <a:srgbClr val="E2CFD1"/>
                    </a:solidFill>
                  </a:tcPr>
                </a:tc>
                <a:tc>
                  <a:txBody>
                    <a:bodyPr/>
                    <a:lstStyle/>
                    <a:p>
                      <a:r>
                        <a:rPr sz="1300" b="0">
                          <a:solidFill>
                            <a:srgbClr val="3DDE1E"/>
                          </a:solidFill>
                        </a:rPr>
                        <a:t>Lens</a:t>
                      </a:r>
                    </a:p>
                  </a:txBody>
                  <a:tcPr>
                    <a:solidFill>
                      <a:srgbClr val="F2EAEB"/>
                    </a:solidFill>
                  </a:tcPr>
                </a:tc>
                <a:tc>
                  <a:txBody>
                    <a:bodyPr/>
                    <a:lstStyle/>
                    <a:p>
                      <a:r>
                        <a:rPr sz="1300" b="0">
                          <a:solidFill>
                            <a:srgbClr val="3DDE1E"/>
                          </a:solidFill>
                        </a:rPr>
                        <a:t>Spectrum Drive</a:t>
                      </a:r>
                    </a:p>
                  </a:txBody>
                  <a:tcPr>
                    <a:solidFill>
                      <a:srgbClr val="E2CFD1"/>
                    </a:solidFill>
                  </a:tcPr>
                </a:tc>
                <a:tc>
                  <a:txBody>
                    <a:bodyPr/>
                    <a:lstStyle/>
                    <a:p>
                      <a:r>
                        <a:rPr sz="1300" b="0">
                          <a:solidFill>
                            <a:srgbClr val="3DDE1E"/>
                          </a:solidFill>
                        </a:rPr>
                        <a:t>Interface</a:t>
                      </a:r>
                    </a:p>
                  </a:txBody>
                  <a:tcPr>
                    <a:solidFill>
                      <a:srgbClr val="F2EAEB"/>
                    </a:solidFill>
                  </a:tcPr>
                </a:tc>
                <a:extLst>
                  <a:ext uri="{0D108BD9-81ED-4DB2-BD59-A6C34878D82A}">
                    <a16:rowId xmlns:a16="http://schemas.microsoft.com/office/drawing/2014/main" val="10003"/>
                  </a:ext>
                </a:extLst>
              </a:tr>
              <a:tr h="133876">
                <a:tc>
                  <a:txBody>
                    <a:bodyPr/>
                    <a:lstStyle/>
                    <a:p>
                      <a:r>
                        <a:rPr sz="1300" b="0">
                          <a:solidFill>
                            <a:srgbClr val="3DDE1E"/>
                          </a:solidFill>
                        </a:rPr>
                        <a:t>Status Goal</a:t>
                      </a:r>
                    </a:p>
                  </a:txBody>
                  <a:tcPr>
                    <a:solidFill>
                      <a:srgbClr val="F2EAEB"/>
                    </a:solidFill>
                  </a:tcPr>
                </a:tc>
                <a:tc>
                  <a:txBody>
                    <a:bodyPr/>
                    <a:lstStyle/>
                    <a:p>
                      <a:r>
                        <a:rPr sz="1300" b="0">
                          <a:solidFill>
                            <a:srgbClr val="3DDE1E"/>
                          </a:solidFill>
                        </a:rPr>
                        <a:t>Dashboard Span</a:t>
                      </a:r>
                    </a:p>
                  </a:txBody>
                  <a:tcPr>
                    <a:solidFill>
                      <a:srgbClr val="E2CFD1"/>
                    </a:solidFill>
                  </a:tcPr>
                </a:tc>
                <a:tc>
                  <a:txBody>
                    <a:bodyPr/>
                    <a:lstStyle/>
                    <a:p>
                      <a:r>
                        <a:rPr sz="1300" b="0">
                          <a:solidFill>
                            <a:srgbClr val="3DDE1E"/>
                          </a:solidFill>
                        </a:rPr>
                        <a:t>Phase</a:t>
                      </a:r>
                    </a:p>
                  </a:txBody>
                  <a:tcPr>
                    <a:solidFill>
                      <a:srgbClr val="F2EAEB"/>
                    </a:solidFill>
                  </a:tcPr>
                </a:tc>
                <a:tc>
                  <a:txBody>
                    <a:bodyPr/>
                    <a:lstStyle/>
                    <a:p>
                      <a:r>
                        <a:rPr sz="1300" b="0">
                          <a:solidFill>
                            <a:srgbClr val="3DDE1E"/>
                          </a:solidFill>
                        </a:rPr>
                        <a:t>Range</a:t>
                      </a:r>
                    </a:p>
                  </a:txBody>
                  <a:tcPr>
                    <a:solidFill>
                      <a:srgbClr val="E2CFD1"/>
                    </a:solidFill>
                  </a:tcPr>
                </a:tc>
                <a:tc>
                  <a:txBody>
                    <a:bodyPr/>
                    <a:lstStyle/>
                    <a:p>
                      <a:r>
                        <a:rPr sz="1300" b="0">
                          <a:solidFill>
                            <a:srgbClr val="3DDE1E"/>
                          </a:solidFill>
                        </a:rPr>
                        <a:t>Template Stack</a:t>
                      </a:r>
                    </a:p>
                  </a:txBody>
                  <a:tcPr>
                    <a:solidFill>
                      <a:srgbClr val="F2EAEB"/>
                    </a:solidFill>
                  </a:tcPr>
                </a:tc>
                <a:extLst>
                  <a:ext uri="{0D108BD9-81ED-4DB2-BD59-A6C34878D82A}">
                    <a16:rowId xmlns:a16="http://schemas.microsoft.com/office/drawing/2014/main" val="10004"/>
                  </a:ext>
                </a:extLst>
              </a:tr>
              <a:tr h="133876">
                <a:tc>
                  <a:txBody>
                    <a:bodyPr/>
                    <a:lstStyle/>
                    <a:p>
                      <a:r>
                        <a:rPr sz="1300" b="0">
                          <a:solidFill>
                            <a:srgbClr val="3DDE1E"/>
                          </a:solidFill>
                        </a:rPr>
                        <a:t>Radius</a:t>
                      </a:r>
                    </a:p>
                  </a:txBody>
                  <a:tcPr>
                    <a:solidFill>
                      <a:srgbClr val="F2EAEB"/>
                    </a:solidFill>
                  </a:tcPr>
                </a:tc>
                <a:tc>
                  <a:txBody>
                    <a:bodyPr/>
                    <a:lstStyle/>
                    <a:p>
                      <a:r>
                        <a:rPr sz="1300" b="0">
                          <a:solidFill>
                            <a:srgbClr val="3DDE1E"/>
                          </a:solidFill>
                        </a:rPr>
                        <a:t>Limit</a:t>
                      </a:r>
                    </a:p>
                  </a:txBody>
                  <a:tcPr>
                    <a:solidFill>
                      <a:srgbClr val="E2CFD1"/>
                    </a:solidFill>
                  </a:tcPr>
                </a:tc>
                <a:tc>
                  <a:txBody>
                    <a:bodyPr/>
                    <a:lstStyle/>
                    <a:p>
                      <a:r>
                        <a:rPr sz="1300" b="0">
                          <a:solidFill>
                            <a:srgbClr val="3DDE1E"/>
                          </a:solidFill>
                        </a:rPr>
                        <a:t>Runtime Origin</a:t>
                      </a:r>
                    </a:p>
                  </a:txBody>
                  <a:tcPr>
                    <a:solidFill>
                      <a:srgbClr val="F2EAEB"/>
                    </a:solidFill>
                  </a:tcPr>
                </a:tc>
                <a:tc>
                  <a:txBody>
                    <a:bodyPr/>
                    <a:lstStyle/>
                    <a:p>
                      <a:r>
                        <a:rPr sz="1300" b="0">
                          <a:solidFill>
                            <a:srgbClr val="3DDE1E"/>
                          </a:solidFill>
                        </a:rPr>
                        <a:t>Template Timeline</a:t>
                      </a:r>
                    </a:p>
                  </a:txBody>
                  <a:tcPr>
                    <a:solidFill>
                      <a:srgbClr val="E2CFD1"/>
                    </a:solidFill>
                  </a:tcPr>
                </a:tc>
                <a:tc>
                  <a:txBody>
                    <a:bodyPr/>
                    <a:lstStyle/>
                    <a:p>
                      <a:r>
                        <a:rPr sz="1300" b="0">
                          <a:solidFill>
                            <a:srgbClr val="3DDE1E"/>
                          </a:solidFill>
                        </a:rPr>
                        <a:t>Slice Transform</a:t>
                      </a:r>
                    </a:p>
                  </a:txBody>
                  <a:tcPr>
                    <a:solidFill>
                      <a:srgbClr val="F2EAEB"/>
                    </a:solidFill>
                  </a:tcPr>
                </a:tc>
                <a:extLst>
                  <a:ext uri="{0D108BD9-81ED-4DB2-BD59-A6C34878D82A}">
                    <a16:rowId xmlns:a16="http://schemas.microsoft.com/office/drawing/2014/main" val="10005"/>
                  </a:ext>
                </a:extLst>
              </a:tr>
              <a:tr h="133882">
                <a:tc>
                  <a:txBody>
                    <a:bodyPr/>
                    <a:lstStyle/>
                    <a:p>
                      <a:r>
                        <a:rPr sz="1300" b="0">
                          <a:solidFill>
                            <a:srgbClr val="3DDE1E"/>
                          </a:solidFill>
                        </a:rPr>
                        <a:t>Device</a:t>
                      </a:r>
                    </a:p>
                  </a:txBody>
                  <a:tcPr>
                    <a:solidFill>
                      <a:srgbClr val="F2EAEB"/>
                    </a:solidFill>
                  </a:tcPr>
                </a:tc>
                <a:tc>
                  <a:txBody>
                    <a:bodyPr/>
                    <a:lstStyle/>
                    <a:p>
                      <a:r>
                        <a:rPr sz="1300" b="0">
                          <a:solidFill>
                            <a:srgbClr val="3DDE1E"/>
                          </a:solidFill>
                        </a:rPr>
                        <a:t>Record</a:t>
                      </a:r>
                    </a:p>
                  </a:txBody>
                  <a:tcPr>
                    <a:solidFill>
                      <a:srgbClr val="E2CFD1"/>
                    </a:solidFill>
                  </a:tcPr>
                </a:tc>
                <a:tc>
                  <a:txBody>
                    <a:bodyPr/>
                    <a:lstStyle/>
                    <a:p>
                      <a:r>
                        <a:rPr sz="1300" b="0">
                          <a:solidFill>
                            <a:srgbClr val="3DDE1E"/>
                          </a:solidFill>
                        </a:rPr>
                        <a:t>Ratio Pattern</a:t>
                      </a:r>
                    </a:p>
                  </a:txBody>
                  <a:tcPr>
                    <a:solidFill>
                      <a:srgbClr val="F2EAEB"/>
                    </a:solidFill>
                  </a:tcPr>
                </a:tc>
                <a:tc>
                  <a:txBody>
                    <a:bodyPr/>
                    <a:lstStyle/>
                    <a:p>
                      <a:r>
                        <a:rPr sz="1300" b="0">
                          <a:solidFill>
                            <a:srgbClr val="3DDE1E"/>
                          </a:solidFill>
                        </a:rPr>
                        <a:t>State</a:t>
                      </a:r>
                    </a:p>
                  </a:txBody>
                  <a:tcPr>
                    <a:solidFill>
                      <a:srgbClr val="E2CFD1"/>
                    </a:solidFill>
                  </a:tcPr>
                </a:tc>
                <a:tc>
                  <a:txBody>
                    <a:bodyPr/>
                    <a:lstStyle/>
                    <a:p>
                      <a:r>
                        <a:rPr sz="1300" b="0">
                          <a:solidFill>
                            <a:srgbClr val="3DDE1E"/>
                          </a:solidFill>
                        </a:rPr>
                        <a:t>Drive Topology</a:t>
                      </a:r>
                    </a:p>
                  </a:txBody>
                  <a:tcPr>
                    <a:solidFill>
                      <a:srgbClr val="F2EAEB"/>
                    </a:solidFill>
                  </a:tcPr>
                </a:tc>
                <a:extLst>
                  <a:ext uri="{0D108BD9-81ED-4DB2-BD59-A6C34878D82A}">
                    <a16:rowId xmlns:a16="http://schemas.microsoft.com/office/drawing/2014/main" val="10006"/>
                  </a:ext>
                </a:extLst>
              </a:tr>
            </a:tbl>
          </a:graphicData>
        </a:graphic>
      </p:graphicFrame>
      <p:sp>
        <p:nvSpPr>
          <p:cNvPr id="26" name="Predefined Process 25"/>
          <p:cNvSpPr/>
          <p:nvPr/>
        </p:nvSpPr>
        <p:spPr>
          <a:xfrm>
            <a:off x="6830718" y="5547900"/>
            <a:ext cx="1164972" cy="312119"/>
          </a:xfrm>
          <a:prstGeom prst="flowChartPredefinedProcess">
            <a:avLst/>
          </a:prstGeom>
          <a:noFill/>
          <a:ln w="30788">
            <a:solidFill>
              <a:srgbClr val="5B596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059214" y="301212"/>
            <a:ext cx="989713" cy="835770"/>
          </a:xfrm>
          <a:prstGeom prst="rect">
            <a:avLst/>
          </a:prstGeom>
          <a:noFill/>
        </p:spPr>
        <p:txBody>
          <a:bodyPr wrap="none" lIns="81957" tIns="81957" rIns="81957" bIns="81957">
            <a:spAutoFit/>
          </a:bodyPr>
          <a:lstStyle/>
          <a:p>
            <a:r>
              <a:rPr sz="1200" b="0" i="0" u="none">
                <a:solidFill>
                  <a:srgbClr val="6892D3"/>
                </a:solidFill>
                <a:latin typeface="Calibri"/>
              </a:rPr>
              <a:t>Library Drive</a:t>
            </a:r>
          </a:p>
        </p:txBody>
      </p:sp>
      <p:sp>
        <p:nvSpPr>
          <p:cNvPr id="28" name="TextBox 27"/>
          <p:cNvSpPr txBox="1"/>
          <p:nvPr/>
        </p:nvSpPr>
        <p:spPr>
          <a:xfrm>
            <a:off x="1377951" y="1310914"/>
            <a:ext cx="3539438" cy="1548790"/>
          </a:xfrm>
          <a:prstGeom prst="rect">
            <a:avLst/>
          </a:prstGeom>
          <a:noFill/>
        </p:spPr>
        <p:txBody>
          <a:bodyPr wrap="none" lIns="21390" tIns="21390" rIns="21390" bIns="21390">
            <a:spAutoFit/>
          </a:bodyPr>
          <a:lstStyle/>
          <a:p>
            <a:r>
              <a:rPr sz="2000" b="1" i="0" u="none">
                <a:solidFill>
                  <a:srgbClr val="35683C"/>
                </a:solidFill>
                <a:latin typeface="Georgia"/>
              </a:rPr>
              <a:t>Station Intent Needle Rhythm Echo Instance Dispatch Runtime Event</a:t>
            </a:r>
          </a:p>
        </p:txBody>
      </p:sp>
      <p:pic>
        <p:nvPicPr>
          <p:cNvPr id="30" name="Graphic 29">
            <a:extLst>
              <a:ext uri="{FF2B5EF4-FFF2-40B4-BE49-F238E27FC236}">
                <a16:creationId xmlns:a16="http://schemas.microsoft.com/office/drawing/2014/main" id="{941FEAAB-3E03-1295-F844-D7D4BDA0FFE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909204" y="5444339"/>
            <a:ext cx="1422702" cy="810023"/>
          </a:xfrm>
          <a:prstGeom prst="rect">
            <a:avLst/>
          </a:prstGeom>
        </p:spPr>
      </p:pic>
      <p:pic>
        <p:nvPicPr>
          <p:cNvPr id="32" name="Graphic 31">
            <a:extLst>
              <a:ext uri="{FF2B5EF4-FFF2-40B4-BE49-F238E27FC236}">
                <a16:creationId xmlns:a16="http://schemas.microsoft.com/office/drawing/2014/main" id="{A305420E-4E6C-2A6D-9F29-785A9A151D0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27618" y="222222"/>
            <a:ext cx="2341868" cy="9153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27937" y="4798623"/>
            <a:ext cx="2888649" cy="1627028"/>
          </a:xfrm>
          <a:prstGeom prst="rect">
            <a:avLst/>
          </a:prstGeom>
          <a:noFill/>
        </p:spPr>
        <p:txBody>
          <a:bodyPr wrap="none" lIns="44906" tIns="44906" rIns="44906" bIns="44906">
            <a:spAutoFit/>
          </a:bodyPr>
          <a:lstStyle/>
          <a:p>
            <a:r>
              <a:rPr sz="4700" b="1" i="0" u="none">
                <a:solidFill>
                  <a:srgbClr val="39C5B7"/>
                </a:solidFill>
                <a:latin typeface="Aptos"/>
              </a:rPr>
              <a:t>Impact Inventory Diagram</a:t>
            </a:r>
          </a:p>
        </p:txBody>
      </p:sp>
      <p:sp>
        <p:nvSpPr>
          <p:cNvPr id="3" name="Curved Down Ribbon 2"/>
          <p:cNvSpPr/>
          <p:nvPr/>
        </p:nvSpPr>
        <p:spPr>
          <a:xfrm>
            <a:off x="9501469" y="1202226"/>
            <a:ext cx="668372" cy="1334925"/>
          </a:xfrm>
          <a:prstGeom prst="ellipseRibbon">
            <a:avLst/>
          </a:prstGeom>
          <a:solidFill>
            <a:srgbClr val="831CD0"/>
          </a:solidFill>
          <a:ln w="30171">
            <a:solidFill>
              <a:srgbClr val="AD7441"/>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Left-Right Arrow 3"/>
          <p:cNvSpPr/>
          <p:nvPr/>
        </p:nvSpPr>
        <p:spPr>
          <a:xfrm>
            <a:off x="11108170" y="1728198"/>
            <a:ext cx="740385" cy="1861650"/>
          </a:xfrm>
          <a:prstGeom prst="leftRightArrow">
            <a:avLst/>
          </a:prstGeom>
          <a:solidFill>
            <a:srgbClr val="9C3864"/>
          </a:solidFill>
          <a:ln w="11513">
            <a:solidFill>
              <a:srgbClr val="B3467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Isosceles Triangle 4"/>
          <p:cNvSpPr/>
          <p:nvPr/>
        </p:nvSpPr>
        <p:spPr>
          <a:xfrm>
            <a:off x="5874952" y="3693589"/>
            <a:ext cx="2114599" cy="761003"/>
          </a:xfrm>
          <a:prstGeom prst="triangle">
            <a:avLst/>
          </a:prstGeom>
          <a:noFill/>
          <a:ln w="18049">
            <a:solidFill>
              <a:srgbClr val="1998A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526912" y="2830193"/>
          <a:ext cx="2399319" cy="1525955"/>
        </p:xfrm>
        <a:graphic>
          <a:graphicData uri="http://schemas.openxmlformats.org/drawingml/2006/chart">
            <c:chart xmlns:c="http://schemas.openxmlformats.org/drawingml/2006/chart" xmlns:r="http://schemas.openxmlformats.org/officeDocument/2006/relationships" r:id="rId2"/>
          </a:graphicData>
        </a:graphic>
      </p:graphicFrame>
      <p:sp>
        <p:nvSpPr>
          <p:cNvPr id="7" name="Freeform 6"/>
          <p:cNvSpPr/>
          <p:nvPr/>
        </p:nvSpPr>
        <p:spPr>
          <a:xfrm>
            <a:off x="2252355" y="228264"/>
            <a:ext cx="2239523" cy="660096"/>
          </a:xfrm>
          <a:custGeom>
            <a:avLst/>
            <a:gdLst/>
            <a:ahLst/>
            <a:cxnLst/>
            <a:rect l="l" t="t" r="r" b="b"/>
            <a:pathLst>
              <a:path w="2239523" h="660096">
                <a:moveTo>
                  <a:pt x="1119762" y="0"/>
                </a:moveTo>
                <a:lnTo>
                  <a:pt x="1399702" y="165024"/>
                </a:lnTo>
                <a:lnTo>
                  <a:pt x="2099553" y="118817"/>
                </a:lnTo>
                <a:lnTo>
                  <a:pt x="1702971" y="330048"/>
                </a:lnTo>
                <a:lnTo>
                  <a:pt x="2239523" y="514875"/>
                </a:lnTo>
                <a:lnTo>
                  <a:pt x="1399702" y="475269"/>
                </a:lnTo>
                <a:lnTo>
                  <a:pt x="1119762" y="660096"/>
                </a:lnTo>
                <a:lnTo>
                  <a:pt x="839821" y="475269"/>
                </a:lnTo>
                <a:lnTo>
                  <a:pt x="0" y="514875"/>
                </a:lnTo>
                <a:lnTo>
                  <a:pt x="536553" y="330048"/>
                </a:lnTo>
                <a:lnTo>
                  <a:pt x="139970" y="118817"/>
                </a:lnTo>
                <a:lnTo>
                  <a:pt x="839821" y="165024"/>
                </a:lnTo>
                <a:close/>
              </a:path>
            </a:pathLst>
          </a:custGeom>
          <a:solidFill>
            <a:srgbClr val="C5215C"/>
          </a:solidFill>
          <a:ln w="29420">
            <a:solidFill>
              <a:srgbClr val="7D32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flipV="1">
            <a:off x="4510182" y="756375"/>
            <a:ext cx="2488640" cy="768577"/>
          </a:xfrm>
          <a:prstGeom prst="bentConnector3">
            <a:avLst/>
          </a:prstGeom>
          <a:ln w="24479">
            <a:solidFill>
              <a:srgbClr val="49A274"/>
            </a:solidFill>
            <a:prstDash val="dashDot"/>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25757" y="4016556"/>
            <a:ext cx="1095907" cy="640861"/>
          </a:xfrm>
          <a:prstGeom prst="bentConnector3">
            <a:avLst/>
          </a:prstGeom>
          <a:ln w="9663">
            <a:solidFill>
              <a:srgbClr val="A54481"/>
            </a:solidFill>
            <a:prstDash val="dash"/>
          </a:ln>
        </p:spPr>
        <p:style>
          <a:lnRef idx="2">
            <a:schemeClr val="accent1"/>
          </a:lnRef>
          <a:fillRef idx="0">
            <a:schemeClr val="accent1"/>
          </a:fillRef>
          <a:effectRef idx="1">
            <a:schemeClr val="accent1"/>
          </a:effectRef>
          <a:fontRef idx="minor">
            <a:schemeClr val="tx1"/>
          </a:fontRef>
        </p:style>
      </p:cxnSp>
      <p:pic>
        <p:nvPicPr>
          <p:cNvPr id="10" name="Picture 9" descr="_example_image.jpg"/>
          <p:cNvPicPr>
            <a:picLocks noChangeAspect="1"/>
          </p:cNvPicPr>
          <p:nvPr/>
        </p:nvPicPr>
        <p:blipFill>
          <a:blip r:embed="rId3"/>
          <a:srcRect/>
          <a:stretch>
            <a:fillRect/>
          </a:stretch>
        </p:blipFill>
        <p:spPr>
          <a:xfrm>
            <a:off x="10446638" y="4056826"/>
            <a:ext cx="1245092" cy="1030741"/>
          </a:xfrm>
          <a:prstGeom prst="rect">
            <a:avLst/>
          </a:prstGeom>
        </p:spPr>
      </p:pic>
      <p:graphicFrame>
        <p:nvGraphicFramePr>
          <p:cNvPr id="11" name="Table 10"/>
          <p:cNvGraphicFramePr>
            <a:graphicFrameLocks noGrp="1"/>
          </p:cNvGraphicFramePr>
          <p:nvPr/>
        </p:nvGraphicFramePr>
        <p:xfrm>
          <a:off x="1020380" y="4860237"/>
          <a:ext cx="2077104" cy="1178649"/>
        </p:xfrm>
        <a:graphic>
          <a:graphicData uri="http://schemas.openxmlformats.org/drawingml/2006/table">
            <a:tbl>
              <a:tblPr firstRow="1" bandRow="1">
                <a:tableStyleId>{5C22544A-7EE6-4342-B048-85BDC9FD1C3A}</a:tableStyleId>
              </a:tblPr>
              <a:tblGrid>
                <a:gridCol w="692368">
                  <a:extLst>
                    <a:ext uri="{9D8B030D-6E8A-4147-A177-3AD203B41FA5}">
                      <a16:colId xmlns:a16="http://schemas.microsoft.com/office/drawing/2014/main" val="20000"/>
                    </a:ext>
                  </a:extLst>
                </a:gridCol>
                <a:gridCol w="692368">
                  <a:extLst>
                    <a:ext uri="{9D8B030D-6E8A-4147-A177-3AD203B41FA5}">
                      <a16:colId xmlns:a16="http://schemas.microsoft.com/office/drawing/2014/main" val="20001"/>
                    </a:ext>
                  </a:extLst>
                </a:gridCol>
                <a:gridCol w="692368">
                  <a:extLst>
                    <a:ext uri="{9D8B030D-6E8A-4147-A177-3AD203B41FA5}">
                      <a16:colId xmlns:a16="http://schemas.microsoft.com/office/drawing/2014/main" val="20002"/>
                    </a:ext>
                  </a:extLst>
                </a:gridCol>
              </a:tblGrid>
              <a:tr h="392883">
                <a:tc>
                  <a:txBody>
                    <a:bodyPr/>
                    <a:lstStyle/>
                    <a:p>
                      <a:r>
                        <a:rPr sz="1300" b="0">
                          <a:solidFill>
                            <a:srgbClr val="77AEA3"/>
                          </a:solidFill>
                        </a:rPr>
                        <a:t>Stream Goal</a:t>
                      </a:r>
                    </a:p>
                  </a:txBody>
                  <a:tcPr>
                    <a:solidFill>
                      <a:srgbClr val="E4F4DC"/>
                    </a:solidFill>
                  </a:tcPr>
                </a:tc>
                <a:tc>
                  <a:txBody>
                    <a:bodyPr/>
                    <a:lstStyle/>
                    <a:p>
                      <a:r>
                        <a:rPr sz="1300" b="0">
                          <a:solidFill>
                            <a:srgbClr val="77AEA3"/>
                          </a:solidFill>
                        </a:rPr>
                        <a:t>Feature</a:t>
                      </a:r>
                    </a:p>
                  </a:txBody>
                  <a:tcPr>
                    <a:solidFill>
                      <a:srgbClr val="E4F4DC"/>
                    </a:solidFill>
                  </a:tcPr>
                </a:tc>
                <a:tc>
                  <a:txBody>
                    <a:bodyPr/>
                    <a:lstStyle/>
                    <a:p>
                      <a:r>
                        <a:rPr sz="1300" b="0">
                          <a:solidFill>
                            <a:srgbClr val="77AEA3"/>
                          </a:solidFill>
                        </a:rPr>
                        <a:t>Mode</a:t>
                      </a:r>
                    </a:p>
                  </a:txBody>
                  <a:tcPr>
                    <a:solidFill>
                      <a:srgbClr val="E4F4DC"/>
                    </a:solidFill>
                  </a:tcPr>
                </a:tc>
                <a:extLst>
                  <a:ext uri="{0D108BD9-81ED-4DB2-BD59-A6C34878D82A}">
                    <a16:rowId xmlns:a16="http://schemas.microsoft.com/office/drawing/2014/main" val="10000"/>
                  </a:ext>
                </a:extLst>
              </a:tr>
              <a:tr h="392883">
                <a:tc>
                  <a:txBody>
                    <a:bodyPr/>
                    <a:lstStyle/>
                    <a:p>
                      <a:r>
                        <a:rPr sz="1300" b="0">
                          <a:solidFill>
                            <a:srgbClr val="77AEA3"/>
                          </a:solidFill>
                        </a:rPr>
                        <a:t>Input</a:t>
                      </a:r>
                    </a:p>
                  </a:txBody>
                  <a:tcPr>
                    <a:solidFill>
                      <a:srgbClr val="E4F4DC"/>
                    </a:solidFill>
                  </a:tcPr>
                </a:tc>
                <a:tc>
                  <a:txBody>
                    <a:bodyPr/>
                    <a:lstStyle/>
                    <a:p>
                      <a:r>
                        <a:rPr sz="1300" b="0">
                          <a:solidFill>
                            <a:srgbClr val="77AEA3"/>
                          </a:solidFill>
                        </a:rPr>
                        <a:t>Trend</a:t>
                      </a:r>
                    </a:p>
                  </a:txBody>
                  <a:tcPr>
                    <a:solidFill>
                      <a:srgbClr val="E4F4DC"/>
                    </a:solidFill>
                  </a:tcPr>
                </a:tc>
                <a:tc>
                  <a:txBody>
                    <a:bodyPr/>
                    <a:lstStyle/>
                    <a:p>
                      <a:r>
                        <a:rPr sz="1300" b="0">
                          <a:solidFill>
                            <a:srgbClr val="77AEA3"/>
                          </a:solidFill>
                        </a:rPr>
                        <a:t>Span Queueing</a:t>
                      </a:r>
                    </a:p>
                  </a:txBody>
                  <a:tcPr>
                    <a:solidFill>
                      <a:srgbClr val="E4F4DC"/>
                    </a:solidFill>
                  </a:tcPr>
                </a:tc>
                <a:extLst>
                  <a:ext uri="{0D108BD9-81ED-4DB2-BD59-A6C34878D82A}">
                    <a16:rowId xmlns:a16="http://schemas.microsoft.com/office/drawing/2014/main" val="10001"/>
                  </a:ext>
                </a:extLst>
              </a:tr>
              <a:tr h="392883">
                <a:tc>
                  <a:txBody>
                    <a:bodyPr/>
                    <a:lstStyle/>
                    <a:p>
                      <a:r>
                        <a:rPr sz="1300" b="0">
                          <a:solidFill>
                            <a:srgbClr val="77AEA3"/>
                          </a:solidFill>
                        </a:rPr>
                        <a:t>Position Mode</a:t>
                      </a:r>
                    </a:p>
                  </a:txBody>
                  <a:tcPr>
                    <a:solidFill>
                      <a:srgbClr val="E4F4DC"/>
                    </a:solidFill>
                  </a:tcPr>
                </a:tc>
                <a:tc>
                  <a:txBody>
                    <a:bodyPr/>
                    <a:lstStyle/>
                    <a:p>
                      <a:r>
                        <a:rPr sz="1300" b="0">
                          <a:solidFill>
                            <a:srgbClr val="77AEA3"/>
                          </a:solidFill>
                        </a:rPr>
                        <a:t>Trend</a:t>
                      </a:r>
                    </a:p>
                  </a:txBody>
                  <a:tcPr>
                    <a:solidFill>
                      <a:srgbClr val="E4F4DC"/>
                    </a:solidFill>
                  </a:tcPr>
                </a:tc>
                <a:tc>
                  <a:txBody>
                    <a:bodyPr/>
                    <a:lstStyle/>
                    <a:p>
                      <a:r>
                        <a:rPr sz="1300" b="0">
                          <a:solidFill>
                            <a:srgbClr val="77AEA3"/>
                          </a:solidFill>
                        </a:rPr>
                        <a:t>Dimension</a:t>
                      </a:r>
                    </a:p>
                  </a:txBody>
                  <a:tcPr>
                    <a:solidFill>
                      <a:srgbClr val="E4F4DC"/>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10259926" y="5379181"/>
            <a:ext cx="919757" cy="1152738"/>
          </a:xfrm>
          <a:prstGeom prst="rect">
            <a:avLst/>
          </a:prstGeom>
          <a:noFill/>
        </p:spPr>
        <p:txBody>
          <a:bodyPr wrap="none" lIns="61987" tIns="61987" rIns="61987" bIns="61987">
            <a:spAutoFit/>
          </a:bodyPr>
          <a:lstStyle/>
          <a:p>
            <a:r>
              <a:rPr sz="3200" b="1" i="0" u="none">
                <a:solidFill>
                  <a:srgbClr val="E47482"/>
                </a:solidFill>
                <a:latin typeface="Georgia"/>
              </a:rPr>
              <a:t>Payload Chart Profile</a:t>
            </a:r>
          </a:p>
        </p:txBody>
      </p:sp>
      <p:cxnSp>
        <p:nvCxnSpPr>
          <p:cNvPr id="13" name="Connector 12"/>
          <p:cNvCxnSpPr/>
          <p:nvPr/>
        </p:nvCxnSpPr>
        <p:spPr>
          <a:xfrm flipV="1">
            <a:off x="9179633" y="3012150"/>
            <a:ext cx="1783855" cy="728513"/>
          </a:xfrm>
          <a:prstGeom prst="bentConnector3">
            <a:avLst/>
          </a:prstGeom>
          <a:ln w="11706">
            <a:solidFill>
              <a:srgbClr val="A05128"/>
            </a:solidFill>
            <a:prstDash val="solid"/>
          </a:ln>
        </p:spPr>
        <p:style>
          <a:lnRef idx="2">
            <a:schemeClr val="accent1"/>
          </a:lnRef>
          <a:fillRef idx="0">
            <a:schemeClr val="accent1"/>
          </a:fillRef>
          <a:effectRef idx="1">
            <a:schemeClr val="accent1"/>
          </a:effectRef>
          <a:fontRef idx="minor">
            <a:schemeClr val="tx1"/>
          </a:fontRef>
        </p:style>
      </p:cxnSp>
      <p:sp>
        <p:nvSpPr>
          <p:cNvPr id="14" name="Striped Right Arrow 13"/>
          <p:cNvSpPr/>
          <p:nvPr/>
        </p:nvSpPr>
        <p:spPr>
          <a:xfrm>
            <a:off x="2497192" y="2755260"/>
            <a:ext cx="414042" cy="1426426"/>
          </a:xfrm>
          <a:prstGeom prst="stripedRightArrow">
            <a:avLst/>
          </a:prstGeom>
          <a:solidFill>
            <a:srgbClr val="1D4D57"/>
          </a:solidFill>
          <a:ln w="26058">
            <a:solidFill>
              <a:srgbClr val="29686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_example_image.jpg"/>
          <p:cNvPicPr>
            <a:picLocks noChangeAspect="1"/>
          </p:cNvPicPr>
          <p:nvPr/>
        </p:nvPicPr>
        <p:blipFill>
          <a:blip r:embed="rId3"/>
          <a:srcRect l="1386" t="10293" r="170" b="13500"/>
          <a:stretch>
            <a:fillRect/>
          </a:stretch>
        </p:blipFill>
        <p:spPr>
          <a:xfrm>
            <a:off x="3147123" y="3782771"/>
            <a:ext cx="1089742" cy="815881"/>
          </a:xfrm>
          <a:prstGeom prst="rect">
            <a:avLst/>
          </a:prstGeom>
        </p:spPr>
      </p:pic>
      <p:sp>
        <p:nvSpPr>
          <p:cNvPr id="16" name="Quad Arrow 15"/>
          <p:cNvSpPr/>
          <p:nvPr/>
        </p:nvSpPr>
        <p:spPr>
          <a:xfrm>
            <a:off x="2590062" y="1089807"/>
            <a:ext cx="652534" cy="523132"/>
          </a:xfrm>
          <a:prstGeom prst="quadArrow">
            <a:avLst/>
          </a:prstGeom>
          <a:noFill/>
          <a:ln w="31114">
            <a:solidFill>
              <a:srgbClr val="623CB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07607" y="2201665"/>
            <a:ext cx="788175" cy="2352716"/>
          </a:xfrm>
          <a:prstGeom prst="rect">
            <a:avLst/>
          </a:prstGeom>
          <a:noFill/>
        </p:spPr>
        <p:txBody>
          <a:bodyPr wrap="none" lIns="39792" tIns="39792" rIns="39792" bIns="39792">
            <a:spAutoFit/>
          </a:bodyPr>
          <a:lstStyle/>
          <a:p>
            <a:r>
              <a:rPr sz="1000" b="1" i="0" u="none">
                <a:solidFill>
                  <a:srgbClr val="49D185"/>
                </a:solidFill>
                <a:latin typeface="Verdana"/>
              </a:rPr>
              <a:t>Review Diagram Sync Cluster Orbit Link Epoch Interval Catalog Package Journey Array Profile Element Impact Inventory Duration Map Signal Structure Echo Agenda Phase Order Heading Index Service Canvas Matrix Lens Goal Narrative Drive Measure System Guide</a:t>
            </a:r>
          </a:p>
        </p:txBody>
      </p:sp>
      <p:sp>
        <p:nvSpPr>
          <p:cNvPr id="18" name="Circular Arrow 17"/>
          <p:cNvSpPr/>
          <p:nvPr/>
        </p:nvSpPr>
        <p:spPr>
          <a:xfrm>
            <a:off x="282214" y="474424"/>
            <a:ext cx="727930" cy="1990270"/>
          </a:xfrm>
          <a:prstGeom prst="circularArrow">
            <a:avLst/>
          </a:prstGeom>
          <a:solidFill>
            <a:srgbClr val="C02C50"/>
          </a:solidFill>
          <a:ln w="18477">
            <a:solidFill>
              <a:srgbClr val="20802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33467" y="1097407"/>
            <a:ext cx="1796115" cy="1418764"/>
          </a:xfrm>
          <a:prstGeom prst="rect">
            <a:avLst/>
          </a:prstGeom>
          <a:noFill/>
        </p:spPr>
        <p:txBody>
          <a:bodyPr wrap="none" lIns="26408" tIns="26408" rIns="26408" bIns="26408">
            <a:spAutoFit/>
          </a:bodyPr>
          <a:lstStyle/>
          <a:p>
            <a:r>
              <a:rPr sz="1100" b="1" i="0" u="none">
                <a:solidFill>
                  <a:srgbClr val="2372DD"/>
                </a:solidFill>
                <a:latin typeface="Arial"/>
              </a:rPr>
              <a:t>Brief Dimension Iteration Sync Output Strategy Node Status Ledger Region Function Portal</a:t>
            </a:r>
          </a:p>
        </p:txBody>
      </p:sp>
      <p:sp>
        <p:nvSpPr>
          <p:cNvPr id="20" name="Freeform 19"/>
          <p:cNvSpPr/>
          <p:nvPr/>
        </p:nvSpPr>
        <p:spPr>
          <a:xfrm>
            <a:off x="3080793" y="2034790"/>
            <a:ext cx="809027" cy="1766194"/>
          </a:xfrm>
          <a:custGeom>
            <a:avLst/>
            <a:gdLst/>
            <a:ahLst/>
            <a:cxnLst/>
            <a:rect l="l" t="t" r="r" b="b"/>
            <a:pathLst>
              <a:path w="809027" h="1766194">
                <a:moveTo>
                  <a:pt x="86992" y="300629"/>
                </a:moveTo>
                <a:lnTo>
                  <a:pt x="287074" y="0"/>
                </a:lnTo>
                <a:lnTo>
                  <a:pt x="591547" y="150315"/>
                </a:lnTo>
                <a:lnTo>
                  <a:pt x="809027" y="713993"/>
                </a:lnTo>
                <a:lnTo>
                  <a:pt x="695937" y="1465565"/>
                </a:lnTo>
                <a:lnTo>
                  <a:pt x="374066" y="1766194"/>
                </a:lnTo>
                <a:lnTo>
                  <a:pt x="52195" y="1277672"/>
                </a:lnTo>
                <a:lnTo>
                  <a:pt x="0" y="638836"/>
                </a:lnTo>
                <a:close/>
              </a:path>
            </a:pathLst>
          </a:custGeom>
          <a:solidFill>
            <a:srgbClr val="B93952"/>
          </a:solidFill>
          <a:ln w="26191">
            <a:solidFill>
              <a:srgbClr val="B45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26393" y="5088935"/>
            <a:ext cx="1020722" cy="733703"/>
          </a:xfrm>
          <a:prstGeom prst="rect">
            <a:avLst/>
          </a:prstGeom>
          <a:noFill/>
        </p:spPr>
        <p:txBody>
          <a:bodyPr wrap="none" lIns="54770" tIns="54770" rIns="54770" bIns="54770">
            <a:spAutoFit/>
          </a:bodyPr>
          <a:lstStyle/>
          <a:p>
            <a:r>
              <a:rPr sz="1800" b="0" i="0" u="none">
                <a:solidFill>
                  <a:srgbClr val="422A3E"/>
                </a:solidFill>
                <a:latin typeface="Aptos"/>
              </a:rPr>
              <a:t>Craft Insight Level Domain Summary Queueing Ledger Strategy Package Field Feature Agenda Column Path System Briefing Graph Library Pipeline Narrative Record Interval Data Atlas Scale Profile Analysis Interval Priority Template Focus Release Entity Column Sync Index Cluster Cell Sync Mesh Profile Column Datum</a:t>
            </a:r>
          </a:p>
        </p:txBody>
      </p:sp>
      <p:graphicFrame>
        <p:nvGraphicFramePr>
          <p:cNvPr id="22" name="Chart 21"/>
          <p:cNvGraphicFramePr>
            <a:graphicFrameLocks noGrp="1"/>
          </p:cNvGraphicFramePr>
          <p:nvPr/>
        </p:nvGraphicFramePr>
        <p:xfrm>
          <a:off x="878808" y="1198145"/>
          <a:ext cx="2199545" cy="140705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3" name="Table 22"/>
          <p:cNvGraphicFramePr>
            <a:graphicFrameLocks noGrp="1"/>
          </p:cNvGraphicFramePr>
          <p:nvPr/>
        </p:nvGraphicFramePr>
        <p:xfrm>
          <a:off x="5794331" y="2449787"/>
          <a:ext cx="2420083" cy="1139982"/>
        </p:xfrm>
        <a:graphic>
          <a:graphicData uri="http://schemas.openxmlformats.org/drawingml/2006/table">
            <a:tbl>
              <a:tblPr firstRow="1" bandRow="1">
                <a:tableStyleId>{5C22544A-7EE6-4342-B048-85BDC9FD1C3A}</a:tableStyleId>
              </a:tblPr>
              <a:tblGrid>
                <a:gridCol w="484016">
                  <a:extLst>
                    <a:ext uri="{9D8B030D-6E8A-4147-A177-3AD203B41FA5}">
                      <a16:colId xmlns:a16="http://schemas.microsoft.com/office/drawing/2014/main" val="20000"/>
                    </a:ext>
                  </a:extLst>
                </a:gridCol>
                <a:gridCol w="484016">
                  <a:extLst>
                    <a:ext uri="{9D8B030D-6E8A-4147-A177-3AD203B41FA5}">
                      <a16:colId xmlns:a16="http://schemas.microsoft.com/office/drawing/2014/main" val="20001"/>
                    </a:ext>
                  </a:extLst>
                </a:gridCol>
                <a:gridCol w="484016">
                  <a:extLst>
                    <a:ext uri="{9D8B030D-6E8A-4147-A177-3AD203B41FA5}">
                      <a16:colId xmlns:a16="http://schemas.microsoft.com/office/drawing/2014/main" val="20002"/>
                    </a:ext>
                  </a:extLst>
                </a:gridCol>
                <a:gridCol w="484016">
                  <a:extLst>
                    <a:ext uri="{9D8B030D-6E8A-4147-A177-3AD203B41FA5}">
                      <a16:colId xmlns:a16="http://schemas.microsoft.com/office/drawing/2014/main" val="20003"/>
                    </a:ext>
                  </a:extLst>
                </a:gridCol>
                <a:gridCol w="484019">
                  <a:extLst>
                    <a:ext uri="{9D8B030D-6E8A-4147-A177-3AD203B41FA5}">
                      <a16:colId xmlns:a16="http://schemas.microsoft.com/office/drawing/2014/main" val="20004"/>
                    </a:ext>
                  </a:extLst>
                </a:gridCol>
              </a:tblGrid>
              <a:tr h="162854">
                <a:tc>
                  <a:txBody>
                    <a:bodyPr/>
                    <a:lstStyle/>
                    <a:p>
                      <a:r>
                        <a:rPr sz="1100" b="1">
                          <a:solidFill>
                            <a:srgbClr val="327CDD"/>
                          </a:solidFill>
                        </a:rPr>
                        <a:t>Entity Diagram</a:t>
                      </a:r>
                    </a:p>
                  </a:txBody>
                  <a:tcPr>
                    <a:solidFill>
                      <a:srgbClr val="B58B7E"/>
                    </a:solidFill>
                  </a:tcPr>
                </a:tc>
                <a:tc>
                  <a:txBody>
                    <a:bodyPr/>
                    <a:lstStyle/>
                    <a:p>
                      <a:r>
                        <a:rPr sz="1100" b="1">
                          <a:solidFill>
                            <a:srgbClr val="327CDD"/>
                          </a:solidFill>
                        </a:rPr>
                        <a:t>Target Priority</a:t>
                      </a:r>
                    </a:p>
                  </a:txBody>
                  <a:tcPr>
                    <a:solidFill>
                      <a:srgbClr val="B58B7E"/>
                    </a:solidFill>
                  </a:tcPr>
                </a:tc>
                <a:tc>
                  <a:txBody>
                    <a:bodyPr/>
                    <a:lstStyle/>
                    <a:p>
                      <a:r>
                        <a:rPr sz="1100" b="1">
                          <a:solidFill>
                            <a:srgbClr val="327CDD"/>
                          </a:solidFill>
                        </a:rPr>
                        <a:t>Bundle Packet</a:t>
                      </a:r>
                    </a:p>
                  </a:txBody>
                  <a:tcPr>
                    <a:solidFill>
                      <a:srgbClr val="B58B7E"/>
                    </a:solidFill>
                  </a:tcPr>
                </a:tc>
                <a:tc>
                  <a:txBody>
                    <a:bodyPr/>
                    <a:lstStyle/>
                    <a:p>
                      <a:r>
                        <a:rPr sz="1100" b="1">
                          <a:solidFill>
                            <a:srgbClr val="327CDD"/>
                          </a:solidFill>
                        </a:rPr>
                        <a:t>Bridge Keyline</a:t>
                      </a:r>
                    </a:p>
                  </a:txBody>
                  <a:tcPr>
                    <a:solidFill>
                      <a:srgbClr val="B58B7E"/>
                    </a:solidFill>
                  </a:tcPr>
                </a:tc>
                <a:tc>
                  <a:txBody>
                    <a:bodyPr/>
                    <a:lstStyle/>
                    <a:p>
                      <a:r>
                        <a:rPr sz="1100" b="1">
                          <a:solidFill>
                            <a:srgbClr val="327CDD"/>
                          </a:solidFill>
                        </a:rPr>
                        <a:t>Request Dimension</a:t>
                      </a:r>
                    </a:p>
                  </a:txBody>
                  <a:tcPr>
                    <a:solidFill>
                      <a:srgbClr val="B58B7E"/>
                    </a:solidFill>
                  </a:tcPr>
                </a:tc>
                <a:extLst>
                  <a:ext uri="{0D108BD9-81ED-4DB2-BD59-A6C34878D82A}">
                    <a16:rowId xmlns:a16="http://schemas.microsoft.com/office/drawing/2014/main" val="10000"/>
                  </a:ext>
                </a:extLst>
              </a:tr>
              <a:tr h="162854">
                <a:tc>
                  <a:txBody>
                    <a:bodyPr/>
                    <a:lstStyle/>
                    <a:p>
                      <a:r>
                        <a:rPr sz="1100" b="0">
                          <a:solidFill>
                            <a:srgbClr val="327CDD"/>
                          </a:solidFill>
                        </a:rPr>
                        <a:t>Snapshot</a:t>
                      </a:r>
                    </a:p>
                  </a:txBody>
                  <a:tcPr>
                    <a:solidFill>
                      <a:srgbClr val="E4E3F8"/>
                    </a:solidFill>
                  </a:tcPr>
                </a:tc>
                <a:tc>
                  <a:txBody>
                    <a:bodyPr/>
                    <a:lstStyle/>
                    <a:p>
                      <a:r>
                        <a:rPr sz="1100" b="0">
                          <a:solidFill>
                            <a:srgbClr val="327CDD"/>
                          </a:solidFill>
                        </a:rPr>
                        <a:t>Relay</a:t>
                      </a:r>
                    </a:p>
                  </a:txBody>
                  <a:tcPr>
                    <a:solidFill>
                      <a:srgbClr val="E4E3F8"/>
                    </a:solidFill>
                  </a:tcPr>
                </a:tc>
                <a:tc>
                  <a:txBody>
                    <a:bodyPr/>
                    <a:lstStyle/>
                    <a:p>
                      <a:r>
                        <a:rPr sz="1100" b="0">
                          <a:solidFill>
                            <a:srgbClr val="327CDD"/>
                          </a:solidFill>
                        </a:rPr>
                        <a:t>Grid</a:t>
                      </a:r>
                    </a:p>
                  </a:txBody>
                  <a:tcPr>
                    <a:solidFill>
                      <a:srgbClr val="E4E3F8"/>
                    </a:solidFill>
                  </a:tcPr>
                </a:tc>
                <a:tc>
                  <a:txBody>
                    <a:bodyPr/>
                    <a:lstStyle/>
                    <a:p>
                      <a:r>
                        <a:rPr sz="1100" b="0">
                          <a:solidFill>
                            <a:srgbClr val="327CDD"/>
                          </a:solidFill>
                        </a:rPr>
                        <a:t>Compass Origin</a:t>
                      </a:r>
                    </a:p>
                  </a:txBody>
                  <a:tcPr>
                    <a:solidFill>
                      <a:srgbClr val="E4E3F8"/>
                    </a:solidFill>
                  </a:tcPr>
                </a:tc>
                <a:tc>
                  <a:txBody>
                    <a:bodyPr/>
                    <a:lstStyle/>
                    <a:p>
                      <a:r>
                        <a:rPr sz="1100" b="0">
                          <a:solidFill>
                            <a:srgbClr val="327CDD"/>
                          </a:solidFill>
                        </a:rPr>
                        <a:t>Measure Detail</a:t>
                      </a:r>
                    </a:p>
                  </a:txBody>
                  <a:tcPr>
                    <a:solidFill>
                      <a:srgbClr val="E4E3F8"/>
                    </a:solidFill>
                  </a:tcPr>
                </a:tc>
                <a:extLst>
                  <a:ext uri="{0D108BD9-81ED-4DB2-BD59-A6C34878D82A}">
                    <a16:rowId xmlns:a16="http://schemas.microsoft.com/office/drawing/2014/main" val="10001"/>
                  </a:ext>
                </a:extLst>
              </a:tr>
              <a:tr h="162854">
                <a:tc>
                  <a:txBody>
                    <a:bodyPr/>
                    <a:lstStyle/>
                    <a:p>
                      <a:r>
                        <a:rPr sz="1100" b="0">
                          <a:solidFill>
                            <a:srgbClr val="327CDD"/>
                          </a:solidFill>
                        </a:rPr>
                        <a:t>Result Service</a:t>
                      </a:r>
                    </a:p>
                  </a:txBody>
                  <a:tcPr>
                    <a:solidFill>
                      <a:srgbClr val="E4E3F8"/>
                    </a:solidFill>
                  </a:tcPr>
                </a:tc>
                <a:tc>
                  <a:txBody>
                    <a:bodyPr/>
                    <a:lstStyle/>
                    <a:p>
                      <a:r>
                        <a:rPr sz="1100" b="0">
                          <a:solidFill>
                            <a:srgbClr val="327CDD"/>
                          </a:solidFill>
                        </a:rPr>
                        <a:t>Cluster</a:t>
                      </a:r>
                    </a:p>
                  </a:txBody>
                  <a:tcPr>
                    <a:solidFill>
                      <a:srgbClr val="E4E3F8"/>
                    </a:solidFill>
                  </a:tcPr>
                </a:tc>
                <a:tc>
                  <a:txBody>
                    <a:bodyPr/>
                    <a:lstStyle/>
                    <a:p>
                      <a:r>
                        <a:rPr sz="1100" b="0">
                          <a:solidFill>
                            <a:srgbClr val="327CDD"/>
                          </a:solidFill>
                        </a:rPr>
                        <a:t>Intent</a:t>
                      </a:r>
                    </a:p>
                  </a:txBody>
                  <a:tcPr>
                    <a:solidFill>
                      <a:srgbClr val="E4E3F8"/>
                    </a:solidFill>
                  </a:tcPr>
                </a:tc>
                <a:tc>
                  <a:txBody>
                    <a:bodyPr/>
                    <a:lstStyle/>
                    <a:p>
                      <a:r>
                        <a:rPr sz="1100" b="0">
                          <a:solidFill>
                            <a:srgbClr val="327CDD"/>
                          </a:solidFill>
                        </a:rPr>
                        <a:t>Review Schema</a:t>
                      </a:r>
                    </a:p>
                  </a:txBody>
                  <a:tcPr>
                    <a:solidFill>
                      <a:srgbClr val="E4E3F8"/>
                    </a:solidFill>
                  </a:tcPr>
                </a:tc>
                <a:tc>
                  <a:txBody>
                    <a:bodyPr/>
                    <a:lstStyle/>
                    <a:p>
                      <a:r>
                        <a:rPr sz="1100" b="0">
                          <a:solidFill>
                            <a:srgbClr val="327CDD"/>
                          </a:solidFill>
                        </a:rPr>
                        <a:t>Brief</a:t>
                      </a:r>
                    </a:p>
                  </a:txBody>
                  <a:tcPr>
                    <a:solidFill>
                      <a:srgbClr val="E4E3F8"/>
                    </a:solidFill>
                  </a:tcPr>
                </a:tc>
                <a:extLst>
                  <a:ext uri="{0D108BD9-81ED-4DB2-BD59-A6C34878D82A}">
                    <a16:rowId xmlns:a16="http://schemas.microsoft.com/office/drawing/2014/main" val="10002"/>
                  </a:ext>
                </a:extLst>
              </a:tr>
              <a:tr h="162854">
                <a:tc>
                  <a:txBody>
                    <a:bodyPr/>
                    <a:lstStyle/>
                    <a:p>
                      <a:r>
                        <a:rPr sz="1100" b="0">
                          <a:solidFill>
                            <a:srgbClr val="327CDD"/>
                          </a:solidFill>
                        </a:rPr>
                        <a:t>Topology</a:t>
                      </a:r>
                    </a:p>
                  </a:txBody>
                  <a:tcPr>
                    <a:solidFill>
                      <a:srgbClr val="E4E3F8"/>
                    </a:solidFill>
                  </a:tcPr>
                </a:tc>
                <a:tc>
                  <a:txBody>
                    <a:bodyPr/>
                    <a:lstStyle/>
                    <a:p>
                      <a:r>
                        <a:rPr sz="1100" b="0">
                          <a:solidFill>
                            <a:srgbClr val="327CDD"/>
                          </a:solidFill>
                        </a:rPr>
                        <a:t>Vector Plan</a:t>
                      </a:r>
                    </a:p>
                  </a:txBody>
                  <a:tcPr>
                    <a:solidFill>
                      <a:srgbClr val="E4E3F8"/>
                    </a:solidFill>
                  </a:tcPr>
                </a:tc>
                <a:tc>
                  <a:txBody>
                    <a:bodyPr/>
                    <a:lstStyle/>
                    <a:p>
                      <a:r>
                        <a:rPr sz="1100" b="0">
                          <a:solidFill>
                            <a:srgbClr val="327CDD"/>
                          </a:solidFill>
                        </a:rPr>
                        <a:t>Explorer Summary</a:t>
                      </a:r>
                    </a:p>
                  </a:txBody>
                  <a:tcPr>
                    <a:solidFill>
                      <a:srgbClr val="E4E3F8"/>
                    </a:solidFill>
                  </a:tcPr>
                </a:tc>
                <a:tc>
                  <a:txBody>
                    <a:bodyPr/>
                    <a:lstStyle/>
                    <a:p>
                      <a:r>
                        <a:rPr sz="1100" b="0">
                          <a:solidFill>
                            <a:srgbClr val="327CDD"/>
                          </a:solidFill>
                        </a:rPr>
                        <a:t>Diagram Source</a:t>
                      </a:r>
                    </a:p>
                  </a:txBody>
                  <a:tcPr>
                    <a:solidFill>
                      <a:srgbClr val="E4E3F8"/>
                    </a:solidFill>
                  </a:tcPr>
                </a:tc>
                <a:tc>
                  <a:txBody>
                    <a:bodyPr/>
                    <a:lstStyle/>
                    <a:p>
                      <a:r>
                        <a:rPr sz="1100" b="0">
                          <a:solidFill>
                            <a:srgbClr val="327CDD"/>
                          </a:solidFill>
                        </a:rPr>
                        <a:t>Library</a:t>
                      </a:r>
                    </a:p>
                  </a:txBody>
                  <a:tcPr>
                    <a:solidFill>
                      <a:srgbClr val="E4E3F8"/>
                    </a:solidFill>
                  </a:tcPr>
                </a:tc>
                <a:extLst>
                  <a:ext uri="{0D108BD9-81ED-4DB2-BD59-A6C34878D82A}">
                    <a16:rowId xmlns:a16="http://schemas.microsoft.com/office/drawing/2014/main" val="10003"/>
                  </a:ext>
                </a:extLst>
              </a:tr>
              <a:tr h="162854">
                <a:tc>
                  <a:txBody>
                    <a:bodyPr/>
                    <a:lstStyle/>
                    <a:p>
                      <a:r>
                        <a:rPr sz="1100" b="0">
                          <a:solidFill>
                            <a:srgbClr val="327CDD"/>
                          </a:solidFill>
                        </a:rPr>
                        <a:t>Velocity</a:t>
                      </a:r>
                    </a:p>
                  </a:txBody>
                  <a:tcPr>
                    <a:solidFill>
                      <a:srgbClr val="E4E3F8"/>
                    </a:solidFill>
                  </a:tcPr>
                </a:tc>
                <a:tc>
                  <a:txBody>
                    <a:bodyPr/>
                    <a:lstStyle/>
                    <a:p>
                      <a:r>
                        <a:rPr sz="1100" b="0">
                          <a:solidFill>
                            <a:srgbClr val="327CDD"/>
                          </a:solidFill>
                        </a:rPr>
                        <a:t>Terminal Threshold</a:t>
                      </a:r>
                    </a:p>
                  </a:txBody>
                  <a:tcPr>
                    <a:solidFill>
                      <a:srgbClr val="E4E3F8"/>
                    </a:solidFill>
                  </a:tcPr>
                </a:tc>
                <a:tc>
                  <a:txBody>
                    <a:bodyPr/>
                    <a:lstStyle/>
                    <a:p>
                      <a:r>
                        <a:rPr sz="1100" b="0">
                          <a:solidFill>
                            <a:srgbClr val="327CDD"/>
                          </a:solidFill>
                        </a:rPr>
                        <a:t>Entity Drift</a:t>
                      </a:r>
                    </a:p>
                  </a:txBody>
                  <a:tcPr>
                    <a:solidFill>
                      <a:srgbClr val="E4E3F8"/>
                    </a:solidFill>
                  </a:tcPr>
                </a:tc>
                <a:tc>
                  <a:txBody>
                    <a:bodyPr/>
                    <a:lstStyle/>
                    <a:p>
                      <a:r>
                        <a:rPr sz="1100" b="0">
                          <a:solidFill>
                            <a:srgbClr val="327CDD"/>
                          </a:solidFill>
                        </a:rPr>
                        <a:t>Checkpoint</a:t>
                      </a:r>
                    </a:p>
                  </a:txBody>
                  <a:tcPr>
                    <a:solidFill>
                      <a:srgbClr val="E4E3F8"/>
                    </a:solidFill>
                  </a:tcPr>
                </a:tc>
                <a:tc>
                  <a:txBody>
                    <a:bodyPr/>
                    <a:lstStyle/>
                    <a:p>
                      <a:r>
                        <a:rPr sz="1100" b="0">
                          <a:solidFill>
                            <a:srgbClr val="327CDD"/>
                          </a:solidFill>
                        </a:rPr>
                        <a:t>Analysis</a:t>
                      </a:r>
                    </a:p>
                  </a:txBody>
                  <a:tcPr>
                    <a:solidFill>
                      <a:srgbClr val="E4E3F8"/>
                    </a:solidFill>
                  </a:tcPr>
                </a:tc>
                <a:extLst>
                  <a:ext uri="{0D108BD9-81ED-4DB2-BD59-A6C34878D82A}">
                    <a16:rowId xmlns:a16="http://schemas.microsoft.com/office/drawing/2014/main" val="10004"/>
                  </a:ext>
                </a:extLst>
              </a:tr>
              <a:tr h="162854">
                <a:tc>
                  <a:txBody>
                    <a:bodyPr/>
                    <a:lstStyle/>
                    <a:p>
                      <a:r>
                        <a:rPr sz="1100" b="0">
                          <a:solidFill>
                            <a:srgbClr val="327CDD"/>
                          </a:solidFill>
                        </a:rPr>
                        <a:t>Register</a:t>
                      </a:r>
                    </a:p>
                  </a:txBody>
                  <a:tcPr>
                    <a:solidFill>
                      <a:srgbClr val="E4E3F8"/>
                    </a:solidFill>
                  </a:tcPr>
                </a:tc>
                <a:tc>
                  <a:txBody>
                    <a:bodyPr/>
                    <a:lstStyle/>
                    <a:p>
                      <a:r>
                        <a:rPr sz="1100" b="0">
                          <a:solidFill>
                            <a:srgbClr val="327CDD"/>
                          </a:solidFill>
                        </a:rPr>
                        <a:t>Origin</a:t>
                      </a:r>
                    </a:p>
                  </a:txBody>
                  <a:tcPr>
                    <a:solidFill>
                      <a:srgbClr val="E4E3F8"/>
                    </a:solidFill>
                  </a:tcPr>
                </a:tc>
                <a:tc>
                  <a:txBody>
                    <a:bodyPr/>
                    <a:lstStyle/>
                    <a:p>
                      <a:r>
                        <a:rPr sz="1100" b="0">
                          <a:solidFill>
                            <a:srgbClr val="327CDD"/>
                          </a:solidFill>
                        </a:rPr>
                        <a:t>Impact Pipeline</a:t>
                      </a:r>
                    </a:p>
                  </a:txBody>
                  <a:tcPr>
                    <a:solidFill>
                      <a:srgbClr val="E4E3F8"/>
                    </a:solidFill>
                  </a:tcPr>
                </a:tc>
                <a:tc>
                  <a:txBody>
                    <a:bodyPr/>
                    <a:lstStyle/>
                    <a:p>
                      <a:r>
                        <a:rPr sz="1100" b="0">
                          <a:solidFill>
                            <a:srgbClr val="327CDD"/>
                          </a:solidFill>
                        </a:rPr>
                        <a:t>Scale Pixel</a:t>
                      </a:r>
                    </a:p>
                  </a:txBody>
                  <a:tcPr>
                    <a:solidFill>
                      <a:srgbClr val="E4E3F8"/>
                    </a:solidFill>
                  </a:tcPr>
                </a:tc>
                <a:tc>
                  <a:txBody>
                    <a:bodyPr/>
                    <a:lstStyle/>
                    <a:p>
                      <a:r>
                        <a:rPr sz="1100" b="0">
                          <a:solidFill>
                            <a:srgbClr val="327CDD"/>
                          </a:solidFill>
                        </a:rPr>
                        <a:t>Density</a:t>
                      </a:r>
                    </a:p>
                  </a:txBody>
                  <a:tcPr>
                    <a:solidFill>
                      <a:srgbClr val="E4E3F8"/>
                    </a:solidFill>
                  </a:tcPr>
                </a:tc>
                <a:extLst>
                  <a:ext uri="{0D108BD9-81ED-4DB2-BD59-A6C34878D82A}">
                    <a16:rowId xmlns:a16="http://schemas.microsoft.com/office/drawing/2014/main" val="10005"/>
                  </a:ext>
                </a:extLst>
              </a:tr>
              <a:tr h="162858">
                <a:tc>
                  <a:txBody>
                    <a:bodyPr/>
                    <a:lstStyle/>
                    <a:p>
                      <a:r>
                        <a:rPr sz="1100" b="0">
                          <a:solidFill>
                            <a:srgbClr val="327CDD"/>
                          </a:solidFill>
                        </a:rPr>
                        <a:t>Deployment Dispatch</a:t>
                      </a:r>
                    </a:p>
                  </a:txBody>
                  <a:tcPr>
                    <a:solidFill>
                      <a:srgbClr val="E4E3F8"/>
                    </a:solidFill>
                  </a:tcPr>
                </a:tc>
                <a:tc>
                  <a:txBody>
                    <a:bodyPr/>
                    <a:lstStyle/>
                    <a:p>
                      <a:r>
                        <a:rPr sz="1100" b="0">
                          <a:solidFill>
                            <a:srgbClr val="327CDD"/>
                          </a:solidFill>
                        </a:rPr>
                        <a:t>Drift Briefing</a:t>
                      </a:r>
                    </a:p>
                  </a:txBody>
                  <a:tcPr>
                    <a:solidFill>
                      <a:srgbClr val="E4E3F8"/>
                    </a:solidFill>
                  </a:tcPr>
                </a:tc>
                <a:tc>
                  <a:txBody>
                    <a:bodyPr/>
                    <a:lstStyle/>
                    <a:p>
                      <a:r>
                        <a:rPr sz="1100" b="0">
                          <a:solidFill>
                            <a:srgbClr val="327CDD"/>
                          </a:solidFill>
                        </a:rPr>
                        <a:t>Moment Horizon</a:t>
                      </a:r>
                    </a:p>
                  </a:txBody>
                  <a:tcPr>
                    <a:solidFill>
                      <a:srgbClr val="E4E3F8"/>
                    </a:solidFill>
                  </a:tcPr>
                </a:tc>
                <a:tc>
                  <a:txBody>
                    <a:bodyPr/>
                    <a:lstStyle/>
                    <a:p>
                      <a:r>
                        <a:rPr sz="1100" b="0">
                          <a:solidFill>
                            <a:srgbClr val="327CDD"/>
                          </a:solidFill>
                        </a:rPr>
                        <a:t>Source Map</a:t>
                      </a:r>
                    </a:p>
                  </a:txBody>
                  <a:tcPr>
                    <a:solidFill>
                      <a:srgbClr val="E4E3F8"/>
                    </a:solidFill>
                  </a:tcPr>
                </a:tc>
                <a:tc>
                  <a:txBody>
                    <a:bodyPr/>
                    <a:lstStyle/>
                    <a:p>
                      <a:r>
                        <a:rPr sz="1100" b="0">
                          <a:solidFill>
                            <a:srgbClr val="327CDD"/>
                          </a:solidFill>
                        </a:rPr>
                        <a:t>Audit Segment</a:t>
                      </a:r>
                    </a:p>
                  </a:txBody>
                  <a:tcPr>
                    <a:solidFill>
                      <a:srgbClr val="E4E3F8"/>
                    </a:solidFill>
                  </a:tcPr>
                </a:tc>
                <a:extLst>
                  <a:ext uri="{0D108BD9-81ED-4DB2-BD59-A6C34878D82A}">
                    <a16:rowId xmlns:a16="http://schemas.microsoft.com/office/drawing/2014/main" val="10006"/>
                  </a:ext>
                </a:extLst>
              </a:tr>
            </a:tbl>
          </a:graphicData>
        </a:graphic>
      </p:graphicFrame>
      <p:pic>
        <p:nvPicPr>
          <p:cNvPr id="24" name="Picture 23" descr="_example_image.jpg"/>
          <p:cNvPicPr>
            <a:picLocks noChangeAspect="1"/>
          </p:cNvPicPr>
          <p:nvPr/>
        </p:nvPicPr>
        <p:blipFill>
          <a:blip r:embed="rId3"/>
          <a:srcRect l="18584" t="16098" r="19715" b="18594"/>
          <a:stretch>
            <a:fillRect/>
          </a:stretch>
        </p:blipFill>
        <p:spPr>
          <a:xfrm>
            <a:off x="1207343" y="2371805"/>
            <a:ext cx="1029680" cy="807255"/>
          </a:xfrm>
          <a:prstGeom prst="rect">
            <a:avLst/>
          </a:prstGeom>
        </p:spPr>
      </p:pic>
      <p:sp>
        <p:nvSpPr>
          <p:cNvPr id="25" name="TextBox 24"/>
          <p:cNvSpPr txBox="1"/>
          <p:nvPr/>
        </p:nvSpPr>
        <p:spPr>
          <a:xfrm>
            <a:off x="8712433" y="3500963"/>
            <a:ext cx="415013" cy="2496835"/>
          </a:xfrm>
          <a:prstGeom prst="rect">
            <a:avLst/>
          </a:prstGeom>
          <a:noFill/>
        </p:spPr>
        <p:txBody>
          <a:bodyPr wrap="none" lIns="41107" tIns="41107" rIns="41107" bIns="41107">
            <a:spAutoFit/>
          </a:bodyPr>
          <a:lstStyle/>
          <a:p>
            <a:r>
              <a:rPr sz="1600" b="1" i="0" u="none">
                <a:solidFill>
                  <a:srgbClr val="80C7C6"/>
                </a:solidFill>
                <a:latin typeface="Arial"/>
              </a:rPr>
              <a:t>Interval Atlas State Feature Draft Anchor Window Grid Wave Option Ledger Canvas</a:t>
            </a:r>
          </a:p>
        </p:txBody>
      </p:sp>
      <p:sp>
        <p:nvSpPr>
          <p:cNvPr id="26" name="Cube 25"/>
          <p:cNvSpPr/>
          <p:nvPr/>
        </p:nvSpPr>
        <p:spPr>
          <a:xfrm>
            <a:off x="9842614" y="370849"/>
            <a:ext cx="1620606" cy="619073"/>
          </a:xfrm>
          <a:prstGeom prst="cube">
            <a:avLst/>
          </a:prstGeom>
          <a:solidFill>
            <a:srgbClr val="8ABF4C"/>
          </a:solidFill>
          <a:ln w="17045">
            <a:solidFill>
              <a:srgbClr val="46CB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78034F97-D245-1C20-B91E-425F49BAA18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634915" y="4283568"/>
            <a:ext cx="996037" cy="1960141"/>
          </a:xfrm>
          <a:prstGeom prst="rect">
            <a:avLst/>
          </a:prstGeom>
        </p:spPr>
      </p:pic>
      <p:pic>
        <p:nvPicPr>
          <p:cNvPr id="30" name="Graphic 29">
            <a:extLst>
              <a:ext uri="{FF2B5EF4-FFF2-40B4-BE49-F238E27FC236}">
                <a16:creationId xmlns:a16="http://schemas.microsoft.com/office/drawing/2014/main" id="{C75B0620-1E7F-D6A7-BA68-7ECD8754789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548761" y="3840589"/>
            <a:ext cx="1221858" cy="15168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us 1"/>
          <p:cNvSpPr/>
          <p:nvPr/>
        </p:nvSpPr>
        <p:spPr>
          <a:xfrm>
            <a:off x="1175608" y="1866226"/>
            <a:ext cx="1540197" cy="1175354"/>
          </a:xfrm>
          <a:prstGeom prst="mathPlus">
            <a:avLst/>
          </a:prstGeom>
          <a:solidFill>
            <a:srgbClr val="C2CF85"/>
          </a:solidFill>
          <a:ln w="11532">
            <a:solidFill>
              <a:srgbClr val="56C5D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1983433" y="2685784"/>
            <a:ext cx="2002475" cy="565584"/>
          </a:xfrm>
          <a:custGeom>
            <a:avLst/>
            <a:gdLst/>
            <a:ahLst/>
            <a:cxnLst/>
            <a:rect l="l" t="t" r="r" b="b"/>
            <a:pathLst>
              <a:path w="2002475" h="565584">
                <a:moveTo>
                  <a:pt x="215319" y="96269"/>
                </a:moveTo>
                <a:lnTo>
                  <a:pt x="710555" y="0"/>
                </a:lnTo>
                <a:lnTo>
                  <a:pt x="1464175" y="48134"/>
                </a:lnTo>
                <a:lnTo>
                  <a:pt x="2002475" y="228640"/>
                </a:lnTo>
                <a:lnTo>
                  <a:pt x="1722559" y="469314"/>
                </a:lnTo>
                <a:lnTo>
                  <a:pt x="925875" y="565584"/>
                </a:lnTo>
                <a:lnTo>
                  <a:pt x="129191" y="409146"/>
                </a:lnTo>
                <a:lnTo>
                  <a:pt x="0" y="204573"/>
                </a:lnTo>
                <a:close/>
              </a:path>
            </a:pathLst>
          </a:custGeom>
          <a:solidFill>
            <a:srgbClr val="44BE53"/>
          </a:solidFill>
          <a:ln w="27174">
            <a:solidFill>
              <a:srgbClr val="21B1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70351" y="5334425"/>
            <a:ext cx="516507" cy="939315"/>
          </a:xfrm>
          <a:prstGeom prst="rect">
            <a:avLst/>
          </a:prstGeom>
          <a:noFill/>
        </p:spPr>
        <p:txBody>
          <a:bodyPr wrap="none" lIns="49573" tIns="49573" rIns="49573" bIns="49573">
            <a:spAutoFit/>
          </a:bodyPr>
          <a:lstStyle/>
          <a:p>
            <a:r>
              <a:rPr sz="5400" b="1" i="1" u="none">
                <a:solidFill>
                  <a:srgbClr val="813176"/>
                </a:solidFill>
                <a:latin typeface="Trebuchet MS"/>
              </a:rPr>
              <a:t>Gateway Design</a:t>
            </a:r>
          </a:p>
        </p:txBody>
      </p:sp>
      <p:pic>
        <p:nvPicPr>
          <p:cNvPr id="5" name="Picture 4" descr="_example_image.jpg"/>
          <p:cNvPicPr>
            <a:picLocks noChangeAspect="1"/>
          </p:cNvPicPr>
          <p:nvPr/>
        </p:nvPicPr>
        <p:blipFill>
          <a:blip r:embed="rId2"/>
          <a:srcRect/>
          <a:stretch>
            <a:fillRect/>
          </a:stretch>
        </p:blipFill>
        <p:spPr>
          <a:xfrm>
            <a:off x="7785289" y="3257793"/>
            <a:ext cx="1481838" cy="1110657"/>
          </a:xfrm>
          <a:prstGeom prst="rect">
            <a:avLst/>
          </a:prstGeom>
        </p:spPr>
      </p:pic>
      <p:sp>
        <p:nvSpPr>
          <p:cNvPr id="6" name="TextBox 5"/>
          <p:cNvSpPr txBox="1"/>
          <p:nvPr/>
        </p:nvSpPr>
        <p:spPr>
          <a:xfrm>
            <a:off x="4064944" y="545409"/>
            <a:ext cx="2307107" cy="2432988"/>
          </a:xfrm>
          <a:prstGeom prst="rect">
            <a:avLst/>
          </a:prstGeom>
          <a:noFill/>
        </p:spPr>
        <p:txBody>
          <a:bodyPr wrap="none" lIns="87085" tIns="87085" rIns="87085" bIns="87085">
            <a:spAutoFit/>
          </a:bodyPr>
          <a:lstStyle/>
          <a:p>
            <a:r>
              <a:rPr sz="900" b="1" i="0" u="none">
                <a:solidFill>
                  <a:srgbClr val="E6AF8C"/>
                </a:solidFill>
                <a:latin typeface="Georgia"/>
              </a:rPr>
              <a:t>Horizon Vertex Transform Memory Direction Friction Access Dispatch Duration Design Field Echo Network Echo Access Cell Cell Schema Alignment Signal Column Datum Core View Canvas Data Rhythm Range Origin Interface Method Transform Agenda Needle Order Blueprint Template Memory Collection Adaptive Precision</a:t>
            </a:r>
          </a:p>
        </p:txBody>
      </p:sp>
      <p:sp>
        <p:nvSpPr>
          <p:cNvPr id="7" name="TextBox 6"/>
          <p:cNvSpPr txBox="1"/>
          <p:nvPr/>
        </p:nvSpPr>
        <p:spPr>
          <a:xfrm>
            <a:off x="9309368" y="1006402"/>
            <a:ext cx="2338645" cy="1759880"/>
          </a:xfrm>
          <a:prstGeom prst="rect">
            <a:avLst/>
          </a:prstGeom>
          <a:noFill/>
        </p:spPr>
        <p:txBody>
          <a:bodyPr wrap="none" lIns="86020" tIns="86020" rIns="86020" bIns="86020">
            <a:spAutoFit/>
          </a:bodyPr>
          <a:lstStyle/>
          <a:p>
            <a:r>
              <a:rPr sz="1700" b="0" i="0" u="none">
                <a:solidFill>
                  <a:srgbClr val="AC4236"/>
                </a:solidFill>
                <a:latin typeface="Calibri"/>
              </a:rPr>
              <a:t>Brief Function Briefing Motion Pulse Element Connector Draft Velocity Catalog Vertex Frame Forecast Motion Region Packet Lens Intent Drift Group Order Sequence Dashboard Guide Cluster Grid Order Core Link Mode Canvas Design Blueprint Bridge Motion Orbit Queue Datum Canvas Output Hub Workflow Heading Dispatch</a:t>
            </a:r>
          </a:p>
        </p:txBody>
      </p:sp>
      <p:sp>
        <p:nvSpPr>
          <p:cNvPr id="8" name="Freeform 7"/>
          <p:cNvSpPr/>
          <p:nvPr/>
        </p:nvSpPr>
        <p:spPr>
          <a:xfrm>
            <a:off x="502530" y="5503163"/>
            <a:ext cx="689771" cy="722847"/>
          </a:xfrm>
          <a:custGeom>
            <a:avLst/>
            <a:gdLst/>
            <a:ahLst/>
            <a:cxnLst/>
            <a:rect l="l" t="t" r="r" b="b"/>
            <a:pathLst>
              <a:path w="689771" h="722847">
                <a:moveTo>
                  <a:pt x="0" y="160633"/>
                </a:moveTo>
                <a:lnTo>
                  <a:pt x="148338" y="0"/>
                </a:lnTo>
                <a:lnTo>
                  <a:pt x="296676" y="216854"/>
                </a:lnTo>
                <a:lnTo>
                  <a:pt x="445013" y="24095"/>
                </a:lnTo>
                <a:lnTo>
                  <a:pt x="689771" y="562215"/>
                </a:lnTo>
                <a:lnTo>
                  <a:pt x="519182" y="722847"/>
                </a:lnTo>
                <a:lnTo>
                  <a:pt x="356011" y="481898"/>
                </a:lnTo>
                <a:lnTo>
                  <a:pt x="170589" y="698752"/>
                </a:lnTo>
                <a:close/>
              </a:path>
            </a:pathLst>
          </a:custGeom>
          <a:solidFill>
            <a:srgbClr val="BB787A"/>
          </a:solidFill>
          <a:ln w="29058">
            <a:solidFill>
              <a:srgbClr val="303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05474" y="2555979"/>
            <a:ext cx="718864" cy="1299926"/>
          </a:xfrm>
          <a:prstGeom prst="rect">
            <a:avLst/>
          </a:prstGeom>
          <a:noFill/>
        </p:spPr>
        <p:txBody>
          <a:bodyPr wrap="none" lIns="66116" tIns="66116" rIns="66116" bIns="66116">
            <a:spAutoFit/>
          </a:bodyPr>
          <a:lstStyle/>
          <a:p>
            <a:r>
              <a:rPr sz="1200" b="1" i="0" u="none">
                <a:solidFill>
                  <a:srgbClr val="5A8D7D"/>
                </a:solidFill>
                <a:latin typeface="Trebuchet MS"/>
              </a:rPr>
              <a:t>Option Origin Library Panel Diagram Structure Memory Signal Draft Datum Input Coverage Index Token Analysis Scale Moment Resource Goal Terminal Action Volume Queueing Factor Expansion Story Threshold Variant Sequence Balance Atlas Needle Pulse Process Orbit Panel Design Format Depth</a:t>
            </a:r>
          </a:p>
        </p:txBody>
      </p:sp>
      <p:sp>
        <p:nvSpPr>
          <p:cNvPr id="10" name="Rounded Rectangular Callout 9"/>
          <p:cNvSpPr/>
          <p:nvPr/>
        </p:nvSpPr>
        <p:spPr>
          <a:xfrm>
            <a:off x="1831215" y="3870560"/>
            <a:ext cx="1273885" cy="793912"/>
          </a:xfrm>
          <a:prstGeom prst="wedgeRoundRectCallout">
            <a:avLst/>
          </a:prstGeom>
          <a:solidFill>
            <a:srgbClr val="B73BA9"/>
          </a:solidFill>
          <a:ln w="25855">
            <a:solidFill>
              <a:srgbClr val="2B47A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843918" y="3443391"/>
            <a:ext cx="739134" cy="628758"/>
          </a:xfrm>
          <a:prstGeom prst="bentConnector3">
            <a:avLst/>
          </a:prstGeom>
          <a:ln w="7439">
            <a:solidFill>
              <a:srgbClr val="471EC5"/>
            </a:solidFill>
            <a:prstDash val="solid"/>
          </a:ln>
        </p:spPr>
        <p:style>
          <a:lnRef idx="2">
            <a:schemeClr val="accent1"/>
          </a:lnRef>
          <a:fillRef idx="0">
            <a:schemeClr val="accent1"/>
          </a:fillRef>
          <a:effectRef idx="1">
            <a:schemeClr val="accent1"/>
          </a:effectRef>
          <a:fontRef idx="minor">
            <a:schemeClr val="tx1"/>
          </a:fontRef>
        </p:style>
      </p:cxnSp>
      <p:sp>
        <p:nvSpPr>
          <p:cNvPr id="12" name="Curved Right Arrow 11"/>
          <p:cNvSpPr/>
          <p:nvPr/>
        </p:nvSpPr>
        <p:spPr>
          <a:xfrm>
            <a:off x="9151028" y="3705986"/>
            <a:ext cx="867399" cy="331751"/>
          </a:xfrm>
          <a:prstGeom prst="curvedRightArrow">
            <a:avLst/>
          </a:prstGeom>
          <a:solidFill>
            <a:srgbClr val="747133"/>
          </a:solidFill>
          <a:ln w="19040">
            <a:solidFill>
              <a:srgbClr val="47404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68048" y="5647052"/>
            <a:ext cx="1745083" cy="437593"/>
          </a:xfrm>
          <a:prstGeom prst="rect">
            <a:avLst/>
          </a:prstGeom>
          <a:noFill/>
        </p:spPr>
        <p:txBody>
          <a:bodyPr wrap="none" lIns="41356" tIns="41356" rIns="41356" bIns="41356">
            <a:spAutoFit/>
          </a:bodyPr>
          <a:lstStyle/>
          <a:p>
            <a:r>
              <a:rPr sz="2100" b="0" i="0" u="none">
                <a:solidFill>
                  <a:srgbClr val="5121BD"/>
                </a:solidFill>
                <a:latin typeface="Calibri"/>
              </a:rPr>
              <a:t>Cadence Core Instance Narrative Clarity Waypoint Record Balance Sequence Access Compass Structure Array</a:t>
            </a:r>
          </a:p>
        </p:txBody>
      </p:sp>
      <p:graphicFrame>
        <p:nvGraphicFramePr>
          <p:cNvPr id="14" name="Chart 13"/>
          <p:cNvGraphicFramePr>
            <a:graphicFrameLocks noGrp="1"/>
          </p:cNvGraphicFramePr>
          <p:nvPr/>
        </p:nvGraphicFramePr>
        <p:xfrm>
          <a:off x="6811906" y="4213711"/>
          <a:ext cx="2076267" cy="1391536"/>
        </p:xfrm>
        <a:graphic>
          <a:graphicData uri="http://schemas.openxmlformats.org/drawingml/2006/chart">
            <c:chart xmlns:c="http://schemas.openxmlformats.org/drawingml/2006/chart" xmlns:r="http://schemas.openxmlformats.org/officeDocument/2006/relationships" r:id="rId3"/>
          </a:graphicData>
        </a:graphic>
      </p:graphicFrame>
      <p:sp>
        <p:nvSpPr>
          <p:cNvPr id="15" name="Curved Right Arrow 14"/>
          <p:cNvSpPr/>
          <p:nvPr/>
        </p:nvSpPr>
        <p:spPr>
          <a:xfrm>
            <a:off x="5545650" y="4236027"/>
            <a:ext cx="2087682" cy="357602"/>
          </a:xfrm>
          <a:prstGeom prst="curvedRightArrow">
            <a:avLst/>
          </a:prstGeom>
          <a:solidFill>
            <a:srgbClr val="4D3F20"/>
          </a:solidFill>
          <a:ln w="22299">
            <a:solidFill>
              <a:srgbClr val="AD2C60"/>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_example_image.jpg"/>
          <p:cNvPicPr>
            <a:picLocks noChangeAspect="1"/>
          </p:cNvPicPr>
          <p:nvPr/>
        </p:nvPicPr>
        <p:blipFill>
          <a:blip r:embed="rId2"/>
          <a:srcRect l="6440" t="10489" r="2841" b="12006"/>
          <a:stretch>
            <a:fillRect/>
          </a:stretch>
        </p:blipFill>
        <p:spPr>
          <a:xfrm>
            <a:off x="5854012" y="3225073"/>
            <a:ext cx="1063148" cy="887545"/>
          </a:xfrm>
          <a:prstGeom prst="rect">
            <a:avLst/>
          </a:prstGeom>
        </p:spPr>
      </p:pic>
      <p:cxnSp>
        <p:nvCxnSpPr>
          <p:cNvPr id="17" name="Connector 16"/>
          <p:cNvCxnSpPr/>
          <p:nvPr/>
        </p:nvCxnSpPr>
        <p:spPr>
          <a:xfrm flipV="1">
            <a:off x="10649846" y="3193106"/>
            <a:ext cx="1051538" cy="1003119"/>
          </a:xfrm>
          <a:prstGeom prst="line">
            <a:avLst/>
          </a:prstGeom>
          <a:ln w="29153">
            <a:solidFill>
              <a:srgbClr val="D5D2CC"/>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18" name="Table 17"/>
          <p:cNvGraphicFramePr>
            <a:graphicFrameLocks noGrp="1"/>
          </p:cNvGraphicFramePr>
          <p:nvPr/>
        </p:nvGraphicFramePr>
        <p:xfrm>
          <a:off x="9949245" y="4286863"/>
          <a:ext cx="2061653" cy="1585931"/>
        </p:xfrm>
        <a:graphic>
          <a:graphicData uri="http://schemas.openxmlformats.org/drawingml/2006/table">
            <a:tbl>
              <a:tblPr firstRow="1" bandRow="1">
                <a:tableStyleId>{5C22544A-7EE6-4342-B048-85BDC9FD1C3A}</a:tableStyleId>
              </a:tblPr>
              <a:tblGrid>
                <a:gridCol w="343608">
                  <a:extLst>
                    <a:ext uri="{9D8B030D-6E8A-4147-A177-3AD203B41FA5}">
                      <a16:colId xmlns:a16="http://schemas.microsoft.com/office/drawing/2014/main" val="20000"/>
                    </a:ext>
                  </a:extLst>
                </a:gridCol>
                <a:gridCol w="343608">
                  <a:extLst>
                    <a:ext uri="{9D8B030D-6E8A-4147-A177-3AD203B41FA5}">
                      <a16:colId xmlns:a16="http://schemas.microsoft.com/office/drawing/2014/main" val="20001"/>
                    </a:ext>
                  </a:extLst>
                </a:gridCol>
                <a:gridCol w="343608">
                  <a:extLst>
                    <a:ext uri="{9D8B030D-6E8A-4147-A177-3AD203B41FA5}">
                      <a16:colId xmlns:a16="http://schemas.microsoft.com/office/drawing/2014/main" val="20002"/>
                    </a:ext>
                  </a:extLst>
                </a:gridCol>
                <a:gridCol w="343608">
                  <a:extLst>
                    <a:ext uri="{9D8B030D-6E8A-4147-A177-3AD203B41FA5}">
                      <a16:colId xmlns:a16="http://schemas.microsoft.com/office/drawing/2014/main" val="20003"/>
                    </a:ext>
                  </a:extLst>
                </a:gridCol>
                <a:gridCol w="343608">
                  <a:extLst>
                    <a:ext uri="{9D8B030D-6E8A-4147-A177-3AD203B41FA5}">
                      <a16:colId xmlns:a16="http://schemas.microsoft.com/office/drawing/2014/main" val="20004"/>
                    </a:ext>
                  </a:extLst>
                </a:gridCol>
                <a:gridCol w="343613">
                  <a:extLst>
                    <a:ext uri="{9D8B030D-6E8A-4147-A177-3AD203B41FA5}">
                      <a16:colId xmlns:a16="http://schemas.microsoft.com/office/drawing/2014/main" val="20005"/>
                    </a:ext>
                  </a:extLst>
                </a:gridCol>
              </a:tblGrid>
              <a:tr h="226561">
                <a:tc>
                  <a:txBody>
                    <a:bodyPr/>
                    <a:lstStyle/>
                    <a:p>
                      <a:r>
                        <a:rPr sz="1200" b="0">
                          <a:solidFill>
                            <a:srgbClr val="BBB889"/>
                          </a:solidFill>
                        </a:rPr>
                        <a:t>Node</a:t>
                      </a:r>
                    </a:p>
                  </a:txBody>
                  <a:tcPr>
                    <a:solidFill>
                      <a:srgbClr val="EBF3F6"/>
                    </a:solidFill>
                  </a:tcPr>
                </a:tc>
                <a:tc>
                  <a:txBody>
                    <a:bodyPr/>
                    <a:lstStyle/>
                    <a:p>
                      <a:r>
                        <a:rPr sz="1200" b="0">
                          <a:solidFill>
                            <a:srgbClr val="BBB889"/>
                          </a:solidFill>
                        </a:rPr>
                        <a:t>Baseline Connector</a:t>
                      </a:r>
                    </a:p>
                  </a:txBody>
                  <a:tcPr>
                    <a:solidFill>
                      <a:srgbClr val="EBF3F6"/>
                    </a:solidFill>
                  </a:tcPr>
                </a:tc>
                <a:tc>
                  <a:txBody>
                    <a:bodyPr/>
                    <a:lstStyle/>
                    <a:p>
                      <a:r>
                        <a:rPr sz="1200" b="0">
                          <a:solidFill>
                            <a:srgbClr val="BBB889"/>
                          </a:solidFill>
                        </a:rPr>
                        <a:t>Lens Rhythm</a:t>
                      </a:r>
                    </a:p>
                  </a:txBody>
                  <a:tcPr>
                    <a:solidFill>
                      <a:srgbClr val="EBF3F6"/>
                    </a:solidFill>
                  </a:tcPr>
                </a:tc>
                <a:tc>
                  <a:txBody>
                    <a:bodyPr/>
                    <a:lstStyle/>
                    <a:p>
                      <a:r>
                        <a:rPr sz="1200" b="0">
                          <a:solidFill>
                            <a:srgbClr val="BBB889"/>
                          </a:solidFill>
                        </a:rPr>
                        <a:t>Switch Frame</a:t>
                      </a:r>
                    </a:p>
                  </a:txBody>
                  <a:tcPr>
                    <a:solidFill>
                      <a:srgbClr val="EBF3F6"/>
                    </a:solidFill>
                  </a:tcPr>
                </a:tc>
                <a:tc>
                  <a:txBody>
                    <a:bodyPr/>
                    <a:lstStyle/>
                    <a:p>
                      <a:r>
                        <a:rPr sz="1200" b="0">
                          <a:solidFill>
                            <a:srgbClr val="BBB889"/>
                          </a:solidFill>
                        </a:rPr>
                        <a:t>Adaptive Cadence</a:t>
                      </a:r>
                    </a:p>
                  </a:txBody>
                  <a:tcPr>
                    <a:solidFill>
                      <a:srgbClr val="EBF3F6"/>
                    </a:solidFill>
                  </a:tcPr>
                </a:tc>
                <a:tc>
                  <a:txBody>
                    <a:bodyPr/>
                    <a:lstStyle/>
                    <a:p>
                      <a:r>
                        <a:rPr sz="1200" b="0">
                          <a:solidFill>
                            <a:srgbClr val="BBB889"/>
                          </a:solidFill>
                        </a:rPr>
                        <a:t>Source Measure</a:t>
                      </a:r>
                    </a:p>
                  </a:txBody>
                  <a:tcPr>
                    <a:solidFill>
                      <a:srgbClr val="EBF3F6"/>
                    </a:solidFill>
                  </a:tcPr>
                </a:tc>
                <a:extLst>
                  <a:ext uri="{0D108BD9-81ED-4DB2-BD59-A6C34878D82A}">
                    <a16:rowId xmlns:a16="http://schemas.microsoft.com/office/drawing/2014/main" val="10000"/>
                  </a:ext>
                </a:extLst>
              </a:tr>
              <a:tr h="226561">
                <a:tc>
                  <a:txBody>
                    <a:bodyPr/>
                    <a:lstStyle/>
                    <a:p>
                      <a:r>
                        <a:rPr sz="1200" b="0">
                          <a:solidFill>
                            <a:srgbClr val="BBB889"/>
                          </a:solidFill>
                        </a:rPr>
                        <a:t>Depth</a:t>
                      </a:r>
                    </a:p>
                  </a:txBody>
                  <a:tcPr>
                    <a:solidFill>
                      <a:srgbClr val="DAE8EF"/>
                    </a:solidFill>
                  </a:tcPr>
                </a:tc>
                <a:tc>
                  <a:txBody>
                    <a:bodyPr/>
                    <a:lstStyle/>
                    <a:p>
                      <a:r>
                        <a:rPr sz="1200" b="0">
                          <a:solidFill>
                            <a:srgbClr val="BBB889"/>
                          </a:solidFill>
                        </a:rPr>
                        <a:t>Module</a:t>
                      </a:r>
                    </a:p>
                  </a:txBody>
                  <a:tcPr>
                    <a:solidFill>
                      <a:srgbClr val="DAE8EF"/>
                    </a:solidFill>
                  </a:tcPr>
                </a:tc>
                <a:tc>
                  <a:txBody>
                    <a:bodyPr/>
                    <a:lstStyle/>
                    <a:p>
                      <a:r>
                        <a:rPr sz="1200" b="0">
                          <a:solidFill>
                            <a:srgbClr val="BBB889"/>
                          </a:solidFill>
                        </a:rPr>
                        <a:t>Proof Waypoint</a:t>
                      </a:r>
                    </a:p>
                  </a:txBody>
                  <a:tcPr>
                    <a:solidFill>
                      <a:srgbClr val="DAE8EF"/>
                    </a:solidFill>
                  </a:tcPr>
                </a:tc>
                <a:tc>
                  <a:txBody>
                    <a:bodyPr/>
                    <a:lstStyle/>
                    <a:p>
                      <a:r>
                        <a:rPr sz="1200" b="0">
                          <a:solidFill>
                            <a:srgbClr val="BBB889"/>
                          </a:solidFill>
                        </a:rPr>
                        <a:t>View</a:t>
                      </a:r>
                    </a:p>
                  </a:txBody>
                  <a:tcPr>
                    <a:solidFill>
                      <a:srgbClr val="DAE8EF"/>
                    </a:solidFill>
                  </a:tcPr>
                </a:tc>
                <a:tc>
                  <a:txBody>
                    <a:bodyPr/>
                    <a:lstStyle/>
                    <a:p>
                      <a:r>
                        <a:rPr sz="1200" b="0">
                          <a:solidFill>
                            <a:srgbClr val="BBB889"/>
                          </a:solidFill>
                        </a:rPr>
                        <a:t>Kernel Lens</a:t>
                      </a:r>
                    </a:p>
                  </a:txBody>
                  <a:tcPr>
                    <a:solidFill>
                      <a:srgbClr val="DAE8EF"/>
                    </a:solidFill>
                  </a:tcPr>
                </a:tc>
                <a:tc>
                  <a:txBody>
                    <a:bodyPr/>
                    <a:lstStyle/>
                    <a:p>
                      <a:r>
                        <a:rPr sz="1200" b="0">
                          <a:solidFill>
                            <a:srgbClr val="BBB889"/>
                          </a:solidFill>
                        </a:rPr>
                        <a:t>Stack</a:t>
                      </a:r>
                    </a:p>
                  </a:txBody>
                  <a:tcPr>
                    <a:solidFill>
                      <a:srgbClr val="DAE8EF"/>
                    </a:solidFill>
                  </a:tcPr>
                </a:tc>
                <a:extLst>
                  <a:ext uri="{0D108BD9-81ED-4DB2-BD59-A6C34878D82A}">
                    <a16:rowId xmlns:a16="http://schemas.microsoft.com/office/drawing/2014/main" val="10001"/>
                  </a:ext>
                </a:extLst>
              </a:tr>
              <a:tr h="226561">
                <a:tc>
                  <a:txBody>
                    <a:bodyPr/>
                    <a:lstStyle/>
                    <a:p>
                      <a:r>
                        <a:rPr sz="1200" b="0">
                          <a:solidFill>
                            <a:srgbClr val="BBB889"/>
                          </a:solidFill>
                        </a:rPr>
                        <a:t>Ratio Graph</a:t>
                      </a:r>
                    </a:p>
                  </a:txBody>
                  <a:tcPr>
                    <a:solidFill>
                      <a:srgbClr val="EBF3F6"/>
                    </a:solidFill>
                  </a:tcPr>
                </a:tc>
                <a:tc>
                  <a:txBody>
                    <a:bodyPr/>
                    <a:lstStyle/>
                    <a:p>
                      <a:r>
                        <a:rPr sz="1200" b="0">
                          <a:solidFill>
                            <a:srgbClr val="BBB889"/>
                          </a:solidFill>
                        </a:rPr>
                        <a:t>Trace</a:t>
                      </a:r>
                    </a:p>
                  </a:txBody>
                  <a:tcPr>
                    <a:solidFill>
                      <a:srgbClr val="EBF3F6"/>
                    </a:solidFill>
                  </a:tcPr>
                </a:tc>
                <a:tc>
                  <a:txBody>
                    <a:bodyPr/>
                    <a:lstStyle/>
                    <a:p>
                      <a:r>
                        <a:rPr sz="1200" b="0">
                          <a:solidFill>
                            <a:srgbClr val="BBB889"/>
                          </a:solidFill>
                        </a:rPr>
                        <a:t>Anchor</a:t>
                      </a:r>
                    </a:p>
                  </a:txBody>
                  <a:tcPr>
                    <a:solidFill>
                      <a:srgbClr val="EBF3F6"/>
                    </a:solidFill>
                  </a:tcPr>
                </a:tc>
                <a:tc>
                  <a:txBody>
                    <a:bodyPr/>
                    <a:lstStyle/>
                    <a:p>
                      <a:r>
                        <a:rPr sz="1200" b="0">
                          <a:solidFill>
                            <a:srgbClr val="BBB889"/>
                          </a:solidFill>
                        </a:rPr>
                        <a:t>Insight Alignment</a:t>
                      </a:r>
                    </a:p>
                  </a:txBody>
                  <a:tcPr>
                    <a:solidFill>
                      <a:srgbClr val="EBF3F6"/>
                    </a:solidFill>
                  </a:tcPr>
                </a:tc>
                <a:tc>
                  <a:txBody>
                    <a:bodyPr/>
                    <a:lstStyle/>
                    <a:p>
                      <a:r>
                        <a:rPr sz="1200" b="0">
                          <a:solidFill>
                            <a:srgbClr val="BBB889"/>
                          </a:solidFill>
                        </a:rPr>
                        <a:t>Portal</a:t>
                      </a:r>
                    </a:p>
                  </a:txBody>
                  <a:tcPr>
                    <a:solidFill>
                      <a:srgbClr val="EBF3F6"/>
                    </a:solidFill>
                  </a:tcPr>
                </a:tc>
                <a:tc>
                  <a:txBody>
                    <a:bodyPr/>
                    <a:lstStyle/>
                    <a:p>
                      <a:r>
                        <a:rPr sz="1200" b="0">
                          <a:solidFill>
                            <a:srgbClr val="BBB889"/>
                          </a:solidFill>
                        </a:rPr>
                        <a:t>Signal Lens</a:t>
                      </a:r>
                    </a:p>
                  </a:txBody>
                  <a:tcPr>
                    <a:solidFill>
                      <a:srgbClr val="EBF3F6"/>
                    </a:solidFill>
                  </a:tcPr>
                </a:tc>
                <a:extLst>
                  <a:ext uri="{0D108BD9-81ED-4DB2-BD59-A6C34878D82A}">
                    <a16:rowId xmlns:a16="http://schemas.microsoft.com/office/drawing/2014/main" val="10002"/>
                  </a:ext>
                </a:extLst>
              </a:tr>
              <a:tr h="226561">
                <a:tc>
                  <a:txBody>
                    <a:bodyPr/>
                    <a:lstStyle/>
                    <a:p>
                      <a:r>
                        <a:rPr sz="1200" b="0">
                          <a:solidFill>
                            <a:srgbClr val="BBB889"/>
                          </a:solidFill>
                        </a:rPr>
                        <a:t>Wave</a:t>
                      </a:r>
                    </a:p>
                  </a:txBody>
                  <a:tcPr>
                    <a:solidFill>
                      <a:srgbClr val="DAE8EF"/>
                    </a:solidFill>
                  </a:tcPr>
                </a:tc>
                <a:tc>
                  <a:txBody>
                    <a:bodyPr/>
                    <a:lstStyle/>
                    <a:p>
                      <a:r>
                        <a:rPr sz="1200" b="0">
                          <a:solidFill>
                            <a:srgbClr val="BBB889"/>
                          </a:solidFill>
                        </a:rPr>
                        <a:t>Channel</a:t>
                      </a:r>
                    </a:p>
                  </a:txBody>
                  <a:tcPr>
                    <a:solidFill>
                      <a:srgbClr val="DAE8EF"/>
                    </a:solidFill>
                  </a:tcPr>
                </a:tc>
                <a:tc>
                  <a:txBody>
                    <a:bodyPr/>
                    <a:lstStyle/>
                    <a:p>
                      <a:r>
                        <a:rPr sz="1200" b="0">
                          <a:solidFill>
                            <a:srgbClr val="BBB889"/>
                          </a:solidFill>
                        </a:rPr>
                        <a:t>Echo Echo</a:t>
                      </a:r>
                    </a:p>
                  </a:txBody>
                  <a:tcPr>
                    <a:solidFill>
                      <a:srgbClr val="DAE8EF"/>
                    </a:solidFill>
                  </a:tcPr>
                </a:tc>
                <a:tc>
                  <a:txBody>
                    <a:bodyPr/>
                    <a:lstStyle/>
                    <a:p>
                      <a:r>
                        <a:rPr sz="1200" b="0">
                          <a:solidFill>
                            <a:srgbClr val="BBB889"/>
                          </a:solidFill>
                        </a:rPr>
                        <a:t>Zone</a:t>
                      </a:r>
                    </a:p>
                  </a:txBody>
                  <a:tcPr>
                    <a:solidFill>
                      <a:srgbClr val="DAE8EF"/>
                    </a:solidFill>
                  </a:tcPr>
                </a:tc>
                <a:tc>
                  <a:txBody>
                    <a:bodyPr/>
                    <a:lstStyle/>
                    <a:p>
                      <a:r>
                        <a:rPr sz="1200" b="0">
                          <a:solidFill>
                            <a:srgbClr val="BBB889"/>
                          </a:solidFill>
                        </a:rPr>
                        <a:t>Device Format</a:t>
                      </a:r>
                    </a:p>
                  </a:txBody>
                  <a:tcPr>
                    <a:solidFill>
                      <a:srgbClr val="DAE8EF"/>
                    </a:solidFill>
                  </a:tcPr>
                </a:tc>
                <a:tc>
                  <a:txBody>
                    <a:bodyPr/>
                    <a:lstStyle/>
                    <a:p>
                      <a:r>
                        <a:rPr sz="1200" b="0">
                          <a:solidFill>
                            <a:srgbClr val="BBB889"/>
                          </a:solidFill>
                        </a:rPr>
                        <a:t>Narrative</a:t>
                      </a:r>
                    </a:p>
                  </a:txBody>
                  <a:tcPr>
                    <a:solidFill>
                      <a:srgbClr val="DAE8EF"/>
                    </a:solidFill>
                  </a:tcPr>
                </a:tc>
                <a:extLst>
                  <a:ext uri="{0D108BD9-81ED-4DB2-BD59-A6C34878D82A}">
                    <a16:rowId xmlns:a16="http://schemas.microsoft.com/office/drawing/2014/main" val="10003"/>
                  </a:ext>
                </a:extLst>
              </a:tr>
              <a:tr h="226561">
                <a:tc>
                  <a:txBody>
                    <a:bodyPr/>
                    <a:lstStyle/>
                    <a:p>
                      <a:r>
                        <a:rPr sz="1200" b="0">
                          <a:solidFill>
                            <a:srgbClr val="BBB889"/>
                          </a:solidFill>
                        </a:rPr>
                        <a:t>Delta Source</a:t>
                      </a:r>
                    </a:p>
                  </a:txBody>
                  <a:tcPr>
                    <a:solidFill>
                      <a:srgbClr val="EBF3F6"/>
                    </a:solidFill>
                  </a:tcPr>
                </a:tc>
                <a:tc>
                  <a:txBody>
                    <a:bodyPr/>
                    <a:lstStyle/>
                    <a:p>
                      <a:r>
                        <a:rPr sz="1200" b="0">
                          <a:solidFill>
                            <a:srgbClr val="BBB889"/>
                          </a:solidFill>
                        </a:rPr>
                        <a:t>Pulse</a:t>
                      </a:r>
                    </a:p>
                  </a:txBody>
                  <a:tcPr>
                    <a:solidFill>
                      <a:srgbClr val="EBF3F6"/>
                    </a:solidFill>
                  </a:tcPr>
                </a:tc>
                <a:tc>
                  <a:txBody>
                    <a:bodyPr/>
                    <a:lstStyle/>
                    <a:p>
                      <a:r>
                        <a:rPr sz="1200" b="0">
                          <a:solidFill>
                            <a:srgbClr val="BBB889"/>
                          </a:solidFill>
                        </a:rPr>
                        <a:t>Build Chart</a:t>
                      </a:r>
                    </a:p>
                  </a:txBody>
                  <a:tcPr>
                    <a:solidFill>
                      <a:srgbClr val="EBF3F6"/>
                    </a:solidFill>
                  </a:tcPr>
                </a:tc>
                <a:tc>
                  <a:txBody>
                    <a:bodyPr/>
                    <a:lstStyle/>
                    <a:p>
                      <a:r>
                        <a:rPr sz="1200" b="0">
                          <a:solidFill>
                            <a:srgbClr val="BBB889"/>
                          </a:solidFill>
                        </a:rPr>
                        <a:t>Story Frequency</a:t>
                      </a:r>
                    </a:p>
                  </a:txBody>
                  <a:tcPr>
                    <a:solidFill>
                      <a:srgbClr val="EBF3F6"/>
                    </a:solidFill>
                  </a:tcPr>
                </a:tc>
                <a:tc>
                  <a:txBody>
                    <a:bodyPr/>
                    <a:lstStyle/>
                    <a:p>
                      <a:r>
                        <a:rPr sz="1200" b="0">
                          <a:solidFill>
                            <a:srgbClr val="BBB889"/>
                          </a:solidFill>
                        </a:rPr>
                        <a:t>Goal North</a:t>
                      </a:r>
                    </a:p>
                  </a:txBody>
                  <a:tcPr>
                    <a:solidFill>
                      <a:srgbClr val="EBF3F6"/>
                    </a:solidFill>
                  </a:tcPr>
                </a:tc>
                <a:tc>
                  <a:txBody>
                    <a:bodyPr/>
                    <a:lstStyle/>
                    <a:p>
                      <a:r>
                        <a:rPr sz="1200" b="0">
                          <a:solidFill>
                            <a:srgbClr val="BBB889"/>
                          </a:solidFill>
                        </a:rPr>
                        <a:t>Viewport</a:t>
                      </a:r>
                    </a:p>
                  </a:txBody>
                  <a:tcPr>
                    <a:solidFill>
                      <a:srgbClr val="EBF3F6"/>
                    </a:solidFill>
                  </a:tcPr>
                </a:tc>
                <a:extLst>
                  <a:ext uri="{0D108BD9-81ED-4DB2-BD59-A6C34878D82A}">
                    <a16:rowId xmlns:a16="http://schemas.microsoft.com/office/drawing/2014/main" val="10004"/>
                  </a:ext>
                </a:extLst>
              </a:tr>
              <a:tr h="226561">
                <a:tc>
                  <a:txBody>
                    <a:bodyPr/>
                    <a:lstStyle/>
                    <a:p>
                      <a:r>
                        <a:rPr sz="1200" b="0">
                          <a:solidFill>
                            <a:srgbClr val="BBB889"/>
                          </a:solidFill>
                        </a:rPr>
                        <a:t>Drift</a:t>
                      </a:r>
                    </a:p>
                  </a:txBody>
                  <a:tcPr>
                    <a:solidFill>
                      <a:srgbClr val="DAE8EF"/>
                    </a:solidFill>
                  </a:tcPr>
                </a:tc>
                <a:tc>
                  <a:txBody>
                    <a:bodyPr/>
                    <a:lstStyle/>
                    <a:p>
                      <a:r>
                        <a:rPr sz="1200" b="0">
                          <a:solidFill>
                            <a:srgbClr val="BBB889"/>
                          </a:solidFill>
                        </a:rPr>
                        <a:t>Stage</a:t>
                      </a:r>
                    </a:p>
                  </a:txBody>
                  <a:tcPr>
                    <a:solidFill>
                      <a:srgbClr val="DAE8EF"/>
                    </a:solidFill>
                  </a:tcPr>
                </a:tc>
                <a:tc>
                  <a:txBody>
                    <a:bodyPr/>
                    <a:lstStyle/>
                    <a:p>
                      <a:r>
                        <a:rPr sz="1200" b="0">
                          <a:solidFill>
                            <a:srgbClr val="BBB889"/>
                          </a:solidFill>
                        </a:rPr>
                        <a:t>Version Deck</a:t>
                      </a:r>
                    </a:p>
                  </a:txBody>
                  <a:tcPr>
                    <a:solidFill>
                      <a:srgbClr val="DAE8EF"/>
                    </a:solidFill>
                  </a:tcPr>
                </a:tc>
                <a:tc>
                  <a:txBody>
                    <a:bodyPr/>
                    <a:lstStyle/>
                    <a:p>
                      <a:r>
                        <a:rPr sz="1200" b="0">
                          <a:solidFill>
                            <a:srgbClr val="BBB889"/>
                          </a:solidFill>
                        </a:rPr>
                        <a:t>Link Volume</a:t>
                      </a:r>
                    </a:p>
                  </a:txBody>
                  <a:tcPr>
                    <a:solidFill>
                      <a:srgbClr val="DAE8EF"/>
                    </a:solidFill>
                  </a:tcPr>
                </a:tc>
                <a:tc>
                  <a:txBody>
                    <a:bodyPr/>
                    <a:lstStyle/>
                    <a:p>
                      <a:r>
                        <a:rPr sz="1200" b="0">
                          <a:solidFill>
                            <a:srgbClr val="BBB889"/>
                          </a:solidFill>
                        </a:rPr>
                        <a:t>Schema</a:t>
                      </a:r>
                    </a:p>
                  </a:txBody>
                  <a:tcPr>
                    <a:solidFill>
                      <a:srgbClr val="DAE8EF"/>
                    </a:solidFill>
                  </a:tcPr>
                </a:tc>
                <a:tc>
                  <a:txBody>
                    <a:bodyPr/>
                    <a:lstStyle/>
                    <a:p>
                      <a:r>
                        <a:rPr sz="1200" b="0">
                          <a:solidFill>
                            <a:srgbClr val="BBB889"/>
                          </a:solidFill>
                        </a:rPr>
                        <a:t>Catalog</a:t>
                      </a:r>
                    </a:p>
                  </a:txBody>
                  <a:tcPr>
                    <a:solidFill>
                      <a:srgbClr val="DAE8EF"/>
                    </a:solidFill>
                  </a:tcPr>
                </a:tc>
                <a:extLst>
                  <a:ext uri="{0D108BD9-81ED-4DB2-BD59-A6C34878D82A}">
                    <a16:rowId xmlns:a16="http://schemas.microsoft.com/office/drawing/2014/main" val="10005"/>
                  </a:ext>
                </a:extLst>
              </a:tr>
              <a:tr h="226565">
                <a:tc>
                  <a:txBody>
                    <a:bodyPr/>
                    <a:lstStyle/>
                    <a:p>
                      <a:r>
                        <a:rPr sz="1200" b="0">
                          <a:solidFill>
                            <a:srgbClr val="BBB889"/>
                          </a:solidFill>
                        </a:rPr>
                        <a:t>View Depth</a:t>
                      </a:r>
                    </a:p>
                  </a:txBody>
                  <a:tcPr>
                    <a:solidFill>
                      <a:srgbClr val="EBF3F6"/>
                    </a:solidFill>
                  </a:tcPr>
                </a:tc>
                <a:tc>
                  <a:txBody>
                    <a:bodyPr/>
                    <a:lstStyle/>
                    <a:p>
                      <a:r>
                        <a:rPr sz="1200" b="0">
                          <a:solidFill>
                            <a:srgbClr val="BBB889"/>
                          </a:solidFill>
                        </a:rPr>
                        <a:t>Gradient</a:t>
                      </a:r>
                    </a:p>
                  </a:txBody>
                  <a:tcPr>
                    <a:solidFill>
                      <a:srgbClr val="EBF3F6"/>
                    </a:solidFill>
                  </a:tcPr>
                </a:tc>
                <a:tc>
                  <a:txBody>
                    <a:bodyPr/>
                    <a:lstStyle/>
                    <a:p>
                      <a:r>
                        <a:rPr sz="1200" b="0">
                          <a:solidFill>
                            <a:srgbClr val="BBB889"/>
                          </a:solidFill>
                        </a:rPr>
                        <a:t>Journey</a:t>
                      </a:r>
                    </a:p>
                  </a:txBody>
                  <a:tcPr>
                    <a:solidFill>
                      <a:srgbClr val="EBF3F6"/>
                    </a:solidFill>
                  </a:tcPr>
                </a:tc>
                <a:tc>
                  <a:txBody>
                    <a:bodyPr/>
                    <a:lstStyle/>
                    <a:p>
                      <a:r>
                        <a:rPr sz="1200" b="0">
                          <a:solidFill>
                            <a:srgbClr val="BBB889"/>
                          </a:solidFill>
                        </a:rPr>
                        <a:t>Analysis</a:t>
                      </a:r>
                    </a:p>
                  </a:txBody>
                  <a:tcPr>
                    <a:solidFill>
                      <a:srgbClr val="EBF3F6"/>
                    </a:solidFill>
                  </a:tcPr>
                </a:tc>
                <a:tc>
                  <a:txBody>
                    <a:bodyPr/>
                    <a:lstStyle/>
                    <a:p>
                      <a:r>
                        <a:rPr sz="1200" b="0">
                          <a:solidFill>
                            <a:srgbClr val="BBB889"/>
                          </a:solidFill>
                        </a:rPr>
                        <a:t>Ledger Metric</a:t>
                      </a:r>
                    </a:p>
                  </a:txBody>
                  <a:tcPr>
                    <a:solidFill>
                      <a:srgbClr val="EBF3F6"/>
                    </a:solidFill>
                  </a:tcPr>
                </a:tc>
                <a:tc>
                  <a:txBody>
                    <a:bodyPr/>
                    <a:lstStyle/>
                    <a:p>
                      <a:r>
                        <a:rPr sz="1200" b="0">
                          <a:solidFill>
                            <a:srgbClr val="BBB889"/>
                          </a:solidFill>
                        </a:rPr>
                        <a:t>Reference Ledger</a:t>
                      </a:r>
                    </a:p>
                  </a:txBody>
                  <a:tcPr>
                    <a:solidFill>
                      <a:srgbClr val="EBF3F6"/>
                    </a:solidFill>
                  </a:tcPr>
                </a:tc>
                <a:extLst>
                  <a:ext uri="{0D108BD9-81ED-4DB2-BD59-A6C34878D82A}">
                    <a16:rowId xmlns:a16="http://schemas.microsoft.com/office/drawing/2014/main" val="10006"/>
                  </a:ext>
                </a:extLst>
              </a:tr>
            </a:tbl>
          </a:graphicData>
        </a:graphic>
      </p:graphicFrame>
      <p:sp>
        <p:nvSpPr>
          <p:cNvPr id="19" name="TextBox 18"/>
          <p:cNvSpPr txBox="1"/>
          <p:nvPr/>
        </p:nvSpPr>
        <p:spPr>
          <a:xfrm>
            <a:off x="7137996" y="4752839"/>
            <a:ext cx="3347931" cy="430303"/>
          </a:xfrm>
          <a:prstGeom prst="rect">
            <a:avLst/>
          </a:prstGeom>
          <a:noFill/>
        </p:spPr>
        <p:txBody>
          <a:bodyPr wrap="none" lIns="29489" tIns="29489" rIns="29489" bIns="29489">
            <a:spAutoFit/>
          </a:bodyPr>
          <a:lstStyle/>
          <a:p>
            <a:r>
              <a:rPr sz="900" b="0" i="0" u="none">
                <a:solidFill>
                  <a:srgbClr val="C43BA4"/>
                </a:solidFill>
                <a:latin typeface="Verdana"/>
              </a:rPr>
              <a:t>Factor Surface Bundle Insight Focus Token Cluster Portal Chart Filter Register Action Heading Friction Friction Apex Control Threshold Memory Precision Diagram Method Hub Element Canvas Narrative Trigger Record</a:t>
            </a:r>
          </a:p>
        </p:txBody>
      </p:sp>
      <p:pic>
        <p:nvPicPr>
          <p:cNvPr id="20" name="Picture 19" descr="_example_image.jpg"/>
          <p:cNvPicPr>
            <a:picLocks noChangeAspect="1"/>
          </p:cNvPicPr>
          <p:nvPr/>
        </p:nvPicPr>
        <p:blipFill>
          <a:blip r:embed="rId2"/>
          <a:srcRect l="17699" t="19410" r="10929" b="10410"/>
          <a:stretch>
            <a:fillRect/>
          </a:stretch>
        </p:blipFill>
        <p:spPr>
          <a:xfrm>
            <a:off x="1934782" y="402127"/>
            <a:ext cx="1353413" cy="1084732"/>
          </a:xfrm>
          <a:prstGeom prst="rect">
            <a:avLst/>
          </a:prstGeom>
        </p:spPr>
      </p:pic>
      <p:cxnSp>
        <p:nvCxnSpPr>
          <p:cNvPr id="21" name="Connector 20"/>
          <p:cNvCxnSpPr/>
          <p:nvPr/>
        </p:nvCxnSpPr>
        <p:spPr>
          <a:xfrm flipV="1">
            <a:off x="1633219" y="3350077"/>
            <a:ext cx="1223492" cy="572139"/>
          </a:xfrm>
          <a:prstGeom prst="line">
            <a:avLst/>
          </a:prstGeom>
          <a:ln w="21919">
            <a:solidFill>
              <a:srgbClr val="3354A0"/>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22" name="Table 21"/>
          <p:cNvGraphicFramePr>
            <a:graphicFrameLocks noGrp="1"/>
          </p:cNvGraphicFramePr>
          <p:nvPr/>
        </p:nvGraphicFramePr>
        <p:xfrm>
          <a:off x="3973179" y="4079960"/>
          <a:ext cx="2538138" cy="1581413"/>
        </p:xfrm>
        <a:graphic>
          <a:graphicData uri="http://schemas.openxmlformats.org/drawingml/2006/table">
            <a:tbl>
              <a:tblPr firstRow="1" bandRow="1">
                <a:tableStyleId>{5C22544A-7EE6-4342-B048-85BDC9FD1C3A}</a:tableStyleId>
              </a:tblPr>
              <a:tblGrid>
                <a:gridCol w="1269069">
                  <a:extLst>
                    <a:ext uri="{9D8B030D-6E8A-4147-A177-3AD203B41FA5}">
                      <a16:colId xmlns:a16="http://schemas.microsoft.com/office/drawing/2014/main" val="20000"/>
                    </a:ext>
                  </a:extLst>
                </a:gridCol>
                <a:gridCol w="1269069">
                  <a:extLst>
                    <a:ext uri="{9D8B030D-6E8A-4147-A177-3AD203B41FA5}">
                      <a16:colId xmlns:a16="http://schemas.microsoft.com/office/drawing/2014/main" val="20001"/>
                    </a:ext>
                  </a:extLst>
                </a:gridCol>
              </a:tblGrid>
              <a:tr h="790706">
                <a:tc>
                  <a:txBody>
                    <a:bodyPr/>
                    <a:lstStyle/>
                    <a:p>
                      <a:r>
                        <a:rPr sz="600" b="1">
                          <a:solidFill>
                            <a:srgbClr val="5E2DA6"/>
                          </a:solidFill>
                        </a:rPr>
                        <a:t>Viewport Case</a:t>
                      </a:r>
                    </a:p>
                  </a:txBody>
                  <a:tcPr>
                    <a:solidFill>
                      <a:srgbClr val="78C61F"/>
                    </a:solidFill>
                  </a:tcPr>
                </a:tc>
                <a:tc>
                  <a:txBody>
                    <a:bodyPr/>
                    <a:lstStyle/>
                    <a:p>
                      <a:r>
                        <a:rPr sz="600" b="1">
                          <a:solidFill>
                            <a:srgbClr val="5E2DA6"/>
                          </a:solidFill>
                        </a:rPr>
                        <a:t>Event</a:t>
                      </a:r>
                    </a:p>
                  </a:txBody>
                  <a:tcPr>
                    <a:solidFill>
                      <a:srgbClr val="78C61F"/>
                    </a:solidFill>
                  </a:tcPr>
                </a:tc>
                <a:extLst>
                  <a:ext uri="{0D108BD9-81ED-4DB2-BD59-A6C34878D82A}">
                    <a16:rowId xmlns:a16="http://schemas.microsoft.com/office/drawing/2014/main" val="10000"/>
                  </a:ext>
                </a:extLst>
              </a:tr>
              <a:tr h="790707">
                <a:tc>
                  <a:txBody>
                    <a:bodyPr/>
                    <a:lstStyle/>
                    <a:p>
                      <a:r>
                        <a:rPr sz="600" b="0">
                          <a:solidFill>
                            <a:srgbClr val="5E2DA6"/>
                          </a:solidFill>
                        </a:rPr>
                        <a:t>Span</a:t>
                      </a:r>
                    </a:p>
                  </a:txBody>
                  <a:tcPr>
                    <a:solidFill>
                      <a:srgbClr val="F4F6E9"/>
                    </a:solidFill>
                  </a:tcPr>
                </a:tc>
                <a:tc>
                  <a:txBody>
                    <a:bodyPr/>
                    <a:lstStyle/>
                    <a:p>
                      <a:r>
                        <a:rPr sz="600" b="0">
                          <a:solidFill>
                            <a:srgbClr val="5E2DA6"/>
                          </a:solidFill>
                        </a:rPr>
                        <a:t>Access Span</a:t>
                      </a:r>
                    </a:p>
                  </a:txBody>
                  <a:tcPr>
                    <a:solidFill>
                      <a:srgbClr val="F4F6E9"/>
                    </a:solidFill>
                  </a:tcPr>
                </a:tc>
                <a:extLst>
                  <a:ext uri="{0D108BD9-81ED-4DB2-BD59-A6C34878D82A}">
                    <a16:rowId xmlns:a16="http://schemas.microsoft.com/office/drawing/2014/main" val="10001"/>
                  </a:ext>
                </a:extLst>
              </a:tr>
            </a:tbl>
          </a:graphicData>
        </a:graphic>
      </p:graphicFrame>
      <p:sp>
        <p:nvSpPr>
          <p:cNvPr id="23" name="Notched Right Arrow 22"/>
          <p:cNvSpPr/>
          <p:nvPr/>
        </p:nvSpPr>
        <p:spPr>
          <a:xfrm>
            <a:off x="3250107" y="3435980"/>
            <a:ext cx="961810" cy="1243405"/>
          </a:xfrm>
          <a:prstGeom prst="notchedRightArrow">
            <a:avLst/>
          </a:prstGeom>
          <a:solidFill>
            <a:srgbClr val="23C54C"/>
          </a:solidFill>
          <a:ln w="17299">
            <a:solidFill>
              <a:srgbClr val="AEDA6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rocess 23"/>
          <p:cNvSpPr/>
          <p:nvPr/>
        </p:nvSpPr>
        <p:spPr>
          <a:xfrm>
            <a:off x="6419619" y="535266"/>
            <a:ext cx="1232183" cy="1189712"/>
          </a:xfrm>
          <a:prstGeom prst="flowChartProcess">
            <a:avLst/>
          </a:prstGeom>
          <a:solidFill>
            <a:srgbClr val="8C4835"/>
          </a:solidFill>
          <a:ln w="18074">
            <a:solidFill>
              <a:srgbClr val="30234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Chart 24"/>
          <p:cNvGraphicFramePr>
            <a:graphicFrameLocks noGrp="1"/>
          </p:cNvGraphicFramePr>
          <p:nvPr/>
        </p:nvGraphicFramePr>
        <p:xfrm>
          <a:off x="6319059" y="1373230"/>
          <a:ext cx="3581561" cy="1735986"/>
        </p:xfrm>
        <a:graphic>
          <a:graphicData uri="http://schemas.openxmlformats.org/drawingml/2006/chart">
            <c:chart xmlns:c="http://schemas.openxmlformats.org/drawingml/2006/chart" xmlns:r="http://schemas.openxmlformats.org/officeDocument/2006/relationships" r:id="rId4"/>
          </a:graphicData>
        </a:graphic>
      </p:graphicFrame>
      <p:sp>
        <p:nvSpPr>
          <p:cNvPr id="26" name="Cloud 25"/>
          <p:cNvSpPr/>
          <p:nvPr/>
        </p:nvSpPr>
        <p:spPr>
          <a:xfrm>
            <a:off x="1363728" y="5186735"/>
            <a:ext cx="2278195" cy="985601"/>
          </a:xfrm>
          <a:prstGeom prst="cloud">
            <a:avLst/>
          </a:prstGeom>
          <a:solidFill>
            <a:srgbClr val="37572C"/>
          </a:solidFill>
          <a:ln w="29798">
            <a:solidFill>
              <a:srgbClr val="CEE56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394F61AB-B32C-2733-C72F-0A23A11DE96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15487" y="4515388"/>
            <a:ext cx="1014520" cy="2060666"/>
          </a:xfrm>
          <a:prstGeom prst="rect">
            <a:avLst/>
          </a:prstGeom>
        </p:spPr>
      </p:pic>
      <p:pic>
        <p:nvPicPr>
          <p:cNvPr id="30" name="Graphic 29">
            <a:extLst>
              <a:ext uri="{FF2B5EF4-FFF2-40B4-BE49-F238E27FC236}">
                <a16:creationId xmlns:a16="http://schemas.microsoft.com/office/drawing/2014/main" id="{8C84A228-7211-FCFA-9234-A27E8F718F3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57335" y="359975"/>
            <a:ext cx="1410248" cy="20201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97691" y="3631424"/>
            <a:ext cx="2194921" cy="998217"/>
          </a:xfrm>
          <a:prstGeom prst="rect">
            <a:avLst/>
          </a:prstGeom>
          <a:noFill/>
        </p:spPr>
        <p:txBody>
          <a:bodyPr wrap="none" lIns="88901" tIns="88901" rIns="88901" bIns="88901">
            <a:spAutoFit/>
          </a:bodyPr>
          <a:lstStyle/>
          <a:p>
            <a:r>
              <a:rPr sz="900" b="0" i="0" u="none">
                <a:solidFill>
                  <a:srgbClr val="B1BF9C"/>
                </a:solidFill>
                <a:latin typeface="Verdana"/>
              </a:rPr>
              <a:t>Factor Compass Case Grid Drift Precision Spectrum Intent Focus Object Impact Duration Epoch Echo Journey Intent Command Capacity Reference Surface Phase Factor Benchmark Marker Dashboard Journey Audit Surface Function Audit Brief Explorer Group Path Token</a:t>
            </a:r>
          </a:p>
        </p:txBody>
      </p:sp>
      <p:cxnSp>
        <p:nvCxnSpPr>
          <p:cNvPr id="3" name="Connector 2"/>
          <p:cNvCxnSpPr/>
          <p:nvPr/>
        </p:nvCxnSpPr>
        <p:spPr>
          <a:xfrm>
            <a:off x="3245123" y="912689"/>
            <a:ext cx="3260989" cy="588755"/>
          </a:xfrm>
          <a:prstGeom prst="line">
            <a:avLst/>
          </a:prstGeom>
          <a:ln w="6536">
            <a:solidFill>
              <a:srgbClr val="2EA1D8"/>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897191" y="5438274"/>
          <a:ext cx="4969033" cy="986845"/>
        </p:xfrm>
        <a:graphic>
          <a:graphicData uri="http://schemas.openxmlformats.org/drawingml/2006/table">
            <a:tbl>
              <a:tblPr firstRow="1" bandRow="1">
                <a:tableStyleId>{5C22544A-7EE6-4342-B048-85BDC9FD1C3A}</a:tableStyleId>
              </a:tblPr>
              <a:tblGrid>
                <a:gridCol w="1242258">
                  <a:extLst>
                    <a:ext uri="{9D8B030D-6E8A-4147-A177-3AD203B41FA5}">
                      <a16:colId xmlns:a16="http://schemas.microsoft.com/office/drawing/2014/main" val="20000"/>
                    </a:ext>
                  </a:extLst>
                </a:gridCol>
                <a:gridCol w="1242258">
                  <a:extLst>
                    <a:ext uri="{9D8B030D-6E8A-4147-A177-3AD203B41FA5}">
                      <a16:colId xmlns:a16="http://schemas.microsoft.com/office/drawing/2014/main" val="20001"/>
                    </a:ext>
                  </a:extLst>
                </a:gridCol>
                <a:gridCol w="1242258">
                  <a:extLst>
                    <a:ext uri="{9D8B030D-6E8A-4147-A177-3AD203B41FA5}">
                      <a16:colId xmlns:a16="http://schemas.microsoft.com/office/drawing/2014/main" val="20002"/>
                    </a:ext>
                  </a:extLst>
                </a:gridCol>
                <a:gridCol w="1242259">
                  <a:extLst>
                    <a:ext uri="{9D8B030D-6E8A-4147-A177-3AD203B41FA5}">
                      <a16:colId xmlns:a16="http://schemas.microsoft.com/office/drawing/2014/main" val="20003"/>
                    </a:ext>
                  </a:extLst>
                </a:gridCol>
              </a:tblGrid>
              <a:tr h="246711">
                <a:tc>
                  <a:txBody>
                    <a:bodyPr/>
                    <a:lstStyle/>
                    <a:p>
                      <a:r>
                        <a:rPr sz="600" b="1">
                          <a:solidFill>
                            <a:srgbClr val="7D8388"/>
                          </a:solidFill>
                        </a:rPr>
                        <a:t>Node</a:t>
                      </a:r>
                    </a:p>
                  </a:txBody>
                  <a:tcPr>
                    <a:solidFill>
                      <a:srgbClr val="76405A"/>
                    </a:solidFill>
                  </a:tcPr>
                </a:tc>
                <a:tc>
                  <a:txBody>
                    <a:bodyPr/>
                    <a:lstStyle/>
                    <a:p>
                      <a:r>
                        <a:rPr sz="600" b="1">
                          <a:solidFill>
                            <a:srgbClr val="7D8388"/>
                          </a:solidFill>
                        </a:rPr>
                        <a:t>Bridge Expansion</a:t>
                      </a:r>
                    </a:p>
                  </a:txBody>
                  <a:tcPr>
                    <a:solidFill>
                      <a:srgbClr val="76405A"/>
                    </a:solidFill>
                  </a:tcPr>
                </a:tc>
                <a:tc>
                  <a:txBody>
                    <a:bodyPr/>
                    <a:lstStyle/>
                    <a:p>
                      <a:r>
                        <a:rPr sz="600" b="1">
                          <a:solidFill>
                            <a:srgbClr val="7D8388"/>
                          </a:solidFill>
                        </a:rPr>
                        <a:t>Program Edge</a:t>
                      </a:r>
                    </a:p>
                  </a:txBody>
                  <a:tcPr>
                    <a:solidFill>
                      <a:srgbClr val="76405A"/>
                    </a:solidFill>
                  </a:tcPr>
                </a:tc>
                <a:tc>
                  <a:txBody>
                    <a:bodyPr/>
                    <a:lstStyle/>
                    <a:p>
                      <a:r>
                        <a:rPr sz="600" b="1">
                          <a:solidFill>
                            <a:srgbClr val="7D8388"/>
                          </a:solidFill>
                        </a:rPr>
                        <a:t>Queue Stage</a:t>
                      </a:r>
                    </a:p>
                  </a:txBody>
                  <a:tcPr>
                    <a:solidFill>
                      <a:srgbClr val="76405A"/>
                    </a:solidFill>
                  </a:tcPr>
                </a:tc>
                <a:extLst>
                  <a:ext uri="{0D108BD9-81ED-4DB2-BD59-A6C34878D82A}">
                    <a16:rowId xmlns:a16="http://schemas.microsoft.com/office/drawing/2014/main" val="10000"/>
                  </a:ext>
                </a:extLst>
              </a:tr>
              <a:tr h="246711">
                <a:tc>
                  <a:txBody>
                    <a:bodyPr/>
                    <a:lstStyle/>
                    <a:p>
                      <a:r>
                        <a:rPr sz="600" b="0">
                          <a:solidFill>
                            <a:srgbClr val="7D8388"/>
                          </a:solidFill>
                        </a:rPr>
                        <a:t>Deployment</a:t>
                      </a:r>
                    </a:p>
                  </a:txBody>
                  <a:tcPr>
                    <a:solidFill>
                      <a:srgbClr val="F6DDE7"/>
                    </a:solidFill>
                  </a:tcPr>
                </a:tc>
                <a:tc>
                  <a:txBody>
                    <a:bodyPr/>
                    <a:lstStyle/>
                    <a:p>
                      <a:r>
                        <a:rPr sz="600" b="0">
                          <a:solidFill>
                            <a:srgbClr val="7D8388"/>
                          </a:solidFill>
                        </a:rPr>
                        <a:t>Array Epoch</a:t>
                      </a:r>
                    </a:p>
                  </a:txBody>
                  <a:tcPr>
                    <a:solidFill>
                      <a:srgbClr val="F6DDE7"/>
                    </a:solidFill>
                  </a:tcPr>
                </a:tc>
                <a:tc>
                  <a:txBody>
                    <a:bodyPr/>
                    <a:lstStyle/>
                    <a:p>
                      <a:r>
                        <a:rPr sz="600" b="0">
                          <a:solidFill>
                            <a:srgbClr val="7D8388"/>
                          </a:solidFill>
                        </a:rPr>
                        <a:t>Access Impact</a:t>
                      </a:r>
                    </a:p>
                  </a:txBody>
                  <a:tcPr>
                    <a:solidFill>
                      <a:srgbClr val="F6DDE7"/>
                    </a:solidFill>
                  </a:tcPr>
                </a:tc>
                <a:tc>
                  <a:txBody>
                    <a:bodyPr/>
                    <a:lstStyle/>
                    <a:p>
                      <a:r>
                        <a:rPr sz="600" b="0">
                          <a:solidFill>
                            <a:srgbClr val="7D8388"/>
                          </a:solidFill>
                        </a:rPr>
                        <a:t>Circuit Craft</a:t>
                      </a:r>
                    </a:p>
                  </a:txBody>
                  <a:tcPr>
                    <a:solidFill>
                      <a:srgbClr val="F6DDE7"/>
                    </a:solidFill>
                  </a:tcPr>
                </a:tc>
                <a:extLst>
                  <a:ext uri="{0D108BD9-81ED-4DB2-BD59-A6C34878D82A}">
                    <a16:rowId xmlns:a16="http://schemas.microsoft.com/office/drawing/2014/main" val="10001"/>
                  </a:ext>
                </a:extLst>
              </a:tr>
              <a:tr h="246711">
                <a:tc>
                  <a:txBody>
                    <a:bodyPr/>
                    <a:lstStyle/>
                    <a:p>
                      <a:r>
                        <a:rPr sz="600" b="0">
                          <a:solidFill>
                            <a:srgbClr val="7D8388"/>
                          </a:solidFill>
                        </a:rPr>
                        <a:t>Release Segment</a:t>
                      </a:r>
                    </a:p>
                  </a:txBody>
                  <a:tcPr>
                    <a:solidFill>
                      <a:srgbClr val="F6DDE7"/>
                    </a:solidFill>
                  </a:tcPr>
                </a:tc>
                <a:tc>
                  <a:txBody>
                    <a:bodyPr/>
                    <a:lstStyle/>
                    <a:p>
                      <a:r>
                        <a:rPr sz="600" b="0">
                          <a:solidFill>
                            <a:srgbClr val="7D8388"/>
                          </a:solidFill>
                        </a:rPr>
                        <a:t>Report Balance</a:t>
                      </a:r>
                    </a:p>
                  </a:txBody>
                  <a:tcPr>
                    <a:solidFill>
                      <a:srgbClr val="F6DDE7"/>
                    </a:solidFill>
                  </a:tcPr>
                </a:tc>
                <a:tc>
                  <a:txBody>
                    <a:bodyPr/>
                    <a:lstStyle/>
                    <a:p>
                      <a:r>
                        <a:rPr sz="600" b="0">
                          <a:solidFill>
                            <a:srgbClr val="7D8388"/>
                          </a:solidFill>
                        </a:rPr>
                        <a:t>Moment Range</a:t>
                      </a:r>
                    </a:p>
                  </a:txBody>
                  <a:tcPr>
                    <a:solidFill>
                      <a:srgbClr val="F6DDE7"/>
                    </a:solidFill>
                  </a:tcPr>
                </a:tc>
                <a:tc>
                  <a:txBody>
                    <a:bodyPr/>
                    <a:lstStyle/>
                    <a:p>
                      <a:r>
                        <a:rPr sz="600" b="0">
                          <a:solidFill>
                            <a:srgbClr val="7D8388"/>
                          </a:solidFill>
                        </a:rPr>
                        <a:t>Format</a:t>
                      </a:r>
                    </a:p>
                  </a:txBody>
                  <a:tcPr>
                    <a:solidFill>
                      <a:srgbClr val="F6DDE7"/>
                    </a:solidFill>
                  </a:tcPr>
                </a:tc>
                <a:extLst>
                  <a:ext uri="{0D108BD9-81ED-4DB2-BD59-A6C34878D82A}">
                    <a16:rowId xmlns:a16="http://schemas.microsoft.com/office/drawing/2014/main" val="10002"/>
                  </a:ext>
                </a:extLst>
              </a:tr>
              <a:tr h="246712">
                <a:tc>
                  <a:txBody>
                    <a:bodyPr/>
                    <a:lstStyle/>
                    <a:p>
                      <a:r>
                        <a:rPr sz="600" b="0">
                          <a:solidFill>
                            <a:srgbClr val="7D8388"/>
                          </a:solidFill>
                        </a:rPr>
                        <a:t>Phase Iteration</a:t>
                      </a:r>
                    </a:p>
                  </a:txBody>
                  <a:tcPr>
                    <a:solidFill>
                      <a:srgbClr val="F6DDE7"/>
                    </a:solidFill>
                  </a:tcPr>
                </a:tc>
                <a:tc>
                  <a:txBody>
                    <a:bodyPr/>
                    <a:lstStyle/>
                    <a:p>
                      <a:r>
                        <a:rPr sz="600" b="0">
                          <a:solidFill>
                            <a:srgbClr val="7D8388"/>
                          </a:solidFill>
                        </a:rPr>
                        <a:t>Reference Pipeline</a:t>
                      </a:r>
                    </a:p>
                  </a:txBody>
                  <a:tcPr>
                    <a:solidFill>
                      <a:srgbClr val="F6DDE7"/>
                    </a:solidFill>
                  </a:tcPr>
                </a:tc>
                <a:tc>
                  <a:txBody>
                    <a:bodyPr/>
                    <a:lstStyle/>
                    <a:p>
                      <a:r>
                        <a:rPr sz="600" b="0">
                          <a:solidFill>
                            <a:srgbClr val="7D8388"/>
                          </a:solidFill>
                        </a:rPr>
                        <a:t>Echo</a:t>
                      </a:r>
                    </a:p>
                  </a:txBody>
                  <a:tcPr>
                    <a:solidFill>
                      <a:srgbClr val="F6DDE7"/>
                    </a:solidFill>
                  </a:tcPr>
                </a:tc>
                <a:tc>
                  <a:txBody>
                    <a:bodyPr/>
                    <a:lstStyle/>
                    <a:p>
                      <a:r>
                        <a:rPr sz="600" b="0">
                          <a:solidFill>
                            <a:srgbClr val="7D8388"/>
                          </a:solidFill>
                        </a:rPr>
                        <a:t>Portal Buffer</a:t>
                      </a:r>
                    </a:p>
                  </a:txBody>
                  <a:tcPr>
                    <a:solidFill>
                      <a:srgbClr val="F6DDE7"/>
                    </a:solidFill>
                  </a:tcPr>
                </a:tc>
                <a:extLst>
                  <a:ext uri="{0D108BD9-81ED-4DB2-BD59-A6C34878D82A}">
                    <a16:rowId xmlns:a16="http://schemas.microsoft.com/office/drawing/2014/main" val="10003"/>
                  </a:ext>
                </a:extLst>
              </a:tr>
            </a:tbl>
          </a:graphicData>
        </a:graphic>
      </p:graphicFrame>
      <p:pic>
        <p:nvPicPr>
          <p:cNvPr id="5" name="Picture 4" descr="_example_image.jpg"/>
          <p:cNvPicPr>
            <a:picLocks noChangeAspect="1"/>
          </p:cNvPicPr>
          <p:nvPr/>
        </p:nvPicPr>
        <p:blipFill>
          <a:blip r:embed="rId2"/>
          <a:srcRect l="1105" t="2647" r="1617" b="71"/>
          <a:stretch>
            <a:fillRect/>
          </a:stretch>
        </p:blipFill>
        <p:spPr>
          <a:xfrm>
            <a:off x="8801865" y="4450888"/>
            <a:ext cx="1854007" cy="900548"/>
          </a:xfrm>
          <a:prstGeom prst="rect">
            <a:avLst/>
          </a:prstGeom>
        </p:spPr>
      </p:pic>
      <p:graphicFrame>
        <p:nvGraphicFramePr>
          <p:cNvPr id="6" name="Chart 5"/>
          <p:cNvGraphicFramePr>
            <a:graphicFrameLocks noGrp="1"/>
          </p:cNvGraphicFramePr>
          <p:nvPr/>
        </p:nvGraphicFramePr>
        <p:xfrm>
          <a:off x="5385455" y="4175996"/>
          <a:ext cx="2545506" cy="1474487"/>
        </p:xfrm>
        <a:graphic>
          <a:graphicData uri="http://schemas.openxmlformats.org/drawingml/2006/chart">
            <c:chart xmlns:c="http://schemas.openxmlformats.org/drawingml/2006/chart" xmlns:r="http://schemas.openxmlformats.org/officeDocument/2006/relationships" r:id="rId3"/>
          </a:graphicData>
        </a:graphic>
      </p:graphicFrame>
      <p:sp>
        <p:nvSpPr>
          <p:cNvPr id="7" name="Freeform 6"/>
          <p:cNvSpPr/>
          <p:nvPr/>
        </p:nvSpPr>
        <p:spPr>
          <a:xfrm>
            <a:off x="3964616" y="5686980"/>
            <a:ext cx="1042529" cy="728526"/>
          </a:xfrm>
          <a:custGeom>
            <a:avLst/>
            <a:gdLst/>
            <a:ahLst/>
            <a:cxnLst/>
            <a:rect l="l" t="t" r="r" b="b"/>
            <a:pathLst>
              <a:path w="1042529" h="728526">
                <a:moveTo>
                  <a:pt x="521264" y="0"/>
                </a:moveTo>
                <a:lnTo>
                  <a:pt x="651580" y="182132"/>
                </a:lnTo>
                <a:lnTo>
                  <a:pt x="977371" y="131135"/>
                </a:lnTo>
                <a:lnTo>
                  <a:pt x="792756" y="364263"/>
                </a:lnTo>
                <a:lnTo>
                  <a:pt x="1042529" y="568251"/>
                </a:lnTo>
                <a:lnTo>
                  <a:pt x="651580" y="524539"/>
                </a:lnTo>
                <a:lnTo>
                  <a:pt x="521264" y="728526"/>
                </a:lnTo>
                <a:lnTo>
                  <a:pt x="390948" y="524539"/>
                </a:lnTo>
                <a:lnTo>
                  <a:pt x="0" y="568251"/>
                </a:lnTo>
                <a:lnTo>
                  <a:pt x="249772" y="364263"/>
                </a:lnTo>
                <a:lnTo>
                  <a:pt x="65158" y="131135"/>
                </a:lnTo>
                <a:lnTo>
                  <a:pt x="390948" y="182132"/>
                </a:lnTo>
                <a:close/>
              </a:path>
            </a:pathLst>
          </a:custGeom>
          <a:solidFill>
            <a:srgbClr val="67AD8B"/>
          </a:solidFill>
          <a:ln w="8327">
            <a:solidFill>
              <a:srgbClr val="951F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Gear 9 7"/>
          <p:cNvSpPr/>
          <p:nvPr/>
        </p:nvSpPr>
        <p:spPr>
          <a:xfrm>
            <a:off x="629301" y="4721431"/>
            <a:ext cx="1011910" cy="1673222"/>
          </a:xfrm>
          <a:prstGeom prst="gear9">
            <a:avLst/>
          </a:prstGeom>
          <a:solidFill>
            <a:srgbClr val="1F3B91"/>
          </a:solidFill>
          <a:ln w="24248">
            <a:solidFill>
              <a:srgbClr val="C9524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1422014" y="4242390"/>
          <a:ext cx="2402604" cy="968934"/>
        </p:xfrm>
        <a:graphic>
          <a:graphicData uri="http://schemas.openxmlformats.org/drawingml/2006/table">
            <a:tbl>
              <a:tblPr firstRow="1" bandRow="1">
                <a:tableStyleId>{5C22544A-7EE6-4342-B048-85BDC9FD1C3A}</a:tableStyleId>
              </a:tblPr>
              <a:tblGrid>
                <a:gridCol w="800868">
                  <a:extLst>
                    <a:ext uri="{9D8B030D-6E8A-4147-A177-3AD203B41FA5}">
                      <a16:colId xmlns:a16="http://schemas.microsoft.com/office/drawing/2014/main" val="20000"/>
                    </a:ext>
                  </a:extLst>
                </a:gridCol>
                <a:gridCol w="800868">
                  <a:extLst>
                    <a:ext uri="{9D8B030D-6E8A-4147-A177-3AD203B41FA5}">
                      <a16:colId xmlns:a16="http://schemas.microsoft.com/office/drawing/2014/main" val="20001"/>
                    </a:ext>
                  </a:extLst>
                </a:gridCol>
                <a:gridCol w="800868">
                  <a:extLst>
                    <a:ext uri="{9D8B030D-6E8A-4147-A177-3AD203B41FA5}">
                      <a16:colId xmlns:a16="http://schemas.microsoft.com/office/drawing/2014/main" val="20002"/>
                    </a:ext>
                  </a:extLst>
                </a:gridCol>
              </a:tblGrid>
              <a:tr h="138419">
                <a:tc>
                  <a:txBody>
                    <a:bodyPr/>
                    <a:lstStyle/>
                    <a:p>
                      <a:r>
                        <a:rPr sz="600" b="1">
                          <a:solidFill>
                            <a:srgbClr val="1BC1BE"/>
                          </a:solidFill>
                        </a:rPr>
                        <a:t>Process Focus</a:t>
                      </a:r>
                    </a:p>
                  </a:txBody>
                  <a:tcPr>
                    <a:solidFill>
                      <a:srgbClr val="9224B8"/>
                    </a:solidFill>
                  </a:tcPr>
                </a:tc>
                <a:tc>
                  <a:txBody>
                    <a:bodyPr/>
                    <a:lstStyle/>
                    <a:p>
                      <a:r>
                        <a:rPr sz="600" b="1">
                          <a:solidFill>
                            <a:srgbClr val="1BC1BE"/>
                          </a:solidFill>
                        </a:rPr>
                        <a:t>Transform</a:t>
                      </a:r>
                    </a:p>
                  </a:txBody>
                  <a:tcPr>
                    <a:solidFill>
                      <a:srgbClr val="9224B8"/>
                    </a:solidFill>
                  </a:tcPr>
                </a:tc>
                <a:tc>
                  <a:txBody>
                    <a:bodyPr/>
                    <a:lstStyle/>
                    <a:p>
                      <a:r>
                        <a:rPr sz="600" b="1">
                          <a:solidFill>
                            <a:srgbClr val="1BC1BE"/>
                          </a:solidFill>
                        </a:rPr>
                        <a:t>Guide Reference</a:t>
                      </a:r>
                    </a:p>
                  </a:txBody>
                  <a:tcPr>
                    <a:solidFill>
                      <a:srgbClr val="9224B8"/>
                    </a:solidFill>
                  </a:tcPr>
                </a:tc>
                <a:extLst>
                  <a:ext uri="{0D108BD9-81ED-4DB2-BD59-A6C34878D82A}">
                    <a16:rowId xmlns:a16="http://schemas.microsoft.com/office/drawing/2014/main" val="10000"/>
                  </a:ext>
                </a:extLst>
              </a:tr>
              <a:tr h="138419">
                <a:tc>
                  <a:txBody>
                    <a:bodyPr/>
                    <a:lstStyle/>
                    <a:p>
                      <a:r>
                        <a:rPr sz="600" b="0">
                          <a:solidFill>
                            <a:srgbClr val="1BC1BE"/>
                          </a:solidFill>
                        </a:rPr>
                        <a:t>Profile</a:t>
                      </a:r>
                    </a:p>
                  </a:txBody>
                  <a:tcPr>
                    <a:solidFill>
                      <a:srgbClr val="F5F3F8"/>
                    </a:solidFill>
                  </a:tcPr>
                </a:tc>
                <a:tc>
                  <a:txBody>
                    <a:bodyPr/>
                    <a:lstStyle/>
                    <a:p>
                      <a:r>
                        <a:rPr sz="600" b="0">
                          <a:solidFill>
                            <a:srgbClr val="1BC1BE"/>
                          </a:solidFill>
                        </a:rPr>
                        <a:t>Canvas</a:t>
                      </a:r>
                    </a:p>
                  </a:txBody>
                  <a:tcPr>
                    <a:solidFill>
                      <a:srgbClr val="F5F3F8"/>
                    </a:solidFill>
                  </a:tcPr>
                </a:tc>
                <a:tc>
                  <a:txBody>
                    <a:bodyPr/>
                    <a:lstStyle/>
                    <a:p>
                      <a:r>
                        <a:rPr sz="600" b="0">
                          <a:solidFill>
                            <a:srgbClr val="1BC1BE"/>
                          </a:solidFill>
                        </a:rPr>
                        <a:t>System</a:t>
                      </a:r>
                    </a:p>
                  </a:txBody>
                  <a:tcPr>
                    <a:solidFill>
                      <a:srgbClr val="F5F3F8"/>
                    </a:solidFill>
                  </a:tcPr>
                </a:tc>
                <a:extLst>
                  <a:ext uri="{0D108BD9-81ED-4DB2-BD59-A6C34878D82A}">
                    <a16:rowId xmlns:a16="http://schemas.microsoft.com/office/drawing/2014/main" val="10001"/>
                  </a:ext>
                </a:extLst>
              </a:tr>
              <a:tr h="138419">
                <a:tc>
                  <a:txBody>
                    <a:bodyPr/>
                    <a:lstStyle/>
                    <a:p>
                      <a:r>
                        <a:rPr sz="600" b="0">
                          <a:solidFill>
                            <a:srgbClr val="1BC1BE"/>
                          </a:solidFill>
                        </a:rPr>
                        <a:t>Library</a:t>
                      </a:r>
                    </a:p>
                  </a:txBody>
                  <a:tcPr>
                    <a:solidFill>
                      <a:srgbClr val="F5F3F8"/>
                    </a:solidFill>
                  </a:tcPr>
                </a:tc>
                <a:tc>
                  <a:txBody>
                    <a:bodyPr/>
                    <a:lstStyle/>
                    <a:p>
                      <a:r>
                        <a:rPr sz="600" b="0">
                          <a:solidFill>
                            <a:srgbClr val="1BC1BE"/>
                          </a:solidFill>
                        </a:rPr>
                        <a:t>Span</a:t>
                      </a:r>
                    </a:p>
                  </a:txBody>
                  <a:tcPr>
                    <a:solidFill>
                      <a:srgbClr val="F5F3F8"/>
                    </a:solidFill>
                  </a:tcPr>
                </a:tc>
                <a:tc>
                  <a:txBody>
                    <a:bodyPr/>
                    <a:lstStyle/>
                    <a:p>
                      <a:r>
                        <a:rPr sz="600" b="0">
                          <a:solidFill>
                            <a:srgbClr val="1BC1BE"/>
                          </a:solidFill>
                        </a:rPr>
                        <a:t>Array</a:t>
                      </a:r>
                    </a:p>
                  </a:txBody>
                  <a:tcPr>
                    <a:solidFill>
                      <a:srgbClr val="F5F3F8"/>
                    </a:solidFill>
                  </a:tcPr>
                </a:tc>
                <a:extLst>
                  <a:ext uri="{0D108BD9-81ED-4DB2-BD59-A6C34878D82A}">
                    <a16:rowId xmlns:a16="http://schemas.microsoft.com/office/drawing/2014/main" val="10002"/>
                  </a:ext>
                </a:extLst>
              </a:tr>
              <a:tr h="138419">
                <a:tc>
                  <a:txBody>
                    <a:bodyPr/>
                    <a:lstStyle/>
                    <a:p>
                      <a:r>
                        <a:rPr sz="600" b="0">
                          <a:solidFill>
                            <a:srgbClr val="1BC1BE"/>
                          </a:solidFill>
                        </a:rPr>
                        <a:t>Forecast Core</a:t>
                      </a:r>
                    </a:p>
                  </a:txBody>
                  <a:tcPr>
                    <a:solidFill>
                      <a:srgbClr val="F5F3F8"/>
                    </a:solidFill>
                  </a:tcPr>
                </a:tc>
                <a:tc>
                  <a:txBody>
                    <a:bodyPr/>
                    <a:lstStyle/>
                    <a:p>
                      <a:r>
                        <a:rPr sz="600" b="0">
                          <a:solidFill>
                            <a:srgbClr val="1BC1BE"/>
                          </a:solidFill>
                        </a:rPr>
                        <a:t>Payload Instance</a:t>
                      </a:r>
                    </a:p>
                  </a:txBody>
                  <a:tcPr>
                    <a:solidFill>
                      <a:srgbClr val="F5F3F8"/>
                    </a:solidFill>
                  </a:tcPr>
                </a:tc>
                <a:tc>
                  <a:txBody>
                    <a:bodyPr/>
                    <a:lstStyle/>
                    <a:p>
                      <a:r>
                        <a:rPr sz="600" b="0">
                          <a:solidFill>
                            <a:srgbClr val="1BC1BE"/>
                          </a:solidFill>
                        </a:rPr>
                        <a:t>Loop</a:t>
                      </a:r>
                    </a:p>
                  </a:txBody>
                  <a:tcPr>
                    <a:solidFill>
                      <a:srgbClr val="F5F3F8"/>
                    </a:solidFill>
                  </a:tcPr>
                </a:tc>
                <a:extLst>
                  <a:ext uri="{0D108BD9-81ED-4DB2-BD59-A6C34878D82A}">
                    <a16:rowId xmlns:a16="http://schemas.microsoft.com/office/drawing/2014/main" val="10003"/>
                  </a:ext>
                </a:extLst>
              </a:tr>
              <a:tr h="138419">
                <a:tc>
                  <a:txBody>
                    <a:bodyPr/>
                    <a:lstStyle/>
                    <a:p>
                      <a:r>
                        <a:rPr sz="600" b="0">
                          <a:solidFill>
                            <a:srgbClr val="1BC1BE"/>
                          </a:solidFill>
                        </a:rPr>
                        <a:t>Range Draft</a:t>
                      </a:r>
                    </a:p>
                  </a:txBody>
                  <a:tcPr>
                    <a:solidFill>
                      <a:srgbClr val="F5F3F8"/>
                    </a:solidFill>
                  </a:tcPr>
                </a:tc>
                <a:tc>
                  <a:txBody>
                    <a:bodyPr/>
                    <a:lstStyle/>
                    <a:p>
                      <a:r>
                        <a:rPr sz="600" b="0">
                          <a:solidFill>
                            <a:srgbClr val="1BC1BE"/>
                          </a:solidFill>
                        </a:rPr>
                        <a:t>Threshold</a:t>
                      </a:r>
                    </a:p>
                  </a:txBody>
                  <a:tcPr>
                    <a:solidFill>
                      <a:srgbClr val="F5F3F8"/>
                    </a:solidFill>
                  </a:tcPr>
                </a:tc>
                <a:tc>
                  <a:txBody>
                    <a:bodyPr/>
                    <a:lstStyle/>
                    <a:p>
                      <a:r>
                        <a:rPr sz="600" b="0">
                          <a:solidFill>
                            <a:srgbClr val="1BC1BE"/>
                          </a:solidFill>
                        </a:rPr>
                        <a:t>Cycle</a:t>
                      </a:r>
                    </a:p>
                  </a:txBody>
                  <a:tcPr>
                    <a:solidFill>
                      <a:srgbClr val="F5F3F8"/>
                    </a:solidFill>
                  </a:tcPr>
                </a:tc>
                <a:extLst>
                  <a:ext uri="{0D108BD9-81ED-4DB2-BD59-A6C34878D82A}">
                    <a16:rowId xmlns:a16="http://schemas.microsoft.com/office/drawing/2014/main" val="10004"/>
                  </a:ext>
                </a:extLst>
              </a:tr>
              <a:tr h="138419">
                <a:tc>
                  <a:txBody>
                    <a:bodyPr/>
                    <a:lstStyle/>
                    <a:p>
                      <a:r>
                        <a:rPr sz="600" b="0">
                          <a:solidFill>
                            <a:srgbClr val="1BC1BE"/>
                          </a:solidFill>
                        </a:rPr>
                        <a:t>Baseline Strategy</a:t>
                      </a:r>
                    </a:p>
                  </a:txBody>
                  <a:tcPr>
                    <a:solidFill>
                      <a:srgbClr val="F5F3F8"/>
                    </a:solidFill>
                  </a:tcPr>
                </a:tc>
                <a:tc>
                  <a:txBody>
                    <a:bodyPr/>
                    <a:lstStyle/>
                    <a:p>
                      <a:r>
                        <a:rPr sz="600" b="0">
                          <a:solidFill>
                            <a:srgbClr val="1BC1BE"/>
                          </a:solidFill>
                        </a:rPr>
                        <a:t>Switch Source</a:t>
                      </a:r>
                    </a:p>
                  </a:txBody>
                  <a:tcPr>
                    <a:solidFill>
                      <a:srgbClr val="F5F3F8"/>
                    </a:solidFill>
                  </a:tcPr>
                </a:tc>
                <a:tc>
                  <a:txBody>
                    <a:bodyPr/>
                    <a:lstStyle/>
                    <a:p>
                      <a:r>
                        <a:rPr sz="600" b="0">
                          <a:solidFill>
                            <a:srgbClr val="1BC1BE"/>
                          </a:solidFill>
                        </a:rPr>
                        <a:t>Relay Mesh</a:t>
                      </a:r>
                    </a:p>
                  </a:txBody>
                  <a:tcPr>
                    <a:solidFill>
                      <a:srgbClr val="F5F3F8"/>
                    </a:solidFill>
                  </a:tcPr>
                </a:tc>
                <a:extLst>
                  <a:ext uri="{0D108BD9-81ED-4DB2-BD59-A6C34878D82A}">
                    <a16:rowId xmlns:a16="http://schemas.microsoft.com/office/drawing/2014/main" val="10005"/>
                  </a:ext>
                </a:extLst>
              </a:tr>
              <a:tr h="138420">
                <a:tc>
                  <a:txBody>
                    <a:bodyPr/>
                    <a:lstStyle/>
                    <a:p>
                      <a:r>
                        <a:rPr sz="600" b="0">
                          <a:solidFill>
                            <a:srgbClr val="1BC1BE"/>
                          </a:solidFill>
                        </a:rPr>
                        <a:t>Data</a:t>
                      </a:r>
                    </a:p>
                  </a:txBody>
                  <a:tcPr>
                    <a:solidFill>
                      <a:srgbClr val="F5F3F8"/>
                    </a:solidFill>
                  </a:tcPr>
                </a:tc>
                <a:tc>
                  <a:txBody>
                    <a:bodyPr/>
                    <a:lstStyle/>
                    <a:p>
                      <a:r>
                        <a:rPr sz="600" b="0">
                          <a:solidFill>
                            <a:srgbClr val="1BC1BE"/>
                          </a:solidFill>
                        </a:rPr>
                        <a:t>Impact Schema</a:t>
                      </a:r>
                    </a:p>
                  </a:txBody>
                  <a:tcPr>
                    <a:solidFill>
                      <a:srgbClr val="F5F3F8"/>
                    </a:solidFill>
                  </a:tcPr>
                </a:tc>
                <a:tc>
                  <a:txBody>
                    <a:bodyPr/>
                    <a:lstStyle/>
                    <a:p>
                      <a:r>
                        <a:rPr sz="600" b="0">
                          <a:solidFill>
                            <a:srgbClr val="1BC1BE"/>
                          </a:solidFill>
                        </a:rPr>
                        <a:t>Adaptive</a:t>
                      </a:r>
                    </a:p>
                  </a:txBody>
                  <a:tcPr>
                    <a:solidFill>
                      <a:srgbClr val="F5F3F8"/>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5632865" y="1820073"/>
            <a:ext cx="1260646" cy="364284"/>
          </a:xfrm>
          <a:prstGeom prst="rect">
            <a:avLst/>
          </a:prstGeom>
          <a:noFill/>
        </p:spPr>
        <p:txBody>
          <a:bodyPr wrap="none" lIns="32956" tIns="32956" rIns="32956" bIns="32956">
            <a:spAutoFit/>
          </a:bodyPr>
          <a:lstStyle/>
          <a:p>
            <a:r>
              <a:rPr sz="1100" b="0" i="0" u="none">
                <a:solidFill>
                  <a:srgbClr val="28BF96"/>
                </a:solidFill>
                <a:latin typeface="Aptos"/>
              </a:rPr>
              <a:t>Field Access Dashboard Scale Exchange Transform</a:t>
            </a:r>
          </a:p>
        </p:txBody>
      </p:sp>
      <p:pic>
        <p:nvPicPr>
          <p:cNvPr id="11" name="Picture 10" descr="_example_image.jpg"/>
          <p:cNvPicPr>
            <a:picLocks noChangeAspect="1"/>
          </p:cNvPicPr>
          <p:nvPr/>
        </p:nvPicPr>
        <p:blipFill>
          <a:blip r:embed="rId2"/>
          <a:srcRect/>
          <a:stretch>
            <a:fillRect/>
          </a:stretch>
        </p:blipFill>
        <p:spPr>
          <a:xfrm>
            <a:off x="9239250" y="3208944"/>
            <a:ext cx="1919231" cy="979722"/>
          </a:xfrm>
          <a:prstGeom prst="rect">
            <a:avLst/>
          </a:prstGeom>
        </p:spPr>
      </p:pic>
      <p:sp>
        <p:nvSpPr>
          <p:cNvPr id="12" name="Rounded Rectangle 11"/>
          <p:cNvSpPr/>
          <p:nvPr/>
        </p:nvSpPr>
        <p:spPr>
          <a:xfrm>
            <a:off x="9239250" y="3208944"/>
            <a:ext cx="1919231" cy="979722"/>
          </a:xfrm>
          <a:prstGeom prst="roundRect">
            <a:avLst/>
          </a:prstGeom>
          <a:noFill/>
          <a:ln w="15240">
            <a:solidFill>
              <a:srgbClr val="34C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lus 12"/>
          <p:cNvSpPr/>
          <p:nvPr/>
        </p:nvSpPr>
        <p:spPr>
          <a:xfrm>
            <a:off x="3060635" y="4468807"/>
            <a:ext cx="373264" cy="1817002"/>
          </a:xfrm>
          <a:prstGeom prst="mathPlus">
            <a:avLst/>
          </a:prstGeom>
          <a:solidFill>
            <a:srgbClr val="9FE5BA"/>
          </a:solidFill>
          <a:ln w="16498">
            <a:solidFill>
              <a:srgbClr val="30A0CE"/>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rminator 13"/>
          <p:cNvSpPr/>
          <p:nvPr/>
        </p:nvSpPr>
        <p:spPr>
          <a:xfrm>
            <a:off x="1762355" y="984974"/>
            <a:ext cx="649294" cy="959762"/>
          </a:xfrm>
          <a:prstGeom prst="flowChartTerminator">
            <a:avLst/>
          </a:prstGeom>
          <a:solidFill>
            <a:srgbClr val="52BB24"/>
          </a:solidFill>
          <a:ln w="9581">
            <a:solidFill>
              <a:srgbClr val="4D7E9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685281" y="842787"/>
            <a:ext cx="865584" cy="1705191"/>
          </a:xfrm>
          <a:prstGeom prst="line">
            <a:avLst/>
          </a:prstGeom>
          <a:ln w="16210">
            <a:solidFill>
              <a:srgbClr val="9386D4"/>
            </a:solidFill>
            <a:prstDash val="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6387" y="2982868"/>
            <a:ext cx="841657" cy="1515799"/>
          </a:xfrm>
          <a:prstGeom prst="rect">
            <a:avLst/>
          </a:prstGeom>
          <a:noFill/>
        </p:spPr>
        <p:txBody>
          <a:bodyPr wrap="none" lIns="30607" tIns="30607" rIns="30607" bIns="30607">
            <a:spAutoFit/>
          </a:bodyPr>
          <a:lstStyle/>
          <a:p>
            <a:r>
              <a:rPr sz="1100" b="1" i="0" u="none">
                <a:solidFill>
                  <a:srgbClr val="488A9A"/>
                </a:solidFill>
                <a:latin typeface="Calibri"/>
              </a:rPr>
              <a:t>Analysis Duration Station Archive Slice Measure Service</a:t>
            </a:r>
          </a:p>
        </p:txBody>
      </p:sp>
      <p:sp>
        <p:nvSpPr>
          <p:cNvPr id="17" name="TextBox 16"/>
          <p:cNvSpPr txBox="1"/>
          <p:nvPr/>
        </p:nvSpPr>
        <p:spPr>
          <a:xfrm>
            <a:off x="1638585" y="2482166"/>
            <a:ext cx="1924308" cy="364279"/>
          </a:xfrm>
          <a:prstGeom prst="rect">
            <a:avLst/>
          </a:prstGeom>
          <a:noFill/>
        </p:spPr>
        <p:txBody>
          <a:bodyPr wrap="none" lIns="35724" tIns="35724" rIns="35724" bIns="35724">
            <a:spAutoFit/>
          </a:bodyPr>
          <a:lstStyle/>
          <a:p>
            <a:r>
              <a:rPr sz="1000" b="0" i="1" u="none">
                <a:solidFill>
                  <a:srgbClr val="79D79C"/>
                </a:solidFill>
                <a:latin typeface="Arial"/>
              </a:rPr>
              <a:t>Estimate Canvas Catalog Portal Segment</a:t>
            </a:r>
          </a:p>
        </p:txBody>
      </p:sp>
      <p:sp>
        <p:nvSpPr>
          <p:cNvPr id="18" name="Freeform 17"/>
          <p:cNvSpPr/>
          <p:nvPr/>
        </p:nvSpPr>
        <p:spPr>
          <a:xfrm>
            <a:off x="9448135" y="1573740"/>
            <a:ext cx="1167433" cy="562479"/>
          </a:xfrm>
          <a:custGeom>
            <a:avLst/>
            <a:gdLst/>
            <a:ahLst/>
            <a:cxnLst/>
            <a:rect l="l" t="t" r="r" b="b"/>
            <a:pathLst>
              <a:path w="1167433" h="562479">
                <a:moveTo>
                  <a:pt x="0" y="273427"/>
                </a:moveTo>
                <a:lnTo>
                  <a:pt x="200849" y="0"/>
                </a:lnTo>
                <a:lnTo>
                  <a:pt x="414250" y="234366"/>
                </a:lnTo>
                <a:lnTo>
                  <a:pt x="627652" y="468733"/>
                </a:lnTo>
                <a:lnTo>
                  <a:pt x="853607" y="195305"/>
                </a:lnTo>
                <a:lnTo>
                  <a:pt x="1167433" y="296864"/>
                </a:lnTo>
                <a:lnTo>
                  <a:pt x="1167433" y="562479"/>
                </a:lnTo>
                <a:lnTo>
                  <a:pt x="0" y="562479"/>
                </a:lnTo>
                <a:close/>
              </a:path>
            </a:pathLst>
          </a:custGeom>
          <a:solidFill>
            <a:srgbClr val="298CDF"/>
          </a:solidFill>
          <a:ln w="16823">
            <a:solidFill>
              <a:srgbClr val="99D0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_example_image.jpg"/>
          <p:cNvPicPr>
            <a:picLocks noChangeAspect="1"/>
          </p:cNvPicPr>
          <p:nvPr/>
        </p:nvPicPr>
        <p:blipFill>
          <a:blip r:embed="rId2"/>
          <a:srcRect l="5860" t="20974" r="7805" b="20658"/>
          <a:stretch>
            <a:fillRect/>
          </a:stretch>
        </p:blipFill>
        <p:spPr>
          <a:xfrm>
            <a:off x="4048283" y="4630991"/>
            <a:ext cx="1388097" cy="924190"/>
          </a:xfrm>
          <a:prstGeom prst="rect">
            <a:avLst/>
          </a:prstGeom>
        </p:spPr>
      </p:pic>
      <p:sp>
        <p:nvSpPr>
          <p:cNvPr id="20" name="Rounded Rectangle 19"/>
          <p:cNvSpPr/>
          <p:nvPr/>
        </p:nvSpPr>
        <p:spPr>
          <a:xfrm>
            <a:off x="4048283" y="4630991"/>
            <a:ext cx="1388097" cy="924190"/>
          </a:xfrm>
          <a:prstGeom prst="roundRect">
            <a:avLst/>
          </a:prstGeom>
          <a:noFill/>
          <a:ln w="15240">
            <a:solidFill>
              <a:srgbClr val="D2D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36023" y="3586928"/>
            <a:ext cx="482884" cy="1188003"/>
          </a:xfrm>
          <a:prstGeom prst="rect">
            <a:avLst/>
          </a:prstGeom>
          <a:noFill/>
        </p:spPr>
        <p:txBody>
          <a:bodyPr wrap="none" lIns="57717" tIns="57717" rIns="57717" bIns="57717">
            <a:spAutoFit/>
          </a:bodyPr>
          <a:lstStyle/>
          <a:p>
            <a:r>
              <a:rPr sz="800" b="0" i="0" u="none">
                <a:solidFill>
                  <a:srgbClr val="2470D1"/>
                </a:solidFill>
                <a:latin typeface="Verdana"/>
              </a:rPr>
              <a:t>Order Loop Draft Brief Impact Array Discovery Estimate</a:t>
            </a:r>
          </a:p>
        </p:txBody>
      </p:sp>
      <p:graphicFrame>
        <p:nvGraphicFramePr>
          <p:cNvPr id="22" name="Chart 21"/>
          <p:cNvGraphicFramePr>
            <a:graphicFrameLocks noGrp="1"/>
          </p:cNvGraphicFramePr>
          <p:nvPr/>
        </p:nvGraphicFramePr>
        <p:xfrm>
          <a:off x="3747389" y="936390"/>
          <a:ext cx="2386369" cy="1443259"/>
        </p:xfrm>
        <a:graphic>
          <a:graphicData uri="http://schemas.openxmlformats.org/drawingml/2006/chart">
            <c:chart xmlns:c="http://schemas.openxmlformats.org/drawingml/2006/chart" xmlns:r="http://schemas.openxmlformats.org/officeDocument/2006/relationships" r:id="rId4"/>
          </a:graphicData>
        </a:graphic>
      </p:graphicFrame>
      <p:sp>
        <p:nvSpPr>
          <p:cNvPr id="23" name="Explosion 22"/>
          <p:cNvSpPr/>
          <p:nvPr/>
        </p:nvSpPr>
        <p:spPr>
          <a:xfrm>
            <a:off x="7521817" y="1283768"/>
            <a:ext cx="1974347" cy="1162775"/>
          </a:xfrm>
          <a:prstGeom prst="irregularSeal1">
            <a:avLst/>
          </a:prstGeom>
          <a:solidFill>
            <a:srgbClr val="3A29C4"/>
          </a:solidFill>
          <a:ln w="27003">
            <a:solidFill>
              <a:srgbClr val="B3262B"/>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urved Down Ribbon 23"/>
          <p:cNvSpPr/>
          <p:nvPr/>
        </p:nvSpPr>
        <p:spPr>
          <a:xfrm>
            <a:off x="4132284" y="401720"/>
            <a:ext cx="1625752" cy="415646"/>
          </a:xfrm>
          <a:prstGeom prst="ellipseRibbon">
            <a:avLst/>
          </a:prstGeom>
          <a:solidFill>
            <a:srgbClr val="3F356B"/>
          </a:solidFill>
          <a:ln w="30983">
            <a:solidFill>
              <a:srgbClr val="3891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V="1">
            <a:off x="9383786" y="456001"/>
            <a:ext cx="2430917" cy="699167"/>
          </a:xfrm>
          <a:prstGeom prst="bentConnector3">
            <a:avLst/>
          </a:prstGeom>
          <a:ln w="42944">
            <a:solidFill>
              <a:srgbClr val="729B77"/>
            </a:solidFill>
            <a:prstDash val="solid"/>
          </a:ln>
        </p:spPr>
        <p:style>
          <a:lnRef idx="2">
            <a:schemeClr val="accent1"/>
          </a:lnRef>
          <a:fillRef idx="0">
            <a:schemeClr val="accent1"/>
          </a:fillRef>
          <a:effectRef idx="1">
            <a:schemeClr val="accent1"/>
          </a:effectRef>
          <a:fontRef idx="minor">
            <a:schemeClr val="tx1"/>
          </a:fontRef>
        </p:style>
      </p:cxnSp>
      <p:sp>
        <p:nvSpPr>
          <p:cNvPr id="26" name="Funnel 25"/>
          <p:cNvSpPr/>
          <p:nvPr/>
        </p:nvSpPr>
        <p:spPr>
          <a:xfrm>
            <a:off x="3617183" y="2334242"/>
            <a:ext cx="1964678" cy="1113223"/>
          </a:xfrm>
          <a:prstGeom prst="funnel">
            <a:avLst/>
          </a:prstGeom>
          <a:solidFill>
            <a:srgbClr val="1A5130"/>
          </a:solidFill>
          <a:ln w="12324">
            <a:solidFill>
              <a:srgbClr val="D63D4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83690" y="2628938"/>
            <a:ext cx="505353" cy="2190130"/>
          </a:xfrm>
          <a:prstGeom prst="rect">
            <a:avLst/>
          </a:prstGeom>
          <a:noFill/>
        </p:spPr>
        <p:txBody>
          <a:bodyPr wrap="none" lIns="69514" tIns="69514" rIns="69514" bIns="69514">
            <a:spAutoFit/>
          </a:bodyPr>
          <a:lstStyle/>
          <a:p>
            <a:r>
              <a:rPr sz="5300" b="1" i="0" u="none">
                <a:solidFill>
                  <a:srgbClr val="244B39"/>
                </a:solidFill>
                <a:latin typeface="Trebuchet MS"/>
              </a:rPr>
              <a:t>Schema Strategy Heading</a:t>
            </a:r>
          </a:p>
        </p:txBody>
      </p:sp>
      <p:sp>
        <p:nvSpPr>
          <p:cNvPr id="28" name="Hexagon 27"/>
          <p:cNvSpPr/>
          <p:nvPr/>
        </p:nvSpPr>
        <p:spPr>
          <a:xfrm>
            <a:off x="9921203" y="1904379"/>
            <a:ext cx="1498712" cy="1293224"/>
          </a:xfrm>
          <a:prstGeom prst="hexagon">
            <a:avLst/>
          </a:prstGeom>
          <a:solidFill>
            <a:srgbClr val="89A94B"/>
          </a:solidFill>
          <a:ln w="15693">
            <a:solidFill>
              <a:srgbClr val="7E74A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876B1896-8146-2511-9326-824857EAF1F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745198" y="3019156"/>
            <a:ext cx="2771580" cy="1167071"/>
          </a:xfrm>
          <a:prstGeom prst="rect">
            <a:avLst/>
          </a:prstGeom>
        </p:spPr>
      </p:pic>
      <p:pic>
        <p:nvPicPr>
          <p:cNvPr id="32" name="Graphic 31">
            <a:extLst>
              <a:ext uri="{FF2B5EF4-FFF2-40B4-BE49-F238E27FC236}">
                <a16:creationId xmlns:a16="http://schemas.microsoft.com/office/drawing/2014/main" id="{08D634D0-F8BA-6546-B546-3915185C7BF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399631" y="5288442"/>
            <a:ext cx="1285655" cy="7502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8309" y="614388"/>
            <a:ext cx="3011012" cy="1403013"/>
          </a:xfrm>
          <a:prstGeom prst="rect">
            <a:avLst/>
          </a:prstGeom>
          <a:noFill/>
        </p:spPr>
        <p:txBody>
          <a:bodyPr wrap="none" lIns="32597" tIns="32597" rIns="32597" bIns="32597">
            <a:spAutoFit/>
          </a:bodyPr>
          <a:lstStyle/>
          <a:p>
            <a:r>
              <a:rPr sz="5900" b="1" i="0" u="none">
                <a:solidFill>
                  <a:srgbClr val="AD732A"/>
                </a:solidFill>
                <a:latin typeface="Calibri"/>
              </a:rPr>
              <a:t>Pixel Deployment Plan</a:t>
            </a:r>
          </a:p>
        </p:txBody>
      </p:sp>
      <p:sp>
        <p:nvSpPr>
          <p:cNvPr id="3" name="Striped Right Arrow 2"/>
          <p:cNvSpPr/>
          <p:nvPr/>
        </p:nvSpPr>
        <p:spPr>
          <a:xfrm>
            <a:off x="4572199" y="5772614"/>
            <a:ext cx="1463082" cy="406734"/>
          </a:xfrm>
          <a:prstGeom prst="stripedRightArrow">
            <a:avLst/>
          </a:prstGeom>
          <a:solidFill>
            <a:srgbClr val="B0DFCD"/>
          </a:solidFill>
          <a:ln w="14256">
            <a:solidFill>
              <a:srgbClr val="2732C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52037" y="1657999"/>
            <a:ext cx="2709864" cy="279147"/>
          </a:xfrm>
          <a:prstGeom prst="rect">
            <a:avLst/>
          </a:prstGeom>
          <a:noFill/>
        </p:spPr>
        <p:txBody>
          <a:bodyPr wrap="none" lIns="89587" tIns="89587" rIns="89587" bIns="89587">
            <a:spAutoFit/>
          </a:bodyPr>
          <a:lstStyle/>
          <a:p>
            <a:r>
              <a:rPr sz="2000" b="0" i="0" u="none">
                <a:solidFill>
                  <a:srgbClr val="C26561"/>
                </a:solidFill>
                <a:latin typeface="Verdana"/>
              </a:rPr>
              <a:t>Transit Datum Signal Indicator Interface Signal</a:t>
            </a:r>
          </a:p>
        </p:txBody>
      </p:sp>
      <p:sp>
        <p:nvSpPr>
          <p:cNvPr id="5" name="Predefined Process 4"/>
          <p:cNvSpPr/>
          <p:nvPr/>
        </p:nvSpPr>
        <p:spPr>
          <a:xfrm>
            <a:off x="8418852" y="3232177"/>
            <a:ext cx="1499706" cy="1919400"/>
          </a:xfrm>
          <a:prstGeom prst="flowChartPredefinedProcess">
            <a:avLst/>
          </a:prstGeom>
          <a:solidFill>
            <a:srgbClr val="78A85F"/>
          </a:solidFill>
          <a:ln w="15246">
            <a:solidFill>
              <a:srgbClr val="C77B9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Not Equal 5"/>
          <p:cNvSpPr/>
          <p:nvPr/>
        </p:nvSpPr>
        <p:spPr>
          <a:xfrm>
            <a:off x="11202990" y="861017"/>
            <a:ext cx="597019" cy="1579744"/>
          </a:xfrm>
          <a:prstGeom prst="mathNotEqual">
            <a:avLst/>
          </a:prstGeom>
          <a:solidFill>
            <a:srgbClr val="7F977C"/>
          </a:solidFill>
          <a:ln w="27293">
            <a:solidFill>
              <a:srgbClr val="65641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6026024" y="4153067"/>
          <a:ext cx="2679215" cy="2470554"/>
        </p:xfrm>
        <a:graphic>
          <a:graphicData uri="http://schemas.openxmlformats.org/drawingml/2006/table">
            <a:tbl>
              <a:tblPr firstRow="1" bandRow="1">
                <a:tableStyleId>{5C22544A-7EE6-4342-B048-85BDC9FD1C3A}</a:tableStyleId>
              </a:tblPr>
              <a:tblGrid>
                <a:gridCol w="893071">
                  <a:extLst>
                    <a:ext uri="{9D8B030D-6E8A-4147-A177-3AD203B41FA5}">
                      <a16:colId xmlns:a16="http://schemas.microsoft.com/office/drawing/2014/main" val="20000"/>
                    </a:ext>
                  </a:extLst>
                </a:gridCol>
                <a:gridCol w="893071">
                  <a:extLst>
                    <a:ext uri="{9D8B030D-6E8A-4147-A177-3AD203B41FA5}">
                      <a16:colId xmlns:a16="http://schemas.microsoft.com/office/drawing/2014/main" val="20001"/>
                    </a:ext>
                  </a:extLst>
                </a:gridCol>
                <a:gridCol w="893073">
                  <a:extLst>
                    <a:ext uri="{9D8B030D-6E8A-4147-A177-3AD203B41FA5}">
                      <a16:colId xmlns:a16="http://schemas.microsoft.com/office/drawing/2014/main" val="20002"/>
                    </a:ext>
                  </a:extLst>
                </a:gridCol>
              </a:tblGrid>
              <a:tr h="411759">
                <a:tc>
                  <a:txBody>
                    <a:bodyPr/>
                    <a:lstStyle/>
                    <a:p>
                      <a:r>
                        <a:rPr sz="600" b="1">
                          <a:solidFill>
                            <a:srgbClr val="C3C433"/>
                          </a:solidFill>
                        </a:rPr>
                        <a:t>Payload</a:t>
                      </a:r>
                    </a:p>
                  </a:txBody>
                  <a:tcPr>
                    <a:solidFill>
                      <a:srgbClr val="5D33C4"/>
                    </a:solidFill>
                  </a:tcPr>
                </a:tc>
                <a:tc>
                  <a:txBody>
                    <a:bodyPr/>
                    <a:lstStyle/>
                    <a:p>
                      <a:r>
                        <a:rPr sz="600" b="1">
                          <a:solidFill>
                            <a:srgbClr val="C3C433"/>
                          </a:solidFill>
                        </a:rPr>
                        <a:t>Depth Direction</a:t>
                      </a:r>
                    </a:p>
                  </a:txBody>
                  <a:tcPr>
                    <a:solidFill>
                      <a:srgbClr val="5D33C4"/>
                    </a:solidFill>
                  </a:tcPr>
                </a:tc>
                <a:tc>
                  <a:txBody>
                    <a:bodyPr/>
                    <a:lstStyle/>
                    <a:p>
                      <a:r>
                        <a:rPr sz="600" b="1">
                          <a:solidFill>
                            <a:srgbClr val="C3C433"/>
                          </a:solidFill>
                        </a:rPr>
                        <a:t>Relay Device</a:t>
                      </a:r>
                    </a:p>
                  </a:txBody>
                  <a:tcPr>
                    <a:solidFill>
                      <a:srgbClr val="5D33C4"/>
                    </a:solidFill>
                  </a:tcPr>
                </a:tc>
                <a:extLst>
                  <a:ext uri="{0D108BD9-81ED-4DB2-BD59-A6C34878D82A}">
                    <a16:rowId xmlns:a16="http://schemas.microsoft.com/office/drawing/2014/main" val="10000"/>
                  </a:ext>
                </a:extLst>
              </a:tr>
              <a:tr h="411759">
                <a:tc>
                  <a:txBody>
                    <a:bodyPr/>
                    <a:lstStyle/>
                    <a:p>
                      <a:r>
                        <a:rPr sz="600" b="0">
                          <a:solidFill>
                            <a:srgbClr val="C3C433"/>
                          </a:solidFill>
                        </a:rPr>
                        <a:t>Proof Apex</a:t>
                      </a:r>
                    </a:p>
                  </a:txBody>
                  <a:tcPr>
                    <a:solidFill>
                      <a:srgbClr val="E0E5ED"/>
                    </a:solidFill>
                  </a:tcPr>
                </a:tc>
                <a:tc>
                  <a:txBody>
                    <a:bodyPr/>
                    <a:lstStyle/>
                    <a:p>
                      <a:r>
                        <a:rPr sz="600" b="0">
                          <a:solidFill>
                            <a:srgbClr val="C3C433"/>
                          </a:solidFill>
                        </a:rPr>
                        <a:t>Status Design</a:t>
                      </a:r>
                    </a:p>
                  </a:txBody>
                  <a:tcPr>
                    <a:solidFill>
                      <a:srgbClr val="E0E5ED"/>
                    </a:solidFill>
                  </a:tcPr>
                </a:tc>
                <a:tc>
                  <a:txBody>
                    <a:bodyPr/>
                    <a:lstStyle/>
                    <a:p>
                      <a:r>
                        <a:rPr sz="600" b="0">
                          <a:solidFill>
                            <a:srgbClr val="C3C433"/>
                          </a:solidFill>
                        </a:rPr>
                        <a:t>Journey Node</a:t>
                      </a:r>
                    </a:p>
                  </a:txBody>
                  <a:tcPr>
                    <a:solidFill>
                      <a:srgbClr val="E0E5ED"/>
                    </a:solidFill>
                  </a:tcPr>
                </a:tc>
                <a:extLst>
                  <a:ext uri="{0D108BD9-81ED-4DB2-BD59-A6C34878D82A}">
                    <a16:rowId xmlns:a16="http://schemas.microsoft.com/office/drawing/2014/main" val="10001"/>
                  </a:ext>
                </a:extLst>
              </a:tr>
              <a:tr h="411759">
                <a:tc>
                  <a:txBody>
                    <a:bodyPr/>
                    <a:lstStyle/>
                    <a:p>
                      <a:r>
                        <a:rPr sz="600" b="0">
                          <a:solidFill>
                            <a:srgbClr val="C3C433"/>
                          </a:solidFill>
                        </a:rPr>
                        <a:t>Beta</a:t>
                      </a:r>
                    </a:p>
                  </a:txBody>
                  <a:tcPr>
                    <a:solidFill>
                      <a:srgbClr val="E0E5ED"/>
                    </a:solidFill>
                  </a:tcPr>
                </a:tc>
                <a:tc>
                  <a:txBody>
                    <a:bodyPr/>
                    <a:lstStyle/>
                    <a:p>
                      <a:r>
                        <a:rPr sz="600" b="0">
                          <a:solidFill>
                            <a:srgbClr val="C3C433"/>
                          </a:solidFill>
                        </a:rPr>
                        <a:t>Sample Snapshot</a:t>
                      </a:r>
                    </a:p>
                  </a:txBody>
                  <a:tcPr>
                    <a:solidFill>
                      <a:srgbClr val="E0E5ED"/>
                    </a:solidFill>
                  </a:tcPr>
                </a:tc>
                <a:tc>
                  <a:txBody>
                    <a:bodyPr/>
                    <a:lstStyle/>
                    <a:p>
                      <a:r>
                        <a:rPr sz="600" b="0">
                          <a:solidFill>
                            <a:srgbClr val="C3C433"/>
                          </a:solidFill>
                        </a:rPr>
                        <a:t>Review</a:t>
                      </a:r>
                    </a:p>
                  </a:txBody>
                  <a:tcPr>
                    <a:solidFill>
                      <a:srgbClr val="E0E5ED"/>
                    </a:solidFill>
                  </a:tcPr>
                </a:tc>
                <a:extLst>
                  <a:ext uri="{0D108BD9-81ED-4DB2-BD59-A6C34878D82A}">
                    <a16:rowId xmlns:a16="http://schemas.microsoft.com/office/drawing/2014/main" val="10002"/>
                  </a:ext>
                </a:extLst>
              </a:tr>
              <a:tr h="411759">
                <a:tc>
                  <a:txBody>
                    <a:bodyPr/>
                    <a:lstStyle/>
                    <a:p>
                      <a:r>
                        <a:rPr sz="600" b="0">
                          <a:solidFill>
                            <a:srgbClr val="C3C433"/>
                          </a:solidFill>
                        </a:rPr>
                        <a:t>Device Priority</a:t>
                      </a:r>
                    </a:p>
                  </a:txBody>
                  <a:tcPr>
                    <a:solidFill>
                      <a:srgbClr val="E0E5ED"/>
                    </a:solidFill>
                  </a:tcPr>
                </a:tc>
                <a:tc>
                  <a:txBody>
                    <a:bodyPr/>
                    <a:lstStyle/>
                    <a:p>
                      <a:r>
                        <a:rPr sz="600" b="0">
                          <a:solidFill>
                            <a:srgbClr val="C3C433"/>
                          </a:solidFill>
                        </a:rPr>
                        <a:t>Measure Viewport</a:t>
                      </a:r>
                    </a:p>
                  </a:txBody>
                  <a:tcPr>
                    <a:solidFill>
                      <a:srgbClr val="E0E5ED"/>
                    </a:solidFill>
                  </a:tcPr>
                </a:tc>
                <a:tc>
                  <a:txBody>
                    <a:bodyPr/>
                    <a:lstStyle/>
                    <a:p>
                      <a:r>
                        <a:rPr sz="600" b="0">
                          <a:solidFill>
                            <a:srgbClr val="C3C433"/>
                          </a:solidFill>
                        </a:rPr>
                        <a:t>Template</a:t>
                      </a:r>
                    </a:p>
                  </a:txBody>
                  <a:tcPr>
                    <a:solidFill>
                      <a:srgbClr val="E0E5ED"/>
                    </a:solidFill>
                  </a:tcPr>
                </a:tc>
                <a:extLst>
                  <a:ext uri="{0D108BD9-81ED-4DB2-BD59-A6C34878D82A}">
                    <a16:rowId xmlns:a16="http://schemas.microsoft.com/office/drawing/2014/main" val="10003"/>
                  </a:ext>
                </a:extLst>
              </a:tr>
              <a:tr h="411759">
                <a:tc>
                  <a:txBody>
                    <a:bodyPr/>
                    <a:lstStyle/>
                    <a:p>
                      <a:r>
                        <a:rPr sz="600" b="0">
                          <a:solidFill>
                            <a:srgbClr val="C3C433"/>
                          </a:solidFill>
                        </a:rPr>
                        <a:t>Estimate Craft</a:t>
                      </a:r>
                    </a:p>
                  </a:txBody>
                  <a:tcPr>
                    <a:solidFill>
                      <a:srgbClr val="E0E5ED"/>
                    </a:solidFill>
                  </a:tcPr>
                </a:tc>
                <a:tc>
                  <a:txBody>
                    <a:bodyPr/>
                    <a:lstStyle/>
                    <a:p>
                      <a:r>
                        <a:rPr sz="600" b="0">
                          <a:solidFill>
                            <a:srgbClr val="C3C433"/>
                          </a:solidFill>
                        </a:rPr>
                        <a:t>Table Cadence</a:t>
                      </a:r>
                    </a:p>
                  </a:txBody>
                  <a:tcPr>
                    <a:solidFill>
                      <a:srgbClr val="E0E5ED"/>
                    </a:solidFill>
                  </a:tcPr>
                </a:tc>
                <a:tc>
                  <a:txBody>
                    <a:bodyPr/>
                    <a:lstStyle/>
                    <a:p>
                      <a:r>
                        <a:rPr sz="600" b="0">
                          <a:solidFill>
                            <a:srgbClr val="C3C433"/>
                          </a:solidFill>
                        </a:rPr>
                        <a:t>Topology</a:t>
                      </a:r>
                    </a:p>
                  </a:txBody>
                  <a:tcPr>
                    <a:solidFill>
                      <a:srgbClr val="E0E5ED"/>
                    </a:solidFill>
                  </a:tcPr>
                </a:tc>
                <a:extLst>
                  <a:ext uri="{0D108BD9-81ED-4DB2-BD59-A6C34878D82A}">
                    <a16:rowId xmlns:a16="http://schemas.microsoft.com/office/drawing/2014/main" val="10004"/>
                  </a:ext>
                </a:extLst>
              </a:tr>
              <a:tr h="411759">
                <a:tc>
                  <a:txBody>
                    <a:bodyPr/>
                    <a:lstStyle/>
                    <a:p>
                      <a:r>
                        <a:rPr sz="600" b="0">
                          <a:solidFill>
                            <a:srgbClr val="C3C433"/>
                          </a:solidFill>
                        </a:rPr>
                        <a:t>Option</a:t>
                      </a:r>
                    </a:p>
                  </a:txBody>
                  <a:tcPr>
                    <a:solidFill>
                      <a:srgbClr val="E0E5ED"/>
                    </a:solidFill>
                  </a:tcPr>
                </a:tc>
                <a:tc>
                  <a:txBody>
                    <a:bodyPr/>
                    <a:lstStyle/>
                    <a:p>
                      <a:r>
                        <a:rPr sz="600" b="0">
                          <a:solidFill>
                            <a:srgbClr val="C3C433"/>
                          </a:solidFill>
                        </a:rPr>
                        <a:t>Needle</a:t>
                      </a:r>
                    </a:p>
                  </a:txBody>
                  <a:tcPr>
                    <a:solidFill>
                      <a:srgbClr val="E0E5ED"/>
                    </a:solidFill>
                  </a:tcPr>
                </a:tc>
                <a:tc>
                  <a:txBody>
                    <a:bodyPr/>
                    <a:lstStyle/>
                    <a:p>
                      <a:r>
                        <a:rPr sz="600" b="0">
                          <a:solidFill>
                            <a:srgbClr val="C3C433"/>
                          </a:solidFill>
                        </a:rPr>
                        <a:t>Library Mode</a:t>
                      </a:r>
                    </a:p>
                  </a:txBody>
                  <a:tcPr>
                    <a:solidFill>
                      <a:srgbClr val="E0E5ED"/>
                    </a:solidFill>
                  </a:tcPr>
                </a:tc>
                <a:extLst>
                  <a:ext uri="{0D108BD9-81ED-4DB2-BD59-A6C34878D82A}">
                    <a16:rowId xmlns:a16="http://schemas.microsoft.com/office/drawing/2014/main" val="10005"/>
                  </a:ext>
                </a:extLst>
              </a:tr>
            </a:tbl>
          </a:graphicData>
        </a:graphic>
      </p:graphicFrame>
      <p:sp>
        <p:nvSpPr>
          <p:cNvPr id="8" name="Freeform 7"/>
          <p:cNvSpPr/>
          <p:nvPr/>
        </p:nvSpPr>
        <p:spPr>
          <a:xfrm>
            <a:off x="7279089" y="1257892"/>
            <a:ext cx="1007258" cy="504664"/>
          </a:xfrm>
          <a:custGeom>
            <a:avLst/>
            <a:gdLst/>
            <a:ahLst/>
            <a:cxnLst/>
            <a:rect l="l" t="t" r="r" b="b"/>
            <a:pathLst>
              <a:path w="1007258" h="504664">
                <a:moveTo>
                  <a:pt x="0" y="112147"/>
                </a:moveTo>
                <a:lnTo>
                  <a:pt x="216614" y="0"/>
                </a:lnTo>
                <a:lnTo>
                  <a:pt x="433229" y="151399"/>
                </a:lnTo>
                <a:lnTo>
                  <a:pt x="649843" y="16822"/>
                </a:lnTo>
                <a:lnTo>
                  <a:pt x="1007258" y="392516"/>
                </a:lnTo>
                <a:lnTo>
                  <a:pt x="758151" y="504664"/>
                </a:lnTo>
                <a:lnTo>
                  <a:pt x="519875" y="336443"/>
                </a:lnTo>
                <a:lnTo>
                  <a:pt x="249106" y="487842"/>
                </a:lnTo>
                <a:close/>
              </a:path>
            </a:pathLst>
          </a:custGeom>
          <a:solidFill>
            <a:srgbClr val="B4E3CE"/>
          </a:solidFill>
          <a:ln w="20722">
            <a:solidFill>
              <a:srgbClr val="8A57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6827" y="4657560"/>
            <a:ext cx="828733" cy="1507289"/>
          </a:xfrm>
          <a:prstGeom prst="rect">
            <a:avLst/>
          </a:prstGeom>
          <a:noFill/>
        </p:spPr>
        <p:txBody>
          <a:bodyPr wrap="none" lIns="22490" tIns="22490" rIns="22490" bIns="22490">
            <a:spAutoFit/>
          </a:bodyPr>
          <a:lstStyle/>
          <a:p>
            <a:r>
              <a:rPr sz="1100" b="1" i="1" u="none">
                <a:solidFill>
                  <a:srgbClr val="5B212D"/>
                </a:solidFill>
                <a:latin typeface="Trebuchet MS"/>
              </a:rPr>
              <a:t>Deployment Version Expansion Benchmark Level</a:t>
            </a:r>
          </a:p>
        </p:txBody>
      </p:sp>
      <p:cxnSp>
        <p:nvCxnSpPr>
          <p:cNvPr id="10" name="Connector 9"/>
          <p:cNvCxnSpPr/>
          <p:nvPr/>
        </p:nvCxnSpPr>
        <p:spPr>
          <a:xfrm flipV="1">
            <a:off x="2390070" y="2064838"/>
            <a:ext cx="1286831" cy="499324"/>
          </a:xfrm>
          <a:prstGeom prst="curvedConnector3">
            <a:avLst/>
          </a:prstGeom>
          <a:ln w="36641">
            <a:solidFill>
              <a:srgbClr val="3BE06E"/>
            </a:solidFill>
            <a:prstDash val="lgDash"/>
          </a:ln>
        </p:spPr>
        <p:style>
          <a:lnRef idx="2">
            <a:schemeClr val="accent1"/>
          </a:lnRef>
          <a:fillRef idx="0">
            <a:schemeClr val="accent1"/>
          </a:fillRef>
          <a:effectRef idx="1">
            <a:schemeClr val="accent1"/>
          </a:effectRef>
          <a:fontRef idx="minor">
            <a:schemeClr val="tx1"/>
          </a:fontRef>
        </p:style>
      </p:cxnSp>
      <p:sp>
        <p:nvSpPr>
          <p:cNvPr id="11" name="Division 10"/>
          <p:cNvSpPr/>
          <p:nvPr/>
        </p:nvSpPr>
        <p:spPr>
          <a:xfrm>
            <a:off x="4890685" y="2338310"/>
            <a:ext cx="2350710" cy="463119"/>
          </a:xfrm>
          <a:prstGeom prst="mathDivide">
            <a:avLst/>
          </a:prstGeom>
          <a:solidFill>
            <a:srgbClr val="C2243A"/>
          </a:solidFill>
          <a:ln w="9756">
            <a:solidFill>
              <a:srgbClr val="D88D2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5821456" y="2700029"/>
          <a:ext cx="2440501" cy="1103561"/>
        </p:xfrm>
        <a:graphic>
          <a:graphicData uri="http://schemas.openxmlformats.org/drawingml/2006/table">
            <a:tbl>
              <a:tblPr firstRow="1" bandRow="1">
                <a:tableStyleId>{5C22544A-7EE6-4342-B048-85BDC9FD1C3A}</a:tableStyleId>
              </a:tblPr>
              <a:tblGrid>
                <a:gridCol w="813500">
                  <a:extLst>
                    <a:ext uri="{9D8B030D-6E8A-4147-A177-3AD203B41FA5}">
                      <a16:colId xmlns:a16="http://schemas.microsoft.com/office/drawing/2014/main" val="20000"/>
                    </a:ext>
                  </a:extLst>
                </a:gridCol>
                <a:gridCol w="813500">
                  <a:extLst>
                    <a:ext uri="{9D8B030D-6E8A-4147-A177-3AD203B41FA5}">
                      <a16:colId xmlns:a16="http://schemas.microsoft.com/office/drawing/2014/main" val="20001"/>
                    </a:ext>
                  </a:extLst>
                </a:gridCol>
                <a:gridCol w="813501">
                  <a:extLst>
                    <a:ext uri="{9D8B030D-6E8A-4147-A177-3AD203B41FA5}">
                      <a16:colId xmlns:a16="http://schemas.microsoft.com/office/drawing/2014/main" val="20002"/>
                    </a:ext>
                  </a:extLst>
                </a:gridCol>
              </a:tblGrid>
              <a:tr h="183926">
                <a:tc>
                  <a:txBody>
                    <a:bodyPr/>
                    <a:lstStyle/>
                    <a:p>
                      <a:r>
                        <a:rPr sz="1100" b="1">
                          <a:solidFill>
                            <a:srgbClr val="1C4951"/>
                          </a:solidFill>
                        </a:rPr>
                        <a:t>Bridge</a:t>
                      </a:r>
                    </a:p>
                  </a:txBody>
                  <a:tcPr>
                    <a:solidFill>
                      <a:srgbClr val="C45C93"/>
                    </a:solidFill>
                  </a:tcPr>
                </a:tc>
                <a:tc>
                  <a:txBody>
                    <a:bodyPr/>
                    <a:lstStyle/>
                    <a:p>
                      <a:r>
                        <a:rPr sz="1100" b="1">
                          <a:solidFill>
                            <a:srgbClr val="1C4951"/>
                          </a:solidFill>
                        </a:rPr>
                        <a:t>Station</a:t>
                      </a:r>
                    </a:p>
                  </a:txBody>
                  <a:tcPr>
                    <a:solidFill>
                      <a:srgbClr val="C45C93"/>
                    </a:solidFill>
                  </a:tcPr>
                </a:tc>
                <a:tc>
                  <a:txBody>
                    <a:bodyPr/>
                    <a:lstStyle/>
                    <a:p>
                      <a:r>
                        <a:rPr sz="1100" b="1">
                          <a:solidFill>
                            <a:srgbClr val="1C4951"/>
                          </a:solidFill>
                        </a:rPr>
                        <a:t>Matrix Bundle</a:t>
                      </a:r>
                    </a:p>
                  </a:txBody>
                  <a:tcPr>
                    <a:solidFill>
                      <a:srgbClr val="C45C93"/>
                    </a:solidFill>
                  </a:tcPr>
                </a:tc>
                <a:extLst>
                  <a:ext uri="{0D108BD9-81ED-4DB2-BD59-A6C34878D82A}">
                    <a16:rowId xmlns:a16="http://schemas.microsoft.com/office/drawing/2014/main" val="10000"/>
                  </a:ext>
                </a:extLst>
              </a:tr>
              <a:tr h="183926">
                <a:tc>
                  <a:txBody>
                    <a:bodyPr/>
                    <a:lstStyle/>
                    <a:p>
                      <a:r>
                        <a:rPr sz="1100" b="0">
                          <a:solidFill>
                            <a:srgbClr val="1C4951"/>
                          </a:solidFill>
                        </a:rPr>
                        <a:t>Vector</a:t>
                      </a:r>
                    </a:p>
                  </a:txBody>
                  <a:tcPr>
                    <a:solidFill>
                      <a:srgbClr val="B8C3AE"/>
                    </a:solidFill>
                  </a:tcPr>
                </a:tc>
                <a:tc>
                  <a:txBody>
                    <a:bodyPr/>
                    <a:lstStyle/>
                    <a:p>
                      <a:r>
                        <a:rPr sz="1100" b="0">
                          <a:solidFill>
                            <a:srgbClr val="1C4951"/>
                          </a:solidFill>
                        </a:rPr>
                        <a:t>Loop Atlas</a:t>
                      </a:r>
                    </a:p>
                  </a:txBody>
                  <a:tcPr>
                    <a:solidFill>
                      <a:srgbClr val="B8C3AE"/>
                    </a:solidFill>
                  </a:tcPr>
                </a:tc>
                <a:tc>
                  <a:txBody>
                    <a:bodyPr/>
                    <a:lstStyle/>
                    <a:p>
                      <a:r>
                        <a:rPr sz="1100" b="0">
                          <a:solidFill>
                            <a:srgbClr val="1C4951"/>
                          </a:solidFill>
                        </a:rPr>
                        <a:t>Connector</a:t>
                      </a:r>
                    </a:p>
                  </a:txBody>
                  <a:tcPr>
                    <a:solidFill>
                      <a:srgbClr val="B8C3AE"/>
                    </a:solidFill>
                  </a:tcPr>
                </a:tc>
                <a:extLst>
                  <a:ext uri="{0D108BD9-81ED-4DB2-BD59-A6C34878D82A}">
                    <a16:rowId xmlns:a16="http://schemas.microsoft.com/office/drawing/2014/main" val="10001"/>
                  </a:ext>
                </a:extLst>
              </a:tr>
              <a:tr h="183926">
                <a:tc>
                  <a:txBody>
                    <a:bodyPr/>
                    <a:lstStyle/>
                    <a:p>
                      <a:r>
                        <a:rPr sz="1100" b="0">
                          <a:solidFill>
                            <a:srgbClr val="1C4951"/>
                          </a:solidFill>
                        </a:rPr>
                        <a:t>Payload Library</a:t>
                      </a:r>
                    </a:p>
                  </a:txBody>
                  <a:tcPr>
                    <a:solidFill>
                      <a:srgbClr val="F2F4F0"/>
                    </a:solidFill>
                  </a:tcPr>
                </a:tc>
                <a:tc>
                  <a:txBody>
                    <a:bodyPr/>
                    <a:lstStyle/>
                    <a:p>
                      <a:r>
                        <a:rPr sz="1100" b="0">
                          <a:solidFill>
                            <a:srgbClr val="1C4951"/>
                          </a:solidFill>
                        </a:rPr>
                        <a:t>Slice</a:t>
                      </a:r>
                    </a:p>
                  </a:txBody>
                  <a:tcPr>
                    <a:solidFill>
                      <a:srgbClr val="F2F4F0"/>
                    </a:solidFill>
                  </a:tcPr>
                </a:tc>
                <a:tc>
                  <a:txBody>
                    <a:bodyPr/>
                    <a:lstStyle/>
                    <a:p>
                      <a:r>
                        <a:rPr sz="1100" b="0">
                          <a:solidFill>
                            <a:srgbClr val="1C4951"/>
                          </a:solidFill>
                        </a:rPr>
                        <a:t>Harbor Explorer</a:t>
                      </a:r>
                    </a:p>
                  </a:txBody>
                  <a:tcPr>
                    <a:solidFill>
                      <a:srgbClr val="F2F4F0"/>
                    </a:solidFill>
                  </a:tcPr>
                </a:tc>
                <a:extLst>
                  <a:ext uri="{0D108BD9-81ED-4DB2-BD59-A6C34878D82A}">
                    <a16:rowId xmlns:a16="http://schemas.microsoft.com/office/drawing/2014/main" val="10002"/>
                  </a:ext>
                </a:extLst>
              </a:tr>
              <a:tr h="183926">
                <a:tc>
                  <a:txBody>
                    <a:bodyPr/>
                    <a:lstStyle/>
                    <a:p>
                      <a:r>
                        <a:rPr sz="1100" b="0">
                          <a:solidFill>
                            <a:srgbClr val="1C4951"/>
                          </a:solidFill>
                        </a:rPr>
                        <a:t>Design State</a:t>
                      </a:r>
                    </a:p>
                  </a:txBody>
                  <a:tcPr>
                    <a:solidFill>
                      <a:srgbClr val="B8C3AE"/>
                    </a:solidFill>
                  </a:tcPr>
                </a:tc>
                <a:tc>
                  <a:txBody>
                    <a:bodyPr/>
                    <a:lstStyle/>
                    <a:p>
                      <a:r>
                        <a:rPr sz="1100" b="0">
                          <a:solidFill>
                            <a:srgbClr val="1C4951"/>
                          </a:solidFill>
                        </a:rPr>
                        <a:t>Stack Loop</a:t>
                      </a:r>
                    </a:p>
                  </a:txBody>
                  <a:tcPr>
                    <a:solidFill>
                      <a:srgbClr val="B8C3AE"/>
                    </a:solidFill>
                  </a:tcPr>
                </a:tc>
                <a:tc>
                  <a:txBody>
                    <a:bodyPr/>
                    <a:lstStyle/>
                    <a:p>
                      <a:r>
                        <a:rPr sz="1100" b="0">
                          <a:solidFill>
                            <a:srgbClr val="1C4951"/>
                          </a:solidFill>
                        </a:rPr>
                        <a:t>Release Logic</a:t>
                      </a:r>
                    </a:p>
                  </a:txBody>
                  <a:tcPr>
                    <a:solidFill>
                      <a:srgbClr val="B8C3AE"/>
                    </a:solidFill>
                  </a:tcPr>
                </a:tc>
                <a:extLst>
                  <a:ext uri="{0D108BD9-81ED-4DB2-BD59-A6C34878D82A}">
                    <a16:rowId xmlns:a16="http://schemas.microsoft.com/office/drawing/2014/main" val="10003"/>
                  </a:ext>
                </a:extLst>
              </a:tr>
              <a:tr h="183926">
                <a:tc>
                  <a:txBody>
                    <a:bodyPr/>
                    <a:lstStyle/>
                    <a:p>
                      <a:r>
                        <a:rPr sz="1100" b="0">
                          <a:solidFill>
                            <a:srgbClr val="1C4951"/>
                          </a:solidFill>
                        </a:rPr>
                        <a:t>Expansion</a:t>
                      </a:r>
                    </a:p>
                  </a:txBody>
                  <a:tcPr>
                    <a:solidFill>
                      <a:srgbClr val="F2F4F0"/>
                    </a:solidFill>
                  </a:tcPr>
                </a:tc>
                <a:tc>
                  <a:txBody>
                    <a:bodyPr/>
                    <a:lstStyle/>
                    <a:p>
                      <a:r>
                        <a:rPr sz="1100" b="0">
                          <a:solidFill>
                            <a:srgbClr val="1C4951"/>
                          </a:solidFill>
                        </a:rPr>
                        <a:t>Datum Runtime</a:t>
                      </a:r>
                    </a:p>
                  </a:txBody>
                  <a:tcPr>
                    <a:solidFill>
                      <a:srgbClr val="F2F4F0"/>
                    </a:solidFill>
                  </a:tcPr>
                </a:tc>
                <a:tc>
                  <a:txBody>
                    <a:bodyPr/>
                    <a:lstStyle/>
                    <a:p>
                      <a:r>
                        <a:rPr sz="1100" b="0">
                          <a:solidFill>
                            <a:srgbClr val="1C4951"/>
                          </a:solidFill>
                        </a:rPr>
                        <a:t>Gradient</a:t>
                      </a:r>
                    </a:p>
                  </a:txBody>
                  <a:tcPr>
                    <a:solidFill>
                      <a:srgbClr val="F2F4F0"/>
                    </a:solidFill>
                  </a:tcPr>
                </a:tc>
                <a:extLst>
                  <a:ext uri="{0D108BD9-81ED-4DB2-BD59-A6C34878D82A}">
                    <a16:rowId xmlns:a16="http://schemas.microsoft.com/office/drawing/2014/main" val="10004"/>
                  </a:ext>
                </a:extLst>
              </a:tr>
              <a:tr h="183931">
                <a:tc>
                  <a:txBody>
                    <a:bodyPr/>
                    <a:lstStyle/>
                    <a:p>
                      <a:r>
                        <a:rPr sz="1100" b="0">
                          <a:solidFill>
                            <a:srgbClr val="1C4951"/>
                          </a:solidFill>
                        </a:rPr>
                        <a:t>Format Origin</a:t>
                      </a:r>
                    </a:p>
                  </a:txBody>
                  <a:tcPr>
                    <a:solidFill>
                      <a:srgbClr val="B8C3AE"/>
                    </a:solidFill>
                  </a:tcPr>
                </a:tc>
                <a:tc>
                  <a:txBody>
                    <a:bodyPr/>
                    <a:lstStyle/>
                    <a:p>
                      <a:r>
                        <a:rPr sz="1100" b="0">
                          <a:solidFill>
                            <a:srgbClr val="1C4951"/>
                          </a:solidFill>
                        </a:rPr>
                        <a:t>Collection Factor</a:t>
                      </a:r>
                    </a:p>
                  </a:txBody>
                  <a:tcPr>
                    <a:solidFill>
                      <a:srgbClr val="B8C3AE"/>
                    </a:solidFill>
                  </a:tcPr>
                </a:tc>
                <a:tc>
                  <a:txBody>
                    <a:bodyPr/>
                    <a:lstStyle/>
                    <a:p>
                      <a:r>
                        <a:rPr sz="1100" b="0">
                          <a:solidFill>
                            <a:srgbClr val="1C4951"/>
                          </a:solidFill>
                        </a:rPr>
                        <a:t>Matrix Timeline</a:t>
                      </a:r>
                    </a:p>
                  </a:txBody>
                  <a:tcPr>
                    <a:solidFill>
                      <a:srgbClr val="B8C3AE"/>
                    </a:solidFill>
                  </a:tcPr>
                </a:tc>
                <a:extLst>
                  <a:ext uri="{0D108BD9-81ED-4DB2-BD59-A6C34878D82A}">
                    <a16:rowId xmlns:a16="http://schemas.microsoft.com/office/drawing/2014/main" val="10005"/>
                  </a:ext>
                </a:extLst>
              </a:tr>
            </a:tbl>
          </a:graphicData>
        </a:graphic>
      </p:graphicFrame>
      <p:graphicFrame>
        <p:nvGraphicFramePr>
          <p:cNvPr id="13" name="Chart 12"/>
          <p:cNvGraphicFramePr>
            <a:graphicFrameLocks noGrp="1"/>
          </p:cNvGraphicFramePr>
          <p:nvPr/>
        </p:nvGraphicFramePr>
        <p:xfrm>
          <a:off x="7686050" y="4594928"/>
          <a:ext cx="2026229" cy="1852535"/>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6019632" y="426773"/>
            <a:ext cx="1206752" cy="1729437"/>
          </a:xfrm>
          <a:prstGeom prst="rect">
            <a:avLst/>
          </a:prstGeom>
          <a:solidFill>
            <a:srgbClr val="2469B2"/>
          </a:solidFill>
        </p:spPr>
        <p:txBody>
          <a:bodyPr wrap="none" lIns="19170" tIns="19170" rIns="19170" bIns="19170">
            <a:spAutoFit/>
          </a:bodyPr>
          <a:lstStyle/>
          <a:p>
            <a:r>
              <a:rPr sz="1000" b="0" i="0" u="none">
                <a:solidFill>
                  <a:srgbClr val="B4B83F"/>
                </a:solidFill>
                <a:latin typeface="Verdana"/>
              </a:rPr>
              <a:t>Insight Panel Lens Metric Atlas Panel Filter Blueprint Queueing Archive Map Benchmark Impact Beta Packet Audit Benchmark Buffer</a:t>
            </a:r>
          </a:p>
        </p:txBody>
      </p:sp>
      <p:cxnSp>
        <p:nvCxnSpPr>
          <p:cNvPr id="15" name="Connector 14"/>
          <p:cNvCxnSpPr/>
          <p:nvPr/>
        </p:nvCxnSpPr>
        <p:spPr>
          <a:xfrm flipV="1">
            <a:off x="311200" y="5609423"/>
            <a:ext cx="793098" cy="494895"/>
          </a:xfrm>
          <a:prstGeom prst="line">
            <a:avLst/>
          </a:prstGeom>
          <a:ln w="48038">
            <a:solidFill>
              <a:srgbClr val="E22648"/>
            </a:solidFill>
            <a:prstDash val="dot"/>
          </a:ln>
        </p:spPr>
        <p:style>
          <a:lnRef idx="2">
            <a:schemeClr val="accent1"/>
          </a:lnRef>
          <a:fillRef idx="0">
            <a:schemeClr val="accent1"/>
          </a:fillRef>
          <a:effectRef idx="1">
            <a:schemeClr val="accent1"/>
          </a:effectRef>
          <a:fontRef idx="minor">
            <a:schemeClr val="tx1"/>
          </a:fontRef>
        </p:style>
      </p:cxnSp>
      <p:pic>
        <p:nvPicPr>
          <p:cNvPr id="16" name="Picture 15" descr="_example_image.jpg"/>
          <p:cNvPicPr>
            <a:picLocks noChangeAspect="1"/>
          </p:cNvPicPr>
          <p:nvPr/>
        </p:nvPicPr>
        <p:blipFill>
          <a:blip r:embed="rId3"/>
          <a:srcRect l="4697" t="12337" r="17834" b="1787"/>
          <a:stretch>
            <a:fillRect/>
          </a:stretch>
        </p:blipFill>
        <p:spPr>
          <a:xfrm>
            <a:off x="10388685" y="3207676"/>
            <a:ext cx="1610924" cy="2238444"/>
          </a:xfrm>
          <a:prstGeom prst="rect">
            <a:avLst/>
          </a:prstGeom>
        </p:spPr>
      </p:pic>
      <p:sp>
        <p:nvSpPr>
          <p:cNvPr id="17" name="Rounded Rectangle 16"/>
          <p:cNvSpPr/>
          <p:nvPr/>
        </p:nvSpPr>
        <p:spPr>
          <a:xfrm>
            <a:off x="10388685" y="3207676"/>
            <a:ext cx="1610924" cy="2238444"/>
          </a:xfrm>
          <a:prstGeom prst="roundRect">
            <a:avLst/>
          </a:prstGeom>
          <a:noFill/>
          <a:ln w="15240">
            <a:solidFill>
              <a:srgbClr val="2B82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ight Arrow Callout 17"/>
          <p:cNvSpPr/>
          <p:nvPr/>
        </p:nvSpPr>
        <p:spPr>
          <a:xfrm>
            <a:off x="436540" y="4918466"/>
            <a:ext cx="441166" cy="374329"/>
          </a:xfrm>
          <a:prstGeom prst="rightArrowCallout">
            <a:avLst/>
          </a:prstGeom>
          <a:solidFill>
            <a:srgbClr val="CD4A21"/>
          </a:solidFill>
          <a:ln w="9516">
            <a:solidFill>
              <a:srgbClr val="27C79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1723282" y="3483422"/>
            <a:ext cx="1397990" cy="441054"/>
          </a:xfrm>
          <a:prstGeom prst="bentConnector3">
            <a:avLst/>
          </a:prstGeom>
          <a:ln w="47007">
            <a:solidFill>
              <a:srgbClr val="487B3C"/>
            </a:solidFill>
            <a:prstDash val="solid"/>
          </a:ln>
        </p:spPr>
        <p:style>
          <a:lnRef idx="2">
            <a:schemeClr val="accent1"/>
          </a:lnRef>
          <a:fillRef idx="0">
            <a:schemeClr val="accent1"/>
          </a:fillRef>
          <a:effectRef idx="1">
            <a:schemeClr val="accent1"/>
          </a:effectRef>
          <a:fontRef idx="minor">
            <a:schemeClr val="tx1"/>
          </a:fontRef>
        </p:style>
      </p:cxnSp>
      <p:pic>
        <p:nvPicPr>
          <p:cNvPr id="20" name="Picture 19" descr="_example_image.jpg"/>
          <p:cNvPicPr>
            <a:picLocks noChangeAspect="1"/>
          </p:cNvPicPr>
          <p:nvPr/>
        </p:nvPicPr>
        <p:blipFill>
          <a:blip r:embed="rId3"/>
          <a:srcRect/>
          <a:stretch>
            <a:fillRect/>
          </a:stretch>
        </p:blipFill>
        <p:spPr>
          <a:xfrm>
            <a:off x="7362728" y="289544"/>
            <a:ext cx="3171597" cy="877610"/>
          </a:xfrm>
          <a:prstGeom prst="rect">
            <a:avLst/>
          </a:prstGeom>
        </p:spPr>
      </p:pic>
      <p:sp>
        <p:nvSpPr>
          <p:cNvPr id="21" name="TextBox 20"/>
          <p:cNvSpPr txBox="1"/>
          <p:nvPr/>
        </p:nvSpPr>
        <p:spPr>
          <a:xfrm>
            <a:off x="4757119" y="360464"/>
            <a:ext cx="518672" cy="1319583"/>
          </a:xfrm>
          <a:prstGeom prst="rect">
            <a:avLst/>
          </a:prstGeom>
          <a:solidFill>
            <a:srgbClr val="3B507B"/>
          </a:solidFill>
        </p:spPr>
        <p:txBody>
          <a:bodyPr wrap="none" lIns="49621" tIns="49621" rIns="49621" bIns="49621">
            <a:spAutoFit/>
          </a:bodyPr>
          <a:lstStyle/>
          <a:p>
            <a:r>
              <a:rPr sz="4400" b="1" i="1" u="none">
                <a:solidFill>
                  <a:srgbClr val="AB70DE"/>
                </a:solidFill>
                <a:latin typeface="Aptos"/>
              </a:rPr>
              <a:t>Command Format Segment Pattern Volume Foundation</a:t>
            </a:r>
          </a:p>
        </p:txBody>
      </p:sp>
      <p:sp>
        <p:nvSpPr>
          <p:cNvPr id="22" name="Parallelogram 21"/>
          <p:cNvSpPr/>
          <p:nvPr/>
        </p:nvSpPr>
        <p:spPr>
          <a:xfrm>
            <a:off x="9942354" y="3816905"/>
            <a:ext cx="438573" cy="1960820"/>
          </a:xfrm>
          <a:prstGeom prst="parallelogram">
            <a:avLst/>
          </a:prstGeom>
          <a:solidFill>
            <a:srgbClr val="4C6FA1"/>
          </a:solidFill>
          <a:ln w="27988">
            <a:solidFill>
              <a:srgbClr val="96333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06891" y="3114257"/>
            <a:ext cx="3215462" cy="2224504"/>
          </a:xfrm>
          <a:prstGeom prst="rect">
            <a:avLst/>
          </a:prstGeom>
          <a:solidFill>
            <a:srgbClr val="4F9B6F"/>
          </a:solidFill>
        </p:spPr>
        <p:txBody>
          <a:bodyPr wrap="none" lIns="90868" tIns="90868" rIns="90868" bIns="90868">
            <a:spAutoFit/>
          </a:bodyPr>
          <a:lstStyle/>
          <a:p>
            <a:r>
              <a:rPr sz="1300" b="0" i="0" u="none">
                <a:solidFill>
                  <a:srgbClr val="53D183"/>
                </a:solidFill>
                <a:latin typeface="Verdana"/>
              </a:rPr>
              <a:t>Strategy Density</a:t>
            </a:r>
          </a:p>
        </p:txBody>
      </p:sp>
      <p:sp>
        <p:nvSpPr>
          <p:cNvPr id="24" name="Striped Right Arrow 23"/>
          <p:cNvSpPr/>
          <p:nvPr/>
        </p:nvSpPr>
        <p:spPr>
          <a:xfrm>
            <a:off x="9438845" y="2306509"/>
            <a:ext cx="1693895" cy="521275"/>
          </a:xfrm>
          <a:prstGeom prst="stripedRightArrow">
            <a:avLst/>
          </a:prstGeom>
          <a:solidFill>
            <a:srgbClr val="85811D"/>
          </a:solidFill>
          <a:ln w="25246">
            <a:solidFill>
              <a:srgbClr val="229ED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_example_image.jpg"/>
          <p:cNvPicPr>
            <a:picLocks noChangeAspect="1"/>
          </p:cNvPicPr>
          <p:nvPr/>
        </p:nvPicPr>
        <p:blipFill>
          <a:blip r:embed="rId3"/>
          <a:srcRect l="6396" t="5570" r="789" b="2260"/>
          <a:stretch>
            <a:fillRect/>
          </a:stretch>
        </p:blipFill>
        <p:spPr>
          <a:xfrm>
            <a:off x="495048" y="2349345"/>
            <a:ext cx="1201777" cy="1074468"/>
          </a:xfrm>
          <a:prstGeom prst="rect">
            <a:avLst/>
          </a:prstGeom>
        </p:spPr>
      </p:pic>
      <p:graphicFrame>
        <p:nvGraphicFramePr>
          <p:cNvPr id="26" name="Chart 25"/>
          <p:cNvGraphicFramePr>
            <a:graphicFrameLocks noGrp="1"/>
          </p:cNvGraphicFramePr>
          <p:nvPr/>
        </p:nvGraphicFramePr>
        <p:xfrm>
          <a:off x="7365810" y="1891402"/>
          <a:ext cx="2599185" cy="1571447"/>
        </p:xfrm>
        <a:graphic>
          <a:graphicData uri="http://schemas.openxmlformats.org/drawingml/2006/chart">
            <c:chart xmlns:c="http://schemas.openxmlformats.org/drawingml/2006/chart" xmlns:r="http://schemas.openxmlformats.org/officeDocument/2006/relationships" r:id="rId4"/>
          </a:graphicData>
        </a:graphic>
      </p:graphicFrame>
      <p:sp>
        <p:nvSpPr>
          <p:cNvPr id="27" name="Freeform 26"/>
          <p:cNvSpPr/>
          <p:nvPr/>
        </p:nvSpPr>
        <p:spPr>
          <a:xfrm>
            <a:off x="2651136" y="5606586"/>
            <a:ext cx="2024533" cy="728448"/>
          </a:xfrm>
          <a:custGeom>
            <a:avLst/>
            <a:gdLst/>
            <a:ahLst/>
            <a:cxnLst/>
            <a:rect l="l" t="t" r="r" b="b"/>
            <a:pathLst>
              <a:path w="2024533" h="728448">
                <a:moveTo>
                  <a:pt x="1012267" y="0"/>
                </a:moveTo>
                <a:lnTo>
                  <a:pt x="1265333" y="182112"/>
                </a:lnTo>
                <a:lnTo>
                  <a:pt x="1898000" y="131120"/>
                </a:lnTo>
                <a:lnTo>
                  <a:pt x="1539489" y="364224"/>
                </a:lnTo>
                <a:lnTo>
                  <a:pt x="2024533" y="568189"/>
                </a:lnTo>
                <a:lnTo>
                  <a:pt x="1265333" y="524482"/>
                </a:lnTo>
                <a:lnTo>
                  <a:pt x="1012267" y="728448"/>
                </a:lnTo>
                <a:lnTo>
                  <a:pt x="759200" y="524482"/>
                </a:lnTo>
                <a:lnTo>
                  <a:pt x="0" y="568189"/>
                </a:lnTo>
                <a:lnTo>
                  <a:pt x="485045" y="364224"/>
                </a:lnTo>
                <a:lnTo>
                  <a:pt x="126534" y="131120"/>
                </a:lnTo>
                <a:lnTo>
                  <a:pt x="759200" y="182112"/>
                </a:lnTo>
                <a:close/>
              </a:path>
            </a:pathLst>
          </a:custGeom>
          <a:solidFill>
            <a:srgbClr val="D27F54"/>
          </a:solidFill>
          <a:ln w="31178">
            <a:solidFill>
              <a:srgbClr val="1B1C8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B8CD6044-385D-4929-2E6F-7B3DC0334C0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419366" y="981161"/>
            <a:ext cx="1413588" cy="834623"/>
          </a:xfrm>
          <a:prstGeom prst="rect">
            <a:avLst/>
          </a:prstGeom>
        </p:spPr>
      </p:pic>
      <p:pic>
        <p:nvPicPr>
          <p:cNvPr id="31" name="Graphic 30">
            <a:extLst>
              <a:ext uri="{FF2B5EF4-FFF2-40B4-BE49-F238E27FC236}">
                <a16:creationId xmlns:a16="http://schemas.microsoft.com/office/drawing/2014/main" id="{8F7A6EC9-A03A-852D-CBCF-234BD9001EF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128886" y="2613427"/>
            <a:ext cx="1432127" cy="9201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2677551" y="407965"/>
            <a:ext cx="2416711" cy="516993"/>
          </a:xfrm>
          <a:prstGeom prst="curvedConnector3">
            <a:avLst/>
          </a:prstGeom>
          <a:ln w="24726">
            <a:solidFill>
              <a:srgbClr val="CAB649"/>
            </a:solidFill>
            <a:prstDash val="dot"/>
          </a:ln>
        </p:spPr>
        <p:style>
          <a:lnRef idx="2">
            <a:schemeClr val="accent1"/>
          </a:lnRef>
          <a:fillRef idx="0">
            <a:schemeClr val="accent1"/>
          </a:fillRef>
          <a:effectRef idx="1">
            <a:schemeClr val="accent1"/>
          </a:effectRef>
          <a:fontRef idx="minor">
            <a:schemeClr val="tx1"/>
          </a:fontRef>
        </p:style>
      </p:cxnSp>
      <p:pic>
        <p:nvPicPr>
          <p:cNvPr id="3" name="Picture 2" descr="_example_image.jpg"/>
          <p:cNvPicPr>
            <a:picLocks noChangeAspect="1"/>
          </p:cNvPicPr>
          <p:nvPr/>
        </p:nvPicPr>
        <p:blipFill>
          <a:blip r:embed="rId2"/>
          <a:srcRect l="8121" t="5151" r="11627" b="573"/>
          <a:stretch>
            <a:fillRect/>
          </a:stretch>
        </p:blipFill>
        <p:spPr>
          <a:xfrm>
            <a:off x="9524680" y="591398"/>
            <a:ext cx="1252279" cy="2117918"/>
          </a:xfrm>
          <a:prstGeom prst="rect">
            <a:avLst/>
          </a:prstGeom>
        </p:spPr>
      </p:pic>
      <p:sp>
        <p:nvSpPr>
          <p:cNvPr id="4" name="Rounded Rectangle 3"/>
          <p:cNvSpPr/>
          <p:nvPr/>
        </p:nvSpPr>
        <p:spPr>
          <a:xfrm>
            <a:off x="9524680" y="591398"/>
            <a:ext cx="1252279" cy="2117918"/>
          </a:xfrm>
          <a:prstGeom prst="roundRect">
            <a:avLst/>
          </a:prstGeom>
          <a:noFill/>
          <a:ln w="15240">
            <a:solidFill>
              <a:srgbClr val="D3D6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00802" y="887005"/>
            <a:ext cx="3619276" cy="398930"/>
          </a:xfrm>
          <a:prstGeom prst="rect">
            <a:avLst/>
          </a:prstGeom>
          <a:noFill/>
        </p:spPr>
        <p:txBody>
          <a:bodyPr wrap="none" lIns="45109" tIns="45109" rIns="45109" bIns="45109">
            <a:spAutoFit/>
          </a:bodyPr>
          <a:lstStyle/>
          <a:p>
            <a:r>
              <a:rPr sz="1000" b="0" i="0" u="none">
                <a:solidFill>
                  <a:srgbClr val="BC426F"/>
                </a:solidFill>
                <a:latin typeface="Calibri"/>
              </a:rPr>
              <a:t>Pulse Drift Compass Measure Epoch Lens Cluster Column Graph North Process Detail Concept Cell Slice Cadence Grid Agenda Access Dashboard Field</a:t>
            </a:r>
          </a:p>
        </p:txBody>
      </p:sp>
      <p:sp>
        <p:nvSpPr>
          <p:cNvPr id="6" name="U-Turn Arrow 5"/>
          <p:cNvSpPr/>
          <p:nvPr/>
        </p:nvSpPr>
        <p:spPr>
          <a:xfrm>
            <a:off x="8856646" y="5152453"/>
            <a:ext cx="496952" cy="513003"/>
          </a:xfrm>
          <a:prstGeom prst="uturnArrow">
            <a:avLst/>
          </a:prstGeom>
          <a:solidFill>
            <a:srgbClr val="B072A3"/>
          </a:solidFill>
          <a:ln w="20802">
            <a:solidFill>
              <a:srgbClr val="2DDD2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isplay 6"/>
          <p:cNvSpPr/>
          <p:nvPr/>
        </p:nvSpPr>
        <p:spPr>
          <a:xfrm>
            <a:off x="5018697" y="1425344"/>
            <a:ext cx="421835" cy="1113672"/>
          </a:xfrm>
          <a:prstGeom prst="flowChartDisplay">
            <a:avLst/>
          </a:prstGeom>
          <a:noFill/>
          <a:ln w="9537">
            <a:solidFill>
              <a:srgbClr val="80668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82866" y="4203925"/>
            <a:ext cx="3826107" cy="1105424"/>
          </a:xfrm>
          <a:prstGeom prst="rect">
            <a:avLst/>
          </a:prstGeom>
          <a:noFill/>
        </p:spPr>
        <p:txBody>
          <a:bodyPr wrap="none" lIns="60081" tIns="60081" rIns="60081" bIns="60081">
            <a:spAutoFit/>
          </a:bodyPr>
          <a:lstStyle/>
          <a:p>
            <a:r>
              <a:rPr sz="1600" b="1" i="0" u="sng">
                <a:solidFill>
                  <a:srgbClr val="9D2C73"/>
                </a:solidFill>
                <a:latin typeface="Arial"/>
              </a:rPr>
              <a:t>Intent Input Volume Ledger Balance Element Schema Marker Capacity Request Action Buffer Exchange Position State Envelope Focus Path Chart</a:t>
            </a:r>
          </a:p>
        </p:txBody>
      </p:sp>
      <p:sp>
        <p:nvSpPr>
          <p:cNvPr id="9" name="Freeform 8"/>
          <p:cNvSpPr/>
          <p:nvPr/>
        </p:nvSpPr>
        <p:spPr>
          <a:xfrm>
            <a:off x="6950258" y="4139260"/>
            <a:ext cx="751981" cy="1064565"/>
          </a:xfrm>
          <a:custGeom>
            <a:avLst/>
            <a:gdLst/>
            <a:ahLst/>
            <a:cxnLst/>
            <a:rect l="l" t="t" r="r" b="b"/>
            <a:pathLst>
              <a:path w="751981" h="1064565">
                <a:moveTo>
                  <a:pt x="0" y="236570"/>
                </a:moveTo>
                <a:lnTo>
                  <a:pt x="161717" y="0"/>
                </a:lnTo>
                <a:lnTo>
                  <a:pt x="323433" y="319370"/>
                </a:lnTo>
                <a:lnTo>
                  <a:pt x="485149" y="35486"/>
                </a:lnTo>
                <a:lnTo>
                  <a:pt x="751981" y="827995"/>
                </a:lnTo>
                <a:lnTo>
                  <a:pt x="566008" y="1064565"/>
                </a:lnTo>
                <a:lnTo>
                  <a:pt x="388120" y="709710"/>
                </a:lnTo>
                <a:lnTo>
                  <a:pt x="185974" y="1029079"/>
                </a:lnTo>
                <a:close/>
              </a:path>
            </a:pathLst>
          </a:custGeom>
          <a:solidFill>
            <a:srgbClr val="B28688"/>
          </a:solidFill>
          <a:ln w="17361">
            <a:solidFill>
              <a:srgbClr val="3CA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rapezoid 9"/>
          <p:cNvSpPr/>
          <p:nvPr/>
        </p:nvSpPr>
        <p:spPr>
          <a:xfrm>
            <a:off x="10410118" y="4511389"/>
            <a:ext cx="535006" cy="2010777"/>
          </a:xfrm>
          <a:prstGeom prst="trapezoid">
            <a:avLst/>
          </a:prstGeom>
          <a:solidFill>
            <a:srgbClr val="5819B3"/>
          </a:solidFill>
          <a:ln w="9386">
            <a:solidFill>
              <a:srgbClr val="9E3D6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woosh Arrow 10"/>
          <p:cNvSpPr/>
          <p:nvPr/>
        </p:nvSpPr>
        <p:spPr>
          <a:xfrm>
            <a:off x="7870094" y="4336543"/>
            <a:ext cx="2113908" cy="454160"/>
          </a:xfrm>
          <a:prstGeom prst="swooshArrow">
            <a:avLst/>
          </a:prstGeom>
          <a:noFill/>
          <a:ln w="7817">
            <a:solidFill>
              <a:srgbClr val="8254A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64494" y="2794243"/>
            <a:ext cx="415284" cy="1342431"/>
          </a:xfrm>
          <a:prstGeom prst="rect">
            <a:avLst/>
          </a:prstGeom>
          <a:noFill/>
        </p:spPr>
        <p:txBody>
          <a:bodyPr wrap="none" lIns="42617" tIns="42617" rIns="42617" bIns="42617">
            <a:spAutoFit/>
          </a:bodyPr>
          <a:lstStyle/>
          <a:p>
            <a:r>
              <a:rPr sz="1500" b="0" i="0" u="none">
                <a:solidFill>
                  <a:srgbClr val="C954A0"/>
                </a:solidFill>
                <a:latin typeface="Aptos"/>
              </a:rPr>
              <a:t>Foundation Control Segment Catalog Matrix Channel Method Datum Level Ratio Route Position Report Indicator Network Sync Anchor Version Option Cortex Object Collection Concept Density Method Stage Tile Viewport</a:t>
            </a:r>
          </a:p>
        </p:txBody>
      </p:sp>
      <p:graphicFrame>
        <p:nvGraphicFramePr>
          <p:cNvPr id="13" name="Chart 12"/>
          <p:cNvGraphicFramePr>
            <a:graphicFrameLocks noGrp="1"/>
          </p:cNvGraphicFramePr>
          <p:nvPr/>
        </p:nvGraphicFramePr>
        <p:xfrm>
          <a:off x="7427153" y="2311663"/>
          <a:ext cx="2105937" cy="1806423"/>
        </p:xfrm>
        <a:graphic>
          <a:graphicData uri="http://schemas.openxmlformats.org/drawingml/2006/chart">
            <c:chart xmlns:c="http://schemas.openxmlformats.org/drawingml/2006/chart" xmlns:r="http://schemas.openxmlformats.org/officeDocument/2006/relationships" r:id="rId3"/>
          </a:graphicData>
        </a:graphic>
      </p:graphicFrame>
      <p:cxnSp>
        <p:nvCxnSpPr>
          <p:cNvPr id="14" name="Connector 13"/>
          <p:cNvCxnSpPr/>
          <p:nvPr/>
        </p:nvCxnSpPr>
        <p:spPr>
          <a:xfrm>
            <a:off x="5991838" y="508376"/>
            <a:ext cx="3251253" cy="402928"/>
          </a:xfrm>
          <a:prstGeom prst="curvedConnector3">
            <a:avLst/>
          </a:prstGeom>
          <a:ln w="14725">
            <a:solidFill>
              <a:srgbClr val="724733"/>
            </a:solidFill>
            <a:prstDash val="solid"/>
          </a:ln>
        </p:spPr>
        <p:style>
          <a:lnRef idx="2">
            <a:schemeClr val="accent1"/>
          </a:lnRef>
          <a:fillRef idx="0">
            <a:schemeClr val="accent1"/>
          </a:fillRef>
          <a:effectRef idx="1">
            <a:schemeClr val="accent1"/>
          </a:effectRef>
          <a:fontRef idx="minor">
            <a:schemeClr val="tx1"/>
          </a:fontRef>
        </p:style>
      </p:cxnSp>
      <p:sp>
        <p:nvSpPr>
          <p:cNvPr id="15" name="U-Turn Arrow 14"/>
          <p:cNvSpPr/>
          <p:nvPr/>
        </p:nvSpPr>
        <p:spPr>
          <a:xfrm>
            <a:off x="8103298" y="979218"/>
            <a:ext cx="1433866" cy="1768614"/>
          </a:xfrm>
          <a:prstGeom prst="uturnArrow">
            <a:avLst/>
          </a:prstGeom>
          <a:solidFill>
            <a:srgbClr val="C74FE0"/>
          </a:solidFill>
          <a:ln w="25819">
            <a:solidFill>
              <a:srgbClr val="A39C5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Chart 15"/>
          <p:cNvGraphicFramePr>
            <a:graphicFrameLocks noGrp="1"/>
          </p:cNvGraphicFramePr>
          <p:nvPr/>
        </p:nvGraphicFramePr>
        <p:xfrm>
          <a:off x="9196616" y="4063365"/>
          <a:ext cx="2030018" cy="1619239"/>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5895818" y="2564576"/>
            <a:ext cx="945542" cy="1367935"/>
          </a:xfrm>
          <a:prstGeom prst="rect">
            <a:avLst/>
          </a:prstGeom>
          <a:noFill/>
        </p:spPr>
        <p:txBody>
          <a:bodyPr wrap="none" lIns="55770" tIns="55770" rIns="55770" bIns="55770">
            <a:spAutoFit/>
          </a:bodyPr>
          <a:lstStyle/>
          <a:p>
            <a:r>
              <a:rPr sz="5200" b="1" i="1" u="none">
                <a:solidFill>
                  <a:srgbClr val="3A4EC3"/>
                </a:solidFill>
                <a:latin typeface="Verdana"/>
              </a:rPr>
              <a:t>Motion Motion Transit Strategy Template</a:t>
            </a:r>
          </a:p>
        </p:txBody>
      </p:sp>
      <p:sp>
        <p:nvSpPr>
          <p:cNvPr id="18" name="TextBox 17"/>
          <p:cNvSpPr txBox="1"/>
          <p:nvPr/>
        </p:nvSpPr>
        <p:spPr>
          <a:xfrm>
            <a:off x="1702978" y="4992803"/>
            <a:ext cx="486566" cy="1018095"/>
          </a:xfrm>
          <a:prstGeom prst="rect">
            <a:avLst/>
          </a:prstGeom>
          <a:noFill/>
        </p:spPr>
        <p:txBody>
          <a:bodyPr wrap="none" lIns="62156" tIns="62156" rIns="62156" bIns="62156">
            <a:spAutoFit/>
          </a:bodyPr>
          <a:lstStyle/>
          <a:p>
            <a:r>
              <a:rPr sz="1200" b="1" i="0" u="none">
                <a:solidFill>
                  <a:srgbClr val="7E791B"/>
                </a:solidFill>
                <a:latin typeface="Trebuchet MS"/>
              </a:rPr>
              <a:t>Position State Connector Catalog Status Edge Estimate Action Device Datum</a:t>
            </a:r>
          </a:p>
        </p:txBody>
      </p:sp>
      <p:sp>
        <p:nvSpPr>
          <p:cNvPr id="19" name="Left Right Ribbon 18"/>
          <p:cNvSpPr/>
          <p:nvPr/>
        </p:nvSpPr>
        <p:spPr>
          <a:xfrm>
            <a:off x="10714447" y="2873971"/>
            <a:ext cx="1192221" cy="1597012"/>
          </a:xfrm>
          <a:prstGeom prst="leftRightRibbon">
            <a:avLst/>
          </a:prstGeom>
          <a:solidFill>
            <a:srgbClr val="63A6B6"/>
          </a:solidFill>
          <a:ln w="13471">
            <a:solidFill>
              <a:srgbClr val="31599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958396" y="1301935"/>
            <a:ext cx="2972041" cy="818823"/>
          </a:xfrm>
          <a:prstGeom prst="curvedConnector3">
            <a:avLst/>
          </a:prstGeom>
          <a:ln w="36159">
            <a:solidFill>
              <a:srgbClr val="443A8D"/>
            </a:solidFill>
            <a:prstDash val="dashDot"/>
          </a:ln>
        </p:spPr>
        <p:style>
          <a:lnRef idx="2">
            <a:schemeClr val="accent1"/>
          </a:lnRef>
          <a:fillRef idx="0">
            <a:schemeClr val="accent1"/>
          </a:fillRef>
          <a:effectRef idx="1">
            <a:schemeClr val="accent1"/>
          </a:effectRef>
          <a:fontRef idx="minor">
            <a:schemeClr val="tx1"/>
          </a:fontRef>
        </p:style>
      </p:cxnSp>
      <p:pic>
        <p:nvPicPr>
          <p:cNvPr id="21" name="Picture 20" descr="_example_image.jpg"/>
          <p:cNvPicPr>
            <a:picLocks noChangeAspect="1"/>
          </p:cNvPicPr>
          <p:nvPr/>
        </p:nvPicPr>
        <p:blipFill>
          <a:blip r:embed="rId2"/>
          <a:srcRect l="6721" t="9236" r="14965" b="20443"/>
          <a:stretch>
            <a:fillRect/>
          </a:stretch>
        </p:blipFill>
        <p:spPr>
          <a:xfrm>
            <a:off x="2159279" y="4343530"/>
            <a:ext cx="1013101" cy="863642"/>
          </a:xfrm>
          <a:prstGeom prst="rect">
            <a:avLst/>
          </a:prstGeom>
        </p:spPr>
      </p:pic>
      <p:pic>
        <p:nvPicPr>
          <p:cNvPr id="22" name="Picture 21" descr="_example_image.jpg"/>
          <p:cNvPicPr>
            <a:picLocks noChangeAspect="1"/>
          </p:cNvPicPr>
          <p:nvPr/>
        </p:nvPicPr>
        <p:blipFill>
          <a:blip r:embed="rId2"/>
          <a:srcRect l="17946" t="14221" r="2367" b="13556"/>
          <a:stretch>
            <a:fillRect/>
          </a:stretch>
        </p:blipFill>
        <p:spPr>
          <a:xfrm>
            <a:off x="624228" y="5800143"/>
            <a:ext cx="2776748" cy="869888"/>
          </a:xfrm>
          <a:prstGeom prst="rect">
            <a:avLst/>
          </a:prstGeom>
        </p:spPr>
      </p:pic>
      <p:sp>
        <p:nvSpPr>
          <p:cNvPr id="23" name="Octagon 22"/>
          <p:cNvSpPr/>
          <p:nvPr/>
        </p:nvSpPr>
        <p:spPr>
          <a:xfrm>
            <a:off x="3654563" y="1969507"/>
            <a:ext cx="1027291" cy="468547"/>
          </a:xfrm>
          <a:prstGeom prst="octagon">
            <a:avLst/>
          </a:prstGeom>
          <a:solidFill>
            <a:srgbClr val="21C8E4"/>
          </a:solidFill>
          <a:ln w="22702">
            <a:solidFill>
              <a:srgbClr val="89B05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0536" y="4351627"/>
            <a:ext cx="1425733" cy="565198"/>
          </a:xfrm>
          <a:prstGeom prst="rect">
            <a:avLst/>
          </a:prstGeom>
          <a:noFill/>
        </p:spPr>
        <p:txBody>
          <a:bodyPr wrap="none" lIns="87846" tIns="87846" rIns="87846" bIns="87846">
            <a:spAutoFit/>
          </a:bodyPr>
          <a:lstStyle/>
          <a:p>
            <a:r>
              <a:rPr sz="1400" b="0" i="0" u="none">
                <a:solidFill>
                  <a:srgbClr val="D36949"/>
                </a:solidFill>
                <a:latin typeface="Calibri"/>
              </a:rPr>
              <a:t>Token Craft Output Trend Map Velocity Map Region Module Output Motion Iteration Range Release Zone Record Surface Stream Lens Plan Center Pulse Data Loop Gradient Moment Command Station</a:t>
            </a:r>
          </a:p>
        </p:txBody>
      </p:sp>
      <p:sp>
        <p:nvSpPr>
          <p:cNvPr id="25" name="Freeform 24"/>
          <p:cNvSpPr/>
          <p:nvPr/>
        </p:nvSpPr>
        <p:spPr>
          <a:xfrm>
            <a:off x="5905776" y="1842068"/>
            <a:ext cx="1128173" cy="675655"/>
          </a:xfrm>
          <a:custGeom>
            <a:avLst/>
            <a:gdLst/>
            <a:ahLst/>
            <a:cxnLst/>
            <a:rect l="l" t="t" r="r" b="b"/>
            <a:pathLst>
              <a:path w="1128173" h="675655">
                <a:moveTo>
                  <a:pt x="121309" y="115005"/>
                </a:moveTo>
                <a:lnTo>
                  <a:pt x="400319" y="0"/>
                </a:lnTo>
                <a:lnTo>
                  <a:pt x="824901" y="57503"/>
                </a:lnTo>
                <a:lnTo>
                  <a:pt x="1128173" y="273137"/>
                </a:lnTo>
                <a:lnTo>
                  <a:pt x="970472" y="560650"/>
                </a:lnTo>
                <a:lnTo>
                  <a:pt x="521628" y="675655"/>
                </a:lnTo>
                <a:lnTo>
                  <a:pt x="72785" y="488771"/>
                </a:lnTo>
                <a:lnTo>
                  <a:pt x="0" y="244386"/>
                </a:lnTo>
                <a:close/>
              </a:path>
            </a:pathLst>
          </a:custGeom>
          <a:solidFill>
            <a:srgbClr val="58B442"/>
          </a:solidFill>
          <a:ln w="27862">
            <a:solidFill>
              <a:srgbClr val="44D0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Table 25"/>
          <p:cNvGraphicFramePr>
            <a:graphicFrameLocks noGrp="1"/>
          </p:cNvGraphicFramePr>
          <p:nvPr/>
        </p:nvGraphicFramePr>
        <p:xfrm>
          <a:off x="3979955" y="5383484"/>
          <a:ext cx="5108150" cy="1266830"/>
        </p:xfrm>
        <a:graphic>
          <a:graphicData uri="http://schemas.openxmlformats.org/drawingml/2006/table">
            <a:tbl>
              <a:tblPr firstRow="1" bandRow="1">
                <a:tableStyleId>{5C22544A-7EE6-4342-B048-85BDC9FD1C3A}</a:tableStyleId>
              </a:tblPr>
              <a:tblGrid>
                <a:gridCol w="1702716">
                  <a:extLst>
                    <a:ext uri="{9D8B030D-6E8A-4147-A177-3AD203B41FA5}">
                      <a16:colId xmlns:a16="http://schemas.microsoft.com/office/drawing/2014/main" val="20000"/>
                    </a:ext>
                  </a:extLst>
                </a:gridCol>
                <a:gridCol w="1702716">
                  <a:extLst>
                    <a:ext uri="{9D8B030D-6E8A-4147-A177-3AD203B41FA5}">
                      <a16:colId xmlns:a16="http://schemas.microsoft.com/office/drawing/2014/main" val="20001"/>
                    </a:ext>
                  </a:extLst>
                </a:gridCol>
                <a:gridCol w="1702718">
                  <a:extLst>
                    <a:ext uri="{9D8B030D-6E8A-4147-A177-3AD203B41FA5}">
                      <a16:colId xmlns:a16="http://schemas.microsoft.com/office/drawing/2014/main" val="20002"/>
                    </a:ext>
                  </a:extLst>
                </a:gridCol>
              </a:tblGrid>
              <a:tr h="422276">
                <a:tc>
                  <a:txBody>
                    <a:bodyPr/>
                    <a:lstStyle/>
                    <a:p>
                      <a:r>
                        <a:rPr sz="800" b="1">
                          <a:solidFill>
                            <a:srgbClr val="40255E"/>
                          </a:solidFill>
                        </a:rPr>
                        <a:t>Clarity Motion</a:t>
                      </a:r>
                    </a:p>
                  </a:txBody>
                  <a:tcPr>
                    <a:solidFill>
                      <a:srgbClr val="893E5E"/>
                    </a:solidFill>
                  </a:tcPr>
                </a:tc>
                <a:tc>
                  <a:txBody>
                    <a:bodyPr/>
                    <a:lstStyle/>
                    <a:p>
                      <a:r>
                        <a:rPr sz="800" b="1">
                          <a:solidFill>
                            <a:srgbClr val="40255E"/>
                          </a:solidFill>
                        </a:rPr>
                        <a:t>Access Frame</a:t>
                      </a:r>
                    </a:p>
                  </a:txBody>
                  <a:tcPr>
                    <a:solidFill>
                      <a:srgbClr val="893E5E"/>
                    </a:solidFill>
                  </a:tcPr>
                </a:tc>
                <a:tc>
                  <a:txBody>
                    <a:bodyPr/>
                    <a:lstStyle/>
                    <a:p>
                      <a:r>
                        <a:rPr sz="800" b="1">
                          <a:solidFill>
                            <a:srgbClr val="40255E"/>
                          </a:solidFill>
                        </a:rPr>
                        <a:t>Bundle Drift</a:t>
                      </a:r>
                    </a:p>
                  </a:txBody>
                  <a:tcPr>
                    <a:solidFill>
                      <a:srgbClr val="893E5E"/>
                    </a:solidFill>
                  </a:tcPr>
                </a:tc>
                <a:extLst>
                  <a:ext uri="{0D108BD9-81ED-4DB2-BD59-A6C34878D82A}">
                    <a16:rowId xmlns:a16="http://schemas.microsoft.com/office/drawing/2014/main" val="10000"/>
                  </a:ext>
                </a:extLst>
              </a:tr>
              <a:tr h="422276">
                <a:tc>
                  <a:txBody>
                    <a:bodyPr/>
                    <a:lstStyle/>
                    <a:p>
                      <a:r>
                        <a:rPr sz="800" b="0">
                          <a:solidFill>
                            <a:srgbClr val="40255E"/>
                          </a:solidFill>
                        </a:rPr>
                        <a:t>Array Link</a:t>
                      </a:r>
                    </a:p>
                  </a:txBody>
                  <a:tcPr>
                    <a:solidFill>
                      <a:srgbClr val="EAE3E9"/>
                    </a:solidFill>
                  </a:tcPr>
                </a:tc>
                <a:tc>
                  <a:txBody>
                    <a:bodyPr/>
                    <a:lstStyle/>
                    <a:p>
                      <a:r>
                        <a:rPr sz="800" b="0">
                          <a:solidFill>
                            <a:srgbClr val="40255E"/>
                          </a:solidFill>
                        </a:rPr>
                        <a:t>Resource Apex</a:t>
                      </a:r>
                    </a:p>
                  </a:txBody>
                  <a:tcPr>
                    <a:solidFill>
                      <a:srgbClr val="EAE3E9"/>
                    </a:solidFill>
                  </a:tcPr>
                </a:tc>
                <a:tc>
                  <a:txBody>
                    <a:bodyPr/>
                    <a:lstStyle/>
                    <a:p>
                      <a:r>
                        <a:rPr sz="800" b="0">
                          <a:solidFill>
                            <a:srgbClr val="40255E"/>
                          </a:solidFill>
                        </a:rPr>
                        <a:t>Draft</a:t>
                      </a:r>
                    </a:p>
                  </a:txBody>
                  <a:tcPr>
                    <a:solidFill>
                      <a:srgbClr val="EAE3E9"/>
                    </a:solidFill>
                  </a:tcPr>
                </a:tc>
                <a:extLst>
                  <a:ext uri="{0D108BD9-81ED-4DB2-BD59-A6C34878D82A}">
                    <a16:rowId xmlns:a16="http://schemas.microsoft.com/office/drawing/2014/main" val="10001"/>
                  </a:ext>
                </a:extLst>
              </a:tr>
              <a:tr h="422278">
                <a:tc>
                  <a:txBody>
                    <a:bodyPr/>
                    <a:lstStyle/>
                    <a:p>
                      <a:r>
                        <a:rPr sz="800" b="0">
                          <a:solidFill>
                            <a:srgbClr val="40255E"/>
                          </a:solidFill>
                        </a:rPr>
                        <a:t>Resource</a:t>
                      </a:r>
                    </a:p>
                  </a:txBody>
                  <a:tcPr>
                    <a:solidFill>
                      <a:srgbClr val="EAE3E9"/>
                    </a:solidFill>
                  </a:tcPr>
                </a:tc>
                <a:tc>
                  <a:txBody>
                    <a:bodyPr/>
                    <a:lstStyle/>
                    <a:p>
                      <a:r>
                        <a:rPr sz="800" b="0">
                          <a:solidFill>
                            <a:srgbClr val="40255E"/>
                          </a:solidFill>
                        </a:rPr>
                        <a:t>Pulse Brief</a:t>
                      </a:r>
                    </a:p>
                  </a:txBody>
                  <a:tcPr>
                    <a:solidFill>
                      <a:srgbClr val="EAE3E9"/>
                    </a:solidFill>
                  </a:tcPr>
                </a:tc>
                <a:tc>
                  <a:txBody>
                    <a:bodyPr/>
                    <a:lstStyle/>
                    <a:p>
                      <a:r>
                        <a:rPr sz="800" b="0">
                          <a:solidFill>
                            <a:srgbClr val="40255E"/>
                          </a:solidFill>
                        </a:rPr>
                        <a:t>Panel</a:t>
                      </a:r>
                    </a:p>
                  </a:txBody>
                  <a:tcPr>
                    <a:solidFill>
                      <a:srgbClr val="EAE3E9"/>
                    </a:solidFill>
                  </a:tcPr>
                </a:tc>
                <a:extLst>
                  <a:ext uri="{0D108BD9-81ED-4DB2-BD59-A6C34878D82A}">
                    <a16:rowId xmlns:a16="http://schemas.microsoft.com/office/drawing/2014/main" val="10002"/>
                  </a:ext>
                </a:extLst>
              </a:tr>
            </a:tbl>
          </a:graphicData>
        </a:graphic>
      </p:graphicFrame>
      <p:graphicFrame>
        <p:nvGraphicFramePr>
          <p:cNvPr id="27" name="Table 26"/>
          <p:cNvGraphicFramePr>
            <a:graphicFrameLocks noGrp="1"/>
          </p:cNvGraphicFramePr>
          <p:nvPr/>
        </p:nvGraphicFramePr>
        <p:xfrm>
          <a:off x="1963851" y="2472387"/>
          <a:ext cx="2957660" cy="1222112"/>
        </p:xfrm>
        <a:graphic>
          <a:graphicData uri="http://schemas.openxmlformats.org/drawingml/2006/table">
            <a:tbl>
              <a:tblPr firstRow="1" bandRow="1">
                <a:tableStyleId>{5C22544A-7EE6-4342-B048-85BDC9FD1C3A}</a:tableStyleId>
              </a:tblPr>
              <a:tblGrid>
                <a:gridCol w="985886">
                  <a:extLst>
                    <a:ext uri="{9D8B030D-6E8A-4147-A177-3AD203B41FA5}">
                      <a16:colId xmlns:a16="http://schemas.microsoft.com/office/drawing/2014/main" val="20000"/>
                    </a:ext>
                  </a:extLst>
                </a:gridCol>
                <a:gridCol w="985886">
                  <a:extLst>
                    <a:ext uri="{9D8B030D-6E8A-4147-A177-3AD203B41FA5}">
                      <a16:colId xmlns:a16="http://schemas.microsoft.com/office/drawing/2014/main" val="20001"/>
                    </a:ext>
                  </a:extLst>
                </a:gridCol>
                <a:gridCol w="985888">
                  <a:extLst>
                    <a:ext uri="{9D8B030D-6E8A-4147-A177-3AD203B41FA5}">
                      <a16:colId xmlns:a16="http://schemas.microsoft.com/office/drawing/2014/main" val="20002"/>
                    </a:ext>
                  </a:extLst>
                </a:gridCol>
              </a:tblGrid>
              <a:tr h="611056">
                <a:tc>
                  <a:txBody>
                    <a:bodyPr/>
                    <a:lstStyle/>
                    <a:p>
                      <a:r>
                        <a:rPr sz="800" b="1">
                          <a:solidFill>
                            <a:srgbClr val="E12F80"/>
                          </a:solidFill>
                        </a:rPr>
                        <a:t>Checkpoint</a:t>
                      </a:r>
                    </a:p>
                  </a:txBody>
                  <a:tcPr>
                    <a:solidFill>
                      <a:srgbClr val="B9DC25"/>
                    </a:solidFill>
                  </a:tcPr>
                </a:tc>
                <a:tc>
                  <a:txBody>
                    <a:bodyPr/>
                    <a:lstStyle/>
                    <a:p>
                      <a:r>
                        <a:rPr sz="800" b="1">
                          <a:solidFill>
                            <a:srgbClr val="E12F80"/>
                          </a:solidFill>
                        </a:rPr>
                        <a:t>Cortex Kernel</a:t>
                      </a:r>
                    </a:p>
                  </a:txBody>
                  <a:tcPr>
                    <a:solidFill>
                      <a:srgbClr val="B9DC25"/>
                    </a:solidFill>
                  </a:tcPr>
                </a:tc>
                <a:tc>
                  <a:txBody>
                    <a:bodyPr/>
                    <a:lstStyle/>
                    <a:p>
                      <a:r>
                        <a:rPr sz="800" b="1">
                          <a:solidFill>
                            <a:srgbClr val="E12F80"/>
                          </a:solidFill>
                        </a:rPr>
                        <a:t>Alpha</a:t>
                      </a:r>
                    </a:p>
                  </a:txBody>
                  <a:tcPr>
                    <a:solidFill>
                      <a:srgbClr val="B9DC25"/>
                    </a:solidFill>
                  </a:tcPr>
                </a:tc>
                <a:extLst>
                  <a:ext uri="{0D108BD9-81ED-4DB2-BD59-A6C34878D82A}">
                    <a16:rowId xmlns:a16="http://schemas.microsoft.com/office/drawing/2014/main" val="10000"/>
                  </a:ext>
                </a:extLst>
              </a:tr>
              <a:tr h="611056">
                <a:tc>
                  <a:txBody>
                    <a:bodyPr/>
                    <a:lstStyle/>
                    <a:p>
                      <a:r>
                        <a:rPr sz="800" b="0">
                          <a:solidFill>
                            <a:srgbClr val="E12F80"/>
                          </a:solidFill>
                        </a:rPr>
                        <a:t>Vertex Dimension</a:t>
                      </a:r>
                    </a:p>
                  </a:txBody>
                  <a:tcPr>
                    <a:solidFill>
                      <a:srgbClr val="C3C7BE"/>
                    </a:solidFill>
                  </a:tcPr>
                </a:tc>
                <a:tc>
                  <a:txBody>
                    <a:bodyPr/>
                    <a:lstStyle/>
                    <a:p>
                      <a:r>
                        <a:rPr sz="800" b="0">
                          <a:solidFill>
                            <a:srgbClr val="E12F80"/>
                          </a:solidFill>
                        </a:rPr>
                        <a:t>Apex Register</a:t>
                      </a:r>
                    </a:p>
                  </a:txBody>
                  <a:tcPr>
                    <a:solidFill>
                      <a:srgbClr val="C3C7BE"/>
                    </a:solidFill>
                  </a:tcPr>
                </a:tc>
                <a:tc>
                  <a:txBody>
                    <a:bodyPr/>
                    <a:lstStyle/>
                    <a:p>
                      <a:r>
                        <a:rPr sz="800" b="0">
                          <a:solidFill>
                            <a:srgbClr val="E12F80"/>
                          </a:solidFill>
                        </a:rPr>
                        <a:t>Runtime</a:t>
                      </a:r>
                    </a:p>
                  </a:txBody>
                  <a:tcPr>
                    <a:solidFill>
                      <a:srgbClr val="C3C7BE"/>
                    </a:solidFill>
                  </a:tcPr>
                </a:tc>
                <a:extLst>
                  <a:ext uri="{0D108BD9-81ED-4DB2-BD59-A6C34878D82A}">
                    <a16:rowId xmlns:a16="http://schemas.microsoft.com/office/drawing/2014/main" val="10001"/>
                  </a:ext>
                </a:extLst>
              </a:tr>
            </a:tbl>
          </a:graphicData>
        </a:graphic>
      </p:graphicFrame>
      <p:pic>
        <p:nvPicPr>
          <p:cNvPr id="29" name="Graphic 28">
            <a:extLst>
              <a:ext uri="{FF2B5EF4-FFF2-40B4-BE49-F238E27FC236}">
                <a16:creationId xmlns:a16="http://schemas.microsoft.com/office/drawing/2014/main" id="{B0ECE599-0671-8EFF-ACAF-6244A1C1F18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825861" y="5401618"/>
            <a:ext cx="1198942" cy="896660"/>
          </a:xfrm>
          <a:prstGeom prst="rect">
            <a:avLst/>
          </a:prstGeom>
        </p:spPr>
      </p:pic>
      <p:pic>
        <p:nvPicPr>
          <p:cNvPr id="31" name="Graphic 30">
            <a:extLst>
              <a:ext uri="{FF2B5EF4-FFF2-40B4-BE49-F238E27FC236}">
                <a16:creationId xmlns:a16="http://schemas.microsoft.com/office/drawing/2014/main" id="{086A6EBE-1E24-86CB-583F-E8232FDA4B3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43942" y="1777242"/>
            <a:ext cx="1829267" cy="12096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5737262" y="223068"/>
          <a:ext cx="4860097" cy="1318705"/>
        </p:xfrm>
        <a:graphic>
          <a:graphicData uri="http://schemas.openxmlformats.org/drawingml/2006/table">
            <a:tbl>
              <a:tblPr firstRow="1" bandRow="1">
                <a:tableStyleId>{5C22544A-7EE6-4342-B048-85BDC9FD1C3A}</a:tableStyleId>
              </a:tblPr>
              <a:tblGrid>
                <a:gridCol w="1620032">
                  <a:extLst>
                    <a:ext uri="{9D8B030D-6E8A-4147-A177-3AD203B41FA5}">
                      <a16:colId xmlns:a16="http://schemas.microsoft.com/office/drawing/2014/main" val="20000"/>
                    </a:ext>
                  </a:extLst>
                </a:gridCol>
                <a:gridCol w="1620032">
                  <a:extLst>
                    <a:ext uri="{9D8B030D-6E8A-4147-A177-3AD203B41FA5}">
                      <a16:colId xmlns:a16="http://schemas.microsoft.com/office/drawing/2014/main" val="20001"/>
                    </a:ext>
                  </a:extLst>
                </a:gridCol>
                <a:gridCol w="1620033">
                  <a:extLst>
                    <a:ext uri="{9D8B030D-6E8A-4147-A177-3AD203B41FA5}">
                      <a16:colId xmlns:a16="http://schemas.microsoft.com/office/drawing/2014/main" val="20002"/>
                    </a:ext>
                  </a:extLst>
                </a:gridCol>
              </a:tblGrid>
              <a:tr h="219784">
                <a:tc>
                  <a:txBody>
                    <a:bodyPr/>
                    <a:lstStyle/>
                    <a:p>
                      <a:r>
                        <a:rPr sz="900" b="0">
                          <a:solidFill>
                            <a:srgbClr val="B85E8E"/>
                          </a:solidFill>
                        </a:rPr>
                        <a:t>Alignment Action</a:t>
                      </a:r>
                    </a:p>
                  </a:txBody>
                  <a:tcPr>
                    <a:solidFill>
                      <a:srgbClr val="F8FAE4"/>
                    </a:solidFill>
                  </a:tcPr>
                </a:tc>
                <a:tc>
                  <a:txBody>
                    <a:bodyPr/>
                    <a:lstStyle/>
                    <a:p>
                      <a:r>
                        <a:rPr sz="900" b="0">
                          <a:solidFill>
                            <a:srgbClr val="B85E8E"/>
                          </a:solidFill>
                        </a:rPr>
                        <a:t>Surface</a:t>
                      </a:r>
                    </a:p>
                  </a:txBody>
                  <a:tcPr>
                    <a:solidFill>
                      <a:srgbClr val="ECF1B6"/>
                    </a:solidFill>
                  </a:tcPr>
                </a:tc>
                <a:tc>
                  <a:txBody>
                    <a:bodyPr/>
                    <a:lstStyle/>
                    <a:p>
                      <a:r>
                        <a:rPr sz="900" b="0">
                          <a:solidFill>
                            <a:srgbClr val="B85E8E"/>
                          </a:solidFill>
                        </a:rPr>
                        <a:t>Portal</a:t>
                      </a:r>
                    </a:p>
                  </a:txBody>
                  <a:tcPr>
                    <a:solidFill>
                      <a:srgbClr val="F8FAE4"/>
                    </a:solidFill>
                  </a:tcPr>
                </a:tc>
                <a:extLst>
                  <a:ext uri="{0D108BD9-81ED-4DB2-BD59-A6C34878D82A}">
                    <a16:rowId xmlns:a16="http://schemas.microsoft.com/office/drawing/2014/main" val="10000"/>
                  </a:ext>
                </a:extLst>
              </a:tr>
              <a:tr h="219784">
                <a:tc>
                  <a:txBody>
                    <a:bodyPr/>
                    <a:lstStyle/>
                    <a:p>
                      <a:r>
                        <a:rPr sz="900" b="0">
                          <a:solidFill>
                            <a:srgbClr val="B85E8E"/>
                          </a:solidFill>
                        </a:rPr>
                        <a:t>Texture</a:t>
                      </a:r>
                    </a:p>
                  </a:txBody>
                  <a:tcPr>
                    <a:solidFill>
                      <a:srgbClr val="ECF1B6"/>
                    </a:solidFill>
                  </a:tcPr>
                </a:tc>
                <a:tc>
                  <a:txBody>
                    <a:bodyPr/>
                    <a:lstStyle/>
                    <a:p>
                      <a:r>
                        <a:rPr sz="900" b="0">
                          <a:solidFill>
                            <a:srgbClr val="B85E8E"/>
                          </a:solidFill>
                        </a:rPr>
                        <a:t>Snapshot</a:t>
                      </a:r>
                    </a:p>
                  </a:txBody>
                  <a:tcPr>
                    <a:solidFill>
                      <a:srgbClr val="ECF1B6"/>
                    </a:solidFill>
                  </a:tcPr>
                </a:tc>
                <a:tc>
                  <a:txBody>
                    <a:bodyPr/>
                    <a:lstStyle/>
                    <a:p>
                      <a:r>
                        <a:rPr sz="900" b="0">
                          <a:solidFill>
                            <a:srgbClr val="B85E8E"/>
                          </a:solidFill>
                        </a:rPr>
                        <a:t>Exchange Action</a:t>
                      </a:r>
                    </a:p>
                  </a:txBody>
                  <a:tcPr>
                    <a:solidFill>
                      <a:srgbClr val="ECF1B6"/>
                    </a:solidFill>
                  </a:tcPr>
                </a:tc>
                <a:extLst>
                  <a:ext uri="{0D108BD9-81ED-4DB2-BD59-A6C34878D82A}">
                    <a16:rowId xmlns:a16="http://schemas.microsoft.com/office/drawing/2014/main" val="10001"/>
                  </a:ext>
                </a:extLst>
              </a:tr>
              <a:tr h="219784">
                <a:tc>
                  <a:txBody>
                    <a:bodyPr/>
                    <a:lstStyle/>
                    <a:p>
                      <a:r>
                        <a:rPr sz="900" b="0">
                          <a:solidFill>
                            <a:srgbClr val="B85E8E"/>
                          </a:solidFill>
                        </a:rPr>
                        <a:t>Register Action</a:t>
                      </a:r>
                    </a:p>
                  </a:txBody>
                  <a:tcPr>
                    <a:solidFill>
                      <a:srgbClr val="F8FAE4"/>
                    </a:solidFill>
                  </a:tcPr>
                </a:tc>
                <a:tc>
                  <a:txBody>
                    <a:bodyPr/>
                    <a:lstStyle/>
                    <a:p>
                      <a:r>
                        <a:rPr sz="900" b="0">
                          <a:solidFill>
                            <a:srgbClr val="B85E8E"/>
                          </a:solidFill>
                        </a:rPr>
                        <a:t>Asset Drift</a:t>
                      </a:r>
                    </a:p>
                  </a:txBody>
                  <a:tcPr>
                    <a:solidFill>
                      <a:srgbClr val="ECF1B6"/>
                    </a:solidFill>
                  </a:tcPr>
                </a:tc>
                <a:tc>
                  <a:txBody>
                    <a:bodyPr/>
                    <a:lstStyle/>
                    <a:p>
                      <a:r>
                        <a:rPr sz="900" b="0">
                          <a:solidFill>
                            <a:srgbClr val="B85E8E"/>
                          </a:solidFill>
                        </a:rPr>
                        <a:t>Balance Precision</a:t>
                      </a:r>
                    </a:p>
                  </a:txBody>
                  <a:tcPr>
                    <a:solidFill>
                      <a:srgbClr val="F8FAE4"/>
                    </a:solidFill>
                  </a:tcPr>
                </a:tc>
                <a:extLst>
                  <a:ext uri="{0D108BD9-81ED-4DB2-BD59-A6C34878D82A}">
                    <a16:rowId xmlns:a16="http://schemas.microsoft.com/office/drawing/2014/main" val="10002"/>
                  </a:ext>
                </a:extLst>
              </a:tr>
              <a:tr h="219784">
                <a:tc>
                  <a:txBody>
                    <a:bodyPr/>
                    <a:lstStyle/>
                    <a:p>
                      <a:r>
                        <a:rPr sz="900" b="0">
                          <a:solidFill>
                            <a:srgbClr val="B85E8E"/>
                          </a:solidFill>
                        </a:rPr>
                        <a:t>Transform Profile</a:t>
                      </a:r>
                    </a:p>
                  </a:txBody>
                  <a:tcPr>
                    <a:solidFill>
                      <a:srgbClr val="ECF1B6"/>
                    </a:solidFill>
                  </a:tcPr>
                </a:tc>
                <a:tc>
                  <a:txBody>
                    <a:bodyPr/>
                    <a:lstStyle/>
                    <a:p>
                      <a:r>
                        <a:rPr sz="900" b="0">
                          <a:solidFill>
                            <a:srgbClr val="B85E8E"/>
                          </a:solidFill>
                        </a:rPr>
                        <a:t>Command</a:t>
                      </a:r>
                    </a:p>
                  </a:txBody>
                  <a:tcPr>
                    <a:solidFill>
                      <a:srgbClr val="ECF1B6"/>
                    </a:solidFill>
                  </a:tcPr>
                </a:tc>
                <a:tc>
                  <a:txBody>
                    <a:bodyPr/>
                    <a:lstStyle/>
                    <a:p>
                      <a:r>
                        <a:rPr sz="900" b="0">
                          <a:solidFill>
                            <a:srgbClr val="B85E8E"/>
                          </a:solidFill>
                        </a:rPr>
                        <a:t>Vector Point</a:t>
                      </a:r>
                    </a:p>
                  </a:txBody>
                  <a:tcPr>
                    <a:solidFill>
                      <a:srgbClr val="ECF1B6"/>
                    </a:solidFill>
                  </a:tcPr>
                </a:tc>
                <a:extLst>
                  <a:ext uri="{0D108BD9-81ED-4DB2-BD59-A6C34878D82A}">
                    <a16:rowId xmlns:a16="http://schemas.microsoft.com/office/drawing/2014/main" val="10003"/>
                  </a:ext>
                </a:extLst>
              </a:tr>
              <a:tr h="219784">
                <a:tc>
                  <a:txBody>
                    <a:bodyPr/>
                    <a:lstStyle/>
                    <a:p>
                      <a:r>
                        <a:rPr sz="900" b="0">
                          <a:solidFill>
                            <a:srgbClr val="B85E8E"/>
                          </a:solidFill>
                        </a:rPr>
                        <a:t>Zone</a:t>
                      </a:r>
                    </a:p>
                  </a:txBody>
                  <a:tcPr>
                    <a:solidFill>
                      <a:srgbClr val="F8FAE4"/>
                    </a:solidFill>
                  </a:tcPr>
                </a:tc>
                <a:tc>
                  <a:txBody>
                    <a:bodyPr/>
                    <a:lstStyle/>
                    <a:p>
                      <a:r>
                        <a:rPr sz="900" b="0">
                          <a:solidFill>
                            <a:srgbClr val="B85E8E"/>
                          </a:solidFill>
                        </a:rPr>
                        <a:t>Structure</a:t>
                      </a:r>
                    </a:p>
                  </a:txBody>
                  <a:tcPr>
                    <a:solidFill>
                      <a:srgbClr val="ECF1B6"/>
                    </a:solidFill>
                  </a:tcPr>
                </a:tc>
                <a:tc>
                  <a:txBody>
                    <a:bodyPr/>
                    <a:lstStyle/>
                    <a:p>
                      <a:r>
                        <a:rPr sz="900" b="0">
                          <a:solidFill>
                            <a:srgbClr val="B85E8E"/>
                          </a:solidFill>
                        </a:rPr>
                        <a:t>Format Data</a:t>
                      </a:r>
                    </a:p>
                  </a:txBody>
                  <a:tcPr>
                    <a:solidFill>
                      <a:srgbClr val="F8FAE4"/>
                    </a:solidFill>
                  </a:tcPr>
                </a:tc>
                <a:extLst>
                  <a:ext uri="{0D108BD9-81ED-4DB2-BD59-A6C34878D82A}">
                    <a16:rowId xmlns:a16="http://schemas.microsoft.com/office/drawing/2014/main" val="10004"/>
                  </a:ext>
                </a:extLst>
              </a:tr>
              <a:tr h="219785">
                <a:tc>
                  <a:txBody>
                    <a:bodyPr/>
                    <a:lstStyle/>
                    <a:p>
                      <a:r>
                        <a:rPr sz="900" b="0">
                          <a:solidFill>
                            <a:srgbClr val="B85E8E"/>
                          </a:solidFill>
                        </a:rPr>
                        <a:t>Bundle</a:t>
                      </a:r>
                    </a:p>
                  </a:txBody>
                  <a:tcPr>
                    <a:solidFill>
                      <a:srgbClr val="ECF1B6"/>
                    </a:solidFill>
                  </a:tcPr>
                </a:tc>
                <a:tc>
                  <a:txBody>
                    <a:bodyPr/>
                    <a:lstStyle/>
                    <a:p>
                      <a:r>
                        <a:rPr sz="900" b="0">
                          <a:solidFill>
                            <a:srgbClr val="B85E8E"/>
                          </a:solidFill>
                        </a:rPr>
                        <a:t>Feature</a:t>
                      </a:r>
                    </a:p>
                  </a:txBody>
                  <a:tcPr>
                    <a:solidFill>
                      <a:srgbClr val="ECF1B6"/>
                    </a:solidFill>
                  </a:tcPr>
                </a:tc>
                <a:tc>
                  <a:txBody>
                    <a:bodyPr/>
                    <a:lstStyle/>
                    <a:p>
                      <a:r>
                        <a:rPr sz="900" b="0">
                          <a:solidFill>
                            <a:srgbClr val="B85E8E"/>
                          </a:solidFill>
                        </a:rPr>
                        <a:t>Narrative</a:t>
                      </a:r>
                    </a:p>
                  </a:txBody>
                  <a:tcPr>
                    <a:solidFill>
                      <a:srgbClr val="ECF1B6"/>
                    </a:solidFill>
                  </a:tcPr>
                </a:tc>
                <a:extLst>
                  <a:ext uri="{0D108BD9-81ED-4DB2-BD59-A6C34878D82A}">
                    <a16:rowId xmlns:a16="http://schemas.microsoft.com/office/drawing/2014/main" val="10005"/>
                  </a:ext>
                </a:extLst>
              </a:tr>
            </a:tbl>
          </a:graphicData>
        </a:graphic>
      </p:graphicFrame>
      <p:pic>
        <p:nvPicPr>
          <p:cNvPr id="3" name="Picture 2" descr="_example_image.jpg"/>
          <p:cNvPicPr>
            <a:picLocks noChangeAspect="1"/>
          </p:cNvPicPr>
          <p:nvPr/>
        </p:nvPicPr>
        <p:blipFill>
          <a:blip r:embed="rId2"/>
          <a:srcRect l="20549" t="17356" r="9428" b="18309"/>
          <a:stretch>
            <a:fillRect/>
          </a:stretch>
        </p:blipFill>
        <p:spPr>
          <a:xfrm>
            <a:off x="10173708" y="5214345"/>
            <a:ext cx="1435237" cy="918018"/>
          </a:xfrm>
          <a:prstGeom prst="rect">
            <a:avLst/>
          </a:prstGeom>
        </p:spPr>
      </p:pic>
      <p:sp>
        <p:nvSpPr>
          <p:cNvPr id="4" name="TextBox 3"/>
          <p:cNvSpPr txBox="1"/>
          <p:nvPr/>
        </p:nvSpPr>
        <p:spPr>
          <a:xfrm>
            <a:off x="780968" y="2829721"/>
            <a:ext cx="1135226" cy="1713559"/>
          </a:xfrm>
          <a:prstGeom prst="rect">
            <a:avLst/>
          </a:prstGeom>
          <a:noFill/>
        </p:spPr>
        <p:txBody>
          <a:bodyPr wrap="none" lIns="44824" tIns="44824" rIns="44824" bIns="44824">
            <a:spAutoFit/>
          </a:bodyPr>
          <a:lstStyle/>
          <a:p>
            <a:r>
              <a:rPr sz="1700" b="0" i="0" u="none">
                <a:solidFill>
                  <a:srgbClr val="51C7A9"/>
                </a:solidFill>
                <a:latin typeface="Verdana"/>
              </a:rPr>
              <a:t>Drive Depth Epoch Concept Beacon</a:t>
            </a:r>
          </a:p>
        </p:txBody>
      </p:sp>
      <p:sp>
        <p:nvSpPr>
          <p:cNvPr id="5" name="Document 4"/>
          <p:cNvSpPr/>
          <p:nvPr/>
        </p:nvSpPr>
        <p:spPr>
          <a:xfrm>
            <a:off x="7333644" y="4525645"/>
            <a:ext cx="1871082" cy="1489380"/>
          </a:xfrm>
          <a:prstGeom prst="flowChartDocument">
            <a:avLst/>
          </a:prstGeom>
          <a:solidFill>
            <a:srgbClr val="1B418F"/>
          </a:solidFill>
          <a:ln w="14368">
            <a:solidFill>
              <a:srgbClr val="25546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V="1">
            <a:off x="2884683" y="2478025"/>
            <a:ext cx="941927" cy="1219675"/>
          </a:xfrm>
          <a:prstGeom prst="line">
            <a:avLst/>
          </a:prstGeom>
          <a:ln w="34970">
            <a:solidFill>
              <a:srgbClr val="551A5D"/>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7" name="Chart 6"/>
          <p:cNvGraphicFramePr>
            <a:graphicFrameLocks noGrp="1"/>
          </p:cNvGraphicFramePr>
          <p:nvPr/>
        </p:nvGraphicFramePr>
        <p:xfrm>
          <a:off x="333198" y="4392579"/>
          <a:ext cx="2702667" cy="1837030"/>
        </p:xfrm>
        <a:graphic>
          <a:graphicData uri="http://schemas.openxmlformats.org/drawingml/2006/chart">
            <c:chart xmlns:c="http://schemas.openxmlformats.org/drawingml/2006/chart" xmlns:r="http://schemas.openxmlformats.org/officeDocument/2006/relationships" r:id="rId3"/>
          </a:graphicData>
        </a:graphic>
      </p:graphicFrame>
      <p:sp>
        <p:nvSpPr>
          <p:cNvPr id="8" name="Up Ribbon 7"/>
          <p:cNvSpPr/>
          <p:nvPr/>
        </p:nvSpPr>
        <p:spPr>
          <a:xfrm>
            <a:off x="2583682" y="638180"/>
            <a:ext cx="1510525" cy="683164"/>
          </a:xfrm>
          <a:prstGeom prst="ribbon2">
            <a:avLst/>
          </a:prstGeom>
          <a:solidFill>
            <a:srgbClr val="985A80"/>
          </a:solidFill>
          <a:ln w="7444">
            <a:solidFill>
              <a:srgbClr val="B778A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Multiply 8"/>
          <p:cNvSpPr/>
          <p:nvPr/>
        </p:nvSpPr>
        <p:spPr>
          <a:xfrm>
            <a:off x="9871105" y="805605"/>
            <a:ext cx="512151" cy="1054629"/>
          </a:xfrm>
          <a:prstGeom prst="mathMultiply">
            <a:avLst/>
          </a:prstGeom>
          <a:solidFill>
            <a:srgbClr val="34497D"/>
          </a:solidFill>
          <a:ln w="16026">
            <a:solidFill>
              <a:srgbClr val="834B2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799320" y="2154556"/>
            <a:ext cx="757710" cy="420288"/>
          </a:xfrm>
          <a:custGeom>
            <a:avLst/>
            <a:gdLst/>
            <a:ahLst/>
            <a:cxnLst/>
            <a:rect l="l" t="t" r="r" b="b"/>
            <a:pathLst>
              <a:path w="757710" h="420288">
                <a:moveTo>
                  <a:pt x="0" y="204307"/>
                </a:moveTo>
                <a:lnTo>
                  <a:pt x="130359" y="0"/>
                </a:lnTo>
                <a:lnTo>
                  <a:pt x="268865" y="175120"/>
                </a:lnTo>
                <a:lnTo>
                  <a:pt x="407371" y="350240"/>
                </a:lnTo>
                <a:lnTo>
                  <a:pt x="554025" y="145933"/>
                </a:lnTo>
                <a:lnTo>
                  <a:pt x="757710" y="221819"/>
                </a:lnTo>
                <a:lnTo>
                  <a:pt x="757710" y="420288"/>
                </a:lnTo>
                <a:lnTo>
                  <a:pt x="0" y="420288"/>
                </a:lnTo>
                <a:close/>
              </a:path>
            </a:pathLst>
          </a:custGeom>
          <a:solidFill>
            <a:srgbClr val="655428"/>
          </a:solidFill>
          <a:ln w="21492">
            <a:solidFill>
              <a:srgbClr val="1E23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_example_image.jpg"/>
          <p:cNvPicPr>
            <a:picLocks noChangeAspect="1"/>
          </p:cNvPicPr>
          <p:nvPr/>
        </p:nvPicPr>
        <p:blipFill>
          <a:blip r:embed="rId2"/>
          <a:srcRect l="9676" t="1908" r="21720" b="8925"/>
          <a:stretch>
            <a:fillRect/>
          </a:stretch>
        </p:blipFill>
        <p:spPr>
          <a:xfrm>
            <a:off x="1358895" y="5730682"/>
            <a:ext cx="3132959" cy="794483"/>
          </a:xfrm>
          <a:prstGeom prst="rect">
            <a:avLst/>
          </a:prstGeom>
        </p:spPr>
      </p:pic>
      <p:cxnSp>
        <p:nvCxnSpPr>
          <p:cNvPr id="12" name="Connector 11"/>
          <p:cNvCxnSpPr/>
          <p:nvPr/>
        </p:nvCxnSpPr>
        <p:spPr>
          <a:xfrm flipV="1">
            <a:off x="8181372" y="2305597"/>
            <a:ext cx="735311" cy="1269649"/>
          </a:xfrm>
          <a:prstGeom prst="bentConnector3">
            <a:avLst/>
          </a:prstGeom>
          <a:ln w="40459">
            <a:solidFill>
              <a:srgbClr val="7C26B2"/>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1873527" y="1561170"/>
          <a:ext cx="2332303" cy="959134"/>
        </p:xfrm>
        <a:graphic>
          <a:graphicData uri="http://schemas.openxmlformats.org/drawingml/2006/table">
            <a:tbl>
              <a:tblPr firstRow="1" bandRow="1">
                <a:tableStyleId>{5C22544A-7EE6-4342-B048-85BDC9FD1C3A}</a:tableStyleId>
              </a:tblPr>
              <a:tblGrid>
                <a:gridCol w="777434">
                  <a:extLst>
                    <a:ext uri="{9D8B030D-6E8A-4147-A177-3AD203B41FA5}">
                      <a16:colId xmlns:a16="http://schemas.microsoft.com/office/drawing/2014/main" val="20000"/>
                    </a:ext>
                  </a:extLst>
                </a:gridCol>
                <a:gridCol w="777434">
                  <a:extLst>
                    <a:ext uri="{9D8B030D-6E8A-4147-A177-3AD203B41FA5}">
                      <a16:colId xmlns:a16="http://schemas.microsoft.com/office/drawing/2014/main" val="20001"/>
                    </a:ext>
                  </a:extLst>
                </a:gridCol>
                <a:gridCol w="777435">
                  <a:extLst>
                    <a:ext uri="{9D8B030D-6E8A-4147-A177-3AD203B41FA5}">
                      <a16:colId xmlns:a16="http://schemas.microsoft.com/office/drawing/2014/main" val="20002"/>
                    </a:ext>
                  </a:extLst>
                </a:gridCol>
              </a:tblGrid>
              <a:tr h="319711">
                <a:tc>
                  <a:txBody>
                    <a:bodyPr/>
                    <a:lstStyle/>
                    <a:p>
                      <a:r>
                        <a:rPr sz="700" b="1">
                          <a:solidFill>
                            <a:srgbClr val="B067DD"/>
                          </a:solidFill>
                        </a:rPr>
                        <a:t>Stream</a:t>
                      </a:r>
                    </a:p>
                  </a:txBody>
                  <a:tcPr>
                    <a:solidFill>
                      <a:srgbClr val="7EAF4D"/>
                    </a:solidFill>
                  </a:tcPr>
                </a:tc>
                <a:tc>
                  <a:txBody>
                    <a:bodyPr/>
                    <a:lstStyle/>
                    <a:p>
                      <a:r>
                        <a:rPr sz="700" b="1">
                          <a:solidFill>
                            <a:srgbClr val="B067DD"/>
                          </a:solidFill>
                        </a:rPr>
                        <a:t>Sequence</a:t>
                      </a:r>
                    </a:p>
                  </a:txBody>
                  <a:tcPr>
                    <a:solidFill>
                      <a:srgbClr val="7EAF4D"/>
                    </a:solidFill>
                  </a:tcPr>
                </a:tc>
                <a:tc>
                  <a:txBody>
                    <a:bodyPr/>
                    <a:lstStyle/>
                    <a:p>
                      <a:r>
                        <a:rPr sz="700" b="1">
                          <a:solidFill>
                            <a:srgbClr val="B067DD"/>
                          </a:solidFill>
                        </a:rPr>
                        <a:t>Command Alpha</a:t>
                      </a:r>
                    </a:p>
                  </a:txBody>
                  <a:tcPr>
                    <a:solidFill>
                      <a:srgbClr val="7EAF4D"/>
                    </a:solidFill>
                  </a:tcPr>
                </a:tc>
                <a:extLst>
                  <a:ext uri="{0D108BD9-81ED-4DB2-BD59-A6C34878D82A}">
                    <a16:rowId xmlns:a16="http://schemas.microsoft.com/office/drawing/2014/main" val="10000"/>
                  </a:ext>
                </a:extLst>
              </a:tr>
              <a:tr h="319711">
                <a:tc>
                  <a:txBody>
                    <a:bodyPr/>
                    <a:lstStyle/>
                    <a:p>
                      <a:r>
                        <a:rPr sz="700" b="0">
                          <a:solidFill>
                            <a:srgbClr val="B067DD"/>
                          </a:solidFill>
                        </a:rPr>
                        <a:t>Frame</a:t>
                      </a:r>
                    </a:p>
                  </a:txBody>
                  <a:tcPr>
                    <a:solidFill>
                      <a:srgbClr val="EEF8F5"/>
                    </a:solidFill>
                  </a:tcPr>
                </a:tc>
                <a:tc>
                  <a:txBody>
                    <a:bodyPr/>
                    <a:lstStyle/>
                    <a:p>
                      <a:r>
                        <a:rPr sz="700" b="0">
                          <a:solidFill>
                            <a:srgbClr val="B067DD"/>
                          </a:solidFill>
                        </a:rPr>
                        <a:t>Frame Frequency</a:t>
                      </a:r>
                    </a:p>
                  </a:txBody>
                  <a:tcPr>
                    <a:solidFill>
                      <a:srgbClr val="EEF8F5"/>
                    </a:solidFill>
                  </a:tcPr>
                </a:tc>
                <a:tc>
                  <a:txBody>
                    <a:bodyPr/>
                    <a:lstStyle/>
                    <a:p>
                      <a:r>
                        <a:rPr sz="700" b="0">
                          <a:solidFill>
                            <a:srgbClr val="B067DD"/>
                          </a:solidFill>
                        </a:rPr>
                        <a:t>Format Result</a:t>
                      </a:r>
                    </a:p>
                  </a:txBody>
                  <a:tcPr>
                    <a:solidFill>
                      <a:srgbClr val="EEF8F5"/>
                    </a:solidFill>
                  </a:tcPr>
                </a:tc>
                <a:extLst>
                  <a:ext uri="{0D108BD9-81ED-4DB2-BD59-A6C34878D82A}">
                    <a16:rowId xmlns:a16="http://schemas.microsoft.com/office/drawing/2014/main" val="10001"/>
                  </a:ext>
                </a:extLst>
              </a:tr>
              <a:tr h="319712">
                <a:tc>
                  <a:txBody>
                    <a:bodyPr/>
                    <a:lstStyle/>
                    <a:p>
                      <a:r>
                        <a:rPr sz="700" b="0">
                          <a:solidFill>
                            <a:srgbClr val="B067DD"/>
                          </a:solidFill>
                        </a:rPr>
                        <a:t>Packet</a:t>
                      </a:r>
                    </a:p>
                  </a:txBody>
                  <a:tcPr>
                    <a:solidFill>
                      <a:srgbClr val="EEF8F5"/>
                    </a:solidFill>
                  </a:tcPr>
                </a:tc>
                <a:tc>
                  <a:txBody>
                    <a:bodyPr/>
                    <a:lstStyle/>
                    <a:p>
                      <a:r>
                        <a:rPr sz="700" b="0">
                          <a:solidFill>
                            <a:srgbClr val="B067DD"/>
                          </a:solidFill>
                        </a:rPr>
                        <a:t>Texture</a:t>
                      </a:r>
                    </a:p>
                  </a:txBody>
                  <a:tcPr>
                    <a:solidFill>
                      <a:srgbClr val="EEF8F5"/>
                    </a:solidFill>
                  </a:tcPr>
                </a:tc>
                <a:tc>
                  <a:txBody>
                    <a:bodyPr/>
                    <a:lstStyle/>
                    <a:p>
                      <a:r>
                        <a:rPr sz="700" b="0">
                          <a:solidFill>
                            <a:srgbClr val="B067DD"/>
                          </a:solidFill>
                        </a:rPr>
                        <a:t>Audit</a:t>
                      </a:r>
                    </a:p>
                  </a:txBody>
                  <a:tcPr>
                    <a:solidFill>
                      <a:srgbClr val="EEF8F5"/>
                    </a:solidFill>
                  </a:tcPr>
                </a:tc>
                <a:extLst>
                  <a:ext uri="{0D108BD9-81ED-4DB2-BD59-A6C34878D82A}">
                    <a16:rowId xmlns:a16="http://schemas.microsoft.com/office/drawing/2014/main" val="10002"/>
                  </a:ext>
                </a:extLst>
              </a:tr>
            </a:tbl>
          </a:graphicData>
        </a:graphic>
      </p:graphicFrame>
      <p:sp>
        <p:nvSpPr>
          <p:cNvPr id="14" name="TextBox 13"/>
          <p:cNvSpPr txBox="1"/>
          <p:nvPr/>
        </p:nvSpPr>
        <p:spPr>
          <a:xfrm>
            <a:off x="5178389" y="1602019"/>
            <a:ext cx="2287599" cy="899647"/>
          </a:xfrm>
          <a:prstGeom prst="rect">
            <a:avLst/>
          </a:prstGeom>
          <a:noFill/>
        </p:spPr>
        <p:txBody>
          <a:bodyPr wrap="none" lIns="68030" tIns="68030" rIns="68030" bIns="68030">
            <a:spAutoFit/>
          </a:bodyPr>
          <a:lstStyle/>
          <a:p>
            <a:r>
              <a:rPr sz="6100" b="1" i="0" u="none">
                <a:solidFill>
                  <a:srgbClr val="3D629A"/>
                </a:solidFill>
                <a:latin typeface="Verdana"/>
              </a:rPr>
              <a:t>Circuit Gradient</a:t>
            </a:r>
          </a:p>
        </p:txBody>
      </p:sp>
      <p:sp>
        <p:nvSpPr>
          <p:cNvPr id="15" name="Bent Arrow 14"/>
          <p:cNvSpPr/>
          <p:nvPr/>
        </p:nvSpPr>
        <p:spPr>
          <a:xfrm>
            <a:off x="4999033" y="5046452"/>
            <a:ext cx="1274834" cy="783159"/>
          </a:xfrm>
          <a:prstGeom prst="bentArrow">
            <a:avLst/>
          </a:prstGeom>
          <a:solidFill>
            <a:srgbClr val="ACB9BD"/>
          </a:solidFill>
          <a:ln w="26336">
            <a:solidFill>
              <a:srgbClr val="C42AC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22984" y="1649879"/>
            <a:ext cx="717453" cy="2120350"/>
          </a:xfrm>
          <a:prstGeom prst="rect">
            <a:avLst/>
          </a:prstGeom>
          <a:noFill/>
        </p:spPr>
        <p:txBody>
          <a:bodyPr wrap="none" lIns="64503" tIns="64503" rIns="64503" bIns="64503">
            <a:spAutoFit/>
          </a:bodyPr>
          <a:lstStyle/>
          <a:p>
            <a:r>
              <a:rPr sz="700" b="0" i="0" u="none">
                <a:solidFill>
                  <a:srgbClr val="7F871E"/>
                </a:solidFill>
                <a:latin typeface="Georgia"/>
              </a:rPr>
              <a:t>Transform Capacity Stream Beta Phase Tile Interface Region</a:t>
            </a:r>
          </a:p>
        </p:txBody>
      </p:sp>
      <p:sp>
        <p:nvSpPr>
          <p:cNvPr id="17" name="Freeform 16"/>
          <p:cNvSpPr/>
          <p:nvPr/>
        </p:nvSpPr>
        <p:spPr>
          <a:xfrm>
            <a:off x="1756747" y="872820"/>
            <a:ext cx="732903" cy="727853"/>
          </a:xfrm>
          <a:custGeom>
            <a:avLst/>
            <a:gdLst/>
            <a:ahLst/>
            <a:cxnLst/>
            <a:rect l="l" t="t" r="r" b="b"/>
            <a:pathLst>
              <a:path w="732903" h="727853">
                <a:moveTo>
                  <a:pt x="0" y="161745"/>
                </a:moveTo>
                <a:lnTo>
                  <a:pt x="157614" y="0"/>
                </a:lnTo>
                <a:lnTo>
                  <a:pt x="315227" y="218356"/>
                </a:lnTo>
                <a:lnTo>
                  <a:pt x="472841" y="24262"/>
                </a:lnTo>
                <a:lnTo>
                  <a:pt x="732903" y="566108"/>
                </a:lnTo>
                <a:lnTo>
                  <a:pt x="551648" y="727853"/>
                </a:lnTo>
                <a:lnTo>
                  <a:pt x="378273" y="485235"/>
                </a:lnTo>
                <a:lnTo>
                  <a:pt x="181256" y="703591"/>
                </a:lnTo>
                <a:close/>
              </a:path>
            </a:pathLst>
          </a:custGeom>
          <a:solidFill>
            <a:srgbClr val="DDC470"/>
          </a:solidFill>
          <a:ln w="15591">
            <a:solidFill>
              <a:srgbClr val="665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383071" y="586190"/>
            <a:ext cx="1701213" cy="725615"/>
          </a:xfrm>
          <a:prstGeom prst="bentConnector3">
            <a:avLst/>
          </a:prstGeom>
          <a:ln w="9855">
            <a:solidFill>
              <a:srgbClr val="D3B87B"/>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93707" y="3036038"/>
            <a:ext cx="2720502" cy="799904"/>
          </a:xfrm>
          <a:prstGeom prst="rect">
            <a:avLst/>
          </a:prstGeom>
          <a:noFill/>
        </p:spPr>
        <p:txBody>
          <a:bodyPr wrap="none" lIns="54059" tIns="54059" rIns="54059" bIns="54059">
            <a:spAutoFit/>
          </a:bodyPr>
          <a:lstStyle/>
          <a:p>
            <a:r>
              <a:rPr sz="3100" b="1" i="0" u="sng">
                <a:solidFill>
                  <a:srgbClr val="B2521F"/>
                </a:solidFill>
                <a:latin typeface="Verdana"/>
              </a:rPr>
              <a:t>Draft Frequency Network Datum Cluster Signal Scale</a:t>
            </a:r>
          </a:p>
        </p:txBody>
      </p:sp>
      <p:sp>
        <p:nvSpPr>
          <p:cNvPr id="20" name="TextBox 19"/>
          <p:cNvSpPr txBox="1"/>
          <p:nvPr/>
        </p:nvSpPr>
        <p:spPr>
          <a:xfrm>
            <a:off x="2447453" y="3846721"/>
            <a:ext cx="4044159" cy="895524"/>
          </a:xfrm>
          <a:prstGeom prst="rect">
            <a:avLst/>
          </a:prstGeom>
          <a:solidFill>
            <a:srgbClr val="5EE358"/>
          </a:solidFill>
        </p:spPr>
        <p:txBody>
          <a:bodyPr wrap="none" lIns="30038" tIns="30038" rIns="30038" bIns="30038">
            <a:spAutoFit/>
          </a:bodyPr>
          <a:lstStyle/>
          <a:p>
            <a:r>
              <a:rPr sz="1000" b="0" i="0" u="none">
                <a:solidFill>
                  <a:srgbClr val="49313C"/>
                </a:solidFill>
                <a:latin typeface="Trebuchet MS"/>
              </a:rPr>
              <a:t>Explorer Dispatch Horizon Agenda Result Cadence Duration Gateway Field</a:t>
            </a:r>
          </a:p>
        </p:txBody>
      </p:sp>
      <p:sp>
        <p:nvSpPr>
          <p:cNvPr id="21" name="TextBox 20"/>
          <p:cNvSpPr txBox="1"/>
          <p:nvPr/>
        </p:nvSpPr>
        <p:spPr>
          <a:xfrm>
            <a:off x="2237818" y="4988916"/>
            <a:ext cx="1599000" cy="458443"/>
          </a:xfrm>
          <a:prstGeom prst="rect">
            <a:avLst/>
          </a:prstGeom>
          <a:solidFill>
            <a:srgbClr val="319D3D"/>
          </a:solidFill>
        </p:spPr>
        <p:txBody>
          <a:bodyPr wrap="none" lIns="85546" tIns="85546" rIns="85546" bIns="85546">
            <a:spAutoFit/>
          </a:bodyPr>
          <a:lstStyle/>
          <a:p>
            <a:r>
              <a:rPr sz="3000" b="0" i="0" u="sng">
                <a:solidFill>
                  <a:srgbClr val="662231"/>
                </a:solidFill>
                <a:latin typeface="Georgia"/>
              </a:rPr>
              <a:t>Device Library Density Explorer Blueprint Grid Velocity Function</a:t>
            </a:r>
          </a:p>
        </p:txBody>
      </p:sp>
      <p:sp>
        <p:nvSpPr>
          <p:cNvPr id="22" name="8-Point Star 21"/>
          <p:cNvSpPr/>
          <p:nvPr/>
        </p:nvSpPr>
        <p:spPr>
          <a:xfrm>
            <a:off x="9048730" y="2471427"/>
            <a:ext cx="1657703" cy="238007"/>
          </a:xfrm>
          <a:prstGeom prst="star8">
            <a:avLst/>
          </a:prstGeom>
          <a:solidFill>
            <a:srgbClr val="62C11B"/>
          </a:solidFill>
          <a:ln w="8666">
            <a:solidFill>
              <a:srgbClr val="84425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2"/>
          <a:srcRect l="1508" t="9294" r="12750" b="16756"/>
          <a:stretch>
            <a:fillRect/>
          </a:stretch>
        </p:blipFill>
        <p:spPr>
          <a:xfrm>
            <a:off x="10756004" y="1424624"/>
            <a:ext cx="1066237" cy="1892791"/>
          </a:xfrm>
          <a:prstGeom prst="rect">
            <a:avLst/>
          </a:prstGeom>
        </p:spPr>
      </p:pic>
      <p:sp>
        <p:nvSpPr>
          <p:cNvPr id="24" name="Rounded Rectangle 23"/>
          <p:cNvSpPr/>
          <p:nvPr/>
        </p:nvSpPr>
        <p:spPr>
          <a:xfrm>
            <a:off x="10756004" y="1424624"/>
            <a:ext cx="1066237" cy="1892791"/>
          </a:xfrm>
          <a:prstGeom prst="roundRect">
            <a:avLst/>
          </a:prstGeom>
          <a:noFill/>
          <a:ln w="15240">
            <a:solidFill>
              <a:srgbClr val="916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Equal 24"/>
          <p:cNvSpPr/>
          <p:nvPr/>
        </p:nvSpPr>
        <p:spPr>
          <a:xfrm>
            <a:off x="5111660" y="5885291"/>
            <a:ext cx="749537" cy="627466"/>
          </a:xfrm>
          <a:prstGeom prst="mathEqual">
            <a:avLst/>
          </a:prstGeom>
          <a:solidFill>
            <a:srgbClr val="6B8C3E"/>
          </a:solidFill>
          <a:ln w="20823">
            <a:solidFill>
              <a:srgbClr val="3D2E8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ircular Arrow 25"/>
          <p:cNvSpPr/>
          <p:nvPr/>
        </p:nvSpPr>
        <p:spPr>
          <a:xfrm>
            <a:off x="10565774" y="3359593"/>
            <a:ext cx="528969" cy="1707673"/>
          </a:xfrm>
          <a:prstGeom prst="circularArrow">
            <a:avLst/>
          </a:prstGeom>
          <a:solidFill>
            <a:srgbClr val="8D7552"/>
          </a:solidFill>
          <a:ln w="15682">
            <a:solidFill>
              <a:srgbClr val="CB2E2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7" name="Chart 26"/>
          <p:cNvGraphicFramePr>
            <a:graphicFrameLocks noGrp="1"/>
          </p:cNvGraphicFramePr>
          <p:nvPr/>
        </p:nvGraphicFramePr>
        <p:xfrm>
          <a:off x="8616439" y="3178104"/>
          <a:ext cx="3392399" cy="1716479"/>
        </p:xfrm>
        <a:graphic>
          <a:graphicData uri="http://schemas.openxmlformats.org/drawingml/2006/chart">
            <c:chart xmlns:c="http://schemas.openxmlformats.org/drawingml/2006/chart" xmlns:r="http://schemas.openxmlformats.org/officeDocument/2006/relationships" r:id="rId4"/>
          </a:graphicData>
        </a:graphic>
      </p:graphicFrame>
      <p:pic>
        <p:nvPicPr>
          <p:cNvPr id="29" name="Graphic 28">
            <a:extLst>
              <a:ext uri="{FF2B5EF4-FFF2-40B4-BE49-F238E27FC236}">
                <a16:creationId xmlns:a16="http://schemas.microsoft.com/office/drawing/2014/main" id="{BF01AE3B-DEBB-CCAC-AF7A-ED6076B86EC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720291" y="2804144"/>
            <a:ext cx="1041127" cy="1253554"/>
          </a:xfrm>
          <a:prstGeom prst="rect">
            <a:avLst/>
          </a:prstGeom>
        </p:spPr>
      </p:pic>
      <p:pic>
        <p:nvPicPr>
          <p:cNvPr id="31" name="Graphic 30">
            <a:extLst>
              <a:ext uri="{FF2B5EF4-FFF2-40B4-BE49-F238E27FC236}">
                <a16:creationId xmlns:a16="http://schemas.microsoft.com/office/drawing/2014/main" id="{EE7C29B9-6DB0-6AC6-5A8D-FF523236A92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838223" y="1348930"/>
            <a:ext cx="1830159" cy="10279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10237193" y="4947939"/>
            <a:ext cx="755535" cy="1355317"/>
          </a:xfrm>
          <a:prstGeom prst="bentConnector3">
            <a:avLst/>
          </a:prstGeom>
          <a:ln w="23175">
            <a:solidFill>
              <a:srgbClr val="4C621B"/>
            </a:solidFill>
            <a:prstDash val="solid"/>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143766" y="938659"/>
            <a:ext cx="652034" cy="1715816"/>
          </a:xfrm>
          <a:prstGeom prst="rect">
            <a:avLst/>
          </a:prstGeom>
          <a:solidFill>
            <a:srgbClr val="1C7F87"/>
          </a:solidFill>
        </p:spPr>
        <p:txBody>
          <a:bodyPr wrap="none" lIns="87417" tIns="87417" rIns="87417" bIns="87417">
            <a:spAutoFit/>
          </a:bodyPr>
          <a:lstStyle/>
          <a:p>
            <a:r>
              <a:rPr sz="1700" b="1" i="0" u="none">
                <a:solidFill>
                  <a:srgbClr val="D24F68"/>
                </a:solidFill>
                <a:latin typeface="Calibri"/>
              </a:rPr>
              <a:t>Alignment Summary Checkpoint Strategy Hub Exchange Context Case Dashboard Register Reference Data Mode Slice Option Design Dashboard Dashboard Domain Cluster Balance Mesh Frequency Package Deck Asset Queue Token</a:t>
            </a:r>
          </a:p>
        </p:txBody>
      </p:sp>
      <p:sp>
        <p:nvSpPr>
          <p:cNvPr id="4" name="Freeform 3"/>
          <p:cNvSpPr/>
          <p:nvPr/>
        </p:nvSpPr>
        <p:spPr>
          <a:xfrm>
            <a:off x="370985" y="3495913"/>
            <a:ext cx="1042127" cy="975080"/>
          </a:xfrm>
          <a:custGeom>
            <a:avLst/>
            <a:gdLst/>
            <a:ahLst/>
            <a:cxnLst/>
            <a:rect l="l" t="t" r="r" b="b"/>
            <a:pathLst>
              <a:path w="1042127" h="975080">
                <a:moveTo>
                  <a:pt x="0" y="216684"/>
                </a:moveTo>
                <a:lnTo>
                  <a:pt x="224113" y="0"/>
                </a:lnTo>
                <a:lnTo>
                  <a:pt x="448227" y="292524"/>
                </a:lnTo>
                <a:lnTo>
                  <a:pt x="672340" y="32502"/>
                </a:lnTo>
                <a:lnTo>
                  <a:pt x="1042127" y="758395"/>
                </a:lnTo>
                <a:lnTo>
                  <a:pt x="784397" y="975080"/>
                </a:lnTo>
                <a:lnTo>
                  <a:pt x="537872" y="650053"/>
                </a:lnTo>
                <a:lnTo>
                  <a:pt x="257730" y="942577"/>
                </a:lnTo>
                <a:close/>
              </a:path>
            </a:pathLst>
          </a:custGeom>
          <a:solidFill>
            <a:srgbClr val="754387"/>
          </a:solidFill>
          <a:ln w="31608">
            <a:solidFill>
              <a:srgbClr val="578D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isplay 4"/>
          <p:cNvSpPr/>
          <p:nvPr/>
        </p:nvSpPr>
        <p:spPr>
          <a:xfrm>
            <a:off x="2420846" y="2911480"/>
            <a:ext cx="951918" cy="273279"/>
          </a:xfrm>
          <a:prstGeom prst="flowChartDisplay">
            <a:avLst/>
          </a:prstGeom>
          <a:solidFill>
            <a:srgbClr val="C9BAC6"/>
          </a:solidFill>
          <a:ln w="16583">
            <a:solidFill>
              <a:srgbClr val="3C245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43073" y="1819038"/>
            <a:ext cx="1018655" cy="2516396"/>
          </a:xfrm>
          <a:prstGeom prst="rect">
            <a:avLst/>
          </a:prstGeom>
          <a:noFill/>
        </p:spPr>
        <p:txBody>
          <a:bodyPr wrap="none" lIns="80747" tIns="80747" rIns="80747" bIns="80747">
            <a:spAutoFit/>
          </a:bodyPr>
          <a:lstStyle/>
          <a:p>
            <a:r>
              <a:rPr sz="1200" b="0" i="0" u="none">
                <a:solidFill>
                  <a:srgbClr val="3283C0"/>
                </a:solidFill>
                <a:latin typeface="Aptos"/>
              </a:rPr>
              <a:t>Review</a:t>
            </a:r>
          </a:p>
        </p:txBody>
      </p:sp>
      <p:sp>
        <p:nvSpPr>
          <p:cNvPr id="7" name="TextBox 6"/>
          <p:cNvSpPr txBox="1"/>
          <p:nvPr/>
        </p:nvSpPr>
        <p:spPr>
          <a:xfrm>
            <a:off x="5502445" y="5084790"/>
            <a:ext cx="1159237" cy="1200603"/>
          </a:xfrm>
          <a:prstGeom prst="rect">
            <a:avLst/>
          </a:prstGeom>
          <a:noFill/>
        </p:spPr>
        <p:txBody>
          <a:bodyPr wrap="none" lIns="34837" tIns="34837" rIns="34837" bIns="34837">
            <a:spAutoFit/>
          </a:bodyPr>
          <a:lstStyle/>
          <a:p>
            <a:r>
              <a:rPr sz="2900" b="1" i="0" u="none">
                <a:solidFill>
                  <a:srgbClr val="B22094"/>
                </a:solidFill>
                <a:latin typeface="Aptos"/>
              </a:rPr>
              <a:t>Archive Signal Beacon Echo Grid Status Core Runtime</a:t>
            </a:r>
          </a:p>
        </p:txBody>
      </p:sp>
      <p:sp>
        <p:nvSpPr>
          <p:cNvPr id="8" name="Right Arrow 7"/>
          <p:cNvSpPr/>
          <p:nvPr/>
        </p:nvSpPr>
        <p:spPr>
          <a:xfrm>
            <a:off x="2043958" y="2247938"/>
            <a:ext cx="2540689" cy="431636"/>
          </a:xfrm>
          <a:prstGeom prst="rightArrow">
            <a:avLst/>
          </a:prstGeom>
          <a:solidFill>
            <a:srgbClr val="5C61B5"/>
          </a:solidFill>
          <a:ln w="25174">
            <a:solidFill>
              <a:srgbClr val="7658C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59591" y="3285191"/>
            <a:ext cx="1231561" cy="2104219"/>
          </a:xfrm>
          <a:prstGeom prst="rect">
            <a:avLst/>
          </a:prstGeom>
          <a:noFill/>
        </p:spPr>
        <p:txBody>
          <a:bodyPr wrap="none" lIns="82759" tIns="82759" rIns="82759" bIns="82759">
            <a:spAutoFit/>
          </a:bodyPr>
          <a:lstStyle/>
          <a:p>
            <a:r>
              <a:rPr sz="2200" b="1" i="0" u="none">
                <a:solidFill>
                  <a:srgbClr val="9F5971"/>
                </a:solidFill>
                <a:latin typeface="Aptos"/>
              </a:rPr>
              <a:t>Gradient Wave Point Factor Cell Ledger Compass Beta Explorer</a:t>
            </a:r>
          </a:p>
        </p:txBody>
      </p:sp>
      <p:graphicFrame>
        <p:nvGraphicFramePr>
          <p:cNvPr id="10" name="Chart 9"/>
          <p:cNvGraphicFramePr>
            <a:graphicFrameLocks noGrp="1"/>
          </p:cNvGraphicFramePr>
          <p:nvPr/>
        </p:nvGraphicFramePr>
        <p:xfrm>
          <a:off x="409595" y="376451"/>
          <a:ext cx="2044999" cy="2209067"/>
        </p:xfrm>
        <a:graphic>
          <a:graphicData uri="http://schemas.openxmlformats.org/drawingml/2006/chart">
            <c:chart xmlns:c="http://schemas.openxmlformats.org/drawingml/2006/chart" xmlns:r="http://schemas.openxmlformats.org/officeDocument/2006/relationships" r:id="rId2"/>
          </a:graphicData>
        </a:graphic>
      </p:graphicFrame>
      <p:sp>
        <p:nvSpPr>
          <p:cNvPr id="11" name="Circular Arrow 10"/>
          <p:cNvSpPr/>
          <p:nvPr/>
        </p:nvSpPr>
        <p:spPr>
          <a:xfrm>
            <a:off x="2569842" y="5504226"/>
            <a:ext cx="2601354" cy="882309"/>
          </a:xfrm>
          <a:prstGeom prst="circularArrow">
            <a:avLst/>
          </a:prstGeom>
          <a:solidFill>
            <a:srgbClr val="9CBE51"/>
          </a:solidFill>
          <a:ln w="23494">
            <a:solidFill>
              <a:srgbClr val="A4DEC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_example_image.jpg"/>
          <p:cNvPicPr>
            <a:picLocks noChangeAspect="1"/>
          </p:cNvPicPr>
          <p:nvPr/>
        </p:nvPicPr>
        <p:blipFill>
          <a:blip r:embed="rId3"/>
          <a:srcRect l="9106" t="13753" r="3176" b="9207"/>
          <a:stretch>
            <a:fillRect/>
          </a:stretch>
        </p:blipFill>
        <p:spPr>
          <a:xfrm>
            <a:off x="6873728" y="5220778"/>
            <a:ext cx="2857736" cy="1454415"/>
          </a:xfrm>
          <a:prstGeom prst="rect">
            <a:avLst/>
          </a:prstGeom>
        </p:spPr>
      </p:pic>
      <p:cxnSp>
        <p:nvCxnSpPr>
          <p:cNvPr id="13" name="Connector 12"/>
          <p:cNvCxnSpPr/>
          <p:nvPr/>
        </p:nvCxnSpPr>
        <p:spPr>
          <a:xfrm flipV="1">
            <a:off x="11092810" y="610580"/>
            <a:ext cx="804445" cy="382031"/>
          </a:xfrm>
          <a:prstGeom prst="curvedConnector3">
            <a:avLst/>
          </a:prstGeom>
          <a:ln w="33946">
            <a:solidFill>
              <a:srgbClr val="31A1BD"/>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210003" y="1957090"/>
            <a:ext cx="743837" cy="733827"/>
          </a:xfrm>
          <a:prstGeom prst="curvedConnector3">
            <a:avLst/>
          </a:prstGeom>
          <a:ln w="28246">
            <a:solidFill>
              <a:srgbClr val="81C366"/>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2615182" y="1277262"/>
          <a:ext cx="4448894" cy="917103"/>
        </p:xfrm>
        <a:graphic>
          <a:graphicData uri="http://schemas.openxmlformats.org/drawingml/2006/table">
            <a:tbl>
              <a:tblPr firstRow="1" bandRow="1">
                <a:tableStyleId>{5C22544A-7EE6-4342-B048-85BDC9FD1C3A}</a:tableStyleId>
              </a:tblPr>
              <a:tblGrid>
                <a:gridCol w="741482">
                  <a:extLst>
                    <a:ext uri="{9D8B030D-6E8A-4147-A177-3AD203B41FA5}">
                      <a16:colId xmlns:a16="http://schemas.microsoft.com/office/drawing/2014/main" val="20000"/>
                    </a:ext>
                  </a:extLst>
                </a:gridCol>
                <a:gridCol w="741482">
                  <a:extLst>
                    <a:ext uri="{9D8B030D-6E8A-4147-A177-3AD203B41FA5}">
                      <a16:colId xmlns:a16="http://schemas.microsoft.com/office/drawing/2014/main" val="20001"/>
                    </a:ext>
                  </a:extLst>
                </a:gridCol>
                <a:gridCol w="741482">
                  <a:extLst>
                    <a:ext uri="{9D8B030D-6E8A-4147-A177-3AD203B41FA5}">
                      <a16:colId xmlns:a16="http://schemas.microsoft.com/office/drawing/2014/main" val="20002"/>
                    </a:ext>
                  </a:extLst>
                </a:gridCol>
                <a:gridCol w="741482">
                  <a:extLst>
                    <a:ext uri="{9D8B030D-6E8A-4147-A177-3AD203B41FA5}">
                      <a16:colId xmlns:a16="http://schemas.microsoft.com/office/drawing/2014/main" val="20003"/>
                    </a:ext>
                  </a:extLst>
                </a:gridCol>
                <a:gridCol w="741482">
                  <a:extLst>
                    <a:ext uri="{9D8B030D-6E8A-4147-A177-3AD203B41FA5}">
                      <a16:colId xmlns:a16="http://schemas.microsoft.com/office/drawing/2014/main" val="20004"/>
                    </a:ext>
                  </a:extLst>
                </a:gridCol>
                <a:gridCol w="741484">
                  <a:extLst>
                    <a:ext uri="{9D8B030D-6E8A-4147-A177-3AD203B41FA5}">
                      <a16:colId xmlns:a16="http://schemas.microsoft.com/office/drawing/2014/main" val="20005"/>
                    </a:ext>
                  </a:extLst>
                </a:gridCol>
              </a:tblGrid>
              <a:tr h="458551">
                <a:tc>
                  <a:txBody>
                    <a:bodyPr/>
                    <a:lstStyle/>
                    <a:p>
                      <a:r>
                        <a:rPr sz="700" b="0">
                          <a:solidFill>
                            <a:srgbClr val="CC32C6"/>
                          </a:solidFill>
                        </a:rPr>
                        <a:t>Window Texture</a:t>
                      </a:r>
                    </a:p>
                  </a:txBody>
                  <a:tcPr>
                    <a:solidFill>
                      <a:srgbClr val="E7E9F4"/>
                    </a:solidFill>
                  </a:tcPr>
                </a:tc>
                <a:tc>
                  <a:txBody>
                    <a:bodyPr/>
                    <a:lstStyle/>
                    <a:p>
                      <a:r>
                        <a:rPr sz="700" b="0">
                          <a:solidFill>
                            <a:srgbClr val="CC32C6"/>
                          </a:solidFill>
                        </a:rPr>
                        <a:t>Indicator Velocity</a:t>
                      </a:r>
                    </a:p>
                  </a:txBody>
                  <a:tcPr>
                    <a:solidFill>
                      <a:srgbClr val="D1D4E9"/>
                    </a:solidFill>
                  </a:tcPr>
                </a:tc>
                <a:tc>
                  <a:txBody>
                    <a:bodyPr/>
                    <a:lstStyle/>
                    <a:p>
                      <a:r>
                        <a:rPr sz="700" b="0">
                          <a:solidFill>
                            <a:srgbClr val="CC32C6"/>
                          </a:solidFill>
                        </a:rPr>
                        <a:t>Cortex</a:t>
                      </a:r>
                    </a:p>
                  </a:txBody>
                  <a:tcPr>
                    <a:solidFill>
                      <a:srgbClr val="E7E9F4"/>
                    </a:solidFill>
                  </a:tcPr>
                </a:tc>
                <a:tc>
                  <a:txBody>
                    <a:bodyPr/>
                    <a:lstStyle/>
                    <a:p>
                      <a:r>
                        <a:rPr sz="700" b="0">
                          <a:solidFill>
                            <a:srgbClr val="CC32C6"/>
                          </a:solidFill>
                        </a:rPr>
                        <a:t>Program Result</a:t>
                      </a:r>
                    </a:p>
                  </a:txBody>
                  <a:tcPr>
                    <a:solidFill>
                      <a:srgbClr val="D1D4E9"/>
                    </a:solidFill>
                  </a:tcPr>
                </a:tc>
                <a:tc>
                  <a:txBody>
                    <a:bodyPr/>
                    <a:lstStyle/>
                    <a:p>
                      <a:r>
                        <a:rPr sz="700" b="0">
                          <a:solidFill>
                            <a:srgbClr val="CC32C6"/>
                          </a:solidFill>
                        </a:rPr>
                        <a:t>Clarity</a:t>
                      </a:r>
                    </a:p>
                  </a:txBody>
                  <a:tcPr>
                    <a:solidFill>
                      <a:srgbClr val="E7E9F4"/>
                    </a:solidFill>
                  </a:tcPr>
                </a:tc>
                <a:tc>
                  <a:txBody>
                    <a:bodyPr/>
                    <a:lstStyle/>
                    <a:p>
                      <a:r>
                        <a:rPr sz="700" b="0">
                          <a:solidFill>
                            <a:srgbClr val="CC32C6"/>
                          </a:solidFill>
                        </a:rPr>
                        <a:t>Structure</a:t>
                      </a:r>
                    </a:p>
                  </a:txBody>
                  <a:tcPr>
                    <a:solidFill>
                      <a:srgbClr val="D1D4E9"/>
                    </a:solidFill>
                  </a:tcPr>
                </a:tc>
                <a:extLst>
                  <a:ext uri="{0D108BD9-81ED-4DB2-BD59-A6C34878D82A}">
                    <a16:rowId xmlns:a16="http://schemas.microsoft.com/office/drawing/2014/main" val="10000"/>
                  </a:ext>
                </a:extLst>
              </a:tr>
              <a:tr h="458552">
                <a:tc>
                  <a:txBody>
                    <a:bodyPr/>
                    <a:lstStyle/>
                    <a:p>
                      <a:r>
                        <a:rPr sz="700" b="0">
                          <a:solidFill>
                            <a:srgbClr val="CC32C6"/>
                          </a:solidFill>
                        </a:rPr>
                        <a:t>Context Adaptive</a:t>
                      </a:r>
                    </a:p>
                  </a:txBody>
                  <a:tcPr>
                    <a:solidFill>
                      <a:srgbClr val="E7E9F4"/>
                    </a:solidFill>
                  </a:tcPr>
                </a:tc>
                <a:tc>
                  <a:txBody>
                    <a:bodyPr/>
                    <a:lstStyle/>
                    <a:p>
                      <a:r>
                        <a:rPr sz="700" b="0">
                          <a:solidFill>
                            <a:srgbClr val="CC32C6"/>
                          </a:solidFill>
                        </a:rPr>
                        <a:t>Graph</a:t>
                      </a:r>
                    </a:p>
                  </a:txBody>
                  <a:tcPr>
                    <a:solidFill>
                      <a:srgbClr val="D1D4E9"/>
                    </a:solidFill>
                  </a:tcPr>
                </a:tc>
                <a:tc>
                  <a:txBody>
                    <a:bodyPr/>
                    <a:lstStyle/>
                    <a:p>
                      <a:r>
                        <a:rPr sz="700" b="0">
                          <a:solidFill>
                            <a:srgbClr val="CC32C6"/>
                          </a:solidFill>
                        </a:rPr>
                        <a:t>Center Account</a:t>
                      </a:r>
                    </a:p>
                  </a:txBody>
                  <a:tcPr>
                    <a:solidFill>
                      <a:srgbClr val="E7E9F4"/>
                    </a:solidFill>
                  </a:tcPr>
                </a:tc>
                <a:tc>
                  <a:txBody>
                    <a:bodyPr/>
                    <a:lstStyle/>
                    <a:p>
                      <a:r>
                        <a:rPr sz="700" b="0">
                          <a:solidFill>
                            <a:srgbClr val="CC32C6"/>
                          </a:solidFill>
                        </a:rPr>
                        <a:t>Impact Timeline</a:t>
                      </a:r>
                    </a:p>
                  </a:txBody>
                  <a:tcPr>
                    <a:solidFill>
                      <a:srgbClr val="D1D4E9"/>
                    </a:solidFill>
                  </a:tcPr>
                </a:tc>
                <a:tc>
                  <a:txBody>
                    <a:bodyPr/>
                    <a:lstStyle/>
                    <a:p>
                      <a:r>
                        <a:rPr sz="700" b="0">
                          <a:solidFill>
                            <a:srgbClr val="CC32C6"/>
                          </a:solidFill>
                        </a:rPr>
                        <a:t>Trend</a:t>
                      </a:r>
                    </a:p>
                  </a:txBody>
                  <a:tcPr>
                    <a:solidFill>
                      <a:srgbClr val="E7E9F4"/>
                    </a:solidFill>
                  </a:tcPr>
                </a:tc>
                <a:tc>
                  <a:txBody>
                    <a:bodyPr/>
                    <a:lstStyle/>
                    <a:p>
                      <a:r>
                        <a:rPr sz="700" b="0">
                          <a:solidFill>
                            <a:srgbClr val="CC32C6"/>
                          </a:solidFill>
                        </a:rPr>
                        <a:t>Expansion</a:t>
                      </a:r>
                    </a:p>
                  </a:txBody>
                  <a:tcPr>
                    <a:solidFill>
                      <a:srgbClr val="D1D4E9"/>
                    </a:solidFill>
                  </a:tcPr>
                </a:tc>
                <a:extLst>
                  <a:ext uri="{0D108BD9-81ED-4DB2-BD59-A6C34878D82A}">
                    <a16:rowId xmlns:a16="http://schemas.microsoft.com/office/drawing/2014/main" val="10001"/>
                  </a:ext>
                </a:extLst>
              </a:tr>
            </a:tbl>
          </a:graphicData>
        </a:graphic>
      </p:graphicFrame>
      <p:sp>
        <p:nvSpPr>
          <p:cNvPr id="16" name="TextBox 15"/>
          <p:cNvSpPr txBox="1"/>
          <p:nvPr/>
        </p:nvSpPr>
        <p:spPr>
          <a:xfrm>
            <a:off x="5847049" y="2622905"/>
            <a:ext cx="429246" cy="1050971"/>
          </a:xfrm>
          <a:prstGeom prst="rect">
            <a:avLst/>
          </a:prstGeom>
          <a:noFill/>
        </p:spPr>
        <p:txBody>
          <a:bodyPr wrap="none" lIns="76664" tIns="76664" rIns="76664" bIns="76664">
            <a:spAutoFit/>
          </a:bodyPr>
          <a:lstStyle/>
          <a:p>
            <a:r>
              <a:rPr sz="4700" b="1" i="0" u="none">
                <a:solidFill>
                  <a:srgbClr val="B9B8DC"/>
                </a:solidFill>
                <a:latin typeface="Verdana"/>
              </a:rPr>
              <a:t>Request Estimate</a:t>
            </a:r>
          </a:p>
        </p:txBody>
      </p:sp>
      <p:sp>
        <p:nvSpPr>
          <p:cNvPr id="17" name="Sun 16"/>
          <p:cNvSpPr/>
          <p:nvPr/>
        </p:nvSpPr>
        <p:spPr>
          <a:xfrm>
            <a:off x="4687608" y="2652610"/>
            <a:ext cx="1050201" cy="645898"/>
          </a:xfrm>
          <a:prstGeom prst="sun">
            <a:avLst/>
          </a:prstGeom>
          <a:solidFill>
            <a:srgbClr val="A941DC"/>
          </a:solidFill>
          <a:ln w="23208">
            <a:solidFill>
              <a:srgbClr val="AD6E3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8" name="Chart 17"/>
          <p:cNvGraphicFramePr>
            <a:graphicFrameLocks noGrp="1"/>
          </p:cNvGraphicFramePr>
          <p:nvPr/>
        </p:nvGraphicFramePr>
        <p:xfrm>
          <a:off x="4589932" y="3168470"/>
          <a:ext cx="2957691" cy="1393112"/>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p:cNvSpPr txBox="1"/>
          <p:nvPr/>
        </p:nvSpPr>
        <p:spPr>
          <a:xfrm>
            <a:off x="4414278" y="438277"/>
            <a:ext cx="638844" cy="1499628"/>
          </a:xfrm>
          <a:prstGeom prst="rect">
            <a:avLst/>
          </a:prstGeom>
          <a:noFill/>
        </p:spPr>
        <p:txBody>
          <a:bodyPr wrap="none" lIns="19802" tIns="19802" rIns="19802" bIns="19802">
            <a:spAutoFit/>
          </a:bodyPr>
          <a:lstStyle/>
          <a:p>
            <a:r>
              <a:rPr sz="1100" b="0" i="0" u="none">
                <a:solidFill>
                  <a:srgbClr val="62C558"/>
                </a:solidFill>
                <a:latin typeface="Georgia"/>
              </a:rPr>
              <a:t>Viewport Station Object Review Wave Flow</a:t>
            </a:r>
          </a:p>
        </p:txBody>
      </p:sp>
      <p:pic>
        <p:nvPicPr>
          <p:cNvPr id="20" name="Picture 19" descr="_example_image.jpg"/>
          <p:cNvPicPr>
            <a:picLocks noChangeAspect="1"/>
          </p:cNvPicPr>
          <p:nvPr/>
        </p:nvPicPr>
        <p:blipFill>
          <a:blip r:embed="rId3"/>
          <a:srcRect/>
          <a:stretch>
            <a:fillRect/>
          </a:stretch>
        </p:blipFill>
        <p:spPr>
          <a:xfrm>
            <a:off x="758486" y="5298337"/>
            <a:ext cx="1161763" cy="871616"/>
          </a:xfrm>
          <a:prstGeom prst="rect">
            <a:avLst/>
          </a:prstGeom>
        </p:spPr>
      </p:pic>
      <p:sp>
        <p:nvSpPr>
          <p:cNvPr id="21" name="Delay 20"/>
          <p:cNvSpPr/>
          <p:nvPr/>
        </p:nvSpPr>
        <p:spPr>
          <a:xfrm>
            <a:off x="8700970" y="2303705"/>
            <a:ext cx="2568359" cy="1980615"/>
          </a:xfrm>
          <a:prstGeom prst="flowChartDelay">
            <a:avLst/>
          </a:prstGeom>
          <a:solidFill>
            <a:srgbClr val="6D6384"/>
          </a:solidFill>
          <a:ln w="8388">
            <a:solidFill>
              <a:srgbClr val="689CD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quot;No&quot; Symbol 21"/>
          <p:cNvSpPr/>
          <p:nvPr/>
        </p:nvSpPr>
        <p:spPr>
          <a:xfrm>
            <a:off x="3282888" y="3340179"/>
            <a:ext cx="2024794" cy="404755"/>
          </a:xfrm>
          <a:prstGeom prst="noSmoking">
            <a:avLst/>
          </a:prstGeom>
          <a:solidFill>
            <a:srgbClr val="31419D"/>
          </a:solidFill>
          <a:ln w="22514">
            <a:solidFill>
              <a:srgbClr val="DDCAC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rocess 22"/>
          <p:cNvSpPr/>
          <p:nvPr/>
        </p:nvSpPr>
        <p:spPr>
          <a:xfrm>
            <a:off x="5856669" y="4587548"/>
            <a:ext cx="2602824" cy="365464"/>
          </a:xfrm>
          <a:prstGeom prst="flowChartProcess">
            <a:avLst/>
          </a:prstGeom>
          <a:solidFill>
            <a:srgbClr val="C3316A"/>
          </a:solidFill>
          <a:ln w="24270">
            <a:solidFill>
              <a:srgbClr val="DC62B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nvGraphicFramePr>
        <p:xfrm>
          <a:off x="7102218" y="223357"/>
          <a:ext cx="4186209" cy="1095491"/>
        </p:xfrm>
        <a:graphic>
          <a:graphicData uri="http://schemas.openxmlformats.org/drawingml/2006/table">
            <a:tbl>
              <a:tblPr firstRow="1" bandRow="1">
                <a:tableStyleId>{5C22544A-7EE6-4342-B048-85BDC9FD1C3A}</a:tableStyleId>
              </a:tblPr>
              <a:tblGrid>
                <a:gridCol w="697701">
                  <a:extLst>
                    <a:ext uri="{9D8B030D-6E8A-4147-A177-3AD203B41FA5}">
                      <a16:colId xmlns:a16="http://schemas.microsoft.com/office/drawing/2014/main" val="20000"/>
                    </a:ext>
                  </a:extLst>
                </a:gridCol>
                <a:gridCol w="697701">
                  <a:extLst>
                    <a:ext uri="{9D8B030D-6E8A-4147-A177-3AD203B41FA5}">
                      <a16:colId xmlns:a16="http://schemas.microsoft.com/office/drawing/2014/main" val="20001"/>
                    </a:ext>
                  </a:extLst>
                </a:gridCol>
                <a:gridCol w="697701">
                  <a:extLst>
                    <a:ext uri="{9D8B030D-6E8A-4147-A177-3AD203B41FA5}">
                      <a16:colId xmlns:a16="http://schemas.microsoft.com/office/drawing/2014/main" val="20002"/>
                    </a:ext>
                  </a:extLst>
                </a:gridCol>
                <a:gridCol w="697701">
                  <a:extLst>
                    <a:ext uri="{9D8B030D-6E8A-4147-A177-3AD203B41FA5}">
                      <a16:colId xmlns:a16="http://schemas.microsoft.com/office/drawing/2014/main" val="20003"/>
                    </a:ext>
                  </a:extLst>
                </a:gridCol>
                <a:gridCol w="697701">
                  <a:extLst>
                    <a:ext uri="{9D8B030D-6E8A-4147-A177-3AD203B41FA5}">
                      <a16:colId xmlns:a16="http://schemas.microsoft.com/office/drawing/2014/main" val="20004"/>
                    </a:ext>
                  </a:extLst>
                </a:gridCol>
                <a:gridCol w="697704">
                  <a:extLst>
                    <a:ext uri="{9D8B030D-6E8A-4147-A177-3AD203B41FA5}">
                      <a16:colId xmlns:a16="http://schemas.microsoft.com/office/drawing/2014/main" val="20005"/>
                    </a:ext>
                  </a:extLst>
                </a:gridCol>
              </a:tblGrid>
              <a:tr h="365163">
                <a:tc>
                  <a:txBody>
                    <a:bodyPr/>
                    <a:lstStyle/>
                    <a:p>
                      <a:r>
                        <a:rPr sz="1300" b="0">
                          <a:solidFill>
                            <a:srgbClr val="6C9EB2"/>
                          </a:solidFill>
                        </a:rPr>
                        <a:t>Record</a:t>
                      </a:r>
                    </a:p>
                  </a:txBody>
                  <a:tcPr>
                    <a:solidFill>
                      <a:srgbClr val="E7DCDF"/>
                    </a:solidFill>
                  </a:tcPr>
                </a:tc>
                <a:tc>
                  <a:txBody>
                    <a:bodyPr/>
                    <a:lstStyle/>
                    <a:p>
                      <a:r>
                        <a:rPr sz="1300" b="0">
                          <a:solidFill>
                            <a:srgbClr val="6C9EB2"/>
                          </a:solidFill>
                        </a:rPr>
                        <a:t>Report</a:t>
                      </a:r>
                    </a:p>
                  </a:txBody>
                  <a:tcPr>
                    <a:solidFill>
                      <a:srgbClr val="E7DCDF"/>
                    </a:solidFill>
                  </a:tcPr>
                </a:tc>
                <a:tc>
                  <a:txBody>
                    <a:bodyPr/>
                    <a:lstStyle/>
                    <a:p>
                      <a:r>
                        <a:rPr sz="1300" b="0">
                          <a:solidFill>
                            <a:srgbClr val="6C9EB2"/>
                          </a:solidFill>
                        </a:rPr>
                        <a:t>Variant Relay</a:t>
                      </a:r>
                    </a:p>
                  </a:txBody>
                  <a:tcPr>
                    <a:solidFill>
                      <a:srgbClr val="E7DCDF"/>
                    </a:solidFill>
                  </a:tcPr>
                </a:tc>
                <a:tc>
                  <a:txBody>
                    <a:bodyPr/>
                    <a:lstStyle/>
                    <a:p>
                      <a:r>
                        <a:rPr sz="1300" b="0">
                          <a:solidFill>
                            <a:srgbClr val="6C9EB2"/>
                          </a:solidFill>
                        </a:rPr>
                        <a:t>Stream</a:t>
                      </a:r>
                    </a:p>
                  </a:txBody>
                  <a:tcPr>
                    <a:solidFill>
                      <a:srgbClr val="E7DCDF"/>
                    </a:solidFill>
                  </a:tcPr>
                </a:tc>
                <a:tc>
                  <a:txBody>
                    <a:bodyPr/>
                    <a:lstStyle/>
                    <a:p>
                      <a:r>
                        <a:rPr sz="1300" b="0">
                          <a:solidFill>
                            <a:srgbClr val="6C9EB2"/>
                          </a:solidFill>
                        </a:rPr>
                        <a:t>Table Discovery</a:t>
                      </a:r>
                    </a:p>
                  </a:txBody>
                  <a:tcPr>
                    <a:solidFill>
                      <a:srgbClr val="E7DCDF"/>
                    </a:solidFill>
                  </a:tcPr>
                </a:tc>
                <a:tc>
                  <a:txBody>
                    <a:bodyPr/>
                    <a:lstStyle/>
                    <a:p>
                      <a:r>
                        <a:rPr sz="1300" b="0">
                          <a:solidFill>
                            <a:srgbClr val="6C9EB2"/>
                          </a:solidFill>
                        </a:rPr>
                        <a:t>Engine Impact</a:t>
                      </a:r>
                    </a:p>
                  </a:txBody>
                  <a:tcPr>
                    <a:solidFill>
                      <a:srgbClr val="E7DCDF"/>
                    </a:solidFill>
                  </a:tcPr>
                </a:tc>
                <a:extLst>
                  <a:ext uri="{0D108BD9-81ED-4DB2-BD59-A6C34878D82A}">
                    <a16:rowId xmlns:a16="http://schemas.microsoft.com/office/drawing/2014/main" val="10000"/>
                  </a:ext>
                </a:extLst>
              </a:tr>
              <a:tr h="365163">
                <a:tc>
                  <a:txBody>
                    <a:bodyPr/>
                    <a:lstStyle/>
                    <a:p>
                      <a:r>
                        <a:rPr sz="1300" b="0">
                          <a:solidFill>
                            <a:srgbClr val="6C9EB2"/>
                          </a:solidFill>
                        </a:rPr>
                        <a:t>Template Concept</a:t>
                      </a:r>
                    </a:p>
                  </a:txBody>
                  <a:tcPr>
                    <a:solidFill>
                      <a:srgbClr val="D1BCC1"/>
                    </a:solidFill>
                  </a:tcPr>
                </a:tc>
                <a:tc>
                  <a:txBody>
                    <a:bodyPr/>
                    <a:lstStyle/>
                    <a:p>
                      <a:r>
                        <a:rPr sz="1300" b="0">
                          <a:solidFill>
                            <a:srgbClr val="6C9EB2"/>
                          </a:solidFill>
                        </a:rPr>
                        <a:t>Bridge</a:t>
                      </a:r>
                    </a:p>
                  </a:txBody>
                  <a:tcPr>
                    <a:solidFill>
                      <a:srgbClr val="D1BCC1"/>
                    </a:solidFill>
                  </a:tcPr>
                </a:tc>
                <a:tc>
                  <a:txBody>
                    <a:bodyPr/>
                    <a:lstStyle/>
                    <a:p>
                      <a:r>
                        <a:rPr sz="1300" b="0">
                          <a:solidFill>
                            <a:srgbClr val="6C9EB2"/>
                          </a:solidFill>
                        </a:rPr>
                        <a:t>Stack</a:t>
                      </a:r>
                    </a:p>
                  </a:txBody>
                  <a:tcPr>
                    <a:solidFill>
                      <a:srgbClr val="D1BCC1"/>
                    </a:solidFill>
                  </a:tcPr>
                </a:tc>
                <a:tc>
                  <a:txBody>
                    <a:bodyPr/>
                    <a:lstStyle/>
                    <a:p>
                      <a:r>
                        <a:rPr sz="1300" b="0">
                          <a:solidFill>
                            <a:srgbClr val="6C9EB2"/>
                          </a:solidFill>
                        </a:rPr>
                        <a:t>Sequence Instance</a:t>
                      </a:r>
                    </a:p>
                  </a:txBody>
                  <a:tcPr>
                    <a:solidFill>
                      <a:srgbClr val="D1BCC1"/>
                    </a:solidFill>
                  </a:tcPr>
                </a:tc>
                <a:tc>
                  <a:txBody>
                    <a:bodyPr/>
                    <a:lstStyle/>
                    <a:p>
                      <a:r>
                        <a:rPr sz="1300" b="0">
                          <a:solidFill>
                            <a:srgbClr val="6C9EB2"/>
                          </a:solidFill>
                        </a:rPr>
                        <a:t>Precision</a:t>
                      </a:r>
                    </a:p>
                  </a:txBody>
                  <a:tcPr>
                    <a:solidFill>
                      <a:srgbClr val="D1BCC1"/>
                    </a:solidFill>
                  </a:tcPr>
                </a:tc>
                <a:tc>
                  <a:txBody>
                    <a:bodyPr/>
                    <a:lstStyle/>
                    <a:p>
                      <a:r>
                        <a:rPr sz="1300" b="0">
                          <a:solidFill>
                            <a:srgbClr val="6C9EB2"/>
                          </a:solidFill>
                        </a:rPr>
                        <a:t>Metric</a:t>
                      </a:r>
                    </a:p>
                  </a:txBody>
                  <a:tcPr>
                    <a:solidFill>
                      <a:srgbClr val="D1BCC1"/>
                    </a:solidFill>
                  </a:tcPr>
                </a:tc>
                <a:extLst>
                  <a:ext uri="{0D108BD9-81ED-4DB2-BD59-A6C34878D82A}">
                    <a16:rowId xmlns:a16="http://schemas.microsoft.com/office/drawing/2014/main" val="10001"/>
                  </a:ext>
                </a:extLst>
              </a:tr>
              <a:tr h="365165">
                <a:tc>
                  <a:txBody>
                    <a:bodyPr/>
                    <a:lstStyle/>
                    <a:p>
                      <a:r>
                        <a:rPr sz="1300" b="0">
                          <a:solidFill>
                            <a:srgbClr val="6C9EB2"/>
                          </a:solidFill>
                        </a:rPr>
                        <a:t>Thread</a:t>
                      </a:r>
                    </a:p>
                  </a:txBody>
                  <a:tcPr>
                    <a:solidFill>
                      <a:srgbClr val="E7DCDF"/>
                    </a:solidFill>
                  </a:tcPr>
                </a:tc>
                <a:tc>
                  <a:txBody>
                    <a:bodyPr/>
                    <a:lstStyle/>
                    <a:p>
                      <a:r>
                        <a:rPr sz="1300" b="0">
                          <a:solidFill>
                            <a:srgbClr val="6C9EB2"/>
                          </a:solidFill>
                        </a:rPr>
                        <a:t>Keyline Scope</a:t>
                      </a:r>
                    </a:p>
                  </a:txBody>
                  <a:tcPr>
                    <a:solidFill>
                      <a:srgbClr val="E7DCDF"/>
                    </a:solidFill>
                  </a:tcPr>
                </a:tc>
                <a:tc>
                  <a:txBody>
                    <a:bodyPr/>
                    <a:lstStyle/>
                    <a:p>
                      <a:r>
                        <a:rPr sz="1300" b="0">
                          <a:solidFill>
                            <a:srgbClr val="6C9EB2"/>
                          </a:solidFill>
                        </a:rPr>
                        <a:t>Core View</a:t>
                      </a:r>
                    </a:p>
                  </a:txBody>
                  <a:tcPr>
                    <a:solidFill>
                      <a:srgbClr val="E7DCDF"/>
                    </a:solidFill>
                  </a:tcPr>
                </a:tc>
                <a:tc>
                  <a:txBody>
                    <a:bodyPr/>
                    <a:lstStyle/>
                    <a:p>
                      <a:r>
                        <a:rPr sz="1300" b="0">
                          <a:solidFill>
                            <a:srgbClr val="6C9EB2"/>
                          </a:solidFill>
                        </a:rPr>
                        <a:t>Proof Stage</a:t>
                      </a:r>
                    </a:p>
                  </a:txBody>
                  <a:tcPr>
                    <a:solidFill>
                      <a:srgbClr val="E7DCDF"/>
                    </a:solidFill>
                  </a:tcPr>
                </a:tc>
                <a:tc>
                  <a:txBody>
                    <a:bodyPr/>
                    <a:lstStyle/>
                    <a:p>
                      <a:r>
                        <a:rPr sz="1300" b="0">
                          <a:solidFill>
                            <a:srgbClr val="6C9EB2"/>
                          </a:solidFill>
                        </a:rPr>
                        <a:t>Memory</a:t>
                      </a:r>
                    </a:p>
                  </a:txBody>
                  <a:tcPr>
                    <a:solidFill>
                      <a:srgbClr val="E7DCDF"/>
                    </a:solidFill>
                  </a:tcPr>
                </a:tc>
                <a:tc>
                  <a:txBody>
                    <a:bodyPr/>
                    <a:lstStyle/>
                    <a:p>
                      <a:r>
                        <a:rPr sz="1300" b="0">
                          <a:solidFill>
                            <a:srgbClr val="6C9EB2"/>
                          </a:solidFill>
                        </a:rPr>
                        <a:t>Deployment Viewport</a:t>
                      </a:r>
                    </a:p>
                  </a:txBody>
                  <a:tcPr>
                    <a:solidFill>
                      <a:srgbClr val="E7DCDF"/>
                    </a:solidFill>
                  </a:tcPr>
                </a:tc>
                <a:extLst>
                  <a:ext uri="{0D108BD9-81ED-4DB2-BD59-A6C34878D82A}">
                    <a16:rowId xmlns:a16="http://schemas.microsoft.com/office/drawing/2014/main" val="10002"/>
                  </a:ext>
                </a:extLst>
              </a:tr>
            </a:tbl>
          </a:graphicData>
        </a:graphic>
      </p:graphicFrame>
      <p:sp>
        <p:nvSpPr>
          <p:cNvPr id="25" name="Freeform 24"/>
          <p:cNvSpPr/>
          <p:nvPr/>
        </p:nvSpPr>
        <p:spPr>
          <a:xfrm>
            <a:off x="4990985" y="334144"/>
            <a:ext cx="1832094" cy="518123"/>
          </a:xfrm>
          <a:custGeom>
            <a:avLst/>
            <a:gdLst/>
            <a:ahLst/>
            <a:cxnLst/>
            <a:rect l="l" t="t" r="r" b="b"/>
            <a:pathLst>
              <a:path w="1832094" h="518123">
                <a:moveTo>
                  <a:pt x="0" y="251865"/>
                </a:moveTo>
                <a:lnTo>
                  <a:pt x="315199" y="0"/>
                </a:lnTo>
                <a:lnTo>
                  <a:pt x="650098" y="215884"/>
                </a:lnTo>
                <a:lnTo>
                  <a:pt x="984997" y="431769"/>
                </a:lnTo>
                <a:lnTo>
                  <a:pt x="1339595" y="179904"/>
                </a:lnTo>
                <a:lnTo>
                  <a:pt x="1832094" y="273454"/>
                </a:lnTo>
                <a:lnTo>
                  <a:pt x="1832094" y="518123"/>
                </a:lnTo>
                <a:lnTo>
                  <a:pt x="0" y="518123"/>
                </a:lnTo>
                <a:close/>
              </a:path>
            </a:pathLst>
          </a:custGeom>
          <a:solidFill>
            <a:srgbClr val="AAB555"/>
          </a:solidFill>
          <a:ln w="10158">
            <a:solidFill>
              <a:srgbClr val="1D7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3"/>
          <a:srcRect l="2013" t="11406" r="10773" b="19963"/>
          <a:stretch>
            <a:fillRect/>
          </a:stretch>
        </p:blipFill>
        <p:spPr>
          <a:xfrm>
            <a:off x="3147952" y="4238379"/>
            <a:ext cx="1540800" cy="788259"/>
          </a:xfrm>
          <a:prstGeom prst="rect">
            <a:avLst/>
          </a:prstGeom>
        </p:spPr>
      </p:pic>
      <p:pic>
        <p:nvPicPr>
          <p:cNvPr id="28" name="Graphic 27">
            <a:extLst>
              <a:ext uri="{FF2B5EF4-FFF2-40B4-BE49-F238E27FC236}">
                <a16:creationId xmlns:a16="http://schemas.microsoft.com/office/drawing/2014/main" id="{126E5DF2-2C5F-8683-7C2A-4A9DCA76C86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343833" y="3152589"/>
            <a:ext cx="938946" cy="1047534"/>
          </a:xfrm>
          <a:prstGeom prst="rect">
            <a:avLst/>
          </a:prstGeom>
        </p:spPr>
      </p:pic>
      <p:pic>
        <p:nvPicPr>
          <p:cNvPr id="30" name="Graphic 29">
            <a:extLst>
              <a:ext uri="{FF2B5EF4-FFF2-40B4-BE49-F238E27FC236}">
                <a16:creationId xmlns:a16="http://schemas.microsoft.com/office/drawing/2014/main" id="{A5AF8263-D740-FD27-4E67-555AF4D7AE5F}"/>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214165" y="4621009"/>
            <a:ext cx="1465847" cy="8587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entagon 1"/>
          <p:cNvSpPr/>
          <p:nvPr/>
        </p:nvSpPr>
        <p:spPr>
          <a:xfrm>
            <a:off x="8739275" y="2367092"/>
            <a:ext cx="1820657" cy="755642"/>
          </a:xfrm>
          <a:prstGeom prst="homePlate">
            <a:avLst/>
          </a:prstGeom>
          <a:solidFill>
            <a:srgbClr val="BFC233"/>
          </a:solidFill>
          <a:ln w="11998">
            <a:solidFill>
              <a:srgbClr val="E3DD39"/>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flipV="1">
            <a:off x="11026115" y="1941448"/>
            <a:ext cx="916335" cy="1574265"/>
          </a:xfrm>
          <a:prstGeom prst="curvedConnector3">
            <a:avLst/>
          </a:prstGeom>
          <a:ln w="32456">
            <a:solidFill>
              <a:srgbClr val="9DA0D9"/>
            </a:solidFill>
            <a:prstDash val="dash"/>
          </a:ln>
        </p:spPr>
        <p:style>
          <a:lnRef idx="2">
            <a:schemeClr val="accent1"/>
          </a:lnRef>
          <a:fillRef idx="0">
            <a:schemeClr val="accent1"/>
          </a:fillRef>
          <a:effectRef idx="1">
            <a:schemeClr val="accent1"/>
          </a:effectRef>
          <a:fontRef idx="minor">
            <a:schemeClr val="tx1"/>
          </a:fontRef>
        </p:style>
      </p:cxnSp>
      <p:sp>
        <p:nvSpPr>
          <p:cNvPr id="4" name="Diamond 3"/>
          <p:cNvSpPr/>
          <p:nvPr/>
        </p:nvSpPr>
        <p:spPr>
          <a:xfrm>
            <a:off x="1407970" y="1203337"/>
            <a:ext cx="2592323" cy="898274"/>
          </a:xfrm>
          <a:prstGeom prst="diamond">
            <a:avLst/>
          </a:prstGeom>
          <a:solidFill>
            <a:srgbClr val="313691"/>
          </a:solidFill>
          <a:ln w="9545">
            <a:solidFill>
              <a:srgbClr val="9E50C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03166" y="3293974"/>
            <a:ext cx="946451" cy="409781"/>
          </a:xfrm>
          <a:prstGeom prst="rect">
            <a:avLst/>
          </a:prstGeom>
          <a:noFill/>
        </p:spPr>
        <p:txBody>
          <a:bodyPr wrap="none" lIns="28459" tIns="28459" rIns="28459" bIns="28459">
            <a:spAutoFit/>
          </a:bodyPr>
          <a:lstStyle/>
          <a:p>
            <a:r>
              <a:rPr sz="5000" b="1" i="0" u="none">
                <a:solidFill>
                  <a:srgbClr val="87E23B"/>
                </a:solidFill>
                <a:latin typeface="Verdana"/>
              </a:rPr>
              <a:t>Bundle Span Priority System Service</a:t>
            </a:r>
          </a:p>
        </p:txBody>
      </p:sp>
      <p:sp>
        <p:nvSpPr>
          <p:cNvPr id="6" name="Freeform 5"/>
          <p:cNvSpPr/>
          <p:nvPr/>
        </p:nvSpPr>
        <p:spPr>
          <a:xfrm>
            <a:off x="10664049" y="5885558"/>
            <a:ext cx="1285906" cy="795202"/>
          </a:xfrm>
          <a:custGeom>
            <a:avLst/>
            <a:gdLst/>
            <a:ahLst/>
            <a:cxnLst/>
            <a:rect l="l" t="t" r="r" b="b"/>
            <a:pathLst>
              <a:path w="1285906" h="795202">
                <a:moveTo>
                  <a:pt x="138270" y="135353"/>
                </a:moveTo>
                <a:lnTo>
                  <a:pt x="456290" y="0"/>
                </a:lnTo>
                <a:lnTo>
                  <a:pt x="940233" y="67677"/>
                </a:lnTo>
                <a:lnTo>
                  <a:pt x="1285906" y="321465"/>
                </a:lnTo>
                <a:lnTo>
                  <a:pt x="1106156" y="659848"/>
                </a:lnTo>
                <a:lnTo>
                  <a:pt x="594559" y="795202"/>
                </a:lnTo>
                <a:lnTo>
                  <a:pt x="82962" y="575253"/>
                </a:lnTo>
                <a:lnTo>
                  <a:pt x="0" y="287626"/>
                </a:lnTo>
                <a:close/>
              </a:path>
            </a:pathLst>
          </a:custGeom>
          <a:solidFill>
            <a:srgbClr val="DD8065"/>
          </a:solidFill>
          <a:ln w="28910">
            <a:solidFill>
              <a:srgbClr val="5A22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5806846" y="3973490"/>
          <a:ext cx="2572852" cy="1575040"/>
        </p:xfrm>
        <a:graphic>
          <a:graphicData uri="http://schemas.openxmlformats.org/drawingml/2006/table">
            <a:tbl>
              <a:tblPr firstRow="1" bandRow="1">
                <a:tableStyleId>{5C22544A-7EE6-4342-B048-85BDC9FD1C3A}</a:tableStyleId>
              </a:tblPr>
              <a:tblGrid>
                <a:gridCol w="428808">
                  <a:extLst>
                    <a:ext uri="{9D8B030D-6E8A-4147-A177-3AD203B41FA5}">
                      <a16:colId xmlns:a16="http://schemas.microsoft.com/office/drawing/2014/main" val="20000"/>
                    </a:ext>
                  </a:extLst>
                </a:gridCol>
                <a:gridCol w="428808">
                  <a:extLst>
                    <a:ext uri="{9D8B030D-6E8A-4147-A177-3AD203B41FA5}">
                      <a16:colId xmlns:a16="http://schemas.microsoft.com/office/drawing/2014/main" val="20001"/>
                    </a:ext>
                  </a:extLst>
                </a:gridCol>
                <a:gridCol w="428808">
                  <a:extLst>
                    <a:ext uri="{9D8B030D-6E8A-4147-A177-3AD203B41FA5}">
                      <a16:colId xmlns:a16="http://schemas.microsoft.com/office/drawing/2014/main" val="20002"/>
                    </a:ext>
                  </a:extLst>
                </a:gridCol>
                <a:gridCol w="428808">
                  <a:extLst>
                    <a:ext uri="{9D8B030D-6E8A-4147-A177-3AD203B41FA5}">
                      <a16:colId xmlns:a16="http://schemas.microsoft.com/office/drawing/2014/main" val="20003"/>
                    </a:ext>
                  </a:extLst>
                </a:gridCol>
                <a:gridCol w="428808">
                  <a:extLst>
                    <a:ext uri="{9D8B030D-6E8A-4147-A177-3AD203B41FA5}">
                      <a16:colId xmlns:a16="http://schemas.microsoft.com/office/drawing/2014/main" val="20004"/>
                    </a:ext>
                  </a:extLst>
                </a:gridCol>
                <a:gridCol w="428812">
                  <a:extLst>
                    <a:ext uri="{9D8B030D-6E8A-4147-A177-3AD203B41FA5}">
                      <a16:colId xmlns:a16="http://schemas.microsoft.com/office/drawing/2014/main" val="20005"/>
                    </a:ext>
                  </a:extLst>
                </a:gridCol>
              </a:tblGrid>
              <a:tr h="315008">
                <a:tc>
                  <a:txBody>
                    <a:bodyPr/>
                    <a:lstStyle/>
                    <a:p>
                      <a:r>
                        <a:rPr sz="1300" b="1">
                          <a:solidFill>
                            <a:srgbClr val="638F8C"/>
                          </a:solidFill>
                        </a:rPr>
                        <a:t>Beta Mode</a:t>
                      </a:r>
                    </a:p>
                  </a:txBody>
                  <a:tcPr>
                    <a:solidFill>
                      <a:srgbClr val="411F90"/>
                    </a:solidFill>
                  </a:tcPr>
                </a:tc>
                <a:tc>
                  <a:txBody>
                    <a:bodyPr/>
                    <a:lstStyle/>
                    <a:p>
                      <a:r>
                        <a:rPr sz="1300" b="1">
                          <a:solidFill>
                            <a:srgbClr val="638F8C"/>
                          </a:solidFill>
                        </a:rPr>
                        <a:t>Thread</a:t>
                      </a:r>
                    </a:p>
                  </a:txBody>
                  <a:tcPr>
                    <a:solidFill>
                      <a:srgbClr val="411F90"/>
                    </a:solidFill>
                  </a:tcPr>
                </a:tc>
                <a:tc>
                  <a:txBody>
                    <a:bodyPr/>
                    <a:lstStyle/>
                    <a:p>
                      <a:r>
                        <a:rPr sz="1300" b="1">
                          <a:solidFill>
                            <a:srgbClr val="638F8C"/>
                          </a:solidFill>
                        </a:rPr>
                        <a:t>Kernel</a:t>
                      </a:r>
                    </a:p>
                  </a:txBody>
                  <a:tcPr>
                    <a:solidFill>
                      <a:srgbClr val="411F90"/>
                    </a:solidFill>
                  </a:tcPr>
                </a:tc>
                <a:tc>
                  <a:txBody>
                    <a:bodyPr/>
                    <a:lstStyle/>
                    <a:p>
                      <a:r>
                        <a:rPr sz="1300" b="1">
                          <a:solidFill>
                            <a:srgbClr val="638F8C"/>
                          </a:solidFill>
                        </a:rPr>
                        <a:t>Deployment</a:t>
                      </a:r>
                    </a:p>
                  </a:txBody>
                  <a:tcPr>
                    <a:solidFill>
                      <a:srgbClr val="411F90"/>
                    </a:solidFill>
                  </a:tcPr>
                </a:tc>
                <a:tc>
                  <a:txBody>
                    <a:bodyPr/>
                    <a:lstStyle/>
                    <a:p>
                      <a:r>
                        <a:rPr sz="1300" b="1">
                          <a:solidFill>
                            <a:srgbClr val="638F8C"/>
                          </a:solidFill>
                        </a:rPr>
                        <a:t>Balance</a:t>
                      </a:r>
                    </a:p>
                  </a:txBody>
                  <a:tcPr>
                    <a:solidFill>
                      <a:srgbClr val="411F90"/>
                    </a:solidFill>
                  </a:tcPr>
                </a:tc>
                <a:tc>
                  <a:txBody>
                    <a:bodyPr/>
                    <a:lstStyle/>
                    <a:p>
                      <a:r>
                        <a:rPr sz="1300" b="1">
                          <a:solidFill>
                            <a:srgbClr val="638F8C"/>
                          </a:solidFill>
                        </a:rPr>
                        <a:t>Object</a:t>
                      </a:r>
                    </a:p>
                  </a:txBody>
                  <a:tcPr>
                    <a:solidFill>
                      <a:srgbClr val="411F90"/>
                    </a:solidFill>
                  </a:tcPr>
                </a:tc>
                <a:extLst>
                  <a:ext uri="{0D108BD9-81ED-4DB2-BD59-A6C34878D82A}">
                    <a16:rowId xmlns:a16="http://schemas.microsoft.com/office/drawing/2014/main" val="10000"/>
                  </a:ext>
                </a:extLst>
              </a:tr>
              <a:tr h="315008">
                <a:tc>
                  <a:txBody>
                    <a:bodyPr/>
                    <a:lstStyle/>
                    <a:p>
                      <a:r>
                        <a:rPr sz="1300" b="0">
                          <a:solidFill>
                            <a:srgbClr val="638F8C"/>
                          </a:solidFill>
                        </a:rPr>
                        <a:t>Workflow Forecast</a:t>
                      </a:r>
                    </a:p>
                  </a:txBody>
                  <a:tcPr>
                    <a:solidFill>
                      <a:srgbClr val="ABEBD4"/>
                    </a:solidFill>
                  </a:tcPr>
                </a:tc>
                <a:tc>
                  <a:txBody>
                    <a:bodyPr/>
                    <a:lstStyle/>
                    <a:p>
                      <a:r>
                        <a:rPr sz="1300" b="0">
                          <a:solidFill>
                            <a:srgbClr val="638F8C"/>
                          </a:solidFill>
                        </a:rPr>
                        <a:t>Center Compass</a:t>
                      </a:r>
                    </a:p>
                  </a:txBody>
                  <a:tcPr>
                    <a:solidFill>
                      <a:srgbClr val="ABEBD4"/>
                    </a:solidFill>
                  </a:tcPr>
                </a:tc>
                <a:tc>
                  <a:txBody>
                    <a:bodyPr/>
                    <a:lstStyle/>
                    <a:p>
                      <a:r>
                        <a:rPr sz="1300" b="0">
                          <a:solidFill>
                            <a:srgbClr val="638F8C"/>
                          </a:solidFill>
                        </a:rPr>
                        <a:t>Feature</a:t>
                      </a:r>
                    </a:p>
                  </a:txBody>
                  <a:tcPr>
                    <a:solidFill>
                      <a:srgbClr val="ABEBD4"/>
                    </a:solidFill>
                  </a:tcPr>
                </a:tc>
                <a:tc>
                  <a:txBody>
                    <a:bodyPr/>
                    <a:lstStyle/>
                    <a:p>
                      <a:r>
                        <a:rPr sz="1300" b="0">
                          <a:solidFill>
                            <a:srgbClr val="638F8C"/>
                          </a:solidFill>
                        </a:rPr>
                        <a:t>Compass Sample</a:t>
                      </a:r>
                    </a:p>
                  </a:txBody>
                  <a:tcPr>
                    <a:solidFill>
                      <a:srgbClr val="ABEBD4"/>
                    </a:solidFill>
                  </a:tcPr>
                </a:tc>
                <a:tc>
                  <a:txBody>
                    <a:bodyPr/>
                    <a:lstStyle/>
                    <a:p>
                      <a:r>
                        <a:rPr sz="1300" b="0">
                          <a:solidFill>
                            <a:srgbClr val="638F8C"/>
                          </a:solidFill>
                        </a:rPr>
                        <a:t>Alpha</a:t>
                      </a:r>
                    </a:p>
                  </a:txBody>
                  <a:tcPr>
                    <a:solidFill>
                      <a:srgbClr val="ABEBD4"/>
                    </a:solidFill>
                  </a:tcPr>
                </a:tc>
                <a:tc>
                  <a:txBody>
                    <a:bodyPr/>
                    <a:lstStyle/>
                    <a:p>
                      <a:r>
                        <a:rPr sz="1300" b="0">
                          <a:solidFill>
                            <a:srgbClr val="638F8C"/>
                          </a:solidFill>
                        </a:rPr>
                        <a:t>Coverage</a:t>
                      </a:r>
                    </a:p>
                  </a:txBody>
                  <a:tcPr>
                    <a:solidFill>
                      <a:srgbClr val="ABEBD4"/>
                    </a:solidFill>
                  </a:tcPr>
                </a:tc>
                <a:extLst>
                  <a:ext uri="{0D108BD9-81ED-4DB2-BD59-A6C34878D82A}">
                    <a16:rowId xmlns:a16="http://schemas.microsoft.com/office/drawing/2014/main" val="10001"/>
                  </a:ext>
                </a:extLst>
              </a:tr>
              <a:tr h="315008">
                <a:tc>
                  <a:txBody>
                    <a:bodyPr/>
                    <a:lstStyle/>
                    <a:p>
                      <a:r>
                        <a:rPr sz="1300" b="0">
                          <a:solidFill>
                            <a:srgbClr val="638F8C"/>
                          </a:solidFill>
                        </a:rPr>
                        <a:t>Vector Option</a:t>
                      </a:r>
                    </a:p>
                  </a:txBody>
                  <a:tcPr>
                    <a:solidFill>
                      <a:srgbClr val="DFF7EE"/>
                    </a:solidFill>
                  </a:tcPr>
                </a:tc>
                <a:tc>
                  <a:txBody>
                    <a:bodyPr/>
                    <a:lstStyle/>
                    <a:p>
                      <a:r>
                        <a:rPr sz="1300" b="0">
                          <a:solidFill>
                            <a:srgbClr val="638F8C"/>
                          </a:solidFill>
                        </a:rPr>
                        <a:t>Stage</a:t>
                      </a:r>
                    </a:p>
                  </a:txBody>
                  <a:tcPr>
                    <a:solidFill>
                      <a:srgbClr val="DFF7EE"/>
                    </a:solidFill>
                  </a:tcPr>
                </a:tc>
                <a:tc>
                  <a:txBody>
                    <a:bodyPr/>
                    <a:lstStyle/>
                    <a:p>
                      <a:r>
                        <a:rPr sz="1300" b="0">
                          <a:solidFill>
                            <a:srgbClr val="638F8C"/>
                          </a:solidFill>
                        </a:rPr>
                        <a:t>Foundation</a:t>
                      </a:r>
                    </a:p>
                  </a:txBody>
                  <a:tcPr>
                    <a:solidFill>
                      <a:srgbClr val="DFF7EE"/>
                    </a:solidFill>
                  </a:tcPr>
                </a:tc>
                <a:tc>
                  <a:txBody>
                    <a:bodyPr/>
                    <a:lstStyle/>
                    <a:p>
                      <a:r>
                        <a:rPr sz="1300" b="0">
                          <a:solidFill>
                            <a:srgbClr val="638F8C"/>
                          </a:solidFill>
                        </a:rPr>
                        <a:t>Iteration</a:t>
                      </a:r>
                    </a:p>
                  </a:txBody>
                  <a:tcPr>
                    <a:solidFill>
                      <a:srgbClr val="DFF7EE"/>
                    </a:solidFill>
                  </a:tcPr>
                </a:tc>
                <a:tc>
                  <a:txBody>
                    <a:bodyPr/>
                    <a:lstStyle/>
                    <a:p>
                      <a:r>
                        <a:rPr sz="1300" b="0">
                          <a:solidFill>
                            <a:srgbClr val="638F8C"/>
                          </a:solidFill>
                        </a:rPr>
                        <a:t>Analysis</a:t>
                      </a:r>
                    </a:p>
                  </a:txBody>
                  <a:tcPr>
                    <a:solidFill>
                      <a:srgbClr val="DFF7EE"/>
                    </a:solidFill>
                  </a:tcPr>
                </a:tc>
                <a:tc>
                  <a:txBody>
                    <a:bodyPr/>
                    <a:lstStyle/>
                    <a:p>
                      <a:r>
                        <a:rPr sz="1300" b="0">
                          <a:solidFill>
                            <a:srgbClr val="638F8C"/>
                          </a:solidFill>
                        </a:rPr>
                        <a:t>Request Logic</a:t>
                      </a:r>
                    </a:p>
                  </a:txBody>
                  <a:tcPr>
                    <a:solidFill>
                      <a:srgbClr val="DFF7EE"/>
                    </a:solidFill>
                  </a:tcPr>
                </a:tc>
                <a:extLst>
                  <a:ext uri="{0D108BD9-81ED-4DB2-BD59-A6C34878D82A}">
                    <a16:rowId xmlns:a16="http://schemas.microsoft.com/office/drawing/2014/main" val="10002"/>
                  </a:ext>
                </a:extLst>
              </a:tr>
              <a:tr h="315008">
                <a:tc>
                  <a:txBody>
                    <a:bodyPr/>
                    <a:lstStyle/>
                    <a:p>
                      <a:r>
                        <a:rPr sz="1300" b="0">
                          <a:solidFill>
                            <a:srgbClr val="638F8C"/>
                          </a:solidFill>
                        </a:rPr>
                        <a:t>Graph</a:t>
                      </a:r>
                    </a:p>
                  </a:txBody>
                  <a:tcPr>
                    <a:solidFill>
                      <a:srgbClr val="ABEBD4"/>
                    </a:solidFill>
                  </a:tcPr>
                </a:tc>
                <a:tc>
                  <a:txBody>
                    <a:bodyPr/>
                    <a:lstStyle/>
                    <a:p>
                      <a:r>
                        <a:rPr sz="1300" b="0">
                          <a:solidFill>
                            <a:srgbClr val="638F8C"/>
                          </a:solidFill>
                        </a:rPr>
                        <a:t>Plan</a:t>
                      </a:r>
                    </a:p>
                  </a:txBody>
                  <a:tcPr>
                    <a:solidFill>
                      <a:srgbClr val="ABEBD4"/>
                    </a:solidFill>
                  </a:tcPr>
                </a:tc>
                <a:tc>
                  <a:txBody>
                    <a:bodyPr/>
                    <a:lstStyle/>
                    <a:p>
                      <a:r>
                        <a:rPr sz="1300" b="0">
                          <a:solidFill>
                            <a:srgbClr val="638F8C"/>
                          </a:solidFill>
                        </a:rPr>
                        <a:t>Package Reserve</a:t>
                      </a:r>
                    </a:p>
                  </a:txBody>
                  <a:tcPr>
                    <a:solidFill>
                      <a:srgbClr val="ABEBD4"/>
                    </a:solidFill>
                  </a:tcPr>
                </a:tc>
                <a:tc>
                  <a:txBody>
                    <a:bodyPr/>
                    <a:lstStyle/>
                    <a:p>
                      <a:r>
                        <a:rPr sz="1300" b="0">
                          <a:solidFill>
                            <a:srgbClr val="638F8C"/>
                          </a:solidFill>
                        </a:rPr>
                        <a:t>Velocity Engine</a:t>
                      </a:r>
                    </a:p>
                  </a:txBody>
                  <a:tcPr>
                    <a:solidFill>
                      <a:srgbClr val="ABEBD4"/>
                    </a:solidFill>
                  </a:tcPr>
                </a:tc>
                <a:tc>
                  <a:txBody>
                    <a:bodyPr/>
                    <a:lstStyle/>
                    <a:p>
                      <a:r>
                        <a:rPr sz="1300" b="0">
                          <a:solidFill>
                            <a:srgbClr val="638F8C"/>
                          </a:solidFill>
                        </a:rPr>
                        <a:t>Function Clarity</a:t>
                      </a:r>
                    </a:p>
                  </a:txBody>
                  <a:tcPr>
                    <a:solidFill>
                      <a:srgbClr val="ABEBD4"/>
                    </a:solidFill>
                  </a:tcPr>
                </a:tc>
                <a:tc>
                  <a:txBody>
                    <a:bodyPr/>
                    <a:lstStyle/>
                    <a:p>
                      <a:r>
                        <a:rPr sz="1300" b="0">
                          <a:solidFill>
                            <a:srgbClr val="638F8C"/>
                          </a:solidFill>
                        </a:rPr>
                        <a:t>Model</a:t>
                      </a:r>
                    </a:p>
                  </a:txBody>
                  <a:tcPr>
                    <a:solidFill>
                      <a:srgbClr val="ABEBD4"/>
                    </a:solidFill>
                  </a:tcPr>
                </a:tc>
                <a:extLst>
                  <a:ext uri="{0D108BD9-81ED-4DB2-BD59-A6C34878D82A}">
                    <a16:rowId xmlns:a16="http://schemas.microsoft.com/office/drawing/2014/main" val="10003"/>
                  </a:ext>
                </a:extLst>
              </a:tr>
              <a:tr h="315008">
                <a:tc>
                  <a:txBody>
                    <a:bodyPr/>
                    <a:lstStyle/>
                    <a:p>
                      <a:r>
                        <a:rPr sz="1300" b="0">
                          <a:solidFill>
                            <a:srgbClr val="638F8C"/>
                          </a:solidFill>
                        </a:rPr>
                        <a:t>Output</a:t>
                      </a:r>
                    </a:p>
                  </a:txBody>
                  <a:tcPr>
                    <a:solidFill>
                      <a:srgbClr val="DFF7EE"/>
                    </a:solidFill>
                  </a:tcPr>
                </a:tc>
                <a:tc>
                  <a:txBody>
                    <a:bodyPr/>
                    <a:lstStyle/>
                    <a:p>
                      <a:r>
                        <a:rPr sz="1300" b="0">
                          <a:solidFill>
                            <a:srgbClr val="638F8C"/>
                          </a:solidFill>
                        </a:rPr>
                        <a:t>Slice Impact</a:t>
                      </a:r>
                    </a:p>
                  </a:txBody>
                  <a:tcPr>
                    <a:solidFill>
                      <a:srgbClr val="DFF7EE"/>
                    </a:solidFill>
                  </a:tcPr>
                </a:tc>
                <a:tc>
                  <a:txBody>
                    <a:bodyPr/>
                    <a:lstStyle/>
                    <a:p>
                      <a:r>
                        <a:rPr sz="1300" b="0">
                          <a:solidFill>
                            <a:srgbClr val="638F8C"/>
                          </a:solidFill>
                        </a:rPr>
                        <a:t>Direction</a:t>
                      </a:r>
                    </a:p>
                  </a:txBody>
                  <a:tcPr>
                    <a:solidFill>
                      <a:srgbClr val="DFF7EE"/>
                    </a:solidFill>
                  </a:tcPr>
                </a:tc>
                <a:tc>
                  <a:txBody>
                    <a:bodyPr/>
                    <a:lstStyle/>
                    <a:p>
                      <a:r>
                        <a:rPr sz="1300" b="0">
                          <a:solidFill>
                            <a:srgbClr val="638F8C"/>
                          </a:solidFill>
                        </a:rPr>
                        <a:t>Report Cortex</a:t>
                      </a:r>
                    </a:p>
                  </a:txBody>
                  <a:tcPr>
                    <a:solidFill>
                      <a:srgbClr val="DFF7EE"/>
                    </a:solidFill>
                  </a:tcPr>
                </a:tc>
                <a:tc>
                  <a:txBody>
                    <a:bodyPr/>
                    <a:lstStyle/>
                    <a:p>
                      <a:r>
                        <a:rPr sz="1300" b="0">
                          <a:solidFill>
                            <a:srgbClr val="638F8C"/>
                          </a:solidFill>
                        </a:rPr>
                        <a:t>Needle Table</a:t>
                      </a:r>
                    </a:p>
                  </a:txBody>
                  <a:tcPr>
                    <a:solidFill>
                      <a:srgbClr val="DFF7EE"/>
                    </a:solidFill>
                  </a:tcPr>
                </a:tc>
                <a:tc>
                  <a:txBody>
                    <a:bodyPr/>
                    <a:lstStyle/>
                    <a:p>
                      <a:r>
                        <a:rPr sz="1300" b="0">
                          <a:solidFill>
                            <a:srgbClr val="638F8C"/>
                          </a:solidFill>
                        </a:rPr>
                        <a:t>Keyline Apex</a:t>
                      </a:r>
                    </a:p>
                  </a:txBody>
                  <a:tcPr>
                    <a:solidFill>
                      <a:srgbClr val="DFF7EE"/>
                    </a:solidFill>
                  </a:tcPr>
                </a:tc>
                <a:extLst>
                  <a:ext uri="{0D108BD9-81ED-4DB2-BD59-A6C34878D82A}">
                    <a16:rowId xmlns:a16="http://schemas.microsoft.com/office/drawing/2014/main" val="10004"/>
                  </a:ext>
                </a:extLst>
              </a:tr>
            </a:tbl>
          </a:graphicData>
        </a:graphic>
      </p:graphicFrame>
      <p:sp>
        <p:nvSpPr>
          <p:cNvPr id="8" name="Right Arrow 7"/>
          <p:cNvSpPr/>
          <p:nvPr/>
        </p:nvSpPr>
        <p:spPr>
          <a:xfrm>
            <a:off x="5436898" y="1973108"/>
            <a:ext cx="1384138" cy="408932"/>
          </a:xfrm>
          <a:prstGeom prst="rightArrow">
            <a:avLst/>
          </a:prstGeom>
          <a:noFill/>
          <a:ln w="18920">
            <a:solidFill>
              <a:srgbClr val="ADBE2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0057375" y="4269646"/>
            <a:ext cx="1044736" cy="1092544"/>
          </a:xfrm>
          <a:prstGeom prst="bentConnector3">
            <a:avLst/>
          </a:prstGeom>
          <a:ln w="17728">
            <a:solidFill>
              <a:srgbClr val="67D389"/>
            </a:solidFill>
            <a:prstDash val="dash"/>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9737496" y="1456105"/>
            <a:ext cx="1680389" cy="752639"/>
          </a:xfrm>
          <a:prstGeom prst="ellipse">
            <a:avLst/>
          </a:prstGeom>
          <a:noFill/>
          <a:ln w="30307">
            <a:solidFill>
              <a:srgbClr val="46A3A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2098735" y="5852274"/>
            <a:ext cx="1708866" cy="625013"/>
          </a:xfrm>
          <a:custGeom>
            <a:avLst/>
            <a:gdLst/>
            <a:ahLst/>
            <a:cxnLst/>
            <a:rect l="l" t="t" r="r" b="b"/>
            <a:pathLst>
              <a:path w="1708866" h="625013">
                <a:moveTo>
                  <a:pt x="0" y="303826"/>
                </a:moveTo>
                <a:lnTo>
                  <a:pt x="293999" y="0"/>
                </a:lnTo>
                <a:lnTo>
                  <a:pt x="606372" y="260422"/>
                </a:lnTo>
                <a:lnTo>
                  <a:pt x="918745" y="520844"/>
                </a:lnTo>
                <a:lnTo>
                  <a:pt x="1249494" y="217018"/>
                </a:lnTo>
                <a:lnTo>
                  <a:pt x="1708866" y="329868"/>
                </a:lnTo>
                <a:lnTo>
                  <a:pt x="1708866" y="625013"/>
                </a:lnTo>
                <a:lnTo>
                  <a:pt x="0" y="625013"/>
                </a:lnTo>
                <a:close/>
              </a:path>
            </a:pathLst>
          </a:custGeom>
          <a:solidFill>
            <a:srgbClr val="369EB7"/>
          </a:solidFill>
          <a:ln w="6847">
            <a:solidFill>
              <a:srgbClr val="4D75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42620" y="3762311"/>
            <a:ext cx="588545" cy="1520814"/>
          </a:xfrm>
          <a:prstGeom prst="rect">
            <a:avLst/>
          </a:prstGeom>
          <a:noFill/>
        </p:spPr>
        <p:txBody>
          <a:bodyPr wrap="none" lIns="36216" tIns="36216" rIns="36216" bIns="36216">
            <a:spAutoFit/>
          </a:bodyPr>
          <a:lstStyle/>
          <a:p>
            <a:r>
              <a:rPr sz="2900" b="0" i="0" u="none">
                <a:solidFill>
                  <a:srgbClr val="D19C4F"/>
                </a:solidFill>
                <a:latin typeface="Arial"/>
              </a:rPr>
              <a:t>Measure Alignment Coverage Baseline Payload Stream Package Process Phase</a:t>
            </a:r>
          </a:p>
        </p:txBody>
      </p:sp>
      <p:sp>
        <p:nvSpPr>
          <p:cNvPr id="13" name="TextBox 12"/>
          <p:cNvSpPr txBox="1"/>
          <p:nvPr/>
        </p:nvSpPr>
        <p:spPr>
          <a:xfrm>
            <a:off x="3685780" y="3003760"/>
            <a:ext cx="627859" cy="2085246"/>
          </a:xfrm>
          <a:prstGeom prst="rect">
            <a:avLst/>
          </a:prstGeom>
          <a:noFill/>
        </p:spPr>
        <p:txBody>
          <a:bodyPr wrap="none" lIns="59572" tIns="59572" rIns="59572" bIns="59572">
            <a:spAutoFit/>
          </a:bodyPr>
          <a:lstStyle/>
          <a:p>
            <a:r>
              <a:rPr sz="6400" b="1" i="0" u="none">
                <a:solidFill>
                  <a:srgbClr val="DB5B2D"/>
                </a:solidFill>
                <a:latin typeface="Calibri"/>
              </a:rPr>
              <a:t>Terminal Collection Limit Heading Canvas Limit Queueing</a:t>
            </a:r>
          </a:p>
        </p:txBody>
      </p:sp>
      <p:sp>
        <p:nvSpPr>
          <p:cNvPr id="14" name="Rounded Rectangular Callout 13"/>
          <p:cNvSpPr/>
          <p:nvPr/>
        </p:nvSpPr>
        <p:spPr>
          <a:xfrm>
            <a:off x="5069506" y="462549"/>
            <a:ext cx="2512107" cy="1226104"/>
          </a:xfrm>
          <a:prstGeom prst="wedgeRoundRectCallout">
            <a:avLst/>
          </a:prstGeom>
          <a:solidFill>
            <a:srgbClr val="9D9544"/>
          </a:solidFill>
          <a:ln w="18130">
            <a:solidFill>
              <a:srgbClr val="37662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60944" y="669765"/>
            <a:ext cx="859718" cy="1690459"/>
          </a:xfrm>
          <a:prstGeom prst="rect">
            <a:avLst/>
          </a:prstGeom>
          <a:noFill/>
        </p:spPr>
        <p:txBody>
          <a:bodyPr wrap="none" lIns="71463" tIns="71463" rIns="71463" bIns="71463">
            <a:spAutoFit/>
          </a:bodyPr>
          <a:lstStyle/>
          <a:p>
            <a:r>
              <a:rPr sz="2200" b="0" i="0" u="none">
                <a:solidFill>
                  <a:srgbClr val="644A52"/>
                </a:solidFill>
                <a:latin typeface="Aptos"/>
              </a:rPr>
              <a:t>Deployment Link Snapshot Network Gradient Epoch Input Depth Point</a:t>
            </a:r>
          </a:p>
        </p:txBody>
      </p:sp>
      <p:pic>
        <p:nvPicPr>
          <p:cNvPr id="16" name="Picture 15" descr="_example_image.jpg"/>
          <p:cNvPicPr>
            <a:picLocks noChangeAspect="1"/>
          </p:cNvPicPr>
          <p:nvPr/>
        </p:nvPicPr>
        <p:blipFill>
          <a:blip r:embed="rId2"/>
          <a:srcRect/>
          <a:stretch>
            <a:fillRect/>
          </a:stretch>
        </p:blipFill>
        <p:spPr>
          <a:xfrm>
            <a:off x="8561530" y="5721747"/>
            <a:ext cx="2053951" cy="805155"/>
          </a:xfrm>
          <a:prstGeom prst="rect">
            <a:avLst/>
          </a:prstGeom>
        </p:spPr>
      </p:pic>
      <p:sp>
        <p:nvSpPr>
          <p:cNvPr id="17" name="Rounded Rectangle 16"/>
          <p:cNvSpPr/>
          <p:nvPr/>
        </p:nvSpPr>
        <p:spPr>
          <a:xfrm>
            <a:off x="8561530" y="5721747"/>
            <a:ext cx="2053951" cy="805155"/>
          </a:xfrm>
          <a:prstGeom prst="roundRect">
            <a:avLst/>
          </a:prstGeom>
          <a:noFill/>
          <a:ln w="15240">
            <a:solidFill>
              <a:srgbClr val="88C7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2"/>
          <a:srcRect l="3635" t="9845" r="15636" b="3431"/>
          <a:stretch>
            <a:fillRect/>
          </a:stretch>
        </p:blipFill>
        <p:spPr>
          <a:xfrm>
            <a:off x="1790940" y="215026"/>
            <a:ext cx="2474740" cy="805298"/>
          </a:xfrm>
          <a:prstGeom prst="rect">
            <a:avLst/>
          </a:prstGeom>
        </p:spPr>
      </p:pic>
      <p:graphicFrame>
        <p:nvGraphicFramePr>
          <p:cNvPr id="19" name="Table 18"/>
          <p:cNvGraphicFramePr>
            <a:graphicFrameLocks noGrp="1"/>
          </p:cNvGraphicFramePr>
          <p:nvPr/>
        </p:nvGraphicFramePr>
        <p:xfrm>
          <a:off x="1229779" y="2087392"/>
          <a:ext cx="3804244" cy="1674166"/>
        </p:xfrm>
        <a:graphic>
          <a:graphicData uri="http://schemas.openxmlformats.org/drawingml/2006/table">
            <a:tbl>
              <a:tblPr firstRow="1" bandRow="1">
                <a:tableStyleId>{5C22544A-7EE6-4342-B048-85BDC9FD1C3A}</a:tableStyleId>
              </a:tblPr>
              <a:tblGrid>
                <a:gridCol w="634040">
                  <a:extLst>
                    <a:ext uri="{9D8B030D-6E8A-4147-A177-3AD203B41FA5}">
                      <a16:colId xmlns:a16="http://schemas.microsoft.com/office/drawing/2014/main" val="20000"/>
                    </a:ext>
                  </a:extLst>
                </a:gridCol>
                <a:gridCol w="634040">
                  <a:extLst>
                    <a:ext uri="{9D8B030D-6E8A-4147-A177-3AD203B41FA5}">
                      <a16:colId xmlns:a16="http://schemas.microsoft.com/office/drawing/2014/main" val="20001"/>
                    </a:ext>
                  </a:extLst>
                </a:gridCol>
                <a:gridCol w="634040">
                  <a:extLst>
                    <a:ext uri="{9D8B030D-6E8A-4147-A177-3AD203B41FA5}">
                      <a16:colId xmlns:a16="http://schemas.microsoft.com/office/drawing/2014/main" val="20002"/>
                    </a:ext>
                  </a:extLst>
                </a:gridCol>
                <a:gridCol w="634040">
                  <a:extLst>
                    <a:ext uri="{9D8B030D-6E8A-4147-A177-3AD203B41FA5}">
                      <a16:colId xmlns:a16="http://schemas.microsoft.com/office/drawing/2014/main" val="20003"/>
                    </a:ext>
                  </a:extLst>
                </a:gridCol>
                <a:gridCol w="634040">
                  <a:extLst>
                    <a:ext uri="{9D8B030D-6E8A-4147-A177-3AD203B41FA5}">
                      <a16:colId xmlns:a16="http://schemas.microsoft.com/office/drawing/2014/main" val="20004"/>
                    </a:ext>
                  </a:extLst>
                </a:gridCol>
                <a:gridCol w="634044">
                  <a:extLst>
                    <a:ext uri="{9D8B030D-6E8A-4147-A177-3AD203B41FA5}">
                      <a16:colId xmlns:a16="http://schemas.microsoft.com/office/drawing/2014/main" val="20005"/>
                    </a:ext>
                  </a:extLst>
                </a:gridCol>
              </a:tblGrid>
              <a:tr h="279027">
                <a:tc>
                  <a:txBody>
                    <a:bodyPr/>
                    <a:lstStyle/>
                    <a:p>
                      <a:r>
                        <a:rPr sz="600" b="1">
                          <a:solidFill>
                            <a:srgbClr val="593566"/>
                          </a:solidFill>
                        </a:rPr>
                        <a:t>Canvas Range</a:t>
                      </a:r>
                    </a:p>
                  </a:txBody>
                  <a:tcPr>
                    <a:solidFill>
                      <a:srgbClr val="BEACC2"/>
                    </a:solidFill>
                  </a:tcPr>
                </a:tc>
                <a:tc>
                  <a:txBody>
                    <a:bodyPr/>
                    <a:lstStyle/>
                    <a:p>
                      <a:r>
                        <a:rPr sz="600" b="1">
                          <a:solidFill>
                            <a:srgbClr val="593566"/>
                          </a:solidFill>
                        </a:rPr>
                        <a:t>Filter Vertex</a:t>
                      </a:r>
                    </a:p>
                  </a:txBody>
                  <a:tcPr>
                    <a:solidFill>
                      <a:srgbClr val="BEACC2"/>
                    </a:solidFill>
                  </a:tcPr>
                </a:tc>
                <a:tc>
                  <a:txBody>
                    <a:bodyPr/>
                    <a:lstStyle/>
                    <a:p>
                      <a:r>
                        <a:rPr sz="600" b="1">
                          <a:solidFill>
                            <a:srgbClr val="593566"/>
                          </a:solidFill>
                        </a:rPr>
                        <a:t>Energy Stack</a:t>
                      </a:r>
                    </a:p>
                  </a:txBody>
                  <a:tcPr>
                    <a:solidFill>
                      <a:srgbClr val="BEACC2"/>
                    </a:solidFill>
                  </a:tcPr>
                </a:tc>
                <a:tc>
                  <a:txBody>
                    <a:bodyPr/>
                    <a:lstStyle/>
                    <a:p>
                      <a:r>
                        <a:rPr sz="600" b="1">
                          <a:solidFill>
                            <a:srgbClr val="593566"/>
                          </a:solidFill>
                        </a:rPr>
                        <a:t>System Table</a:t>
                      </a:r>
                    </a:p>
                  </a:txBody>
                  <a:tcPr>
                    <a:solidFill>
                      <a:srgbClr val="BEACC2"/>
                    </a:solidFill>
                  </a:tcPr>
                </a:tc>
                <a:tc>
                  <a:txBody>
                    <a:bodyPr/>
                    <a:lstStyle/>
                    <a:p>
                      <a:r>
                        <a:rPr sz="600" b="1">
                          <a:solidFill>
                            <a:srgbClr val="593566"/>
                          </a:solidFill>
                        </a:rPr>
                        <a:t>Narrative Atlas</a:t>
                      </a:r>
                    </a:p>
                  </a:txBody>
                  <a:tcPr>
                    <a:solidFill>
                      <a:srgbClr val="BEACC2"/>
                    </a:solidFill>
                  </a:tcPr>
                </a:tc>
                <a:tc>
                  <a:txBody>
                    <a:bodyPr/>
                    <a:lstStyle/>
                    <a:p>
                      <a:r>
                        <a:rPr sz="600" b="1">
                          <a:solidFill>
                            <a:srgbClr val="593566"/>
                          </a:solidFill>
                        </a:rPr>
                        <a:t>Energy</a:t>
                      </a:r>
                    </a:p>
                  </a:txBody>
                  <a:tcPr>
                    <a:solidFill>
                      <a:srgbClr val="BEACC2"/>
                    </a:solidFill>
                  </a:tcPr>
                </a:tc>
                <a:extLst>
                  <a:ext uri="{0D108BD9-81ED-4DB2-BD59-A6C34878D82A}">
                    <a16:rowId xmlns:a16="http://schemas.microsoft.com/office/drawing/2014/main" val="10000"/>
                  </a:ext>
                </a:extLst>
              </a:tr>
              <a:tr h="279027">
                <a:tc>
                  <a:txBody>
                    <a:bodyPr/>
                    <a:lstStyle/>
                    <a:p>
                      <a:r>
                        <a:rPr sz="600" b="0">
                          <a:solidFill>
                            <a:srgbClr val="593566"/>
                          </a:solidFill>
                        </a:rPr>
                        <a:t>Deck</a:t>
                      </a:r>
                    </a:p>
                  </a:txBody>
                  <a:tcPr>
                    <a:solidFill>
                      <a:srgbClr val="E1EEF6"/>
                    </a:solidFill>
                  </a:tcPr>
                </a:tc>
                <a:tc>
                  <a:txBody>
                    <a:bodyPr/>
                    <a:lstStyle/>
                    <a:p>
                      <a:r>
                        <a:rPr sz="600" b="0">
                          <a:solidFill>
                            <a:srgbClr val="593566"/>
                          </a:solidFill>
                        </a:rPr>
                        <a:t>Moment</a:t>
                      </a:r>
                    </a:p>
                  </a:txBody>
                  <a:tcPr>
                    <a:solidFill>
                      <a:srgbClr val="C4DEEE"/>
                    </a:solidFill>
                  </a:tcPr>
                </a:tc>
                <a:tc>
                  <a:txBody>
                    <a:bodyPr/>
                    <a:lstStyle/>
                    <a:p>
                      <a:r>
                        <a:rPr sz="600" b="0">
                          <a:solidFill>
                            <a:srgbClr val="593566"/>
                          </a:solidFill>
                        </a:rPr>
                        <a:t>Switch Path</a:t>
                      </a:r>
                    </a:p>
                  </a:txBody>
                  <a:tcPr>
                    <a:solidFill>
                      <a:srgbClr val="E1EEF6"/>
                    </a:solidFill>
                  </a:tcPr>
                </a:tc>
                <a:tc>
                  <a:txBody>
                    <a:bodyPr/>
                    <a:lstStyle/>
                    <a:p>
                      <a:r>
                        <a:rPr sz="600" b="0">
                          <a:solidFill>
                            <a:srgbClr val="593566"/>
                          </a:solidFill>
                        </a:rPr>
                        <a:t>Concept Drive</a:t>
                      </a:r>
                    </a:p>
                  </a:txBody>
                  <a:tcPr>
                    <a:solidFill>
                      <a:srgbClr val="C4DEEE"/>
                    </a:solidFill>
                  </a:tcPr>
                </a:tc>
                <a:tc>
                  <a:txBody>
                    <a:bodyPr/>
                    <a:lstStyle/>
                    <a:p>
                      <a:r>
                        <a:rPr sz="600" b="0">
                          <a:solidFill>
                            <a:srgbClr val="593566"/>
                          </a:solidFill>
                        </a:rPr>
                        <a:t>Report</a:t>
                      </a:r>
                    </a:p>
                  </a:txBody>
                  <a:tcPr>
                    <a:solidFill>
                      <a:srgbClr val="E1EEF6"/>
                    </a:solidFill>
                  </a:tcPr>
                </a:tc>
                <a:tc>
                  <a:txBody>
                    <a:bodyPr/>
                    <a:lstStyle/>
                    <a:p>
                      <a:r>
                        <a:rPr sz="600" b="0">
                          <a:solidFill>
                            <a:srgbClr val="593566"/>
                          </a:solidFill>
                        </a:rPr>
                        <a:t>Connector Forecast</a:t>
                      </a:r>
                    </a:p>
                  </a:txBody>
                  <a:tcPr>
                    <a:solidFill>
                      <a:srgbClr val="C4DEEE"/>
                    </a:solidFill>
                  </a:tcPr>
                </a:tc>
                <a:extLst>
                  <a:ext uri="{0D108BD9-81ED-4DB2-BD59-A6C34878D82A}">
                    <a16:rowId xmlns:a16="http://schemas.microsoft.com/office/drawing/2014/main" val="10001"/>
                  </a:ext>
                </a:extLst>
              </a:tr>
              <a:tr h="279027">
                <a:tc>
                  <a:txBody>
                    <a:bodyPr/>
                    <a:lstStyle/>
                    <a:p>
                      <a:r>
                        <a:rPr sz="600" b="0">
                          <a:solidFill>
                            <a:srgbClr val="593566"/>
                          </a:solidFill>
                        </a:rPr>
                        <a:t>North</a:t>
                      </a:r>
                    </a:p>
                  </a:txBody>
                  <a:tcPr>
                    <a:solidFill>
                      <a:srgbClr val="E1EEF6"/>
                    </a:solidFill>
                  </a:tcPr>
                </a:tc>
                <a:tc>
                  <a:txBody>
                    <a:bodyPr/>
                    <a:lstStyle/>
                    <a:p>
                      <a:r>
                        <a:rPr sz="600" b="0">
                          <a:solidFill>
                            <a:srgbClr val="593566"/>
                          </a:solidFill>
                        </a:rPr>
                        <a:t>Position Scale</a:t>
                      </a:r>
                    </a:p>
                  </a:txBody>
                  <a:tcPr>
                    <a:solidFill>
                      <a:srgbClr val="C4DEEE"/>
                    </a:solidFill>
                  </a:tcPr>
                </a:tc>
                <a:tc>
                  <a:txBody>
                    <a:bodyPr/>
                    <a:lstStyle/>
                    <a:p>
                      <a:r>
                        <a:rPr sz="600" b="0">
                          <a:solidFill>
                            <a:srgbClr val="593566"/>
                          </a:solidFill>
                        </a:rPr>
                        <a:t>Portal Friction</a:t>
                      </a:r>
                    </a:p>
                  </a:txBody>
                  <a:tcPr>
                    <a:solidFill>
                      <a:srgbClr val="E1EEF6"/>
                    </a:solidFill>
                  </a:tcPr>
                </a:tc>
                <a:tc>
                  <a:txBody>
                    <a:bodyPr/>
                    <a:lstStyle/>
                    <a:p>
                      <a:r>
                        <a:rPr sz="600" b="0">
                          <a:solidFill>
                            <a:srgbClr val="593566"/>
                          </a:solidFill>
                        </a:rPr>
                        <a:t>Aspect Motion</a:t>
                      </a:r>
                    </a:p>
                  </a:txBody>
                  <a:tcPr>
                    <a:solidFill>
                      <a:srgbClr val="C4DEEE"/>
                    </a:solidFill>
                  </a:tcPr>
                </a:tc>
                <a:tc>
                  <a:txBody>
                    <a:bodyPr/>
                    <a:lstStyle/>
                    <a:p>
                      <a:r>
                        <a:rPr sz="600" b="0">
                          <a:solidFill>
                            <a:srgbClr val="593566"/>
                          </a:solidFill>
                        </a:rPr>
                        <a:t>Metric Tile</a:t>
                      </a:r>
                    </a:p>
                  </a:txBody>
                  <a:tcPr>
                    <a:solidFill>
                      <a:srgbClr val="E1EEF6"/>
                    </a:solidFill>
                  </a:tcPr>
                </a:tc>
                <a:tc>
                  <a:txBody>
                    <a:bodyPr/>
                    <a:lstStyle/>
                    <a:p>
                      <a:r>
                        <a:rPr sz="600" b="0">
                          <a:solidFill>
                            <a:srgbClr val="593566"/>
                          </a:solidFill>
                        </a:rPr>
                        <a:t>Sample</a:t>
                      </a:r>
                    </a:p>
                  </a:txBody>
                  <a:tcPr>
                    <a:solidFill>
                      <a:srgbClr val="C4DEEE"/>
                    </a:solidFill>
                  </a:tcPr>
                </a:tc>
                <a:extLst>
                  <a:ext uri="{0D108BD9-81ED-4DB2-BD59-A6C34878D82A}">
                    <a16:rowId xmlns:a16="http://schemas.microsoft.com/office/drawing/2014/main" val="10002"/>
                  </a:ext>
                </a:extLst>
              </a:tr>
              <a:tr h="279027">
                <a:tc>
                  <a:txBody>
                    <a:bodyPr/>
                    <a:lstStyle/>
                    <a:p>
                      <a:r>
                        <a:rPr sz="600" b="0">
                          <a:solidFill>
                            <a:srgbClr val="593566"/>
                          </a:solidFill>
                        </a:rPr>
                        <a:t>Echo</a:t>
                      </a:r>
                    </a:p>
                  </a:txBody>
                  <a:tcPr>
                    <a:solidFill>
                      <a:srgbClr val="E1EEF6"/>
                    </a:solidFill>
                  </a:tcPr>
                </a:tc>
                <a:tc>
                  <a:txBody>
                    <a:bodyPr/>
                    <a:lstStyle/>
                    <a:p>
                      <a:r>
                        <a:rPr sz="600" b="0">
                          <a:solidFill>
                            <a:srgbClr val="593566"/>
                          </a:solidFill>
                        </a:rPr>
                        <a:t>Balance Entity</a:t>
                      </a:r>
                    </a:p>
                  </a:txBody>
                  <a:tcPr>
                    <a:solidFill>
                      <a:srgbClr val="C4DEEE"/>
                    </a:solidFill>
                  </a:tcPr>
                </a:tc>
                <a:tc>
                  <a:txBody>
                    <a:bodyPr/>
                    <a:lstStyle/>
                    <a:p>
                      <a:r>
                        <a:rPr sz="600" b="0">
                          <a:solidFill>
                            <a:srgbClr val="593566"/>
                          </a:solidFill>
                        </a:rPr>
                        <a:t>Access Core</a:t>
                      </a:r>
                    </a:p>
                  </a:txBody>
                  <a:tcPr>
                    <a:solidFill>
                      <a:srgbClr val="E1EEF6"/>
                    </a:solidFill>
                  </a:tcPr>
                </a:tc>
                <a:tc>
                  <a:txBody>
                    <a:bodyPr/>
                    <a:lstStyle/>
                    <a:p>
                      <a:r>
                        <a:rPr sz="600" b="0">
                          <a:solidFill>
                            <a:srgbClr val="593566"/>
                          </a:solidFill>
                        </a:rPr>
                        <a:t>Group</a:t>
                      </a:r>
                    </a:p>
                  </a:txBody>
                  <a:tcPr>
                    <a:solidFill>
                      <a:srgbClr val="C4DEEE"/>
                    </a:solidFill>
                  </a:tcPr>
                </a:tc>
                <a:tc>
                  <a:txBody>
                    <a:bodyPr/>
                    <a:lstStyle/>
                    <a:p>
                      <a:r>
                        <a:rPr sz="600" b="0">
                          <a:solidFill>
                            <a:srgbClr val="593566"/>
                          </a:solidFill>
                        </a:rPr>
                        <a:t>Resource</a:t>
                      </a:r>
                    </a:p>
                  </a:txBody>
                  <a:tcPr>
                    <a:solidFill>
                      <a:srgbClr val="E1EEF6"/>
                    </a:solidFill>
                  </a:tcPr>
                </a:tc>
                <a:tc>
                  <a:txBody>
                    <a:bodyPr/>
                    <a:lstStyle/>
                    <a:p>
                      <a:r>
                        <a:rPr sz="600" b="0">
                          <a:solidFill>
                            <a:srgbClr val="593566"/>
                          </a:solidFill>
                        </a:rPr>
                        <a:t>View</a:t>
                      </a:r>
                    </a:p>
                  </a:txBody>
                  <a:tcPr>
                    <a:solidFill>
                      <a:srgbClr val="C4DEEE"/>
                    </a:solidFill>
                  </a:tcPr>
                </a:tc>
                <a:extLst>
                  <a:ext uri="{0D108BD9-81ED-4DB2-BD59-A6C34878D82A}">
                    <a16:rowId xmlns:a16="http://schemas.microsoft.com/office/drawing/2014/main" val="10003"/>
                  </a:ext>
                </a:extLst>
              </a:tr>
              <a:tr h="279027">
                <a:tc>
                  <a:txBody>
                    <a:bodyPr/>
                    <a:lstStyle/>
                    <a:p>
                      <a:r>
                        <a:rPr sz="600" b="0">
                          <a:solidFill>
                            <a:srgbClr val="593566"/>
                          </a:solidFill>
                        </a:rPr>
                        <a:t>Domain</a:t>
                      </a:r>
                    </a:p>
                  </a:txBody>
                  <a:tcPr>
                    <a:solidFill>
                      <a:srgbClr val="E1EEF6"/>
                    </a:solidFill>
                  </a:tcPr>
                </a:tc>
                <a:tc>
                  <a:txBody>
                    <a:bodyPr/>
                    <a:lstStyle/>
                    <a:p>
                      <a:r>
                        <a:rPr sz="600" b="0">
                          <a:solidFill>
                            <a:srgbClr val="593566"/>
                          </a:solidFill>
                        </a:rPr>
                        <a:t>Data Option</a:t>
                      </a:r>
                    </a:p>
                  </a:txBody>
                  <a:tcPr>
                    <a:solidFill>
                      <a:srgbClr val="C4DEEE"/>
                    </a:solidFill>
                  </a:tcPr>
                </a:tc>
                <a:tc>
                  <a:txBody>
                    <a:bodyPr/>
                    <a:lstStyle/>
                    <a:p>
                      <a:r>
                        <a:rPr sz="600" b="0">
                          <a:solidFill>
                            <a:srgbClr val="593566"/>
                          </a:solidFill>
                        </a:rPr>
                        <a:t>Epoch</a:t>
                      </a:r>
                    </a:p>
                  </a:txBody>
                  <a:tcPr>
                    <a:solidFill>
                      <a:srgbClr val="E1EEF6"/>
                    </a:solidFill>
                  </a:tcPr>
                </a:tc>
                <a:tc>
                  <a:txBody>
                    <a:bodyPr/>
                    <a:lstStyle/>
                    <a:p>
                      <a:r>
                        <a:rPr sz="600" b="0">
                          <a:solidFill>
                            <a:srgbClr val="593566"/>
                          </a:solidFill>
                        </a:rPr>
                        <a:t>Gradient Sync</a:t>
                      </a:r>
                    </a:p>
                  </a:txBody>
                  <a:tcPr>
                    <a:solidFill>
                      <a:srgbClr val="C4DEEE"/>
                    </a:solidFill>
                  </a:tcPr>
                </a:tc>
                <a:tc>
                  <a:txBody>
                    <a:bodyPr/>
                    <a:lstStyle/>
                    <a:p>
                      <a:r>
                        <a:rPr sz="600" b="0">
                          <a:solidFill>
                            <a:srgbClr val="593566"/>
                          </a:solidFill>
                        </a:rPr>
                        <a:t>Collection</a:t>
                      </a:r>
                    </a:p>
                  </a:txBody>
                  <a:tcPr>
                    <a:solidFill>
                      <a:srgbClr val="E1EEF6"/>
                    </a:solidFill>
                  </a:tcPr>
                </a:tc>
                <a:tc>
                  <a:txBody>
                    <a:bodyPr/>
                    <a:lstStyle/>
                    <a:p>
                      <a:r>
                        <a:rPr sz="600" b="0">
                          <a:solidFill>
                            <a:srgbClr val="593566"/>
                          </a:solidFill>
                        </a:rPr>
                        <a:t>Phase Viewport</a:t>
                      </a:r>
                    </a:p>
                  </a:txBody>
                  <a:tcPr>
                    <a:solidFill>
                      <a:srgbClr val="C4DEEE"/>
                    </a:solidFill>
                  </a:tcPr>
                </a:tc>
                <a:extLst>
                  <a:ext uri="{0D108BD9-81ED-4DB2-BD59-A6C34878D82A}">
                    <a16:rowId xmlns:a16="http://schemas.microsoft.com/office/drawing/2014/main" val="10004"/>
                  </a:ext>
                </a:extLst>
              </a:tr>
              <a:tr h="279031">
                <a:tc>
                  <a:txBody>
                    <a:bodyPr/>
                    <a:lstStyle/>
                    <a:p>
                      <a:r>
                        <a:rPr sz="600" b="0">
                          <a:solidFill>
                            <a:srgbClr val="593566"/>
                          </a:solidFill>
                        </a:rPr>
                        <a:t>Channel</a:t>
                      </a:r>
                    </a:p>
                  </a:txBody>
                  <a:tcPr>
                    <a:solidFill>
                      <a:srgbClr val="E1EEF6"/>
                    </a:solidFill>
                  </a:tcPr>
                </a:tc>
                <a:tc>
                  <a:txBody>
                    <a:bodyPr/>
                    <a:lstStyle/>
                    <a:p>
                      <a:r>
                        <a:rPr sz="600" b="0">
                          <a:solidFill>
                            <a:srgbClr val="593566"/>
                          </a:solidFill>
                        </a:rPr>
                        <a:t>Route Release</a:t>
                      </a:r>
                    </a:p>
                  </a:txBody>
                  <a:tcPr>
                    <a:solidFill>
                      <a:srgbClr val="C4DEEE"/>
                    </a:solidFill>
                  </a:tcPr>
                </a:tc>
                <a:tc>
                  <a:txBody>
                    <a:bodyPr/>
                    <a:lstStyle/>
                    <a:p>
                      <a:r>
                        <a:rPr sz="600" b="0">
                          <a:solidFill>
                            <a:srgbClr val="593566"/>
                          </a:solidFill>
                        </a:rPr>
                        <a:t>Profile</a:t>
                      </a:r>
                    </a:p>
                  </a:txBody>
                  <a:tcPr>
                    <a:solidFill>
                      <a:srgbClr val="E1EEF6"/>
                    </a:solidFill>
                  </a:tcPr>
                </a:tc>
                <a:tc>
                  <a:txBody>
                    <a:bodyPr/>
                    <a:lstStyle/>
                    <a:p>
                      <a:r>
                        <a:rPr sz="600" b="0">
                          <a:solidFill>
                            <a:srgbClr val="593566"/>
                          </a:solidFill>
                        </a:rPr>
                        <a:t>Module</a:t>
                      </a:r>
                    </a:p>
                  </a:txBody>
                  <a:tcPr>
                    <a:solidFill>
                      <a:srgbClr val="C4DEEE"/>
                    </a:solidFill>
                  </a:tcPr>
                </a:tc>
                <a:tc>
                  <a:txBody>
                    <a:bodyPr/>
                    <a:lstStyle/>
                    <a:p>
                      <a:r>
                        <a:rPr sz="600" b="0">
                          <a:solidFill>
                            <a:srgbClr val="593566"/>
                          </a:solidFill>
                        </a:rPr>
                        <a:t>Template</a:t>
                      </a:r>
                    </a:p>
                  </a:txBody>
                  <a:tcPr>
                    <a:solidFill>
                      <a:srgbClr val="E1EEF6"/>
                    </a:solidFill>
                  </a:tcPr>
                </a:tc>
                <a:tc>
                  <a:txBody>
                    <a:bodyPr/>
                    <a:lstStyle/>
                    <a:p>
                      <a:r>
                        <a:rPr sz="600" b="0">
                          <a:solidFill>
                            <a:srgbClr val="593566"/>
                          </a:solidFill>
                        </a:rPr>
                        <a:t>Catalog Layer</a:t>
                      </a:r>
                    </a:p>
                  </a:txBody>
                  <a:tcPr>
                    <a:solidFill>
                      <a:srgbClr val="C4DEEE"/>
                    </a:solidFill>
                  </a:tcPr>
                </a:tc>
                <a:extLst>
                  <a:ext uri="{0D108BD9-81ED-4DB2-BD59-A6C34878D82A}">
                    <a16:rowId xmlns:a16="http://schemas.microsoft.com/office/drawing/2014/main" val="10005"/>
                  </a:ext>
                </a:extLst>
              </a:tr>
            </a:tbl>
          </a:graphicData>
        </a:graphic>
      </p:graphicFrame>
      <p:graphicFrame>
        <p:nvGraphicFramePr>
          <p:cNvPr id="20" name="Chart 19"/>
          <p:cNvGraphicFramePr>
            <a:graphicFrameLocks noGrp="1"/>
          </p:cNvGraphicFramePr>
          <p:nvPr/>
        </p:nvGraphicFramePr>
        <p:xfrm>
          <a:off x="4404349" y="2404666"/>
          <a:ext cx="2640713" cy="1544194"/>
        </p:xfrm>
        <a:graphic>
          <a:graphicData uri="http://schemas.openxmlformats.org/drawingml/2006/chart">
            <c:chart xmlns:c="http://schemas.openxmlformats.org/drawingml/2006/chart" xmlns:r="http://schemas.openxmlformats.org/officeDocument/2006/relationships" r:id="rId3"/>
          </a:graphicData>
        </a:graphic>
      </p:graphicFrame>
      <p:sp>
        <p:nvSpPr>
          <p:cNvPr id="21" name="Can 20"/>
          <p:cNvSpPr/>
          <p:nvPr/>
        </p:nvSpPr>
        <p:spPr>
          <a:xfrm>
            <a:off x="5545890" y="4725284"/>
            <a:ext cx="894379" cy="1776460"/>
          </a:xfrm>
          <a:prstGeom prst="can">
            <a:avLst/>
          </a:prstGeom>
          <a:noFill/>
          <a:ln w="17821">
            <a:solidFill>
              <a:srgbClr val="E23F1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_example_image.jpg"/>
          <p:cNvPicPr>
            <a:picLocks noChangeAspect="1"/>
          </p:cNvPicPr>
          <p:nvPr/>
        </p:nvPicPr>
        <p:blipFill>
          <a:blip r:embed="rId2"/>
          <a:srcRect l="6278" t="17508" r="14274" b="18659"/>
          <a:stretch>
            <a:fillRect/>
          </a:stretch>
        </p:blipFill>
        <p:spPr>
          <a:xfrm>
            <a:off x="6949096" y="1826601"/>
            <a:ext cx="1502577" cy="1149523"/>
          </a:xfrm>
          <a:prstGeom prst="rect">
            <a:avLst/>
          </a:prstGeom>
        </p:spPr>
      </p:pic>
      <p:graphicFrame>
        <p:nvGraphicFramePr>
          <p:cNvPr id="23" name="Chart 22"/>
          <p:cNvGraphicFramePr>
            <a:graphicFrameLocks noGrp="1"/>
          </p:cNvGraphicFramePr>
          <p:nvPr/>
        </p:nvGraphicFramePr>
        <p:xfrm>
          <a:off x="7661229" y="2910029"/>
          <a:ext cx="2038870" cy="1560338"/>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p:cNvSpPr txBox="1"/>
          <p:nvPr/>
        </p:nvSpPr>
        <p:spPr>
          <a:xfrm>
            <a:off x="8507245" y="4012351"/>
            <a:ext cx="964781" cy="1284565"/>
          </a:xfrm>
          <a:prstGeom prst="rect">
            <a:avLst/>
          </a:prstGeom>
          <a:noFill/>
        </p:spPr>
        <p:txBody>
          <a:bodyPr wrap="none" lIns="73864" tIns="73864" rIns="73864" bIns="73864">
            <a:spAutoFit/>
          </a:bodyPr>
          <a:lstStyle/>
          <a:p>
            <a:r>
              <a:rPr sz="4100" b="1" i="1" u="none">
                <a:solidFill>
                  <a:srgbClr val="871933"/>
                </a:solidFill>
                <a:latin typeface="Verdana"/>
              </a:rPr>
              <a:t>Checkpoint Switch Brief Journey Schema Narrative</a:t>
            </a:r>
          </a:p>
        </p:txBody>
      </p:sp>
      <p:sp>
        <p:nvSpPr>
          <p:cNvPr id="25" name="Oval Callout 24"/>
          <p:cNvSpPr/>
          <p:nvPr/>
        </p:nvSpPr>
        <p:spPr>
          <a:xfrm>
            <a:off x="407589" y="1066061"/>
            <a:ext cx="863939" cy="270363"/>
          </a:xfrm>
          <a:prstGeom prst="wedgeEllipseCallout">
            <a:avLst/>
          </a:prstGeom>
          <a:solidFill>
            <a:srgbClr val="A227D7"/>
          </a:solidFill>
          <a:ln w="24669">
            <a:solidFill>
              <a:srgbClr val="33C58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66163" y="3259834"/>
            <a:ext cx="1443867" cy="659198"/>
          </a:xfrm>
          <a:prstGeom prst="rect">
            <a:avLst/>
          </a:prstGeom>
          <a:noFill/>
        </p:spPr>
        <p:txBody>
          <a:bodyPr wrap="none" lIns="27684" tIns="27684" rIns="27684" bIns="27684">
            <a:spAutoFit/>
          </a:bodyPr>
          <a:lstStyle/>
          <a:p>
            <a:r>
              <a:rPr sz="900" b="1" i="0" u="none">
                <a:solidFill>
                  <a:srgbClr val="558538"/>
                </a:solidFill>
                <a:latin typeface="Aptos"/>
              </a:rPr>
              <a:t>Wave Lineage Target Access Thread Switch Process Field Datum Region Filter Proof Service Timeline Alignment Sample Beta Forecast Sync Process Status Ledger Story Limit Deployment Switch Network Input Window Function Variant Reference Matrix Node Topology Response Cell Flow Harbor Chart Discovery Stream</a:t>
            </a:r>
          </a:p>
        </p:txBody>
      </p:sp>
      <p:cxnSp>
        <p:nvCxnSpPr>
          <p:cNvPr id="27" name="Connector 26"/>
          <p:cNvCxnSpPr/>
          <p:nvPr/>
        </p:nvCxnSpPr>
        <p:spPr>
          <a:xfrm flipV="1">
            <a:off x="711337" y="5299083"/>
            <a:ext cx="1368585" cy="689849"/>
          </a:xfrm>
          <a:prstGeom prst="curvedConnector3">
            <a:avLst/>
          </a:prstGeom>
          <a:ln w="43081">
            <a:solidFill>
              <a:srgbClr val="8078DD"/>
            </a:solidFill>
            <a:prstDash val="lgDash"/>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28280C6E-1B1C-87D1-5042-3B48D766D7E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466830" y="365904"/>
            <a:ext cx="1727145" cy="931735"/>
          </a:xfrm>
          <a:prstGeom prst="rect">
            <a:avLst/>
          </a:prstGeom>
        </p:spPr>
      </p:pic>
      <p:pic>
        <p:nvPicPr>
          <p:cNvPr id="31" name="Graphic 30">
            <a:extLst>
              <a:ext uri="{FF2B5EF4-FFF2-40B4-BE49-F238E27FC236}">
                <a16:creationId xmlns:a16="http://schemas.microsoft.com/office/drawing/2014/main" id="{5B5381F2-E3AD-FB80-788B-69624BC6FF9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420830" y="224291"/>
            <a:ext cx="1668020" cy="12138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lay 1"/>
          <p:cNvSpPr/>
          <p:nvPr/>
        </p:nvSpPr>
        <p:spPr>
          <a:xfrm>
            <a:off x="5825028" y="2570821"/>
            <a:ext cx="2302276" cy="289865"/>
          </a:xfrm>
          <a:prstGeom prst="flowChartDelay">
            <a:avLst/>
          </a:prstGeom>
          <a:solidFill>
            <a:srgbClr val="DF74A0"/>
          </a:solidFill>
          <a:ln w="24276">
            <a:solidFill>
              <a:srgbClr val="77D86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_example_image.jpg"/>
          <p:cNvPicPr>
            <a:picLocks noChangeAspect="1"/>
          </p:cNvPicPr>
          <p:nvPr/>
        </p:nvPicPr>
        <p:blipFill>
          <a:blip r:embed="rId2"/>
          <a:srcRect l="15276" t="18597" r="4790" b="2213"/>
          <a:stretch>
            <a:fillRect/>
          </a:stretch>
        </p:blipFill>
        <p:spPr>
          <a:xfrm>
            <a:off x="958368" y="2985061"/>
            <a:ext cx="1357487" cy="1933309"/>
          </a:xfrm>
          <a:prstGeom prst="rect">
            <a:avLst/>
          </a:prstGeom>
        </p:spPr>
      </p:pic>
      <p:sp>
        <p:nvSpPr>
          <p:cNvPr id="4" name="Striped Right Arrow 3"/>
          <p:cNvSpPr/>
          <p:nvPr/>
        </p:nvSpPr>
        <p:spPr>
          <a:xfrm>
            <a:off x="9313570" y="4056632"/>
            <a:ext cx="1707755" cy="1784114"/>
          </a:xfrm>
          <a:prstGeom prst="stripedRightArrow">
            <a:avLst/>
          </a:prstGeom>
          <a:solidFill>
            <a:srgbClr val="C98E35"/>
          </a:solidFill>
          <a:ln w="18549">
            <a:solidFill>
              <a:srgbClr val="87BBA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03668" y="4163801"/>
            <a:ext cx="739603" cy="1097419"/>
          </a:xfrm>
          <a:prstGeom prst="rect">
            <a:avLst/>
          </a:prstGeom>
          <a:solidFill>
            <a:srgbClr val="6F8C47"/>
          </a:solidFill>
        </p:spPr>
        <p:txBody>
          <a:bodyPr wrap="none" lIns="68254" tIns="68254" rIns="68254" bIns="68254">
            <a:spAutoFit/>
          </a:bodyPr>
          <a:lstStyle/>
          <a:p>
            <a:r>
              <a:rPr sz="1100" b="0" i="0" u="none">
                <a:solidFill>
                  <a:srgbClr val="9785A7"/>
                </a:solidFill>
                <a:latin typeface="Calibri"/>
              </a:rPr>
              <a:t>Signal Circuit Dispatch Apex Orbit Module Record Request Interval Drift Zone Order</a:t>
            </a:r>
          </a:p>
        </p:txBody>
      </p:sp>
      <p:sp>
        <p:nvSpPr>
          <p:cNvPr id="6" name="Funnel 5"/>
          <p:cNvSpPr/>
          <p:nvPr/>
        </p:nvSpPr>
        <p:spPr>
          <a:xfrm>
            <a:off x="6545546" y="635518"/>
            <a:ext cx="2420061" cy="871954"/>
          </a:xfrm>
          <a:prstGeom prst="funnel">
            <a:avLst/>
          </a:prstGeom>
          <a:solidFill>
            <a:srgbClr val="486E9E"/>
          </a:solidFill>
          <a:ln w="15313">
            <a:solidFill>
              <a:srgbClr val="4E7D5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23053" y="4653264"/>
            <a:ext cx="634587" cy="1389633"/>
          </a:xfrm>
          <a:prstGeom prst="rect">
            <a:avLst/>
          </a:prstGeom>
          <a:solidFill>
            <a:srgbClr val="1F75A8"/>
          </a:solidFill>
        </p:spPr>
        <p:txBody>
          <a:bodyPr wrap="none" lIns="41673" tIns="41673" rIns="41673" bIns="41673">
            <a:spAutoFit/>
          </a:bodyPr>
          <a:lstStyle/>
          <a:p>
            <a:r>
              <a:rPr sz="1400" b="0" i="1" u="none">
                <a:solidFill>
                  <a:srgbClr val="6B6B38"/>
                </a:solidFill>
                <a:latin typeface="Verdana"/>
              </a:rPr>
              <a:t>Event Density Duration Draft Node Stream Delta Grid Summary Atlas Command Anchor System North Marker Level Method Snapshot Terminal Index Table Runtime Signal Orbit Runtime Alpha State Variant Datum Viewport Portal</a:t>
            </a:r>
          </a:p>
        </p:txBody>
      </p:sp>
      <p:graphicFrame>
        <p:nvGraphicFramePr>
          <p:cNvPr id="8" name="Table 7"/>
          <p:cNvGraphicFramePr>
            <a:graphicFrameLocks noGrp="1"/>
          </p:cNvGraphicFramePr>
          <p:nvPr/>
        </p:nvGraphicFramePr>
        <p:xfrm>
          <a:off x="5843576" y="4493875"/>
          <a:ext cx="3346031" cy="1074424"/>
        </p:xfrm>
        <a:graphic>
          <a:graphicData uri="http://schemas.openxmlformats.org/drawingml/2006/table">
            <a:tbl>
              <a:tblPr firstRow="1" bandRow="1">
                <a:tableStyleId>{5C22544A-7EE6-4342-B048-85BDC9FD1C3A}</a:tableStyleId>
              </a:tblPr>
              <a:tblGrid>
                <a:gridCol w="1673015">
                  <a:extLst>
                    <a:ext uri="{9D8B030D-6E8A-4147-A177-3AD203B41FA5}">
                      <a16:colId xmlns:a16="http://schemas.microsoft.com/office/drawing/2014/main" val="20000"/>
                    </a:ext>
                  </a:extLst>
                </a:gridCol>
                <a:gridCol w="1673016">
                  <a:extLst>
                    <a:ext uri="{9D8B030D-6E8A-4147-A177-3AD203B41FA5}">
                      <a16:colId xmlns:a16="http://schemas.microsoft.com/office/drawing/2014/main" val="20001"/>
                    </a:ext>
                  </a:extLst>
                </a:gridCol>
              </a:tblGrid>
              <a:tr h="537212">
                <a:tc>
                  <a:txBody>
                    <a:bodyPr/>
                    <a:lstStyle/>
                    <a:p>
                      <a:r>
                        <a:rPr sz="800" b="1">
                          <a:solidFill>
                            <a:srgbClr val="532ED7"/>
                          </a:solidFill>
                        </a:rPr>
                        <a:t>Drift Buffer</a:t>
                      </a:r>
                    </a:p>
                  </a:txBody>
                  <a:tcPr>
                    <a:solidFill>
                      <a:srgbClr val="D5C98E"/>
                    </a:solidFill>
                  </a:tcPr>
                </a:tc>
                <a:tc>
                  <a:txBody>
                    <a:bodyPr/>
                    <a:lstStyle/>
                    <a:p>
                      <a:r>
                        <a:rPr sz="800" b="1">
                          <a:solidFill>
                            <a:srgbClr val="532ED7"/>
                          </a:solidFill>
                        </a:rPr>
                        <a:t>Map</a:t>
                      </a:r>
                    </a:p>
                  </a:txBody>
                  <a:tcPr>
                    <a:solidFill>
                      <a:srgbClr val="D5C98E"/>
                    </a:solidFill>
                  </a:tcPr>
                </a:tc>
                <a:extLst>
                  <a:ext uri="{0D108BD9-81ED-4DB2-BD59-A6C34878D82A}">
                    <a16:rowId xmlns:a16="http://schemas.microsoft.com/office/drawing/2014/main" val="10000"/>
                  </a:ext>
                </a:extLst>
              </a:tr>
              <a:tr h="537212">
                <a:tc>
                  <a:txBody>
                    <a:bodyPr/>
                    <a:lstStyle/>
                    <a:p>
                      <a:r>
                        <a:rPr sz="800" b="0">
                          <a:solidFill>
                            <a:srgbClr val="532ED7"/>
                          </a:solidFill>
                        </a:rPr>
                        <a:t>Runtime</a:t>
                      </a:r>
                    </a:p>
                  </a:txBody>
                  <a:tcPr>
                    <a:solidFill>
                      <a:srgbClr val="FBF5FC"/>
                    </a:solidFill>
                  </a:tcPr>
                </a:tc>
                <a:tc>
                  <a:txBody>
                    <a:bodyPr/>
                    <a:lstStyle/>
                    <a:p>
                      <a:r>
                        <a:rPr sz="800" b="0">
                          <a:solidFill>
                            <a:srgbClr val="532ED7"/>
                          </a:solidFill>
                        </a:rPr>
                        <a:t>Packet</a:t>
                      </a:r>
                    </a:p>
                  </a:txBody>
                  <a:tcPr>
                    <a:solidFill>
                      <a:srgbClr val="F1D5F5"/>
                    </a:solidFill>
                  </a:tcPr>
                </a:tc>
                <a:extLst>
                  <a:ext uri="{0D108BD9-81ED-4DB2-BD59-A6C34878D82A}">
                    <a16:rowId xmlns:a16="http://schemas.microsoft.com/office/drawing/2014/main" val="10001"/>
                  </a:ext>
                </a:extLst>
              </a:tr>
            </a:tbl>
          </a:graphicData>
        </a:graphic>
      </p:graphicFrame>
      <p:sp>
        <p:nvSpPr>
          <p:cNvPr id="9" name="Bent Arrow 8"/>
          <p:cNvSpPr/>
          <p:nvPr/>
        </p:nvSpPr>
        <p:spPr>
          <a:xfrm>
            <a:off x="4355253" y="5333938"/>
            <a:ext cx="1144826" cy="376954"/>
          </a:xfrm>
          <a:prstGeom prst="bentArrow">
            <a:avLst/>
          </a:prstGeom>
          <a:solidFill>
            <a:srgbClr val="A425DF"/>
          </a:solidFill>
          <a:ln w="25095">
            <a:solidFill>
              <a:srgbClr val="59C1D3"/>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ctagon 9"/>
          <p:cNvSpPr/>
          <p:nvPr/>
        </p:nvSpPr>
        <p:spPr>
          <a:xfrm>
            <a:off x="8100811" y="1890159"/>
            <a:ext cx="919670" cy="295337"/>
          </a:xfrm>
          <a:prstGeom prst="octagon">
            <a:avLst/>
          </a:prstGeom>
          <a:solidFill>
            <a:srgbClr val="C87E28"/>
          </a:solidFill>
          <a:ln w="31217">
            <a:solidFill>
              <a:srgbClr val="BC839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6919314" y="1540092"/>
            <a:ext cx="847180" cy="509579"/>
          </a:xfrm>
          <a:prstGeom prst="line">
            <a:avLst/>
          </a:prstGeom>
          <a:ln w="28353">
            <a:solidFill>
              <a:srgbClr val="8839C8"/>
            </a:solidFill>
            <a:prstDash val="lgDash"/>
          </a:ln>
        </p:spPr>
        <p:style>
          <a:lnRef idx="2">
            <a:schemeClr val="accent1"/>
          </a:lnRef>
          <a:fillRef idx="0">
            <a:schemeClr val="accent1"/>
          </a:fillRef>
          <a:effectRef idx="1">
            <a:schemeClr val="accent1"/>
          </a:effectRef>
          <a:fontRef idx="minor">
            <a:schemeClr val="tx1"/>
          </a:fontRef>
        </p:style>
      </p:cxnSp>
      <p:sp>
        <p:nvSpPr>
          <p:cNvPr id="12" name="Multiply 11"/>
          <p:cNvSpPr/>
          <p:nvPr/>
        </p:nvSpPr>
        <p:spPr>
          <a:xfrm>
            <a:off x="6251279" y="3944065"/>
            <a:ext cx="1455299" cy="846647"/>
          </a:xfrm>
          <a:prstGeom prst="mathMultiply">
            <a:avLst/>
          </a:prstGeom>
          <a:solidFill>
            <a:srgbClr val="4A24DA"/>
          </a:solidFill>
          <a:ln w="16636">
            <a:solidFill>
              <a:srgbClr val="377FDC"/>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V="1">
            <a:off x="7363339" y="5785567"/>
            <a:ext cx="838745" cy="494414"/>
          </a:xfrm>
          <a:prstGeom prst="curvedConnector3">
            <a:avLst/>
          </a:prstGeom>
          <a:ln w="12256">
            <a:solidFill>
              <a:srgbClr val="E439E3"/>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97239" y="2886407"/>
            <a:ext cx="1790515" cy="638457"/>
          </a:xfrm>
          <a:prstGeom prst="rect">
            <a:avLst/>
          </a:prstGeom>
          <a:noFill/>
        </p:spPr>
        <p:txBody>
          <a:bodyPr wrap="none" lIns="43785" tIns="43785" rIns="43785" bIns="43785">
            <a:spAutoFit/>
          </a:bodyPr>
          <a:lstStyle/>
          <a:p>
            <a:r>
              <a:rPr sz="1000" b="0" i="0" u="none">
                <a:solidFill>
                  <a:srgbClr val="942736"/>
                </a:solidFill>
                <a:latin typeface="Calibri"/>
              </a:rPr>
              <a:t>Review Trigger Agenda Friction Transit Audit Token Volume Query Drift Epoch Grid View Point Center Milestone Dimension Service Track Cycle Delta Memory Map Node Zone Cortex Bridge Flow Archive Horizon Report Group Needle</a:t>
            </a:r>
          </a:p>
        </p:txBody>
      </p:sp>
      <p:sp>
        <p:nvSpPr>
          <p:cNvPr id="15" name="Up-Down Arrow 14"/>
          <p:cNvSpPr/>
          <p:nvPr/>
        </p:nvSpPr>
        <p:spPr>
          <a:xfrm>
            <a:off x="1196293" y="5614255"/>
            <a:ext cx="777546" cy="968034"/>
          </a:xfrm>
          <a:prstGeom prst="upDownArrow">
            <a:avLst/>
          </a:prstGeom>
          <a:noFill/>
          <a:ln w="24532">
            <a:solidFill>
              <a:srgbClr val="2A686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_example_image.jpg"/>
          <p:cNvPicPr>
            <a:picLocks noChangeAspect="1"/>
          </p:cNvPicPr>
          <p:nvPr/>
        </p:nvPicPr>
        <p:blipFill>
          <a:blip r:embed="rId2"/>
          <a:srcRect l="12321" t="5468" r="3318" b="3544"/>
          <a:stretch>
            <a:fillRect/>
          </a:stretch>
        </p:blipFill>
        <p:spPr>
          <a:xfrm>
            <a:off x="9555830" y="512237"/>
            <a:ext cx="1521535" cy="1772594"/>
          </a:xfrm>
          <a:prstGeom prst="rect">
            <a:avLst/>
          </a:prstGeom>
        </p:spPr>
      </p:pic>
      <p:sp>
        <p:nvSpPr>
          <p:cNvPr id="17" name="Rounded Rectangle 16"/>
          <p:cNvSpPr/>
          <p:nvPr/>
        </p:nvSpPr>
        <p:spPr>
          <a:xfrm>
            <a:off x="9555830" y="512237"/>
            <a:ext cx="1521535" cy="1772594"/>
          </a:xfrm>
          <a:prstGeom prst="roundRect">
            <a:avLst/>
          </a:prstGeom>
          <a:noFill/>
          <a:ln w="15240">
            <a:solidFill>
              <a:srgbClr val="6F23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2"/>
          <a:srcRect l="15232" t="6932" r="10073" b="9277"/>
          <a:stretch>
            <a:fillRect/>
          </a:stretch>
        </p:blipFill>
        <p:spPr>
          <a:xfrm>
            <a:off x="2605764" y="3476670"/>
            <a:ext cx="1813582" cy="785692"/>
          </a:xfrm>
          <a:prstGeom prst="rect">
            <a:avLst/>
          </a:prstGeom>
        </p:spPr>
      </p:pic>
      <p:sp>
        <p:nvSpPr>
          <p:cNvPr id="19" name="TextBox 18"/>
          <p:cNvSpPr txBox="1"/>
          <p:nvPr/>
        </p:nvSpPr>
        <p:spPr>
          <a:xfrm>
            <a:off x="6006054" y="6109869"/>
            <a:ext cx="1606482" cy="283577"/>
          </a:xfrm>
          <a:prstGeom prst="rect">
            <a:avLst/>
          </a:prstGeom>
          <a:noFill/>
        </p:spPr>
        <p:txBody>
          <a:bodyPr wrap="none" lIns="67303" tIns="67303" rIns="67303" bIns="67303">
            <a:spAutoFit/>
          </a:bodyPr>
          <a:lstStyle/>
          <a:p>
            <a:r>
              <a:rPr sz="4300" b="1" i="0" u="none">
                <a:solidFill>
                  <a:srgbClr val="395B5C"/>
                </a:solidFill>
                <a:latin typeface="Arial"/>
              </a:rPr>
              <a:t>Diagram Pulse</a:t>
            </a:r>
          </a:p>
        </p:txBody>
      </p:sp>
      <p:sp>
        <p:nvSpPr>
          <p:cNvPr id="20" name="TextBox 19"/>
          <p:cNvSpPr txBox="1"/>
          <p:nvPr/>
        </p:nvSpPr>
        <p:spPr>
          <a:xfrm>
            <a:off x="3177607" y="433269"/>
            <a:ext cx="970421" cy="2480273"/>
          </a:xfrm>
          <a:prstGeom prst="rect">
            <a:avLst/>
          </a:prstGeom>
          <a:noFill/>
        </p:spPr>
        <p:txBody>
          <a:bodyPr wrap="none" lIns="23970" tIns="23970" rIns="23970" bIns="23970">
            <a:spAutoFit/>
          </a:bodyPr>
          <a:lstStyle/>
          <a:p>
            <a:r>
              <a:rPr sz="1100" b="1" i="0" u="none">
                <a:solidFill>
                  <a:srgbClr val="77704D"/>
                </a:solidFill>
                <a:latin typeface="Aptos"/>
              </a:rPr>
              <a:t>Topology Event Route Ledger Package Priority Trigger Point Resource Device Station Group Plan Radius Variant Concept Link System Beacon Record Logic Engine Entity Horizon Catalog Brief Tile Panel Metric Focus Track Analysis Option</a:t>
            </a:r>
          </a:p>
        </p:txBody>
      </p:sp>
      <p:sp>
        <p:nvSpPr>
          <p:cNvPr id="21" name="Freeform 20"/>
          <p:cNvSpPr/>
          <p:nvPr/>
        </p:nvSpPr>
        <p:spPr>
          <a:xfrm>
            <a:off x="4338474" y="712399"/>
            <a:ext cx="1801013" cy="664258"/>
          </a:xfrm>
          <a:custGeom>
            <a:avLst/>
            <a:gdLst/>
            <a:ahLst/>
            <a:cxnLst/>
            <a:rect l="l" t="t" r="r" b="b"/>
            <a:pathLst>
              <a:path w="1801013" h="664258">
                <a:moveTo>
                  <a:pt x="900507" y="0"/>
                </a:moveTo>
                <a:lnTo>
                  <a:pt x="1125633" y="166064"/>
                </a:lnTo>
                <a:lnTo>
                  <a:pt x="1688450" y="119566"/>
                </a:lnTo>
                <a:lnTo>
                  <a:pt x="1369520" y="332129"/>
                </a:lnTo>
                <a:lnTo>
                  <a:pt x="1801013" y="518121"/>
                </a:lnTo>
                <a:lnTo>
                  <a:pt x="1125633" y="478265"/>
                </a:lnTo>
                <a:lnTo>
                  <a:pt x="900507" y="664258"/>
                </a:lnTo>
                <a:lnTo>
                  <a:pt x="675380" y="478265"/>
                </a:lnTo>
                <a:lnTo>
                  <a:pt x="0" y="518121"/>
                </a:lnTo>
                <a:lnTo>
                  <a:pt x="431493" y="332129"/>
                </a:lnTo>
                <a:lnTo>
                  <a:pt x="112564" y="119566"/>
                </a:lnTo>
                <a:lnTo>
                  <a:pt x="675380" y="166064"/>
                </a:lnTo>
                <a:close/>
              </a:path>
            </a:pathLst>
          </a:custGeom>
          <a:solidFill>
            <a:srgbClr val="5EA08D"/>
          </a:solidFill>
          <a:ln w="17792">
            <a:solidFill>
              <a:srgbClr val="D46CA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Table 21"/>
          <p:cNvGraphicFramePr>
            <a:graphicFrameLocks noGrp="1"/>
          </p:cNvGraphicFramePr>
          <p:nvPr/>
        </p:nvGraphicFramePr>
        <p:xfrm>
          <a:off x="9738801" y="2576591"/>
          <a:ext cx="2127000" cy="1413580"/>
        </p:xfrm>
        <a:graphic>
          <a:graphicData uri="http://schemas.openxmlformats.org/drawingml/2006/table">
            <a:tbl>
              <a:tblPr firstRow="1" bandRow="1">
                <a:tableStyleId>{5C22544A-7EE6-4342-B048-85BDC9FD1C3A}</a:tableStyleId>
              </a:tblPr>
              <a:tblGrid>
                <a:gridCol w="354500">
                  <a:extLst>
                    <a:ext uri="{9D8B030D-6E8A-4147-A177-3AD203B41FA5}">
                      <a16:colId xmlns:a16="http://schemas.microsoft.com/office/drawing/2014/main" val="20000"/>
                    </a:ext>
                  </a:extLst>
                </a:gridCol>
                <a:gridCol w="354500">
                  <a:extLst>
                    <a:ext uri="{9D8B030D-6E8A-4147-A177-3AD203B41FA5}">
                      <a16:colId xmlns:a16="http://schemas.microsoft.com/office/drawing/2014/main" val="20001"/>
                    </a:ext>
                  </a:extLst>
                </a:gridCol>
                <a:gridCol w="354500">
                  <a:extLst>
                    <a:ext uri="{9D8B030D-6E8A-4147-A177-3AD203B41FA5}">
                      <a16:colId xmlns:a16="http://schemas.microsoft.com/office/drawing/2014/main" val="20002"/>
                    </a:ext>
                  </a:extLst>
                </a:gridCol>
                <a:gridCol w="354500">
                  <a:extLst>
                    <a:ext uri="{9D8B030D-6E8A-4147-A177-3AD203B41FA5}">
                      <a16:colId xmlns:a16="http://schemas.microsoft.com/office/drawing/2014/main" val="20003"/>
                    </a:ext>
                  </a:extLst>
                </a:gridCol>
                <a:gridCol w="354500">
                  <a:extLst>
                    <a:ext uri="{9D8B030D-6E8A-4147-A177-3AD203B41FA5}">
                      <a16:colId xmlns:a16="http://schemas.microsoft.com/office/drawing/2014/main" val="20004"/>
                    </a:ext>
                  </a:extLst>
                </a:gridCol>
                <a:gridCol w="354500">
                  <a:extLst>
                    <a:ext uri="{9D8B030D-6E8A-4147-A177-3AD203B41FA5}">
                      <a16:colId xmlns:a16="http://schemas.microsoft.com/office/drawing/2014/main" val="20005"/>
                    </a:ext>
                  </a:extLst>
                </a:gridCol>
              </a:tblGrid>
              <a:tr h="201940">
                <a:tc>
                  <a:txBody>
                    <a:bodyPr/>
                    <a:lstStyle/>
                    <a:p>
                      <a:r>
                        <a:rPr sz="1300" b="1">
                          <a:solidFill>
                            <a:srgbClr val="32D6AB"/>
                          </a:solidFill>
                        </a:rPr>
                        <a:t>Flow</a:t>
                      </a:r>
                    </a:p>
                  </a:txBody>
                  <a:tcPr>
                    <a:solidFill>
                      <a:srgbClr val="4D9A7B"/>
                    </a:solidFill>
                  </a:tcPr>
                </a:tc>
                <a:tc>
                  <a:txBody>
                    <a:bodyPr/>
                    <a:lstStyle/>
                    <a:p>
                      <a:r>
                        <a:rPr sz="1300" b="1">
                          <a:solidFill>
                            <a:srgbClr val="32D6AB"/>
                          </a:solidFill>
                        </a:rPr>
                        <a:t>Record</a:t>
                      </a:r>
                    </a:p>
                  </a:txBody>
                  <a:tcPr>
                    <a:solidFill>
                      <a:srgbClr val="4D9A7B"/>
                    </a:solidFill>
                  </a:tcPr>
                </a:tc>
                <a:tc>
                  <a:txBody>
                    <a:bodyPr/>
                    <a:lstStyle/>
                    <a:p>
                      <a:r>
                        <a:rPr sz="1300" b="1">
                          <a:solidFill>
                            <a:srgbClr val="32D6AB"/>
                          </a:solidFill>
                        </a:rPr>
                        <a:t>Agenda Packet</a:t>
                      </a:r>
                    </a:p>
                  </a:txBody>
                  <a:tcPr>
                    <a:solidFill>
                      <a:srgbClr val="4D9A7B"/>
                    </a:solidFill>
                  </a:tcPr>
                </a:tc>
                <a:tc>
                  <a:txBody>
                    <a:bodyPr/>
                    <a:lstStyle/>
                    <a:p>
                      <a:r>
                        <a:rPr sz="1300" b="1">
                          <a:solidFill>
                            <a:srgbClr val="32D6AB"/>
                          </a:solidFill>
                        </a:rPr>
                        <a:t>Atlas</a:t>
                      </a:r>
                    </a:p>
                  </a:txBody>
                  <a:tcPr>
                    <a:solidFill>
                      <a:srgbClr val="4D9A7B"/>
                    </a:solidFill>
                  </a:tcPr>
                </a:tc>
                <a:tc>
                  <a:txBody>
                    <a:bodyPr/>
                    <a:lstStyle/>
                    <a:p>
                      <a:r>
                        <a:rPr sz="1300" b="1">
                          <a:solidFill>
                            <a:srgbClr val="32D6AB"/>
                          </a:solidFill>
                        </a:rPr>
                        <a:t>Link</a:t>
                      </a:r>
                    </a:p>
                  </a:txBody>
                  <a:tcPr>
                    <a:solidFill>
                      <a:srgbClr val="4D9A7B"/>
                    </a:solidFill>
                  </a:tcPr>
                </a:tc>
                <a:tc>
                  <a:txBody>
                    <a:bodyPr/>
                    <a:lstStyle/>
                    <a:p>
                      <a:r>
                        <a:rPr sz="1300" b="1">
                          <a:solidFill>
                            <a:srgbClr val="32D6AB"/>
                          </a:solidFill>
                        </a:rPr>
                        <a:t>Ratio Route</a:t>
                      </a:r>
                    </a:p>
                  </a:txBody>
                  <a:tcPr>
                    <a:solidFill>
                      <a:srgbClr val="4D9A7B"/>
                    </a:solidFill>
                  </a:tcPr>
                </a:tc>
                <a:extLst>
                  <a:ext uri="{0D108BD9-81ED-4DB2-BD59-A6C34878D82A}">
                    <a16:rowId xmlns:a16="http://schemas.microsoft.com/office/drawing/2014/main" val="10000"/>
                  </a:ext>
                </a:extLst>
              </a:tr>
              <a:tr h="201940">
                <a:tc>
                  <a:txBody>
                    <a:bodyPr/>
                    <a:lstStyle/>
                    <a:p>
                      <a:r>
                        <a:rPr sz="1300" b="0">
                          <a:solidFill>
                            <a:srgbClr val="32D6AB"/>
                          </a:solidFill>
                        </a:rPr>
                        <a:t>North Core</a:t>
                      </a:r>
                    </a:p>
                  </a:txBody>
                  <a:tcPr>
                    <a:solidFill>
                      <a:srgbClr val="F7F5F0"/>
                    </a:solidFill>
                  </a:tcPr>
                </a:tc>
                <a:tc>
                  <a:txBody>
                    <a:bodyPr/>
                    <a:lstStyle/>
                    <a:p>
                      <a:r>
                        <a:rPr sz="1300" b="0">
                          <a:solidFill>
                            <a:srgbClr val="32D6AB"/>
                          </a:solidFill>
                        </a:rPr>
                        <a:t>Span Atlas</a:t>
                      </a:r>
                    </a:p>
                  </a:txBody>
                  <a:tcPr>
                    <a:solidFill>
                      <a:srgbClr val="F7F5F0"/>
                    </a:solidFill>
                  </a:tcPr>
                </a:tc>
                <a:tc>
                  <a:txBody>
                    <a:bodyPr/>
                    <a:lstStyle/>
                    <a:p>
                      <a:r>
                        <a:rPr sz="1300" b="0">
                          <a:solidFill>
                            <a:srgbClr val="32D6AB"/>
                          </a:solidFill>
                        </a:rPr>
                        <a:t>Inventory</a:t>
                      </a:r>
                    </a:p>
                  </a:txBody>
                  <a:tcPr>
                    <a:solidFill>
                      <a:srgbClr val="F7F5F0"/>
                    </a:solidFill>
                  </a:tcPr>
                </a:tc>
                <a:tc>
                  <a:txBody>
                    <a:bodyPr/>
                    <a:lstStyle/>
                    <a:p>
                      <a:r>
                        <a:rPr sz="1300" b="0">
                          <a:solidFill>
                            <a:srgbClr val="32D6AB"/>
                          </a:solidFill>
                        </a:rPr>
                        <a:t>Drift Compass</a:t>
                      </a:r>
                    </a:p>
                  </a:txBody>
                  <a:tcPr>
                    <a:solidFill>
                      <a:srgbClr val="F7F5F0"/>
                    </a:solidFill>
                  </a:tcPr>
                </a:tc>
                <a:tc>
                  <a:txBody>
                    <a:bodyPr/>
                    <a:lstStyle/>
                    <a:p>
                      <a:r>
                        <a:rPr sz="1300" b="0">
                          <a:solidFill>
                            <a:srgbClr val="32D6AB"/>
                          </a:solidFill>
                        </a:rPr>
                        <a:t>Zone</a:t>
                      </a:r>
                    </a:p>
                  </a:txBody>
                  <a:tcPr>
                    <a:solidFill>
                      <a:srgbClr val="F7F5F0"/>
                    </a:solidFill>
                  </a:tcPr>
                </a:tc>
                <a:tc>
                  <a:txBody>
                    <a:bodyPr/>
                    <a:lstStyle/>
                    <a:p>
                      <a:r>
                        <a:rPr sz="1300" b="0">
                          <a:solidFill>
                            <a:srgbClr val="32D6AB"/>
                          </a:solidFill>
                        </a:rPr>
                        <a:t>Thread</a:t>
                      </a:r>
                    </a:p>
                  </a:txBody>
                  <a:tcPr>
                    <a:solidFill>
                      <a:srgbClr val="F7F5F0"/>
                    </a:solidFill>
                  </a:tcPr>
                </a:tc>
                <a:extLst>
                  <a:ext uri="{0D108BD9-81ED-4DB2-BD59-A6C34878D82A}">
                    <a16:rowId xmlns:a16="http://schemas.microsoft.com/office/drawing/2014/main" val="10001"/>
                  </a:ext>
                </a:extLst>
              </a:tr>
              <a:tr h="201940">
                <a:tc>
                  <a:txBody>
                    <a:bodyPr/>
                    <a:lstStyle/>
                    <a:p>
                      <a:r>
                        <a:rPr sz="1300" b="0">
                          <a:solidFill>
                            <a:srgbClr val="32D6AB"/>
                          </a:solidFill>
                        </a:rPr>
                        <a:t>Spectrum Region</a:t>
                      </a:r>
                    </a:p>
                  </a:txBody>
                  <a:tcPr>
                    <a:solidFill>
                      <a:srgbClr val="F7F5F0"/>
                    </a:solidFill>
                  </a:tcPr>
                </a:tc>
                <a:tc>
                  <a:txBody>
                    <a:bodyPr/>
                    <a:lstStyle/>
                    <a:p>
                      <a:r>
                        <a:rPr sz="1300" b="0">
                          <a:solidFill>
                            <a:srgbClr val="32D6AB"/>
                          </a:solidFill>
                        </a:rPr>
                        <a:t>Horizon Gradient</a:t>
                      </a:r>
                    </a:p>
                  </a:txBody>
                  <a:tcPr>
                    <a:solidFill>
                      <a:srgbClr val="F7F5F0"/>
                    </a:solidFill>
                  </a:tcPr>
                </a:tc>
                <a:tc>
                  <a:txBody>
                    <a:bodyPr/>
                    <a:lstStyle/>
                    <a:p>
                      <a:r>
                        <a:rPr sz="1300" b="0">
                          <a:solidFill>
                            <a:srgbClr val="32D6AB"/>
                          </a:solidFill>
                        </a:rPr>
                        <a:t>Response Index</a:t>
                      </a:r>
                    </a:p>
                  </a:txBody>
                  <a:tcPr>
                    <a:solidFill>
                      <a:srgbClr val="F7F5F0"/>
                    </a:solidFill>
                  </a:tcPr>
                </a:tc>
                <a:tc>
                  <a:txBody>
                    <a:bodyPr/>
                    <a:lstStyle/>
                    <a:p>
                      <a:r>
                        <a:rPr sz="1300" b="0">
                          <a:solidFill>
                            <a:srgbClr val="32D6AB"/>
                          </a:solidFill>
                        </a:rPr>
                        <a:t>Cluster Alignment</a:t>
                      </a:r>
                    </a:p>
                  </a:txBody>
                  <a:tcPr>
                    <a:solidFill>
                      <a:srgbClr val="F7F5F0"/>
                    </a:solidFill>
                  </a:tcPr>
                </a:tc>
                <a:tc>
                  <a:txBody>
                    <a:bodyPr/>
                    <a:lstStyle/>
                    <a:p>
                      <a:r>
                        <a:rPr sz="1300" b="0">
                          <a:solidFill>
                            <a:srgbClr val="32D6AB"/>
                          </a:solidFill>
                        </a:rPr>
                        <a:t>Dashboard Expansion</a:t>
                      </a:r>
                    </a:p>
                  </a:txBody>
                  <a:tcPr>
                    <a:solidFill>
                      <a:srgbClr val="F7F5F0"/>
                    </a:solidFill>
                  </a:tcPr>
                </a:tc>
                <a:tc>
                  <a:txBody>
                    <a:bodyPr/>
                    <a:lstStyle/>
                    <a:p>
                      <a:r>
                        <a:rPr sz="1300" b="0">
                          <a:solidFill>
                            <a:srgbClr val="32D6AB"/>
                          </a:solidFill>
                        </a:rPr>
                        <a:t>Method</a:t>
                      </a:r>
                    </a:p>
                  </a:txBody>
                  <a:tcPr>
                    <a:solidFill>
                      <a:srgbClr val="F7F5F0"/>
                    </a:solidFill>
                  </a:tcPr>
                </a:tc>
                <a:extLst>
                  <a:ext uri="{0D108BD9-81ED-4DB2-BD59-A6C34878D82A}">
                    <a16:rowId xmlns:a16="http://schemas.microsoft.com/office/drawing/2014/main" val="10002"/>
                  </a:ext>
                </a:extLst>
              </a:tr>
              <a:tr h="201940">
                <a:tc>
                  <a:txBody>
                    <a:bodyPr/>
                    <a:lstStyle/>
                    <a:p>
                      <a:r>
                        <a:rPr sz="1300" b="0">
                          <a:solidFill>
                            <a:srgbClr val="32D6AB"/>
                          </a:solidFill>
                        </a:rPr>
                        <a:t>Event Cell</a:t>
                      </a:r>
                    </a:p>
                  </a:txBody>
                  <a:tcPr>
                    <a:solidFill>
                      <a:srgbClr val="F7F5F0"/>
                    </a:solidFill>
                  </a:tcPr>
                </a:tc>
                <a:tc>
                  <a:txBody>
                    <a:bodyPr/>
                    <a:lstStyle/>
                    <a:p>
                      <a:r>
                        <a:rPr sz="1300" b="0">
                          <a:solidFill>
                            <a:srgbClr val="32D6AB"/>
                          </a:solidFill>
                        </a:rPr>
                        <a:t>Stack</a:t>
                      </a:r>
                    </a:p>
                  </a:txBody>
                  <a:tcPr>
                    <a:solidFill>
                      <a:srgbClr val="F7F5F0"/>
                    </a:solidFill>
                  </a:tcPr>
                </a:tc>
                <a:tc>
                  <a:txBody>
                    <a:bodyPr/>
                    <a:lstStyle/>
                    <a:p>
                      <a:r>
                        <a:rPr sz="1300" b="0">
                          <a:solidFill>
                            <a:srgbClr val="32D6AB"/>
                          </a:solidFill>
                        </a:rPr>
                        <a:t>Function Stage</a:t>
                      </a:r>
                    </a:p>
                  </a:txBody>
                  <a:tcPr>
                    <a:solidFill>
                      <a:srgbClr val="F7F5F0"/>
                    </a:solidFill>
                  </a:tcPr>
                </a:tc>
                <a:tc>
                  <a:txBody>
                    <a:bodyPr/>
                    <a:lstStyle/>
                    <a:p>
                      <a:r>
                        <a:rPr sz="1300" b="0">
                          <a:solidFill>
                            <a:srgbClr val="32D6AB"/>
                          </a:solidFill>
                        </a:rPr>
                        <a:t>Gradient</a:t>
                      </a:r>
                    </a:p>
                  </a:txBody>
                  <a:tcPr>
                    <a:solidFill>
                      <a:srgbClr val="F7F5F0"/>
                    </a:solidFill>
                  </a:tcPr>
                </a:tc>
                <a:tc>
                  <a:txBody>
                    <a:bodyPr/>
                    <a:lstStyle/>
                    <a:p>
                      <a:r>
                        <a:rPr sz="1300" b="0">
                          <a:solidFill>
                            <a:srgbClr val="32D6AB"/>
                          </a:solidFill>
                        </a:rPr>
                        <a:t>Object</a:t>
                      </a:r>
                    </a:p>
                  </a:txBody>
                  <a:tcPr>
                    <a:solidFill>
                      <a:srgbClr val="F7F5F0"/>
                    </a:solidFill>
                  </a:tcPr>
                </a:tc>
                <a:tc>
                  <a:txBody>
                    <a:bodyPr/>
                    <a:lstStyle/>
                    <a:p>
                      <a:r>
                        <a:rPr sz="1300" b="0">
                          <a:solidFill>
                            <a:srgbClr val="32D6AB"/>
                          </a:solidFill>
                        </a:rPr>
                        <a:t>Narrative Payload</a:t>
                      </a:r>
                    </a:p>
                  </a:txBody>
                  <a:tcPr>
                    <a:solidFill>
                      <a:srgbClr val="F7F5F0"/>
                    </a:solidFill>
                  </a:tcPr>
                </a:tc>
                <a:extLst>
                  <a:ext uri="{0D108BD9-81ED-4DB2-BD59-A6C34878D82A}">
                    <a16:rowId xmlns:a16="http://schemas.microsoft.com/office/drawing/2014/main" val="10003"/>
                  </a:ext>
                </a:extLst>
              </a:tr>
              <a:tr h="201940">
                <a:tc>
                  <a:txBody>
                    <a:bodyPr/>
                    <a:lstStyle/>
                    <a:p>
                      <a:r>
                        <a:rPr sz="1300" b="0">
                          <a:solidFill>
                            <a:srgbClr val="32D6AB"/>
                          </a:solidFill>
                        </a:rPr>
                        <a:t>Deck</a:t>
                      </a:r>
                    </a:p>
                  </a:txBody>
                  <a:tcPr>
                    <a:solidFill>
                      <a:srgbClr val="F7F5F0"/>
                    </a:solidFill>
                  </a:tcPr>
                </a:tc>
                <a:tc>
                  <a:txBody>
                    <a:bodyPr/>
                    <a:lstStyle/>
                    <a:p>
                      <a:r>
                        <a:rPr sz="1300" b="0">
                          <a:solidFill>
                            <a:srgbClr val="32D6AB"/>
                          </a:solidFill>
                        </a:rPr>
                        <a:t>Iteration Estimate</a:t>
                      </a:r>
                    </a:p>
                  </a:txBody>
                  <a:tcPr>
                    <a:solidFill>
                      <a:srgbClr val="F7F5F0"/>
                    </a:solidFill>
                  </a:tcPr>
                </a:tc>
                <a:tc>
                  <a:txBody>
                    <a:bodyPr/>
                    <a:lstStyle/>
                    <a:p>
                      <a:r>
                        <a:rPr sz="1300" b="0">
                          <a:solidFill>
                            <a:srgbClr val="32D6AB"/>
                          </a:solidFill>
                        </a:rPr>
                        <a:t>Pulse Drift</a:t>
                      </a:r>
                    </a:p>
                  </a:txBody>
                  <a:tcPr>
                    <a:solidFill>
                      <a:srgbClr val="F7F5F0"/>
                    </a:solidFill>
                  </a:tcPr>
                </a:tc>
                <a:tc>
                  <a:txBody>
                    <a:bodyPr/>
                    <a:lstStyle/>
                    <a:p>
                      <a:r>
                        <a:rPr sz="1300" b="0">
                          <a:solidFill>
                            <a:srgbClr val="32D6AB"/>
                          </a:solidFill>
                        </a:rPr>
                        <a:t>Summary</a:t>
                      </a:r>
                    </a:p>
                  </a:txBody>
                  <a:tcPr>
                    <a:solidFill>
                      <a:srgbClr val="F7F5F0"/>
                    </a:solidFill>
                  </a:tcPr>
                </a:tc>
                <a:tc>
                  <a:txBody>
                    <a:bodyPr/>
                    <a:lstStyle/>
                    <a:p>
                      <a:r>
                        <a:rPr sz="1300" b="0">
                          <a:solidFill>
                            <a:srgbClr val="32D6AB"/>
                          </a:solidFill>
                        </a:rPr>
                        <a:t>Frequency Anchor</a:t>
                      </a:r>
                    </a:p>
                  </a:txBody>
                  <a:tcPr>
                    <a:solidFill>
                      <a:srgbClr val="F7F5F0"/>
                    </a:solidFill>
                  </a:tcPr>
                </a:tc>
                <a:tc>
                  <a:txBody>
                    <a:bodyPr/>
                    <a:lstStyle/>
                    <a:p>
                      <a:r>
                        <a:rPr sz="1300" b="0">
                          <a:solidFill>
                            <a:srgbClr val="32D6AB"/>
                          </a:solidFill>
                        </a:rPr>
                        <a:t>Envelope Volume</a:t>
                      </a:r>
                    </a:p>
                  </a:txBody>
                  <a:tcPr>
                    <a:solidFill>
                      <a:srgbClr val="F7F5F0"/>
                    </a:solidFill>
                  </a:tcPr>
                </a:tc>
                <a:extLst>
                  <a:ext uri="{0D108BD9-81ED-4DB2-BD59-A6C34878D82A}">
                    <a16:rowId xmlns:a16="http://schemas.microsoft.com/office/drawing/2014/main" val="10004"/>
                  </a:ext>
                </a:extLst>
              </a:tr>
              <a:tr h="201940">
                <a:tc>
                  <a:txBody>
                    <a:bodyPr/>
                    <a:lstStyle/>
                    <a:p>
                      <a:r>
                        <a:rPr sz="1300" b="0">
                          <a:solidFill>
                            <a:srgbClr val="32D6AB"/>
                          </a:solidFill>
                        </a:rPr>
                        <a:t>Scope</a:t>
                      </a:r>
                    </a:p>
                  </a:txBody>
                  <a:tcPr>
                    <a:solidFill>
                      <a:srgbClr val="F7F5F0"/>
                    </a:solidFill>
                  </a:tcPr>
                </a:tc>
                <a:tc>
                  <a:txBody>
                    <a:bodyPr/>
                    <a:lstStyle/>
                    <a:p>
                      <a:r>
                        <a:rPr sz="1300" b="0">
                          <a:solidFill>
                            <a:srgbClr val="32D6AB"/>
                          </a:solidFill>
                        </a:rPr>
                        <a:t>Module</a:t>
                      </a:r>
                    </a:p>
                  </a:txBody>
                  <a:tcPr>
                    <a:solidFill>
                      <a:srgbClr val="F7F5F0"/>
                    </a:solidFill>
                  </a:tcPr>
                </a:tc>
                <a:tc>
                  <a:txBody>
                    <a:bodyPr/>
                    <a:lstStyle/>
                    <a:p>
                      <a:r>
                        <a:rPr sz="1300" b="0">
                          <a:solidFill>
                            <a:srgbClr val="32D6AB"/>
                          </a:solidFill>
                        </a:rPr>
                        <a:t>Diagram Review</a:t>
                      </a:r>
                    </a:p>
                  </a:txBody>
                  <a:tcPr>
                    <a:solidFill>
                      <a:srgbClr val="F7F5F0"/>
                    </a:solidFill>
                  </a:tcPr>
                </a:tc>
                <a:tc>
                  <a:txBody>
                    <a:bodyPr/>
                    <a:lstStyle/>
                    <a:p>
                      <a:r>
                        <a:rPr sz="1300" b="0">
                          <a:solidFill>
                            <a:srgbClr val="32D6AB"/>
                          </a:solidFill>
                        </a:rPr>
                        <a:t>Tile</a:t>
                      </a:r>
                    </a:p>
                  </a:txBody>
                  <a:tcPr>
                    <a:solidFill>
                      <a:srgbClr val="F7F5F0"/>
                    </a:solidFill>
                  </a:tcPr>
                </a:tc>
                <a:tc>
                  <a:txBody>
                    <a:bodyPr/>
                    <a:lstStyle/>
                    <a:p>
                      <a:r>
                        <a:rPr sz="1300" b="0">
                          <a:solidFill>
                            <a:srgbClr val="32D6AB"/>
                          </a:solidFill>
                        </a:rPr>
                        <a:t>Design Expansion</a:t>
                      </a:r>
                    </a:p>
                  </a:txBody>
                  <a:tcPr>
                    <a:solidFill>
                      <a:srgbClr val="F7F5F0"/>
                    </a:solidFill>
                  </a:tcPr>
                </a:tc>
                <a:tc>
                  <a:txBody>
                    <a:bodyPr/>
                    <a:lstStyle/>
                    <a:p>
                      <a:r>
                        <a:rPr sz="1300" b="0">
                          <a:solidFill>
                            <a:srgbClr val="32D6AB"/>
                          </a:solidFill>
                        </a:rPr>
                        <a:t>Cadence Table</a:t>
                      </a:r>
                    </a:p>
                  </a:txBody>
                  <a:tcPr>
                    <a:solidFill>
                      <a:srgbClr val="F7F5F0"/>
                    </a:solidFill>
                  </a:tcPr>
                </a:tc>
                <a:extLst>
                  <a:ext uri="{0D108BD9-81ED-4DB2-BD59-A6C34878D82A}">
                    <a16:rowId xmlns:a16="http://schemas.microsoft.com/office/drawing/2014/main" val="10005"/>
                  </a:ext>
                </a:extLst>
              </a:tr>
              <a:tr h="201940">
                <a:tc>
                  <a:txBody>
                    <a:bodyPr/>
                    <a:lstStyle/>
                    <a:p>
                      <a:r>
                        <a:rPr sz="1300" b="0">
                          <a:solidFill>
                            <a:srgbClr val="32D6AB"/>
                          </a:solidFill>
                        </a:rPr>
                        <a:t>Source</a:t>
                      </a:r>
                    </a:p>
                  </a:txBody>
                  <a:tcPr>
                    <a:solidFill>
                      <a:srgbClr val="F7F5F0"/>
                    </a:solidFill>
                  </a:tcPr>
                </a:tc>
                <a:tc>
                  <a:txBody>
                    <a:bodyPr/>
                    <a:lstStyle/>
                    <a:p>
                      <a:r>
                        <a:rPr sz="1300" b="0">
                          <a:solidFill>
                            <a:srgbClr val="32D6AB"/>
                          </a:solidFill>
                        </a:rPr>
                        <a:t>Position</a:t>
                      </a:r>
                    </a:p>
                  </a:txBody>
                  <a:tcPr>
                    <a:solidFill>
                      <a:srgbClr val="F7F5F0"/>
                    </a:solidFill>
                  </a:tcPr>
                </a:tc>
                <a:tc>
                  <a:txBody>
                    <a:bodyPr/>
                    <a:lstStyle/>
                    <a:p>
                      <a:r>
                        <a:rPr sz="1300" b="0">
                          <a:solidFill>
                            <a:srgbClr val="32D6AB"/>
                          </a:solidFill>
                        </a:rPr>
                        <a:t>Signal</a:t>
                      </a:r>
                    </a:p>
                  </a:txBody>
                  <a:tcPr>
                    <a:solidFill>
                      <a:srgbClr val="F7F5F0"/>
                    </a:solidFill>
                  </a:tcPr>
                </a:tc>
                <a:tc>
                  <a:txBody>
                    <a:bodyPr/>
                    <a:lstStyle/>
                    <a:p>
                      <a:r>
                        <a:rPr sz="1300" b="0">
                          <a:solidFill>
                            <a:srgbClr val="32D6AB"/>
                          </a:solidFill>
                        </a:rPr>
                        <a:t>Sequence Process</a:t>
                      </a:r>
                    </a:p>
                  </a:txBody>
                  <a:tcPr>
                    <a:solidFill>
                      <a:srgbClr val="F7F5F0"/>
                    </a:solidFill>
                  </a:tcPr>
                </a:tc>
                <a:tc>
                  <a:txBody>
                    <a:bodyPr/>
                    <a:lstStyle/>
                    <a:p>
                      <a:r>
                        <a:rPr sz="1300" b="0">
                          <a:solidFill>
                            <a:srgbClr val="32D6AB"/>
                          </a:solidFill>
                        </a:rPr>
                        <a:t>Epoch Function</a:t>
                      </a:r>
                    </a:p>
                  </a:txBody>
                  <a:tcPr>
                    <a:solidFill>
                      <a:srgbClr val="F7F5F0"/>
                    </a:solidFill>
                  </a:tcPr>
                </a:tc>
                <a:tc>
                  <a:txBody>
                    <a:bodyPr/>
                    <a:lstStyle/>
                    <a:p>
                      <a:r>
                        <a:rPr sz="1300" b="0">
                          <a:solidFill>
                            <a:srgbClr val="32D6AB"/>
                          </a:solidFill>
                        </a:rPr>
                        <a:t>Waypoint</a:t>
                      </a:r>
                    </a:p>
                  </a:txBody>
                  <a:tcPr>
                    <a:solidFill>
                      <a:srgbClr val="F7F5F0"/>
                    </a:solidFill>
                  </a:tcPr>
                </a:tc>
                <a:extLst>
                  <a:ext uri="{0D108BD9-81ED-4DB2-BD59-A6C34878D82A}">
                    <a16:rowId xmlns:a16="http://schemas.microsoft.com/office/drawing/2014/main" val="10006"/>
                  </a:ext>
                </a:extLst>
              </a:tr>
            </a:tbl>
          </a:graphicData>
        </a:graphic>
      </p:graphicFrame>
      <p:sp>
        <p:nvSpPr>
          <p:cNvPr id="23" name="Freeform 22"/>
          <p:cNvSpPr/>
          <p:nvPr/>
        </p:nvSpPr>
        <p:spPr>
          <a:xfrm>
            <a:off x="889644" y="1004539"/>
            <a:ext cx="814166" cy="1077780"/>
          </a:xfrm>
          <a:custGeom>
            <a:avLst/>
            <a:gdLst/>
            <a:ahLst/>
            <a:cxnLst/>
            <a:rect l="l" t="t" r="r" b="b"/>
            <a:pathLst>
              <a:path w="814166" h="1077780">
                <a:moveTo>
                  <a:pt x="407083" y="0"/>
                </a:moveTo>
                <a:lnTo>
                  <a:pt x="508854" y="269445"/>
                </a:lnTo>
                <a:lnTo>
                  <a:pt x="763281" y="194001"/>
                </a:lnTo>
                <a:lnTo>
                  <a:pt x="619106" y="538890"/>
                </a:lnTo>
                <a:lnTo>
                  <a:pt x="814166" y="840668"/>
                </a:lnTo>
                <a:lnTo>
                  <a:pt x="508854" y="776002"/>
                </a:lnTo>
                <a:lnTo>
                  <a:pt x="407083" y="1077780"/>
                </a:lnTo>
                <a:lnTo>
                  <a:pt x="305313" y="776002"/>
                </a:lnTo>
                <a:lnTo>
                  <a:pt x="0" y="840668"/>
                </a:lnTo>
                <a:lnTo>
                  <a:pt x="195061" y="538890"/>
                </a:lnTo>
                <a:lnTo>
                  <a:pt x="50886" y="194001"/>
                </a:lnTo>
                <a:lnTo>
                  <a:pt x="305313" y="269445"/>
                </a:lnTo>
                <a:close/>
              </a:path>
            </a:pathLst>
          </a:custGeom>
          <a:solidFill>
            <a:srgbClr val="503C3A"/>
          </a:solidFill>
          <a:ln w="8180">
            <a:solidFill>
              <a:srgbClr val="9BBE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633359" y="1325899"/>
            <a:ext cx="657226" cy="1126954"/>
          </a:xfrm>
          <a:prstGeom prst="rect">
            <a:avLst/>
          </a:prstGeom>
          <a:noFill/>
        </p:spPr>
        <p:txBody>
          <a:bodyPr wrap="none" lIns="33411" tIns="33411" rIns="33411" bIns="33411">
            <a:spAutoFit/>
          </a:bodyPr>
          <a:lstStyle/>
          <a:p>
            <a:r>
              <a:rPr sz="5400" b="1" i="1" u="none">
                <a:solidFill>
                  <a:srgbClr val="351919"/>
                </a:solidFill>
                <a:latin typeface="Verdana"/>
              </a:rPr>
              <a:t>Canvas Inventory</a:t>
            </a:r>
          </a:p>
        </p:txBody>
      </p:sp>
      <p:graphicFrame>
        <p:nvGraphicFramePr>
          <p:cNvPr id="25" name="Chart 24"/>
          <p:cNvGraphicFramePr>
            <a:graphicFrameLocks noGrp="1"/>
          </p:cNvGraphicFramePr>
          <p:nvPr/>
        </p:nvGraphicFramePr>
        <p:xfrm>
          <a:off x="1548505" y="5180975"/>
          <a:ext cx="3170398" cy="145398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6" name="Chart 25"/>
          <p:cNvGraphicFramePr>
            <a:graphicFrameLocks noGrp="1"/>
          </p:cNvGraphicFramePr>
          <p:nvPr/>
        </p:nvGraphicFramePr>
        <p:xfrm>
          <a:off x="3198842" y="1876811"/>
          <a:ext cx="3059212" cy="2058920"/>
        </p:xfrm>
        <a:graphic>
          <a:graphicData uri="http://schemas.openxmlformats.org/drawingml/2006/chart">
            <c:chart xmlns:c="http://schemas.openxmlformats.org/drawingml/2006/chart" xmlns:r="http://schemas.openxmlformats.org/officeDocument/2006/relationships" r:id="rId4"/>
          </a:graphicData>
        </a:graphic>
      </p:graphicFrame>
      <p:cxnSp>
        <p:nvCxnSpPr>
          <p:cNvPr id="27" name="Connector 26"/>
          <p:cNvCxnSpPr/>
          <p:nvPr/>
        </p:nvCxnSpPr>
        <p:spPr>
          <a:xfrm>
            <a:off x="4046238" y="4525355"/>
            <a:ext cx="1035010" cy="681143"/>
          </a:xfrm>
          <a:prstGeom prst="bentConnector3">
            <a:avLst/>
          </a:prstGeom>
          <a:ln w="26007">
            <a:solidFill>
              <a:srgbClr val="AC8981"/>
            </a:solidFill>
            <a:prstDash val="lgDash"/>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01D76E33-3EA3-F6D0-D5BB-60FD9756C87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916727" y="3647548"/>
            <a:ext cx="1508480" cy="900254"/>
          </a:xfrm>
          <a:prstGeom prst="rect">
            <a:avLst/>
          </a:prstGeom>
        </p:spPr>
      </p:pic>
      <p:pic>
        <p:nvPicPr>
          <p:cNvPr id="31" name="Graphic 30">
            <a:extLst>
              <a:ext uri="{FF2B5EF4-FFF2-40B4-BE49-F238E27FC236}">
                <a16:creationId xmlns:a16="http://schemas.microsoft.com/office/drawing/2014/main" id="{EDCEE89A-1E1C-4E9D-5513-6DABBB5E2A4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187931" y="3690438"/>
            <a:ext cx="1286564" cy="8438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10622723" y="3052338"/>
            <a:ext cx="1197616" cy="445101"/>
          </a:xfrm>
          <a:prstGeom prst="line">
            <a:avLst/>
          </a:prstGeom>
          <a:ln w="29976">
            <a:solidFill>
              <a:srgbClr val="237B7F"/>
            </a:solidFill>
            <a:prstDash val="lgDash"/>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1010139" y="3155585"/>
            <a:ext cx="3394608" cy="1701079"/>
          </a:xfrm>
          <a:prstGeom prst="rect">
            <a:avLst/>
          </a:prstGeom>
          <a:noFill/>
        </p:spPr>
        <p:txBody>
          <a:bodyPr wrap="none" lIns="58687" tIns="58687" rIns="58687" bIns="58687">
            <a:spAutoFit/>
          </a:bodyPr>
          <a:lstStyle/>
          <a:p>
            <a:r>
              <a:rPr sz="1200" b="0" i="0" u="none">
                <a:solidFill>
                  <a:srgbClr val="3FA01E"/>
                </a:solidFill>
                <a:latin typeface="Georgia"/>
              </a:rPr>
              <a:t>Request Path Result Output Event Track Interface Threshold Source</a:t>
            </a:r>
          </a:p>
        </p:txBody>
      </p:sp>
      <p:sp>
        <p:nvSpPr>
          <p:cNvPr id="4" name="Rectangular Callout 3"/>
          <p:cNvSpPr/>
          <p:nvPr/>
        </p:nvSpPr>
        <p:spPr>
          <a:xfrm>
            <a:off x="3457936" y="1343459"/>
            <a:ext cx="2221910" cy="466385"/>
          </a:xfrm>
          <a:prstGeom prst="wedgeRectCallout">
            <a:avLst/>
          </a:prstGeom>
          <a:solidFill>
            <a:srgbClr val="B3A12E"/>
          </a:solidFill>
          <a:ln w="16152">
            <a:solidFill>
              <a:srgbClr val="74A2A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Moon 4"/>
          <p:cNvSpPr/>
          <p:nvPr/>
        </p:nvSpPr>
        <p:spPr>
          <a:xfrm>
            <a:off x="7937986" y="5444253"/>
            <a:ext cx="2718714" cy="460460"/>
          </a:xfrm>
          <a:prstGeom prst="moon">
            <a:avLst/>
          </a:prstGeom>
          <a:solidFill>
            <a:srgbClr val="74B819"/>
          </a:solidFill>
          <a:ln w="19524">
            <a:solidFill>
              <a:srgbClr val="4245E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55665" y="3515217"/>
            <a:ext cx="1924883" cy="933295"/>
          </a:xfrm>
          <a:prstGeom prst="rect">
            <a:avLst/>
          </a:prstGeom>
          <a:noFill/>
        </p:spPr>
        <p:txBody>
          <a:bodyPr wrap="none" lIns="79662" tIns="79662" rIns="79662" bIns="79662">
            <a:spAutoFit/>
          </a:bodyPr>
          <a:lstStyle/>
          <a:p>
            <a:r>
              <a:rPr sz="1700" b="0" i="0" u="none">
                <a:solidFill>
                  <a:srgbClr val="529EB0"/>
                </a:solidFill>
                <a:latin typeface="Arial"/>
              </a:rPr>
              <a:t>Handle Drift Register Flow Schema Apex Origin Object Sample Option Snapshot Estimate Spectrum</a:t>
            </a:r>
          </a:p>
        </p:txBody>
      </p:sp>
      <p:sp>
        <p:nvSpPr>
          <p:cNvPr id="7" name="Right Arrow Callout 6"/>
          <p:cNvSpPr/>
          <p:nvPr/>
        </p:nvSpPr>
        <p:spPr>
          <a:xfrm>
            <a:off x="6141971" y="1768353"/>
            <a:ext cx="1458515" cy="1090466"/>
          </a:xfrm>
          <a:prstGeom prst="rightArrowCallout">
            <a:avLst/>
          </a:prstGeom>
          <a:noFill/>
          <a:ln w="6847">
            <a:solidFill>
              <a:srgbClr val="2B4C79"/>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l="7614" t="10338" r="5412" b="8122"/>
          <a:stretch>
            <a:fillRect/>
          </a:stretch>
        </p:blipFill>
        <p:spPr>
          <a:xfrm>
            <a:off x="6828754" y="4341786"/>
            <a:ext cx="2283622" cy="754886"/>
          </a:xfrm>
          <a:prstGeom prst="rect">
            <a:avLst/>
          </a:prstGeom>
        </p:spPr>
      </p:pic>
      <p:sp>
        <p:nvSpPr>
          <p:cNvPr id="9" name="TextBox 8"/>
          <p:cNvSpPr txBox="1"/>
          <p:nvPr/>
        </p:nvSpPr>
        <p:spPr>
          <a:xfrm>
            <a:off x="8557883" y="1005608"/>
            <a:ext cx="425001" cy="2469696"/>
          </a:xfrm>
          <a:prstGeom prst="rect">
            <a:avLst/>
          </a:prstGeom>
          <a:noFill/>
        </p:spPr>
        <p:txBody>
          <a:bodyPr wrap="none" lIns="66810" tIns="66810" rIns="66810" bIns="66810">
            <a:spAutoFit/>
          </a:bodyPr>
          <a:lstStyle/>
          <a:p>
            <a:r>
              <a:rPr sz="1700" b="1" i="0" u="none">
                <a:solidFill>
                  <a:srgbClr val="304443"/>
                </a:solidFill>
                <a:latin typeface="Georgia"/>
              </a:rPr>
              <a:t>Filter Strategy Snapshot Graph Package Drift Moment Proof Circuit Canvas Lens Process Deployment Foundation Output Journey Asset Motion Sequence</a:t>
            </a:r>
          </a:p>
        </p:txBody>
      </p:sp>
      <p:graphicFrame>
        <p:nvGraphicFramePr>
          <p:cNvPr id="10" name="Table 9"/>
          <p:cNvGraphicFramePr>
            <a:graphicFrameLocks noGrp="1"/>
          </p:cNvGraphicFramePr>
          <p:nvPr/>
        </p:nvGraphicFramePr>
        <p:xfrm>
          <a:off x="1472578" y="201339"/>
          <a:ext cx="2089612" cy="1891396"/>
        </p:xfrm>
        <a:graphic>
          <a:graphicData uri="http://schemas.openxmlformats.org/drawingml/2006/table">
            <a:tbl>
              <a:tblPr firstRow="1" bandRow="1">
                <a:tableStyleId>{5C22544A-7EE6-4342-B048-85BDC9FD1C3A}</a:tableStyleId>
              </a:tblPr>
              <a:tblGrid>
                <a:gridCol w="348268">
                  <a:extLst>
                    <a:ext uri="{9D8B030D-6E8A-4147-A177-3AD203B41FA5}">
                      <a16:colId xmlns:a16="http://schemas.microsoft.com/office/drawing/2014/main" val="20000"/>
                    </a:ext>
                  </a:extLst>
                </a:gridCol>
                <a:gridCol w="348268">
                  <a:extLst>
                    <a:ext uri="{9D8B030D-6E8A-4147-A177-3AD203B41FA5}">
                      <a16:colId xmlns:a16="http://schemas.microsoft.com/office/drawing/2014/main" val="20001"/>
                    </a:ext>
                  </a:extLst>
                </a:gridCol>
                <a:gridCol w="348268">
                  <a:extLst>
                    <a:ext uri="{9D8B030D-6E8A-4147-A177-3AD203B41FA5}">
                      <a16:colId xmlns:a16="http://schemas.microsoft.com/office/drawing/2014/main" val="20002"/>
                    </a:ext>
                  </a:extLst>
                </a:gridCol>
                <a:gridCol w="348268">
                  <a:extLst>
                    <a:ext uri="{9D8B030D-6E8A-4147-A177-3AD203B41FA5}">
                      <a16:colId xmlns:a16="http://schemas.microsoft.com/office/drawing/2014/main" val="20003"/>
                    </a:ext>
                  </a:extLst>
                </a:gridCol>
                <a:gridCol w="348268">
                  <a:extLst>
                    <a:ext uri="{9D8B030D-6E8A-4147-A177-3AD203B41FA5}">
                      <a16:colId xmlns:a16="http://schemas.microsoft.com/office/drawing/2014/main" val="20004"/>
                    </a:ext>
                  </a:extLst>
                </a:gridCol>
                <a:gridCol w="348272">
                  <a:extLst>
                    <a:ext uri="{9D8B030D-6E8A-4147-A177-3AD203B41FA5}">
                      <a16:colId xmlns:a16="http://schemas.microsoft.com/office/drawing/2014/main" val="20005"/>
                    </a:ext>
                  </a:extLst>
                </a:gridCol>
              </a:tblGrid>
              <a:tr h="315232">
                <a:tc>
                  <a:txBody>
                    <a:bodyPr/>
                    <a:lstStyle/>
                    <a:p>
                      <a:r>
                        <a:rPr sz="1000" b="0">
                          <a:solidFill>
                            <a:srgbClr val="B0CBAC"/>
                          </a:solidFill>
                        </a:rPr>
                        <a:t>Link</a:t>
                      </a:r>
                    </a:p>
                  </a:txBody>
                  <a:tcPr>
                    <a:solidFill>
                      <a:srgbClr val="E9ECEC"/>
                    </a:solidFill>
                  </a:tcPr>
                </a:tc>
                <a:tc>
                  <a:txBody>
                    <a:bodyPr/>
                    <a:lstStyle/>
                    <a:p>
                      <a:r>
                        <a:rPr sz="1000" b="0">
                          <a:solidFill>
                            <a:srgbClr val="B0CBAC"/>
                          </a:solidFill>
                        </a:rPr>
                        <a:t>Access Track</a:t>
                      </a:r>
                    </a:p>
                  </a:txBody>
                  <a:tcPr>
                    <a:solidFill>
                      <a:srgbClr val="E9ECEC"/>
                    </a:solidFill>
                  </a:tcPr>
                </a:tc>
                <a:tc>
                  <a:txBody>
                    <a:bodyPr/>
                    <a:lstStyle/>
                    <a:p>
                      <a:r>
                        <a:rPr sz="1000" b="0">
                          <a:solidFill>
                            <a:srgbClr val="B0CBAC"/>
                          </a:solidFill>
                        </a:rPr>
                        <a:t>Sequence</a:t>
                      </a:r>
                    </a:p>
                  </a:txBody>
                  <a:tcPr>
                    <a:solidFill>
                      <a:srgbClr val="E9ECEC"/>
                    </a:solidFill>
                  </a:tcPr>
                </a:tc>
                <a:tc>
                  <a:txBody>
                    <a:bodyPr/>
                    <a:lstStyle/>
                    <a:p>
                      <a:r>
                        <a:rPr sz="1000" b="0">
                          <a:solidFill>
                            <a:srgbClr val="B0CBAC"/>
                          </a:solidFill>
                        </a:rPr>
                        <a:t>Agenda Output</a:t>
                      </a:r>
                    </a:p>
                  </a:txBody>
                  <a:tcPr>
                    <a:solidFill>
                      <a:srgbClr val="E9ECEC"/>
                    </a:solidFill>
                  </a:tcPr>
                </a:tc>
                <a:tc>
                  <a:txBody>
                    <a:bodyPr/>
                    <a:lstStyle/>
                    <a:p>
                      <a:r>
                        <a:rPr sz="1000" b="0">
                          <a:solidFill>
                            <a:srgbClr val="B0CBAC"/>
                          </a:solidFill>
                        </a:rPr>
                        <a:t>Aspect Milestone</a:t>
                      </a:r>
                    </a:p>
                  </a:txBody>
                  <a:tcPr>
                    <a:solidFill>
                      <a:srgbClr val="E9ECEC"/>
                    </a:solidFill>
                  </a:tcPr>
                </a:tc>
                <a:tc>
                  <a:txBody>
                    <a:bodyPr/>
                    <a:lstStyle/>
                    <a:p>
                      <a:r>
                        <a:rPr sz="1000" b="0">
                          <a:solidFill>
                            <a:srgbClr val="B0CBAC"/>
                          </a:solidFill>
                        </a:rPr>
                        <a:t>Heading Impact</a:t>
                      </a:r>
                    </a:p>
                  </a:txBody>
                  <a:tcPr>
                    <a:solidFill>
                      <a:srgbClr val="E9ECEC"/>
                    </a:solidFill>
                  </a:tcPr>
                </a:tc>
                <a:extLst>
                  <a:ext uri="{0D108BD9-81ED-4DB2-BD59-A6C34878D82A}">
                    <a16:rowId xmlns:a16="http://schemas.microsoft.com/office/drawing/2014/main" val="10000"/>
                  </a:ext>
                </a:extLst>
              </a:tr>
              <a:tr h="315232">
                <a:tc>
                  <a:txBody>
                    <a:bodyPr/>
                    <a:lstStyle/>
                    <a:p>
                      <a:r>
                        <a:rPr sz="1000" b="0">
                          <a:solidFill>
                            <a:srgbClr val="B0CBAC"/>
                          </a:solidFill>
                        </a:rPr>
                        <a:t>Switch Pixel</a:t>
                      </a:r>
                    </a:p>
                  </a:txBody>
                  <a:tcPr>
                    <a:solidFill>
                      <a:srgbClr val="E9ECEC"/>
                    </a:solidFill>
                  </a:tcPr>
                </a:tc>
                <a:tc>
                  <a:txBody>
                    <a:bodyPr/>
                    <a:lstStyle/>
                    <a:p>
                      <a:r>
                        <a:rPr sz="1000" b="0">
                          <a:solidFill>
                            <a:srgbClr val="B0CBAC"/>
                          </a:solidFill>
                        </a:rPr>
                        <a:t>Interface</a:t>
                      </a:r>
                    </a:p>
                  </a:txBody>
                  <a:tcPr>
                    <a:solidFill>
                      <a:srgbClr val="E9ECEC"/>
                    </a:solidFill>
                  </a:tcPr>
                </a:tc>
                <a:tc>
                  <a:txBody>
                    <a:bodyPr/>
                    <a:lstStyle/>
                    <a:p>
                      <a:r>
                        <a:rPr sz="1000" b="0">
                          <a:solidFill>
                            <a:srgbClr val="B0CBAC"/>
                          </a:solidFill>
                        </a:rPr>
                        <a:t>Heading</a:t>
                      </a:r>
                    </a:p>
                  </a:txBody>
                  <a:tcPr>
                    <a:solidFill>
                      <a:srgbClr val="E9ECEC"/>
                    </a:solidFill>
                  </a:tcPr>
                </a:tc>
                <a:tc>
                  <a:txBody>
                    <a:bodyPr/>
                    <a:lstStyle/>
                    <a:p>
                      <a:r>
                        <a:rPr sz="1000" b="0">
                          <a:solidFill>
                            <a:srgbClr val="B0CBAC"/>
                          </a:solidFill>
                        </a:rPr>
                        <a:t>Frequency Chart</a:t>
                      </a:r>
                    </a:p>
                  </a:txBody>
                  <a:tcPr>
                    <a:solidFill>
                      <a:srgbClr val="E9ECEC"/>
                    </a:solidFill>
                  </a:tcPr>
                </a:tc>
                <a:tc>
                  <a:txBody>
                    <a:bodyPr/>
                    <a:lstStyle/>
                    <a:p>
                      <a:r>
                        <a:rPr sz="1000" b="0">
                          <a:solidFill>
                            <a:srgbClr val="B0CBAC"/>
                          </a:solidFill>
                        </a:rPr>
                        <a:t>Engine Position</a:t>
                      </a:r>
                    </a:p>
                  </a:txBody>
                  <a:tcPr>
                    <a:solidFill>
                      <a:srgbClr val="E9ECEC"/>
                    </a:solidFill>
                  </a:tcPr>
                </a:tc>
                <a:tc>
                  <a:txBody>
                    <a:bodyPr/>
                    <a:lstStyle/>
                    <a:p>
                      <a:r>
                        <a:rPr sz="1000" b="0">
                          <a:solidFill>
                            <a:srgbClr val="B0CBAC"/>
                          </a:solidFill>
                        </a:rPr>
                        <a:t>Plan Option</a:t>
                      </a:r>
                    </a:p>
                  </a:txBody>
                  <a:tcPr>
                    <a:solidFill>
                      <a:srgbClr val="E9ECEC"/>
                    </a:solidFill>
                  </a:tcPr>
                </a:tc>
                <a:extLst>
                  <a:ext uri="{0D108BD9-81ED-4DB2-BD59-A6C34878D82A}">
                    <a16:rowId xmlns:a16="http://schemas.microsoft.com/office/drawing/2014/main" val="10001"/>
                  </a:ext>
                </a:extLst>
              </a:tr>
              <a:tr h="315232">
                <a:tc>
                  <a:txBody>
                    <a:bodyPr/>
                    <a:lstStyle/>
                    <a:p>
                      <a:r>
                        <a:rPr sz="1000" b="0">
                          <a:solidFill>
                            <a:srgbClr val="B0CBAC"/>
                          </a:solidFill>
                        </a:rPr>
                        <a:t>Process Event</a:t>
                      </a:r>
                    </a:p>
                  </a:txBody>
                  <a:tcPr>
                    <a:solidFill>
                      <a:srgbClr val="E9ECEC"/>
                    </a:solidFill>
                  </a:tcPr>
                </a:tc>
                <a:tc>
                  <a:txBody>
                    <a:bodyPr/>
                    <a:lstStyle/>
                    <a:p>
                      <a:r>
                        <a:rPr sz="1000" b="0">
                          <a:solidFill>
                            <a:srgbClr val="B0CBAC"/>
                          </a:solidFill>
                        </a:rPr>
                        <a:t>Process</a:t>
                      </a:r>
                    </a:p>
                  </a:txBody>
                  <a:tcPr>
                    <a:solidFill>
                      <a:srgbClr val="E9ECEC"/>
                    </a:solidFill>
                  </a:tcPr>
                </a:tc>
                <a:tc>
                  <a:txBody>
                    <a:bodyPr/>
                    <a:lstStyle/>
                    <a:p>
                      <a:r>
                        <a:rPr sz="1000" b="0">
                          <a:solidFill>
                            <a:srgbClr val="B0CBAC"/>
                          </a:solidFill>
                        </a:rPr>
                        <a:t>Goal Process</a:t>
                      </a:r>
                    </a:p>
                  </a:txBody>
                  <a:tcPr>
                    <a:solidFill>
                      <a:srgbClr val="E9ECEC"/>
                    </a:solidFill>
                  </a:tcPr>
                </a:tc>
                <a:tc>
                  <a:txBody>
                    <a:bodyPr/>
                    <a:lstStyle/>
                    <a:p>
                      <a:r>
                        <a:rPr sz="1000" b="0">
                          <a:solidFill>
                            <a:srgbClr val="B0CBAC"/>
                          </a:solidFill>
                        </a:rPr>
                        <a:t>Column</a:t>
                      </a:r>
                    </a:p>
                  </a:txBody>
                  <a:tcPr>
                    <a:solidFill>
                      <a:srgbClr val="E9ECEC"/>
                    </a:solidFill>
                  </a:tcPr>
                </a:tc>
                <a:tc>
                  <a:txBody>
                    <a:bodyPr/>
                    <a:lstStyle/>
                    <a:p>
                      <a:r>
                        <a:rPr sz="1000" b="0">
                          <a:solidFill>
                            <a:srgbClr val="B0CBAC"/>
                          </a:solidFill>
                        </a:rPr>
                        <a:t>Report Transform</a:t>
                      </a:r>
                    </a:p>
                  </a:txBody>
                  <a:tcPr>
                    <a:solidFill>
                      <a:srgbClr val="E9ECEC"/>
                    </a:solidFill>
                  </a:tcPr>
                </a:tc>
                <a:tc>
                  <a:txBody>
                    <a:bodyPr/>
                    <a:lstStyle/>
                    <a:p>
                      <a:r>
                        <a:rPr sz="1000" b="0">
                          <a:solidFill>
                            <a:srgbClr val="B0CBAC"/>
                          </a:solidFill>
                        </a:rPr>
                        <a:t>Switch Queue</a:t>
                      </a:r>
                    </a:p>
                  </a:txBody>
                  <a:tcPr>
                    <a:solidFill>
                      <a:srgbClr val="E9ECEC"/>
                    </a:solidFill>
                  </a:tcPr>
                </a:tc>
                <a:extLst>
                  <a:ext uri="{0D108BD9-81ED-4DB2-BD59-A6C34878D82A}">
                    <a16:rowId xmlns:a16="http://schemas.microsoft.com/office/drawing/2014/main" val="10002"/>
                  </a:ext>
                </a:extLst>
              </a:tr>
              <a:tr h="315232">
                <a:tc>
                  <a:txBody>
                    <a:bodyPr/>
                    <a:lstStyle/>
                    <a:p>
                      <a:r>
                        <a:rPr sz="1000" b="0">
                          <a:solidFill>
                            <a:srgbClr val="B0CBAC"/>
                          </a:solidFill>
                        </a:rPr>
                        <a:t>Envelope</a:t>
                      </a:r>
                    </a:p>
                  </a:txBody>
                  <a:tcPr>
                    <a:solidFill>
                      <a:srgbClr val="E9ECEC"/>
                    </a:solidFill>
                  </a:tcPr>
                </a:tc>
                <a:tc>
                  <a:txBody>
                    <a:bodyPr/>
                    <a:lstStyle/>
                    <a:p>
                      <a:r>
                        <a:rPr sz="1000" b="0">
                          <a:solidFill>
                            <a:srgbClr val="B0CBAC"/>
                          </a:solidFill>
                        </a:rPr>
                        <a:t>Echo Iteration</a:t>
                      </a:r>
                    </a:p>
                  </a:txBody>
                  <a:tcPr>
                    <a:solidFill>
                      <a:srgbClr val="E9ECEC"/>
                    </a:solidFill>
                  </a:tcPr>
                </a:tc>
                <a:tc>
                  <a:txBody>
                    <a:bodyPr/>
                    <a:lstStyle/>
                    <a:p>
                      <a:r>
                        <a:rPr sz="1000" b="0">
                          <a:solidFill>
                            <a:srgbClr val="B0CBAC"/>
                          </a:solidFill>
                        </a:rPr>
                        <a:t>Entity Narrative</a:t>
                      </a:r>
                    </a:p>
                  </a:txBody>
                  <a:tcPr>
                    <a:solidFill>
                      <a:srgbClr val="E9ECEC"/>
                    </a:solidFill>
                  </a:tcPr>
                </a:tc>
                <a:tc>
                  <a:txBody>
                    <a:bodyPr/>
                    <a:lstStyle/>
                    <a:p>
                      <a:r>
                        <a:rPr sz="1000" b="0">
                          <a:solidFill>
                            <a:srgbClr val="B0CBAC"/>
                          </a:solidFill>
                        </a:rPr>
                        <a:t>Index</a:t>
                      </a:r>
                    </a:p>
                  </a:txBody>
                  <a:tcPr>
                    <a:solidFill>
                      <a:srgbClr val="E9ECEC"/>
                    </a:solidFill>
                  </a:tcPr>
                </a:tc>
                <a:tc>
                  <a:txBody>
                    <a:bodyPr/>
                    <a:lstStyle/>
                    <a:p>
                      <a:r>
                        <a:rPr sz="1000" b="0">
                          <a:solidFill>
                            <a:srgbClr val="B0CBAC"/>
                          </a:solidFill>
                        </a:rPr>
                        <a:t>Bridge</a:t>
                      </a:r>
                    </a:p>
                  </a:txBody>
                  <a:tcPr>
                    <a:solidFill>
                      <a:srgbClr val="E9ECEC"/>
                    </a:solidFill>
                  </a:tcPr>
                </a:tc>
                <a:tc>
                  <a:txBody>
                    <a:bodyPr/>
                    <a:lstStyle/>
                    <a:p>
                      <a:r>
                        <a:rPr sz="1000" b="0">
                          <a:solidFill>
                            <a:srgbClr val="B0CBAC"/>
                          </a:solidFill>
                        </a:rPr>
                        <a:t>Beacon Structure</a:t>
                      </a:r>
                    </a:p>
                  </a:txBody>
                  <a:tcPr>
                    <a:solidFill>
                      <a:srgbClr val="E9ECEC"/>
                    </a:solidFill>
                  </a:tcPr>
                </a:tc>
                <a:extLst>
                  <a:ext uri="{0D108BD9-81ED-4DB2-BD59-A6C34878D82A}">
                    <a16:rowId xmlns:a16="http://schemas.microsoft.com/office/drawing/2014/main" val="10003"/>
                  </a:ext>
                </a:extLst>
              </a:tr>
              <a:tr h="315232">
                <a:tc>
                  <a:txBody>
                    <a:bodyPr/>
                    <a:lstStyle/>
                    <a:p>
                      <a:r>
                        <a:rPr sz="1000" b="0">
                          <a:solidFill>
                            <a:srgbClr val="B0CBAC"/>
                          </a:solidFill>
                        </a:rPr>
                        <a:t>Texture Stack</a:t>
                      </a:r>
                    </a:p>
                  </a:txBody>
                  <a:tcPr>
                    <a:solidFill>
                      <a:srgbClr val="E9ECEC"/>
                    </a:solidFill>
                  </a:tcPr>
                </a:tc>
                <a:tc>
                  <a:txBody>
                    <a:bodyPr/>
                    <a:lstStyle/>
                    <a:p>
                      <a:r>
                        <a:rPr sz="1000" b="0">
                          <a:solidFill>
                            <a:srgbClr val="B0CBAC"/>
                          </a:solidFill>
                        </a:rPr>
                        <a:t>Envelope</a:t>
                      </a:r>
                    </a:p>
                  </a:txBody>
                  <a:tcPr>
                    <a:solidFill>
                      <a:srgbClr val="E9ECEC"/>
                    </a:solidFill>
                  </a:tcPr>
                </a:tc>
                <a:tc>
                  <a:txBody>
                    <a:bodyPr/>
                    <a:lstStyle/>
                    <a:p>
                      <a:r>
                        <a:rPr sz="1000" b="0">
                          <a:solidFill>
                            <a:srgbClr val="B0CBAC"/>
                          </a:solidFill>
                        </a:rPr>
                        <a:t>Phase Motion</a:t>
                      </a:r>
                    </a:p>
                  </a:txBody>
                  <a:tcPr>
                    <a:solidFill>
                      <a:srgbClr val="E9ECEC"/>
                    </a:solidFill>
                  </a:tcPr>
                </a:tc>
                <a:tc>
                  <a:txBody>
                    <a:bodyPr/>
                    <a:lstStyle/>
                    <a:p>
                      <a:r>
                        <a:rPr sz="1000" b="0">
                          <a:solidFill>
                            <a:srgbClr val="B0CBAC"/>
                          </a:solidFill>
                        </a:rPr>
                        <a:t>Table Waypoint</a:t>
                      </a:r>
                    </a:p>
                  </a:txBody>
                  <a:tcPr>
                    <a:solidFill>
                      <a:srgbClr val="E9ECEC"/>
                    </a:solidFill>
                  </a:tcPr>
                </a:tc>
                <a:tc>
                  <a:txBody>
                    <a:bodyPr/>
                    <a:lstStyle/>
                    <a:p>
                      <a:r>
                        <a:rPr sz="1000" b="0">
                          <a:solidFill>
                            <a:srgbClr val="B0CBAC"/>
                          </a:solidFill>
                        </a:rPr>
                        <a:t>Epoch</a:t>
                      </a:r>
                    </a:p>
                  </a:txBody>
                  <a:tcPr>
                    <a:solidFill>
                      <a:srgbClr val="E9ECEC"/>
                    </a:solidFill>
                  </a:tcPr>
                </a:tc>
                <a:tc>
                  <a:txBody>
                    <a:bodyPr/>
                    <a:lstStyle/>
                    <a:p>
                      <a:r>
                        <a:rPr sz="1000" b="0">
                          <a:solidFill>
                            <a:srgbClr val="B0CBAC"/>
                          </a:solidFill>
                        </a:rPr>
                        <a:t>Goal</a:t>
                      </a:r>
                    </a:p>
                  </a:txBody>
                  <a:tcPr>
                    <a:solidFill>
                      <a:srgbClr val="E9ECEC"/>
                    </a:solidFill>
                  </a:tcPr>
                </a:tc>
                <a:extLst>
                  <a:ext uri="{0D108BD9-81ED-4DB2-BD59-A6C34878D82A}">
                    <a16:rowId xmlns:a16="http://schemas.microsoft.com/office/drawing/2014/main" val="10004"/>
                  </a:ext>
                </a:extLst>
              </a:tr>
              <a:tr h="315236">
                <a:tc>
                  <a:txBody>
                    <a:bodyPr/>
                    <a:lstStyle/>
                    <a:p>
                      <a:r>
                        <a:rPr sz="1000" b="0">
                          <a:solidFill>
                            <a:srgbClr val="B0CBAC"/>
                          </a:solidFill>
                        </a:rPr>
                        <a:t>Queue Loop</a:t>
                      </a:r>
                    </a:p>
                  </a:txBody>
                  <a:tcPr>
                    <a:solidFill>
                      <a:srgbClr val="E9ECEC"/>
                    </a:solidFill>
                  </a:tcPr>
                </a:tc>
                <a:tc>
                  <a:txBody>
                    <a:bodyPr/>
                    <a:lstStyle/>
                    <a:p>
                      <a:r>
                        <a:rPr sz="1000" b="0">
                          <a:solidFill>
                            <a:srgbClr val="B0CBAC"/>
                          </a:solidFill>
                        </a:rPr>
                        <a:t>Trend</a:t>
                      </a:r>
                    </a:p>
                  </a:txBody>
                  <a:tcPr>
                    <a:solidFill>
                      <a:srgbClr val="E9ECEC"/>
                    </a:solidFill>
                  </a:tcPr>
                </a:tc>
                <a:tc>
                  <a:txBody>
                    <a:bodyPr/>
                    <a:lstStyle/>
                    <a:p>
                      <a:r>
                        <a:rPr sz="1000" b="0">
                          <a:solidFill>
                            <a:srgbClr val="B0CBAC"/>
                          </a:solidFill>
                        </a:rPr>
                        <a:t>Topology Aspect</a:t>
                      </a:r>
                    </a:p>
                  </a:txBody>
                  <a:tcPr>
                    <a:solidFill>
                      <a:srgbClr val="E9ECEC"/>
                    </a:solidFill>
                  </a:tcPr>
                </a:tc>
                <a:tc>
                  <a:txBody>
                    <a:bodyPr/>
                    <a:lstStyle/>
                    <a:p>
                      <a:r>
                        <a:rPr sz="1000" b="0">
                          <a:solidFill>
                            <a:srgbClr val="B0CBAC"/>
                          </a:solidFill>
                        </a:rPr>
                        <a:t>Audit Factor</a:t>
                      </a:r>
                    </a:p>
                  </a:txBody>
                  <a:tcPr>
                    <a:solidFill>
                      <a:srgbClr val="E9ECEC"/>
                    </a:solidFill>
                  </a:tcPr>
                </a:tc>
                <a:tc>
                  <a:txBody>
                    <a:bodyPr/>
                    <a:lstStyle/>
                    <a:p>
                      <a:r>
                        <a:rPr sz="1000" b="0">
                          <a:solidFill>
                            <a:srgbClr val="B0CBAC"/>
                          </a:solidFill>
                        </a:rPr>
                        <a:t>Zone</a:t>
                      </a:r>
                    </a:p>
                  </a:txBody>
                  <a:tcPr>
                    <a:solidFill>
                      <a:srgbClr val="E9ECEC"/>
                    </a:solidFill>
                  </a:tcPr>
                </a:tc>
                <a:tc>
                  <a:txBody>
                    <a:bodyPr/>
                    <a:lstStyle/>
                    <a:p>
                      <a:r>
                        <a:rPr sz="1000" b="0">
                          <a:solidFill>
                            <a:srgbClr val="B0CBAC"/>
                          </a:solidFill>
                        </a:rPr>
                        <a:t>Signal</a:t>
                      </a:r>
                    </a:p>
                  </a:txBody>
                  <a:tcPr>
                    <a:solidFill>
                      <a:srgbClr val="E9ECEC"/>
                    </a:solidFill>
                  </a:tcPr>
                </a:tc>
                <a:extLst>
                  <a:ext uri="{0D108BD9-81ED-4DB2-BD59-A6C34878D82A}">
                    <a16:rowId xmlns:a16="http://schemas.microsoft.com/office/drawing/2014/main" val="10005"/>
                  </a:ext>
                </a:extLst>
              </a:tr>
            </a:tbl>
          </a:graphicData>
        </a:graphic>
      </p:graphicFrame>
      <p:graphicFrame>
        <p:nvGraphicFramePr>
          <p:cNvPr id="11" name="Chart 10"/>
          <p:cNvGraphicFramePr>
            <a:graphicFrameLocks noGrp="1"/>
          </p:cNvGraphicFramePr>
          <p:nvPr/>
        </p:nvGraphicFramePr>
        <p:xfrm>
          <a:off x="877237" y="4410666"/>
          <a:ext cx="2239983" cy="1476725"/>
        </p:xfrm>
        <a:graphic>
          <a:graphicData uri="http://schemas.openxmlformats.org/drawingml/2006/chart">
            <c:chart xmlns:c="http://schemas.openxmlformats.org/drawingml/2006/chart" xmlns:r="http://schemas.openxmlformats.org/officeDocument/2006/relationships" r:id="rId3"/>
          </a:graphicData>
        </a:graphic>
      </p:graphicFrame>
      <p:sp>
        <p:nvSpPr>
          <p:cNvPr id="12" name="Diamond 11"/>
          <p:cNvSpPr/>
          <p:nvPr/>
        </p:nvSpPr>
        <p:spPr>
          <a:xfrm>
            <a:off x="10592695" y="4193330"/>
            <a:ext cx="571349" cy="517149"/>
          </a:xfrm>
          <a:prstGeom prst="diamond">
            <a:avLst/>
          </a:prstGeom>
          <a:solidFill>
            <a:srgbClr val="93C922"/>
          </a:solidFill>
          <a:ln w="10798">
            <a:solidFill>
              <a:srgbClr val="DF808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Chart 12"/>
          <p:cNvGraphicFramePr>
            <a:graphicFrameLocks noGrp="1"/>
          </p:cNvGraphicFramePr>
          <p:nvPr/>
        </p:nvGraphicFramePr>
        <p:xfrm>
          <a:off x="7587957" y="844590"/>
          <a:ext cx="3367529" cy="151719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Table 13"/>
          <p:cNvGraphicFramePr>
            <a:graphicFrameLocks noGrp="1"/>
          </p:cNvGraphicFramePr>
          <p:nvPr/>
        </p:nvGraphicFramePr>
        <p:xfrm>
          <a:off x="5643923" y="231215"/>
          <a:ext cx="2198816" cy="2031152"/>
        </p:xfrm>
        <a:graphic>
          <a:graphicData uri="http://schemas.openxmlformats.org/drawingml/2006/table">
            <a:tbl>
              <a:tblPr firstRow="1" bandRow="1">
                <a:tableStyleId>{5C22544A-7EE6-4342-B048-85BDC9FD1C3A}</a:tableStyleId>
              </a:tblPr>
              <a:tblGrid>
                <a:gridCol w="366469">
                  <a:extLst>
                    <a:ext uri="{9D8B030D-6E8A-4147-A177-3AD203B41FA5}">
                      <a16:colId xmlns:a16="http://schemas.microsoft.com/office/drawing/2014/main" val="20000"/>
                    </a:ext>
                  </a:extLst>
                </a:gridCol>
                <a:gridCol w="366469">
                  <a:extLst>
                    <a:ext uri="{9D8B030D-6E8A-4147-A177-3AD203B41FA5}">
                      <a16:colId xmlns:a16="http://schemas.microsoft.com/office/drawing/2014/main" val="20001"/>
                    </a:ext>
                  </a:extLst>
                </a:gridCol>
                <a:gridCol w="366469">
                  <a:extLst>
                    <a:ext uri="{9D8B030D-6E8A-4147-A177-3AD203B41FA5}">
                      <a16:colId xmlns:a16="http://schemas.microsoft.com/office/drawing/2014/main" val="20002"/>
                    </a:ext>
                  </a:extLst>
                </a:gridCol>
                <a:gridCol w="366469">
                  <a:extLst>
                    <a:ext uri="{9D8B030D-6E8A-4147-A177-3AD203B41FA5}">
                      <a16:colId xmlns:a16="http://schemas.microsoft.com/office/drawing/2014/main" val="20003"/>
                    </a:ext>
                  </a:extLst>
                </a:gridCol>
                <a:gridCol w="366469">
                  <a:extLst>
                    <a:ext uri="{9D8B030D-6E8A-4147-A177-3AD203B41FA5}">
                      <a16:colId xmlns:a16="http://schemas.microsoft.com/office/drawing/2014/main" val="20004"/>
                    </a:ext>
                  </a:extLst>
                </a:gridCol>
                <a:gridCol w="366471">
                  <a:extLst>
                    <a:ext uri="{9D8B030D-6E8A-4147-A177-3AD203B41FA5}">
                      <a16:colId xmlns:a16="http://schemas.microsoft.com/office/drawing/2014/main" val="20005"/>
                    </a:ext>
                  </a:extLst>
                </a:gridCol>
              </a:tblGrid>
              <a:tr h="507788">
                <a:tc>
                  <a:txBody>
                    <a:bodyPr/>
                    <a:lstStyle/>
                    <a:p>
                      <a:r>
                        <a:rPr sz="1100" b="1">
                          <a:solidFill>
                            <a:srgbClr val="9CA95E"/>
                          </a:solidFill>
                        </a:rPr>
                        <a:t>Pulse Input</a:t>
                      </a:r>
                    </a:p>
                  </a:txBody>
                  <a:tcPr>
                    <a:solidFill>
                      <a:srgbClr val="9D4ED2"/>
                    </a:solidFill>
                  </a:tcPr>
                </a:tc>
                <a:tc>
                  <a:txBody>
                    <a:bodyPr/>
                    <a:lstStyle/>
                    <a:p>
                      <a:r>
                        <a:rPr sz="1100" b="1">
                          <a:solidFill>
                            <a:srgbClr val="9CA95E"/>
                          </a:solidFill>
                        </a:rPr>
                        <a:t>Ledger Needle</a:t>
                      </a:r>
                    </a:p>
                  </a:txBody>
                  <a:tcPr>
                    <a:solidFill>
                      <a:srgbClr val="9D4ED2"/>
                    </a:solidFill>
                  </a:tcPr>
                </a:tc>
                <a:tc>
                  <a:txBody>
                    <a:bodyPr/>
                    <a:lstStyle/>
                    <a:p>
                      <a:r>
                        <a:rPr sz="1100" b="1">
                          <a:solidFill>
                            <a:srgbClr val="9CA95E"/>
                          </a:solidFill>
                        </a:rPr>
                        <a:t>Waypoint Engine</a:t>
                      </a:r>
                    </a:p>
                  </a:txBody>
                  <a:tcPr>
                    <a:solidFill>
                      <a:srgbClr val="9D4ED2"/>
                    </a:solidFill>
                  </a:tcPr>
                </a:tc>
                <a:tc>
                  <a:txBody>
                    <a:bodyPr/>
                    <a:lstStyle/>
                    <a:p>
                      <a:r>
                        <a:rPr sz="1100" b="1">
                          <a:solidFill>
                            <a:srgbClr val="9CA95E"/>
                          </a:solidFill>
                        </a:rPr>
                        <a:t>Reserve</a:t>
                      </a:r>
                    </a:p>
                  </a:txBody>
                  <a:tcPr>
                    <a:solidFill>
                      <a:srgbClr val="9D4ED2"/>
                    </a:solidFill>
                  </a:tcPr>
                </a:tc>
                <a:tc>
                  <a:txBody>
                    <a:bodyPr/>
                    <a:lstStyle/>
                    <a:p>
                      <a:r>
                        <a:rPr sz="1100" b="1">
                          <a:solidFill>
                            <a:srgbClr val="9CA95E"/>
                          </a:solidFill>
                        </a:rPr>
                        <a:t>Queueing Station</a:t>
                      </a:r>
                    </a:p>
                  </a:txBody>
                  <a:tcPr>
                    <a:solidFill>
                      <a:srgbClr val="9D4ED2"/>
                    </a:solidFill>
                  </a:tcPr>
                </a:tc>
                <a:tc>
                  <a:txBody>
                    <a:bodyPr/>
                    <a:lstStyle/>
                    <a:p>
                      <a:r>
                        <a:rPr sz="1100" b="1">
                          <a:solidFill>
                            <a:srgbClr val="9CA95E"/>
                          </a:solidFill>
                        </a:rPr>
                        <a:t>Alignment Logic</a:t>
                      </a:r>
                    </a:p>
                  </a:txBody>
                  <a:tcPr>
                    <a:solidFill>
                      <a:srgbClr val="9D4ED2"/>
                    </a:solidFill>
                  </a:tcPr>
                </a:tc>
                <a:extLst>
                  <a:ext uri="{0D108BD9-81ED-4DB2-BD59-A6C34878D82A}">
                    <a16:rowId xmlns:a16="http://schemas.microsoft.com/office/drawing/2014/main" val="10000"/>
                  </a:ext>
                </a:extLst>
              </a:tr>
              <a:tr h="507788">
                <a:tc>
                  <a:txBody>
                    <a:bodyPr/>
                    <a:lstStyle/>
                    <a:p>
                      <a:r>
                        <a:rPr sz="1100" b="0">
                          <a:solidFill>
                            <a:srgbClr val="9CA95E"/>
                          </a:solidFill>
                        </a:rPr>
                        <a:t>Topology</a:t>
                      </a:r>
                    </a:p>
                  </a:txBody>
                  <a:tcPr>
                    <a:solidFill>
                      <a:srgbClr val="F4F9EC"/>
                    </a:solidFill>
                  </a:tcPr>
                </a:tc>
                <a:tc>
                  <a:txBody>
                    <a:bodyPr/>
                    <a:lstStyle/>
                    <a:p>
                      <a:r>
                        <a:rPr sz="1100" b="0">
                          <a:solidFill>
                            <a:srgbClr val="9CA95E"/>
                          </a:solidFill>
                        </a:rPr>
                        <a:t>Collection</a:t>
                      </a:r>
                    </a:p>
                  </a:txBody>
                  <a:tcPr>
                    <a:solidFill>
                      <a:srgbClr val="EBF4DB"/>
                    </a:solidFill>
                  </a:tcPr>
                </a:tc>
                <a:tc>
                  <a:txBody>
                    <a:bodyPr/>
                    <a:lstStyle/>
                    <a:p>
                      <a:r>
                        <a:rPr sz="1100" b="0">
                          <a:solidFill>
                            <a:srgbClr val="9CA95E"/>
                          </a:solidFill>
                        </a:rPr>
                        <a:t>Portal Entity</a:t>
                      </a:r>
                    </a:p>
                  </a:txBody>
                  <a:tcPr>
                    <a:solidFill>
                      <a:srgbClr val="F4F9EC"/>
                    </a:solidFill>
                  </a:tcPr>
                </a:tc>
                <a:tc>
                  <a:txBody>
                    <a:bodyPr/>
                    <a:lstStyle/>
                    <a:p>
                      <a:r>
                        <a:rPr sz="1100" b="0">
                          <a:solidFill>
                            <a:srgbClr val="9CA95E"/>
                          </a:solidFill>
                        </a:rPr>
                        <a:t>Structure</a:t>
                      </a:r>
                    </a:p>
                  </a:txBody>
                  <a:tcPr>
                    <a:solidFill>
                      <a:srgbClr val="EBF4DB"/>
                    </a:solidFill>
                  </a:tcPr>
                </a:tc>
                <a:tc>
                  <a:txBody>
                    <a:bodyPr/>
                    <a:lstStyle/>
                    <a:p>
                      <a:r>
                        <a:rPr sz="1100" b="0">
                          <a:solidFill>
                            <a:srgbClr val="9CA95E"/>
                          </a:solidFill>
                        </a:rPr>
                        <a:t>Sync</a:t>
                      </a:r>
                    </a:p>
                  </a:txBody>
                  <a:tcPr>
                    <a:solidFill>
                      <a:srgbClr val="F4F9EC"/>
                    </a:solidFill>
                  </a:tcPr>
                </a:tc>
                <a:tc>
                  <a:txBody>
                    <a:bodyPr/>
                    <a:lstStyle/>
                    <a:p>
                      <a:r>
                        <a:rPr sz="1100" b="0">
                          <a:solidFill>
                            <a:srgbClr val="9CA95E"/>
                          </a:solidFill>
                        </a:rPr>
                        <a:t>Agenda Estimate</a:t>
                      </a:r>
                    </a:p>
                  </a:txBody>
                  <a:tcPr>
                    <a:solidFill>
                      <a:srgbClr val="EBF4DB"/>
                    </a:solidFill>
                  </a:tcPr>
                </a:tc>
                <a:extLst>
                  <a:ext uri="{0D108BD9-81ED-4DB2-BD59-A6C34878D82A}">
                    <a16:rowId xmlns:a16="http://schemas.microsoft.com/office/drawing/2014/main" val="10001"/>
                  </a:ext>
                </a:extLst>
              </a:tr>
              <a:tr h="507788">
                <a:tc>
                  <a:txBody>
                    <a:bodyPr/>
                    <a:lstStyle/>
                    <a:p>
                      <a:r>
                        <a:rPr sz="1100" b="0">
                          <a:solidFill>
                            <a:srgbClr val="9CA95E"/>
                          </a:solidFill>
                        </a:rPr>
                        <a:t>Frame Frequency</a:t>
                      </a:r>
                    </a:p>
                  </a:txBody>
                  <a:tcPr>
                    <a:solidFill>
                      <a:srgbClr val="F4F9EC"/>
                    </a:solidFill>
                  </a:tcPr>
                </a:tc>
                <a:tc>
                  <a:txBody>
                    <a:bodyPr/>
                    <a:lstStyle/>
                    <a:p>
                      <a:r>
                        <a:rPr sz="1100" b="0">
                          <a:solidFill>
                            <a:srgbClr val="9CA95E"/>
                          </a:solidFill>
                        </a:rPr>
                        <a:t>Context Delta</a:t>
                      </a:r>
                    </a:p>
                  </a:txBody>
                  <a:tcPr>
                    <a:solidFill>
                      <a:srgbClr val="EBF4DB"/>
                    </a:solidFill>
                  </a:tcPr>
                </a:tc>
                <a:tc>
                  <a:txBody>
                    <a:bodyPr/>
                    <a:lstStyle/>
                    <a:p>
                      <a:r>
                        <a:rPr sz="1100" b="0">
                          <a:solidFill>
                            <a:srgbClr val="9CA95E"/>
                          </a:solidFill>
                        </a:rPr>
                        <a:t>Resource Detail</a:t>
                      </a:r>
                    </a:p>
                  </a:txBody>
                  <a:tcPr>
                    <a:solidFill>
                      <a:srgbClr val="F4F9EC"/>
                    </a:solidFill>
                  </a:tcPr>
                </a:tc>
                <a:tc>
                  <a:txBody>
                    <a:bodyPr/>
                    <a:lstStyle/>
                    <a:p>
                      <a:r>
                        <a:rPr sz="1100" b="0">
                          <a:solidFill>
                            <a:srgbClr val="9CA95E"/>
                          </a:solidFill>
                        </a:rPr>
                        <a:t>Milestone Review</a:t>
                      </a:r>
                    </a:p>
                  </a:txBody>
                  <a:tcPr>
                    <a:solidFill>
                      <a:srgbClr val="EBF4DB"/>
                    </a:solidFill>
                  </a:tcPr>
                </a:tc>
                <a:tc>
                  <a:txBody>
                    <a:bodyPr/>
                    <a:lstStyle/>
                    <a:p>
                      <a:r>
                        <a:rPr sz="1100" b="0">
                          <a:solidFill>
                            <a:srgbClr val="9CA95E"/>
                          </a:solidFill>
                        </a:rPr>
                        <a:t>Interface Asset</a:t>
                      </a:r>
                    </a:p>
                  </a:txBody>
                  <a:tcPr>
                    <a:solidFill>
                      <a:srgbClr val="F4F9EC"/>
                    </a:solidFill>
                  </a:tcPr>
                </a:tc>
                <a:tc>
                  <a:txBody>
                    <a:bodyPr/>
                    <a:lstStyle/>
                    <a:p>
                      <a:r>
                        <a:rPr sz="1100" b="0">
                          <a:solidFill>
                            <a:srgbClr val="9CA95E"/>
                          </a:solidFill>
                        </a:rPr>
                        <a:t>Command</a:t>
                      </a:r>
                    </a:p>
                  </a:txBody>
                  <a:tcPr>
                    <a:solidFill>
                      <a:srgbClr val="EBF4DB"/>
                    </a:solidFill>
                  </a:tcPr>
                </a:tc>
                <a:extLst>
                  <a:ext uri="{0D108BD9-81ED-4DB2-BD59-A6C34878D82A}">
                    <a16:rowId xmlns:a16="http://schemas.microsoft.com/office/drawing/2014/main" val="10002"/>
                  </a:ext>
                </a:extLst>
              </a:tr>
              <a:tr h="507788">
                <a:tc>
                  <a:txBody>
                    <a:bodyPr/>
                    <a:lstStyle/>
                    <a:p>
                      <a:r>
                        <a:rPr sz="1100" b="0">
                          <a:solidFill>
                            <a:srgbClr val="9CA95E"/>
                          </a:solidFill>
                        </a:rPr>
                        <a:t>Briefing Asset</a:t>
                      </a:r>
                    </a:p>
                  </a:txBody>
                  <a:tcPr>
                    <a:solidFill>
                      <a:srgbClr val="F4F9EC"/>
                    </a:solidFill>
                  </a:tcPr>
                </a:tc>
                <a:tc>
                  <a:txBody>
                    <a:bodyPr/>
                    <a:lstStyle/>
                    <a:p>
                      <a:r>
                        <a:rPr sz="1100" b="0">
                          <a:solidFill>
                            <a:srgbClr val="9CA95E"/>
                          </a:solidFill>
                        </a:rPr>
                        <a:t>Diagram</a:t>
                      </a:r>
                    </a:p>
                  </a:txBody>
                  <a:tcPr>
                    <a:solidFill>
                      <a:srgbClr val="EBF4DB"/>
                    </a:solidFill>
                  </a:tcPr>
                </a:tc>
                <a:tc>
                  <a:txBody>
                    <a:bodyPr/>
                    <a:lstStyle/>
                    <a:p>
                      <a:r>
                        <a:rPr sz="1100" b="0">
                          <a:solidFill>
                            <a:srgbClr val="9CA95E"/>
                          </a:solidFill>
                        </a:rPr>
                        <a:t>Edge</a:t>
                      </a:r>
                    </a:p>
                  </a:txBody>
                  <a:tcPr>
                    <a:solidFill>
                      <a:srgbClr val="F4F9EC"/>
                    </a:solidFill>
                  </a:tcPr>
                </a:tc>
                <a:tc>
                  <a:txBody>
                    <a:bodyPr/>
                    <a:lstStyle/>
                    <a:p>
                      <a:r>
                        <a:rPr sz="1100" b="0">
                          <a:solidFill>
                            <a:srgbClr val="9CA95E"/>
                          </a:solidFill>
                        </a:rPr>
                        <a:t>Expansion Gradient</a:t>
                      </a:r>
                    </a:p>
                  </a:txBody>
                  <a:tcPr>
                    <a:solidFill>
                      <a:srgbClr val="EBF4DB"/>
                    </a:solidFill>
                  </a:tcPr>
                </a:tc>
                <a:tc>
                  <a:txBody>
                    <a:bodyPr/>
                    <a:lstStyle/>
                    <a:p>
                      <a:r>
                        <a:rPr sz="1100" b="0">
                          <a:solidFill>
                            <a:srgbClr val="9CA95E"/>
                          </a:solidFill>
                        </a:rPr>
                        <a:t>Matrix Depth</a:t>
                      </a:r>
                    </a:p>
                  </a:txBody>
                  <a:tcPr>
                    <a:solidFill>
                      <a:srgbClr val="F4F9EC"/>
                    </a:solidFill>
                  </a:tcPr>
                </a:tc>
                <a:tc>
                  <a:txBody>
                    <a:bodyPr/>
                    <a:lstStyle/>
                    <a:p>
                      <a:r>
                        <a:rPr sz="1100" b="0">
                          <a:solidFill>
                            <a:srgbClr val="9CA95E"/>
                          </a:solidFill>
                        </a:rPr>
                        <a:t>Coverage Deployment</a:t>
                      </a:r>
                    </a:p>
                  </a:txBody>
                  <a:tcPr>
                    <a:solidFill>
                      <a:srgbClr val="EBF4DB"/>
                    </a:solidFill>
                  </a:tcPr>
                </a:tc>
                <a:extLst>
                  <a:ext uri="{0D108BD9-81ED-4DB2-BD59-A6C34878D82A}">
                    <a16:rowId xmlns:a16="http://schemas.microsoft.com/office/drawing/2014/main" val="10003"/>
                  </a:ext>
                </a:extLst>
              </a:tr>
            </a:tbl>
          </a:graphicData>
        </a:graphic>
      </p:graphicFrame>
      <p:cxnSp>
        <p:nvCxnSpPr>
          <p:cNvPr id="15" name="Connector 14"/>
          <p:cNvCxnSpPr/>
          <p:nvPr/>
        </p:nvCxnSpPr>
        <p:spPr>
          <a:xfrm flipV="1">
            <a:off x="7928960" y="5918917"/>
            <a:ext cx="2042115" cy="697770"/>
          </a:xfrm>
          <a:prstGeom prst="line">
            <a:avLst/>
          </a:prstGeom>
          <a:ln w="11722">
            <a:solidFill>
              <a:srgbClr val="475B80"/>
            </a:solidFill>
            <a:prstDash val="dot"/>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a:off x="9493159" y="1811969"/>
            <a:ext cx="407805" cy="754983"/>
          </a:xfrm>
          <a:prstGeom prst="triangle">
            <a:avLst/>
          </a:prstGeom>
          <a:solidFill>
            <a:srgbClr val="77CCC7"/>
          </a:solidFill>
          <a:ln w="17889">
            <a:solidFill>
              <a:srgbClr val="CB9569"/>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57482" y="2902910"/>
            <a:ext cx="1006403" cy="2193605"/>
          </a:xfrm>
          <a:prstGeom prst="rect">
            <a:avLst/>
          </a:prstGeom>
          <a:noFill/>
        </p:spPr>
        <p:txBody>
          <a:bodyPr wrap="none" lIns="41010" tIns="41010" rIns="41010" bIns="41010">
            <a:spAutoFit/>
          </a:bodyPr>
          <a:lstStyle/>
          <a:p>
            <a:r>
              <a:rPr sz="1100" b="1" i="0" u="none">
                <a:solidFill>
                  <a:srgbClr val="5B4C8C"/>
                </a:solidFill>
                <a:latin typeface="Trebuchet MS"/>
              </a:rPr>
              <a:t>Cycle Service Order Model Gateway Deck Connector Drift Context Index Path Sequence Queue Proof Waypoint Package Runtime Buffer Apex Structure Buffer Interface Surface Object</a:t>
            </a:r>
          </a:p>
        </p:txBody>
      </p:sp>
      <p:sp>
        <p:nvSpPr>
          <p:cNvPr id="18" name="Freeform 17"/>
          <p:cNvSpPr/>
          <p:nvPr/>
        </p:nvSpPr>
        <p:spPr>
          <a:xfrm>
            <a:off x="3977915" y="5763437"/>
            <a:ext cx="1193209" cy="598178"/>
          </a:xfrm>
          <a:custGeom>
            <a:avLst/>
            <a:gdLst/>
            <a:ahLst/>
            <a:cxnLst/>
            <a:rect l="l" t="t" r="r" b="b"/>
            <a:pathLst>
              <a:path w="1193209" h="598178">
                <a:moveTo>
                  <a:pt x="0" y="290781"/>
                </a:moveTo>
                <a:lnTo>
                  <a:pt x="205284" y="0"/>
                </a:lnTo>
                <a:lnTo>
                  <a:pt x="423397" y="249241"/>
                </a:lnTo>
                <a:lnTo>
                  <a:pt x="641511" y="498482"/>
                </a:lnTo>
                <a:lnTo>
                  <a:pt x="872454" y="207701"/>
                </a:lnTo>
                <a:lnTo>
                  <a:pt x="1193209" y="315705"/>
                </a:lnTo>
                <a:lnTo>
                  <a:pt x="1193209" y="598178"/>
                </a:lnTo>
                <a:lnTo>
                  <a:pt x="0" y="598178"/>
                </a:lnTo>
                <a:close/>
              </a:path>
            </a:pathLst>
          </a:custGeom>
          <a:solidFill>
            <a:srgbClr val="2E6049"/>
          </a:solidFill>
          <a:ln w="7592">
            <a:solidFill>
              <a:srgbClr val="33BD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elay 18"/>
          <p:cNvSpPr/>
          <p:nvPr/>
        </p:nvSpPr>
        <p:spPr>
          <a:xfrm>
            <a:off x="3348068" y="1929997"/>
            <a:ext cx="2183697" cy="392507"/>
          </a:xfrm>
          <a:prstGeom prst="flowChartDelay">
            <a:avLst/>
          </a:prstGeom>
          <a:noFill/>
          <a:ln w="30740">
            <a:solidFill>
              <a:srgbClr val="57DBB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loud Callout 19"/>
          <p:cNvSpPr/>
          <p:nvPr/>
        </p:nvSpPr>
        <p:spPr>
          <a:xfrm>
            <a:off x="803490" y="5400396"/>
            <a:ext cx="978168" cy="924875"/>
          </a:xfrm>
          <a:prstGeom prst="cloudCallout">
            <a:avLst/>
          </a:prstGeom>
          <a:solidFill>
            <a:srgbClr val="A4DF93"/>
          </a:solidFill>
          <a:ln w="14069">
            <a:solidFill>
              <a:srgbClr val="DB1B6F"/>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5908976" y="5745995"/>
            <a:ext cx="960447" cy="882780"/>
          </a:xfrm>
          <a:custGeom>
            <a:avLst/>
            <a:gdLst/>
            <a:ahLst/>
            <a:cxnLst/>
            <a:rect l="l" t="t" r="r" b="b"/>
            <a:pathLst>
              <a:path w="960447" h="882780">
                <a:moveTo>
                  <a:pt x="103274" y="150261"/>
                </a:moveTo>
                <a:lnTo>
                  <a:pt x="340804" y="0"/>
                </a:lnTo>
                <a:lnTo>
                  <a:pt x="702262" y="75131"/>
                </a:lnTo>
                <a:lnTo>
                  <a:pt x="960447" y="356869"/>
                </a:lnTo>
                <a:lnTo>
                  <a:pt x="826191" y="732520"/>
                </a:lnTo>
                <a:lnTo>
                  <a:pt x="444078" y="882780"/>
                </a:lnTo>
                <a:lnTo>
                  <a:pt x="61964" y="638607"/>
                </a:lnTo>
                <a:lnTo>
                  <a:pt x="0" y="319304"/>
                </a:lnTo>
                <a:close/>
              </a:path>
            </a:pathLst>
          </a:custGeom>
          <a:solidFill>
            <a:srgbClr val="76D7CE"/>
          </a:solidFill>
          <a:ln w="30095">
            <a:solidFill>
              <a:srgbClr val="BFA8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45025" y="1476156"/>
            <a:ext cx="465358" cy="1269202"/>
          </a:xfrm>
          <a:prstGeom prst="rect">
            <a:avLst/>
          </a:prstGeom>
          <a:noFill/>
        </p:spPr>
        <p:txBody>
          <a:bodyPr wrap="none" lIns="50963" tIns="50963" rIns="50963" bIns="50963">
            <a:spAutoFit/>
          </a:bodyPr>
          <a:lstStyle/>
          <a:p>
            <a:r>
              <a:rPr sz="900" b="1" i="0" u="none">
                <a:solidFill>
                  <a:srgbClr val="44965C"/>
                </a:solidFill>
                <a:latin typeface="Verdana"/>
              </a:rPr>
              <a:t>Instance Rhythm North</a:t>
            </a:r>
          </a:p>
        </p:txBody>
      </p:sp>
      <p:sp>
        <p:nvSpPr>
          <p:cNvPr id="23" name="TextBox 22"/>
          <p:cNvSpPr txBox="1"/>
          <p:nvPr/>
        </p:nvSpPr>
        <p:spPr>
          <a:xfrm>
            <a:off x="3128455" y="5073999"/>
            <a:ext cx="2905189" cy="496672"/>
          </a:xfrm>
          <a:prstGeom prst="rect">
            <a:avLst/>
          </a:prstGeom>
          <a:noFill/>
        </p:spPr>
        <p:txBody>
          <a:bodyPr wrap="none" lIns="28848" tIns="28848" rIns="28848" bIns="28848">
            <a:spAutoFit/>
          </a:bodyPr>
          <a:lstStyle/>
          <a:p>
            <a:r>
              <a:rPr sz="2300" b="0" i="0" u="none">
                <a:solidFill>
                  <a:srgbClr val="D3C334"/>
                </a:solidFill>
                <a:latin typeface="Aptos"/>
              </a:rPr>
              <a:t>Envelope Slice Benchmark Baseline Scale Command Mode Level</a:t>
            </a:r>
          </a:p>
        </p:txBody>
      </p:sp>
      <p:cxnSp>
        <p:nvCxnSpPr>
          <p:cNvPr id="24" name="Connector 23"/>
          <p:cNvCxnSpPr/>
          <p:nvPr/>
        </p:nvCxnSpPr>
        <p:spPr>
          <a:xfrm>
            <a:off x="4539264" y="4519855"/>
            <a:ext cx="1921079" cy="401472"/>
          </a:xfrm>
          <a:prstGeom prst="curvedConnector3">
            <a:avLst/>
          </a:prstGeom>
          <a:ln w="46740">
            <a:solidFill>
              <a:srgbClr val="3A49E2"/>
            </a:solidFill>
            <a:prstDash val="lgDash"/>
          </a:ln>
        </p:spPr>
        <p:style>
          <a:lnRef idx="2">
            <a:schemeClr val="accent1"/>
          </a:lnRef>
          <a:fillRef idx="0">
            <a:schemeClr val="accent1"/>
          </a:fillRef>
          <a:effectRef idx="1">
            <a:schemeClr val="accent1"/>
          </a:effectRef>
          <a:fontRef idx="minor">
            <a:schemeClr val="tx1"/>
          </a:fontRef>
        </p:style>
      </p:cxnSp>
      <p:pic>
        <p:nvPicPr>
          <p:cNvPr id="25" name="Picture 24" descr="_example_image.jpg"/>
          <p:cNvPicPr>
            <a:picLocks noChangeAspect="1"/>
          </p:cNvPicPr>
          <p:nvPr/>
        </p:nvPicPr>
        <p:blipFill>
          <a:blip r:embed="rId2"/>
          <a:srcRect l="7168" t="9585" r="1053" b="21082"/>
          <a:stretch>
            <a:fillRect/>
          </a:stretch>
        </p:blipFill>
        <p:spPr>
          <a:xfrm>
            <a:off x="6977504" y="2709649"/>
            <a:ext cx="1080014" cy="735583"/>
          </a:xfrm>
          <a:prstGeom prst="rect">
            <a:avLst/>
          </a:prstGeom>
        </p:spPr>
      </p:pic>
      <p:sp>
        <p:nvSpPr>
          <p:cNvPr id="26" name="Rounded Rectangle 25"/>
          <p:cNvSpPr/>
          <p:nvPr/>
        </p:nvSpPr>
        <p:spPr>
          <a:xfrm>
            <a:off x="6977504" y="2709649"/>
            <a:ext cx="1080014" cy="735583"/>
          </a:xfrm>
          <a:prstGeom prst="roundRect">
            <a:avLst/>
          </a:prstGeom>
          <a:noFill/>
          <a:ln w="15240">
            <a:solidFill>
              <a:srgbClr val="9426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_example_image.jpg"/>
          <p:cNvPicPr>
            <a:picLocks noChangeAspect="1"/>
          </p:cNvPicPr>
          <p:nvPr/>
        </p:nvPicPr>
        <p:blipFill>
          <a:blip r:embed="rId2"/>
          <a:srcRect l="12115" t="15848" r="3517" b="21810"/>
          <a:stretch>
            <a:fillRect/>
          </a:stretch>
        </p:blipFill>
        <p:spPr>
          <a:xfrm>
            <a:off x="10831449" y="499595"/>
            <a:ext cx="1203303" cy="1209281"/>
          </a:xfrm>
          <a:prstGeom prst="rect">
            <a:avLst/>
          </a:prstGeom>
        </p:spPr>
      </p:pic>
      <p:sp>
        <p:nvSpPr>
          <p:cNvPr id="28" name="Rounded Rectangle 27"/>
          <p:cNvSpPr/>
          <p:nvPr/>
        </p:nvSpPr>
        <p:spPr>
          <a:xfrm>
            <a:off x="10831449" y="499595"/>
            <a:ext cx="1203303" cy="1209281"/>
          </a:xfrm>
          <a:prstGeom prst="roundRect">
            <a:avLst/>
          </a:prstGeom>
          <a:noFill/>
          <a:ln w="15240">
            <a:solidFill>
              <a:srgbClr val="467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01965670-B602-21C4-18AC-39A1BB40C1EA}"/>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91451" y="781268"/>
            <a:ext cx="1140012" cy="1428668"/>
          </a:xfrm>
          <a:prstGeom prst="rect">
            <a:avLst/>
          </a:prstGeom>
        </p:spPr>
      </p:pic>
      <p:pic>
        <p:nvPicPr>
          <p:cNvPr id="32" name="Graphic 31">
            <a:extLst>
              <a:ext uri="{FF2B5EF4-FFF2-40B4-BE49-F238E27FC236}">
                <a16:creationId xmlns:a16="http://schemas.microsoft.com/office/drawing/2014/main" id="{BFE1DDE6-43A2-2178-C377-CED4E19AF79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727232" y="3357872"/>
            <a:ext cx="991298" cy="7779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53082" y="504084"/>
            <a:ext cx="815585" cy="1046283"/>
          </a:xfrm>
          <a:prstGeom prst="rect">
            <a:avLst/>
          </a:prstGeom>
          <a:noFill/>
        </p:spPr>
        <p:txBody>
          <a:bodyPr wrap="none" lIns="70575" tIns="70575" rIns="70575" bIns="70575">
            <a:spAutoFit/>
          </a:bodyPr>
          <a:lstStyle/>
          <a:p>
            <a:r>
              <a:rPr sz="2500" b="0" i="0" u="none">
                <a:solidFill>
                  <a:srgbClr val="7C3ECF"/>
                </a:solidFill>
                <a:latin typeface="Aptos"/>
              </a:rPr>
              <a:t>Waypoint Capacity Domain Transform Iteration Format Station</a:t>
            </a:r>
          </a:p>
        </p:txBody>
      </p:sp>
      <p:sp>
        <p:nvSpPr>
          <p:cNvPr id="3" name="TextBox 2"/>
          <p:cNvSpPr txBox="1"/>
          <p:nvPr/>
        </p:nvSpPr>
        <p:spPr>
          <a:xfrm>
            <a:off x="789203" y="3368515"/>
            <a:ext cx="1650855" cy="2413525"/>
          </a:xfrm>
          <a:prstGeom prst="rect">
            <a:avLst/>
          </a:prstGeom>
          <a:noFill/>
        </p:spPr>
        <p:txBody>
          <a:bodyPr wrap="none" lIns="79755" tIns="79755" rIns="79755" bIns="79755">
            <a:spAutoFit/>
          </a:bodyPr>
          <a:lstStyle/>
          <a:p>
            <a:r>
              <a:rPr sz="4600" b="1" i="0" u="none">
                <a:solidFill>
                  <a:srgbClr val="442233"/>
                </a:solidFill>
                <a:latin typeface="Verdana"/>
              </a:rPr>
              <a:t>Limit Milestone Pattern Cluster Beacon Topology</a:t>
            </a:r>
          </a:p>
        </p:txBody>
      </p:sp>
      <p:sp>
        <p:nvSpPr>
          <p:cNvPr id="4" name="Cloud Callout 3"/>
          <p:cNvSpPr/>
          <p:nvPr/>
        </p:nvSpPr>
        <p:spPr>
          <a:xfrm>
            <a:off x="5303323" y="5722052"/>
            <a:ext cx="1055422" cy="744266"/>
          </a:xfrm>
          <a:prstGeom prst="cloudCallout">
            <a:avLst/>
          </a:prstGeom>
          <a:solidFill>
            <a:srgbClr val="3330AE"/>
          </a:solidFill>
          <a:ln w="25754">
            <a:solidFill>
              <a:srgbClr val="906E3F"/>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43606" y="2792097"/>
            <a:ext cx="748043" cy="1531061"/>
          </a:xfrm>
          <a:prstGeom prst="rect">
            <a:avLst/>
          </a:prstGeom>
          <a:noFill/>
        </p:spPr>
        <p:txBody>
          <a:bodyPr wrap="none" lIns="80559" tIns="80559" rIns="80559" bIns="80559">
            <a:spAutoFit/>
          </a:bodyPr>
          <a:lstStyle/>
          <a:p>
            <a:r>
              <a:rPr sz="1700" b="0" i="0" u="sng">
                <a:solidFill>
                  <a:srgbClr val="2D9B27"/>
                </a:solidFill>
                <a:latin typeface="Aptos"/>
              </a:rPr>
              <a:t>Signal Orbit Request Chart Frequency Summary Edge Pipeline Logic Query Pipeline Waypoint</a:t>
            </a:r>
          </a:p>
        </p:txBody>
      </p:sp>
      <p:sp>
        <p:nvSpPr>
          <p:cNvPr id="6" name="U-Turn Arrow 5"/>
          <p:cNvSpPr/>
          <p:nvPr/>
        </p:nvSpPr>
        <p:spPr>
          <a:xfrm>
            <a:off x="9689270" y="965837"/>
            <a:ext cx="2087047" cy="375615"/>
          </a:xfrm>
          <a:prstGeom prst="uturnArrow">
            <a:avLst/>
          </a:prstGeom>
          <a:solidFill>
            <a:srgbClr val="7DD65B"/>
          </a:solidFill>
          <a:ln w="21690">
            <a:solidFill>
              <a:srgbClr val="E65ED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10600265" y="3651391"/>
            <a:ext cx="1131926" cy="491517"/>
          </a:xfrm>
          <a:prstGeom prst="bentConnector3">
            <a:avLst/>
          </a:prstGeom>
          <a:ln w="16003">
            <a:solidFill>
              <a:srgbClr val="8C6D3E"/>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8" name="Chart 7"/>
          <p:cNvGraphicFramePr>
            <a:graphicFrameLocks noGrp="1"/>
          </p:cNvGraphicFramePr>
          <p:nvPr/>
        </p:nvGraphicFramePr>
        <p:xfrm>
          <a:off x="1219356" y="4811948"/>
          <a:ext cx="2693134" cy="1375397"/>
        </p:xfrm>
        <a:graphic>
          <a:graphicData uri="http://schemas.openxmlformats.org/drawingml/2006/chart">
            <c:chart xmlns:c="http://schemas.openxmlformats.org/drawingml/2006/chart" xmlns:r="http://schemas.openxmlformats.org/officeDocument/2006/relationships" r:id="rId2"/>
          </a:graphicData>
        </a:graphic>
      </p:graphicFrame>
      <p:sp>
        <p:nvSpPr>
          <p:cNvPr id="9" name="Curved Right Arrow 8"/>
          <p:cNvSpPr/>
          <p:nvPr/>
        </p:nvSpPr>
        <p:spPr>
          <a:xfrm>
            <a:off x="2067762" y="1550647"/>
            <a:ext cx="1409686" cy="1600870"/>
          </a:xfrm>
          <a:prstGeom prst="curvedRightArrow">
            <a:avLst/>
          </a:prstGeom>
          <a:solidFill>
            <a:srgbClr val="59DA80"/>
          </a:solidFill>
          <a:ln w="24536">
            <a:solidFill>
              <a:srgbClr val="AF52A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Isosceles Triangle 9"/>
          <p:cNvSpPr/>
          <p:nvPr/>
        </p:nvSpPr>
        <p:spPr>
          <a:xfrm>
            <a:off x="4693974" y="2345275"/>
            <a:ext cx="1646979" cy="651917"/>
          </a:xfrm>
          <a:prstGeom prst="triangle">
            <a:avLst/>
          </a:prstGeom>
          <a:solidFill>
            <a:srgbClr val="DC25DA"/>
          </a:solidFill>
          <a:ln w="27457">
            <a:solidFill>
              <a:srgbClr val="2E489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10459062" y="3170559"/>
            <a:ext cx="1031483" cy="707149"/>
          </a:xfrm>
          <a:custGeom>
            <a:avLst/>
            <a:gdLst/>
            <a:ahLst/>
            <a:cxnLst/>
            <a:rect l="l" t="t" r="r" b="b"/>
            <a:pathLst>
              <a:path w="1031483" h="707149">
                <a:moveTo>
                  <a:pt x="110912" y="120366"/>
                </a:moveTo>
                <a:lnTo>
                  <a:pt x="366010" y="0"/>
                </a:lnTo>
                <a:lnTo>
                  <a:pt x="754202" y="60183"/>
                </a:lnTo>
                <a:lnTo>
                  <a:pt x="1031483" y="285869"/>
                </a:lnTo>
                <a:lnTo>
                  <a:pt x="887297" y="586783"/>
                </a:lnTo>
                <a:lnTo>
                  <a:pt x="476922" y="707149"/>
                </a:lnTo>
                <a:lnTo>
                  <a:pt x="66547" y="511555"/>
                </a:lnTo>
                <a:lnTo>
                  <a:pt x="0" y="255777"/>
                </a:lnTo>
                <a:close/>
              </a:path>
            </a:pathLst>
          </a:custGeom>
          <a:solidFill>
            <a:srgbClr val="B95439"/>
          </a:solidFill>
          <a:ln w="25111">
            <a:solidFill>
              <a:srgbClr val="B9CB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92285" y="1780174"/>
            <a:ext cx="3473739" cy="422406"/>
          </a:xfrm>
          <a:prstGeom prst="rect">
            <a:avLst/>
          </a:prstGeom>
          <a:noFill/>
        </p:spPr>
        <p:txBody>
          <a:bodyPr wrap="none" lIns="21347" tIns="21347" rIns="21347" bIns="21347">
            <a:spAutoFit/>
          </a:bodyPr>
          <a:lstStyle/>
          <a:p>
            <a:r>
              <a:rPr sz="4300" b="1" i="0" u="none">
                <a:solidFill>
                  <a:srgbClr val="2A92BD"/>
                </a:solidFill>
                <a:latin typeface="Georgia"/>
              </a:rPr>
              <a:t>Array Node Frame</a:t>
            </a:r>
          </a:p>
        </p:txBody>
      </p:sp>
      <p:sp>
        <p:nvSpPr>
          <p:cNvPr id="13" name="Freeform 12"/>
          <p:cNvSpPr/>
          <p:nvPr/>
        </p:nvSpPr>
        <p:spPr>
          <a:xfrm>
            <a:off x="1460316" y="2165263"/>
            <a:ext cx="739645" cy="801456"/>
          </a:xfrm>
          <a:custGeom>
            <a:avLst/>
            <a:gdLst/>
            <a:ahLst/>
            <a:cxnLst/>
            <a:rect l="l" t="t" r="r" b="b"/>
            <a:pathLst>
              <a:path w="739645" h="801456">
                <a:moveTo>
                  <a:pt x="369822" y="0"/>
                </a:moveTo>
                <a:lnTo>
                  <a:pt x="462278" y="200364"/>
                </a:lnTo>
                <a:lnTo>
                  <a:pt x="693417" y="144262"/>
                </a:lnTo>
                <a:lnTo>
                  <a:pt x="562438" y="400728"/>
                </a:lnTo>
                <a:lnTo>
                  <a:pt x="739645" y="625136"/>
                </a:lnTo>
                <a:lnTo>
                  <a:pt x="462278" y="577048"/>
                </a:lnTo>
                <a:lnTo>
                  <a:pt x="369822" y="801456"/>
                </a:lnTo>
                <a:lnTo>
                  <a:pt x="277367" y="577048"/>
                </a:lnTo>
                <a:lnTo>
                  <a:pt x="0" y="625136"/>
                </a:lnTo>
                <a:lnTo>
                  <a:pt x="177206" y="400728"/>
                </a:lnTo>
                <a:lnTo>
                  <a:pt x="46228" y="144262"/>
                </a:lnTo>
                <a:lnTo>
                  <a:pt x="277367" y="200364"/>
                </a:lnTo>
                <a:close/>
              </a:path>
            </a:pathLst>
          </a:custGeom>
          <a:solidFill>
            <a:srgbClr val="515EB5"/>
          </a:solidFill>
          <a:ln w="35007">
            <a:solidFill>
              <a:srgbClr val="5A28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Chart 13"/>
          <p:cNvGraphicFramePr>
            <a:graphicFrameLocks noGrp="1"/>
          </p:cNvGraphicFramePr>
          <p:nvPr/>
        </p:nvGraphicFramePr>
        <p:xfrm>
          <a:off x="7408129" y="4966199"/>
          <a:ext cx="2224188" cy="1466208"/>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p:cNvSpPr txBox="1"/>
          <p:nvPr/>
        </p:nvSpPr>
        <p:spPr>
          <a:xfrm>
            <a:off x="3153974" y="4374793"/>
            <a:ext cx="452221" cy="1494382"/>
          </a:xfrm>
          <a:prstGeom prst="rect">
            <a:avLst/>
          </a:prstGeom>
          <a:noFill/>
        </p:spPr>
        <p:txBody>
          <a:bodyPr wrap="none" lIns="77305" tIns="77305" rIns="77305" bIns="77305">
            <a:spAutoFit/>
          </a:bodyPr>
          <a:lstStyle/>
          <a:p>
            <a:r>
              <a:rPr sz="4500" b="1" i="0" u="none">
                <a:solidFill>
                  <a:srgbClr val="4F418C"/>
                </a:solidFill>
                <a:latin typeface="Aptos"/>
              </a:rPr>
              <a:t>Stream Vertex Surface</a:t>
            </a:r>
          </a:p>
        </p:txBody>
      </p:sp>
      <p:graphicFrame>
        <p:nvGraphicFramePr>
          <p:cNvPr id="16" name="Table 15"/>
          <p:cNvGraphicFramePr>
            <a:graphicFrameLocks noGrp="1"/>
          </p:cNvGraphicFramePr>
          <p:nvPr/>
        </p:nvGraphicFramePr>
        <p:xfrm>
          <a:off x="1598286" y="328349"/>
          <a:ext cx="3598913" cy="1472018"/>
        </p:xfrm>
        <a:graphic>
          <a:graphicData uri="http://schemas.openxmlformats.org/drawingml/2006/table">
            <a:tbl>
              <a:tblPr firstRow="1" bandRow="1">
                <a:tableStyleId>{5C22544A-7EE6-4342-B048-85BDC9FD1C3A}</a:tableStyleId>
              </a:tblPr>
              <a:tblGrid>
                <a:gridCol w="599818">
                  <a:extLst>
                    <a:ext uri="{9D8B030D-6E8A-4147-A177-3AD203B41FA5}">
                      <a16:colId xmlns:a16="http://schemas.microsoft.com/office/drawing/2014/main" val="20000"/>
                    </a:ext>
                  </a:extLst>
                </a:gridCol>
                <a:gridCol w="599818">
                  <a:extLst>
                    <a:ext uri="{9D8B030D-6E8A-4147-A177-3AD203B41FA5}">
                      <a16:colId xmlns:a16="http://schemas.microsoft.com/office/drawing/2014/main" val="20001"/>
                    </a:ext>
                  </a:extLst>
                </a:gridCol>
                <a:gridCol w="599818">
                  <a:extLst>
                    <a:ext uri="{9D8B030D-6E8A-4147-A177-3AD203B41FA5}">
                      <a16:colId xmlns:a16="http://schemas.microsoft.com/office/drawing/2014/main" val="20002"/>
                    </a:ext>
                  </a:extLst>
                </a:gridCol>
                <a:gridCol w="599818">
                  <a:extLst>
                    <a:ext uri="{9D8B030D-6E8A-4147-A177-3AD203B41FA5}">
                      <a16:colId xmlns:a16="http://schemas.microsoft.com/office/drawing/2014/main" val="20003"/>
                    </a:ext>
                  </a:extLst>
                </a:gridCol>
                <a:gridCol w="599818">
                  <a:extLst>
                    <a:ext uri="{9D8B030D-6E8A-4147-A177-3AD203B41FA5}">
                      <a16:colId xmlns:a16="http://schemas.microsoft.com/office/drawing/2014/main" val="20004"/>
                    </a:ext>
                  </a:extLst>
                </a:gridCol>
                <a:gridCol w="599823">
                  <a:extLst>
                    <a:ext uri="{9D8B030D-6E8A-4147-A177-3AD203B41FA5}">
                      <a16:colId xmlns:a16="http://schemas.microsoft.com/office/drawing/2014/main" val="20005"/>
                    </a:ext>
                  </a:extLst>
                </a:gridCol>
              </a:tblGrid>
              <a:tr h="294403">
                <a:tc>
                  <a:txBody>
                    <a:bodyPr/>
                    <a:lstStyle/>
                    <a:p>
                      <a:r>
                        <a:rPr sz="1300" b="0">
                          <a:solidFill>
                            <a:srgbClr val="DA6942"/>
                          </a:solidFill>
                        </a:rPr>
                        <a:t>Beta</a:t>
                      </a:r>
                    </a:p>
                  </a:txBody>
                  <a:tcPr>
                    <a:solidFill>
                      <a:srgbClr val="E8F4DF"/>
                    </a:solidFill>
                  </a:tcPr>
                </a:tc>
                <a:tc>
                  <a:txBody>
                    <a:bodyPr/>
                    <a:lstStyle/>
                    <a:p>
                      <a:r>
                        <a:rPr sz="1300" b="0">
                          <a:solidFill>
                            <a:srgbClr val="DA6942"/>
                          </a:solidFill>
                        </a:rPr>
                        <a:t>Domain Concept</a:t>
                      </a:r>
                    </a:p>
                  </a:txBody>
                  <a:tcPr>
                    <a:solidFill>
                      <a:srgbClr val="E8F4DF"/>
                    </a:solidFill>
                  </a:tcPr>
                </a:tc>
                <a:tc>
                  <a:txBody>
                    <a:bodyPr/>
                    <a:lstStyle/>
                    <a:p>
                      <a:r>
                        <a:rPr sz="1300" b="0">
                          <a:solidFill>
                            <a:srgbClr val="DA6942"/>
                          </a:solidFill>
                        </a:rPr>
                        <a:t>Logic</a:t>
                      </a:r>
                    </a:p>
                  </a:txBody>
                  <a:tcPr>
                    <a:solidFill>
                      <a:srgbClr val="E8F4DF"/>
                    </a:solidFill>
                  </a:tcPr>
                </a:tc>
                <a:tc>
                  <a:txBody>
                    <a:bodyPr/>
                    <a:lstStyle/>
                    <a:p>
                      <a:r>
                        <a:rPr sz="1300" b="0">
                          <a:solidFill>
                            <a:srgbClr val="DA6942"/>
                          </a:solidFill>
                        </a:rPr>
                        <a:t>Panel</a:t>
                      </a:r>
                    </a:p>
                  </a:txBody>
                  <a:tcPr>
                    <a:solidFill>
                      <a:srgbClr val="E8F4DF"/>
                    </a:solidFill>
                  </a:tcPr>
                </a:tc>
                <a:tc>
                  <a:txBody>
                    <a:bodyPr/>
                    <a:lstStyle/>
                    <a:p>
                      <a:r>
                        <a:rPr sz="1300" b="0">
                          <a:solidFill>
                            <a:srgbClr val="DA6942"/>
                          </a:solidFill>
                        </a:rPr>
                        <a:t>Factor</a:t>
                      </a:r>
                    </a:p>
                  </a:txBody>
                  <a:tcPr>
                    <a:solidFill>
                      <a:srgbClr val="E8F4DF"/>
                    </a:solidFill>
                  </a:tcPr>
                </a:tc>
                <a:tc>
                  <a:txBody>
                    <a:bodyPr/>
                    <a:lstStyle/>
                    <a:p>
                      <a:r>
                        <a:rPr sz="1300" b="0">
                          <a:solidFill>
                            <a:srgbClr val="DA6942"/>
                          </a:solidFill>
                        </a:rPr>
                        <a:t>Rhythm</a:t>
                      </a:r>
                    </a:p>
                  </a:txBody>
                  <a:tcPr>
                    <a:solidFill>
                      <a:srgbClr val="E8F4DF"/>
                    </a:solidFill>
                  </a:tcPr>
                </a:tc>
                <a:extLst>
                  <a:ext uri="{0D108BD9-81ED-4DB2-BD59-A6C34878D82A}">
                    <a16:rowId xmlns:a16="http://schemas.microsoft.com/office/drawing/2014/main" val="10000"/>
                  </a:ext>
                </a:extLst>
              </a:tr>
              <a:tr h="294403">
                <a:tc>
                  <a:txBody>
                    <a:bodyPr/>
                    <a:lstStyle/>
                    <a:p>
                      <a:r>
                        <a:rPr sz="1300" b="0">
                          <a:solidFill>
                            <a:srgbClr val="DA6942"/>
                          </a:solidFill>
                        </a:rPr>
                        <a:t>Track</a:t>
                      </a:r>
                    </a:p>
                  </a:txBody>
                  <a:tcPr>
                    <a:solidFill>
                      <a:srgbClr val="E8F4DF"/>
                    </a:solidFill>
                  </a:tcPr>
                </a:tc>
                <a:tc>
                  <a:txBody>
                    <a:bodyPr/>
                    <a:lstStyle/>
                    <a:p>
                      <a:r>
                        <a:rPr sz="1300" b="0">
                          <a:solidFill>
                            <a:srgbClr val="DA6942"/>
                          </a:solidFill>
                        </a:rPr>
                        <a:t>Intent</a:t>
                      </a:r>
                    </a:p>
                  </a:txBody>
                  <a:tcPr>
                    <a:solidFill>
                      <a:srgbClr val="E8F4DF"/>
                    </a:solidFill>
                  </a:tcPr>
                </a:tc>
                <a:tc>
                  <a:txBody>
                    <a:bodyPr/>
                    <a:lstStyle/>
                    <a:p>
                      <a:r>
                        <a:rPr sz="1300" b="0">
                          <a:solidFill>
                            <a:srgbClr val="DA6942"/>
                          </a:solidFill>
                        </a:rPr>
                        <a:t>Keyline</a:t>
                      </a:r>
                    </a:p>
                  </a:txBody>
                  <a:tcPr>
                    <a:solidFill>
                      <a:srgbClr val="E8F4DF"/>
                    </a:solidFill>
                  </a:tcPr>
                </a:tc>
                <a:tc>
                  <a:txBody>
                    <a:bodyPr/>
                    <a:lstStyle/>
                    <a:p>
                      <a:r>
                        <a:rPr sz="1300" b="0">
                          <a:solidFill>
                            <a:srgbClr val="DA6942"/>
                          </a:solidFill>
                        </a:rPr>
                        <a:t>Marker</a:t>
                      </a:r>
                    </a:p>
                  </a:txBody>
                  <a:tcPr>
                    <a:solidFill>
                      <a:srgbClr val="E8F4DF"/>
                    </a:solidFill>
                  </a:tcPr>
                </a:tc>
                <a:tc>
                  <a:txBody>
                    <a:bodyPr/>
                    <a:lstStyle/>
                    <a:p>
                      <a:r>
                        <a:rPr sz="1300" b="0">
                          <a:solidFill>
                            <a:srgbClr val="DA6942"/>
                          </a:solidFill>
                        </a:rPr>
                        <a:t>Transform</a:t>
                      </a:r>
                    </a:p>
                  </a:txBody>
                  <a:tcPr>
                    <a:solidFill>
                      <a:srgbClr val="E8F4DF"/>
                    </a:solidFill>
                  </a:tcPr>
                </a:tc>
                <a:tc>
                  <a:txBody>
                    <a:bodyPr/>
                    <a:lstStyle/>
                    <a:p>
                      <a:r>
                        <a:rPr sz="1300" b="0">
                          <a:solidFill>
                            <a:srgbClr val="DA6942"/>
                          </a:solidFill>
                        </a:rPr>
                        <a:t>Source</a:t>
                      </a:r>
                    </a:p>
                  </a:txBody>
                  <a:tcPr>
                    <a:solidFill>
                      <a:srgbClr val="E8F4DF"/>
                    </a:solidFill>
                  </a:tcPr>
                </a:tc>
                <a:extLst>
                  <a:ext uri="{0D108BD9-81ED-4DB2-BD59-A6C34878D82A}">
                    <a16:rowId xmlns:a16="http://schemas.microsoft.com/office/drawing/2014/main" val="10001"/>
                  </a:ext>
                </a:extLst>
              </a:tr>
              <a:tr h="294403">
                <a:tc>
                  <a:txBody>
                    <a:bodyPr/>
                    <a:lstStyle/>
                    <a:p>
                      <a:r>
                        <a:rPr sz="1300" b="0">
                          <a:solidFill>
                            <a:srgbClr val="DA6942"/>
                          </a:solidFill>
                        </a:rPr>
                        <a:t>Story</a:t>
                      </a:r>
                    </a:p>
                  </a:txBody>
                  <a:tcPr>
                    <a:solidFill>
                      <a:srgbClr val="E8F4DF"/>
                    </a:solidFill>
                  </a:tcPr>
                </a:tc>
                <a:tc>
                  <a:txBody>
                    <a:bodyPr/>
                    <a:lstStyle/>
                    <a:p>
                      <a:r>
                        <a:rPr sz="1300" b="0">
                          <a:solidFill>
                            <a:srgbClr val="DA6942"/>
                          </a:solidFill>
                        </a:rPr>
                        <a:t>Trend Foundation</a:t>
                      </a:r>
                    </a:p>
                  </a:txBody>
                  <a:tcPr>
                    <a:solidFill>
                      <a:srgbClr val="E8F4DF"/>
                    </a:solidFill>
                  </a:tcPr>
                </a:tc>
                <a:tc>
                  <a:txBody>
                    <a:bodyPr/>
                    <a:lstStyle/>
                    <a:p>
                      <a:r>
                        <a:rPr sz="1300" b="0">
                          <a:solidFill>
                            <a:srgbClr val="DA6942"/>
                          </a:solidFill>
                        </a:rPr>
                        <a:t>Register</a:t>
                      </a:r>
                    </a:p>
                  </a:txBody>
                  <a:tcPr>
                    <a:solidFill>
                      <a:srgbClr val="E8F4DF"/>
                    </a:solidFill>
                  </a:tcPr>
                </a:tc>
                <a:tc>
                  <a:txBody>
                    <a:bodyPr/>
                    <a:lstStyle/>
                    <a:p>
                      <a:r>
                        <a:rPr sz="1300" b="0">
                          <a:solidFill>
                            <a:srgbClr val="DA6942"/>
                          </a:solidFill>
                        </a:rPr>
                        <a:t>Sequence</a:t>
                      </a:r>
                    </a:p>
                  </a:txBody>
                  <a:tcPr>
                    <a:solidFill>
                      <a:srgbClr val="E8F4DF"/>
                    </a:solidFill>
                  </a:tcPr>
                </a:tc>
                <a:tc>
                  <a:txBody>
                    <a:bodyPr/>
                    <a:lstStyle/>
                    <a:p>
                      <a:r>
                        <a:rPr sz="1300" b="0">
                          <a:solidFill>
                            <a:srgbClr val="DA6942"/>
                          </a:solidFill>
                        </a:rPr>
                        <a:t>Cadence</a:t>
                      </a:r>
                    </a:p>
                  </a:txBody>
                  <a:tcPr>
                    <a:solidFill>
                      <a:srgbClr val="E8F4DF"/>
                    </a:solidFill>
                  </a:tcPr>
                </a:tc>
                <a:tc>
                  <a:txBody>
                    <a:bodyPr/>
                    <a:lstStyle/>
                    <a:p>
                      <a:r>
                        <a:rPr sz="1300" b="0">
                          <a:solidFill>
                            <a:srgbClr val="DA6942"/>
                          </a:solidFill>
                        </a:rPr>
                        <a:t>Capacity Group</a:t>
                      </a:r>
                    </a:p>
                  </a:txBody>
                  <a:tcPr>
                    <a:solidFill>
                      <a:srgbClr val="E8F4DF"/>
                    </a:solidFill>
                  </a:tcPr>
                </a:tc>
                <a:extLst>
                  <a:ext uri="{0D108BD9-81ED-4DB2-BD59-A6C34878D82A}">
                    <a16:rowId xmlns:a16="http://schemas.microsoft.com/office/drawing/2014/main" val="10002"/>
                  </a:ext>
                </a:extLst>
              </a:tr>
              <a:tr h="294403">
                <a:tc>
                  <a:txBody>
                    <a:bodyPr/>
                    <a:lstStyle/>
                    <a:p>
                      <a:r>
                        <a:rPr sz="1300" b="0">
                          <a:solidFill>
                            <a:srgbClr val="DA6942"/>
                          </a:solidFill>
                        </a:rPr>
                        <a:t>Node Input</a:t>
                      </a:r>
                    </a:p>
                  </a:txBody>
                  <a:tcPr>
                    <a:solidFill>
                      <a:srgbClr val="E8F4DF"/>
                    </a:solidFill>
                  </a:tcPr>
                </a:tc>
                <a:tc>
                  <a:txBody>
                    <a:bodyPr/>
                    <a:lstStyle/>
                    <a:p>
                      <a:r>
                        <a:rPr sz="1300" b="0">
                          <a:solidFill>
                            <a:srgbClr val="DA6942"/>
                          </a:solidFill>
                        </a:rPr>
                        <a:t>Cycle</a:t>
                      </a:r>
                    </a:p>
                  </a:txBody>
                  <a:tcPr>
                    <a:solidFill>
                      <a:srgbClr val="E8F4DF"/>
                    </a:solidFill>
                  </a:tcPr>
                </a:tc>
                <a:tc>
                  <a:txBody>
                    <a:bodyPr/>
                    <a:lstStyle/>
                    <a:p>
                      <a:r>
                        <a:rPr sz="1300" b="0">
                          <a:solidFill>
                            <a:srgbClr val="DA6942"/>
                          </a:solidFill>
                        </a:rPr>
                        <a:t>Profile Data</a:t>
                      </a:r>
                    </a:p>
                  </a:txBody>
                  <a:tcPr>
                    <a:solidFill>
                      <a:srgbClr val="E8F4DF"/>
                    </a:solidFill>
                  </a:tcPr>
                </a:tc>
                <a:tc>
                  <a:txBody>
                    <a:bodyPr/>
                    <a:lstStyle/>
                    <a:p>
                      <a:r>
                        <a:rPr sz="1300" b="0">
                          <a:solidFill>
                            <a:srgbClr val="DA6942"/>
                          </a:solidFill>
                        </a:rPr>
                        <a:t>System</a:t>
                      </a:r>
                    </a:p>
                  </a:txBody>
                  <a:tcPr>
                    <a:solidFill>
                      <a:srgbClr val="E8F4DF"/>
                    </a:solidFill>
                  </a:tcPr>
                </a:tc>
                <a:tc>
                  <a:txBody>
                    <a:bodyPr/>
                    <a:lstStyle/>
                    <a:p>
                      <a:r>
                        <a:rPr sz="1300" b="0">
                          <a:solidFill>
                            <a:srgbClr val="DA6942"/>
                          </a:solidFill>
                        </a:rPr>
                        <a:t>Exchange Guide</a:t>
                      </a:r>
                    </a:p>
                  </a:txBody>
                  <a:tcPr>
                    <a:solidFill>
                      <a:srgbClr val="E8F4DF"/>
                    </a:solidFill>
                  </a:tcPr>
                </a:tc>
                <a:tc>
                  <a:txBody>
                    <a:bodyPr/>
                    <a:lstStyle/>
                    <a:p>
                      <a:r>
                        <a:rPr sz="1300" b="0">
                          <a:solidFill>
                            <a:srgbClr val="DA6942"/>
                          </a:solidFill>
                        </a:rPr>
                        <a:t>Account</a:t>
                      </a:r>
                    </a:p>
                  </a:txBody>
                  <a:tcPr>
                    <a:solidFill>
                      <a:srgbClr val="E8F4DF"/>
                    </a:solidFill>
                  </a:tcPr>
                </a:tc>
                <a:extLst>
                  <a:ext uri="{0D108BD9-81ED-4DB2-BD59-A6C34878D82A}">
                    <a16:rowId xmlns:a16="http://schemas.microsoft.com/office/drawing/2014/main" val="10003"/>
                  </a:ext>
                </a:extLst>
              </a:tr>
              <a:tr h="294406">
                <a:tc>
                  <a:txBody>
                    <a:bodyPr/>
                    <a:lstStyle/>
                    <a:p>
                      <a:r>
                        <a:rPr sz="1300" b="0">
                          <a:solidFill>
                            <a:srgbClr val="DA6942"/>
                          </a:solidFill>
                        </a:rPr>
                        <a:t>Alignment</a:t>
                      </a:r>
                    </a:p>
                  </a:txBody>
                  <a:tcPr>
                    <a:solidFill>
                      <a:srgbClr val="E8F4DF"/>
                    </a:solidFill>
                  </a:tcPr>
                </a:tc>
                <a:tc>
                  <a:txBody>
                    <a:bodyPr/>
                    <a:lstStyle/>
                    <a:p>
                      <a:r>
                        <a:rPr sz="1300" b="0">
                          <a:solidFill>
                            <a:srgbClr val="DA6942"/>
                          </a:solidFill>
                        </a:rPr>
                        <a:t>Schema</a:t>
                      </a:r>
                    </a:p>
                  </a:txBody>
                  <a:tcPr>
                    <a:solidFill>
                      <a:srgbClr val="E8F4DF"/>
                    </a:solidFill>
                  </a:tcPr>
                </a:tc>
                <a:tc>
                  <a:txBody>
                    <a:bodyPr/>
                    <a:lstStyle/>
                    <a:p>
                      <a:r>
                        <a:rPr sz="1300" b="0">
                          <a:solidFill>
                            <a:srgbClr val="DA6942"/>
                          </a:solidFill>
                        </a:rPr>
                        <a:t>Register</a:t>
                      </a:r>
                    </a:p>
                  </a:txBody>
                  <a:tcPr>
                    <a:solidFill>
                      <a:srgbClr val="E8F4DF"/>
                    </a:solidFill>
                  </a:tcPr>
                </a:tc>
                <a:tc>
                  <a:txBody>
                    <a:bodyPr/>
                    <a:lstStyle/>
                    <a:p>
                      <a:r>
                        <a:rPr sz="1300" b="0">
                          <a:solidFill>
                            <a:srgbClr val="DA6942"/>
                          </a:solidFill>
                        </a:rPr>
                        <a:t>Trace Object</a:t>
                      </a:r>
                    </a:p>
                  </a:txBody>
                  <a:tcPr>
                    <a:solidFill>
                      <a:srgbClr val="E8F4DF"/>
                    </a:solidFill>
                  </a:tcPr>
                </a:tc>
                <a:tc>
                  <a:txBody>
                    <a:bodyPr/>
                    <a:lstStyle/>
                    <a:p>
                      <a:r>
                        <a:rPr sz="1300" b="0">
                          <a:solidFill>
                            <a:srgbClr val="DA6942"/>
                          </a:solidFill>
                        </a:rPr>
                        <a:t>Kernel Scale</a:t>
                      </a:r>
                    </a:p>
                  </a:txBody>
                  <a:tcPr>
                    <a:solidFill>
                      <a:srgbClr val="E8F4DF"/>
                    </a:solidFill>
                  </a:tcPr>
                </a:tc>
                <a:tc>
                  <a:txBody>
                    <a:bodyPr/>
                    <a:lstStyle/>
                    <a:p>
                      <a:r>
                        <a:rPr sz="1300" b="0">
                          <a:solidFill>
                            <a:srgbClr val="DA6942"/>
                          </a:solidFill>
                        </a:rPr>
                        <a:t>Point Story</a:t>
                      </a:r>
                    </a:p>
                  </a:txBody>
                  <a:tcPr>
                    <a:solidFill>
                      <a:srgbClr val="E8F4DF"/>
                    </a:solidFill>
                  </a:tcPr>
                </a:tc>
                <a:extLst>
                  <a:ext uri="{0D108BD9-81ED-4DB2-BD59-A6C34878D82A}">
                    <a16:rowId xmlns:a16="http://schemas.microsoft.com/office/drawing/2014/main" val="10004"/>
                  </a:ext>
                </a:extLst>
              </a:tr>
            </a:tbl>
          </a:graphicData>
        </a:graphic>
      </p:graphicFrame>
      <p:pic>
        <p:nvPicPr>
          <p:cNvPr id="17" name="Picture 16" descr="_example_image.jpg"/>
          <p:cNvPicPr>
            <a:picLocks noChangeAspect="1"/>
          </p:cNvPicPr>
          <p:nvPr/>
        </p:nvPicPr>
        <p:blipFill>
          <a:blip r:embed="rId4"/>
          <a:srcRect l="2019" t="6043" r="17571" b="21276"/>
          <a:stretch>
            <a:fillRect/>
          </a:stretch>
        </p:blipFill>
        <p:spPr>
          <a:xfrm>
            <a:off x="7577341" y="445476"/>
            <a:ext cx="1710590" cy="1230983"/>
          </a:xfrm>
          <a:prstGeom prst="rect">
            <a:avLst/>
          </a:prstGeom>
        </p:spPr>
      </p:pic>
      <p:sp>
        <p:nvSpPr>
          <p:cNvPr id="18" name="TextBox 17"/>
          <p:cNvSpPr txBox="1"/>
          <p:nvPr/>
        </p:nvSpPr>
        <p:spPr>
          <a:xfrm>
            <a:off x="2964116" y="3434819"/>
            <a:ext cx="3233963" cy="835662"/>
          </a:xfrm>
          <a:prstGeom prst="rect">
            <a:avLst/>
          </a:prstGeom>
          <a:noFill/>
        </p:spPr>
        <p:txBody>
          <a:bodyPr wrap="none" lIns="50228" tIns="50228" rIns="50228" bIns="50228">
            <a:spAutoFit/>
          </a:bodyPr>
          <a:lstStyle/>
          <a:p>
            <a:r>
              <a:rPr sz="1400" b="0" i="0" u="none">
                <a:solidFill>
                  <a:srgbClr val="87777D"/>
                </a:solidFill>
                <a:latin typeface="Trebuchet MS"/>
              </a:rPr>
              <a:t>Pixel</a:t>
            </a:r>
          </a:p>
        </p:txBody>
      </p:sp>
      <p:sp>
        <p:nvSpPr>
          <p:cNvPr id="19" name="Rectangular Callout 18"/>
          <p:cNvSpPr/>
          <p:nvPr/>
        </p:nvSpPr>
        <p:spPr>
          <a:xfrm>
            <a:off x="5965061" y="5298690"/>
            <a:ext cx="1835046" cy="391783"/>
          </a:xfrm>
          <a:prstGeom prst="wedgeRectCallout">
            <a:avLst/>
          </a:prstGeom>
          <a:noFill/>
          <a:ln w="16586">
            <a:solidFill>
              <a:srgbClr val="60216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_example_image.jpg"/>
          <p:cNvPicPr>
            <a:picLocks noChangeAspect="1"/>
          </p:cNvPicPr>
          <p:nvPr/>
        </p:nvPicPr>
        <p:blipFill>
          <a:blip r:embed="rId4"/>
          <a:srcRect/>
          <a:stretch>
            <a:fillRect/>
          </a:stretch>
        </p:blipFill>
        <p:spPr>
          <a:xfrm>
            <a:off x="5823776" y="3334370"/>
            <a:ext cx="1101423" cy="1831061"/>
          </a:xfrm>
          <a:prstGeom prst="rect">
            <a:avLst/>
          </a:prstGeom>
        </p:spPr>
      </p:pic>
      <p:sp>
        <p:nvSpPr>
          <p:cNvPr id="21" name="U-Turn Arrow 20"/>
          <p:cNvSpPr/>
          <p:nvPr/>
        </p:nvSpPr>
        <p:spPr>
          <a:xfrm>
            <a:off x="3138710" y="6009525"/>
            <a:ext cx="913068" cy="262584"/>
          </a:xfrm>
          <a:prstGeom prst="uturnArrow">
            <a:avLst/>
          </a:prstGeom>
          <a:solidFill>
            <a:srgbClr val="9A4DB3"/>
          </a:solidFill>
          <a:ln w="14384">
            <a:solidFill>
              <a:srgbClr val="926F8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3909222" y="4124720"/>
            <a:ext cx="1232432" cy="1908229"/>
          </a:xfrm>
          <a:prstGeom prst="curvedConnector3">
            <a:avLst/>
          </a:prstGeom>
          <a:ln w="10348">
            <a:solidFill>
              <a:srgbClr val="94C47A"/>
            </a:solidFill>
            <a:prstDash val="solid"/>
          </a:ln>
        </p:spPr>
        <p:style>
          <a:lnRef idx="2">
            <a:schemeClr val="accent1"/>
          </a:lnRef>
          <a:fillRef idx="0">
            <a:schemeClr val="accent1"/>
          </a:fillRef>
          <a:effectRef idx="1">
            <a:schemeClr val="accent1"/>
          </a:effectRef>
          <a:fontRef idx="minor">
            <a:schemeClr val="tx1"/>
          </a:fontRef>
        </p:style>
      </p:cxnSp>
      <p:sp>
        <p:nvSpPr>
          <p:cNvPr id="23" name="Left-Right Arrow Callout 22"/>
          <p:cNvSpPr/>
          <p:nvPr/>
        </p:nvSpPr>
        <p:spPr>
          <a:xfrm>
            <a:off x="9066486" y="4279211"/>
            <a:ext cx="1732673" cy="1777614"/>
          </a:xfrm>
          <a:prstGeom prst="leftRightArrowCallout">
            <a:avLst/>
          </a:prstGeom>
          <a:solidFill>
            <a:srgbClr val="E01C5D"/>
          </a:solidFill>
          <a:ln w="28682">
            <a:solidFill>
              <a:srgbClr val="DC7F5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_example_image.jpg"/>
          <p:cNvPicPr>
            <a:picLocks noChangeAspect="1"/>
          </p:cNvPicPr>
          <p:nvPr/>
        </p:nvPicPr>
        <p:blipFill>
          <a:blip r:embed="rId4"/>
          <a:srcRect l="10397" t="14624" r="2626" b="8222"/>
          <a:stretch>
            <a:fillRect/>
          </a:stretch>
        </p:blipFill>
        <p:spPr>
          <a:xfrm>
            <a:off x="7964642" y="3943321"/>
            <a:ext cx="1046299" cy="1462770"/>
          </a:xfrm>
          <a:prstGeom prst="rect">
            <a:avLst/>
          </a:prstGeom>
        </p:spPr>
      </p:pic>
      <p:graphicFrame>
        <p:nvGraphicFramePr>
          <p:cNvPr id="25" name="Table 24"/>
          <p:cNvGraphicFramePr>
            <a:graphicFrameLocks noGrp="1"/>
          </p:cNvGraphicFramePr>
          <p:nvPr/>
        </p:nvGraphicFramePr>
        <p:xfrm>
          <a:off x="7755059" y="2134182"/>
          <a:ext cx="3012210" cy="1343288"/>
        </p:xfrm>
        <a:graphic>
          <a:graphicData uri="http://schemas.openxmlformats.org/drawingml/2006/table">
            <a:tbl>
              <a:tblPr firstRow="1" bandRow="1">
                <a:tableStyleId>{5C22544A-7EE6-4342-B048-85BDC9FD1C3A}</a:tableStyleId>
              </a:tblPr>
              <a:tblGrid>
                <a:gridCol w="502035">
                  <a:extLst>
                    <a:ext uri="{9D8B030D-6E8A-4147-A177-3AD203B41FA5}">
                      <a16:colId xmlns:a16="http://schemas.microsoft.com/office/drawing/2014/main" val="20000"/>
                    </a:ext>
                  </a:extLst>
                </a:gridCol>
                <a:gridCol w="502035">
                  <a:extLst>
                    <a:ext uri="{9D8B030D-6E8A-4147-A177-3AD203B41FA5}">
                      <a16:colId xmlns:a16="http://schemas.microsoft.com/office/drawing/2014/main" val="20001"/>
                    </a:ext>
                  </a:extLst>
                </a:gridCol>
                <a:gridCol w="502035">
                  <a:extLst>
                    <a:ext uri="{9D8B030D-6E8A-4147-A177-3AD203B41FA5}">
                      <a16:colId xmlns:a16="http://schemas.microsoft.com/office/drawing/2014/main" val="20002"/>
                    </a:ext>
                  </a:extLst>
                </a:gridCol>
                <a:gridCol w="502035">
                  <a:extLst>
                    <a:ext uri="{9D8B030D-6E8A-4147-A177-3AD203B41FA5}">
                      <a16:colId xmlns:a16="http://schemas.microsoft.com/office/drawing/2014/main" val="20003"/>
                    </a:ext>
                  </a:extLst>
                </a:gridCol>
                <a:gridCol w="502035">
                  <a:extLst>
                    <a:ext uri="{9D8B030D-6E8A-4147-A177-3AD203B41FA5}">
                      <a16:colId xmlns:a16="http://schemas.microsoft.com/office/drawing/2014/main" val="20004"/>
                    </a:ext>
                  </a:extLst>
                </a:gridCol>
                <a:gridCol w="502035">
                  <a:extLst>
                    <a:ext uri="{9D8B030D-6E8A-4147-A177-3AD203B41FA5}">
                      <a16:colId xmlns:a16="http://schemas.microsoft.com/office/drawing/2014/main" val="20005"/>
                    </a:ext>
                  </a:extLst>
                </a:gridCol>
              </a:tblGrid>
              <a:tr h="335822">
                <a:tc>
                  <a:txBody>
                    <a:bodyPr/>
                    <a:lstStyle/>
                    <a:p>
                      <a:r>
                        <a:rPr sz="1100" b="1">
                          <a:solidFill>
                            <a:srgbClr val="8089B9"/>
                          </a:solidFill>
                        </a:rPr>
                        <a:t>Craft Proof</a:t>
                      </a:r>
                    </a:p>
                  </a:txBody>
                  <a:tcPr>
                    <a:solidFill>
                      <a:srgbClr val="7B74B1"/>
                    </a:solidFill>
                  </a:tcPr>
                </a:tc>
                <a:tc>
                  <a:txBody>
                    <a:bodyPr/>
                    <a:lstStyle/>
                    <a:p>
                      <a:r>
                        <a:rPr sz="1100" b="1">
                          <a:solidFill>
                            <a:srgbClr val="8089B9"/>
                          </a:solidFill>
                        </a:rPr>
                        <a:t>Waypoint Output</a:t>
                      </a:r>
                    </a:p>
                  </a:txBody>
                  <a:tcPr>
                    <a:solidFill>
                      <a:srgbClr val="7B74B1"/>
                    </a:solidFill>
                  </a:tcPr>
                </a:tc>
                <a:tc>
                  <a:txBody>
                    <a:bodyPr/>
                    <a:lstStyle/>
                    <a:p>
                      <a:r>
                        <a:rPr sz="1100" b="1">
                          <a:solidFill>
                            <a:srgbClr val="8089B9"/>
                          </a:solidFill>
                        </a:rPr>
                        <a:t>Sync</a:t>
                      </a:r>
                    </a:p>
                  </a:txBody>
                  <a:tcPr>
                    <a:solidFill>
                      <a:srgbClr val="7B74B1"/>
                    </a:solidFill>
                  </a:tcPr>
                </a:tc>
                <a:tc>
                  <a:txBody>
                    <a:bodyPr/>
                    <a:lstStyle/>
                    <a:p>
                      <a:r>
                        <a:rPr sz="1100" b="1">
                          <a:solidFill>
                            <a:srgbClr val="8089B9"/>
                          </a:solidFill>
                        </a:rPr>
                        <a:t>Node Column</a:t>
                      </a:r>
                    </a:p>
                  </a:txBody>
                  <a:tcPr>
                    <a:solidFill>
                      <a:srgbClr val="7B74B1"/>
                    </a:solidFill>
                  </a:tcPr>
                </a:tc>
                <a:tc>
                  <a:txBody>
                    <a:bodyPr/>
                    <a:lstStyle/>
                    <a:p>
                      <a:r>
                        <a:rPr sz="1100" b="1">
                          <a:solidFill>
                            <a:srgbClr val="8089B9"/>
                          </a:solidFill>
                        </a:rPr>
                        <a:t>Frame</a:t>
                      </a:r>
                    </a:p>
                  </a:txBody>
                  <a:tcPr>
                    <a:solidFill>
                      <a:srgbClr val="7B74B1"/>
                    </a:solidFill>
                  </a:tcPr>
                </a:tc>
                <a:tc>
                  <a:txBody>
                    <a:bodyPr/>
                    <a:lstStyle/>
                    <a:p>
                      <a:r>
                        <a:rPr sz="1100" b="1">
                          <a:solidFill>
                            <a:srgbClr val="8089B9"/>
                          </a:solidFill>
                        </a:rPr>
                        <a:t>Summary</a:t>
                      </a:r>
                    </a:p>
                  </a:txBody>
                  <a:tcPr>
                    <a:solidFill>
                      <a:srgbClr val="7B74B1"/>
                    </a:solidFill>
                  </a:tcPr>
                </a:tc>
                <a:extLst>
                  <a:ext uri="{0D108BD9-81ED-4DB2-BD59-A6C34878D82A}">
                    <a16:rowId xmlns:a16="http://schemas.microsoft.com/office/drawing/2014/main" val="10000"/>
                  </a:ext>
                </a:extLst>
              </a:tr>
              <a:tr h="335822">
                <a:tc>
                  <a:txBody>
                    <a:bodyPr/>
                    <a:lstStyle/>
                    <a:p>
                      <a:r>
                        <a:rPr sz="1100" b="0">
                          <a:solidFill>
                            <a:srgbClr val="8089B9"/>
                          </a:solidFill>
                        </a:rPr>
                        <a:t>Clarity</a:t>
                      </a:r>
                    </a:p>
                  </a:txBody>
                  <a:tcPr>
                    <a:solidFill>
                      <a:srgbClr val="CEC2EC"/>
                    </a:solidFill>
                  </a:tcPr>
                </a:tc>
                <a:tc>
                  <a:txBody>
                    <a:bodyPr/>
                    <a:lstStyle/>
                    <a:p>
                      <a:r>
                        <a:rPr sz="1100" b="0">
                          <a:solidFill>
                            <a:srgbClr val="8089B9"/>
                          </a:solidFill>
                        </a:rPr>
                        <a:t>Blueprint Snapshot</a:t>
                      </a:r>
                    </a:p>
                  </a:txBody>
                  <a:tcPr>
                    <a:solidFill>
                      <a:srgbClr val="CEC2EC"/>
                    </a:solidFill>
                  </a:tcPr>
                </a:tc>
                <a:tc>
                  <a:txBody>
                    <a:bodyPr/>
                    <a:lstStyle/>
                    <a:p>
                      <a:r>
                        <a:rPr sz="1100" b="0">
                          <a:solidFill>
                            <a:srgbClr val="8089B9"/>
                          </a:solidFill>
                        </a:rPr>
                        <a:t>Variant</a:t>
                      </a:r>
                    </a:p>
                  </a:txBody>
                  <a:tcPr>
                    <a:solidFill>
                      <a:srgbClr val="CEC2EC"/>
                    </a:solidFill>
                  </a:tcPr>
                </a:tc>
                <a:tc>
                  <a:txBody>
                    <a:bodyPr/>
                    <a:lstStyle/>
                    <a:p>
                      <a:r>
                        <a:rPr sz="1100" b="0">
                          <a:solidFill>
                            <a:srgbClr val="8089B9"/>
                          </a:solidFill>
                        </a:rPr>
                        <a:t>View</a:t>
                      </a:r>
                    </a:p>
                  </a:txBody>
                  <a:tcPr>
                    <a:solidFill>
                      <a:srgbClr val="CEC2EC"/>
                    </a:solidFill>
                  </a:tcPr>
                </a:tc>
                <a:tc>
                  <a:txBody>
                    <a:bodyPr/>
                    <a:lstStyle/>
                    <a:p>
                      <a:r>
                        <a:rPr sz="1100" b="0">
                          <a:solidFill>
                            <a:srgbClr val="8089B9"/>
                          </a:solidFill>
                        </a:rPr>
                        <a:t>Position Vector</a:t>
                      </a:r>
                    </a:p>
                  </a:txBody>
                  <a:tcPr>
                    <a:solidFill>
                      <a:srgbClr val="CEC2EC"/>
                    </a:solidFill>
                  </a:tcPr>
                </a:tc>
                <a:tc>
                  <a:txBody>
                    <a:bodyPr/>
                    <a:lstStyle/>
                    <a:p>
                      <a:r>
                        <a:rPr sz="1100" b="0">
                          <a:solidFill>
                            <a:srgbClr val="8089B9"/>
                          </a:solidFill>
                        </a:rPr>
                        <a:t>Process</a:t>
                      </a:r>
                    </a:p>
                  </a:txBody>
                  <a:tcPr>
                    <a:solidFill>
                      <a:srgbClr val="CEC2EC"/>
                    </a:solidFill>
                  </a:tcPr>
                </a:tc>
                <a:extLst>
                  <a:ext uri="{0D108BD9-81ED-4DB2-BD59-A6C34878D82A}">
                    <a16:rowId xmlns:a16="http://schemas.microsoft.com/office/drawing/2014/main" val="10001"/>
                  </a:ext>
                </a:extLst>
              </a:tr>
              <a:tr h="335822">
                <a:tc>
                  <a:txBody>
                    <a:bodyPr/>
                    <a:lstStyle/>
                    <a:p>
                      <a:r>
                        <a:rPr sz="1100" b="0">
                          <a:solidFill>
                            <a:srgbClr val="8089B9"/>
                          </a:solidFill>
                        </a:rPr>
                        <a:t>Slice Frame</a:t>
                      </a:r>
                    </a:p>
                  </a:txBody>
                  <a:tcPr>
                    <a:solidFill>
                      <a:srgbClr val="E2DCF4"/>
                    </a:solidFill>
                  </a:tcPr>
                </a:tc>
                <a:tc>
                  <a:txBody>
                    <a:bodyPr/>
                    <a:lstStyle/>
                    <a:p>
                      <a:r>
                        <a:rPr sz="1100" b="0">
                          <a:solidFill>
                            <a:srgbClr val="8089B9"/>
                          </a:solidFill>
                        </a:rPr>
                        <a:t>System</a:t>
                      </a:r>
                    </a:p>
                  </a:txBody>
                  <a:tcPr>
                    <a:solidFill>
                      <a:srgbClr val="CEC2EC"/>
                    </a:solidFill>
                  </a:tcPr>
                </a:tc>
                <a:tc>
                  <a:txBody>
                    <a:bodyPr/>
                    <a:lstStyle/>
                    <a:p>
                      <a:r>
                        <a:rPr sz="1100" b="0">
                          <a:solidFill>
                            <a:srgbClr val="8089B9"/>
                          </a:solidFill>
                        </a:rPr>
                        <a:t>Adaptive Goal</a:t>
                      </a:r>
                    </a:p>
                  </a:txBody>
                  <a:tcPr>
                    <a:solidFill>
                      <a:srgbClr val="E2DCF4"/>
                    </a:solidFill>
                  </a:tcPr>
                </a:tc>
                <a:tc>
                  <a:txBody>
                    <a:bodyPr/>
                    <a:lstStyle/>
                    <a:p>
                      <a:r>
                        <a:rPr sz="1100" b="0">
                          <a:solidFill>
                            <a:srgbClr val="8089B9"/>
                          </a:solidFill>
                        </a:rPr>
                        <a:t>Command</a:t>
                      </a:r>
                    </a:p>
                  </a:txBody>
                  <a:tcPr>
                    <a:solidFill>
                      <a:srgbClr val="CEC2EC"/>
                    </a:solidFill>
                  </a:tcPr>
                </a:tc>
                <a:tc>
                  <a:txBody>
                    <a:bodyPr/>
                    <a:lstStyle/>
                    <a:p>
                      <a:r>
                        <a:rPr sz="1100" b="0">
                          <a:solidFill>
                            <a:srgbClr val="8089B9"/>
                          </a:solidFill>
                        </a:rPr>
                        <a:t>Channel Horizon</a:t>
                      </a:r>
                    </a:p>
                  </a:txBody>
                  <a:tcPr>
                    <a:solidFill>
                      <a:srgbClr val="E2DCF4"/>
                    </a:solidFill>
                  </a:tcPr>
                </a:tc>
                <a:tc>
                  <a:txBody>
                    <a:bodyPr/>
                    <a:lstStyle/>
                    <a:p>
                      <a:r>
                        <a:rPr sz="1100" b="0">
                          <a:solidFill>
                            <a:srgbClr val="8089B9"/>
                          </a:solidFill>
                        </a:rPr>
                        <a:t>Milestone</a:t>
                      </a:r>
                    </a:p>
                  </a:txBody>
                  <a:tcPr>
                    <a:solidFill>
                      <a:srgbClr val="CEC2EC"/>
                    </a:solidFill>
                  </a:tcPr>
                </a:tc>
                <a:extLst>
                  <a:ext uri="{0D108BD9-81ED-4DB2-BD59-A6C34878D82A}">
                    <a16:rowId xmlns:a16="http://schemas.microsoft.com/office/drawing/2014/main" val="10002"/>
                  </a:ext>
                </a:extLst>
              </a:tr>
              <a:tr h="335822">
                <a:tc>
                  <a:txBody>
                    <a:bodyPr/>
                    <a:lstStyle/>
                    <a:p>
                      <a:r>
                        <a:rPr sz="1100" b="0">
                          <a:solidFill>
                            <a:srgbClr val="8089B9"/>
                          </a:solidFill>
                        </a:rPr>
                        <a:t>Buffer Estimate</a:t>
                      </a:r>
                    </a:p>
                  </a:txBody>
                  <a:tcPr>
                    <a:solidFill>
                      <a:srgbClr val="CEC2EC"/>
                    </a:solidFill>
                  </a:tcPr>
                </a:tc>
                <a:tc>
                  <a:txBody>
                    <a:bodyPr/>
                    <a:lstStyle/>
                    <a:p>
                      <a:r>
                        <a:rPr sz="1100" b="0">
                          <a:solidFill>
                            <a:srgbClr val="8089B9"/>
                          </a:solidFill>
                        </a:rPr>
                        <a:t>Stream Token</a:t>
                      </a:r>
                    </a:p>
                  </a:txBody>
                  <a:tcPr>
                    <a:solidFill>
                      <a:srgbClr val="CEC2EC"/>
                    </a:solidFill>
                  </a:tcPr>
                </a:tc>
                <a:tc>
                  <a:txBody>
                    <a:bodyPr/>
                    <a:lstStyle/>
                    <a:p>
                      <a:r>
                        <a:rPr sz="1100" b="0">
                          <a:solidFill>
                            <a:srgbClr val="8089B9"/>
                          </a:solidFill>
                        </a:rPr>
                        <a:t>Structure Stage</a:t>
                      </a:r>
                    </a:p>
                  </a:txBody>
                  <a:tcPr>
                    <a:solidFill>
                      <a:srgbClr val="CEC2EC"/>
                    </a:solidFill>
                  </a:tcPr>
                </a:tc>
                <a:tc>
                  <a:txBody>
                    <a:bodyPr/>
                    <a:lstStyle/>
                    <a:p>
                      <a:r>
                        <a:rPr sz="1100" b="0">
                          <a:solidFill>
                            <a:srgbClr val="8089B9"/>
                          </a:solidFill>
                        </a:rPr>
                        <a:t>Source Benchmark</a:t>
                      </a:r>
                    </a:p>
                  </a:txBody>
                  <a:tcPr>
                    <a:solidFill>
                      <a:srgbClr val="CEC2EC"/>
                    </a:solidFill>
                  </a:tcPr>
                </a:tc>
                <a:tc>
                  <a:txBody>
                    <a:bodyPr/>
                    <a:lstStyle/>
                    <a:p>
                      <a:r>
                        <a:rPr sz="1100" b="0">
                          <a:solidFill>
                            <a:srgbClr val="8089B9"/>
                          </a:solidFill>
                        </a:rPr>
                        <a:t>Spectrum Dispatch</a:t>
                      </a:r>
                    </a:p>
                  </a:txBody>
                  <a:tcPr>
                    <a:solidFill>
                      <a:srgbClr val="CEC2EC"/>
                    </a:solidFill>
                  </a:tcPr>
                </a:tc>
                <a:tc>
                  <a:txBody>
                    <a:bodyPr/>
                    <a:lstStyle/>
                    <a:p>
                      <a:r>
                        <a:rPr sz="1100" b="0">
                          <a:solidFill>
                            <a:srgbClr val="8089B9"/>
                          </a:solidFill>
                        </a:rPr>
                        <a:t>Briefing</a:t>
                      </a:r>
                    </a:p>
                  </a:txBody>
                  <a:tcPr>
                    <a:solidFill>
                      <a:srgbClr val="CEC2EC"/>
                    </a:solidFill>
                  </a:tcPr>
                </a:tc>
                <a:extLst>
                  <a:ext uri="{0D108BD9-81ED-4DB2-BD59-A6C34878D82A}">
                    <a16:rowId xmlns:a16="http://schemas.microsoft.com/office/drawing/2014/main" val="10003"/>
                  </a:ext>
                </a:extLst>
              </a:tr>
            </a:tbl>
          </a:graphicData>
        </a:graphic>
      </p:graphicFrame>
      <p:cxnSp>
        <p:nvCxnSpPr>
          <p:cNvPr id="26" name="Connector 25"/>
          <p:cNvCxnSpPr/>
          <p:nvPr/>
        </p:nvCxnSpPr>
        <p:spPr>
          <a:xfrm>
            <a:off x="9433939" y="1198456"/>
            <a:ext cx="2105410" cy="491483"/>
          </a:xfrm>
          <a:prstGeom prst="curvedConnector3">
            <a:avLst/>
          </a:prstGeom>
          <a:ln w="28427">
            <a:solidFill>
              <a:srgbClr val="4F5F98"/>
            </a:solidFill>
            <a:prstDash val="dot"/>
          </a:ln>
        </p:spPr>
        <p:style>
          <a:lnRef idx="2">
            <a:schemeClr val="accent1"/>
          </a:lnRef>
          <a:fillRef idx="0">
            <a:schemeClr val="accent1"/>
          </a:fillRef>
          <a:effectRef idx="1">
            <a:schemeClr val="accent1"/>
          </a:effectRef>
          <a:fontRef idx="minor">
            <a:schemeClr val="tx1"/>
          </a:fontRef>
        </p:style>
      </p:cxnSp>
      <p:pic>
        <p:nvPicPr>
          <p:cNvPr id="28" name="Graphic 27">
            <a:extLst>
              <a:ext uri="{FF2B5EF4-FFF2-40B4-BE49-F238E27FC236}">
                <a16:creationId xmlns:a16="http://schemas.microsoft.com/office/drawing/2014/main" id="{1279DF89-FC49-F4A4-A8C8-159DBDDB012C}"/>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541286" y="592046"/>
            <a:ext cx="996721" cy="1121603"/>
          </a:xfrm>
          <a:prstGeom prst="rect">
            <a:avLst/>
          </a:prstGeom>
        </p:spPr>
      </p:pic>
      <p:pic>
        <p:nvPicPr>
          <p:cNvPr id="30" name="Graphic 29">
            <a:extLst>
              <a:ext uri="{FF2B5EF4-FFF2-40B4-BE49-F238E27FC236}">
                <a16:creationId xmlns:a16="http://schemas.microsoft.com/office/drawing/2014/main" id="{B8C58ACD-D50C-875E-BBEE-B57F3E4BB08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07309" y="3147848"/>
            <a:ext cx="928703" cy="78087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9957769" y="3883640"/>
          <a:ext cx="2013532" cy="2382652"/>
        </p:xfrm>
        <a:graphic>
          <a:graphicData uri="http://schemas.openxmlformats.org/drawingml/2006/table">
            <a:tbl>
              <a:tblPr firstRow="1" bandRow="1">
                <a:tableStyleId>{5C22544A-7EE6-4342-B048-85BDC9FD1C3A}</a:tableStyleId>
              </a:tblPr>
              <a:tblGrid>
                <a:gridCol w="402706">
                  <a:extLst>
                    <a:ext uri="{9D8B030D-6E8A-4147-A177-3AD203B41FA5}">
                      <a16:colId xmlns:a16="http://schemas.microsoft.com/office/drawing/2014/main" val="20000"/>
                    </a:ext>
                  </a:extLst>
                </a:gridCol>
                <a:gridCol w="402706">
                  <a:extLst>
                    <a:ext uri="{9D8B030D-6E8A-4147-A177-3AD203B41FA5}">
                      <a16:colId xmlns:a16="http://schemas.microsoft.com/office/drawing/2014/main" val="20001"/>
                    </a:ext>
                  </a:extLst>
                </a:gridCol>
                <a:gridCol w="402706">
                  <a:extLst>
                    <a:ext uri="{9D8B030D-6E8A-4147-A177-3AD203B41FA5}">
                      <a16:colId xmlns:a16="http://schemas.microsoft.com/office/drawing/2014/main" val="20002"/>
                    </a:ext>
                  </a:extLst>
                </a:gridCol>
                <a:gridCol w="402706">
                  <a:extLst>
                    <a:ext uri="{9D8B030D-6E8A-4147-A177-3AD203B41FA5}">
                      <a16:colId xmlns:a16="http://schemas.microsoft.com/office/drawing/2014/main" val="20003"/>
                    </a:ext>
                  </a:extLst>
                </a:gridCol>
                <a:gridCol w="402708">
                  <a:extLst>
                    <a:ext uri="{9D8B030D-6E8A-4147-A177-3AD203B41FA5}">
                      <a16:colId xmlns:a16="http://schemas.microsoft.com/office/drawing/2014/main" val="20004"/>
                    </a:ext>
                  </a:extLst>
                </a:gridCol>
              </a:tblGrid>
              <a:tr h="595663">
                <a:tc>
                  <a:txBody>
                    <a:bodyPr/>
                    <a:lstStyle/>
                    <a:p>
                      <a:r>
                        <a:rPr sz="700" b="1">
                          <a:solidFill>
                            <a:srgbClr val="9AB098"/>
                          </a:solidFill>
                        </a:rPr>
                        <a:t>Segment Archive</a:t>
                      </a:r>
                    </a:p>
                  </a:txBody>
                  <a:tcPr>
                    <a:solidFill>
                      <a:srgbClr val="CAE261"/>
                    </a:solidFill>
                  </a:tcPr>
                </a:tc>
                <a:tc>
                  <a:txBody>
                    <a:bodyPr/>
                    <a:lstStyle/>
                    <a:p>
                      <a:r>
                        <a:rPr sz="700" b="1">
                          <a:solidFill>
                            <a:srgbClr val="9AB098"/>
                          </a:solidFill>
                        </a:rPr>
                        <a:t>Logic Collection</a:t>
                      </a:r>
                    </a:p>
                  </a:txBody>
                  <a:tcPr>
                    <a:solidFill>
                      <a:srgbClr val="CAE261"/>
                    </a:solidFill>
                  </a:tcPr>
                </a:tc>
                <a:tc>
                  <a:txBody>
                    <a:bodyPr/>
                    <a:lstStyle/>
                    <a:p>
                      <a:r>
                        <a:rPr sz="700" b="1">
                          <a:solidFill>
                            <a:srgbClr val="9AB098"/>
                          </a:solidFill>
                        </a:rPr>
                        <a:t>Request Action</a:t>
                      </a:r>
                    </a:p>
                  </a:txBody>
                  <a:tcPr>
                    <a:solidFill>
                      <a:srgbClr val="CAE261"/>
                    </a:solidFill>
                  </a:tcPr>
                </a:tc>
                <a:tc>
                  <a:txBody>
                    <a:bodyPr/>
                    <a:lstStyle/>
                    <a:p>
                      <a:r>
                        <a:rPr sz="700" b="1">
                          <a:solidFill>
                            <a:srgbClr val="9AB098"/>
                          </a:solidFill>
                        </a:rPr>
                        <a:t>Phase Direction</a:t>
                      </a:r>
                    </a:p>
                  </a:txBody>
                  <a:tcPr>
                    <a:solidFill>
                      <a:srgbClr val="CAE261"/>
                    </a:solidFill>
                  </a:tcPr>
                </a:tc>
                <a:tc>
                  <a:txBody>
                    <a:bodyPr/>
                    <a:lstStyle/>
                    <a:p>
                      <a:r>
                        <a:rPr sz="700" b="1">
                          <a:solidFill>
                            <a:srgbClr val="9AB098"/>
                          </a:solidFill>
                        </a:rPr>
                        <a:t>Segment</a:t>
                      </a:r>
                    </a:p>
                  </a:txBody>
                  <a:tcPr>
                    <a:solidFill>
                      <a:srgbClr val="CAE261"/>
                    </a:solidFill>
                  </a:tcPr>
                </a:tc>
                <a:extLst>
                  <a:ext uri="{0D108BD9-81ED-4DB2-BD59-A6C34878D82A}">
                    <a16:rowId xmlns:a16="http://schemas.microsoft.com/office/drawing/2014/main" val="10000"/>
                  </a:ext>
                </a:extLst>
              </a:tr>
              <a:tr h="595663">
                <a:tc>
                  <a:txBody>
                    <a:bodyPr/>
                    <a:lstStyle/>
                    <a:p>
                      <a:r>
                        <a:rPr sz="700" b="0">
                          <a:solidFill>
                            <a:srgbClr val="9AB098"/>
                          </a:solidFill>
                        </a:rPr>
                        <a:t>Sample</a:t>
                      </a:r>
                    </a:p>
                  </a:txBody>
                  <a:tcPr>
                    <a:solidFill>
                      <a:srgbClr val="EEECD5"/>
                    </a:solidFill>
                  </a:tcPr>
                </a:tc>
                <a:tc>
                  <a:txBody>
                    <a:bodyPr/>
                    <a:lstStyle/>
                    <a:p>
                      <a:r>
                        <a:rPr sz="700" b="0">
                          <a:solidFill>
                            <a:srgbClr val="9AB098"/>
                          </a:solidFill>
                        </a:rPr>
                        <a:t>Template</a:t>
                      </a:r>
                    </a:p>
                  </a:txBody>
                  <a:tcPr>
                    <a:solidFill>
                      <a:srgbClr val="EEECD5"/>
                    </a:solidFill>
                  </a:tcPr>
                </a:tc>
                <a:tc>
                  <a:txBody>
                    <a:bodyPr/>
                    <a:lstStyle/>
                    <a:p>
                      <a:r>
                        <a:rPr sz="700" b="0">
                          <a:solidFill>
                            <a:srgbClr val="9AB098"/>
                          </a:solidFill>
                        </a:rPr>
                        <a:t>Heading</a:t>
                      </a:r>
                    </a:p>
                  </a:txBody>
                  <a:tcPr>
                    <a:solidFill>
                      <a:srgbClr val="EEECD5"/>
                    </a:solidFill>
                  </a:tcPr>
                </a:tc>
                <a:tc>
                  <a:txBody>
                    <a:bodyPr/>
                    <a:lstStyle/>
                    <a:p>
                      <a:r>
                        <a:rPr sz="700" b="0">
                          <a:solidFill>
                            <a:srgbClr val="9AB098"/>
                          </a:solidFill>
                        </a:rPr>
                        <a:t>Coverage</a:t>
                      </a:r>
                    </a:p>
                  </a:txBody>
                  <a:tcPr>
                    <a:solidFill>
                      <a:srgbClr val="EEECD5"/>
                    </a:solidFill>
                  </a:tcPr>
                </a:tc>
                <a:tc>
                  <a:txBody>
                    <a:bodyPr/>
                    <a:lstStyle/>
                    <a:p>
                      <a:r>
                        <a:rPr sz="700" b="0">
                          <a:solidFill>
                            <a:srgbClr val="9AB098"/>
                          </a:solidFill>
                        </a:rPr>
                        <a:t>Thread</a:t>
                      </a:r>
                    </a:p>
                  </a:txBody>
                  <a:tcPr>
                    <a:solidFill>
                      <a:srgbClr val="EEECD5"/>
                    </a:solidFill>
                  </a:tcPr>
                </a:tc>
                <a:extLst>
                  <a:ext uri="{0D108BD9-81ED-4DB2-BD59-A6C34878D82A}">
                    <a16:rowId xmlns:a16="http://schemas.microsoft.com/office/drawing/2014/main" val="10001"/>
                  </a:ext>
                </a:extLst>
              </a:tr>
              <a:tr h="595663">
                <a:tc>
                  <a:txBody>
                    <a:bodyPr/>
                    <a:lstStyle/>
                    <a:p>
                      <a:r>
                        <a:rPr sz="700" b="0">
                          <a:solidFill>
                            <a:srgbClr val="9AB098"/>
                          </a:solidFill>
                        </a:rPr>
                        <a:t>Checkpoint Journey</a:t>
                      </a:r>
                    </a:p>
                  </a:txBody>
                  <a:tcPr>
                    <a:solidFill>
                      <a:srgbClr val="F5F3E5"/>
                    </a:solidFill>
                  </a:tcPr>
                </a:tc>
                <a:tc>
                  <a:txBody>
                    <a:bodyPr/>
                    <a:lstStyle/>
                    <a:p>
                      <a:r>
                        <a:rPr sz="700" b="0">
                          <a:solidFill>
                            <a:srgbClr val="9AB098"/>
                          </a:solidFill>
                        </a:rPr>
                        <a:t>Logic</a:t>
                      </a:r>
                    </a:p>
                  </a:txBody>
                  <a:tcPr>
                    <a:solidFill>
                      <a:srgbClr val="EEECD5"/>
                    </a:solidFill>
                  </a:tcPr>
                </a:tc>
                <a:tc>
                  <a:txBody>
                    <a:bodyPr/>
                    <a:lstStyle/>
                    <a:p>
                      <a:r>
                        <a:rPr sz="700" b="0">
                          <a:solidFill>
                            <a:srgbClr val="9AB098"/>
                          </a:solidFill>
                        </a:rPr>
                        <a:t>Library</a:t>
                      </a:r>
                    </a:p>
                  </a:txBody>
                  <a:tcPr>
                    <a:solidFill>
                      <a:srgbClr val="F5F3E5"/>
                    </a:solidFill>
                  </a:tcPr>
                </a:tc>
                <a:tc>
                  <a:txBody>
                    <a:bodyPr/>
                    <a:lstStyle/>
                    <a:p>
                      <a:r>
                        <a:rPr sz="700" b="0">
                          <a:solidFill>
                            <a:srgbClr val="9AB098"/>
                          </a:solidFill>
                        </a:rPr>
                        <a:t>Path Rhythm</a:t>
                      </a:r>
                    </a:p>
                  </a:txBody>
                  <a:tcPr>
                    <a:solidFill>
                      <a:srgbClr val="EEECD5"/>
                    </a:solidFill>
                  </a:tcPr>
                </a:tc>
                <a:tc>
                  <a:txBody>
                    <a:bodyPr/>
                    <a:lstStyle/>
                    <a:p>
                      <a:r>
                        <a:rPr sz="700" b="0">
                          <a:solidFill>
                            <a:srgbClr val="9AB098"/>
                          </a:solidFill>
                        </a:rPr>
                        <a:t>Queue</a:t>
                      </a:r>
                    </a:p>
                  </a:txBody>
                  <a:tcPr>
                    <a:solidFill>
                      <a:srgbClr val="F5F3E5"/>
                    </a:solidFill>
                  </a:tcPr>
                </a:tc>
                <a:extLst>
                  <a:ext uri="{0D108BD9-81ED-4DB2-BD59-A6C34878D82A}">
                    <a16:rowId xmlns:a16="http://schemas.microsoft.com/office/drawing/2014/main" val="10002"/>
                  </a:ext>
                </a:extLst>
              </a:tr>
              <a:tr h="595663">
                <a:tc>
                  <a:txBody>
                    <a:bodyPr/>
                    <a:lstStyle/>
                    <a:p>
                      <a:r>
                        <a:rPr sz="700" b="0">
                          <a:solidFill>
                            <a:srgbClr val="9AB098"/>
                          </a:solidFill>
                        </a:rPr>
                        <a:t>Lineage</a:t>
                      </a:r>
                    </a:p>
                  </a:txBody>
                  <a:tcPr>
                    <a:solidFill>
                      <a:srgbClr val="EEECD5"/>
                    </a:solidFill>
                  </a:tcPr>
                </a:tc>
                <a:tc>
                  <a:txBody>
                    <a:bodyPr/>
                    <a:lstStyle/>
                    <a:p>
                      <a:r>
                        <a:rPr sz="700" b="0">
                          <a:solidFill>
                            <a:srgbClr val="9AB098"/>
                          </a:solidFill>
                        </a:rPr>
                        <a:t>Map</a:t>
                      </a:r>
                    </a:p>
                  </a:txBody>
                  <a:tcPr>
                    <a:solidFill>
                      <a:srgbClr val="EEECD5"/>
                    </a:solidFill>
                  </a:tcPr>
                </a:tc>
                <a:tc>
                  <a:txBody>
                    <a:bodyPr/>
                    <a:lstStyle/>
                    <a:p>
                      <a:r>
                        <a:rPr sz="700" b="0">
                          <a:solidFill>
                            <a:srgbClr val="9AB098"/>
                          </a:solidFill>
                        </a:rPr>
                        <a:t>Segment Ledger</a:t>
                      </a:r>
                    </a:p>
                  </a:txBody>
                  <a:tcPr>
                    <a:solidFill>
                      <a:srgbClr val="EEECD5"/>
                    </a:solidFill>
                  </a:tcPr>
                </a:tc>
                <a:tc>
                  <a:txBody>
                    <a:bodyPr/>
                    <a:lstStyle/>
                    <a:p>
                      <a:r>
                        <a:rPr sz="700" b="0">
                          <a:solidFill>
                            <a:srgbClr val="9AB098"/>
                          </a:solidFill>
                        </a:rPr>
                        <a:t>Summary</a:t>
                      </a:r>
                    </a:p>
                  </a:txBody>
                  <a:tcPr>
                    <a:solidFill>
                      <a:srgbClr val="EEECD5"/>
                    </a:solidFill>
                  </a:tcPr>
                </a:tc>
                <a:tc>
                  <a:txBody>
                    <a:bodyPr/>
                    <a:lstStyle/>
                    <a:p>
                      <a:r>
                        <a:rPr sz="700" b="0">
                          <a:solidFill>
                            <a:srgbClr val="9AB098"/>
                          </a:solidFill>
                        </a:rPr>
                        <a:t>Handle Option</a:t>
                      </a:r>
                    </a:p>
                  </a:txBody>
                  <a:tcPr>
                    <a:solidFill>
                      <a:srgbClr val="EEECD5"/>
                    </a:solidFill>
                  </a:tcPr>
                </a:tc>
                <a:extLst>
                  <a:ext uri="{0D108BD9-81ED-4DB2-BD59-A6C34878D82A}">
                    <a16:rowId xmlns:a16="http://schemas.microsoft.com/office/drawing/2014/main" val="10003"/>
                  </a:ext>
                </a:extLst>
              </a:tr>
            </a:tbl>
          </a:graphicData>
        </a:graphic>
      </p:graphicFrame>
      <p:sp>
        <p:nvSpPr>
          <p:cNvPr id="3" name="Wave 2"/>
          <p:cNvSpPr/>
          <p:nvPr/>
        </p:nvSpPr>
        <p:spPr>
          <a:xfrm>
            <a:off x="6837942" y="3460835"/>
            <a:ext cx="1284281" cy="396739"/>
          </a:xfrm>
          <a:prstGeom prst="wave">
            <a:avLst/>
          </a:prstGeom>
          <a:noFill/>
          <a:ln w="13718">
            <a:solidFill>
              <a:srgbClr val="A3676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80941" y="3890612"/>
            <a:ext cx="435827" cy="663538"/>
          </a:xfrm>
          <a:prstGeom prst="rect">
            <a:avLst/>
          </a:prstGeom>
          <a:solidFill>
            <a:srgbClr val="458729"/>
          </a:solidFill>
        </p:spPr>
        <p:txBody>
          <a:bodyPr wrap="none" lIns="35684" tIns="35684" rIns="35684" bIns="35684">
            <a:spAutoFit/>
          </a:bodyPr>
          <a:lstStyle/>
          <a:p>
            <a:r>
              <a:rPr sz="1300" b="0" i="1" u="none">
                <a:solidFill>
                  <a:srgbClr val="1FDF7E"/>
                </a:solidFill>
                <a:latin typeface="Calibri"/>
              </a:rPr>
              <a:t>Needle State</a:t>
            </a:r>
          </a:p>
        </p:txBody>
      </p:sp>
      <p:pic>
        <p:nvPicPr>
          <p:cNvPr id="5" name="Picture 4" descr="_example_image.jpg"/>
          <p:cNvPicPr>
            <a:picLocks noChangeAspect="1"/>
          </p:cNvPicPr>
          <p:nvPr/>
        </p:nvPicPr>
        <p:blipFill>
          <a:blip r:embed="rId2"/>
          <a:srcRect l="10375" t="4128" r="3725" b="5097"/>
          <a:stretch>
            <a:fillRect/>
          </a:stretch>
        </p:blipFill>
        <p:spPr>
          <a:xfrm>
            <a:off x="1180958" y="173414"/>
            <a:ext cx="1490047" cy="1754911"/>
          </a:xfrm>
          <a:prstGeom prst="rect">
            <a:avLst/>
          </a:prstGeom>
        </p:spPr>
      </p:pic>
      <p:sp>
        <p:nvSpPr>
          <p:cNvPr id="6" name="U-Turn Arrow 5"/>
          <p:cNvSpPr/>
          <p:nvPr/>
        </p:nvSpPr>
        <p:spPr>
          <a:xfrm>
            <a:off x="2008232" y="548122"/>
            <a:ext cx="460153" cy="252382"/>
          </a:xfrm>
          <a:prstGeom prst="uturnArrow">
            <a:avLst/>
          </a:prstGeom>
          <a:solidFill>
            <a:srgbClr val="57703A"/>
          </a:solidFill>
          <a:ln w="31222">
            <a:solidFill>
              <a:srgbClr val="AF6E9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5-Point Star 6"/>
          <p:cNvSpPr/>
          <p:nvPr/>
        </p:nvSpPr>
        <p:spPr>
          <a:xfrm>
            <a:off x="3250366" y="1467817"/>
            <a:ext cx="1056218" cy="2002845"/>
          </a:xfrm>
          <a:prstGeom prst="star5">
            <a:avLst/>
          </a:prstGeom>
          <a:solidFill>
            <a:srgbClr val="64CC7F"/>
          </a:solidFill>
          <a:ln w="9617">
            <a:solidFill>
              <a:srgbClr val="51BCB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l="5199" t="19655" r="5812" b="15197"/>
          <a:stretch>
            <a:fillRect/>
          </a:stretch>
        </p:blipFill>
        <p:spPr>
          <a:xfrm>
            <a:off x="3694792" y="5530322"/>
            <a:ext cx="2552309" cy="1178182"/>
          </a:xfrm>
          <a:prstGeom prst="rect">
            <a:avLst/>
          </a:prstGeom>
        </p:spPr>
      </p:pic>
      <p:sp>
        <p:nvSpPr>
          <p:cNvPr id="9" name="Rounded Rectangle 8"/>
          <p:cNvSpPr/>
          <p:nvPr/>
        </p:nvSpPr>
        <p:spPr>
          <a:xfrm>
            <a:off x="3694792" y="5530322"/>
            <a:ext cx="2552309" cy="1178182"/>
          </a:xfrm>
          <a:prstGeom prst="roundRect">
            <a:avLst/>
          </a:prstGeom>
          <a:noFill/>
          <a:ln w="15240">
            <a:solidFill>
              <a:srgbClr val="40549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urved Right Arrow 9"/>
          <p:cNvSpPr/>
          <p:nvPr/>
        </p:nvSpPr>
        <p:spPr>
          <a:xfrm>
            <a:off x="8656737" y="1978072"/>
            <a:ext cx="1671229" cy="1918249"/>
          </a:xfrm>
          <a:prstGeom prst="curvedRightArrow">
            <a:avLst/>
          </a:prstGeom>
          <a:solidFill>
            <a:srgbClr val="9D6C68"/>
          </a:solidFill>
          <a:ln w="26587">
            <a:solidFill>
              <a:srgbClr val="94E48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828740" y="2874624"/>
            <a:ext cx="1034459" cy="726521"/>
          </a:xfrm>
          <a:custGeom>
            <a:avLst/>
            <a:gdLst/>
            <a:ahLst/>
            <a:cxnLst/>
            <a:rect l="l" t="t" r="r" b="b"/>
            <a:pathLst>
              <a:path w="1034459" h="726521">
                <a:moveTo>
                  <a:pt x="517230" y="0"/>
                </a:moveTo>
                <a:lnTo>
                  <a:pt x="646537" y="181630"/>
                </a:lnTo>
                <a:lnTo>
                  <a:pt x="969806" y="130774"/>
                </a:lnTo>
                <a:lnTo>
                  <a:pt x="786620" y="363261"/>
                </a:lnTo>
                <a:lnTo>
                  <a:pt x="1034459" y="566686"/>
                </a:lnTo>
                <a:lnTo>
                  <a:pt x="646537" y="523095"/>
                </a:lnTo>
                <a:lnTo>
                  <a:pt x="517230" y="726521"/>
                </a:lnTo>
                <a:lnTo>
                  <a:pt x="387922" y="523095"/>
                </a:lnTo>
                <a:lnTo>
                  <a:pt x="0" y="566686"/>
                </a:lnTo>
                <a:lnTo>
                  <a:pt x="247839" y="363261"/>
                </a:lnTo>
                <a:lnTo>
                  <a:pt x="64653" y="130774"/>
                </a:lnTo>
                <a:lnTo>
                  <a:pt x="387922" y="181630"/>
                </a:lnTo>
                <a:close/>
              </a:path>
            </a:pathLst>
          </a:custGeom>
          <a:solidFill>
            <a:srgbClr val="D49478"/>
          </a:solidFill>
          <a:ln w="29348">
            <a:solidFill>
              <a:srgbClr val="BC6B8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72793" y="4058033"/>
            <a:ext cx="1171889" cy="1383242"/>
          </a:xfrm>
          <a:prstGeom prst="rect">
            <a:avLst/>
          </a:prstGeom>
          <a:noFill/>
        </p:spPr>
        <p:txBody>
          <a:bodyPr wrap="none" lIns="62082" tIns="62082" rIns="62082" bIns="62082">
            <a:spAutoFit/>
          </a:bodyPr>
          <a:lstStyle/>
          <a:p>
            <a:r>
              <a:rPr sz="1000" b="0" i="0" u="none">
                <a:solidFill>
                  <a:srgbClr val="DA2975"/>
                </a:solidFill>
                <a:latin typeface="Calibri"/>
              </a:rPr>
              <a:t>Network</a:t>
            </a:r>
          </a:p>
        </p:txBody>
      </p:sp>
      <p:cxnSp>
        <p:nvCxnSpPr>
          <p:cNvPr id="13" name="Connector 12"/>
          <p:cNvCxnSpPr/>
          <p:nvPr/>
        </p:nvCxnSpPr>
        <p:spPr>
          <a:xfrm flipV="1">
            <a:off x="4258181" y="434479"/>
            <a:ext cx="1017780" cy="1011201"/>
          </a:xfrm>
          <a:prstGeom prst="curvedConnector3">
            <a:avLst/>
          </a:prstGeom>
          <a:ln w="19551">
            <a:solidFill>
              <a:srgbClr val="72771B"/>
            </a:solidFill>
            <a:prstDash val="dashDot"/>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07590" y="1717642"/>
            <a:ext cx="1039846" cy="915836"/>
          </a:xfrm>
          <a:prstGeom prst="rect">
            <a:avLst/>
          </a:prstGeom>
          <a:solidFill>
            <a:srgbClr val="6B6A4F"/>
          </a:solidFill>
        </p:spPr>
        <p:txBody>
          <a:bodyPr wrap="none" lIns="85924" tIns="85924" rIns="85924" bIns="85924">
            <a:spAutoFit/>
          </a:bodyPr>
          <a:lstStyle/>
          <a:p>
            <a:r>
              <a:rPr sz="5700" b="1" i="0" u="none">
                <a:solidFill>
                  <a:srgbClr val="481C6E"/>
                </a:solidFill>
                <a:latin typeface="Aptos"/>
              </a:rPr>
              <a:t>Bridge Exchange Apex Velocity System Anchor</a:t>
            </a:r>
          </a:p>
        </p:txBody>
      </p:sp>
      <p:graphicFrame>
        <p:nvGraphicFramePr>
          <p:cNvPr id="15" name="Chart 14"/>
          <p:cNvGraphicFramePr>
            <a:graphicFrameLocks noGrp="1"/>
          </p:cNvGraphicFramePr>
          <p:nvPr/>
        </p:nvGraphicFramePr>
        <p:xfrm>
          <a:off x="6760076" y="5099736"/>
          <a:ext cx="3763004" cy="1586803"/>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15"/>
          <p:cNvSpPr txBox="1"/>
          <p:nvPr/>
        </p:nvSpPr>
        <p:spPr>
          <a:xfrm>
            <a:off x="2943303" y="4054269"/>
            <a:ext cx="2313365" cy="713957"/>
          </a:xfrm>
          <a:prstGeom prst="rect">
            <a:avLst/>
          </a:prstGeom>
          <a:solidFill>
            <a:srgbClr val="809EB4"/>
          </a:solidFill>
        </p:spPr>
        <p:txBody>
          <a:bodyPr wrap="none" lIns="39102" tIns="39102" rIns="39102" bIns="39102">
            <a:spAutoFit/>
          </a:bodyPr>
          <a:lstStyle/>
          <a:p>
            <a:r>
              <a:rPr sz="1300" b="1" i="0" u="sng">
                <a:solidFill>
                  <a:srgbClr val="805D83"/>
                </a:solidFill>
                <a:latin typeface="Trebuchet MS"/>
              </a:rPr>
              <a:t>Domain</a:t>
            </a:r>
          </a:p>
        </p:txBody>
      </p:sp>
      <p:sp>
        <p:nvSpPr>
          <p:cNvPr id="17" name="TextBox 16"/>
          <p:cNvSpPr txBox="1"/>
          <p:nvPr/>
        </p:nvSpPr>
        <p:spPr>
          <a:xfrm>
            <a:off x="4598854" y="1281406"/>
            <a:ext cx="1128805" cy="1569704"/>
          </a:xfrm>
          <a:prstGeom prst="rect">
            <a:avLst/>
          </a:prstGeom>
          <a:noFill/>
        </p:spPr>
        <p:txBody>
          <a:bodyPr wrap="none" lIns="36355" tIns="36355" rIns="36355" bIns="36355">
            <a:spAutoFit/>
          </a:bodyPr>
          <a:lstStyle/>
          <a:p>
            <a:r>
              <a:rPr sz="1800" b="1" i="0" u="none">
                <a:solidFill>
                  <a:srgbClr val="3296C4"/>
                </a:solidFill>
                <a:latin typeface="Trebuchet MS"/>
              </a:rPr>
              <a:t>Table Terminal Thread Atlas Build Goal Duration Token Duration Audit Program Channel Deployment Field Object Design Lineage Lineage Spectrum Route Handle Path Inventory Stream Harbor Response Origin Region Atlas Entity Span Diagram Target Profile Capacity Flow Edge Order Event Aspect Target Layer</a:t>
            </a:r>
          </a:p>
        </p:txBody>
      </p:sp>
      <p:sp>
        <p:nvSpPr>
          <p:cNvPr id="18" name="U-Turn Arrow 17"/>
          <p:cNvSpPr/>
          <p:nvPr/>
        </p:nvSpPr>
        <p:spPr>
          <a:xfrm>
            <a:off x="656216" y="5529561"/>
            <a:ext cx="2736766" cy="889919"/>
          </a:xfrm>
          <a:prstGeom prst="uturnArrow">
            <a:avLst/>
          </a:prstGeom>
          <a:solidFill>
            <a:srgbClr val="3A8887"/>
          </a:solidFill>
          <a:ln w="19365">
            <a:solidFill>
              <a:srgbClr val="98E18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1984212" y="3739705"/>
            <a:ext cx="837329" cy="1001181"/>
          </a:xfrm>
          <a:custGeom>
            <a:avLst/>
            <a:gdLst/>
            <a:ahLst/>
            <a:cxnLst/>
            <a:rect l="l" t="t" r="r" b="b"/>
            <a:pathLst>
              <a:path w="837329" h="1001181">
                <a:moveTo>
                  <a:pt x="0" y="222484"/>
                </a:moveTo>
                <a:lnTo>
                  <a:pt x="180070" y="0"/>
                </a:lnTo>
                <a:lnTo>
                  <a:pt x="360141" y="300354"/>
                </a:lnTo>
                <a:lnTo>
                  <a:pt x="540212" y="33372"/>
                </a:lnTo>
                <a:lnTo>
                  <a:pt x="837329" y="778696"/>
                </a:lnTo>
                <a:lnTo>
                  <a:pt x="630247" y="1001181"/>
                </a:lnTo>
                <a:lnTo>
                  <a:pt x="432169" y="667454"/>
                </a:lnTo>
                <a:lnTo>
                  <a:pt x="207081" y="967808"/>
                </a:lnTo>
                <a:close/>
              </a:path>
            </a:pathLst>
          </a:custGeom>
          <a:solidFill>
            <a:srgbClr val="487177"/>
          </a:solidFill>
          <a:ln w="34077">
            <a:solidFill>
              <a:srgbClr val="6A52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10141791" y="2849376"/>
            <a:ext cx="1615498" cy="388880"/>
          </a:xfrm>
          <a:prstGeom prst="curvedConnector3">
            <a:avLst/>
          </a:prstGeom>
          <a:ln w="27844">
            <a:solidFill>
              <a:srgbClr val="C8E46B"/>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21" name="Chart 20"/>
          <p:cNvGraphicFramePr>
            <a:graphicFrameLocks noGrp="1"/>
          </p:cNvGraphicFramePr>
          <p:nvPr/>
        </p:nvGraphicFramePr>
        <p:xfrm>
          <a:off x="8584729" y="3618640"/>
          <a:ext cx="2014006" cy="1547861"/>
        </p:xfrm>
        <a:graphic>
          <a:graphicData uri="http://schemas.openxmlformats.org/drawingml/2006/chart">
            <c:chart xmlns:c="http://schemas.openxmlformats.org/drawingml/2006/chart" xmlns:r="http://schemas.openxmlformats.org/officeDocument/2006/relationships" r:id="rId4"/>
          </a:graphicData>
        </a:graphic>
      </p:graphicFrame>
      <p:pic>
        <p:nvPicPr>
          <p:cNvPr id="22" name="Picture 21" descr="_example_image.jpg"/>
          <p:cNvPicPr>
            <a:picLocks noChangeAspect="1"/>
          </p:cNvPicPr>
          <p:nvPr/>
        </p:nvPicPr>
        <p:blipFill>
          <a:blip r:embed="rId2"/>
          <a:srcRect l="19927" t="15886" r="1888" b="19148"/>
          <a:stretch>
            <a:fillRect/>
          </a:stretch>
        </p:blipFill>
        <p:spPr>
          <a:xfrm>
            <a:off x="4254031" y="3284147"/>
            <a:ext cx="2069675" cy="970207"/>
          </a:xfrm>
          <a:prstGeom prst="rect">
            <a:avLst/>
          </a:prstGeom>
        </p:spPr>
      </p:pic>
      <p:sp>
        <p:nvSpPr>
          <p:cNvPr id="23" name="TextBox 22"/>
          <p:cNvSpPr txBox="1"/>
          <p:nvPr/>
        </p:nvSpPr>
        <p:spPr>
          <a:xfrm>
            <a:off x="10667902" y="1205290"/>
            <a:ext cx="858997" cy="1593609"/>
          </a:xfrm>
          <a:prstGeom prst="rect">
            <a:avLst/>
          </a:prstGeom>
          <a:noFill/>
        </p:spPr>
        <p:txBody>
          <a:bodyPr wrap="none" lIns="67963" tIns="67963" rIns="67963" bIns="67963">
            <a:spAutoFit/>
          </a:bodyPr>
          <a:lstStyle/>
          <a:p>
            <a:r>
              <a:rPr sz="1500" b="1" i="0" u="none">
                <a:solidFill>
                  <a:srgbClr val="476FE6"/>
                </a:solidFill>
                <a:latin typeface="Trebuchet MS"/>
              </a:rPr>
              <a:t>Trace Table Duration Surface Audit Version Order Span Deck Limit Option Sync Token Cortex Module Cortex Craft Forecast Group Exchange Pattern Workflow Flow Token Exchange Signal Canvas Guide Report Mode</a:t>
            </a:r>
          </a:p>
        </p:txBody>
      </p:sp>
      <p:graphicFrame>
        <p:nvGraphicFramePr>
          <p:cNvPr id="24" name="Table 23"/>
          <p:cNvGraphicFramePr>
            <a:graphicFrameLocks noGrp="1"/>
          </p:cNvGraphicFramePr>
          <p:nvPr/>
        </p:nvGraphicFramePr>
        <p:xfrm>
          <a:off x="5888259" y="903457"/>
          <a:ext cx="3161414" cy="1433999"/>
        </p:xfrm>
        <a:graphic>
          <a:graphicData uri="http://schemas.openxmlformats.org/drawingml/2006/table">
            <a:tbl>
              <a:tblPr firstRow="1" bandRow="1">
                <a:tableStyleId>{5C22544A-7EE6-4342-B048-85BDC9FD1C3A}</a:tableStyleId>
              </a:tblPr>
              <a:tblGrid>
                <a:gridCol w="1580707">
                  <a:extLst>
                    <a:ext uri="{9D8B030D-6E8A-4147-A177-3AD203B41FA5}">
                      <a16:colId xmlns:a16="http://schemas.microsoft.com/office/drawing/2014/main" val="20000"/>
                    </a:ext>
                  </a:extLst>
                </a:gridCol>
                <a:gridCol w="1580707">
                  <a:extLst>
                    <a:ext uri="{9D8B030D-6E8A-4147-A177-3AD203B41FA5}">
                      <a16:colId xmlns:a16="http://schemas.microsoft.com/office/drawing/2014/main" val="20001"/>
                    </a:ext>
                  </a:extLst>
                </a:gridCol>
              </a:tblGrid>
              <a:tr h="204857">
                <a:tc>
                  <a:txBody>
                    <a:bodyPr/>
                    <a:lstStyle/>
                    <a:p>
                      <a:r>
                        <a:rPr sz="1000" b="0">
                          <a:solidFill>
                            <a:srgbClr val="C19D4D"/>
                          </a:solidFill>
                        </a:rPr>
                        <a:t>Pipeline Needle</a:t>
                      </a:r>
                    </a:p>
                  </a:txBody>
                  <a:tcPr>
                    <a:solidFill>
                      <a:srgbClr val="F1F8F5"/>
                    </a:solidFill>
                  </a:tcPr>
                </a:tc>
                <a:tc>
                  <a:txBody>
                    <a:bodyPr/>
                    <a:lstStyle/>
                    <a:p>
                      <a:r>
                        <a:rPr sz="1000" b="0">
                          <a:solidFill>
                            <a:srgbClr val="C19D4D"/>
                          </a:solidFill>
                        </a:rPr>
                        <a:t>Cortex Spectrum</a:t>
                      </a:r>
                    </a:p>
                  </a:txBody>
                  <a:tcPr>
                    <a:solidFill>
                      <a:srgbClr val="B5D9CA"/>
                    </a:solidFill>
                  </a:tcPr>
                </a:tc>
                <a:extLst>
                  <a:ext uri="{0D108BD9-81ED-4DB2-BD59-A6C34878D82A}">
                    <a16:rowId xmlns:a16="http://schemas.microsoft.com/office/drawing/2014/main" val="10000"/>
                  </a:ext>
                </a:extLst>
              </a:tr>
              <a:tr h="204857">
                <a:tc>
                  <a:txBody>
                    <a:bodyPr/>
                    <a:lstStyle/>
                    <a:p>
                      <a:r>
                        <a:rPr sz="1000" b="0">
                          <a:solidFill>
                            <a:srgbClr val="C19D4D"/>
                          </a:solidFill>
                        </a:rPr>
                        <a:t>Region Mesh</a:t>
                      </a:r>
                    </a:p>
                  </a:txBody>
                  <a:tcPr>
                    <a:solidFill>
                      <a:srgbClr val="B5D9CA"/>
                    </a:solidFill>
                  </a:tcPr>
                </a:tc>
                <a:tc>
                  <a:txBody>
                    <a:bodyPr/>
                    <a:lstStyle/>
                    <a:p>
                      <a:r>
                        <a:rPr sz="1000" b="0">
                          <a:solidFill>
                            <a:srgbClr val="C19D4D"/>
                          </a:solidFill>
                        </a:rPr>
                        <a:t>Stage</a:t>
                      </a:r>
                    </a:p>
                  </a:txBody>
                  <a:tcPr>
                    <a:solidFill>
                      <a:srgbClr val="B5D9CA"/>
                    </a:solidFill>
                  </a:tcPr>
                </a:tc>
                <a:extLst>
                  <a:ext uri="{0D108BD9-81ED-4DB2-BD59-A6C34878D82A}">
                    <a16:rowId xmlns:a16="http://schemas.microsoft.com/office/drawing/2014/main" val="10001"/>
                  </a:ext>
                </a:extLst>
              </a:tr>
              <a:tr h="204857">
                <a:tc>
                  <a:txBody>
                    <a:bodyPr/>
                    <a:lstStyle/>
                    <a:p>
                      <a:r>
                        <a:rPr sz="1000" b="0">
                          <a:solidFill>
                            <a:srgbClr val="C19D4D"/>
                          </a:solidFill>
                        </a:rPr>
                        <a:t>Program Insight</a:t>
                      </a:r>
                    </a:p>
                  </a:txBody>
                  <a:tcPr>
                    <a:solidFill>
                      <a:srgbClr val="F1F8F5"/>
                    </a:solidFill>
                  </a:tcPr>
                </a:tc>
                <a:tc>
                  <a:txBody>
                    <a:bodyPr/>
                    <a:lstStyle/>
                    <a:p>
                      <a:r>
                        <a:rPr sz="1000" b="0">
                          <a:solidFill>
                            <a:srgbClr val="C19D4D"/>
                          </a:solidFill>
                        </a:rPr>
                        <a:t>Velocity Origin</a:t>
                      </a:r>
                    </a:p>
                  </a:txBody>
                  <a:tcPr>
                    <a:solidFill>
                      <a:srgbClr val="B5D9CA"/>
                    </a:solidFill>
                  </a:tcPr>
                </a:tc>
                <a:extLst>
                  <a:ext uri="{0D108BD9-81ED-4DB2-BD59-A6C34878D82A}">
                    <a16:rowId xmlns:a16="http://schemas.microsoft.com/office/drawing/2014/main" val="10002"/>
                  </a:ext>
                </a:extLst>
              </a:tr>
              <a:tr h="204857">
                <a:tc>
                  <a:txBody>
                    <a:bodyPr/>
                    <a:lstStyle/>
                    <a:p>
                      <a:r>
                        <a:rPr sz="1000" b="0">
                          <a:solidFill>
                            <a:srgbClr val="C19D4D"/>
                          </a:solidFill>
                        </a:rPr>
                        <a:t>Field Vertex</a:t>
                      </a:r>
                    </a:p>
                  </a:txBody>
                  <a:tcPr>
                    <a:solidFill>
                      <a:srgbClr val="B5D9CA"/>
                    </a:solidFill>
                  </a:tcPr>
                </a:tc>
                <a:tc>
                  <a:txBody>
                    <a:bodyPr/>
                    <a:lstStyle/>
                    <a:p>
                      <a:r>
                        <a:rPr sz="1000" b="0">
                          <a:solidFill>
                            <a:srgbClr val="C19D4D"/>
                          </a:solidFill>
                        </a:rPr>
                        <a:t>Exchange</a:t>
                      </a:r>
                    </a:p>
                  </a:txBody>
                  <a:tcPr>
                    <a:solidFill>
                      <a:srgbClr val="B5D9CA"/>
                    </a:solidFill>
                  </a:tcPr>
                </a:tc>
                <a:extLst>
                  <a:ext uri="{0D108BD9-81ED-4DB2-BD59-A6C34878D82A}">
                    <a16:rowId xmlns:a16="http://schemas.microsoft.com/office/drawing/2014/main" val="10003"/>
                  </a:ext>
                </a:extLst>
              </a:tr>
              <a:tr h="204857">
                <a:tc>
                  <a:txBody>
                    <a:bodyPr/>
                    <a:lstStyle/>
                    <a:p>
                      <a:r>
                        <a:rPr sz="1000" b="0">
                          <a:solidFill>
                            <a:srgbClr val="C19D4D"/>
                          </a:solidFill>
                        </a:rPr>
                        <a:t>Window Template</a:t>
                      </a:r>
                    </a:p>
                  </a:txBody>
                  <a:tcPr>
                    <a:solidFill>
                      <a:srgbClr val="F1F8F5"/>
                    </a:solidFill>
                  </a:tcPr>
                </a:tc>
                <a:tc>
                  <a:txBody>
                    <a:bodyPr/>
                    <a:lstStyle/>
                    <a:p>
                      <a:r>
                        <a:rPr sz="1000" b="0">
                          <a:solidFill>
                            <a:srgbClr val="C19D4D"/>
                          </a:solidFill>
                        </a:rPr>
                        <a:t>Insight</a:t>
                      </a:r>
                    </a:p>
                  </a:txBody>
                  <a:tcPr>
                    <a:solidFill>
                      <a:srgbClr val="B5D9CA"/>
                    </a:solidFill>
                  </a:tcPr>
                </a:tc>
                <a:extLst>
                  <a:ext uri="{0D108BD9-81ED-4DB2-BD59-A6C34878D82A}">
                    <a16:rowId xmlns:a16="http://schemas.microsoft.com/office/drawing/2014/main" val="10004"/>
                  </a:ext>
                </a:extLst>
              </a:tr>
              <a:tr h="204857">
                <a:tc>
                  <a:txBody>
                    <a:bodyPr/>
                    <a:lstStyle/>
                    <a:p>
                      <a:r>
                        <a:rPr sz="1000" b="0">
                          <a:solidFill>
                            <a:srgbClr val="C19D4D"/>
                          </a:solidFill>
                        </a:rPr>
                        <a:t>Action View</a:t>
                      </a:r>
                    </a:p>
                  </a:txBody>
                  <a:tcPr>
                    <a:solidFill>
                      <a:srgbClr val="B5D9CA"/>
                    </a:solidFill>
                  </a:tcPr>
                </a:tc>
                <a:tc>
                  <a:txBody>
                    <a:bodyPr/>
                    <a:lstStyle/>
                    <a:p>
                      <a:r>
                        <a:rPr sz="1000" b="0">
                          <a:solidFill>
                            <a:srgbClr val="C19D4D"/>
                          </a:solidFill>
                        </a:rPr>
                        <a:t>Cadence</a:t>
                      </a:r>
                    </a:p>
                  </a:txBody>
                  <a:tcPr>
                    <a:solidFill>
                      <a:srgbClr val="B5D9CA"/>
                    </a:solidFill>
                  </a:tcPr>
                </a:tc>
                <a:extLst>
                  <a:ext uri="{0D108BD9-81ED-4DB2-BD59-A6C34878D82A}">
                    <a16:rowId xmlns:a16="http://schemas.microsoft.com/office/drawing/2014/main" val="10005"/>
                  </a:ext>
                </a:extLst>
              </a:tr>
              <a:tr h="204857">
                <a:tc>
                  <a:txBody>
                    <a:bodyPr/>
                    <a:lstStyle/>
                    <a:p>
                      <a:r>
                        <a:rPr sz="1000" b="0">
                          <a:solidFill>
                            <a:srgbClr val="C19D4D"/>
                          </a:solidFill>
                        </a:rPr>
                        <a:t>Beacon Apex</a:t>
                      </a:r>
                    </a:p>
                  </a:txBody>
                  <a:tcPr>
                    <a:solidFill>
                      <a:srgbClr val="F1F8F5"/>
                    </a:solidFill>
                  </a:tcPr>
                </a:tc>
                <a:tc>
                  <a:txBody>
                    <a:bodyPr/>
                    <a:lstStyle/>
                    <a:p>
                      <a:r>
                        <a:rPr sz="1000" b="0">
                          <a:solidFill>
                            <a:srgbClr val="C19D4D"/>
                          </a:solidFill>
                        </a:rPr>
                        <a:t>Runtime Concept</a:t>
                      </a:r>
                    </a:p>
                  </a:txBody>
                  <a:tcPr>
                    <a:solidFill>
                      <a:srgbClr val="B5D9CA"/>
                    </a:solidFill>
                  </a:tcPr>
                </a:tc>
                <a:extLst>
                  <a:ext uri="{0D108BD9-81ED-4DB2-BD59-A6C34878D82A}">
                    <a16:rowId xmlns:a16="http://schemas.microsoft.com/office/drawing/2014/main" val="10006"/>
                  </a:ext>
                </a:extLst>
              </a:tr>
            </a:tbl>
          </a:graphicData>
        </a:graphic>
      </p:graphicFrame>
      <p:cxnSp>
        <p:nvCxnSpPr>
          <p:cNvPr id="25" name="Connector 24"/>
          <p:cNvCxnSpPr/>
          <p:nvPr/>
        </p:nvCxnSpPr>
        <p:spPr>
          <a:xfrm>
            <a:off x="2737225" y="3489950"/>
            <a:ext cx="1270825" cy="540860"/>
          </a:xfrm>
          <a:prstGeom prst="bentConnector3">
            <a:avLst/>
          </a:prstGeom>
          <a:ln w="6825">
            <a:solidFill>
              <a:srgbClr val="30D293"/>
            </a:solidFill>
            <a:prstDash val="dashDot"/>
          </a:ln>
        </p:spPr>
        <p:style>
          <a:lnRef idx="2">
            <a:schemeClr val="accent1"/>
          </a:lnRef>
          <a:fillRef idx="0">
            <a:schemeClr val="accent1"/>
          </a:fillRef>
          <a:effectRef idx="1">
            <a:schemeClr val="accent1"/>
          </a:effectRef>
          <a:fontRef idx="minor">
            <a:schemeClr val="tx1"/>
          </a:fontRef>
        </p:style>
      </p:cxnSp>
      <p:sp>
        <p:nvSpPr>
          <p:cNvPr id="26" name="Block Arc 25"/>
          <p:cNvSpPr/>
          <p:nvPr/>
        </p:nvSpPr>
        <p:spPr>
          <a:xfrm>
            <a:off x="6106275" y="4339351"/>
            <a:ext cx="514174" cy="932505"/>
          </a:xfrm>
          <a:prstGeom prst="blockArc">
            <a:avLst/>
          </a:prstGeom>
          <a:solidFill>
            <a:srgbClr val="B8D6AA"/>
          </a:solidFill>
          <a:ln w="16322">
            <a:solidFill>
              <a:srgbClr val="6E93D9"/>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rapezoid 26"/>
          <p:cNvSpPr/>
          <p:nvPr/>
        </p:nvSpPr>
        <p:spPr>
          <a:xfrm>
            <a:off x="343653" y="3769021"/>
            <a:ext cx="1271787" cy="1637943"/>
          </a:xfrm>
          <a:prstGeom prst="trapezoid">
            <a:avLst/>
          </a:prstGeom>
          <a:solidFill>
            <a:srgbClr val="D47B72"/>
          </a:solidFill>
          <a:ln w="12167">
            <a:solidFill>
              <a:srgbClr val="2E986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16143963-984E-D1FB-7C4E-0437FBAAC14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182771" y="2426424"/>
            <a:ext cx="1517179" cy="1683045"/>
          </a:xfrm>
          <a:prstGeom prst="rect">
            <a:avLst/>
          </a:prstGeom>
        </p:spPr>
      </p:pic>
      <p:pic>
        <p:nvPicPr>
          <p:cNvPr id="31" name="Graphic 30">
            <a:extLst>
              <a:ext uri="{FF2B5EF4-FFF2-40B4-BE49-F238E27FC236}">
                <a16:creationId xmlns:a16="http://schemas.microsoft.com/office/drawing/2014/main" id="{809698E0-A857-6BC0-422E-749A592CFE8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732543" y="4745643"/>
            <a:ext cx="1607019" cy="9522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3956129" y="4824608"/>
          <a:ext cx="2184127" cy="155957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936595" y="363327"/>
            <a:ext cx="620976" cy="1855255"/>
          </a:xfrm>
          <a:prstGeom prst="rect">
            <a:avLst/>
          </a:prstGeom>
          <a:noFill/>
        </p:spPr>
        <p:txBody>
          <a:bodyPr wrap="none" lIns="71765" tIns="71765" rIns="71765" bIns="71765">
            <a:spAutoFit/>
          </a:bodyPr>
          <a:lstStyle/>
          <a:p>
            <a:r>
              <a:rPr sz="1400" b="0" i="1" u="none">
                <a:solidFill>
                  <a:srgbClr val="D030CC"/>
                </a:solidFill>
                <a:latin typeface="Verdana"/>
              </a:rPr>
              <a:t>Velocity Archive</a:t>
            </a:r>
          </a:p>
        </p:txBody>
      </p:sp>
      <p:sp>
        <p:nvSpPr>
          <p:cNvPr id="4" name="Explosion 3"/>
          <p:cNvSpPr/>
          <p:nvPr/>
        </p:nvSpPr>
        <p:spPr>
          <a:xfrm>
            <a:off x="9277750" y="4544831"/>
            <a:ext cx="2397649" cy="394498"/>
          </a:xfrm>
          <a:prstGeom prst="irregularSeal2">
            <a:avLst/>
          </a:prstGeom>
          <a:solidFill>
            <a:srgbClr val="C64C2F"/>
          </a:solidFill>
          <a:ln w="13974">
            <a:solidFill>
              <a:srgbClr val="489F9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6725513" y="3570300"/>
          <a:ext cx="3077307" cy="1574977"/>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2559042" y="382561"/>
            <a:ext cx="3716647" cy="1290054"/>
          </a:xfrm>
          <a:prstGeom prst="rect">
            <a:avLst/>
          </a:prstGeom>
          <a:noFill/>
        </p:spPr>
        <p:txBody>
          <a:bodyPr wrap="none" lIns="40555" tIns="40555" rIns="40555" bIns="40555">
            <a:spAutoFit/>
          </a:bodyPr>
          <a:lstStyle/>
          <a:p>
            <a:r>
              <a:rPr sz="3100" b="1" i="0" u="none">
                <a:solidFill>
                  <a:srgbClr val="215169"/>
                </a:solidFill>
                <a:latin typeface="Verdana"/>
              </a:rPr>
              <a:t>Coverage Spectrum Path Core Inventory Threshold Reference</a:t>
            </a:r>
          </a:p>
        </p:txBody>
      </p:sp>
      <p:graphicFrame>
        <p:nvGraphicFramePr>
          <p:cNvPr id="7" name="Table 6"/>
          <p:cNvGraphicFramePr>
            <a:graphicFrameLocks noGrp="1"/>
          </p:cNvGraphicFramePr>
          <p:nvPr/>
        </p:nvGraphicFramePr>
        <p:xfrm>
          <a:off x="1971439" y="5163185"/>
          <a:ext cx="2079128" cy="1551372"/>
        </p:xfrm>
        <a:graphic>
          <a:graphicData uri="http://schemas.openxmlformats.org/drawingml/2006/table">
            <a:tbl>
              <a:tblPr firstRow="1" bandRow="1">
                <a:tableStyleId>{5C22544A-7EE6-4342-B048-85BDC9FD1C3A}</a:tableStyleId>
              </a:tblPr>
              <a:tblGrid>
                <a:gridCol w="346521">
                  <a:extLst>
                    <a:ext uri="{9D8B030D-6E8A-4147-A177-3AD203B41FA5}">
                      <a16:colId xmlns:a16="http://schemas.microsoft.com/office/drawing/2014/main" val="20000"/>
                    </a:ext>
                  </a:extLst>
                </a:gridCol>
                <a:gridCol w="346521">
                  <a:extLst>
                    <a:ext uri="{9D8B030D-6E8A-4147-A177-3AD203B41FA5}">
                      <a16:colId xmlns:a16="http://schemas.microsoft.com/office/drawing/2014/main" val="20001"/>
                    </a:ext>
                  </a:extLst>
                </a:gridCol>
                <a:gridCol w="346521">
                  <a:extLst>
                    <a:ext uri="{9D8B030D-6E8A-4147-A177-3AD203B41FA5}">
                      <a16:colId xmlns:a16="http://schemas.microsoft.com/office/drawing/2014/main" val="20002"/>
                    </a:ext>
                  </a:extLst>
                </a:gridCol>
                <a:gridCol w="346521">
                  <a:extLst>
                    <a:ext uri="{9D8B030D-6E8A-4147-A177-3AD203B41FA5}">
                      <a16:colId xmlns:a16="http://schemas.microsoft.com/office/drawing/2014/main" val="20003"/>
                    </a:ext>
                  </a:extLst>
                </a:gridCol>
                <a:gridCol w="346521">
                  <a:extLst>
                    <a:ext uri="{9D8B030D-6E8A-4147-A177-3AD203B41FA5}">
                      <a16:colId xmlns:a16="http://schemas.microsoft.com/office/drawing/2014/main" val="20004"/>
                    </a:ext>
                  </a:extLst>
                </a:gridCol>
                <a:gridCol w="346523">
                  <a:extLst>
                    <a:ext uri="{9D8B030D-6E8A-4147-A177-3AD203B41FA5}">
                      <a16:colId xmlns:a16="http://schemas.microsoft.com/office/drawing/2014/main" val="20005"/>
                    </a:ext>
                  </a:extLst>
                </a:gridCol>
              </a:tblGrid>
              <a:tr h="517124">
                <a:tc>
                  <a:txBody>
                    <a:bodyPr/>
                    <a:lstStyle/>
                    <a:p>
                      <a:r>
                        <a:rPr sz="900" b="1">
                          <a:solidFill>
                            <a:srgbClr val="3472CB"/>
                          </a:solidFill>
                        </a:rPr>
                        <a:t>Cortex Field</a:t>
                      </a:r>
                    </a:p>
                  </a:txBody>
                  <a:tcPr>
                    <a:solidFill>
                      <a:srgbClr val="2BD137"/>
                    </a:solidFill>
                  </a:tcPr>
                </a:tc>
                <a:tc>
                  <a:txBody>
                    <a:bodyPr/>
                    <a:lstStyle/>
                    <a:p>
                      <a:r>
                        <a:rPr sz="900" b="1">
                          <a:solidFill>
                            <a:srgbClr val="3472CB"/>
                          </a:solidFill>
                        </a:rPr>
                        <a:t>Aspect</a:t>
                      </a:r>
                    </a:p>
                  </a:txBody>
                  <a:tcPr>
                    <a:solidFill>
                      <a:srgbClr val="2BD137"/>
                    </a:solidFill>
                  </a:tcPr>
                </a:tc>
                <a:tc>
                  <a:txBody>
                    <a:bodyPr/>
                    <a:lstStyle/>
                    <a:p>
                      <a:r>
                        <a:rPr sz="900" b="1">
                          <a:solidFill>
                            <a:srgbClr val="3472CB"/>
                          </a:solidFill>
                        </a:rPr>
                        <a:t>Envelope</a:t>
                      </a:r>
                    </a:p>
                  </a:txBody>
                  <a:tcPr>
                    <a:solidFill>
                      <a:srgbClr val="2BD137"/>
                    </a:solidFill>
                  </a:tcPr>
                </a:tc>
                <a:tc>
                  <a:txBody>
                    <a:bodyPr/>
                    <a:lstStyle/>
                    <a:p>
                      <a:r>
                        <a:rPr sz="900" b="1">
                          <a:solidFill>
                            <a:srgbClr val="3472CB"/>
                          </a:solidFill>
                        </a:rPr>
                        <a:t>Cortex</a:t>
                      </a:r>
                    </a:p>
                  </a:txBody>
                  <a:tcPr>
                    <a:solidFill>
                      <a:srgbClr val="2BD137"/>
                    </a:solidFill>
                  </a:tcPr>
                </a:tc>
                <a:tc>
                  <a:txBody>
                    <a:bodyPr/>
                    <a:lstStyle/>
                    <a:p>
                      <a:r>
                        <a:rPr sz="900" b="1">
                          <a:solidFill>
                            <a:srgbClr val="3472CB"/>
                          </a:solidFill>
                        </a:rPr>
                        <a:t>Runtime</a:t>
                      </a:r>
                    </a:p>
                  </a:txBody>
                  <a:tcPr>
                    <a:solidFill>
                      <a:srgbClr val="2BD137"/>
                    </a:solidFill>
                  </a:tcPr>
                </a:tc>
                <a:tc>
                  <a:txBody>
                    <a:bodyPr/>
                    <a:lstStyle/>
                    <a:p>
                      <a:r>
                        <a:rPr sz="900" b="1">
                          <a:solidFill>
                            <a:srgbClr val="3472CB"/>
                          </a:solidFill>
                        </a:rPr>
                        <a:t>Envelope</a:t>
                      </a:r>
                    </a:p>
                  </a:txBody>
                  <a:tcPr>
                    <a:solidFill>
                      <a:srgbClr val="2BD137"/>
                    </a:solidFill>
                  </a:tcPr>
                </a:tc>
                <a:extLst>
                  <a:ext uri="{0D108BD9-81ED-4DB2-BD59-A6C34878D82A}">
                    <a16:rowId xmlns:a16="http://schemas.microsoft.com/office/drawing/2014/main" val="10000"/>
                  </a:ext>
                </a:extLst>
              </a:tr>
              <a:tr h="517124">
                <a:tc>
                  <a:txBody>
                    <a:bodyPr/>
                    <a:lstStyle/>
                    <a:p>
                      <a:r>
                        <a:rPr sz="900" b="0">
                          <a:solidFill>
                            <a:srgbClr val="3472CB"/>
                          </a:solidFill>
                        </a:rPr>
                        <a:t>Register</a:t>
                      </a:r>
                    </a:p>
                  </a:txBody>
                  <a:tcPr>
                    <a:solidFill>
                      <a:srgbClr val="E1EAF3"/>
                    </a:solidFill>
                  </a:tcPr>
                </a:tc>
                <a:tc>
                  <a:txBody>
                    <a:bodyPr/>
                    <a:lstStyle/>
                    <a:p>
                      <a:r>
                        <a:rPr sz="900" b="0">
                          <a:solidFill>
                            <a:srgbClr val="3472CB"/>
                          </a:solidFill>
                        </a:rPr>
                        <a:t>Package</a:t>
                      </a:r>
                    </a:p>
                  </a:txBody>
                  <a:tcPr>
                    <a:solidFill>
                      <a:srgbClr val="C3D6E7"/>
                    </a:solidFill>
                  </a:tcPr>
                </a:tc>
                <a:tc>
                  <a:txBody>
                    <a:bodyPr/>
                    <a:lstStyle/>
                    <a:p>
                      <a:r>
                        <a:rPr sz="900" b="0">
                          <a:solidFill>
                            <a:srgbClr val="3472CB"/>
                          </a:solidFill>
                        </a:rPr>
                        <a:t>Snapshot</a:t>
                      </a:r>
                    </a:p>
                  </a:txBody>
                  <a:tcPr>
                    <a:solidFill>
                      <a:srgbClr val="E1EAF3"/>
                    </a:solidFill>
                  </a:tcPr>
                </a:tc>
                <a:tc>
                  <a:txBody>
                    <a:bodyPr/>
                    <a:lstStyle/>
                    <a:p>
                      <a:r>
                        <a:rPr sz="900" b="0">
                          <a:solidFill>
                            <a:srgbClr val="3472CB"/>
                          </a:solidFill>
                        </a:rPr>
                        <a:t>Canvas Indicator</a:t>
                      </a:r>
                    </a:p>
                  </a:txBody>
                  <a:tcPr>
                    <a:solidFill>
                      <a:srgbClr val="C3D6E7"/>
                    </a:solidFill>
                  </a:tcPr>
                </a:tc>
                <a:tc>
                  <a:txBody>
                    <a:bodyPr/>
                    <a:lstStyle/>
                    <a:p>
                      <a:r>
                        <a:rPr sz="900" b="0">
                          <a:solidFill>
                            <a:srgbClr val="3472CB"/>
                          </a:solidFill>
                        </a:rPr>
                        <a:t>Array</a:t>
                      </a:r>
                    </a:p>
                  </a:txBody>
                  <a:tcPr>
                    <a:solidFill>
                      <a:srgbClr val="E1EAF3"/>
                    </a:solidFill>
                  </a:tcPr>
                </a:tc>
                <a:tc>
                  <a:txBody>
                    <a:bodyPr/>
                    <a:lstStyle/>
                    <a:p>
                      <a:r>
                        <a:rPr sz="900" b="0">
                          <a:solidFill>
                            <a:srgbClr val="3472CB"/>
                          </a:solidFill>
                        </a:rPr>
                        <a:t>Range Level</a:t>
                      </a:r>
                    </a:p>
                  </a:txBody>
                  <a:tcPr>
                    <a:solidFill>
                      <a:srgbClr val="C3D6E7"/>
                    </a:solidFill>
                  </a:tcPr>
                </a:tc>
                <a:extLst>
                  <a:ext uri="{0D108BD9-81ED-4DB2-BD59-A6C34878D82A}">
                    <a16:rowId xmlns:a16="http://schemas.microsoft.com/office/drawing/2014/main" val="10001"/>
                  </a:ext>
                </a:extLst>
              </a:tr>
              <a:tr h="517124">
                <a:tc>
                  <a:txBody>
                    <a:bodyPr/>
                    <a:lstStyle/>
                    <a:p>
                      <a:r>
                        <a:rPr sz="900" b="0">
                          <a:solidFill>
                            <a:srgbClr val="3472CB"/>
                          </a:solidFill>
                        </a:rPr>
                        <a:t>Diagram Control</a:t>
                      </a:r>
                    </a:p>
                  </a:txBody>
                  <a:tcPr>
                    <a:solidFill>
                      <a:srgbClr val="E1EAF3"/>
                    </a:solidFill>
                  </a:tcPr>
                </a:tc>
                <a:tc>
                  <a:txBody>
                    <a:bodyPr/>
                    <a:lstStyle/>
                    <a:p>
                      <a:r>
                        <a:rPr sz="900" b="0">
                          <a:solidFill>
                            <a:srgbClr val="3472CB"/>
                          </a:solidFill>
                        </a:rPr>
                        <a:t>Deck</a:t>
                      </a:r>
                    </a:p>
                  </a:txBody>
                  <a:tcPr>
                    <a:solidFill>
                      <a:srgbClr val="C3D6E7"/>
                    </a:solidFill>
                  </a:tcPr>
                </a:tc>
                <a:tc>
                  <a:txBody>
                    <a:bodyPr/>
                    <a:lstStyle/>
                    <a:p>
                      <a:r>
                        <a:rPr sz="900" b="0">
                          <a:solidFill>
                            <a:srgbClr val="3472CB"/>
                          </a:solidFill>
                        </a:rPr>
                        <a:t>View</a:t>
                      </a:r>
                    </a:p>
                  </a:txBody>
                  <a:tcPr>
                    <a:solidFill>
                      <a:srgbClr val="E1EAF3"/>
                    </a:solidFill>
                  </a:tcPr>
                </a:tc>
                <a:tc>
                  <a:txBody>
                    <a:bodyPr/>
                    <a:lstStyle/>
                    <a:p>
                      <a:r>
                        <a:rPr sz="900" b="0">
                          <a:solidFill>
                            <a:srgbClr val="3472CB"/>
                          </a:solidFill>
                        </a:rPr>
                        <a:t>Resource</a:t>
                      </a:r>
                    </a:p>
                  </a:txBody>
                  <a:tcPr>
                    <a:solidFill>
                      <a:srgbClr val="C3D6E7"/>
                    </a:solidFill>
                  </a:tcPr>
                </a:tc>
                <a:tc>
                  <a:txBody>
                    <a:bodyPr/>
                    <a:lstStyle/>
                    <a:p>
                      <a:r>
                        <a:rPr sz="900" b="0">
                          <a:solidFill>
                            <a:srgbClr val="3472CB"/>
                          </a:solidFill>
                        </a:rPr>
                        <a:t>Interval</a:t>
                      </a:r>
                    </a:p>
                  </a:txBody>
                  <a:tcPr>
                    <a:solidFill>
                      <a:srgbClr val="E1EAF3"/>
                    </a:solidFill>
                  </a:tcPr>
                </a:tc>
                <a:tc>
                  <a:txBody>
                    <a:bodyPr/>
                    <a:lstStyle/>
                    <a:p>
                      <a:r>
                        <a:rPr sz="900" b="0">
                          <a:solidFill>
                            <a:srgbClr val="3472CB"/>
                          </a:solidFill>
                        </a:rPr>
                        <a:t>Needle Dispatch</a:t>
                      </a:r>
                    </a:p>
                  </a:txBody>
                  <a:tcPr>
                    <a:solidFill>
                      <a:srgbClr val="C3D6E7"/>
                    </a:solidFill>
                  </a:tcPr>
                </a:tc>
                <a:extLst>
                  <a:ext uri="{0D108BD9-81ED-4DB2-BD59-A6C34878D82A}">
                    <a16:rowId xmlns:a16="http://schemas.microsoft.com/office/drawing/2014/main" val="10002"/>
                  </a:ext>
                </a:extLst>
              </a:tr>
            </a:tbl>
          </a:graphicData>
        </a:graphic>
      </p:graphicFrame>
      <p:sp>
        <p:nvSpPr>
          <p:cNvPr id="8" name="Freeform 7"/>
          <p:cNvSpPr/>
          <p:nvPr/>
        </p:nvSpPr>
        <p:spPr>
          <a:xfrm>
            <a:off x="6170597" y="1201953"/>
            <a:ext cx="811947" cy="770512"/>
          </a:xfrm>
          <a:custGeom>
            <a:avLst/>
            <a:gdLst/>
            <a:ahLst/>
            <a:cxnLst/>
            <a:rect l="l" t="t" r="r" b="b"/>
            <a:pathLst>
              <a:path w="811947" h="770512">
                <a:moveTo>
                  <a:pt x="0" y="374555"/>
                </a:moveTo>
                <a:lnTo>
                  <a:pt x="139689" y="0"/>
                </a:lnTo>
                <a:lnTo>
                  <a:pt x="288110" y="321047"/>
                </a:lnTo>
                <a:lnTo>
                  <a:pt x="436530" y="642094"/>
                </a:lnTo>
                <a:lnTo>
                  <a:pt x="593681" y="267539"/>
                </a:lnTo>
                <a:lnTo>
                  <a:pt x="811947" y="406659"/>
                </a:lnTo>
                <a:lnTo>
                  <a:pt x="811947" y="770512"/>
                </a:lnTo>
                <a:lnTo>
                  <a:pt x="0" y="770512"/>
                </a:lnTo>
                <a:close/>
              </a:path>
            </a:pathLst>
          </a:custGeom>
          <a:solidFill>
            <a:srgbClr val="1C5A31"/>
          </a:solidFill>
          <a:ln w="7029">
            <a:solidFill>
              <a:srgbClr val="DEA7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_example_image.jpg"/>
          <p:cNvPicPr>
            <a:picLocks noChangeAspect="1"/>
          </p:cNvPicPr>
          <p:nvPr/>
        </p:nvPicPr>
        <p:blipFill>
          <a:blip r:embed="rId4"/>
          <a:srcRect l="15658" t="3614" r="3525" b="11454"/>
          <a:stretch>
            <a:fillRect/>
          </a:stretch>
        </p:blipFill>
        <p:spPr>
          <a:xfrm>
            <a:off x="1683776" y="2664827"/>
            <a:ext cx="1153263" cy="1901970"/>
          </a:xfrm>
          <a:prstGeom prst="rect">
            <a:avLst/>
          </a:prstGeom>
        </p:spPr>
      </p:pic>
      <p:sp>
        <p:nvSpPr>
          <p:cNvPr id="10" name="Rounded Rectangle 9"/>
          <p:cNvSpPr/>
          <p:nvPr/>
        </p:nvSpPr>
        <p:spPr>
          <a:xfrm>
            <a:off x="1683776" y="2664827"/>
            <a:ext cx="1153263" cy="1901970"/>
          </a:xfrm>
          <a:prstGeom prst="roundRect">
            <a:avLst/>
          </a:prstGeom>
          <a:noFill/>
          <a:ln w="15240">
            <a:solidFill>
              <a:srgbClr val="B284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17968" y="2794420"/>
            <a:ext cx="634221" cy="2433380"/>
          </a:xfrm>
          <a:prstGeom prst="rect">
            <a:avLst/>
          </a:prstGeom>
          <a:solidFill>
            <a:srgbClr val="674933"/>
          </a:solidFill>
        </p:spPr>
        <p:txBody>
          <a:bodyPr wrap="none" lIns="27650" tIns="27650" rIns="27650" bIns="27650">
            <a:spAutoFit/>
          </a:bodyPr>
          <a:lstStyle/>
          <a:p>
            <a:r>
              <a:rPr sz="1600" b="0" i="0" u="none">
                <a:solidFill>
                  <a:srgbClr val="D2264E"/>
                </a:solidFill>
                <a:latin typeface="Arial"/>
              </a:rPr>
              <a:t>Measure Duration Transit Marker Domain Interval Feature Aspect Path Resource Network Epoch Milestone Needle North Table Horizon Direction Chart Stack Query Threshold Output Foundation Cortex Drift Control Agenda Queueing Transit Input Transform Order Gradient Signal Impact Factor Method Source Point Mesh Runtime</a:t>
            </a:r>
          </a:p>
        </p:txBody>
      </p:sp>
      <p:sp>
        <p:nvSpPr>
          <p:cNvPr id="12" name="Freeform 11"/>
          <p:cNvSpPr/>
          <p:nvPr/>
        </p:nvSpPr>
        <p:spPr>
          <a:xfrm>
            <a:off x="358269" y="5055806"/>
            <a:ext cx="1733717" cy="1054217"/>
          </a:xfrm>
          <a:custGeom>
            <a:avLst/>
            <a:gdLst/>
            <a:ahLst/>
            <a:cxnLst/>
            <a:rect l="l" t="t" r="r" b="b"/>
            <a:pathLst>
              <a:path w="1733717" h="1054217">
                <a:moveTo>
                  <a:pt x="186422" y="179441"/>
                </a:moveTo>
                <a:lnTo>
                  <a:pt x="615190" y="0"/>
                </a:lnTo>
                <a:lnTo>
                  <a:pt x="1267664" y="89720"/>
                </a:lnTo>
                <a:lnTo>
                  <a:pt x="1733717" y="426173"/>
                </a:lnTo>
                <a:lnTo>
                  <a:pt x="1491369" y="874776"/>
                </a:lnTo>
                <a:lnTo>
                  <a:pt x="801611" y="1054217"/>
                </a:lnTo>
                <a:lnTo>
                  <a:pt x="111853" y="762625"/>
                </a:lnTo>
                <a:lnTo>
                  <a:pt x="0" y="381312"/>
                </a:lnTo>
                <a:close/>
              </a:path>
            </a:pathLst>
          </a:custGeom>
          <a:solidFill>
            <a:srgbClr val="C0CDE1"/>
          </a:solidFill>
          <a:ln w="33511">
            <a:solidFill>
              <a:srgbClr val="B569A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3775358" y="1866565"/>
            <a:ext cx="861164" cy="957906"/>
          </a:xfrm>
          <a:prstGeom prst="bentConnector3">
            <a:avLst/>
          </a:prstGeom>
          <a:ln w="48047">
            <a:solidFill>
              <a:srgbClr val="1DA740"/>
            </a:solidFill>
            <a:prstDash val="lgDash"/>
          </a:ln>
        </p:spPr>
        <p:style>
          <a:lnRef idx="2">
            <a:schemeClr val="accent1"/>
          </a:lnRef>
          <a:fillRef idx="0">
            <a:schemeClr val="accent1"/>
          </a:fillRef>
          <a:effectRef idx="1">
            <a:schemeClr val="accent1"/>
          </a:effectRef>
          <a:fontRef idx="minor">
            <a:schemeClr val="tx1"/>
          </a:fontRef>
        </p:style>
      </p:cxnSp>
      <p:sp>
        <p:nvSpPr>
          <p:cNvPr id="14" name="Pie 13"/>
          <p:cNvSpPr/>
          <p:nvPr/>
        </p:nvSpPr>
        <p:spPr>
          <a:xfrm>
            <a:off x="10100589" y="3077916"/>
            <a:ext cx="1498971" cy="427216"/>
          </a:xfrm>
          <a:prstGeom prst="pie">
            <a:avLst/>
          </a:prstGeom>
          <a:solidFill>
            <a:srgbClr val="8C91CE"/>
          </a:solidFill>
          <a:ln w="7259">
            <a:solidFill>
              <a:srgbClr val="B4E1C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90703" y="4740216"/>
            <a:ext cx="1658778" cy="838388"/>
          </a:xfrm>
          <a:prstGeom prst="rect">
            <a:avLst/>
          </a:prstGeom>
          <a:noFill/>
        </p:spPr>
        <p:txBody>
          <a:bodyPr wrap="none" lIns="88850" tIns="88850" rIns="88850" bIns="88850">
            <a:spAutoFit/>
          </a:bodyPr>
          <a:lstStyle/>
          <a:p>
            <a:r>
              <a:rPr sz="1800" b="0" i="0" u="none">
                <a:solidFill>
                  <a:srgbClr val="D7C5C4"/>
                </a:solidFill>
                <a:latin typeface="Georgia"/>
              </a:rPr>
              <a:t>Event Intent Bridge Runtime Orbit Packet Record Signal Strategy Adaptive Surface Echo Instance Connector</a:t>
            </a:r>
          </a:p>
        </p:txBody>
      </p:sp>
      <p:sp>
        <p:nvSpPr>
          <p:cNvPr id="16" name="TextBox 15"/>
          <p:cNvSpPr txBox="1"/>
          <p:nvPr/>
        </p:nvSpPr>
        <p:spPr>
          <a:xfrm>
            <a:off x="5337091" y="4370097"/>
            <a:ext cx="1734319" cy="2080676"/>
          </a:xfrm>
          <a:prstGeom prst="rect">
            <a:avLst/>
          </a:prstGeom>
          <a:noFill/>
        </p:spPr>
        <p:txBody>
          <a:bodyPr wrap="none" lIns="37204" tIns="37204" rIns="37204" bIns="37204">
            <a:spAutoFit/>
          </a:bodyPr>
          <a:lstStyle/>
          <a:p>
            <a:r>
              <a:rPr sz="1300" b="0" i="0" u="none">
                <a:solidFill>
                  <a:srgbClr val="AF1D2C"/>
                </a:solidFill>
                <a:latin typeface="Calibri"/>
              </a:rPr>
              <a:t>Timeline Ledger</a:t>
            </a:r>
          </a:p>
        </p:txBody>
      </p:sp>
      <p:cxnSp>
        <p:nvCxnSpPr>
          <p:cNvPr id="17" name="Connector 16"/>
          <p:cNvCxnSpPr/>
          <p:nvPr/>
        </p:nvCxnSpPr>
        <p:spPr>
          <a:xfrm flipV="1">
            <a:off x="6782572" y="5995337"/>
            <a:ext cx="1160934" cy="489692"/>
          </a:xfrm>
          <a:prstGeom prst="bentConnector3">
            <a:avLst/>
          </a:prstGeom>
          <a:ln w="39523">
            <a:solidFill>
              <a:srgbClr val="2AAF2E"/>
            </a:solidFill>
            <a:prstDash val="dot"/>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a:off x="9469925" y="393389"/>
            <a:ext cx="2298148" cy="396461"/>
          </a:xfrm>
          <a:prstGeom prst="triangle">
            <a:avLst/>
          </a:prstGeom>
          <a:solidFill>
            <a:srgbClr val="DA6194"/>
          </a:solidFill>
          <a:ln w="8023">
            <a:solidFill>
              <a:srgbClr val="7D813C"/>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94778" y="2195370"/>
            <a:ext cx="1707186" cy="1694444"/>
          </a:xfrm>
          <a:prstGeom prst="rect">
            <a:avLst/>
          </a:prstGeom>
          <a:noFill/>
        </p:spPr>
        <p:txBody>
          <a:bodyPr wrap="none" lIns="42871" tIns="42871" rIns="42871" bIns="42871">
            <a:spAutoFit/>
          </a:bodyPr>
          <a:lstStyle/>
          <a:p>
            <a:r>
              <a:rPr sz="1100" b="1" i="0" u="none">
                <a:solidFill>
                  <a:srgbClr val="508648"/>
                </a:solidFill>
                <a:latin typeface="Verdana"/>
              </a:rPr>
              <a:t>Indicator Limit Dimension Process Function Marker Stage Timeline Structure Vertex Group Profile Deployment Region Interface Deployment Milestone Buffer Craft Connector Plan Ledger Point Pixel Aspect Switch Graph Pulse</a:t>
            </a:r>
          </a:p>
        </p:txBody>
      </p:sp>
      <p:sp>
        <p:nvSpPr>
          <p:cNvPr id="20" name="Wave 19"/>
          <p:cNvSpPr/>
          <p:nvPr/>
        </p:nvSpPr>
        <p:spPr>
          <a:xfrm>
            <a:off x="8692412" y="3973188"/>
            <a:ext cx="659191" cy="526474"/>
          </a:xfrm>
          <a:prstGeom prst="wave">
            <a:avLst/>
          </a:prstGeom>
          <a:solidFill>
            <a:srgbClr val="C4E257"/>
          </a:solidFill>
          <a:ln w="7470">
            <a:solidFill>
              <a:srgbClr val="BD602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2581936" y="1795839"/>
            <a:ext cx="1069026" cy="753163"/>
          </a:xfrm>
          <a:prstGeom prst="curvedConnector3">
            <a:avLst/>
          </a:prstGeom>
          <a:ln w="20603">
            <a:solidFill>
              <a:srgbClr val="DA8755"/>
            </a:solidFill>
            <a:prstDash val="lgDash"/>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4"/>
          <a:srcRect l="2879" t="9420" r="14767" b="3715"/>
          <a:stretch>
            <a:fillRect/>
          </a:stretch>
        </p:blipFill>
        <p:spPr>
          <a:xfrm>
            <a:off x="10795657" y="2171130"/>
            <a:ext cx="1095726" cy="886461"/>
          </a:xfrm>
          <a:prstGeom prst="rect">
            <a:avLst/>
          </a:prstGeom>
        </p:spPr>
      </p:pic>
      <p:graphicFrame>
        <p:nvGraphicFramePr>
          <p:cNvPr id="23" name="Table 22"/>
          <p:cNvGraphicFramePr>
            <a:graphicFrameLocks noGrp="1"/>
          </p:cNvGraphicFramePr>
          <p:nvPr/>
        </p:nvGraphicFramePr>
        <p:xfrm>
          <a:off x="6850495" y="604795"/>
          <a:ext cx="2070905" cy="2645755"/>
        </p:xfrm>
        <a:graphic>
          <a:graphicData uri="http://schemas.openxmlformats.org/drawingml/2006/table">
            <a:tbl>
              <a:tblPr firstRow="1" bandRow="1">
                <a:tableStyleId>{5C22544A-7EE6-4342-B048-85BDC9FD1C3A}</a:tableStyleId>
              </a:tblPr>
              <a:tblGrid>
                <a:gridCol w="1035452">
                  <a:extLst>
                    <a:ext uri="{9D8B030D-6E8A-4147-A177-3AD203B41FA5}">
                      <a16:colId xmlns:a16="http://schemas.microsoft.com/office/drawing/2014/main" val="20000"/>
                    </a:ext>
                  </a:extLst>
                </a:gridCol>
                <a:gridCol w="1035453">
                  <a:extLst>
                    <a:ext uri="{9D8B030D-6E8A-4147-A177-3AD203B41FA5}">
                      <a16:colId xmlns:a16="http://schemas.microsoft.com/office/drawing/2014/main" val="20001"/>
                    </a:ext>
                  </a:extLst>
                </a:gridCol>
              </a:tblGrid>
              <a:tr h="377965">
                <a:tc>
                  <a:txBody>
                    <a:bodyPr/>
                    <a:lstStyle/>
                    <a:p>
                      <a:r>
                        <a:rPr sz="600" b="0">
                          <a:solidFill>
                            <a:srgbClr val="5BE08B"/>
                          </a:solidFill>
                        </a:rPr>
                        <a:t>Energy Event</a:t>
                      </a:r>
                    </a:p>
                  </a:txBody>
                  <a:tcPr>
                    <a:solidFill>
                      <a:srgbClr val="F5E4DE"/>
                    </a:solidFill>
                  </a:tcPr>
                </a:tc>
                <a:tc>
                  <a:txBody>
                    <a:bodyPr/>
                    <a:lstStyle/>
                    <a:p>
                      <a:r>
                        <a:rPr sz="600" b="0">
                          <a:solidFill>
                            <a:srgbClr val="5BE08B"/>
                          </a:solidFill>
                        </a:rPr>
                        <a:t>Ledger</a:t>
                      </a:r>
                    </a:p>
                  </a:txBody>
                  <a:tcPr>
                    <a:solidFill>
                      <a:srgbClr val="F5E4DE"/>
                    </a:solidFill>
                  </a:tcPr>
                </a:tc>
                <a:extLst>
                  <a:ext uri="{0D108BD9-81ED-4DB2-BD59-A6C34878D82A}">
                    <a16:rowId xmlns:a16="http://schemas.microsoft.com/office/drawing/2014/main" val="10000"/>
                  </a:ext>
                </a:extLst>
              </a:tr>
              <a:tr h="377965">
                <a:tc>
                  <a:txBody>
                    <a:bodyPr/>
                    <a:lstStyle/>
                    <a:p>
                      <a:r>
                        <a:rPr sz="600" b="0">
                          <a:solidFill>
                            <a:srgbClr val="5BE08B"/>
                          </a:solidFill>
                        </a:rPr>
                        <a:t>Lens</a:t>
                      </a:r>
                    </a:p>
                  </a:txBody>
                  <a:tcPr>
                    <a:solidFill>
                      <a:srgbClr val="F5E4DE"/>
                    </a:solidFill>
                  </a:tcPr>
                </a:tc>
                <a:tc>
                  <a:txBody>
                    <a:bodyPr/>
                    <a:lstStyle/>
                    <a:p>
                      <a:r>
                        <a:rPr sz="600" b="0">
                          <a:solidFill>
                            <a:srgbClr val="5BE08B"/>
                          </a:solidFill>
                        </a:rPr>
                        <a:t>Compass Balance</a:t>
                      </a:r>
                    </a:p>
                  </a:txBody>
                  <a:tcPr>
                    <a:solidFill>
                      <a:srgbClr val="F5E4DE"/>
                    </a:solidFill>
                  </a:tcPr>
                </a:tc>
                <a:extLst>
                  <a:ext uri="{0D108BD9-81ED-4DB2-BD59-A6C34878D82A}">
                    <a16:rowId xmlns:a16="http://schemas.microsoft.com/office/drawing/2014/main" val="10001"/>
                  </a:ext>
                </a:extLst>
              </a:tr>
              <a:tr h="377965">
                <a:tc>
                  <a:txBody>
                    <a:bodyPr/>
                    <a:lstStyle/>
                    <a:p>
                      <a:r>
                        <a:rPr sz="600" b="0">
                          <a:solidFill>
                            <a:srgbClr val="5BE08B"/>
                          </a:solidFill>
                        </a:rPr>
                        <a:t>Analysis Target</a:t>
                      </a:r>
                    </a:p>
                  </a:txBody>
                  <a:tcPr>
                    <a:solidFill>
                      <a:srgbClr val="F5E4DE"/>
                    </a:solidFill>
                  </a:tcPr>
                </a:tc>
                <a:tc>
                  <a:txBody>
                    <a:bodyPr/>
                    <a:lstStyle/>
                    <a:p>
                      <a:r>
                        <a:rPr sz="600" b="0">
                          <a:solidFill>
                            <a:srgbClr val="5BE08B"/>
                          </a:solidFill>
                        </a:rPr>
                        <a:t>Device Relay</a:t>
                      </a:r>
                    </a:p>
                  </a:txBody>
                  <a:tcPr>
                    <a:solidFill>
                      <a:srgbClr val="F5E4DE"/>
                    </a:solidFill>
                  </a:tcPr>
                </a:tc>
                <a:extLst>
                  <a:ext uri="{0D108BD9-81ED-4DB2-BD59-A6C34878D82A}">
                    <a16:rowId xmlns:a16="http://schemas.microsoft.com/office/drawing/2014/main" val="10002"/>
                  </a:ext>
                </a:extLst>
              </a:tr>
              <a:tr h="377965">
                <a:tc>
                  <a:txBody>
                    <a:bodyPr/>
                    <a:lstStyle/>
                    <a:p>
                      <a:r>
                        <a:rPr sz="600" b="0">
                          <a:solidFill>
                            <a:srgbClr val="5BE08B"/>
                          </a:solidFill>
                        </a:rPr>
                        <a:t>Pulse</a:t>
                      </a:r>
                    </a:p>
                  </a:txBody>
                  <a:tcPr>
                    <a:solidFill>
                      <a:srgbClr val="F5E4DE"/>
                    </a:solidFill>
                  </a:tcPr>
                </a:tc>
                <a:tc>
                  <a:txBody>
                    <a:bodyPr/>
                    <a:lstStyle/>
                    <a:p>
                      <a:r>
                        <a:rPr sz="600" b="0">
                          <a:solidFill>
                            <a:srgbClr val="5BE08B"/>
                          </a:solidFill>
                        </a:rPr>
                        <a:t>Scale Timeline</a:t>
                      </a:r>
                    </a:p>
                  </a:txBody>
                  <a:tcPr>
                    <a:solidFill>
                      <a:srgbClr val="F5E4DE"/>
                    </a:solidFill>
                  </a:tcPr>
                </a:tc>
                <a:extLst>
                  <a:ext uri="{0D108BD9-81ED-4DB2-BD59-A6C34878D82A}">
                    <a16:rowId xmlns:a16="http://schemas.microsoft.com/office/drawing/2014/main" val="10003"/>
                  </a:ext>
                </a:extLst>
              </a:tr>
              <a:tr h="377965">
                <a:tc>
                  <a:txBody>
                    <a:bodyPr/>
                    <a:lstStyle/>
                    <a:p>
                      <a:r>
                        <a:rPr sz="600" b="0">
                          <a:solidFill>
                            <a:srgbClr val="5BE08B"/>
                          </a:solidFill>
                        </a:rPr>
                        <a:t>Viewport Sync</a:t>
                      </a:r>
                    </a:p>
                  </a:txBody>
                  <a:tcPr>
                    <a:solidFill>
                      <a:srgbClr val="F5E4DE"/>
                    </a:solidFill>
                  </a:tcPr>
                </a:tc>
                <a:tc>
                  <a:txBody>
                    <a:bodyPr/>
                    <a:lstStyle/>
                    <a:p>
                      <a:r>
                        <a:rPr sz="600" b="0">
                          <a:solidFill>
                            <a:srgbClr val="5BE08B"/>
                          </a:solidFill>
                        </a:rPr>
                        <a:t>Archive Entity</a:t>
                      </a:r>
                    </a:p>
                  </a:txBody>
                  <a:tcPr>
                    <a:solidFill>
                      <a:srgbClr val="F5E4DE"/>
                    </a:solidFill>
                  </a:tcPr>
                </a:tc>
                <a:extLst>
                  <a:ext uri="{0D108BD9-81ED-4DB2-BD59-A6C34878D82A}">
                    <a16:rowId xmlns:a16="http://schemas.microsoft.com/office/drawing/2014/main" val="10004"/>
                  </a:ext>
                </a:extLst>
              </a:tr>
              <a:tr h="377965">
                <a:tc>
                  <a:txBody>
                    <a:bodyPr/>
                    <a:lstStyle/>
                    <a:p>
                      <a:r>
                        <a:rPr sz="600" b="0">
                          <a:solidFill>
                            <a:srgbClr val="5BE08B"/>
                          </a:solidFill>
                        </a:rPr>
                        <a:t>Group Interval</a:t>
                      </a:r>
                    </a:p>
                  </a:txBody>
                  <a:tcPr>
                    <a:solidFill>
                      <a:srgbClr val="F5E4DE"/>
                    </a:solidFill>
                  </a:tcPr>
                </a:tc>
                <a:tc>
                  <a:txBody>
                    <a:bodyPr/>
                    <a:lstStyle/>
                    <a:p>
                      <a:r>
                        <a:rPr sz="600" b="0">
                          <a:solidFill>
                            <a:srgbClr val="5BE08B"/>
                          </a:solidFill>
                        </a:rPr>
                        <a:t>System</a:t>
                      </a:r>
                    </a:p>
                  </a:txBody>
                  <a:tcPr>
                    <a:solidFill>
                      <a:srgbClr val="F5E4DE"/>
                    </a:solidFill>
                  </a:tcPr>
                </a:tc>
                <a:extLst>
                  <a:ext uri="{0D108BD9-81ED-4DB2-BD59-A6C34878D82A}">
                    <a16:rowId xmlns:a16="http://schemas.microsoft.com/office/drawing/2014/main" val="10005"/>
                  </a:ext>
                </a:extLst>
              </a:tr>
              <a:tr h="377965">
                <a:tc>
                  <a:txBody>
                    <a:bodyPr/>
                    <a:lstStyle/>
                    <a:p>
                      <a:r>
                        <a:rPr sz="600" b="0">
                          <a:solidFill>
                            <a:srgbClr val="5BE08B"/>
                          </a:solidFill>
                        </a:rPr>
                        <a:t>Graph Register</a:t>
                      </a:r>
                    </a:p>
                  </a:txBody>
                  <a:tcPr>
                    <a:solidFill>
                      <a:srgbClr val="F5E4DE"/>
                    </a:solidFill>
                  </a:tcPr>
                </a:tc>
                <a:tc>
                  <a:txBody>
                    <a:bodyPr/>
                    <a:lstStyle/>
                    <a:p>
                      <a:r>
                        <a:rPr sz="600" b="0">
                          <a:solidFill>
                            <a:srgbClr val="5BE08B"/>
                          </a:solidFill>
                        </a:rPr>
                        <a:t>Command</a:t>
                      </a:r>
                    </a:p>
                  </a:txBody>
                  <a:tcPr>
                    <a:solidFill>
                      <a:srgbClr val="F5E4DE"/>
                    </a:solidFill>
                  </a:tcPr>
                </a:tc>
                <a:extLst>
                  <a:ext uri="{0D108BD9-81ED-4DB2-BD59-A6C34878D82A}">
                    <a16:rowId xmlns:a16="http://schemas.microsoft.com/office/drawing/2014/main" val="10006"/>
                  </a:ext>
                </a:extLst>
              </a:tr>
            </a:tbl>
          </a:graphicData>
        </a:graphic>
      </p:graphicFrame>
      <p:sp>
        <p:nvSpPr>
          <p:cNvPr id="24" name="Funnel 23"/>
          <p:cNvSpPr/>
          <p:nvPr/>
        </p:nvSpPr>
        <p:spPr>
          <a:xfrm>
            <a:off x="1100677" y="3450060"/>
            <a:ext cx="481002" cy="1330488"/>
          </a:xfrm>
          <a:prstGeom prst="funnel">
            <a:avLst/>
          </a:prstGeom>
          <a:noFill/>
          <a:ln w="24504">
            <a:solidFill>
              <a:srgbClr val="70C6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rocess 24"/>
          <p:cNvSpPr/>
          <p:nvPr/>
        </p:nvSpPr>
        <p:spPr>
          <a:xfrm>
            <a:off x="9163148" y="1208522"/>
            <a:ext cx="1675516" cy="1424479"/>
          </a:xfrm>
          <a:prstGeom prst="flowChartProcess">
            <a:avLst/>
          </a:prstGeom>
          <a:solidFill>
            <a:srgbClr val="6A8FB4"/>
          </a:solidFill>
          <a:ln w="11495">
            <a:solidFill>
              <a:srgbClr val="1FD72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4"/>
          <a:srcRect l="1884" t="9043" r="3274" b="15795"/>
          <a:stretch>
            <a:fillRect/>
          </a:stretch>
        </p:blipFill>
        <p:spPr>
          <a:xfrm>
            <a:off x="8976620" y="5202769"/>
            <a:ext cx="2575496" cy="1160025"/>
          </a:xfrm>
          <a:prstGeom prst="rect">
            <a:avLst/>
          </a:prstGeom>
        </p:spPr>
      </p:pic>
      <p:sp>
        <p:nvSpPr>
          <p:cNvPr id="27" name="Striped Right Arrow 26"/>
          <p:cNvSpPr/>
          <p:nvPr/>
        </p:nvSpPr>
        <p:spPr>
          <a:xfrm>
            <a:off x="3121359" y="2889595"/>
            <a:ext cx="367203" cy="1637592"/>
          </a:xfrm>
          <a:prstGeom prst="stripedRightArrow">
            <a:avLst/>
          </a:prstGeom>
          <a:solidFill>
            <a:srgbClr val="A2DADC"/>
          </a:solidFill>
          <a:ln w="13458">
            <a:solidFill>
              <a:srgbClr val="75D69F"/>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01358682-2F72-C1C9-4D91-C3EFC6C9796C}"/>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800488" y="652887"/>
            <a:ext cx="993669" cy="1416416"/>
          </a:xfrm>
          <a:prstGeom prst="rect">
            <a:avLst/>
          </a:prstGeom>
        </p:spPr>
      </p:pic>
      <p:pic>
        <p:nvPicPr>
          <p:cNvPr id="31" name="Graphic 30">
            <a:extLst>
              <a:ext uri="{FF2B5EF4-FFF2-40B4-BE49-F238E27FC236}">
                <a16:creationId xmlns:a16="http://schemas.microsoft.com/office/drawing/2014/main" id="{78BB7573-97AE-0C0C-01C3-3F66705B2F5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140076" y="3878440"/>
            <a:ext cx="938357" cy="7820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9472907" y="1296011"/>
            <a:ext cx="906853" cy="739370"/>
          </a:xfrm>
          <a:custGeom>
            <a:avLst/>
            <a:gdLst/>
            <a:ahLst/>
            <a:cxnLst/>
            <a:rect l="l" t="t" r="r" b="b"/>
            <a:pathLst>
              <a:path w="906853" h="739370">
                <a:moveTo>
                  <a:pt x="0" y="359416"/>
                </a:moveTo>
                <a:lnTo>
                  <a:pt x="156018" y="0"/>
                </a:lnTo>
                <a:lnTo>
                  <a:pt x="321787" y="308071"/>
                </a:lnTo>
                <a:lnTo>
                  <a:pt x="487556" y="616141"/>
                </a:lnTo>
                <a:lnTo>
                  <a:pt x="663076" y="256726"/>
                </a:lnTo>
                <a:lnTo>
                  <a:pt x="906853" y="390223"/>
                </a:lnTo>
                <a:lnTo>
                  <a:pt x="906853" y="739370"/>
                </a:lnTo>
                <a:lnTo>
                  <a:pt x="0" y="739370"/>
                </a:lnTo>
                <a:close/>
              </a:path>
            </a:pathLst>
          </a:custGeom>
          <a:solidFill>
            <a:srgbClr val="45DB6E"/>
          </a:solidFill>
          <a:ln w="16484">
            <a:solidFill>
              <a:srgbClr val="22D0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qual 2"/>
          <p:cNvSpPr/>
          <p:nvPr/>
        </p:nvSpPr>
        <p:spPr>
          <a:xfrm>
            <a:off x="3005960" y="720639"/>
            <a:ext cx="2290065" cy="1028502"/>
          </a:xfrm>
          <a:prstGeom prst="mathEqual">
            <a:avLst/>
          </a:prstGeom>
          <a:solidFill>
            <a:srgbClr val="3E1C9D"/>
          </a:solidFill>
          <a:ln w="13414">
            <a:solidFill>
              <a:srgbClr val="1E5CD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Curved Down Ribbon 3"/>
          <p:cNvSpPr/>
          <p:nvPr/>
        </p:nvSpPr>
        <p:spPr>
          <a:xfrm>
            <a:off x="2811689" y="4284422"/>
            <a:ext cx="2597472" cy="1769810"/>
          </a:xfrm>
          <a:prstGeom prst="ellipseRibbon">
            <a:avLst/>
          </a:prstGeom>
          <a:solidFill>
            <a:srgbClr val="C63273"/>
          </a:solidFill>
          <a:ln w="20234">
            <a:solidFill>
              <a:srgbClr val="A8D16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Up-Down Arrow 4"/>
          <p:cNvSpPr/>
          <p:nvPr/>
        </p:nvSpPr>
        <p:spPr>
          <a:xfrm>
            <a:off x="7650713" y="2752459"/>
            <a:ext cx="1523186" cy="1504073"/>
          </a:xfrm>
          <a:prstGeom prst="upDownArrow">
            <a:avLst/>
          </a:prstGeom>
          <a:noFill/>
          <a:ln w="10065">
            <a:solidFill>
              <a:srgbClr val="E1D7A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15991" y="3208644"/>
            <a:ext cx="769327" cy="2552896"/>
          </a:xfrm>
          <a:prstGeom prst="rect">
            <a:avLst/>
          </a:prstGeom>
          <a:noFill/>
        </p:spPr>
        <p:txBody>
          <a:bodyPr wrap="none" lIns="87546" tIns="87546" rIns="87546" bIns="87546">
            <a:spAutoFit/>
          </a:bodyPr>
          <a:lstStyle/>
          <a:p>
            <a:r>
              <a:rPr sz="1000" b="0" i="1" u="none">
                <a:solidFill>
                  <a:srgbClr val="85BC38"/>
                </a:solidFill>
                <a:latin typeface="Arial"/>
              </a:rPr>
              <a:t>Event Datum Keyline Interface Memory Beacon Path Hub Needle Deployment Narrative Dimension Motion Result Hub Interval Template Lens Cluster Result Sequence Vertex Foundation Foundation Story Core Segment Pattern Cadence Beta</a:t>
            </a:r>
          </a:p>
        </p:txBody>
      </p:sp>
      <p:graphicFrame>
        <p:nvGraphicFramePr>
          <p:cNvPr id="7" name="Table 6"/>
          <p:cNvGraphicFramePr>
            <a:graphicFrameLocks noGrp="1"/>
          </p:cNvGraphicFramePr>
          <p:nvPr/>
        </p:nvGraphicFramePr>
        <p:xfrm>
          <a:off x="8094310" y="4388676"/>
          <a:ext cx="2097433" cy="1095424"/>
        </p:xfrm>
        <a:graphic>
          <a:graphicData uri="http://schemas.openxmlformats.org/drawingml/2006/table">
            <a:tbl>
              <a:tblPr firstRow="1" bandRow="1">
                <a:tableStyleId>{5C22544A-7EE6-4342-B048-85BDC9FD1C3A}</a:tableStyleId>
              </a:tblPr>
              <a:tblGrid>
                <a:gridCol w="419486">
                  <a:extLst>
                    <a:ext uri="{9D8B030D-6E8A-4147-A177-3AD203B41FA5}">
                      <a16:colId xmlns:a16="http://schemas.microsoft.com/office/drawing/2014/main" val="20000"/>
                    </a:ext>
                  </a:extLst>
                </a:gridCol>
                <a:gridCol w="419486">
                  <a:extLst>
                    <a:ext uri="{9D8B030D-6E8A-4147-A177-3AD203B41FA5}">
                      <a16:colId xmlns:a16="http://schemas.microsoft.com/office/drawing/2014/main" val="20001"/>
                    </a:ext>
                  </a:extLst>
                </a:gridCol>
                <a:gridCol w="419486">
                  <a:extLst>
                    <a:ext uri="{9D8B030D-6E8A-4147-A177-3AD203B41FA5}">
                      <a16:colId xmlns:a16="http://schemas.microsoft.com/office/drawing/2014/main" val="20002"/>
                    </a:ext>
                  </a:extLst>
                </a:gridCol>
                <a:gridCol w="419486">
                  <a:extLst>
                    <a:ext uri="{9D8B030D-6E8A-4147-A177-3AD203B41FA5}">
                      <a16:colId xmlns:a16="http://schemas.microsoft.com/office/drawing/2014/main" val="20003"/>
                    </a:ext>
                  </a:extLst>
                </a:gridCol>
                <a:gridCol w="419489">
                  <a:extLst>
                    <a:ext uri="{9D8B030D-6E8A-4147-A177-3AD203B41FA5}">
                      <a16:colId xmlns:a16="http://schemas.microsoft.com/office/drawing/2014/main" val="20004"/>
                    </a:ext>
                  </a:extLst>
                </a:gridCol>
              </a:tblGrid>
              <a:tr h="273856">
                <a:tc>
                  <a:txBody>
                    <a:bodyPr/>
                    <a:lstStyle/>
                    <a:p>
                      <a:r>
                        <a:rPr sz="1200" b="0">
                          <a:solidFill>
                            <a:srgbClr val="699061"/>
                          </a:solidFill>
                        </a:rPr>
                        <a:t>Status Radius</a:t>
                      </a:r>
                    </a:p>
                  </a:txBody>
                  <a:tcPr>
                    <a:solidFill>
                      <a:srgbClr val="E8F7F9"/>
                    </a:solidFill>
                  </a:tcPr>
                </a:tc>
                <a:tc>
                  <a:txBody>
                    <a:bodyPr/>
                    <a:lstStyle/>
                    <a:p>
                      <a:r>
                        <a:rPr sz="1200" b="0">
                          <a:solidFill>
                            <a:srgbClr val="699061"/>
                          </a:solidFill>
                        </a:rPr>
                        <a:t>Vector Aspect</a:t>
                      </a:r>
                    </a:p>
                  </a:txBody>
                  <a:tcPr>
                    <a:solidFill>
                      <a:srgbClr val="E8F7F9"/>
                    </a:solidFill>
                  </a:tcPr>
                </a:tc>
                <a:tc>
                  <a:txBody>
                    <a:bodyPr/>
                    <a:lstStyle/>
                    <a:p>
                      <a:r>
                        <a:rPr sz="1200" b="0">
                          <a:solidFill>
                            <a:srgbClr val="699061"/>
                          </a:solidFill>
                        </a:rPr>
                        <a:t>Context</a:t>
                      </a:r>
                    </a:p>
                  </a:txBody>
                  <a:tcPr>
                    <a:solidFill>
                      <a:srgbClr val="E8F7F9"/>
                    </a:solidFill>
                  </a:tcPr>
                </a:tc>
                <a:tc>
                  <a:txBody>
                    <a:bodyPr/>
                    <a:lstStyle/>
                    <a:p>
                      <a:r>
                        <a:rPr sz="1200" b="0">
                          <a:solidFill>
                            <a:srgbClr val="699061"/>
                          </a:solidFill>
                        </a:rPr>
                        <a:t>Brief</a:t>
                      </a:r>
                    </a:p>
                  </a:txBody>
                  <a:tcPr>
                    <a:solidFill>
                      <a:srgbClr val="E8F7F9"/>
                    </a:solidFill>
                  </a:tcPr>
                </a:tc>
                <a:tc>
                  <a:txBody>
                    <a:bodyPr/>
                    <a:lstStyle/>
                    <a:p>
                      <a:r>
                        <a:rPr sz="1200" b="0">
                          <a:solidFill>
                            <a:srgbClr val="699061"/>
                          </a:solidFill>
                        </a:rPr>
                        <a:t>Core</a:t>
                      </a:r>
                    </a:p>
                  </a:txBody>
                  <a:tcPr>
                    <a:solidFill>
                      <a:srgbClr val="E8F7F9"/>
                    </a:solidFill>
                  </a:tcPr>
                </a:tc>
                <a:extLst>
                  <a:ext uri="{0D108BD9-81ED-4DB2-BD59-A6C34878D82A}">
                    <a16:rowId xmlns:a16="http://schemas.microsoft.com/office/drawing/2014/main" val="10000"/>
                  </a:ext>
                </a:extLst>
              </a:tr>
              <a:tr h="273856">
                <a:tc>
                  <a:txBody>
                    <a:bodyPr/>
                    <a:lstStyle/>
                    <a:p>
                      <a:r>
                        <a:rPr sz="1200" b="0">
                          <a:solidFill>
                            <a:srgbClr val="699061"/>
                          </a:solidFill>
                        </a:rPr>
                        <a:t>Inventory Cycle</a:t>
                      </a:r>
                    </a:p>
                  </a:txBody>
                  <a:tcPr>
                    <a:solidFill>
                      <a:srgbClr val="E8F7F9"/>
                    </a:solidFill>
                  </a:tcPr>
                </a:tc>
                <a:tc>
                  <a:txBody>
                    <a:bodyPr/>
                    <a:lstStyle/>
                    <a:p>
                      <a:r>
                        <a:rPr sz="1200" b="0">
                          <a:solidFill>
                            <a:srgbClr val="699061"/>
                          </a:solidFill>
                        </a:rPr>
                        <a:t>Trigger</a:t>
                      </a:r>
                    </a:p>
                  </a:txBody>
                  <a:tcPr>
                    <a:solidFill>
                      <a:srgbClr val="E8F7F9"/>
                    </a:solidFill>
                  </a:tcPr>
                </a:tc>
                <a:tc>
                  <a:txBody>
                    <a:bodyPr/>
                    <a:lstStyle/>
                    <a:p>
                      <a:r>
                        <a:rPr sz="1200" b="0">
                          <a:solidFill>
                            <a:srgbClr val="699061"/>
                          </a:solidFill>
                        </a:rPr>
                        <a:t>Interval Cadence</a:t>
                      </a:r>
                    </a:p>
                  </a:txBody>
                  <a:tcPr>
                    <a:solidFill>
                      <a:srgbClr val="E8F7F9"/>
                    </a:solidFill>
                  </a:tcPr>
                </a:tc>
                <a:tc>
                  <a:txBody>
                    <a:bodyPr/>
                    <a:lstStyle/>
                    <a:p>
                      <a:r>
                        <a:rPr sz="1200" b="0">
                          <a:solidFill>
                            <a:srgbClr val="699061"/>
                          </a:solidFill>
                        </a:rPr>
                        <a:t>Span</a:t>
                      </a:r>
                    </a:p>
                  </a:txBody>
                  <a:tcPr>
                    <a:solidFill>
                      <a:srgbClr val="E8F7F9"/>
                    </a:solidFill>
                  </a:tcPr>
                </a:tc>
                <a:tc>
                  <a:txBody>
                    <a:bodyPr/>
                    <a:lstStyle/>
                    <a:p>
                      <a:r>
                        <a:rPr sz="1200" b="0">
                          <a:solidFill>
                            <a:srgbClr val="699061"/>
                          </a:solidFill>
                        </a:rPr>
                        <a:t>Viewport</a:t>
                      </a:r>
                    </a:p>
                  </a:txBody>
                  <a:tcPr>
                    <a:solidFill>
                      <a:srgbClr val="E8F7F9"/>
                    </a:solidFill>
                  </a:tcPr>
                </a:tc>
                <a:extLst>
                  <a:ext uri="{0D108BD9-81ED-4DB2-BD59-A6C34878D82A}">
                    <a16:rowId xmlns:a16="http://schemas.microsoft.com/office/drawing/2014/main" val="10001"/>
                  </a:ext>
                </a:extLst>
              </a:tr>
              <a:tr h="273856">
                <a:tc>
                  <a:txBody>
                    <a:bodyPr/>
                    <a:lstStyle/>
                    <a:p>
                      <a:r>
                        <a:rPr sz="1200" b="0">
                          <a:solidFill>
                            <a:srgbClr val="699061"/>
                          </a:solidFill>
                        </a:rPr>
                        <a:t>Volume Energy</a:t>
                      </a:r>
                    </a:p>
                  </a:txBody>
                  <a:tcPr>
                    <a:solidFill>
                      <a:srgbClr val="E8F7F9"/>
                    </a:solidFill>
                  </a:tcPr>
                </a:tc>
                <a:tc>
                  <a:txBody>
                    <a:bodyPr/>
                    <a:lstStyle/>
                    <a:p>
                      <a:r>
                        <a:rPr sz="1200" b="0">
                          <a:solidFill>
                            <a:srgbClr val="699061"/>
                          </a:solidFill>
                        </a:rPr>
                        <a:t>Scale Group</a:t>
                      </a:r>
                    </a:p>
                  </a:txBody>
                  <a:tcPr>
                    <a:solidFill>
                      <a:srgbClr val="E8F7F9"/>
                    </a:solidFill>
                  </a:tcPr>
                </a:tc>
                <a:tc>
                  <a:txBody>
                    <a:bodyPr/>
                    <a:lstStyle/>
                    <a:p>
                      <a:r>
                        <a:rPr sz="1200" b="0">
                          <a:solidFill>
                            <a:srgbClr val="699061"/>
                          </a:solidFill>
                        </a:rPr>
                        <a:t>Order</a:t>
                      </a:r>
                    </a:p>
                  </a:txBody>
                  <a:tcPr>
                    <a:solidFill>
                      <a:srgbClr val="E8F7F9"/>
                    </a:solidFill>
                  </a:tcPr>
                </a:tc>
                <a:tc>
                  <a:txBody>
                    <a:bodyPr/>
                    <a:lstStyle/>
                    <a:p>
                      <a:r>
                        <a:rPr sz="1200" b="0">
                          <a:solidFill>
                            <a:srgbClr val="699061"/>
                          </a:solidFill>
                        </a:rPr>
                        <a:t>Logic Catalog</a:t>
                      </a:r>
                    </a:p>
                  </a:txBody>
                  <a:tcPr>
                    <a:solidFill>
                      <a:srgbClr val="E8F7F9"/>
                    </a:solidFill>
                  </a:tcPr>
                </a:tc>
                <a:tc>
                  <a:txBody>
                    <a:bodyPr/>
                    <a:lstStyle/>
                    <a:p>
                      <a:r>
                        <a:rPr sz="1200" b="0">
                          <a:solidFill>
                            <a:srgbClr val="699061"/>
                          </a:solidFill>
                        </a:rPr>
                        <a:t>Version Alpha</a:t>
                      </a:r>
                    </a:p>
                  </a:txBody>
                  <a:tcPr>
                    <a:solidFill>
                      <a:srgbClr val="E8F7F9"/>
                    </a:solidFill>
                  </a:tcPr>
                </a:tc>
                <a:extLst>
                  <a:ext uri="{0D108BD9-81ED-4DB2-BD59-A6C34878D82A}">
                    <a16:rowId xmlns:a16="http://schemas.microsoft.com/office/drawing/2014/main" val="10002"/>
                  </a:ext>
                </a:extLst>
              </a:tr>
              <a:tr h="273856">
                <a:tc>
                  <a:txBody>
                    <a:bodyPr/>
                    <a:lstStyle/>
                    <a:p>
                      <a:r>
                        <a:rPr sz="1200" b="0">
                          <a:solidFill>
                            <a:srgbClr val="699061"/>
                          </a:solidFill>
                        </a:rPr>
                        <a:t>Goal Array</a:t>
                      </a:r>
                    </a:p>
                  </a:txBody>
                  <a:tcPr>
                    <a:solidFill>
                      <a:srgbClr val="E8F7F9"/>
                    </a:solidFill>
                  </a:tcPr>
                </a:tc>
                <a:tc>
                  <a:txBody>
                    <a:bodyPr/>
                    <a:lstStyle/>
                    <a:p>
                      <a:r>
                        <a:rPr sz="1200" b="0">
                          <a:solidFill>
                            <a:srgbClr val="699061"/>
                          </a:solidFill>
                        </a:rPr>
                        <a:t>Deck Factor</a:t>
                      </a:r>
                    </a:p>
                  </a:txBody>
                  <a:tcPr>
                    <a:solidFill>
                      <a:srgbClr val="E8F7F9"/>
                    </a:solidFill>
                  </a:tcPr>
                </a:tc>
                <a:tc>
                  <a:txBody>
                    <a:bodyPr/>
                    <a:lstStyle/>
                    <a:p>
                      <a:r>
                        <a:rPr sz="1200" b="0">
                          <a:solidFill>
                            <a:srgbClr val="699061"/>
                          </a:solidFill>
                        </a:rPr>
                        <a:t>Priority</a:t>
                      </a:r>
                    </a:p>
                  </a:txBody>
                  <a:tcPr>
                    <a:solidFill>
                      <a:srgbClr val="E8F7F9"/>
                    </a:solidFill>
                  </a:tcPr>
                </a:tc>
                <a:tc>
                  <a:txBody>
                    <a:bodyPr/>
                    <a:lstStyle/>
                    <a:p>
                      <a:r>
                        <a:rPr sz="1200" b="0">
                          <a:solidFill>
                            <a:srgbClr val="699061"/>
                          </a:solidFill>
                        </a:rPr>
                        <a:t>Field Gateway</a:t>
                      </a:r>
                    </a:p>
                  </a:txBody>
                  <a:tcPr>
                    <a:solidFill>
                      <a:srgbClr val="E8F7F9"/>
                    </a:solidFill>
                  </a:tcPr>
                </a:tc>
                <a:tc>
                  <a:txBody>
                    <a:bodyPr/>
                    <a:lstStyle/>
                    <a:p>
                      <a:r>
                        <a:rPr sz="1200" b="0">
                          <a:solidFill>
                            <a:srgbClr val="699061"/>
                          </a:solidFill>
                        </a:rPr>
                        <a:t>Pixel</a:t>
                      </a:r>
                    </a:p>
                  </a:txBody>
                  <a:tcPr>
                    <a:solidFill>
                      <a:srgbClr val="E8F7F9"/>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10234365" y="1762055"/>
            <a:ext cx="1014110" cy="647951"/>
          </a:xfrm>
          <a:prstGeom prst="rect">
            <a:avLst/>
          </a:prstGeom>
          <a:solidFill>
            <a:srgbClr val="4FB4AF"/>
          </a:solidFill>
        </p:spPr>
        <p:txBody>
          <a:bodyPr wrap="none" lIns="79663" tIns="79663" rIns="79663" bIns="79663">
            <a:spAutoFit/>
          </a:bodyPr>
          <a:lstStyle/>
          <a:p>
            <a:r>
              <a:rPr sz="2500" b="0" i="0" u="none">
                <a:solidFill>
                  <a:srgbClr val="A3D090"/>
                </a:solidFill>
                <a:latin typeface="Aptos"/>
              </a:rPr>
              <a:t>Briefing Panel Variant Edge Cell Focus Center Reference Explorer</a:t>
            </a:r>
          </a:p>
        </p:txBody>
      </p:sp>
      <p:graphicFrame>
        <p:nvGraphicFramePr>
          <p:cNvPr id="9" name="Table 8"/>
          <p:cNvGraphicFramePr>
            <a:graphicFrameLocks noGrp="1"/>
          </p:cNvGraphicFramePr>
          <p:nvPr/>
        </p:nvGraphicFramePr>
        <p:xfrm>
          <a:off x="9136160" y="2259562"/>
          <a:ext cx="2089102" cy="1798092"/>
        </p:xfrm>
        <a:graphic>
          <a:graphicData uri="http://schemas.openxmlformats.org/drawingml/2006/table">
            <a:tbl>
              <a:tblPr firstRow="1" bandRow="1">
                <a:tableStyleId>{5C22544A-7EE6-4342-B048-85BDC9FD1C3A}</a:tableStyleId>
              </a:tblPr>
              <a:tblGrid>
                <a:gridCol w="1044551">
                  <a:extLst>
                    <a:ext uri="{9D8B030D-6E8A-4147-A177-3AD203B41FA5}">
                      <a16:colId xmlns:a16="http://schemas.microsoft.com/office/drawing/2014/main" val="20000"/>
                    </a:ext>
                  </a:extLst>
                </a:gridCol>
                <a:gridCol w="1044551">
                  <a:extLst>
                    <a:ext uri="{9D8B030D-6E8A-4147-A177-3AD203B41FA5}">
                      <a16:colId xmlns:a16="http://schemas.microsoft.com/office/drawing/2014/main" val="20001"/>
                    </a:ext>
                  </a:extLst>
                </a:gridCol>
              </a:tblGrid>
              <a:tr h="899046">
                <a:tc>
                  <a:txBody>
                    <a:bodyPr/>
                    <a:lstStyle/>
                    <a:p>
                      <a:r>
                        <a:rPr sz="900" b="0">
                          <a:solidFill>
                            <a:srgbClr val="1E1D6A"/>
                          </a:solidFill>
                        </a:rPr>
                        <a:t>Proof</a:t>
                      </a:r>
                    </a:p>
                  </a:txBody>
                  <a:tcPr>
                    <a:solidFill>
                      <a:srgbClr val="F5F7E9"/>
                    </a:solidFill>
                  </a:tcPr>
                </a:tc>
                <a:tc>
                  <a:txBody>
                    <a:bodyPr/>
                    <a:lstStyle/>
                    <a:p>
                      <a:r>
                        <a:rPr sz="900" b="0">
                          <a:solidFill>
                            <a:srgbClr val="1E1D6A"/>
                          </a:solidFill>
                        </a:rPr>
                        <a:t>Dashboard</a:t>
                      </a:r>
                    </a:p>
                  </a:txBody>
                  <a:tcPr>
                    <a:solidFill>
                      <a:srgbClr val="F5F7E9"/>
                    </a:solidFill>
                  </a:tcPr>
                </a:tc>
                <a:extLst>
                  <a:ext uri="{0D108BD9-81ED-4DB2-BD59-A6C34878D82A}">
                    <a16:rowId xmlns:a16="http://schemas.microsoft.com/office/drawing/2014/main" val="10000"/>
                  </a:ext>
                </a:extLst>
              </a:tr>
              <a:tr h="899046">
                <a:tc>
                  <a:txBody>
                    <a:bodyPr/>
                    <a:lstStyle/>
                    <a:p>
                      <a:r>
                        <a:rPr sz="900" b="0">
                          <a:solidFill>
                            <a:srgbClr val="1E1D6A"/>
                          </a:solidFill>
                        </a:rPr>
                        <a:t>Horizon Panel</a:t>
                      </a:r>
                    </a:p>
                  </a:txBody>
                  <a:tcPr>
                    <a:solidFill>
                      <a:srgbClr val="DEE5B4"/>
                    </a:solidFill>
                  </a:tcPr>
                </a:tc>
                <a:tc>
                  <a:txBody>
                    <a:bodyPr/>
                    <a:lstStyle/>
                    <a:p>
                      <a:r>
                        <a:rPr sz="900" b="0">
                          <a:solidFill>
                            <a:srgbClr val="1E1D6A"/>
                          </a:solidFill>
                        </a:rPr>
                        <a:t>Compass Flow</a:t>
                      </a:r>
                    </a:p>
                  </a:txBody>
                  <a:tcPr>
                    <a:solidFill>
                      <a:srgbClr val="DEE5B4"/>
                    </a:solidFill>
                  </a:tcPr>
                </a:tc>
                <a:extLst>
                  <a:ext uri="{0D108BD9-81ED-4DB2-BD59-A6C34878D82A}">
                    <a16:rowId xmlns:a16="http://schemas.microsoft.com/office/drawing/2014/main" val="10001"/>
                  </a:ext>
                </a:extLst>
              </a:tr>
            </a:tbl>
          </a:graphicData>
        </a:graphic>
      </p:graphicFrame>
      <p:sp>
        <p:nvSpPr>
          <p:cNvPr id="10" name="Process 9"/>
          <p:cNvSpPr/>
          <p:nvPr/>
        </p:nvSpPr>
        <p:spPr>
          <a:xfrm>
            <a:off x="5876924" y="2734821"/>
            <a:ext cx="399054" cy="1127926"/>
          </a:xfrm>
          <a:prstGeom prst="flowChartProcess">
            <a:avLst/>
          </a:prstGeom>
          <a:solidFill>
            <a:srgbClr val="83ACC0"/>
          </a:solidFill>
          <a:ln w="18849">
            <a:solidFill>
              <a:srgbClr val="A57C8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Left-Right Arrow Callout 10"/>
          <p:cNvSpPr/>
          <p:nvPr/>
        </p:nvSpPr>
        <p:spPr>
          <a:xfrm>
            <a:off x="6716613" y="2393929"/>
            <a:ext cx="733885" cy="814699"/>
          </a:xfrm>
          <a:prstGeom prst="leftRightArrowCallout">
            <a:avLst/>
          </a:prstGeom>
          <a:solidFill>
            <a:srgbClr val="B1A7A0"/>
          </a:solidFill>
          <a:ln w="31406">
            <a:solidFill>
              <a:srgbClr val="1CA78F"/>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 11"/>
          <p:cNvGraphicFramePr>
            <a:graphicFrameLocks noGrp="1"/>
          </p:cNvGraphicFramePr>
          <p:nvPr/>
        </p:nvGraphicFramePr>
        <p:xfrm>
          <a:off x="1183509" y="330442"/>
          <a:ext cx="2487235" cy="2362228"/>
        </p:xfrm>
        <a:graphic>
          <a:graphicData uri="http://schemas.openxmlformats.org/drawingml/2006/chart">
            <c:chart xmlns:c="http://schemas.openxmlformats.org/drawingml/2006/chart" xmlns:r="http://schemas.openxmlformats.org/officeDocument/2006/relationships" r:id="rId2"/>
          </a:graphicData>
        </a:graphic>
      </p:graphicFrame>
      <p:cxnSp>
        <p:nvCxnSpPr>
          <p:cNvPr id="13" name="Connector 12"/>
          <p:cNvCxnSpPr/>
          <p:nvPr/>
        </p:nvCxnSpPr>
        <p:spPr>
          <a:xfrm>
            <a:off x="11197190" y="4324306"/>
            <a:ext cx="745561" cy="454824"/>
          </a:xfrm>
          <a:prstGeom prst="curvedConnector3">
            <a:avLst/>
          </a:prstGeom>
          <a:ln w="44428">
            <a:solidFill>
              <a:srgbClr val="ADD643"/>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931079" y="5055847"/>
            <a:ext cx="528309" cy="1424703"/>
          </a:xfrm>
          <a:prstGeom prst="rect">
            <a:avLst/>
          </a:prstGeom>
          <a:noFill/>
        </p:spPr>
        <p:txBody>
          <a:bodyPr wrap="none" lIns="63610" tIns="63610" rIns="63610" bIns="63610">
            <a:spAutoFit/>
          </a:bodyPr>
          <a:lstStyle/>
          <a:p>
            <a:r>
              <a:rPr sz="2300" b="1" i="1" u="none">
                <a:solidFill>
                  <a:srgbClr val="CFAD19"/>
                </a:solidFill>
                <a:latin typeface="Georgia"/>
              </a:rPr>
              <a:t>Echo Core Goal Beta Queue Station Needle Review Sync</a:t>
            </a:r>
          </a:p>
        </p:txBody>
      </p:sp>
      <p:sp>
        <p:nvSpPr>
          <p:cNvPr id="15" name="TextBox 14"/>
          <p:cNvSpPr txBox="1"/>
          <p:nvPr/>
        </p:nvSpPr>
        <p:spPr>
          <a:xfrm>
            <a:off x="7606875" y="349221"/>
            <a:ext cx="1858503" cy="1525654"/>
          </a:xfrm>
          <a:prstGeom prst="rect">
            <a:avLst/>
          </a:prstGeom>
          <a:noFill/>
        </p:spPr>
        <p:txBody>
          <a:bodyPr wrap="none" lIns="66292" tIns="66292" rIns="66292" bIns="66292">
            <a:spAutoFit/>
          </a:bodyPr>
          <a:lstStyle/>
          <a:p>
            <a:r>
              <a:rPr sz="3900" b="1" i="1" u="none">
                <a:solidFill>
                  <a:srgbClr val="7D987F"/>
                </a:solidFill>
                <a:latin typeface="Verdana"/>
              </a:rPr>
              <a:t>Harbor Core Variant Canvas Iteration</a:t>
            </a:r>
          </a:p>
        </p:txBody>
      </p:sp>
      <p:sp>
        <p:nvSpPr>
          <p:cNvPr id="16" name="Right Triangle 15"/>
          <p:cNvSpPr/>
          <p:nvPr/>
        </p:nvSpPr>
        <p:spPr>
          <a:xfrm>
            <a:off x="10350152" y="3785837"/>
            <a:ext cx="840207" cy="1629310"/>
          </a:xfrm>
          <a:prstGeom prst="rtTriangle">
            <a:avLst/>
          </a:prstGeom>
          <a:solidFill>
            <a:srgbClr val="8089B0"/>
          </a:solidFill>
          <a:ln w="27422">
            <a:solidFill>
              <a:srgbClr val="19968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87756" y="2640149"/>
            <a:ext cx="2000493" cy="1224522"/>
          </a:xfrm>
          <a:prstGeom prst="rect">
            <a:avLst/>
          </a:prstGeom>
          <a:noFill/>
        </p:spPr>
        <p:txBody>
          <a:bodyPr wrap="none" lIns="79854" tIns="79854" rIns="79854" bIns="79854">
            <a:spAutoFit/>
          </a:bodyPr>
          <a:lstStyle/>
          <a:p>
            <a:r>
              <a:rPr sz="3000" b="0" i="1" u="none">
                <a:solidFill>
                  <a:srgbClr val="252BA9"/>
                </a:solidFill>
                <a:latin typeface="Calibri"/>
              </a:rPr>
              <a:t>Direction Surface Bundle Rhythm Interval Lineage Trigger Network Cluster Method Direction</a:t>
            </a:r>
          </a:p>
        </p:txBody>
      </p:sp>
      <p:cxnSp>
        <p:nvCxnSpPr>
          <p:cNvPr id="18" name="Connector 17"/>
          <p:cNvCxnSpPr/>
          <p:nvPr/>
        </p:nvCxnSpPr>
        <p:spPr>
          <a:xfrm flipV="1">
            <a:off x="1860271" y="4012504"/>
            <a:ext cx="1062230" cy="1309151"/>
          </a:xfrm>
          <a:prstGeom prst="bentConnector3">
            <a:avLst/>
          </a:prstGeom>
          <a:ln w="32607">
            <a:solidFill>
              <a:srgbClr val="64D9B4"/>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5021100" y="6078257"/>
            <a:ext cx="886788" cy="470580"/>
          </a:xfrm>
          <a:prstGeom prst="bentConnector3">
            <a:avLst/>
          </a:prstGeom>
          <a:ln w="33999">
            <a:solidFill>
              <a:srgbClr val="CC9262"/>
            </a:solidFill>
            <a:prstDash val="lgDash"/>
          </a:ln>
        </p:spPr>
        <p:style>
          <a:lnRef idx="2">
            <a:schemeClr val="accent1"/>
          </a:lnRef>
          <a:fillRef idx="0">
            <a:schemeClr val="accent1"/>
          </a:fillRef>
          <a:effectRef idx="1">
            <a:schemeClr val="accent1"/>
          </a:effectRef>
          <a:fontRef idx="minor">
            <a:schemeClr val="tx1"/>
          </a:fontRef>
        </p:style>
      </p:cxnSp>
      <p:pic>
        <p:nvPicPr>
          <p:cNvPr id="20" name="Picture 19" descr="_example_image.jpg"/>
          <p:cNvPicPr>
            <a:picLocks noChangeAspect="1"/>
          </p:cNvPicPr>
          <p:nvPr/>
        </p:nvPicPr>
        <p:blipFill>
          <a:blip r:embed="rId3"/>
          <a:srcRect l="18861" t="19658" r="14418" b="8253"/>
          <a:stretch>
            <a:fillRect/>
          </a:stretch>
        </p:blipFill>
        <p:spPr>
          <a:xfrm>
            <a:off x="224155" y="1160581"/>
            <a:ext cx="1852343" cy="940582"/>
          </a:xfrm>
          <a:prstGeom prst="rect">
            <a:avLst/>
          </a:prstGeom>
        </p:spPr>
      </p:pic>
      <p:pic>
        <p:nvPicPr>
          <p:cNvPr id="21" name="Picture 20" descr="_example_image.jpg"/>
          <p:cNvPicPr>
            <a:picLocks noChangeAspect="1"/>
          </p:cNvPicPr>
          <p:nvPr/>
        </p:nvPicPr>
        <p:blipFill>
          <a:blip r:embed="rId3"/>
          <a:srcRect l="13165" t="19463" r="4939" b="20953"/>
          <a:stretch>
            <a:fillRect/>
          </a:stretch>
        </p:blipFill>
        <p:spPr>
          <a:xfrm>
            <a:off x="6928075" y="5615907"/>
            <a:ext cx="3329914" cy="877886"/>
          </a:xfrm>
          <a:prstGeom prst="rect">
            <a:avLst/>
          </a:prstGeom>
        </p:spPr>
      </p:pic>
      <p:sp>
        <p:nvSpPr>
          <p:cNvPr id="22" name="Rounded Rectangle 21"/>
          <p:cNvSpPr/>
          <p:nvPr/>
        </p:nvSpPr>
        <p:spPr>
          <a:xfrm>
            <a:off x="6928075" y="5615907"/>
            <a:ext cx="3329914" cy="877886"/>
          </a:xfrm>
          <a:prstGeom prst="roundRect">
            <a:avLst/>
          </a:prstGeom>
          <a:noFill/>
          <a:ln w="15240">
            <a:solidFill>
              <a:srgbClr val="A54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65387" y="3717289"/>
            <a:ext cx="1051212" cy="1376846"/>
          </a:xfrm>
          <a:prstGeom prst="rect">
            <a:avLst/>
          </a:prstGeom>
          <a:noFill/>
        </p:spPr>
        <p:txBody>
          <a:bodyPr wrap="none" lIns="86649" tIns="86649" rIns="86649" bIns="86649">
            <a:spAutoFit/>
          </a:bodyPr>
          <a:lstStyle/>
          <a:p>
            <a:r>
              <a:rPr sz="6200" b="1" i="0" u="none">
                <a:solidFill>
                  <a:srgbClr val="ABE0B4"/>
                </a:solidFill>
                <a:latin typeface="Verdana"/>
              </a:rPr>
              <a:t>Lineage Edge</a:t>
            </a:r>
          </a:p>
        </p:txBody>
      </p:sp>
      <p:sp>
        <p:nvSpPr>
          <p:cNvPr id="24" name="Wave 23"/>
          <p:cNvSpPr/>
          <p:nvPr/>
        </p:nvSpPr>
        <p:spPr>
          <a:xfrm>
            <a:off x="5620227" y="972429"/>
            <a:ext cx="726344" cy="1138443"/>
          </a:xfrm>
          <a:prstGeom prst="wave">
            <a:avLst/>
          </a:prstGeom>
          <a:solidFill>
            <a:srgbClr val="262CAC"/>
          </a:solidFill>
          <a:ln w="29120">
            <a:solidFill>
              <a:srgbClr val="93406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Chart 24"/>
          <p:cNvGraphicFramePr>
            <a:graphicFrameLocks noGrp="1"/>
          </p:cNvGraphicFramePr>
          <p:nvPr/>
        </p:nvGraphicFramePr>
        <p:xfrm>
          <a:off x="5527799" y="699871"/>
          <a:ext cx="2711773" cy="1664971"/>
        </p:xfrm>
        <a:graphic>
          <a:graphicData uri="http://schemas.openxmlformats.org/drawingml/2006/chart">
            <c:chart xmlns:c="http://schemas.openxmlformats.org/drawingml/2006/chart" xmlns:r="http://schemas.openxmlformats.org/officeDocument/2006/relationships" r:id="rId4"/>
          </a:graphicData>
        </a:graphic>
      </p:graphicFrame>
      <p:pic>
        <p:nvPicPr>
          <p:cNvPr id="26" name="Picture 25" descr="_example_image.jpg"/>
          <p:cNvPicPr>
            <a:picLocks noChangeAspect="1"/>
          </p:cNvPicPr>
          <p:nvPr/>
        </p:nvPicPr>
        <p:blipFill>
          <a:blip r:embed="rId3"/>
          <a:srcRect l="8744" t="2127" r="2006" b="18184"/>
          <a:stretch>
            <a:fillRect/>
          </a:stretch>
        </p:blipFill>
        <p:spPr>
          <a:xfrm>
            <a:off x="4048257" y="2126538"/>
            <a:ext cx="1363488" cy="1341331"/>
          </a:xfrm>
          <a:prstGeom prst="rect">
            <a:avLst/>
          </a:prstGeom>
        </p:spPr>
      </p:pic>
      <p:sp>
        <p:nvSpPr>
          <p:cNvPr id="27" name="Rounded Rectangle 26"/>
          <p:cNvSpPr/>
          <p:nvPr/>
        </p:nvSpPr>
        <p:spPr>
          <a:xfrm>
            <a:off x="4048257" y="2126538"/>
            <a:ext cx="1363488" cy="1341331"/>
          </a:xfrm>
          <a:prstGeom prst="roundRect">
            <a:avLst/>
          </a:prstGeom>
          <a:noFill/>
          <a:ln w="15240">
            <a:solidFill>
              <a:srgbClr val="1D4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4075965" y="186298"/>
            <a:ext cx="1023988" cy="537354"/>
          </a:xfrm>
          <a:custGeom>
            <a:avLst/>
            <a:gdLst/>
            <a:ahLst/>
            <a:cxnLst/>
            <a:rect l="l" t="t" r="r" b="b"/>
            <a:pathLst>
              <a:path w="1023988" h="537354">
                <a:moveTo>
                  <a:pt x="0" y="119412"/>
                </a:moveTo>
                <a:lnTo>
                  <a:pt x="220213" y="0"/>
                </a:lnTo>
                <a:lnTo>
                  <a:pt x="440425" y="161207"/>
                </a:lnTo>
                <a:lnTo>
                  <a:pt x="660638" y="17912"/>
                </a:lnTo>
                <a:lnTo>
                  <a:pt x="1023988" y="417942"/>
                </a:lnTo>
                <a:lnTo>
                  <a:pt x="770744" y="537354"/>
                </a:lnTo>
                <a:lnTo>
                  <a:pt x="528510" y="358236"/>
                </a:lnTo>
                <a:lnTo>
                  <a:pt x="253245" y="519443"/>
                </a:lnTo>
                <a:close/>
              </a:path>
            </a:pathLst>
          </a:custGeom>
          <a:solidFill>
            <a:srgbClr val="9F797E"/>
          </a:solidFill>
          <a:ln w="15761">
            <a:solidFill>
              <a:srgbClr val="5F8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AC88E963-0818-D8CC-F2C8-0976CEBCB9D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257224" y="1972930"/>
            <a:ext cx="1046827" cy="1126476"/>
          </a:xfrm>
          <a:prstGeom prst="rect">
            <a:avLst/>
          </a:prstGeom>
        </p:spPr>
      </p:pic>
      <p:pic>
        <p:nvPicPr>
          <p:cNvPr id="32" name="Graphic 31">
            <a:extLst>
              <a:ext uri="{FF2B5EF4-FFF2-40B4-BE49-F238E27FC236}">
                <a16:creationId xmlns:a16="http://schemas.microsoft.com/office/drawing/2014/main" id="{EBEF1C6F-C114-6572-F07B-AFD8FC208D8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670746" y="3989583"/>
            <a:ext cx="1555423" cy="107219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4-Point Star 1"/>
          <p:cNvSpPr/>
          <p:nvPr/>
        </p:nvSpPr>
        <p:spPr>
          <a:xfrm>
            <a:off x="7122039" y="4042890"/>
            <a:ext cx="2394598" cy="928616"/>
          </a:xfrm>
          <a:prstGeom prst="star4">
            <a:avLst/>
          </a:prstGeom>
          <a:solidFill>
            <a:srgbClr val="DBB0DF"/>
          </a:solidFill>
          <a:ln w="29377">
            <a:solidFill>
              <a:srgbClr val="421D7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5-Point Star 2"/>
          <p:cNvSpPr/>
          <p:nvPr/>
        </p:nvSpPr>
        <p:spPr>
          <a:xfrm>
            <a:off x="6830768" y="2787586"/>
            <a:ext cx="543354" cy="1016509"/>
          </a:xfrm>
          <a:prstGeom prst="star5">
            <a:avLst/>
          </a:prstGeom>
          <a:solidFill>
            <a:srgbClr val="19B984"/>
          </a:solidFill>
          <a:ln w="21897">
            <a:solidFill>
              <a:srgbClr val="1DE69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495040" y="686553"/>
          <a:ext cx="2376595" cy="1055965"/>
        </p:xfrm>
        <a:graphic>
          <a:graphicData uri="http://schemas.openxmlformats.org/drawingml/2006/table">
            <a:tbl>
              <a:tblPr firstRow="1" bandRow="1">
                <a:tableStyleId>{5C22544A-7EE6-4342-B048-85BDC9FD1C3A}</a:tableStyleId>
              </a:tblPr>
              <a:tblGrid>
                <a:gridCol w="475319">
                  <a:extLst>
                    <a:ext uri="{9D8B030D-6E8A-4147-A177-3AD203B41FA5}">
                      <a16:colId xmlns:a16="http://schemas.microsoft.com/office/drawing/2014/main" val="20000"/>
                    </a:ext>
                  </a:extLst>
                </a:gridCol>
                <a:gridCol w="475319">
                  <a:extLst>
                    <a:ext uri="{9D8B030D-6E8A-4147-A177-3AD203B41FA5}">
                      <a16:colId xmlns:a16="http://schemas.microsoft.com/office/drawing/2014/main" val="20001"/>
                    </a:ext>
                  </a:extLst>
                </a:gridCol>
                <a:gridCol w="475319">
                  <a:extLst>
                    <a:ext uri="{9D8B030D-6E8A-4147-A177-3AD203B41FA5}">
                      <a16:colId xmlns:a16="http://schemas.microsoft.com/office/drawing/2014/main" val="20002"/>
                    </a:ext>
                  </a:extLst>
                </a:gridCol>
                <a:gridCol w="475319">
                  <a:extLst>
                    <a:ext uri="{9D8B030D-6E8A-4147-A177-3AD203B41FA5}">
                      <a16:colId xmlns:a16="http://schemas.microsoft.com/office/drawing/2014/main" val="20003"/>
                    </a:ext>
                  </a:extLst>
                </a:gridCol>
                <a:gridCol w="475319">
                  <a:extLst>
                    <a:ext uri="{9D8B030D-6E8A-4147-A177-3AD203B41FA5}">
                      <a16:colId xmlns:a16="http://schemas.microsoft.com/office/drawing/2014/main" val="20004"/>
                    </a:ext>
                  </a:extLst>
                </a:gridCol>
              </a:tblGrid>
              <a:tr h="351988">
                <a:tc>
                  <a:txBody>
                    <a:bodyPr/>
                    <a:lstStyle/>
                    <a:p>
                      <a:r>
                        <a:rPr sz="800" b="1">
                          <a:solidFill>
                            <a:srgbClr val="ADB652"/>
                          </a:solidFill>
                        </a:rPr>
                        <a:t>Benchmark</a:t>
                      </a:r>
                    </a:p>
                  </a:txBody>
                  <a:tcPr>
                    <a:solidFill>
                      <a:srgbClr val="D5BFA8"/>
                    </a:solidFill>
                  </a:tcPr>
                </a:tc>
                <a:tc>
                  <a:txBody>
                    <a:bodyPr/>
                    <a:lstStyle/>
                    <a:p>
                      <a:r>
                        <a:rPr sz="800" b="1">
                          <a:solidFill>
                            <a:srgbClr val="ADB652"/>
                          </a:solidFill>
                        </a:rPr>
                        <a:t>Case Motion</a:t>
                      </a:r>
                    </a:p>
                  </a:txBody>
                  <a:tcPr>
                    <a:solidFill>
                      <a:srgbClr val="D5BFA8"/>
                    </a:solidFill>
                  </a:tcPr>
                </a:tc>
                <a:tc>
                  <a:txBody>
                    <a:bodyPr/>
                    <a:lstStyle/>
                    <a:p>
                      <a:r>
                        <a:rPr sz="800" b="1">
                          <a:solidFill>
                            <a:srgbClr val="ADB652"/>
                          </a:solidFill>
                        </a:rPr>
                        <a:t>Radius Measure</a:t>
                      </a:r>
                    </a:p>
                  </a:txBody>
                  <a:tcPr>
                    <a:solidFill>
                      <a:srgbClr val="D5BFA8"/>
                    </a:solidFill>
                  </a:tcPr>
                </a:tc>
                <a:tc>
                  <a:txBody>
                    <a:bodyPr/>
                    <a:lstStyle/>
                    <a:p>
                      <a:r>
                        <a:rPr sz="800" b="1">
                          <a:solidFill>
                            <a:srgbClr val="ADB652"/>
                          </a:solidFill>
                        </a:rPr>
                        <a:t>Register Layer</a:t>
                      </a:r>
                    </a:p>
                  </a:txBody>
                  <a:tcPr>
                    <a:solidFill>
                      <a:srgbClr val="D5BFA8"/>
                    </a:solidFill>
                  </a:tcPr>
                </a:tc>
                <a:tc>
                  <a:txBody>
                    <a:bodyPr/>
                    <a:lstStyle/>
                    <a:p>
                      <a:r>
                        <a:rPr sz="800" b="1">
                          <a:solidFill>
                            <a:srgbClr val="ADB652"/>
                          </a:solidFill>
                        </a:rPr>
                        <a:t>Source</a:t>
                      </a:r>
                    </a:p>
                  </a:txBody>
                  <a:tcPr>
                    <a:solidFill>
                      <a:srgbClr val="D5BFA8"/>
                    </a:solidFill>
                  </a:tcPr>
                </a:tc>
                <a:extLst>
                  <a:ext uri="{0D108BD9-81ED-4DB2-BD59-A6C34878D82A}">
                    <a16:rowId xmlns:a16="http://schemas.microsoft.com/office/drawing/2014/main" val="10000"/>
                  </a:ext>
                </a:extLst>
              </a:tr>
              <a:tr h="351988">
                <a:tc>
                  <a:txBody>
                    <a:bodyPr/>
                    <a:lstStyle/>
                    <a:p>
                      <a:r>
                        <a:rPr sz="800" b="0">
                          <a:solidFill>
                            <a:srgbClr val="ADB652"/>
                          </a:solidFill>
                        </a:rPr>
                        <a:t>Request Context</a:t>
                      </a:r>
                    </a:p>
                  </a:txBody>
                  <a:tcPr>
                    <a:solidFill>
                      <a:srgbClr val="D7ABD8"/>
                    </a:solidFill>
                  </a:tcPr>
                </a:tc>
                <a:tc>
                  <a:txBody>
                    <a:bodyPr/>
                    <a:lstStyle/>
                    <a:p>
                      <a:r>
                        <a:rPr sz="800" b="0">
                          <a:solidFill>
                            <a:srgbClr val="ADB652"/>
                          </a:solidFill>
                        </a:rPr>
                        <a:t>Discovery</a:t>
                      </a:r>
                    </a:p>
                  </a:txBody>
                  <a:tcPr>
                    <a:solidFill>
                      <a:srgbClr val="D7ABD8"/>
                    </a:solidFill>
                  </a:tcPr>
                </a:tc>
                <a:tc>
                  <a:txBody>
                    <a:bodyPr/>
                    <a:lstStyle/>
                    <a:p>
                      <a:r>
                        <a:rPr sz="800" b="0">
                          <a:solidFill>
                            <a:srgbClr val="ADB652"/>
                          </a:solidFill>
                        </a:rPr>
                        <a:t>Anchor</a:t>
                      </a:r>
                    </a:p>
                  </a:txBody>
                  <a:tcPr>
                    <a:solidFill>
                      <a:srgbClr val="D7ABD8"/>
                    </a:solidFill>
                  </a:tcPr>
                </a:tc>
                <a:tc>
                  <a:txBody>
                    <a:bodyPr/>
                    <a:lstStyle/>
                    <a:p>
                      <a:r>
                        <a:rPr sz="800" b="0">
                          <a:solidFill>
                            <a:srgbClr val="ADB652"/>
                          </a:solidFill>
                        </a:rPr>
                        <a:t>Topology Drive</a:t>
                      </a:r>
                    </a:p>
                  </a:txBody>
                  <a:tcPr>
                    <a:solidFill>
                      <a:srgbClr val="D7ABD8"/>
                    </a:solidFill>
                  </a:tcPr>
                </a:tc>
                <a:tc>
                  <a:txBody>
                    <a:bodyPr/>
                    <a:lstStyle/>
                    <a:p>
                      <a:r>
                        <a:rPr sz="800" b="0">
                          <a:solidFill>
                            <a:srgbClr val="ADB652"/>
                          </a:solidFill>
                        </a:rPr>
                        <a:t>Collection</a:t>
                      </a:r>
                    </a:p>
                  </a:txBody>
                  <a:tcPr>
                    <a:solidFill>
                      <a:srgbClr val="D7ABD8"/>
                    </a:solidFill>
                  </a:tcPr>
                </a:tc>
                <a:extLst>
                  <a:ext uri="{0D108BD9-81ED-4DB2-BD59-A6C34878D82A}">
                    <a16:rowId xmlns:a16="http://schemas.microsoft.com/office/drawing/2014/main" val="10001"/>
                  </a:ext>
                </a:extLst>
              </a:tr>
              <a:tr h="351989">
                <a:tc>
                  <a:txBody>
                    <a:bodyPr/>
                    <a:lstStyle/>
                    <a:p>
                      <a:r>
                        <a:rPr sz="800" b="0">
                          <a:solidFill>
                            <a:srgbClr val="ADB652"/>
                          </a:solidFill>
                        </a:rPr>
                        <a:t>Loop</a:t>
                      </a:r>
                    </a:p>
                  </a:txBody>
                  <a:tcPr>
                    <a:solidFill>
                      <a:srgbClr val="F8F1F8"/>
                    </a:solidFill>
                  </a:tcPr>
                </a:tc>
                <a:tc>
                  <a:txBody>
                    <a:bodyPr/>
                    <a:lstStyle/>
                    <a:p>
                      <a:r>
                        <a:rPr sz="800" b="0">
                          <a:solidFill>
                            <a:srgbClr val="ADB652"/>
                          </a:solidFill>
                        </a:rPr>
                        <a:t>Dispatch Circuit</a:t>
                      </a:r>
                    </a:p>
                  </a:txBody>
                  <a:tcPr>
                    <a:solidFill>
                      <a:srgbClr val="F8F1F8"/>
                    </a:solidFill>
                  </a:tcPr>
                </a:tc>
                <a:tc>
                  <a:txBody>
                    <a:bodyPr/>
                    <a:lstStyle/>
                    <a:p>
                      <a:r>
                        <a:rPr sz="800" b="0">
                          <a:solidFill>
                            <a:srgbClr val="ADB652"/>
                          </a:solidFill>
                        </a:rPr>
                        <a:t>Cell</a:t>
                      </a:r>
                    </a:p>
                  </a:txBody>
                  <a:tcPr>
                    <a:solidFill>
                      <a:srgbClr val="F8F1F8"/>
                    </a:solidFill>
                  </a:tcPr>
                </a:tc>
                <a:tc>
                  <a:txBody>
                    <a:bodyPr/>
                    <a:lstStyle/>
                    <a:p>
                      <a:r>
                        <a:rPr sz="800" b="0">
                          <a:solidFill>
                            <a:srgbClr val="ADB652"/>
                          </a:solidFill>
                        </a:rPr>
                        <a:t>Audit</a:t>
                      </a:r>
                    </a:p>
                  </a:txBody>
                  <a:tcPr>
                    <a:solidFill>
                      <a:srgbClr val="F8F1F8"/>
                    </a:solidFill>
                  </a:tcPr>
                </a:tc>
                <a:tc>
                  <a:txBody>
                    <a:bodyPr/>
                    <a:lstStyle/>
                    <a:p>
                      <a:r>
                        <a:rPr sz="800" b="0">
                          <a:solidFill>
                            <a:srgbClr val="ADB652"/>
                          </a:solidFill>
                        </a:rPr>
                        <a:t>Exchange Format</a:t>
                      </a:r>
                    </a:p>
                  </a:txBody>
                  <a:tcPr>
                    <a:solidFill>
                      <a:srgbClr val="F8F1F8"/>
                    </a:solidFill>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nvGraphicFramePr>
        <p:xfrm>
          <a:off x="9004292" y="5205475"/>
          <a:ext cx="2461839" cy="1382401"/>
        </p:xfrm>
        <a:graphic>
          <a:graphicData uri="http://schemas.openxmlformats.org/drawingml/2006/table">
            <a:tbl>
              <a:tblPr firstRow="1" bandRow="1">
                <a:tableStyleId>{5C22544A-7EE6-4342-B048-85BDC9FD1C3A}</a:tableStyleId>
              </a:tblPr>
              <a:tblGrid>
                <a:gridCol w="410306">
                  <a:extLst>
                    <a:ext uri="{9D8B030D-6E8A-4147-A177-3AD203B41FA5}">
                      <a16:colId xmlns:a16="http://schemas.microsoft.com/office/drawing/2014/main" val="20000"/>
                    </a:ext>
                  </a:extLst>
                </a:gridCol>
                <a:gridCol w="410306">
                  <a:extLst>
                    <a:ext uri="{9D8B030D-6E8A-4147-A177-3AD203B41FA5}">
                      <a16:colId xmlns:a16="http://schemas.microsoft.com/office/drawing/2014/main" val="20001"/>
                    </a:ext>
                  </a:extLst>
                </a:gridCol>
                <a:gridCol w="410306">
                  <a:extLst>
                    <a:ext uri="{9D8B030D-6E8A-4147-A177-3AD203B41FA5}">
                      <a16:colId xmlns:a16="http://schemas.microsoft.com/office/drawing/2014/main" val="20002"/>
                    </a:ext>
                  </a:extLst>
                </a:gridCol>
                <a:gridCol w="410306">
                  <a:extLst>
                    <a:ext uri="{9D8B030D-6E8A-4147-A177-3AD203B41FA5}">
                      <a16:colId xmlns:a16="http://schemas.microsoft.com/office/drawing/2014/main" val="20003"/>
                    </a:ext>
                  </a:extLst>
                </a:gridCol>
                <a:gridCol w="410306">
                  <a:extLst>
                    <a:ext uri="{9D8B030D-6E8A-4147-A177-3AD203B41FA5}">
                      <a16:colId xmlns:a16="http://schemas.microsoft.com/office/drawing/2014/main" val="20004"/>
                    </a:ext>
                  </a:extLst>
                </a:gridCol>
                <a:gridCol w="410309">
                  <a:extLst>
                    <a:ext uri="{9D8B030D-6E8A-4147-A177-3AD203B41FA5}">
                      <a16:colId xmlns:a16="http://schemas.microsoft.com/office/drawing/2014/main" val="20005"/>
                    </a:ext>
                  </a:extLst>
                </a:gridCol>
              </a:tblGrid>
              <a:tr h="345600">
                <a:tc>
                  <a:txBody>
                    <a:bodyPr/>
                    <a:lstStyle/>
                    <a:p>
                      <a:r>
                        <a:rPr sz="700" b="0">
                          <a:solidFill>
                            <a:srgbClr val="B13D3E"/>
                          </a:solidFill>
                        </a:rPr>
                        <a:t>Spectrum Spectrum</a:t>
                      </a:r>
                    </a:p>
                  </a:txBody>
                  <a:tcPr>
                    <a:solidFill>
                      <a:srgbClr val="DFD3E4"/>
                    </a:solidFill>
                  </a:tcPr>
                </a:tc>
                <a:tc>
                  <a:txBody>
                    <a:bodyPr/>
                    <a:lstStyle/>
                    <a:p>
                      <a:r>
                        <a:rPr sz="700" b="0">
                          <a:solidFill>
                            <a:srgbClr val="B13D3E"/>
                          </a:solidFill>
                        </a:rPr>
                        <a:t>Guide Source</a:t>
                      </a:r>
                    </a:p>
                  </a:txBody>
                  <a:tcPr>
                    <a:solidFill>
                      <a:srgbClr val="DFD3E4"/>
                    </a:solidFill>
                  </a:tcPr>
                </a:tc>
                <a:tc>
                  <a:txBody>
                    <a:bodyPr/>
                    <a:lstStyle/>
                    <a:p>
                      <a:r>
                        <a:rPr sz="700" b="0">
                          <a:solidFill>
                            <a:srgbClr val="B13D3E"/>
                          </a:solidFill>
                        </a:rPr>
                        <a:t>Data Runtime</a:t>
                      </a:r>
                    </a:p>
                  </a:txBody>
                  <a:tcPr>
                    <a:solidFill>
                      <a:srgbClr val="DFD3E4"/>
                    </a:solidFill>
                  </a:tcPr>
                </a:tc>
                <a:tc>
                  <a:txBody>
                    <a:bodyPr/>
                    <a:lstStyle/>
                    <a:p>
                      <a:r>
                        <a:rPr sz="700" b="0">
                          <a:solidFill>
                            <a:srgbClr val="B13D3E"/>
                          </a:solidFill>
                        </a:rPr>
                        <a:t>Mode</a:t>
                      </a:r>
                    </a:p>
                  </a:txBody>
                  <a:tcPr>
                    <a:solidFill>
                      <a:srgbClr val="DFD3E4"/>
                    </a:solidFill>
                  </a:tcPr>
                </a:tc>
                <a:tc>
                  <a:txBody>
                    <a:bodyPr/>
                    <a:lstStyle/>
                    <a:p>
                      <a:r>
                        <a:rPr sz="700" b="0">
                          <a:solidFill>
                            <a:srgbClr val="B13D3E"/>
                          </a:solidFill>
                        </a:rPr>
                        <a:t>Matrix Draft</a:t>
                      </a:r>
                    </a:p>
                  </a:txBody>
                  <a:tcPr>
                    <a:solidFill>
                      <a:srgbClr val="DFD3E4"/>
                    </a:solidFill>
                  </a:tcPr>
                </a:tc>
                <a:tc>
                  <a:txBody>
                    <a:bodyPr/>
                    <a:lstStyle/>
                    <a:p>
                      <a:r>
                        <a:rPr sz="700" b="0">
                          <a:solidFill>
                            <a:srgbClr val="B13D3E"/>
                          </a:solidFill>
                        </a:rPr>
                        <a:t>Goal Duration</a:t>
                      </a:r>
                    </a:p>
                  </a:txBody>
                  <a:tcPr>
                    <a:solidFill>
                      <a:srgbClr val="DFD3E4"/>
                    </a:solidFill>
                  </a:tcPr>
                </a:tc>
                <a:extLst>
                  <a:ext uri="{0D108BD9-81ED-4DB2-BD59-A6C34878D82A}">
                    <a16:rowId xmlns:a16="http://schemas.microsoft.com/office/drawing/2014/main" val="10000"/>
                  </a:ext>
                </a:extLst>
              </a:tr>
              <a:tr h="345600">
                <a:tc>
                  <a:txBody>
                    <a:bodyPr/>
                    <a:lstStyle/>
                    <a:p>
                      <a:r>
                        <a:rPr sz="700" b="0">
                          <a:solidFill>
                            <a:srgbClr val="B13D3E"/>
                          </a:solidFill>
                        </a:rPr>
                        <a:t>Node</a:t>
                      </a:r>
                    </a:p>
                  </a:txBody>
                  <a:tcPr>
                    <a:solidFill>
                      <a:srgbClr val="C7B3D0"/>
                    </a:solidFill>
                  </a:tcPr>
                </a:tc>
                <a:tc>
                  <a:txBody>
                    <a:bodyPr/>
                    <a:lstStyle/>
                    <a:p>
                      <a:r>
                        <a:rPr sz="700" b="0">
                          <a:solidFill>
                            <a:srgbClr val="B13D3E"/>
                          </a:solidFill>
                        </a:rPr>
                        <a:t>Phase</a:t>
                      </a:r>
                    </a:p>
                  </a:txBody>
                  <a:tcPr>
                    <a:solidFill>
                      <a:srgbClr val="C7B3D0"/>
                    </a:solidFill>
                  </a:tcPr>
                </a:tc>
                <a:tc>
                  <a:txBody>
                    <a:bodyPr/>
                    <a:lstStyle/>
                    <a:p>
                      <a:r>
                        <a:rPr sz="700" b="0">
                          <a:solidFill>
                            <a:srgbClr val="B13D3E"/>
                          </a:solidFill>
                        </a:rPr>
                        <a:t>Alignment</a:t>
                      </a:r>
                    </a:p>
                  </a:txBody>
                  <a:tcPr>
                    <a:solidFill>
                      <a:srgbClr val="C7B3D0"/>
                    </a:solidFill>
                  </a:tcPr>
                </a:tc>
                <a:tc>
                  <a:txBody>
                    <a:bodyPr/>
                    <a:lstStyle/>
                    <a:p>
                      <a:r>
                        <a:rPr sz="700" b="0">
                          <a:solidFill>
                            <a:srgbClr val="B13D3E"/>
                          </a:solidFill>
                        </a:rPr>
                        <a:t>Datum</a:t>
                      </a:r>
                    </a:p>
                  </a:txBody>
                  <a:tcPr>
                    <a:solidFill>
                      <a:srgbClr val="C7B3D0"/>
                    </a:solidFill>
                  </a:tcPr>
                </a:tc>
                <a:tc>
                  <a:txBody>
                    <a:bodyPr/>
                    <a:lstStyle/>
                    <a:p>
                      <a:r>
                        <a:rPr sz="700" b="0">
                          <a:solidFill>
                            <a:srgbClr val="B13D3E"/>
                          </a:solidFill>
                        </a:rPr>
                        <a:t>Column Review</a:t>
                      </a:r>
                    </a:p>
                  </a:txBody>
                  <a:tcPr>
                    <a:solidFill>
                      <a:srgbClr val="C7B3D0"/>
                    </a:solidFill>
                  </a:tcPr>
                </a:tc>
                <a:tc>
                  <a:txBody>
                    <a:bodyPr/>
                    <a:lstStyle/>
                    <a:p>
                      <a:r>
                        <a:rPr sz="700" b="0">
                          <a:solidFill>
                            <a:srgbClr val="B13D3E"/>
                          </a:solidFill>
                        </a:rPr>
                        <a:t>Pixel</a:t>
                      </a:r>
                    </a:p>
                  </a:txBody>
                  <a:tcPr>
                    <a:solidFill>
                      <a:srgbClr val="C7B3D0"/>
                    </a:solidFill>
                  </a:tcPr>
                </a:tc>
                <a:extLst>
                  <a:ext uri="{0D108BD9-81ED-4DB2-BD59-A6C34878D82A}">
                    <a16:rowId xmlns:a16="http://schemas.microsoft.com/office/drawing/2014/main" val="10001"/>
                  </a:ext>
                </a:extLst>
              </a:tr>
              <a:tr h="345600">
                <a:tc>
                  <a:txBody>
                    <a:bodyPr/>
                    <a:lstStyle/>
                    <a:p>
                      <a:r>
                        <a:rPr sz="700" b="0">
                          <a:solidFill>
                            <a:srgbClr val="B13D3E"/>
                          </a:solidFill>
                        </a:rPr>
                        <a:t>Sample Rhythm</a:t>
                      </a:r>
                    </a:p>
                  </a:txBody>
                  <a:tcPr>
                    <a:solidFill>
                      <a:srgbClr val="DFD3E4"/>
                    </a:solidFill>
                  </a:tcPr>
                </a:tc>
                <a:tc>
                  <a:txBody>
                    <a:bodyPr/>
                    <a:lstStyle/>
                    <a:p>
                      <a:r>
                        <a:rPr sz="700" b="0">
                          <a:solidFill>
                            <a:srgbClr val="B13D3E"/>
                          </a:solidFill>
                        </a:rPr>
                        <a:t>Link</a:t>
                      </a:r>
                    </a:p>
                  </a:txBody>
                  <a:tcPr>
                    <a:solidFill>
                      <a:srgbClr val="DFD3E4"/>
                    </a:solidFill>
                  </a:tcPr>
                </a:tc>
                <a:tc>
                  <a:txBody>
                    <a:bodyPr/>
                    <a:lstStyle/>
                    <a:p>
                      <a:r>
                        <a:rPr sz="700" b="0">
                          <a:solidFill>
                            <a:srgbClr val="B13D3E"/>
                          </a:solidFill>
                        </a:rPr>
                        <a:t>Tile</a:t>
                      </a:r>
                    </a:p>
                  </a:txBody>
                  <a:tcPr>
                    <a:solidFill>
                      <a:srgbClr val="DFD3E4"/>
                    </a:solidFill>
                  </a:tcPr>
                </a:tc>
                <a:tc>
                  <a:txBody>
                    <a:bodyPr/>
                    <a:lstStyle/>
                    <a:p>
                      <a:r>
                        <a:rPr sz="700" b="0">
                          <a:solidFill>
                            <a:srgbClr val="B13D3E"/>
                          </a:solidFill>
                        </a:rPr>
                        <a:t>Guide Transform</a:t>
                      </a:r>
                    </a:p>
                  </a:txBody>
                  <a:tcPr>
                    <a:solidFill>
                      <a:srgbClr val="DFD3E4"/>
                    </a:solidFill>
                  </a:tcPr>
                </a:tc>
                <a:tc>
                  <a:txBody>
                    <a:bodyPr/>
                    <a:lstStyle/>
                    <a:p>
                      <a:r>
                        <a:rPr sz="700" b="0">
                          <a:solidFill>
                            <a:srgbClr val="B13D3E"/>
                          </a:solidFill>
                        </a:rPr>
                        <a:t>Queueing Density</a:t>
                      </a:r>
                    </a:p>
                  </a:txBody>
                  <a:tcPr>
                    <a:solidFill>
                      <a:srgbClr val="DFD3E4"/>
                    </a:solidFill>
                  </a:tcPr>
                </a:tc>
                <a:tc>
                  <a:txBody>
                    <a:bodyPr/>
                    <a:lstStyle/>
                    <a:p>
                      <a:r>
                        <a:rPr sz="700" b="0">
                          <a:solidFill>
                            <a:srgbClr val="B13D3E"/>
                          </a:solidFill>
                        </a:rPr>
                        <a:t>Access Lineage</a:t>
                      </a:r>
                    </a:p>
                  </a:txBody>
                  <a:tcPr>
                    <a:solidFill>
                      <a:srgbClr val="DFD3E4"/>
                    </a:solidFill>
                  </a:tcPr>
                </a:tc>
                <a:extLst>
                  <a:ext uri="{0D108BD9-81ED-4DB2-BD59-A6C34878D82A}">
                    <a16:rowId xmlns:a16="http://schemas.microsoft.com/office/drawing/2014/main" val="10002"/>
                  </a:ext>
                </a:extLst>
              </a:tr>
              <a:tr h="345601">
                <a:tc>
                  <a:txBody>
                    <a:bodyPr/>
                    <a:lstStyle/>
                    <a:p>
                      <a:r>
                        <a:rPr sz="700" b="0">
                          <a:solidFill>
                            <a:srgbClr val="B13D3E"/>
                          </a:solidFill>
                        </a:rPr>
                        <a:t>Gateway Friction</a:t>
                      </a:r>
                    </a:p>
                  </a:txBody>
                  <a:tcPr>
                    <a:solidFill>
                      <a:srgbClr val="C7B3D0"/>
                    </a:solidFill>
                  </a:tcPr>
                </a:tc>
                <a:tc>
                  <a:txBody>
                    <a:bodyPr/>
                    <a:lstStyle/>
                    <a:p>
                      <a:r>
                        <a:rPr sz="700" b="0">
                          <a:solidFill>
                            <a:srgbClr val="B13D3E"/>
                          </a:solidFill>
                        </a:rPr>
                        <a:t>Object</a:t>
                      </a:r>
                    </a:p>
                  </a:txBody>
                  <a:tcPr>
                    <a:solidFill>
                      <a:srgbClr val="C7B3D0"/>
                    </a:solidFill>
                  </a:tcPr>
                </a:tc>
                <a:tc>
                  <a:txBody>
                    <a:bodyPr/>
                    <a:lstStyle/>
                    <a:p>
                      <a:r>
                        <a:rPr sz="700" b="0">
                          <a:solidFill>
                            <a:srgbClr val="B13D3E"/>
                          </a:solidFill>
                        </a:rPr>
                        <a:t>Hub Source</a:t>
                      </a:r>
                    </a:p>
                  </a:txBody>
                  <a:tcPr>
                    <a:solidFill>
                      <a:srgbClr val="C7B3D0"/>
                    </a:solidFill>
                  </a:tcPr>
                </a:tc>
                <a:tc>
                  <a:txBody>
                    <a:bodyPr/>
                    <a:lstStyle/>
                    <a:p>
                      <a:r>
                        <a:rPr sz="700" b="0">
                          <a:solidFill>
                            <a:srgbClr val="B13D3E"/>
                          </a:solidFill>
                        </a:rPr>
                        <a:t>Packet Design</a:t>
                      </a:r>
                    </a:p>
                  </a:txBody>
                  <a:tcPr>
                    <a:solidFill>
                      <a:srgbClr val="C7B3D0"/>
                    </a:solidFill>
                  </a:tcPr>
                </a:tc>
                <a:tc>
                  <a:txBody>
                    <a:bodyPr/>
                    <a:lstStyle/>
                    <a:p>
                      <a:r>
                        <a:rPr sz="700" b="0">
                          <a:solidFill>
                            <a:srgbClr val="B13D3E"/>
                          </a:solidFill>
                        </a:rPr>
                        <a:t>Device Lens</a:t>
                      </a:r>
                    </a:p>
                  </a:txBody>
                  <a:tcPr>
                    <a:solidFill>
                      <a:srgbClr val="C7B3D0"/>
                    </a:solidFill>
                  </a:tcPr>
                </a:tc>
                <a:tc>
                  <a:txBody>
                    <a:bodyPr/>
                    <a:lstStyle/>
                    <a:p>
                      <a:r>
                        <a:rPr sz="700" b="0">
                          <a:solidFill>
                            <a:srgbClr val="B13D3E"/>
                          </a:solidFill>
                        </a:rPr>
                        <a:t>Instance Intent</a:t>
                      </a:r>
                    </a:p>
                  </a:txBody>
                  <a:tcPr>
                    <a:solidFill>
                      <a:srgbClr val="C7B3D0"/>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2704845" y="682455"/>
            <a:ext cx="964424" cy="2100239"/>
          </a:xfrm>
          <a:prstGeom prst="rect">
            <a:avLst/>
          </a:prstGeom>
          <a:noFill/>
        </p:spPr>
        <p:txBody>
          <a:bodyPr wrap="none" lIns="72872" tIns="72872" rIns="72872" bIns="72872">
            <a:spAutoFit/>
          </a:bodyPr>
          <a:lstStyle/>
          <a:p>
            <a:r>
              <a:rPr sz="1900" b="0" i="0" u="sng">
                <a:solidFill>
                  <a:srgbClr val="B23A30"/>
                </a:solidFill>
                <a:latin typeface="Georgia"/>
              </a:rPr>
              <a:t>Access Focus State Output Data Heading Wave Agenda Needle Velocity Spectrum</a:t>
            </a:r>
          </a:p>
        </p:txBody>
      </p:sp>
      <p:sp>
        <p:nvSpPr>
          <p:cNvPr id="7" name="Freeform 6"/>
          <p:cNvSpPr/>
          <p:nvPr/>
        </p:nvSpPr>
        <p:spPr>
          <a:xfrm>
            <a:off x="4788582" y="4185318"/>
            <a:ext cx="967547" cy="1128769"/>
          </a:xfrm>
          <a:custGeom>
            <a:avLst/>
            <a:gdLst/>
            <a:ahLst/>
            <a:cxnLst/>
            <a:rect l="l" t="t" r="r" b="b"/>
            <a:pathLst>
              <a:path w="967547" h="1128769">
                <a:moveTo>
                  <a:pt x="0" y="548707"/>
                </a:moveTo>
                <a:lnTo>
                  <a:pt x="166460" y="0"/>
                </a:lnTo>
                <a:lnTo>
                  <a:pt x="343323" y="470320"/>
                </a:lnTo>
                <a:lnTo>
                  <a:pt x="520187" y="940641"/>
                </a:lnTo>
                <a:lnTo>
                  <a:pt x="707454" y="391933"/>
                </a:lnTo>
                <a:lnTo>
                  <a:pt x="967547" y="595739"/>
                </a:lnTo>
                <a:lnTo>
                  <a:pt x="967547" y="1128769"/>
                </a:lnTo>
                <a:lnTo>
                  <a:pt x="0" y="1128769"/>
                </a:lnTo>
                <a:close/>
              </a:path>
            </a:pathLst>
          </a:custGeom>
          <a:solidFill>
            <a:srgbClr val="2F8CD2"/>
          </a:solidFill>
          <a:ln w="32994">
            <a:solidFill>
              <a:srgbClr val="AD5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flipV="1">
            <a:off x="1348557" y="3197488"/>
            <a:ext cx="1031483" cy="414786"/>
          </a:xfrm>
          <a:prstGeom prst="bentConnector3">
            <a:avLst/>
          </a:prstGeom>
          <a:ln w="14656">
            <a:solidFill>
              <a:srgbClr val="89215C"/>
            </a:solidFill>
            <a:prstDash val="dot"/>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1418" y="4043008"/>
            <a:ext cx="3706424" cy="1645365"/>
          </a:xfrm>
          <a:prstGeom prst="rect">
            <a:avLst/>
          </a:prstGeom>
          <a:noFill/>
        </p:spPr>
        <p:txBody>
          <a:bodyPr wrap="none" lIns="38815" tIns="38815" rIns="38815" bIns="38815">
            <a:spAutoFit/>
          </a:bodyPr>
          <a:lstStyle/>
          <a:p>
            <a:r>
              <a:rPr sz="1000" b="0" i="0" u="none">
                <a:solidFill>
                  <a:srgbClr val="A49AB2"/>
                </a:solidFill>
                <a:latin typeface="Georgia"/>
              </a:rPr>
              <a:t>Drive Cluster</a:t>
            </a:r>
          </a:p>
        </p:txBody>
      </p:sp>
      <p:sp>
        <p:nvSpPr>
          <p:cNvPr id="10" name="Diamond 9"/>
          <p:cNvSpPr/>
          <p:nvPr/>
        </p:nvSpPr>
        <p:spPr>
          <a:xfrm>
            <a:off x="11301583" y="3342623"/>
            <a:ext cx="494060" cy="1848158"/>
          </a:xfrm>
          <a:prstGeom prst="diamond">
            <a:avLst/>
          </a:prstGeom>
          <a:noFill/>
          <a:ln w="17317">
            <a:solidFill>
              <a:srgbClr val="29872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258408" y="1453234"/>
            <a:ext cx="1665370" cy="2212701"/>
          </a:xfrm>
          <a:prstGeom prst="rect">
            <a:avLst/>
          </a:prstGeom>
          <a:noFill/>
        </p:spPr>
        <p:txBody>
          <a:bodyPr wrap="none" lIns="40925" tIns="40925" rIns="40925" bIns="40925">
            <a:spAutoFit/>
          </a:bodyPr>
          <a:lstStyle/>
          <a:p>
            <a:r>
              <a:rPr sz="1000" b="0" i="0" u="none">
                <a:solidFill>
                  <a:srgbClr val="30DDDC"/>
                </a:solidFill>
                <a:latin typeface="Aptos"/>
              </a:rPr>
              <a:t>Layer Drive Energy</a:t>
            </a:r>
          </a:p>
        </p:txBody>
      </p:sp>
      <p:graphicFrame>
        <p:nvGraphicFramePr>
          <p:cNvPr id="12" name="Chart 11"/>
          <p:cNvGraphicFramePr>
            <a:graphicFrameLocks noGrp="1"/>
          </p:cNvGraphicFramePr>
          <p:nvPr/>
        </p:nvGraphicFramePr>
        <p:xfrm>
          <a:off x="2715811" y="4656221"/>
          <a:ext cx="2064963" cy="1564941"/>
        </p:xfrm>
        <a:graphic>
          <a:graphicData uri="http://schemas.openxmlformats.org/drawingml/2006/chart">
            <c:chart xmlns:c="http://schemas.openxmlformats.org/drawingml/2006/chart" xmlns:r="http://schemas.openxmlformats.org/officeDocument/2006/relationships" r:id="rId2"/>
          </a:graphicData>
        </a:graphic>
      </p:graphicFrame>
      <p:sp>
        <p:nvSpPr>
          <p:cNvPr id="13" name="Curved Right Arrow 12"/>
          <p:cNvSpPr/>
          <p:nvPr/>
        </p:nvSpPr>
        <p:spPr>
          <a:xfrm>
            <a:off x="6555263" y="434505"/>
            <a:ext cx="1208036" cy="1507866"/>
          </a:xfrm>
          <a:prstGeom prst="curvedRightArrow">
            <a:avLst/>
          </a:prstGeom>
          <a:solidFill>
            <a:srgbClr val="E68B55"/>
          </a:solidFill>
          <a:ln w="20189">
            <a:solidFill>
              <a:srgbClr val="7528DB"/>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8892" y="2167380"/>
            <a:ext cx="460396" cy="1493460"/>
          </a:xfrm>
          <a:prstGeom prst="rect">
            <a:avLst/>
          </a:prstGeom>
          <a:solidFill>
            <a:srgbClr val="25329B"/>
          </a:solidFill>
        </p:spPr>
        <p:txBody>
          <a:bodyPr wrap="none" lIns="60113" tIns="60113" rIns="60113" bIns="60113">
            <a:spAutoFit/>
          </a:bodyPr>
          <a:lstStyle/>
          <a:p>
            <a:r>
              <a:rPr sz="1400" b="0" i="0" u="none">
                <a:solidFill>
                  <a:srgbClr val="927021"/>
                </a:solidFill>
                <a:latin typeface="Verdana"/>
              </a:rPr>
              <a:t>Impact Keyline Graph Mesh Spectrum Friction Trace Beacon Packet Viewport Span Option Adaptive Iteration Phase Table Reserve Slice Vertex Format Harbor Ratio Queueing Beta Graph Craft Queueing Position Direction Horizon Point Energy Datum Record Context Service Coverage Graph Handle</a:t>
            </a:r>
          </a:p>
        </p:txBody>
      </p:sp>
      <p:cxnSp>
        <p:nvCxnSpPr>
          <p:cNvPr id="15" name="Connector 14"/>
          <p:cNvCxnSpPr/>
          <p:nvPr/>
        </p:nvCxnSpPr>
        <p:spPr>
          <a:xfrm flipV="1">
            <a:off x="7118817" y="1573602"/>
            <a:ext cx="809395" cy="1354809"/>
          </a:xfrm>
          <a:prstGeom prst="curvedConnector3">
            <a:avLst/>
          </a:prstGeom>
          <a:ln w="40481">
            <a:solidFill>
              <a:srgbClr val="40AAB1"/>
            </a:solidFill>
            <a:prstDash val="solid"/>
          </a:ln>
        </p:spPr>
        <p:style>
          <a:lnRef idx="2">
            <a:schemeClr val="accent1"/>
          </a:lnRef>
          <a:fillRef idx="0">
            <a:schemeClr val="accent1"/>
          </a:fillRef>
          <a:effectRef idx="1">
            <a:schemeClr val="accent1"/>
          </a:effectRef>
          <a:fontRef idx="minor">
            <a:schemeClr val="tx1"/>
          </a:fontRef>
        </p:style>
      </p:cxnSp>
      <p:pic>
        <p:nvPicPr>
          <p:cNvPr id="16" name="Picture 15" descr="_example_image.jpg"/>
          <p:cNvPicPr>
            <a:picLocks noChangeAspect="1"/>
          </p:cNvPicPr>
          <p:nvPr/>
        </p:nvPicPr>
        <p:blipFill>
          <a:blip r:embed="rId3"/>
          <a:srcRect l="1828" t="9453" r="5759" b="2314"/>
          <a:stretch>
            <a:fillRect/>
          </a:stretch>
        </p:blipFill>
        <p:spPr>
          <a:xfrm>
            <a:off x="5652645" y="5112266"/>
            <a:ext cx="1484019" cy="1580039"/>
          </a:xfrm>
          <a:prstGeom prst="rect">
            <a:avLst/>
          </a:prstGeom>
        </p:spPr>
      </p:pic>
      <p:sp>
        <p:nvSpPr>
          <p:cNvPr id="17" name="Rounded Rectangle 16"/>
          <p:cNvSpPr/>
          <p:nvPr/>
        </p:nvSpPr>
        <p:spPr>
          <a:xfrm>
            <a:off x="5652645" y="5112266"/>
            <a:ext cx="1484019" cy="1580039"/>
          </a:xfrm>
          <a:prstGeom prst="roundRect">
            <a:avLst/>
          </a:prstGeom>
          <a:noFill/>
          <a:ln w="15240">
            <a:solidFill>
              <a:srgbClr val="A0DC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3"/>
          <a:srcRect l="20377" t="14225" r="19389" b="16370"/>
          <a:stretch>
            <a:fillRect/>
          </a:stretch>
        </p:blipFill>
        <p:spPr>
          <a:xfrm>
            <a:off x="1035972" y="1998668"/>
            <a:ext cx="1826673" cy="1146449"/>
          </a:xfrm>
          <a:prstGeom prst="rect">
            <a:avLst/>
          </a:prstGeom>
        </p:spPr>
      </p:pic>
      <p:sp>
        <p:nvSpPr>
          <p:cNvPr id="19" name="Rounded Rectangle 18"/>
          <p:cNvSpPr/>
          <p:nvPr/>
        </p:nvSpPr>
        <p:spPr>
          <a:xfrm>
            <a:off x="1035972" y="1998668"/>
            <a:ext cx="1826673" cy="1146449"/>
          </a:xfrm>
          <a:prstGeom prst="roundRect">
            <a:avLst/>
          </a:prstGeom>
          <a:noFill/>
          <a:ln w="15240">
            <a:solidFill>
              <a:srgbClr val="E075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5978183" y="3547197"/>
            <a:ext cx="1580721" cy="590580"/>
          </a:xfrm>
          <a:custGeom>
            <a:avLst/>
            <a:gdLst/>
            <a:ahLst/>
            <a:cxnLst/>
            <a:rect l="l" t="t" r="r" b="b"/>
            <a:pathLst>
              <a:path w="1580721" h="590580">
                <a:moveTo>
                  <a:pt x="790361" y="0"/>
                </a:moveTo>
                <a:lnTo>
                  <a:pt x="987951" y="147645"/>
                </a:lnTo>
                <a:lnTo>
                  <a:pt x="1481926" y="106305"/>
                </a:lnTo>
                <a:lnTo>
                  <a:pt x="1202007" y="295290"/>
                </a:lnTo>
                <a:lnTo>
                  <a:pt x="1580721" y="460652"/>
                </a:lnTo>
                <a:lnTo>
                  <a:pt x="987951" y="425218"/>
                </a:lnTo>
                <a:lnTo>
                  <a:pt x="790361" y="590580"/>
                </a:lnTo>
                <a:lnTo>
                  <a:pt x="592771" y="425218"/>
                </a:lnTo>
                <a:lnTo>
                  <a:pt x="0" y="460652"/>
                </a:lnTo>
                <a:lnTo>
                  <a:pt x="378715" y="295290"/>
                </a:lnTo>
                <a:lnTo>
                  <a:pt x="98795" y="106305"/>
                </a:lnTo>
                <a:lnTo>
                  <a:pt x="592771" y="147645"/>
                </a:lnTo>
                <a:close/>
              </a:path>
            </a:pathLst>
          </a:custGeom>
          <a:solidFill>
            <a:srgbClr val="DC8981"/>
          </a:solidFill>
          <a:ln w="7482">
            <a:solidFill>
              <a:srgbClr val="71DA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Chart 20"/>
          <p:cNvGraphicFramePr>
            <a:graphicFrameLocks noGrp="1"/>
          </p:cNvGraphicFramePr>
          <p:nvPr/>
        </p:nvGraphicFramePr>
        <p:xfrm>
          <a:off x="7698174" y="2998038"/>
          <a:ext cx="2015396" cy="1408308"/>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p:cNvSpPr txBox="1"/>
          <p:nvPr/>
        </p:nvSpPr>
        <p:spPr>
          <a:xfrm>
            <a:off x="10095828" y="3855921"/>
            <a:ext cx="459093" cy="1917074"/>
          </a:xfrm>
          <a:prstGeom prst="rect">
            <a:avLst/>
          </a:prstGeom>
          <a:noFill/>
        </p:spPr>
        <p:txBody>
          <a:bodyPr wrap="none" lIns="75046" tIns="75046" rIns="75046" bIns="75046">
            <a:spAutoFit/>
          </a:bodyPr>
          <a:lstStyle/>
          <a:p>
            <a:r>
              <a:rPr sz="1700" b="0" i="0" u="none">
                <a:solidFill>
                  <a:srgbClr val="8AE6E1"/>
                </a:solidFill>
                <a:latin typeface="Arial"/>
              </a:rPr>
              <a:t>Version Apex Friction Factor Packet Workflow Module Cycle Horizon Layer Atlas Array Story Workflow Threshold Trace Drive Benchmark Radius Runtime Vertex Volume</a:t>
            </a:r>
          </a:p>
        </p:txBody>
      </p:sp>
      <p:sp>
        <p:nvSpPr>
          <p:cNvPr id="23" name="Rectangle 22"/>
          <p:cNvSpPr/>
          <p:nvPr/>
        </p:nvSpPr>
        <p:spPr>
          <a:xfrm>
            <a:off x="4148017" y="3507245"/>
            <a:ext cx="1363366" cy="341914"/>
          </a:xfrm>
          <a:prstGeom prst="rect">
            <a:avLst/>
          </a:prstGeom>
          <a:solidFill>
            <a:srgbClr val="DC53B0"/>
          </a:solidFill>
          <a:ln w="7256">
            <a:solidFill>
              <a:srgbClr val="4320D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9054609" y="357536"/>
            <a:ext cx="2695464" cy="905947"/>
          </a:xfrm>
          <a:prstGeom prst="bentConnector3">
            <a:avLst/>
          </a:prstGeom>
          <a:ln w="11404">
            <a:solidFill>
              <a:srgbClr val="5B563A"/>
            </a:solidFill>
            <a:prstDash val="dot"/>
          </a:ln>
        </p:spPr>
        <p:style>
          <a:lnRef idx="2">
            <a:schemeClr val="accent1"/>
          </a:lnRef>
          <a:fillRef idx="0">
            <a:schemeClr val="accent1"/>
          </a:fillRef>
          <a:effectRef idx="1">
            <a:schemeClr val="accent1"/>
          </a:effectRef>
          <a:fontRef idx="minor">
            <a:schemeClr val="tx1"/>
          </a:fontRef>
        </p:style>
      </p:cxnSp>
      <p:sp>
        <p:nvSpPr>
          <p:cNvPr id="25" name="Parallelogram 24"/>
          <p:cNvSpPr/>
          <p:nvPr/>
        </p:nvSpPr>
        <p:spPr>
          <a:xfrm>
            <a:off x="1257796" y="958616"/>
            <a:ext cx="341147" cy="1068538"/>
          </a:xfrm>
          <a:prstGeom prst="parallelogram">
            <a:avLst/>
          </a:prstGeom>
          <a:solidFill>
            <a:srgbClr val="2FC51A"/>
          </a:solidFill>
          <a:ln w="16507">
            <a:solidFill>
              <a:srgbClr val="E6366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3"/>
          <a:srcRect l="17008" t="14893" r="14968" b="12392"/>
          <a:stretch>
            <a:fillRect/>
          </a:stretch>
        </p:blipFill>
        <p:spPr>
          <a:xfrm>
            <a:off x="7459210" y="2806733"/>
            <a:ext cx="1031791" cy="854738"/>
          </a:xfrm>
          <a:prstGeom prst="rect">
            <a:avLst/>
          </a:prstGeom>
        </p:spPr>
      </p:pic>
      <p:sp>
        <p:nvSpPr>
          <p:cNvPr id="27" name="TextBox 26"/>
          <p:cNvSpPr txBox="1"/>
          <p:nvPr/>
        </p:nvSpPr>
        <p:spPr>
          <a:xfrm>
            <a:off x="3981005" y="1083186"/>
            <a:ext cx="2338022" cy="2294057"/>
          </a:xfrm>
          <a:prstGeom prst="rect">
            <a:avLst/>
          </a:prstGeom>
          <a:noFill/>
        </p:spPr>
        <p:txBody>
          <a:bodyPr wrap="none" lIns="56110" tIns="56110" rIns="56110" bIns="56110">
            <a:spAutoFit/>
          </a:bodyPr>
          <a:lstStyle/>
          <a:p>
            <a:r>
              <a:rPr sz="6400" b="1" i="0" u="none">
                <a:solidFill>
                  <a:srgbClr val="5E8EA9"/>
                </a:solidFill>
                <a:latin typeface="Arial"/>
              </a:rPr>
              <a:t>Keyline Catalog Exchange Forecast Goal System</a:t>
            </a:r>
          </a:p>
        </p:txBody>
      </p:sp>
      <p:sp>
        <p:nvSpPr>
          <p:cNvPr id="28" name="Line Callout 2 27"/>
          <p:cNvSpPr/>
          <p:nvPr/>
        </p:nvSpPr>
        <p:spPr>
          <a:xfrm>
            <a:off x="6991492" y="5939768"/>
            <a:ext cx="1722957" cy="440697"/>
          </a:xfrm>
          <a:prstGeom prst="borderCallout2">
            <a:avLst/>
          </a:prstGeom>
          <a:solidFill>
            <a:srgbClr val="966EBA"/>
          </a:solidFill>
          <a:ln w="13075">
            <a:solidFill>
              <a:srgbClr val="4D4CA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54601B5A-0A9D-E20C-9FF9-7D538350700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077890" y="3902685"/>
            <a:ext cx="1100778" cy="826727"/>
          </a:xfrm>
          <a:prstGeom prst="rect">
            <a:avLst/>
          </a:prstGeom>
        </p:spPr>
      </p:pic>
      <p:pic>
        <p:nvPicPr>
          <p:cNvPr id="32" name="Graphic 31">
            <a:extLst>
              <a:ext uri="{FF2B5EF4-FFF2-40B4-BE49-F238E27FC236}">
                <a16:creationId xmlns:a16="http://schemas.microsoft.com/office/drawing/2014/main" id="{ECF24E71-8950-AAC7-B62D-1FECA46902C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372477" y="4207825"/>
            <a:ext cx="1010017" cy="84574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909470" y="3716532"/>
            <a:ext cx="2356230" cy="428902"/>
          </a:xfrm>
          <a:prstGeom prst="roundRect">
            <a:avLst/>
          </a:prstGeom>
          <a:solidFill>
            <a:srgbClr val="2BD15A"/>
          </a:solidFill>
          <a:ln w="23002">
            <a:solidFill>
              <a:srgbClr val="8198C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Table 2"/>
          <p:cNvGraphicFramePr>
            <a:graphicFrameLocks noGrp="1"/>
          </p:cNvGraphicFramePr>
          <p:nvPr/>
        </p:nvGraphicFramePr>
        <p:xfrm>
          <a:off x="1661868" y="3465267"/>
          <a:ext cx="2536029" cy="1177250"/>
        </p:xfrm>
        <a:graphic>
          <a:graphicData uri="http://schemas.openxmlformats.org/drawingml/2006/table">
            <a:tbl>
              <a:tblPr firstRow="1" bandRow="1">
                <a:tableStyleId>{5C22544A-7EE6-4342-B048-85BDC9FD1C3A}</a:tableStyleId>
              </a:tblPr>
              <a:tblGrid>
                <a:gridCol w="634007">
                  <a:extLst>
                    <a:ext uri="{9D8B030D-6E8A-4147-A177-3AD203B41FA5}">
                      <a16:colId xmlns:a16="http://schemas.microsoft.com/office/drawing/2014/main" val="20000"/>
                    </a:ext>
                  </a:extLst>
                </a:gridCol>
                <a:gridCol w="634007">
                  <a:extLst>
                    <a:ext uri="{9D8B030D-6E8A-4147-A177-3AD203B41FA5}">
                      <a16:colId xmlns:a16="http://schemas.microsoft.com/office/drawing/2014/main" val="20001"/>
                    </a:ext>
                  </a:extLst>
                </a:gridCol>
                <a:gridCol w="634007">
                  <a:extLst>
                    <a:ext uri="{9D8B030D-6E8A-4147-A177-3AD203B41FA5}">
                      <a16:colId xmlns:a16="http://schemas.microsoft.com/office/drawing/2014/main" val="20002"/>
                    </a:ext>
                  </a:extLst>
                </a:gridCol>
                <a:gridCol w="634008">
                  <a:extLst>
                    <a:ext uri="{9D8B030D-6E8A-4147-A177-3AD203B41FA5}">
                      <a16:colId xmlns:a16="http://schemas.microsoft.com/office/drawing/2014/main" val="20003"/>
                    </a:ext>
                  </a:extLst>
                </a:gridCol>
              </a:tblGrid>
              <a:tr h="294312">
                <a:tc>
                  <a:txBody>
                    <a:bodyPr/>
                    <a:lstStyle/>
                    <a:p>
                      <a:r>
                        <a:rPr sz="700" b="1">
                          <a:solidFill>
                            <a:srgbClr val="CC5C29"/>
                          </a:solidFill>
                        </a:rPr>
                        <a:t>Level</a:t>
                      </a:r>
                    </a:p>
                  </a:txBody>
                  <a:tcPr>
                    <a:solidFill>
                      <a:srgbClr val="469D3B"/>
                    </a:solidFill>
                  </a:tcPr>
                </a:tc>
                <a:tc>
                  <a:txBody>
                    <a:bodyPr/>
                    <a:lstStyle/>
                    <a:p>
                      <a:r>
                        <a:rPr sz="700" b="1">
                          <a:solidFill>
                            <a:srgbClr val="CC5C29"/>
                          </a:solidFill>
                        </a:rPr>
                        <a:t>Portal Range</a:t>
                      </a:r>
                    </a:p>
                  </a:txBody>
                  <a:tcPr>
                    <a:solidFill>
                      <a:srgbClr val="469D3B"/>
                    </a:solidFill>
                  </a:tcPr>
                </a:tc>
                <a:tc>
                  <a:txBody>
                    <a:bodyPr/>
                    <a:lstStyle/>
                    <a:p>
                      <a:r>
                        <a:rPr sz="700" b="1">
                          <a:solidFill>
                            <a:srgbClr val="CC5C29"/>
                          </a:solidFill>
                        </a:rPr>
                        <a:t>North North</a:t>
                      </a:r>
                    </a:p>
                  </a:txBody>
                  <a:tcPr>
                    <a:solidFill>
                      <a:srgbClr val="469D3B"/>
                    </a:solidFill>
                  </a:tcPr>
                </a:tc>
                <a:tc>
                  <a:txBody>
                    <a:bodyPr/>
                    <a:lstStyle/>
                    <a:p>
                      <a:r>
                        <a:rPr sz="700" b="1">
                          <a:solidFill>
                            <a:srgbClr val="CC5C29"/>
                          </a:solidFill>
                        </a:rPr>
                        <a:t>Cycle Process</a:t>
                      </a:r>
                    </a:p>
                  </a:txBody>
                  <a:tcPr>
                    <a:solidFill>
                      <a:srgbClr val="469D3B"/>
                    </a:solidFill>
                  </a:tcPr>
                </a:tc>
                <a:extLst>
                  <a:ext uri="{0D108BD9-81ED-4DB2-BD59-A6C34878D82A}">
                    <a16:rowId xmlns:a16="http://schemas.microsoft.com/office/drawing/2014/main" val="10000"/>
                  </a:ext>
                </a:extLst>
              </a:tr>
              <a:tr h="294312">
                <a:tc>
                  <a:txBody>
                    <a:bodyPr/>
                    <a:lstStyle/>
                    <a:p>
                      <a:r>
                        <a:rPr sz="700" b="0">
                          <a:solidFill>
                            <a:srgbClr val="CC5C29"/>
                          </a:solidFill>
                        </a:rPr>
                        <a:t>Delta</a:t>
                      </a:r>
                    </a:p>
                  </a:txBody>
                  <a:tcPr>
                    <a:solidFill>
                      <a:srgbClr val="DFF0C1"/>
                    </a:solidFill>
                  </a:tcPr>
                </a:tc>
                <a:tc>
                  <a:txBody>
                    <a:bodyPr/>
                    <a:lstStyle/>
                    <a:p>
                      <a:r>
                        <a:rPr sz="700" b="0">
                          <a:solidFill>
                            <a:srgbClr val="CC5C29"/>
                          </a:solidFill>
                        </a:rPr>
                        <a:t>Delta</a:t>
                      </a:r>
                    </a:p>
                  </a:txBody>
                  <a:tcPr>
                    <a:solidFill>
                      <a:srgbClr val="DFF0C1"/>
                    </a:solidFill>
                  </a:tcPr>
                </a:tc>
                <a:tc>
                  <a:txBody>
                    <a:bodyPr/>
                    <a:lstStyle/>
                    <a:p>
                      <a:r>
                        <a:rPr sz="700" b="0">
                          <a:solidFill>
                            <a:srgbClr val="CC5C29"/>
                          </a:solidFill>
                        </a:rPr>
                        <a:t>Schema Compass</a:t>
                      </a:r>
                    </a:p>
                  </a:txBody>
                  <a:tcPr>
                    <a:solidFill>
                      <a:srgbClr val="DFF0C1"/>
                    </a:solidFill>
                  </a:tcPr>
                </a:tc>
                <a:tc>
                  <a:txBody>
                    <a:bodyPr/>
                    <a:lstStyle/>
                    <a:p>
                      <a:r>
                        <a:rPr sz="700" b="0">
                          <a:solidFill>
                            <a:srgbClr val="CC5C29"/>
                          </a:solidFill>
                        </a:rPr>
                        <a:t>Phase Variant</a:t>
                      </a:r>
                    </a:p>
                  </a:txBody>
                  <a:tcPr>
                    <a:solidFill>
                      <a:srgbClr val="DFF0C1"/>
                    </a:solidFill>
                  </a:tcPr>
                </a:tc>
                <a:extLst>
                  <a:ext uri="{0D108BD9-81ED-4DB2-BD59-A6C34878D82A}">
                    <a16:rowId xmlns:a16="http://schemas.microsoft.com/office/drawing/2014/main" val="10001"/>
                  </a:ext>
                </a:extLst>
              </a:tr>
              <a:tr h="294312">
                <a:tc>
                  <a:txBody>
                    <a:bodyPr/>
                    <a:lstStyle/>
                    <a:p>
                      <a:r>
                        <a:rPr sz="700" b="0">
                          <a:solidFill>
                            <a:srgbClr val="CC5C29"/>
                          </a:solidFill>
                        </a:rPr>
                        <a:t>Stream Archive</a:t>
                      </a:r>
                    </a:p>
                  </a:txBody>
                  <a:tcPr>
                    <a:solidFill>
                      <a:srgbClr val="F6FBEE"/>
                    </a:solidFill>
                  </a:tcPr>
                </a:tc>
                <a:tc>
                  <a:txBody>
                    <a:bodyPr/>
                    <a:lstStyle/>
                    <a:p>
                      <a:r>
                        <a:rPr sz="700" b="0">
                          <a:solidFill>
                            <a:srgbClr val="CC5C29"/>
                          </a:solidFill>
                        </a:rPr>
                        <a:t>Response Draft</a:t>
                      </a:r>
                    </a:p>
                  </a:txBody>
                  <a:tcPr>
                    <a:solidFill>
                      <a:srgbClr val="F6FBEE"/>
                    </a:solidFill>
                  </a:tcPr>
                </a:tc>
                <a:tc>
                  <a:txBody>
                    <a:bodyPr/>
                    <a:lstStyle/>
                    <a:p>
                      <a:r>
                        <a:rPr sz="700" b="0">
                          <a:solidFill>
                            <a:srgbClr val="CC5C29"/>
                          </a:solidFill>
                        </a:rPr>
                        <a:t>Source</a:t>
                      </a:r>
                    </a:p>
                  </a:txBody>
                  <a:tcPr>
                    <a:solidFill>
                      <a:srgbClr val="F6FBEE"/>
                    </a:solidFill>
                  </a:tcPr>
                </a:tc>
                <a:tc>
                  <a:txBody>
                    <a:bodyPr/>
                    <a:lstStyle/>
                    <a:p>
                      <a:r>
                        <a:rPr sz="700" b="0">
                          <a:solidFill>
                            <a:srgbClr val="CC5C29"/>
                          </a:solidFill>
                        </a:rPr>
                        <a:t>Token Query</a:t>
                      </a:r>
                    </a:p>
                  </a:txBody>
                  <a:tcPr>
                    <a:solidFill>
                      <a:srgbClr val="F6FBEE"/>
                    </a:solidFill>
                  </a:tcPr>
                </a:tc>
                <a:extLst>
                  <a:ext uri="{0D108BD9-81ED-4DB2-BD59-A6C34878D82A}">
                    <a16:rowId xmlns:a16="http://schemas.microsoft.com/office/drawing/2014/main" val="10002"/>
                  </a:ext>
                </a:extLst>
              </a:tr>
              <a:tr h="294314">
                <a:tc>
                  <a:txBody>
                    <a:bodyPr/>
                    <a:lstStyle/>
                    <a:p>
                      <a:r>
                        <a:rPr sz="700" b="0">
                          <a:solidFill>
                            <a:srgbClr val="CC5C29"/>
                          </a:solidFill>
                        </a:rPr>
                        <a:t>Logic</a:t>
                      </a:r>
                    </a:p>
                  </a:txBody>
                  <a:tcPr>
                    <a:solidFill>
                      <a:srgbClr val="DFF0C1"/>
                    </a:solidFill>
                  </a:tcPr>
                </a:tc>
                <a:tc>
                  <a:txBody>
                    <a:bodyPr/>
                    <a:lstStyle/>
                    <a:p>
                      <a:r>
                        <a:rPr sz="700" b="0">
                          <a:solidFill>
                            <a:srgbClr val="CC5C29"/>
                          </a:solidFill>
                        </a:rPr>
                        <a:t>Reserve Workflow</a:t>
                      </a:r>
                    </a:p>
                  </a:txBody>
                  <a:tcPr>
                    <a:solidFill>
                      <a:srgbClr val="DFF0C1"/>
                    </a:solidFill>
                  </a:tcPr>
                </a:tc>
                <a:tc>
                  <a:txBody>
                    <a:bodyPr/>
                    <a:lstStyle/>
                    <a:p>
                      <a:r>
                        <a:rPr sz="700" b="0">
                          <a:solidFill>
                            <a:srgbClr val="CC5C29"/>
                          </a:solidFill>
                        </a:rPr>
                        <a:t>Asset Column</a:t>
                      </a:r>
                    </a:p>
                  </a:txBody>
                  <a:tcPr>
                    <a:solidFill>
                      <a:srgbClr val="DFF0C1"/>
                    </a:solidFill>
                  </a:tcPr>
                </a:tc>
                <a:tc>
                  <a:txBody>
                    <a:bodyPr/>
                    <a:lstStyle/>
                    <a:p>
                      <a:r>
                        <a:rPr sz="700" b="0">
                          <a:solidFill>
                            <a:srgbClr val="CC5C29"/>
                          </a:solidFill>
                        </a:rPr>
                        <a:t>Matrix Energy</a:t>
                      </a:r>
                    </a:p>
                  </a:txBody>
                  <a:tcPr>
                    <a:solidFill>
                      <a:srgbClr val="DFF0C1"/>
                    </a:solidFill>
                  </a:tcPr>
                </a:tc>
                <a:extLst>
                  <a:ext uri="{0D108BD9-81ED-4DB2-BD59-A6C34878D82A}">
                    <a16:rowId xmlns:a16="http://schemas.microsoft.com/office/drawing/2014/main" val="10003"/>
                  </a:ext>
                </a:extLst>
              </a:tr>
            </a:tbl>
          </a:graphicData>
        </a:graphic>
      </p:graphicFrame>
      <p:sp>
        <p:nvSpPr>
          <p:cNvPr id="4" name="Decision 3"/>
          <p:cNvSpPr/>
          <p:nvPr/>
        </p:nvSpPr>
        <p:spPr>
          <a:xfrm>
            <a:off x="8059777" y="1468878"/>
            <a:ext cx="2695234" cy="536017"/>
          </a:xfrm>
          <a:prstGeom prst="flowChartDecision">
            <a:avLst/>
          </a:prstGeom>
          <a:solidFill>
            <a:srgbClr val="CF3195"/>
          </a:solidFill>
          <a:ln w="21127">
            <a:solidFill>
              <a:srgbClr val="4896A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wn Arrow 4"/>
          <p:cNvSpPr/>
          <p:nvPr/>
        </p:nvSpPr>
        <p:spPr>
          <a:xfrm>
            <a:off x="1529589" y="5841979"/>
            <a:ext cx="368418" cy="721922"/>
          </a:xfrm>
          <a:prstGeom prst="downArrow">
            <a:avLst/>
          </a:prstGeom>
          <a:solidFill>
            <a:srgbClr val="2FD72C"/>
          </a:solidFill>
          <a:ln w="30207">
            <a:solidFill>
              <a:srgbClr val="6E7884"/>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96404" y="2708539"/>
            <a:ext cx="491829" cy="1976751"/>
          </a:xfrm>
          <a:prstGeom prst="rect">
            <a:avLst/>
          </a:prstGeom>
          <a:noFill/>
        </p:spPr>
        <p:txBody>
          <a:bodyPr wrap="none" lIns="73329" tIns="73329" rIns="73329" bIns="73329">
            <a:spAutoFit/>
          </a:bodyPr>
          <a:lstStyle/>
          <a:p>
            <a:r>
              <a:rPr sz="1800" b="1" i="0" u="none">
                <a:solidFill>
                  <a:srgbClr val="84DCD0"/>
                </a:solidFill>
                <a:latin typeface="Trebuchet MS"/>
              </a:rPr>
              <a:t>Reference Connector Capacity Lineage Node Path North Resource Briefing</a:t>
            </a:r>
          </a:p>
        </p:txBody>
      </p:sp>
      <p:sp>
        <p:nvSpPr>
          <p:cNvPr id="7" name="TextBox 6"/>
          <p:cNvSpPr txBox="1"/>
          <p:nvPr/>
        </p:nvSpPr>
        <p:spPr>
          <a:xfrm>
            <a:off x="8605694" y="2087555"/>
            <a:ext cx="997724" cy="2256792"/>
          </a:xfrm>
          <a:prstGeom prst="rect">
            <a:avLst/>
          </a:prstGeom>
          <a:noFill/>
        </p:spPr>
        <p:txBody>
          <a:bodyPr wrap="none" lIns="86503" tIns="86503" rIns="86503" bIns="86503">
            <a:spAutoFit/>
          </a:bodyPr>
          <a:lstStyle/>
          <a:p>
            <a:r>
              <a:rPr sz="1000" b="0" i="0" u="none">
                <a:solidFill>
                  <a:srgbClr val="5375E4"/>
                </a:solidFill>
                <a:latin typeface="Verdana"/>
              </a:rPr>
              <a:t>Heading Duration Input Duration Segment Program Alpha Window Milestone Review Diagram Alignment Panel Needle Memory Density Surface Metric</a:t>
            </a:r>
          </a:p>
        </p:txBody>
      </p:sp>
      <p:sp>
        <p:nvSpPr>
          <p:cNvPr id="8" name="Right Arrow Callout 7"/>
          <p:cNvSpPr/>
          <p:nvPr/>
        </p:nvSpPr>
        <p:spPr>
          <a:xfrm>
            <a:off x="2287651" y="981220"/>
            <a:ext cx="2488873" cy="280648"/>
          </a:xfrm>
          <a:prstGeom prst="rightArrowCallout">
            <a:avLst/>
          </a:prstGeom>
          <a:solidFill>
            <a:srgbClr val="CF2A5E"/>
          </a:solidFill>
          <a:ln w="13633">
            <a:solidFill>
              <a:srgbClr val="2ED7A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_example_image.jpg"/>
          <p:cNvPicPr>
            <a:picLocks noChangeAspect="1"/>
          </p:cNvPicPr>
          <p:nvPr/>
        </p:nvPicPr>
        <p:blipFill>
          <a:blip r:embed="rId2"/>
          <a:srcRect l="6466" t="11262" r="6724" b="6420"/>
          <a:stretch>
            <a:fillRect/>
          </a:stretch>
        </p:blipFill>
        <p:spPr>
          <a:xfrm>
            <a:off x="1987057" y="2410939"/>
            <a:ext cx="2078486" cy="1016525"/>
          </a:xfrm>
          <a:prstGeom prst="rect">
            <a:avLst/>
          </a:prstGeom>
        </p:spPr>
      </p:pic>
      <p:sp>
        <p:nvSpPr>
          <p:cNvPr id="10" name="Rounded Rectangle 9"/>
          <p:cNvSpPr/>
          <p:nvPr/>
        </p:nvSpPr>
        <p:spPr>
          <a:xfrm>
            <a:off x="1987057" y="2410939"/>
            <a:ext cx="2078486" cy="1016525"/>
          </a:xfrm>
          <a:prstGeom prst="roundRect">
            <a:avLst/>
          </a:prstGeom>
          <a:noFill/>
          <a:ln w="15240">
            <a:solidFill>
              <a:srgbClr val="E2D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Chart 10"/>
          <p:cNvGraphicFramePr>
            <a:graphicFrameLocks noGrp="1"/>
          </p:cNvGraphicFramePr>
          <p:nvPr/>
        </p:nvGraphicFramePr>
        <p:xfrm>
          <a:off x="4685944" y="3053928"/>
          <a:ext cx="2512184" cy="1503301"/>
        </p:xfrm>
        <a:graphic>
          <a:graphicData uri="http://schemas.openxmlformats.org/drawingml/2006/chart">
            <c:chart xmlns:c="http://schemas.openxmlformats.org/drawingml/2006/chart" xmlns:r="http://schemas.openxmlformats.org/officeDocument/2006/relationships" r:id="rId3"/>
          </a:graphicData>
        </a:graphic>
      </p:graphicFrame>
      <p:sp>
        <p:nvSpPr>
          <p:cNvPr id="12" name="Gear 9 11"/>
          <p:cNvSpPr/>
          <p:nvPr/>
        </p:nvSpPr>
        <p:spPr>
          <a:xfrm>
            <a:off x="2743136" y="5494137"/>
            <a:ext cx="1570405" cy="795861"/>
          </a:xfrm>
          <a:prstGeom prst="gear9">
            <a:avLst/>
          </a:prstGeom>
          <a:solidFill>
            <a:srgbClr val="7FA7C0"/>
          </a:solidFill>
          <a:ln w="17675">
            <a:solidFill>
              <a:srgbClr val="51578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69630" y="4696049"/>
            <a:ext cx="2862801" cy="336483"/>
          </a:xfrm>
          <a:prstGeom prst="rect">
            <a:avLst/>
          </a:prstGeom>
          <a:noFill/>
        </p:spPr>
        <p:txBody>
          <a:bodyPr wrap="none" lIns="55015" tIns="55015" rIns="55015" bIns="55015">
            <a:spAutoFit/>
          </a:bodyPr>
          <a:lstStyle/>
          <a:p>
            <a:r>
              <a:rPr sz="900" b="1" i="0" u="none">
                <a:solidFill>
                  <a:srgbClr val="7E7351"/>
                </a:solidFill>
                <a:latin typeface="Aptos"/>
              </a:rPr>
              <a:t>Filter Horizon Column Signal Coverage Option Ledger Motion Pattern Filter Hub Marker Impact Measure Input Group Edge Template Package Structure Motion Gradient Buffer Layer Adaptive Duration Chart Link Direction Direction Marker Ratio Depth Stream Coverage Report Method Vertex Service Concept Response Delta Thread Object</a:t>
            </a:r>
          </a:p>
        </p:txBody>
      </p:sp>
      <p:sp>
        <p:nvSpPr>
          <p:cNvPr id="14" name="Freeform 13"/>
          <p:cNvSpPr/>
          <p:nvPr/>
        </p:nvSpPr>
        <p:spPr>
          <a:xfrm>
            <a:off x="2485416" y="4827989"/>
            <a:ext cx="1153844" cy="787952"/>
          </a:xfrm>
          <a:custGeom>
            <a:avLst/>
            <a:gdLst/>
            <a:ahLst/>
            <a:cxnLst/>
            <a:rect l="l" t="t" r="r" b="b"/>
            <a:pathLst>
              <a:path w="1153844" h="787952">
                <a:moveTo>
                  <a:pt x="0" y="383032"/>
                </a:moveTo>
                <a:lnTo>
                  <a:pt x="198511" y="0"/>
                </a:lnTo>
                <a:lnTo>
                  <a:pt x="409429" y="328313"/>
                </a:lnTo>
                <a:lnTo>
                  <a:pt x="620346" y="656627"/>
                </a:lnTo>
                <a:lnTo>
                  <a:pt x="843671" y="273594"/>
                </a:lnTo>
                <a:lnTo>
                  <a:pt x="1153844" y="415863"/>
                </a:lnTo>
                <a:lnTo>
                  <a:pt x="1153844" y="787952"/>
                </a:lnTo>
                <a:lnTo>
                  <a:pt x="0" y="787952"/>
                </a:lnTo>
                <a:close/>
              </a:path>
            </a:pathLst>
          </a:custGeom>
          <a:solidFill>
            <a:srgbClr val="34CE1A"/>
          </a:solidFill>
          <a:ln w="23390">
            <a:solidFill>
              <a:srgbClr val="BE6A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478554" y="4373179"/>
            <a:ext cx="766703" cy="420731"/>
          </a:xfrm>
          <a:prstGeom prst="bentConnector3">
            <a:avLst/>
          </a:prstGeom>
          <a:ln w="9390">
            <a:solidFill>
              <a:srgbClr val="309B2D"/>
            </a:solidFill>
            <a:prstDash val="dash"/>
          </a:ln>
        </p:spPr>
        <p:style>
          <a:lnRef idx="2">
            <a:schemeClr val="accent1"/>
          </a:lnRef>
          <a:fillRef idx="0">
            <a:schemeClr val="accent1"/>
          </a:fillRef>
          <a:effectRef idx="1">
            <a:schemeClr val="accent1"/>
          </a:effectRef>
          <a:fontRef idx="minor">
            <a:schemeClr val="tx1"/>
          </a:fontRef>
        </p:style>
      </p:cxnSp>
      <p:sp>
        <p:nvSpPr>
          <p:cNvPr id="16" name="Quad Arrow 15"/>
          <p:cNvSpPr/>
          <p:nvPr/>
        </p:nvSpPr>
        <p:spPr>
          <a:xfrm>
            <a:off x="9370725" y="4860662"/>
            <a:ext cx="2177677" cy="1569510"/>
          </a:xfrm>
          <a:prstGeom prst="quadArrow">
            <a:avLst/>
          </a:prstGeom>
          <a:solidFill>
            <a:srgbClr val="B95AC7"/>
          </a:solidFill>
          <a:ln w="26886">
            <a:solidFill>
              <a:srgbClr val="26783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81610" y="2591344"/>
            <a:ext cx="653827" cy="1062639"/>
          </a:xfrm>
          <a:prstGeom prst="rect">
            <a:avLst/>
          </a:prstGeom>
          <a:solidFill>
            <a:srgbClr val="20481A"/>
          </a:solidFill>
        </p:spPr>
        <p:txBody>
          <a:bodyPr wrap="none" lIns="65033" tIns="65033" rIns="65033" bIns="65033">
            <a:spAutoFit/>
          </a:bodyPr>
          <a:lstStyle/>
          <a:p>
            <a:r>
              <a:rPr sz="1500" b="0" i="0" u="none">
                <a:solidFill>
                  <a:srgbClr val="726553"/>
                </a:solidFill>
                <a:latin typeface="Verdana"/>
              </a:rPr>
              <a:t>Needle Viewport Balance Event Density Edge Frequency Cycle Zone Span Goal Map Audit Object Brief Query Spectrum State Moment Analysis Core Buffer Journey Interface Factor Request Route Summary Goal Cadence</a:t>
            </a:r>
          </a:p>
        </p:txBody>
      </p:sp>
      <p:cxnSp>
        <p:nvCxnSpPr>
          <p:cNvPr id="18" name="Connector 17"/>
          <p:cNvCxnSpPr/>
          <p:nvPr/>
        </p:nvCxnSpPr>
        <p:spPr>
          <a:xfrm>
            <a:off x="2237836" y="608938"/>
            <a:ext cx="1105112" cy="406402"/>
          </a:xfrm>
          <a:prstGeom prst="curvedConnector3">
            <a:avLst/>
          </a:prstGeom>
          <a:ln w="14436">
            <a:solidFill>
              <a:srgbClr val="836657"/>
            </a:solidFill>
            <a:prstDash val="dashDot"/>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4660980" y="2354136"/>
            <a:ext cx="1623232" cy="523802"/>
          </a:xfrm>
          <a:prstGeom prst="line">
            <a:avLst/>
          </a:prstGeom>
          <a:ln w="28403">
            <a:solidFill>
              <a:srgbClr val="979C99"/>
            </a:solidFill>
            <a:prstDash val="solid"/>
          </a:ln>
        </p:spPr>
        <p:style>
          <a:lnRef idx="2">
            <a:schemeClr val="accent1"/>
          </a:lnRef>
          <a:fillRef idx="0">
            <a:schemeClr val="accent1"/>
          </a:fillRef>
          <a:effectRef idx="1">
            <a:schemeClr val="accent1"/>
          </a:effectRef>
          <a:fontRef idx="minor">
            <a:schemeClr val="tx1"/>
          </a:fontRef>
        </p:style>
      </p:cxnSp>
      <p:pic>
        <p:nvPicPr>
          <p:cNvPr id="20" name="Picture 19" descr="_example_image.jpg"/>
          <p:cNvPicPr>
            <a:picLocks noChangeAspect="1"/>
          </p:cNvPicPr>
          <p:nvPr/>
        </p:nvPicPr>
        <p:blipFill>
          <a:blip r:embed="rId2"/>
          <a:srcRect l="4189" t="15337" r="5078" b="8313"/>
          <a:stretch>
            <a:fillRect/>
          </a:stretch>
        </p:blipFill>
        <p:spPr>
          <a:xfrm>
            <a:off x="7238906" y="1918965"/>
            <a:ext cx="1297724" cy="1100132"/>
          </a:xfrm>
          <a:prstGeom prst="rect">
            <a:avLst/>
          </a:prstGeom>
        </p:spPr>
      </p:pic>
      <p:graphicFrame>
        <p:nvGraphicFramePr>
          <p:cNvPr id="21" name="Chart 20"/>
          <p:cNvGraphicFramePr>
            <a:graphicFrameLocks noGrp="1"/>
          </p:cNvGraphicFramePr>
          <p:nvPr/>
        </p:nvGraphicFramePr>
        <p:xfrm>
          <a:off x="3330470" y="460029"/>
          <a:ext cx="2280695" cy="13732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Table 21"/>
          <p:cNvGraphicFramePr>
            <a:graphicFrameLocks noGrp="1"/>
          </p:cNvGraphicFramePr>
          <p:nvPr/>
        </p:nvGraphicFramePr>
        <p:xfrm>
          <a:off x="3422553" y="1284939"/>
          <a:ext cx="3039180" cy="1030906"/>
        </p:xfrm>
        <a:graphic>
          <a:graphicData uri="http://schemas.openxmlformats.org/drawingml/2006/table">
            <a:tbl>
              <a:tblPr firstRow="1" bandRow="1">
                <a:tableStyleId>{5C22544A-7EE6-4342-B048-85BDC9FD1C3A}</a:tableStyleId>
              </a:tblPr>
              <a:tblGrid>
                <a:gridCol w="607836">
                  <a:extLst>
                    <a:ext uri="{9D8B030D-6E8A-4147-A177-3AD203B41FA5}">
                      <a16:colId xmlns:a16="http://schemas.microsoft.com/office/drawing/2014/main" val="20000"/>
                    </a:ext>
                  </a:extLst>
                </a:gridCol>
                <a:gridCol w="607836">
                  <a:extLst>
                    <a:ext uri="{9D8B030D-6E8A-4147-A177-3AD203B41FA5}">
                      <a16:colId xmlns:a16="http://schemas.microsoft.com/office/drawing/2014/main" val="20001"/>
                    </a:ext>
                  </a:extLst>
                </a:gridCol>
                <a:gridCol w="607836">
                  <a:extLst>
                    <a:ext uri="{9D8B030D-6E8A-4147-A177-3AD203B41FA5}">
                      <a16:colId xmlns:a16="http://schemas.microsoft.com/office/drawing/2014/main" val="20002"/>
                    </a:ext>
                  </a:extLst>
                </a:gridCol>
                <a:gridCol w="607836">
                  <a:extLst>
                    <a:ext uri="{9D8B030D-6E8A-4147-A177-3AD203B41FA5}">
                      <a16:colId xmlns:a16="http://schemas.microsoft.com/office/drawing/2014/main" val="20003"/>
                    </a:ext>
                  </a:extLst>
                </a:gridCol>
                <a:gridCol w="607836">
                  <a:extLst>
                    <a:ext uri="{9D8B030D-6E8A-4147-A177-3AD203B41FA5}">
                      <a16:colId xmlns:a16="http://schemas.microsoft.com/office/drawing/2014/main" val="20004"/>
                    </a:ext>
                  </a:extLst>
                </a:gridCol>
              </a:tblGrid>
              <a:tr h="147272">
                <a:tc>
                  <a:txBody>
                    <a:bodyPr/>
                    <a:lstStyle/>
                    <a:p>
                      <a:r>
                        <a:rPr sz="1000" b="0">
                          <a:solidFill>
                            <a:srgbClr val="1D72DD"/>
                          </a:solidFill>
                        </a:rPr>
                        <a:t>Chart Drift</a:t>
                      </a:r>
                    </a:p>
                  </a:txBody>
                  <a:tcPr>
                    <a:solidFill>
                      <a:srgbClr val="EBF0DE"/>
                    </a:solidFill>
                  </a:tcPr>
                </a:tc>
                <a:tc>
                  <a:txBody>
                    <a:bodyPr/>
                    <a:lstStyle/>
                    <a:p>
                      <a:r>
                        <a:rPr sz="1000" b="0">
                          <a:solidFill>
                            <a:srgbClr val="1D72DD"/>
                          </a:solidFill>
                        </a:rPr>
                        <a:t>Agenda Domain</a:t>
                      </a:r>
                    </a:p>
                  </a:txBody>
                  <a:tcPr>
                    <a:solidFill>
                      <a:srgbClr val="EBF0DE"/>
                    </a:solidFill>
                  </a:tcPr>
                </a:tc>
                <a:tc>
                  <a:txBody>
                    <a:bodyPr/>
                    <a:lstStyle/>
                    <a:p>
                      <a:r>
                        <a:rPr sz="1000" b="0">
                          <a:solidFill>
                            <a:srgbClr val="1D72DD"/>
                          </a:solidFill>
                        </a:rPr>
                        <a:t>Array</a:t>
                      </a:r>
                    </a:p>
                  </a:txBody>
                  <a:tcPr>
                    <a:solidFill>
                      <a:srgbClr val="EBF0DE"/>
                    </a:solidFill>
                  </a:tcPr>
                </a:tc>
                <a:tc>
                  <a:txBody>
                    <a:bodyPr/>
                    <a:lstStyle/>
                    <a:p>
                      <a:r>
                        <a:rPr sz="1000" b="0">
                          <a:solidFill>
                            <a:srgbClr val="1D72DD"/>
                          </a:solidFill>
                        </a:rPr>
                        <a:t>Package</a:t>
                      </a:r>
                    </a:p>
                  </a:txBody>
                  <a:tcPr>
                    <a:solidFill>
                      <a:srgbClr val="EBF0DE"/>
                    </a:solidFill>
                  </a:tcPr>
                </a:tc>
                <a:tc>
                  <a:txBody>
                    <a:bodyPr/>
                    <a:lstStyle/>
                    <a:p>
                      <a:r>
                        <a:rPr sz="1000" b="0">
                          <a:solidFill>
                            <a:srgbClr val="1D72DD"/>
                          </a:solidFill>
                        </a:rPr>
                        <a:t>System Release</a:t>
                      </a:r>
                    </a:p>
                  </a:txBody>
                  <a:tcPr>
                    <a:solidFill>
                      <a:srgbClr val="EBF0DE"/>
                    </a:solidFill>
                  </a:tcPr>
                </a:tc>
                <a:extLst>
                  <a:ext uri="{0D108BD9-81ED-4DB2-BD59-A6C34878D82A}">
                    <a16:rowId xmlns:a16="http://schemas.microsoft.com/office/drawing/2014/main" val="10000"/>
                  </a:ext>
                </a:extLst>
              </a:tr>
              <a:tr h="147272">
                <a:tc>
                  <a:txBody>
                    <a:bodyPr/>
                    <a:lstStyle/>
                    <a:p>
                      <a:r>
                        <a:rPr sz="1000" b="0">
                          <a:solidFill>
                            <a:srgbClr val="1D72DD"/>
                          </a:solidFill>
                        </a:rPr>
                        <a:t>Bridge Node</a:t>
                      </a:r>
                    </a:p>
                  </a:txBody>
                  <a:tcPr>
                    <a:solidFill>
                      <a:srgbClr val="DCE5C5"/>
                    </a:solidFill>
                  </a:tcPr>
                </a:tc>
                <a:tc>
                  <a:txBody>
                    <a:bodyPr/>
                    <a:lstStyle/>
                    <a:p>
                      <a:r>
                        <a:rPr sz="1000" b="0">
                          <a:solidFill>
                            <a:srgbClr val="1D72DD"/>
                          </a:solidFill>
                        </a:rPr>
                        <a:t>Channel Frequency</a:t>
                      </a:r>
                    </a:p>
                  </a:txBody>
                  <a:tcPr>
                    <a:solidFill>
                      <a:srgbClr val="DCE5C5"/>
                    </a:solidFill>
                  </a:tcPr>
                </a:tc>
                <a:tc>
                  <a:txBody>
                    <a:bodyPr/>
                    <a:lstStyle/>
                    <a:p>
                      <a:r>
                        <a:rPr sz="1000" b="0">
                          <a:solidFill>
                            <a:srgbClr val="1D72DD"/>
                          </a:solidFill>
                        </a:rPr>
                        <a:t>Topology</a:t>
                      </a:r>
                    </a:p>
                  </a:txBody>
                  <a:tcPr>
                    <a:solidFill>
                      <a:srgbClr val="DCE5C5"/>
                    </a:solidFill>
                  </a:tcPr>
                </a:tc>
                <a:tc>
                  <a:txBody>
                    <a:bodyPr/>
                    <a:lstStyle/>
                    <a:p>
                      <a:r>
                        <a:rPr sz="1000" b="0">
                          <a:solidFill>
                            <a:srgbClr val="1D72DD"/>
                          </a:solidFill>
                        </a:rPr>
                        <a:t>Heading Deployment</a:t>
                      </a:r>
                    </a:p>
                  </a:txBody>
                  <a:tcPr>
                    <a:solidFill>
                      <a:srgbClr val="DCE5C5"/>
                    </a:solidFill>
                  </a:tcPr>
                </a:tc>
                <a:tc>
                  <a:txBody>
                    <a:bodyPr/>
                    <a:lstStyle/>
                    <a:p>
                      <a:r>
                        <a:rPr sz="1000" b="0">
                          <a:solidFill>
                            <a:srgbClr val="1D72DD"/>
                          </a:solidFill>
                        </a:rPr>
                        <a:t>Depth Drive</a:t>
                      </a:r>
                    </a:p>
                  </a:txBody>
                  <a:tcPr>
                    <a:solidFill>
                      <a:srgbClr val="DCE5C5"/>
                    </a:solidFill>
                  </a:tcPr>
                </a:tc>
                <a:extLst>
                  <a:ext uri="{0D108BD9-81ED-4DB2-BD59-A6C34878D82A}">
                    <a16:rowId xmlns:a16="http://schemas.microsoft.com/office/drawing/2014/main" val="10001"/>
                  </a:ext>
                </a:extLst>
              </a:tr>
              <a:tr h="147272">
                <a:tc>
                  <a:txBody>
                    <a:bodyPr/>
                    <a:lstStyle/>
                    <a:p>
                      <a:r>
                        <a:rPr sz="1000" b="0">
                          <a:solidFill>
                            <a:srgbClr val="1D72DD"/>
                          </a:solidFill>
                        </a:rPr>
                        <a:t>Stream Package</a:t>
                      </a:r>
                    </a:p>
                  </a:txBody>
                  <a:tcPr>
                    <a:solidFill>
                      <a:srgbClr val="EBF0DE"/>
                    </a:solidFill>
                  </a:tcPr>
                </a:tc>
                <a:tc>
                  <a:txBody>
                    <a:bodyPr/>
                    <a:lstStyle/>
                    <a:p>
                      <a:r>
                        <a:rPr sz="1000" b="0">
                          <a:solidFill>
                            <a:srgbClr val="1D72DD"/>
                          </a:solidFill>
                        </a:rPr>
                        <a:t>Command Rhythm</a:t>
                      </a:r>
                    </a:p>
                  </a:txBody>
                  <a:tcPr>
                    <a:solidFill>
                      <a:srgbClr val="EBF0DE"/>
                    </a:solidFill>
                  </a:tcPr>
                </a:tc>
                <a:tc>
                  <a:txBody>
                    <a:bodyPr/>
                    <a:lstStyle/>
                    <a:p>
                      <a:r>
                        <a:rPr sz="1000" b="0">
                          <a:solidFill>
                            <a:srgbClr val="1D72DD"/>
                          </a:solidFill>
                        </a:rPr>
                        <a:t>Drift</a:t>
                      </a:r>
                    </a:p>
                  </a:txBody>
                  <a:tcPr>
                    <a:solidFill>
                      <a:srgbClr val="EBF0DE"/>
                    </a:solidFill>
                  </a:tcPr>
                </a:tc>
                <a:tc>
                  <a:txBody>
                    <a:bodyPr/>
                    <a:lstStyle/>
                    <a:p>
                      <a:r>
                        <a:rPr sz="1000" b="0">
                          <a:solidFill>
                            <a:srgbClr val="1D72DD"/>
                          </a:solidFill>
                        </a:rPr>
                        <a:t>System Sync</a:t>
                      </a:r>
                    </a:p>
                  </a:txBody>
                  <a:tcPr>
                    <a:solidFill>
                      <a:srgbClr val="EBF0DE"/>
                    </a:solidFill>
                  </a:tcPr>
                </a:tc>
                <a:tc>
                  <a:txBody>
                    <a:bodyPr/>
                    <a:lstStyle/>
                    <a:p>
                      <a:r>
                        <a:rPr sz="1000" b="0">
                          <a:solidFill>
                            <a:srgbClr val="1D72DD"/>
                          </a:solidFill>
                        </a:rPr>
                        <a:t>Harbor Array</a:t>
                      </a:r>
                    </a:p>
                  </a:txBody>
                  <a:tcPr>
                    <a:solidFill>
                      <a:srgbClr val="EBF0DE"/>
                    </a:solidFill>
                  </a:tcPr>
                </a:tc>
                <a:extLst>
                  <a:ext uri="{0D108BD9-81ED-4DB2-BD59-A6C34878D82A}">
                    <a16:rowId xmlns:a16="http://schemas.microsoft.com/office/drawing/2014/main" val="10002"/>
                  </a:ext>
                </a:extLst>
              </a:tr>
              <a:tr h="147272">
                <a:tc>
                  <a:txBody>
                    <a:bodyPr/>
                    <a:lstStyle/>
                    <a:p>
                      <a:r>
                        <a:rPr sz="1000" b="0">
                          <a:solidFill>
                            <a:srgbClr val="1D72DD"/>
                          </a:solidFill>
                        </a:rPr>
                        <a:t>Input</a:t>
                      </a:r>
                    </a:p>
                  </a:txBody>
                  <a:tcPr>
                    <a:solidFill>
                      <a:srgbClr val="DCE5C5"/>
                    </a:solidFill>
                  </a:tcPr>
                </a:tc>
                <a:tc>
                  <a:txBody>
                    <a:bodyPr/>
                    <a:lstStyle/>
                    <a:p>
                      <a:r>
                        <a:rPr sz="1000" b="0">
                          <a:solidFill>
                            <a:srgbClr val="1D72DD"/>
                          </a:solidFill>
                        </a:rPr>
                        <a:t>Table Scope</a:t>
                      </a:r>
                    </a:p>
                  </a:txBody>
                  <a:tcPr>
                    <a:solidFill>
                      <a:srgbClr val="DCE5C5"/>
                    </a:solidFill>
                  </a:tcPr>
                </a:tc>
                <a:tc>
                  <a:txBody>
                    <a:bodyPr/>
                    <a:lstStyle/>
                    <a:p>
                      <a:r>
                        <a:rPr sz="1000" b="0">
                          <a:solidFill>
                            <a:srgbClr val="1D72DD"/>
                          </a:solidFill>
                        </a:rPr>
                        <a:t>Draft Inventory</a:t>
                      </a:r>
                    </a:p>
                  </a:txBody>
                  <a:tcPr>
                    <a:solidFill>
                      <a:srgbClr val="DCE5C5"/>
                    </a:solidFill>
                  </a:tcPr>
                </a:tc>
                <a:tc>
                  <a:txBody>
                    <a:bodyPr/>
                    <a:lstStyle/>
                    <a:p>
                      <a:r>
                        <a:rPr sz="1000" b="0">
                          <a:solidFill>
                            <a:srgbClr val="1D72DD"/>
                          </a:solidFill>
                        </a:rPr>
                        <a:t>Design Point</a:t>
                      </a:r>
                    </a:p>
                  </a:txBody>
                  <a:tcPr>
                    <a:solidFill>
                      <a:srgbClr val="DCE5C5"/>
                    </a:solidFill>
                  </a:tcPr>
                </a:tc>
                <a:tc>
                  <a:txBody>
                    <a:bodyPr/>
                    <a:lstStyle/>
                    <a:p>
                      <a:r>
                        <a:rPr sz="1000" b="0">
                          <a:solidFill>
                            <a:srgbClr val="1D72DD"/>
                          </a:solidFill>
                        </a:rPr>
                        <a:t>State Table</a:t>
                      </a:r>
                    </a:p>
                  </a:txBody>
                  <a:tcPr>
                    <a:solidFill>
                      <a:srgbClr val="DCE5C5"/>
                    </a:solidFill>
                  </a:tcPr>
                </a:tc>
                <a:extLst>
                  <a:ext uri="{0D108BD9-81ED-4DB2-BD59-A6C34878D82A}">
                    <a16:rowId xmlns:a16="http://schemas.microsoft.com/office/drawing/2014/main" val="10003"/>
                  </a:ext>
                </a:extLst>
              </a:tr>
              <a:tr h="147272">
                <a:tc>
                  <a:txBody>
                    <a:bodyPr/>
                    <a:lstStyle/>
                    <a:p>
                      <a:r>
                        <a:rPr sz="1000" b="0">
                          <a:solidFill>
                            <a:srgbClr val="1D72DD"/>
                          </a:solidFill>
                        </a:rPr>
                        <a:t>Case Indicator</a:t>
                      </a:r>
                    </a:p>
                  </a:txBody>
                  <a:tcPr>
                    <a:solidFill>
                      <a:srgbClr val="EBF0DE"/>
                    </a:solidFill>
                  </a:tcPr>
                </a:tc>
                <a:tc>
                  <a:txBody>
                    <a:bodyPr/>
                    <a:lstStyle/>
                    <a:p>
                      <a:r>
                        <a:rPr sz="1000" b="0">
                          <a:solidFill>
                            <a:srgbClr val="1D72DD"/>
                          </a:solidFill>
                        </a:rPr>
                        <a:t>Cluster</a:t>
                      </a:r>
                    </a:p>
                  </a:txBody>
                  <a:tcPr>
                    <a:solidFill>
                      <a:srgbClr val="EBF0DE"/>
                    </a:solidFill>
                  </a:tcPr>
                </a:tc>
                <a:tc>
                  <a:txBody>
                    <a:bodyPr/>
                    <a:lstStyle/>
                    <a:p>
                      <a:r>
                        <a:rPr sz="1000" b="0">
                          <a:solidFill>
                            <a:srgbClr val="1D72DD"/>
                          </a:solidFill>
                        </a:rPr>
                        <a:t>Output</a:t>
                      </a:r>
                    </a:p>
                  </a:txBody>
                  <a:tcPr>
                    <a:solidFill>
                      <a:srgbClr val="EBF0DE"/>
                    </a:solidFill>
                  </a:tcPr>
                </a:tc>
                <a:tc>
                  <a:txBody>
                    <a:bodyPr/>
                    <a:lstStyle/>
                    <a:p>
                      <a:r>
                        <a:rPr sz="1000" b="0">
                          <a:solidFill>
                            <a:srgbClr val="1D72DD"/>
                          </a:solidFill>
                        </a:rPr>
                        <a:t>Echo</a:t>
                      </a:r>
                    </a:p>
                  </a:txBody>
                  <a:tcPr>
                    <a:solidFill>
                      <a:srgbClr val="EBF0DE"/>
                    </a:solidFill>
                  </a:tcPr>
                </a:tc>
                <a:tc>
                  <a:txBody>
                    <a:bodyPr/>
                    <a:lstStyle/>
                    <a:p>
                      <a:r>
                        <a:rPr sz="1000" b="0">
                          <a:solidFill>
                            <a:srgbClr val="1D72DD"/>
                          </a:solidFill>
                        </a:rPr>
                        <a:t>Center</a:t>
                      </a:r>
                    </a:p>
                  </a:txBody>
                  <a:tcPr>
                    <a:solidFill>
                      <a:srgbClr val="EBF0DE"/>
                    </a:solidFill>
                  </a:tcPr>
                </a:tc>
                <a:extLst>
                  <a:ext uri="{0D108BD9-81ED-4DB2-BD59-A6C34878D82A}">
                    <a16:rowId xmlns:a16="http://schemas.microsoft.com/office/drawing/2014/main" val="10004"/>
                  </a:ext>
                </a:extLst>
              </a:tr>
              <a:tr h="147272">
                <a:tc>
                  <a:txBody>
                    <a:bodyPr/>
                    <a:lstStyle/>
                    <a:p>
                      <a:r>
                        <a:rPr sz="1000" b="0">
                          <a:solidFill>
                            <a:srgbClr val="1D72DD"/>
                          </a:solidFill>
                        </a:rPr>
                        <a:t>Cycle Schema</a:t>
                      </a:r>
                    </a:p>
                  </a:txBody>
                  <a:tcPr>
                    <a:solidFill>
                      <a:srgbClr val="DCE5C5"/>
                    </a:solidFill>
                  </a:tcPr>
                </a:tc>
                <a:tc>
                  <a:txBody>
                    <a:bodyPr/>
                    <a:lstStyle/>
                    <a:p>
                      <a:r>
                        <a:rPr sz="1000" b="0">
                          <a:solidFill>
                            <a:srgbClr val="1D72DD"/>
                          </a:solidFill>
                        </a:rPr>
                        <a:t>Flow</a:t>
                      </a:r>
                    </a:p>
                  </a:txBody>
                  <a:tcPr>
                    <a:solidFill>
                      <a:srgbClr val="DCE5C5"/>
                    </a:solidFill>
                  </a:tcPr>
                </a:tc>
                <a:tc>
                  <a:txBody>
                    <a:bodyPr/>
                    <a:lstStyle/>
                    <a:p>
                      <a:r>
                        <a:rPr sz="1000" b="0">
                          <a:solidFill>
                            <a:srgbClr val="1D72DD"/>
                          </a:solidFill>
                        </a:rPr>
                        <a:t>Texture</a:t>
                      </a:r>
                    </a:p>
                  </a:txBody>
                  <a:tcPr>
                    <a:solidFill>
                      <a:srgbClr val="DCE5C5"/>
                    </a:solidFill>
                  </a:tcPr>
                </a:tc>
                <a:tc>
                  <a:txBody>
                    <a:bodyPr/>
                    <a:lstStyle/>
                    <a:p>
                      <a:r>
                        <a:rPr sz="1000" b="0">
                          <a:solidFill>
                            <a:srgbClr val="1D72DD"/>
                          </a:solidFill>
                        </a:rPr>
                        <a:t>Node Kernel</a:t>
                      </a:r>
                    </a:p>
                  </a:txBody>
                  <a:tcPr>
                    <a:solidFill>
                      <a:srgbClr val="DCE5C5"/>
                    </a:solidFill>
                  </a:tcPr>
                </a:tc>
                <a:tc>
                  <a:txBody>
                    <a:bodyPr/>
                    <a:lstStyle/>
                    <a:p>
                      <a:r>
                        <a:rPr sz="1000" b="0">
                          <a:solidFill>
                            <a:srgbClr val="1D72DD"/>
                          </a:solidFill>
                        </a:rPr>
                        <a:t>Column Packet</a:t>
                      </a:r>
                    </a:p>
                  </a:txBody>
                  <a:tcPr>
                    <a:solidFill>
                      <a:srgbClr val="DCE5C5"/>
                    </a:solidFill>
                  </a:tcPr>
                </a:tc>
                <a:extLst>
                  <a:ext uri="{0D108BD9-81ED-4DB2-BD59-A6C34878D82A}">
                    <a16:rowId xmlns:a16="http://schemas.microsoft.com/office/drawing/2014/main" val="10005"/>
                  </a:ext>
                </a:extLst>
              </a:tr>
              <a:tr h="147274">
                <a:tc>
                  <a:txBody>
                    <a:bodyPr/>
                    <a:lstStyle/>
                    <a:p>
                      <a:r>
                        <a:rPr sz="1000" b="0">
                          <a:solidFill>
                            <a:srgbClr val="1D72DD"/>
                          </a:solidFill>
                        </a:rPr>
                        <a:t>Domain</a:t>
                      </a:r>
                    </a:p>
                  </a:txBody>
                  <a:tcPr>
                    <a:solidFill>
                      <a:srgbClr val="EBF0DE"/>
                    </a:solidFill>
                  </a:tcPr>
                </a:tc>
                <a:tc>
                  <a:txBody>
                    <a:bodyPr/>
                    <a:lstStyle/>
                    <a:p>
                      <a:r>
                        <a:rPr sz="1000" b="0">
                          <a:solidFill>
                            <a:srgbClr val="1D72DD"/>
                          </a:solidFill>
                        </a:rPr>
                        <a:t>Spectrum</a:t>
                      </a:r>
                    </a:p>
                  </a:txBody>
                  <a:tcPr>
                    <a:solidFill>
                      <a:srgbClr val="EBF0DE"/>
                    </a:solidFill>
                  </a:tcPr>
                </a:tc>
                <a:tc>
                  <a:txBody>
                    <a:bodyPr/>
                    <a:lstStyle/>
                    <a:p>
                      <a:r>
                        <a:rPr sz="1000" b="0">
                          <a:solidFill>
                            <a:srgbClr val="1D72DD"/>
                          </a:solidFill>
                        </a:rPr>
                        <a:t>Reserve Profile</a:t>
                      </a:r>
                    </a:p>
                  </a:txBody>
                  <a:tcPr>
                    <a:solidFill>
                      <a:srgbClr val="EBF0DE"/>
                    </a:solidFill>
                  </a:tcPr>
                </a:tc>
                <a:tc>
                  <a:txBody>
                    <a:bodyPr/>
                    <a:lstStyle/>
                    <a:p>
                      <a:r>
                        <a:rPr sz="1000" b="0">
                          <a:solidFill>
                            <a:srgbClr val="1D72DD"/>
                          </a:solidFill>
                        </a:rPr>
                        <a:t>Process</a:t>
                      </a:r>
                    </a:p>
                  </a:txBody>
                  <a:tcPr>
                    <a:solidFill>
                      <a:srgbClr val="EBF0DE"/>
                    </a:solidFill>
                  </a:tcPr>
                </a:tc>
                <a:tc>
                  <a:txBody>
                    <a:bodyPr/>
                    <a:lstStyle/>
                    <a:p>
                      <a:r>
                        <a:rPr sz="1000" b="0">
                          <a:solidFill>
                            <a:srgbClr val="1D72DD"/>
                          </a:solidFill>
                        </a:rPr>
                        <a:t>Payload Tile</a:t>
                      </a:r>
                    </a:p>
                  </a:txBody>
                  <a:tcPr>
                    <a:solidFill>
                      <a:srgbClr val="EBF0DE"/>
                    </a:solidFill>
                  </a:tcPr>
                </a:tc>
                <a:extLst>
                  <a:ext uri="{0D108BD9-81ED-4DB2-BD59-A6C34878D82A}">
                    <a16:rowId xmlns:a16="http://schemas.microsoft.com/office/drawing/2014/main" val="10006"/>
                  </a:ext>
                </a:extLst>
              </a:tr>
            </a:tbl>
          </a:graphicData>
        </a:graphic>
      </p:graphicFrame>
      <p:sp>
        <p:nvSpPr>
          <p:cNvPr id="23" name="TextBox 22"/>
          <p:cNvSpPr txBox="1"/>
          <p:nvPr/>
        </p:nvSpPr>
        <p:spPr>
          <a:xfrm>
            <a:off x="7925871" y="482812"/>
            <a:ext cx="2049393" cy="571534"/>
          </a:xfrm>
          <a:prstGeom prst="rect">
            <a:avLst/>
          </a:prstGeom>
          <a:noFill/>
        </p:spPr>
        <p:txBody>
          <a:bodyPr wrap="none" lIns="66459" tIns="66459" rIns="66459" bIns="66459">
            <a:spAutoFit/>
          </a:bodyPr>
          <a:lstStyle/>
          <a:p>
            <a:r>
              <a:rPr sz="1600" b="0" i="0" u="none">
                <a:solidFill>
                  <a:srgbClr val="A363E2"/>
                </a:solidFill>
                <a:latin typeface="Verdana"/>
              </a:rPr>
              <a:t>Clarity Target Instance Format Intent Beta Flow Goal Map Deck Needle Dashboard Function Origin Atlas Metric Cadence Template Instance Echo Duration Iteration Data Cluster Forecast Analysis Pipeline North Density Record System Discovery Resource Compass Circuit Method Explorer Analysis Threshold Gateway Sequence</a:t>
            </a:r>
          </a:p>
        </p:txBody>
      </p:sp>
      <p:sp>
        <p:nvSpPr>
          <p:cNvPr id="24" name="TextBox 23"/>
          <p:cNvSpPr txBox="1"/>
          <p:nvPr/>
        </p:nvSpPr>
        <p:spPr>
          <a:xfrm>
            <a:off x="983956" y="2589181"/>
            <a:ext cx="869044" cy="689640"/>
          </a:xfrm>
          <a:prstGeom prst="rect">
            <a:avLst/>
          </a:prstGeom>
          <a:solidFill>
            <a:srgbClr val="2A456E"/>
          </a:solidFill>
        </p:spPr>
        <p:txBody>
          <a:bodyPr wrap="none" lIns="65973" tIns="65973" rIns="65973" bIns="65973">
            <a:spAutoFit/>
          </a:bodyPr>
          <a:lstStyle/>
          <a:p>
            <a:r>
              <a:rPr sz="1100" b="0" i="0" u="none">
                <a:solidFill>
                  <a:srgbClr val="C9D35C"/>
                </a:solidFill>
                <a:latin typeface="Arial"/>
              </a:rPr>
              <a:t>Horizon Profile Library Lens Moment Queue Core Bridge Origin Layer Rhythm View Expansion Order Context Link Filter Priority Bridge Deck Motion Connector Limit Design Envelope Kernel Sequence Direction Archive Sample Bridge Reserve Slice Dispatch Cycle Vector Signal</a:t>
            </a:r>
          </a:p>
        </p:txBody>
      </p:sp>
      <p:sp>
        <p:nvSpPr>
          <p:cNvPr id="25" name="Octagon 24"/>
          <p:cNvSpPr/>
          <p:nvPr/>
        </p:nvSpPr>
        <p:spPr>
          <a:xfrm>
            <a:off x="11586288" y="1904402"/>
            <a:ext cx="327202" cy="1866628"/>
          </a:xfrm>
          <a:prstGeom prst="octagon">
            <a:avLst/>
          </a:prstGeom>
          <a:solidFill>
            <a:srgbClr val="69E19A"/>
          </a:solidFill>
          <a:ln w="12109">
            <a:solidFill>
              <a:srgbClr val="D7D54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2"/>
          <a:srcRect l="11466" t="3155" r="1633" b="18770"/>
          <a:stretch>
            <a:fillRect/>
          </a:stretch>
        </p:blipFill>
        <p:spPr>
          <a:xfrm>
            <a:off x="5651096" y="5053373"/>
            <a:ext cx="2528876" cy="1411674"/>
          </a:xfrm>
          <a:prstGeom prst="rect">
            <a:avLst/>
          </a:prstGeom>
        </p:spPr>
      </p:pic>
      <p:sp>
        <p:nvSpPr>
          <p:cNvPr id="27" name="Freeform 26"/>
          <p:cNvSpPr/>
          <p:nvPr/>
        </p:nvSpPr>
        <p:spPr>
          <a:xfrm>
            <a:off x="863213" y="403054"/>
            <a:ext cx="964927" cy="868047"/>
          </a:xfrm>
          <a:custGeom>
            <a:avLst/>
            <a:gdLst/>
            <a:ahLst/>
            <a:cxnLst/>
            <a:rect l="l" t="t" r="r" b="b"/>
            <a:pathLst>
              <a:path w="964927" h="868047">
                <a:moveTo>
                  <a:pt x="0" y="421968"/>
                </a:moveTo>
                <a:lnTo>
                  <a:pt x="166009" y="0"/>
                </a:lnTo>
                <a:lnTo>
                  <a:pt x="342394" y="361687"/>
                </a:lnTo>
                <a:lnTo>
                  <a:pt x="518778" y="723373"/>
                </a:lnTo>
                <a:lnTo>
                  <a:pt x="705538" y="301406"/>
                </a:lnTo>
                <a:lnTo>
                  <a:pt x="964927" y="458136"/>
                </a:lnTo>
                <a:lnTo>
                  <a:pt x="964927" y="868047"/>
                </a:lnTo>
                <a:lnTo>
                  <a:pt x="0" y="868047"/>
                </a:lnTo>
                <a:close/>
              </a:path>
            </a:pathLst>
          </a:custGeom>
          <a:solidFill>
            <a:srgbClr val="E1304C"/>
          </a:solidFill>
          <a:ln w="16579">
            <a:solidFill>
              <a:srgbClr val="C821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0E859D7C-5CB3-BAAC-88EA-9273AEE4E51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680822" y="4739781"/>
            <a:ext cx="956301" cy="1276476"/>
          </a:xfrm>
          <a:prstGeom prst="rect">
            <a:avLst/>
          </a:prstGeom>
        </p:spPr>
      </p:pic>
      <p:pic>
        <p:nvPicPr>
          <p:cNvPr id="31" name="Graphic 30">
            <a:extLst>
              <a:ext uri="{FF2B5EF4-FFF2-40B4-BE49-F238E27FC236}">
                <a16:creationId xmlns:a16="http://schemas.microsoft.com/office/drawing/2014/main" id="{3EAF95A2-68D0-04D0-7525-F4388C6A015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052527" y="4505092"/>
            <a:ext cx="1055107" cy="74772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585637" y="1937307"/>
            <a:ext cx="771374" cy="1387397"/>
          </a:xfrm>
          <a:prstGeom prst="rect">
            <a:avLst/>
          </a:prstGeom>
          <a:noFill/>
        </p:spPr>
        <p:txBody>
          <a:bodyPr wrap="none" lIns="81342" tIns="81342" rIns="81342" bIns="81342">
            <a:spAutoFit/>
          </a:bodyPr>
          <a:lstStyle/>
          <a:p>
            <a:r>
              <a:rPr sz="1100" b="0" i="0" u="none">
                <a:solidFill>
                  <a:srgbClr val="DA7521"/>
                </a:solidFill>
                <a:latin typeface="Arial"/>
              </a:rPr>
              <a:t>Queue</a:t>
            </a:r>
          </a:p>
        </p:txBody>
      </p:sp>
      <p:pic>
        <p:nvPicPr>
          <p:cNvPr id="3" name="Picture 2" descr="_example_image.jpg"/>
          <p:cNvPicPr>
            <a:picLocks noChangeAspect="1"/>
          </p:cNvPicPr>
          <p:nvPr/>
        </p:nvPicPr>
        <p:blipFill>
          <a:blip r:embed="rId2"/>
          <a:srcRect l="21680" t="13726" r="17376" b="15167"/>
          <a:stretch>
            <a:fillRect/>
          </a:stretch>
        </p:blipFill>
        <p:spPr>
          <a:xfrm>
            <a:off x="3193588" y="4786059"/>
            <a:ext cx="1217041" cy="1371418"/>
          </a:xfrm>
          <a:prstGeom prst="rect">
            <a:avLst/>
          </a:prstGeom>
        </p:spPr>
      </p:pic>
      <p:sp>
        <p:nvSpPr>
          <p:cNvPr id="4" name="Rounded Rectangle 3"/>
          <p:cNvSpPr/>
          <p:nvPr/>
        </p:nvSpPr>
        <p:spPr>
          <a:xfrm>
            <a:off x="3193588" y="4786059"/>
            <a:ext cx="1217041" cy="1371418"/>
          </a:xfrm>
          <a:prstGeom prst="roundRect">
            <a:avLst/>
          </a:prstGeom>
          <a:noFill/>
          <a:ln w="15240">
            <a:solidFill>
              <a:srgbClr val="3E92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95390" y="517703"/>
            <a:ext cx="1037447" cy="2072717"/>
          </a:xfrm>
          <a:prstGeom prst="rect">
            <a:avLst/>
          </a:prstGeom>
          <a:noFill/>
        </p:spPr>
        <p:txBody>
          <a:bodyPr wrap="none" lIns="53045" tIns="53045" rIns="53045" bIns="53045">
            <a:spAutoFit/>
          </a:bodyPr>
          <a:lstStyle/>
          <a:p>
            <a:r>
              <a:rPr sz="2100" b="1" i="0" u="none">
                <a:solidFill>
                  <a:srgbClr val="9AC285"/>
                </a:solidFill>
                <a:latin typeface="Aptos"/>
              </a:rPr>
              <a:t>Gateway Mesh Heading Rhythm Level</a:t>
            </a:r>
          </a:p>
        </p:txBody>
      </p:sp>
      <p:pic>
        <p:nvPicPr>
          <p:cNvPr id="6" name="Picture 5" descr="_example_image.jpg"/>
          <p:cNvPicPr>
            <a:picLocks noChangeAspect="1"/>
          </p:cNvPicPr>
          <p:nvPr/>
        </p:nvPicPr>
        <p:blipFill>
          <a:blip r:embed="rId2"/>
          <a:srcRect l="6846" t="16682" r="16849" b="20350"/>
          <a:stretch>
            <a:fillRect/>
          </a:stretch>
        </p:blipFill>
        <p:spPr>
          <a:xfrm>
            <a:off x="8501457" y="3616264"/>
            <a:ext cx="2119007" cy="741018"/>
          </a:xfrm>
          <a:prstGeom prst="rect">
            <a:avLst/>
          </a:prstGeom>
        </p:spPr>
      </p:pic>
      <p:sp>
        <p:nvSpPr>
          <p:cNvPr id="7" name="Rounded Rectangle 6"/>
          <p:cNvSpPr/>
          <p:nvPr/>
        </p:nvSpPr>
        <p:spPr>
          <a:xfrm>
            <a:off x="8501457" y="3616264"/>
            <a:ext cx="2119007" cy="741018"/>
          </a:xfrm>
          <a:prstGeom prst="roundRect">
            <a:avLst/>
          </a:prstGeom>
          <a:noFill/>
          <a:ln w="15240">
            <a:solidFill>
              <a:srgbClr val="A5E1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76392" y="1757764"/>
            <a:ext cx="874070" cy="1767421"/>
          </a:xfrm>
          <a:prstGeom prst="rect">
            <a:avLst/>
          </a:prstGeom>
          <a:noFill/>
        </p:spPr>
        <p:txBody>
          <a:bodyPr wrap="none" lIns="18948" tIns="18948" rIns="18948" bIns="18948">
            <a:spAutoFit/>
          </a:bodyPr>
          <a:lstStyle/>
          <a:p>
            <a:r>
              <a:rPr sz="1100" b="0" i="1" u="none">
                <a:solidFill>
                  <a:srgbClr val="279E98"/>
                </a:solidFill>
                <a:latin typeface="Aptos"/>
              </a:rPr>
              <a:t>Vertex Level Coverage</a:t>
            </a:r>
          </a:p>
        </p:txBody>
      </p:sp>
      <p:sp>
        <p:nvSpPr>
          <p:cNvPr id="9" name="TextBox 8"/>
          <p:cNvSpPr txBox="1"/>
          <p:nvPr/>
        </p:nvSpPr>
        <p:spPr>
          <a:xfrm>
            <a:off x="310978" y="5147567"/>
            <a:ext cx="512551" cy="780404"/>
          </a:xfrm>
          <a:prstGeom prst="rect">
            <a:avLst/>
          </a:prstGeom>
          <a:noFill/>
        </p:spPr>
        <p:txBody>
          <a:bodyPr wrap="none" lIns="52399" tIns="52399" rIns="52399" bIns="52399">
            <a:spAutoFit/>
          </a:bodyPr>
          <a:lstStyle/>
          <a:p>
            <a:r>
              <a:rPr sz="5200" b="1" i="0" u="none">
                <a:solidFill>
                  <a:srgbClr val="6138E0"/>
                </a:solidFill>
                <a:latin typeface="Arial"/>
              </a:rPr>
              <a:t>Register Moment Strategy Program</a:t>
            </a:r>
          </a:p>
        </p:txBody>
      </p:sp>
      <p:graphicFrame>
        <p:nvGraphicFramePr>
          <p:cNvPr id="10" name="Chart 9"/>
          <p:cNvGraphicFramePr>
            <a:graphicFrameLocks noGrp="1"/>
          </p:cNvGraphicFramePr>
          <p:nvPr/>
        </p:nvGraphicFramePr>
        <p:xfrm>
          <a:off x="429699" y="1382485"/>
          <a:ext cx="2416900" cy="1496914"/>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7494894" y="2461006"/>
            <a:ext cx="1194121" cy="1639789"/>
          </a:xfrm>
          <a:prstGeom prst="rect">
            <a:avLst/>
          </a:prstGeom>
          <a:noFill/>
        </p:spPr>
        <p:txBody>
          <a:bodyPr wrap="none" lIns="81646" tIns="81646" rIns="81646" bIns="81646">
            <a:spAutoFit/>
          </a:bodyPr>
          <a:lstStyle/>
          <a:p>
            <a:r>
              <a:rPr sz="1400" b="0" i="0" u="none">
                <a:solidFill>
                  <a:srgbClr val="C93AC9"/>
                </a:solidFill>
                <a:latin typeface="Verdana"/>
              </a:rPr>
              <a:t>Format Ledger</a:t>
            </a:r>
          </a:p>
        </p:txBody>
      </p:sp>
      <p:sp>
        <p:nvSpPr>
          <p:cNvPr id="12" name="Up Ribbon 11"/>
          <p:cNvSpPr/>
          <p:nvPr/>
        </p:nvSpPr>
        <p:spPr>
          <a:xfrm>
            <a:off x="3096041" y="1232469"/>
            <a:ext cx="2028087" cy="240139"/>
          </a:xfrm>
          <a:prstGeom prst="ribbon2">
            <a:avLst/>
          </a:prstGeom>
          <a:solidFill>
            <a:srgbClr val="709786"/>
          </a:solidFill>
          <a:ln w="12810">
            <a:solidFill>
              <a:srgbClr val="2F465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065254" y="2563619"/>
            <a:ext cx="1041212" cy="2067990"/>
          </a:xfrm>
          <a:prstGeom prst="rect">
            <a:avLst/>
          </a:prstGeom>
          <a:noFill/>
        </p:spPr>
        <p:txBody>
          <a:bodyPr wrap="none" lIns="34587" tIns="34587" rIns="34587" bIns="34587">
            <a:spAutoFit/>
          </a:bodyPr>
          <a:lstStyle/>
          <a:p>
            <a:r>
              <a:rPr sz="900" b="1" i="0" u="none">
                <a:solidFill>
                  <a:srgbClr val="CCDB22"/>
                </a:solidFill>
                <a:latin typeface="Calibri"/>
              </a:rPr>
              <a:t>Stack Archive Field Event Method Path Payload Envelope Duration Tile Catalog Density Drift Field Queue Surface Entity Pixel Moment Audit Priority Exchange Brief Zone Plan Exchange Craft Station Texture Program</a:t>
            </a:r>
          </a:p>
        </p:txBody>
      </p:sp>
      <p:pic>
        <p:nvPicPr>
          <p:cNvPr id="14" name="Picture 13" descr="_example_image.jpg"/>
          <p:cNvPicPr>
            <a:picLocks noChangeAspect="1"/>
          </p:cNvPicPr>
          <p:nvPr/>
        </p:nvPicPr>
        <p:blipFill>
          <a:blip r:embed="rId2"/>
          <a:srcRect l="19430" t="18477" r="1548" b="6530"/>
          <a:stretch>
            <a:fillRect/>
          </a:stretch>
        </p:blipFill>
        <p:spPr>
          <a:xfrm>
            <a:off x="10622557" y="3501462"/>
            <a:ext cx="1369968" cy="924937"/>
          </a:xfrm>
          <a:prstGeom prst="rect">
            <a:avLst/>
          </a:prstGeom>
        </p:spPr>
      </p:pic>
      <p:cxnSp>
        <p:nvCxnSpPr>
          <p:cNvPr id="15" name="Connector 14"/>
          <p:cNvCxnSpPr/>
          <p:nvPr/>
        </p:nvCxnSpPr>
        <p:spPr>
          <a:xfrm>
            <a:off x="1842405" y="3471212"/>
            <a:ext cx="1266953" cy="831117"/>
          </a:xfrm>
          <a:prstGeom prst="line">
            <a:avLst/>
          </a:prstGeom>
          <a:ln w="50636">
            <a:solidFill>
              <a:srgbClr val="D7281C"/>
            </a:solidFill>
            <a:prstDash val="lg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168519" y="3504997"/>
            <a:ext cx="777752" cy="687446"/>
          </a:xfrm>
          <a:prstGeom prst="curvedConnector3">
            <a:avLst/>
          </a:prstGeom>
          <a:ln w="29547">
            <a:solidFill>
              <a:srgbClr val="858F6C"/>
            </a:solidFill>
            <a:prstDash val="soli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875469" y="435545"/>
            <a:ext cx="1793399" cy="415031"/>
          </a:xfrm>
          <a:prstGeom prst="line">
            <a:avLst/>
          </a:prstGeom>
          <a:ln w="46388">
            <a:solidFill>
              <a:srgbClr val="46BA47"/>
            </a:solidFill>
            <a:prstDash val="dashDot"/>
          </a:ln>
        </p:spPr>
        <p:style>
          <a:lnRef idx="2">
            <a:schemeClr val="accent1"/>
          </a:lnRef>
          <a:fillRef idx="0">
            <a:schemeClr val="accent1"/>
          </a:fillRef>
          <a:effectRef idx="1">
            <a:schemeClr val="accent1"/>
          </a:effectRef>
          <a:fontRef idx="minor">
            <a:schemeClr val="tx1"/>
          </a:fontRef>
        </p:style>
      </p:cxnSp>
      <p:sp>
        <p:nvSpPr>
          <p:cNvPr id="18" name="Curved Down Ribbon 17"/>
          <p:cNvSpPr/>
          <p:nvPr/>
        </p:nvSpPr>
        <p:spPr>
          <a:xfrm>
            <a:off x="5289253" y="1346770"/>
            <a:ext cx="1290287" cy="1746975"/>
          </a:xfrm>
          <a:prstGeom prst="ellipseRibbon">
            <a:avLst/>
          </a:prstGeom>
          <a:solidFill>
            <a:srgbClr val="864BD1"/>
          </a:solidFill>
          <a:ln w="11573">
            <a:solidFill>
              <a:srgbClr val="1DA6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ie 18"/>
          <p:cNvSpPr/>
          <p:nvPr/>
        </p:nvSpPr>
        <p:spPr>
          <a:xfrm>
            <a:off x="10065087" y="4372410"/>
            <a:ext cx="363251" cy="446918"/>
          </a:xfrm>
          <a:prstGeom prst="pie">
            <a:avLst/>
          </a:prstGeom>
          <a:solidFill>
            <a:srgbClr val="86B1AD"/>
          </a:solidFill>
          <a:ln w="25171">
            <a:solidFill>
              <a:srgbClr val="AB4E2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Up-Down Arrow 19"/>
          <p:cNvSpPr/>
          <p:nvPr/>
        </p:nvSpPr>
        <p:spPr>
          <a:xfrm>
            <a:off x="5625679" y="3211034"/>
            <a:ext cx="1824968" cy="580407"/>
          </a:xfrm>
          <a:prstGeom prst="upDownArrow">
            <a:avLst/>
          </a:prstGeom>
          <a:solidFill>
            <a:srgbClr val="21818C"/>
          </a:solidFill>
          <a:ln w="21534">
            <a:solidFill>
              <a:srgbClr val="A8BB3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8563274" y="379963"/>
          <a:ext cx="2504698" cy="2318982"/>
        </p:xfrm>
        <a:graphic>
          <a:graphicData uri="http://schemas.openxmlformats.org/drawingml/2006/table">
            <a:tbl>
              <a:tblPr firstRow="1" bandRow="1">
                <a:tableStyleId>{5C22544A-7EE6-4342-B048-85BDC9FD1C3A}</a:tableStyleId>
              </a:tblPr>
              <a:tblGrid>
                <a:gridCol w="417449">
                  <a:extLst>
                    <a:ext uri="{9D8B030D-6E8A-4147-A177-3AD203B41FA5}">
                      <a16:colId xmlns:a16="http://schemas.microsoft.com/office/drawing/2014/main" val="20000"/>
                    </a:ext>
                  </a:extLst>
                </a:gridCol>
                <a:gridCol w="417449">
                  <a:extLst>
                    <a:ext uri="{9D8B030D-6E8A-4147-A177-3AD203B41FA5}">
                      <a16:colId xmlns:a16="http://schemas.microsoft.com/office/drawing/2014/main" val="20001"/>
                    </a:ext>
                  </a:extLst>
                </a:gridCol>
                <a:gridCol w="417449">
                  <a:extLst>
                    <a:ext uri="{9D8B030D-6E8A-4147-A177-3AD203B41FA5}">
                      <a16:colId xmlns:a16="http://schemas.microsoft.com/office/drawing/2014/main" val="20002"/>
                    </a:ext>
                  </a:extLst>
                </a:gridCol>
                <a:gridCol w="417449">
                  <a:extLst>
                    <a:ext uri="{9D8B030D-6E8A-4147-A177-3AD203B41FA5}">
                      <a16:colId xmlns:a16="http://schemas.microsoft.com/office/drawing/2014/main" val="20003"/>
                    </a:ext>
                  </a:extLst>
                </a:gridCol>
                <a:gridCol w="417449">
                  <a:extLst>
                    <a:ext uri="{9D8B030D-6E8A-4147-A177-3AD203B41FA5}">
                      <a16:colId xmlns:a16="http://schemas.microsoft.com/office/drawing/2014/main" val="20004"/>
                    </a:ext>
                  </a:extLst>
                </a:gridCol>
                <a:gridCol w="417453">
                  <a:extLst>
                    <a:ext uri="{9D8B030D-6E8A-4147-A177-3AD203B41FA5}">
                      <a16:colId xmlns:a16="http://schemas.microsoft.com/office/drawing/2014/main" val="20005"/>
                    </a:ext>
                  </a:extLst>
                </a:gridCol>
              </a:tblGrid>
              <a:tr h="772994">
                <a:tc>
                  <a:txBody>
                    <a:bodyPr/>
                    <a:lstStyle/>
                    <a:p>
                      <a:r>
                        <a:rPr sz="1100" b="1">
                          <a:solidFill>
                            <a:srgbClr val="B081C6"/>
                          </a:solidFill>
                        </a:rPr>
                        <a:t>Impact Command</a:t>
                      </a:r>
                    </a:p>
                  </a:txBody>
                  <a:tcPr>
                    <a:solidFill>
                      <a:srgbClr val="D3A3D4"/>
                    </a:solidFill>
                  </a:tcPr>
                </a:tc>
                <a:tc>
                  <a:txBody>
                    <a:bodyPr/>
                    <a:lstStyle/>
                    <a:p>
                      <a:r>
                        <a:rPr sz="1100" b="1">
                          <a:solidFill>
                            <a:srgbClr val="B081C6"/>
                          </a:solidFill>
                        </a:rPr>
                        <a:t>Metric</a:t>
                      </a:r>
                    </a:p>
                  </a:txBody>
                  <a:tcPr>
                    <a:solidFill>
                      <a:srgbClr val="D3A3D4"/>
                    </a:solidFill>
                  </a:tcPr>
                </a:tc>
                <a:tc>
                  <a:txBody>
                    <a:bodyPr/>
                    <a:lstStyle/>
                    <a:p>
                      <a:r>
                        <a:rPr sz="1100" b="1">
                          <a:solidFill>
                            <a:srgbClr val="B081C6"/>
                          </a:solidFill>
                        </a:rPr>
                        <a:t>Request Inventory</a:t>
                      </a:r>
                    </a:p>
                  </a:txBody>
                  <a:tcPr>
                    <a:solidFill>
                      <a:srgbClr val="D3A3D4"/>
                    </a:solidFill>
                  </a:tcPr>
                </a:tc>
                <a:tc>
                  <a:txBody>
                    <a:bodyPr/>
                    <a:lstStyle/>
                    <a:p>
                      <a:r>
                        <a:rPr sz="1100" b="1">
                          <a:solidFill>
                            <a:srgbClr val="B081C6"/>
                          </a:solidFill>
                        </a:rPr>
                        <a:t>Window Metric</a:t>
                      </a:r>
                    </a:p>
                  </a:txBody>
                  <a:tcPr>
                    <a:solidFill>
                      <a:srgbClr val="D3A3D4"/>
                    </a:solidFill>
                  </a:tcPr>
                </a:tc>
                <a:tc>
                  <a:txBody>
                    <a:bodyPr/>
                    <a:lstStyle/>
                    <a:p>
                      <a:r>
                        <a:rPr sz="1100" b="1">
                          <a:solidFill>
                            <a:srgbClr val="B081C6"/>
                          </a:solidFill>
                        </a:rPr>
                        <a:t>Region Function</a:t>
                      </a:r>
                    </a:p>
                  </a:txBody>
                  <a:tcPr>
                    <a:solidFill>
                      <a:srgbClr val="D3A3D4"/>
                    </a:solidFill>
                  </a:tcPr>
                </a:tc>
                <a:tc>
                  <a:txBody>
                    <a:bodyPr/>
                    <a:lstStyle/>
                    <a:p>
                      <a:r>
                        <a:rPr sz="1100" b="1">
                          <a:solidFill>
                            <a:srgbClr val="B081C6"/>
                          </a:solidFill>
                        </a:rPr>
                        <a:t>Matrix Trace</a:t>
                      </a:r>
                    </a:p>
                  </a:txBody>
                  <a:tcPr>
                    <a:solidFill>
                      <a:srgbClr val="D3A3D4"/>
                    </a:solidFill>
                  </a:tcPr>
                </a:tc>
                <a:extLst>
                  <a:ext uri="{0D108BD9-81ED-4DB2-BD59-A6C34878D82A}">
                    <a16:rowId xmlns:a16="http://schemas.microsoft.com/office/drawing/2014/main" val="10000"/>
                  </a:ext>
                </a:extLst>
              </a:tr>
              <a:tr h="772994">
                <a:tc>
                  <a:txBody>
                    <a:bodyPr/>
                    <a:lstStyle/>
                    <a:p>
                      <a:r>
                        <a:rPr sz="1100" b="0">
                          <a:solidFill>
                            <a:srgbClr val="B081C6"/>
                          </a:solidFill>
                        </a:rPr>
                        <a:t>Deck Workflow</a:t>
                      </a:r>
                    </a:p>
                  </a:txBody>
                  <a:tcPr>
                    <a:solidFill>
                      <a:srgbClr val="F2F7EE"/>
                    </a:solidFill>
                  </a:tcPr>
                </a:tc>
                <a:tc>
                  <a:txBody>
                    <a:bodyPr/>
                    <a:lstStyle/>
                    <a:p>
                      <a:r>
                        <a:rPr sz="1100" b="0">
                          <a:solidFill>
                            <a:srgbClr val="B081C6"/>
                          </a:solidFill>
                        </a:rPr>
                        <a:t>Waypoint</a:t>
                      </a:r>
                    </a:p>
                  </a:txBody>
                  <a:tcPr>
                    <a:solidFill>
                      <a:srgbClr val="F2F7EE"/>
                    </a:solidFill>
                  </a:tcPr>
                </a:tc>
                <a:tc>
                  <a:txBody>
                    <a:bodyPr/>
                    <a:lstStyle/>
                    <a:p>
                      <a:r>
                        <a:rPr sz="1100" b="0">
                          <a:solidFill>
                            <a:srgbClr val="B081C6"/>
                          </a:solidFill>
                        </a:rPr>
                        <a:t>Model</a:t>
                      </a:r>
                    </a:p>
                  </a:txBody>
                  <a:tcPr>
                    <a:solidFill>
                      <a:srgbClr val="F2F7EE"/>
                    </a:solidFill>
                  </a:tcPr>
                </a:tc>
                <a:tc>
                  <a:txBody>
                    <a:bodyPr/>
                    <a:lstStyle/>
                    <a:p>
                      <a:r>
                        <a:rPr sz="1100" b="0">
                          <a:solidFill>
                            <a:srgbClr val="B081C6"/>
                          </a:solidFill>
                        </a:rPr>
                        <a:t>Output Function</a:t>
                      </a:r>
                    </a:p>
                  </a:txBody>
                  <a:tcPr>
                    <a:solidFill>
                      <a:srgbClr val="F2F7EE"/>
                    </a:solidFill>
                  </a:tcPr>
                </a:tc>
                <a:tc>
                  <a:txBody>
                    <a:bodyPr/>
                    <a:lstStyle/>
                    <a:p>
                      <a:r>
                        <a:rPr sz="1100" b="0">
                          <a:solidFill>
                            <a:srgbClr val="B081C6"/>
                          </a:solidFill>
                        </a:rPr>
                        <a:t>Memory</a:t>
                      </a:r>
                    </a:p>
                  </a:txBody>
                  <a:tcPr>
                    <a:solidFill>
                      <a:srgbClr val="F2F7EE"/>
                    </a:solidFill>
                  </a:tcPr>
                </a:tc>
                <a:tc>
                  <a:txBody>
                    <a:bodyPr/>
                    <a:lstStyle/>
                    <a:p>
                      <a:r>
                        <a:rPr sz="1100" b="0">
                          <a:solidFill>
                            <a:srgbClr val="B081C6"/>
                          </a:solidFill>
                        </a:rPr>
                        <a:t>Direction Output</a:t>
                      </a:r>
                    </a:p>
                  </a:txBody>
                  <a:tcPr>
                    <a:solidFill>
                      <a:srgbClr val="F2F7EE"/>
                    </a:solidFill>
                  </a:tcPr>
                </a:tc>
                <a:extLst>
                  <a:ext uri="{0D108BD9-81ED-4DB2-BD59-A6C34878D82A}">
                    <a16:rowId xmlns:a16="http://schemas.microsoft.com/office/drawing/2014/main" val="10001"/>
                  </a:ext>
                </a:extLst>
              </a:tr>
              <a:tr h="772994">
                <a:tc>
                  <a:txBody>
                    <a:bodyPr/>
                    <a:lstStyle/>
                    <a:p>
                      <a:r>
                        <a:rPr sz="1100" b="0">
                          <a:solidFill>
                            <a:srgbClr val="B081C6"/>
                          </a:solidFill>
                        </a:rPr>
                        <a:t>Transit</a:t>
                      </a:r>
                    </a:p>
                  </a:txBody>
                  <a:tcPr>
                    <a:solidFill>
                      <a:srgbClr val="F2F7EE"/>
                    </a:solidFill>
                  </a:tcPr>
                </a:tc>
                <a:tc>
                  <a:txBody>
                    <a:bodyPr/>
                    <a:lstStyle/>
                    <a:p>
                      <a:r>
                        <a:rPr sz="1100" b="0">
                          <a:solidFill>
                            <a:srgbClr val="B081C6"/>
                          </a:solidFill>
                        </a:rPr>
                        <a:t>Core Beacon</a:t>
                      </a:r>
                    </a:p>
                  </a:txBody>
                  <a:tcPr>
                    <a:solidFill>
                      <a:srgbClr val="F2F7EE"/>
                    </a:solidFill>
                  </a:tcPr>
                </a:tc>
                <a:tc>
                  <a:txBody>
                    <a:bodyPr/>
                    <a:lstStyle/>
                    <a:p>
                      <a:r>
                        <a:rPr sz="1100" b="0">
                          <a:solidFill>
                            <a:srgbClr val="B081C6"/>
                          </a:solidFill>
                        </a:rPr>
                        <a:t>Focus</a:t>
                      </a:r>
                    </a:p>
                  </a:txBody>
                  <a:tcPr>
                    <a:solidFill>
                      <a:srgbClr val="F2F7EE"/>
                    </a:solidFill>
                  </a:tcPr>
                </a:tc>
                <a:tc>
                  <a:txBody>
                    <a:bodyPr/>
                    <a:lstStyle/>
                    <a:p>
                      <a:r>
                        <a:rPr sz="1100" b="0">
                          <a:solidFill>
                            <a:srgbClr val="B081C6"/>
                          </a:solidFill>
                        </a:rPr>
                        <a:t>Switch View</a:t>
                      </a:r>
                    </a:p>
                  </a:txBody>
                  <a:tcPr>
                    <a:solidFill>
                      <a:srgbClr val="F2F7EE"/>
                    </a:solidFill>
                  </a:tcPr>
                </a:tc>
                <a:tc>
                  <a:txBody>
                    <a:bodyPr/>
                    <a:lstStyle/>
                    <a:p>
                      <a:r>
                        <a:rPr sz="1100" b="0">
                          <a:solidFill>
                            <a:srgbClr val="B081C6"/>
                          </a:solidFill>
                        </a:rPr>
                        <a:t>Span Indicator</a:t>
                      </a:r>
                    </a:p>
                  </a:txBody>
                  <a:tcPr>
                    <a:solidFill>
                      <a:srgbClr val="F2F7EE"/>
                    </a:solidFill>
                  </a:tcPr>
                </a:tc>
                <a:tc>
                  <a:txBody>
                    <a:bodyPr/>
                    <a:lstStyle/>
                    <a:p>
                      <a:r>
                        <a:rPr sz="1100" b="0">
                          <a:solidFill>
                            <a:srgbClr val="B081C6"/>
                          </a:solidFill>
                        </a:rPr>
                        <a:t>Grid</a:t>
                      </a:r>
                    </a:p>
                  </a:txBody>
                  <a:tcPr>
                    <a:solidFill>
                      <a:srgbClr val="F2F7EE"/>
                    </a:solidFill>
                  </a:tcPr>
                </a:tc>
                <a:extLst>
                  <a:ext uri="{0D108BD9-81ED-4DB2-BD59-A6C34878D82A}">
                    <a16:rowId xmlns:a16="http://schemas.microsoft.com/office/drawing/2014/main" val="10002"/>
                  </a:ext>
                </a:extLst>
              </a:tr>
            </a:tbl>
          </a:graphicData>
        </a:graphic>
      </p:graphicFrame>
      <p:graphicFrame>
        <p:nvGraphicFramePr>
          <p:cNvPr id="22" name="Chart 21"/>
          <p:cNvGraphicFramePr>
            <a:graphicFrameLocks noGrp="1"/>
          </p:cNvGraphicFramePr>
          <p:nvPr/>
        </p:nvGraphicFramePr>
        <p:xfrm>
          <a:off x="8932247" y="3765663"/>
          <a:ext cx="2256402" cy="1630475"/>
        </p:xfrm>
        <a:graphic>
          <a:graphicData uri="http://schemas.openxmlformats.org/drawingml/2006/chart">
            <c:chart xmlns:c="http://schemas.openxmlformats.org/drawingml/2006/chart" xmlns:r="http://schemas.openxmlformats.org/officeDocument/2006/relationships" r:id="rId4"/>
          </a:graphicData>
        </a:graphic>
      </p:graphicFrame>
      <p:sp>
        <p:nvSpPr>
          <p:cNvPr id="23" name="Hexagon 22"/>
          <p:cNvSpPr/>
          <p:nvPr/>
        </p:nvSpPr>
        <p:spPr>
          <a:xfrm>
            <a:off x="9148268" y="4915243"/>
            <a:ext cx="2477488" cy="1046227"/>
          </a:xfrm>
          <a:prstGeom prst="hexagon">
            <a:avLst/>
          </a:prstGeom>
          <a:noFill/>
          <a:ln w="13038">
            <a:solidFill>
              <a:srgbClr val="E0798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Up-Down Arrow 23"/>
          <p:cNvSpPr/>
          <p:nvPr/>
        </p:nvSpPr>
        <p:spPr>
          <a:xfrm>
            <a:off x="4432700" y="5342081"/>
            <a:ext cx="1792965" cy="717373"/>
          </a:xfrm>
          <a:prstGeom prst="upDownArrow">
            <a:avLst/>
          </a:prstGeom>
          <a:noFill/>
          <a:ln w="28203">
            <a:solidFill>
              <a:srgbClr val="AC55C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p:cNvGraphicFramePr>
            <a:graphicFrameLocks noGrp="1"/>
          </p:cNvGraphicFramePr>
          <p:nvPr/>
        </p:nvGraphicFramePr>
        <p:xfrm>
          <a:off x="5070734" y="4121855"/>
          <a:ext cx="3644877" cy="1016775"/>
        </p:xfrm>
        <a:graphic>
          <a:graphicData uri="http://schemas.openxmlformats.org/drawingml/2006/table">
            <a:tbl>
              <a:tblPr firstRow="1" bandRow="1">
                <a:tableStyleId>{5C22544A-7EE6-4342-B048-85BDC9FD1C3A}</a:tableStyleId>
              </a:tblPr>
              <a:tblGrid>
                <a:gridCol w="728975">
                  <a:extLst>
                    <a:ext uri="{9D8B030D-6E8A-4147-A177-3AD203B41FA5}">
                      <a16:colId xmlns:a16="http://schemas.microsoft.com/office/drawing/2014/main" val="20000"/>
                    </a:ext>
                  </a:extLst>
                </a:gridCol>
                <a:gridCol w="728975">
                  <a:extLst>
                    <a:ext uri="{9D8B030D-6E8A-4147-A177-3AD203B41FA5}">
                      <a16:colId xmlns:a16="http://schemas.microsoft.com/office/drawing/2014/main" val="20001"/>
                    </a:ext>
                  </a:extLst>
                </a:gridCol>
                <a:gridCol w="728975">
                  <a:extLst>
                    <a:ext uri="{9D8B030D-6E8A-4147-A177-3AD203B41FA5}">
                      <a16:colId xmlns:a16="http://schemas.microsoft.com/office/drawing/2014/main" val="20002"/>
                    </a:ext>
                  </a:extLst>
                </a:gridCol>
                <a:gridCol w="728975">
                  <a:extLst>
                    <a:ext uri="{9D8B030D-6E8A-4147-A177-3AD203B41FA5}">
                      <a16:colId xmlns:a16="http://schemas.microsoft.com/office/drawing/2014/main" val="20003"/>
                    </a:ext>
                  </a:extLst>
                </a:gridCol>
                <a:gridCol w="728977">
                  <a:extLst>
                    <a:ext uri="{9D8B030D-6E8A-4147-A177-3AD203B41FA5}">
                      <a16:colId xmlns:a16="http://schemas.microsoft.com/office/drawing/2014/main" val="20004"/>
                    </a:ext>
                  </a:extLst>
                </a:gridCol>
              </a:tblGrid>
              <a:tr h="169462">
                <a:tc>
                  <a:txBody>
                    <a:bodyPr/>
                    <a:lstStyle/>
                    <a:p>
                      <a:r>
                        <a:rPr sz="1300" b="1">
                          <a:solidFill>
                            <a:srgbClr val="3B5C9C"/>
                          </a:solidFill>
                        </a:rPr>
                        <a:t>Service Milestone</a:t>
                      </a:r>
                    </a:p>
                  </a:txBody>
                  <a:tcPr>
                    <a:solidFill>
                      <a:srgbClr val="DDDB7C"/>
                    </a:solidFill>
                  </a:tcPr>
                </a:tc>
                <a:tc>
                  <a:txBody>
                    <a:bodyPr/>
                    <a:lstStyle/>
                    <a:p>
                      <a:r>
                        <a:rPr sz="1300" b="1">
                          <a:solidFill>
                            <a:srgbClr val="3B5C9C"/>
                          </a:solidFill>
                        </a:rPr>
                        <a:t>Case Iteration</a:t>
                      </a:r>
                    </a:p>
                  </a:txBody>
                  <a:tcPr>
                    <a:solidFill>
                      <a:srgbClr val="DDDB7C"/>
                    </a:solidFill>
                  </a:tcPr>
                </a:tc>
                <a:tc>
                  <a:txBody>
                    <a:bodyPr/>
                    <a:lstStyle/>
                    <a:p>
                      <a:r>
                        <a:rPr sz="1300" b="1">
                          <a:solidFill>
                            <a:srgbClr val="3B5C9C"/>
                          </a:solidFill>
                        </a:rPr>
                        <a:t>Wave Checkpoint</a:t>
                      </a:r>
                    </a:p>
                  </a:txBody>
                  <a:tcPr>
                    <a:solidFill>
                      <a:srgbClr val="DDDB7C"/>
                    </a:solidFill>
                  </a:tcPr>
                </a:tc>
                <a:tc>
                  <a:txBody>
                    <a:bodyPr/>
                    <a:lstStyle/>
                    <a:p>
                      <a:r>
                        <a:rPr sz="1300" b="1">
                          <a:solidFill>
                            <a:srgbClr val="3B5C9C"/>
                          </a:solidFill>
                        </a:rPr>
                        <a:t>Marker</a:t>
                      </a:r>
                    </a:p>
                  </a:txBody>
                  <a:tcPr>
                    <a:solidFill>
                      <a:srgbClr val="DDDB7C"/>
                    </a:solidFill>
                  </a:tcPr>
                </a:tc>
                <a:tc>
                  <a:txBody>
                    <a:bodyPr/>
                    <a:lstStyle/>
                    <a:p>
                      <a:r>
                        <a:rPr sz="1300" b="1">
                          <a:solidFill>
                            <a:srgbClr val="3B5C9C"/>
                          </a:solidFill>
                        </a:rPr>
                        <a:t>Heading</a:t>
                      </a:r>
                    </a:p>
                  </a:txBody>
                  <a:tcPr>
                    <a:solidFill>
                      <a:srgbClr val="DDDB7C"/>
                    </a:solidFill>
                  </a:tcPr>
                </a:tc>
                <a:extLst>
                  <a:ext uri="{0D108BD9-81ED-4DB2-BD59-A6C34878D82A}">
                    <a16:rowId xmlns:a16="http://schemas.microsoft.com/office/drawing/2014/main" val="10000"/>
                  </a:ext>
                </a:extLst>
              </a:tr>
              <a:tr h="169462">
                <a:tc>
                  <a:txBody>
                    <a:bodyPr/>
                    <a:lstStyle/>
                    <a:p>
                      <a:r>
                        <a:rPr sz="1300" b="0">
                          <a:solidFill>
                            <a:srgbClr val="3B5C9C"/>
                          </a:solidFill>
                        </a:rPr>
                        <a:t>Queueing Mode</a:t>
                      </a:r>
                    </a:p>
                  </a:txBody>
                  <a:tcPr>
                    <a:solidFill>
                      <a:srgbClr val="ECF7F5"/>
                    </a:solidFill>
                  </a:tcPr>
                </a:tc>
                <a:tc>
                  <a:txBody>
                    <a:bodyPr/>
                    <a:lstStyle/>
                    <a:p>
                      <a:r>
                        <a:rPr sz="1300" b="0">
                          <a:solidFill>
                            <a:srgbClr val="3B5C9C"/>
                          </a:solidFill>
                        </a:rPr>
                        <a:t>Mesh Element</a:t>
                      </a:r>
                    </a:p>
                  </a:txBody>
                  <a:tcPr>
                    <a:solidFill>
                      <a:srgbClr val="ECF7F5"/>
                    </a:solidFill>
                  </a:tcPr>
                </a:tc>
                <a:tc>
                  <a:txBody>
                    <a:bodyPr/>
                    <a:lstStyle/>
                    <a:p>
                      <a:r>
                        <a:rPr sz="1300" b="0">
                          <a:solidFill>
                            <a:srgbClr val="3B5C9C"/>
                          </a:solidFill>
                        </a:rPr>
                        <a:t>Flow</a:t>
                      </a:r>
                    </a:p>
                  </a:txBody>
                  <a:tcPr>
                    <a:solidFill>
                      <a:srgbClr val="ECF7F5"/>
                    </a:solidFill>
                  </a:tcPr>
                </a:tc>
                <a:tc>
                  <a:txBody>
                    <a:bodyPr/>
                    <a:lstStyle/>
                    <a:p>
                      <a:r>
                        <a:rPr sz="1300" b="0">
                          <a:solidFill>
                            <a:srgbClr val="3B5C9C"/>
                          </a:solidFill>
                        </a:rPr>
                        <a:t>Duration Group</a:t>
                      </a:r>
                    </a:p>
                  </a:txBody>
                  <a:tcPr>
                    <a:solidFill>
                      <a:srgbClr val="ECF7F5"/>
                    </a:solidFill>
                  </a:tcPr>
                </a:tc>
                <a:tc>
                  <a:txBody>
                    <a:bodyPr/>
                    <a:lstStyle/>
                    <a:p>
                      <a:r>
                        <a:rPr sz="1300" b="0">
                          <a:solidFill>
                            <a:srgbClr val="3B5C9C"/>
                          </a:solidFill>
                        </a:rPr>
                        <a:t>Field</a:t>
                      </a:r>
                    </a:p>
                  </a:txBody>
                  <a:tcPr>
                    <a:solidFill>
                      <a:srgbClr val="ECF7F5"/>
                    </a:solidFill>
                  </a:tcPr>
                </a:tc>
                <a:extLst>
                  <a:ext uri="{0D108BD9-81ED-4DB2-BD59-A6C34878D82A}">
                    <a16:rowId xmlns:a16="http://schemas.microsoft.com/office/drawing/2014/main" val="10001"/>
                  </a:ext>
                </a:extLst>
              </a:tr>
              <a:tr h="169462">
                <a:tc>
                  <a:txBody>
                    <a:bodyPr/>
                    <a:lstStyle/>
                    <a:p>
                      <a:r>
                        <a:rPr sz="1300" b="0">
                          <a:solidFill>
                            <a:srgbClr val="3B5C9C"/>
                          </a:solidFill>
                        </a:rPr>
                        <a:t>Portal</a:t>
                      </a:r>
                    </a:p>
                  </a:txBody>
                  <a:tcPr>
                    <a:solidFill>
                      <a:srgbClr val="ECF7F5"/>
                    </a:solidFill>
                  </a:tcPr>
                </a:tc>
                <a:tc>
                  <a:txBody>
                    <a:bodyPr/>
                    <a:lstStyle/>
                    <a:p>
                      <a:r>
                        <a:rPr sz="1300" b="0">
                          <a:solidFill>
                            <a:srgbClr val="3B5C9C"/>
                          </a:solidFill>
                        </a:rPr>
                        <a:t>Bundle Archive</a:t>
                      </a:r>
                    </a:p>
                  </a:txBody>
                  <a:tcPr>
                    <a:solidFill>
                      <a:srgbClr val="ECF7F5"/>
                    </a:solidFill>
                  </a:tcPr>
                </a:tc>
                <a:tc>
                  <a:txBody>
                    <a:bodyPr/>
                    <a:lstStyle/>
                    <a:p>
                      <a:r>
                        <a:rPr sz="1300" b="0">
                          <a:solidFill>
                            <a:srgbClr val="3B5C9C"/>
                          </a:solidFill>
                        </a:rPr>
                        <a:t>Journey Tile</a:t>
                      </a:r>
                    </a:p>
                  </a:txBody>
                  <a:tcPr>
                    <a:solidFill>
                      <a:srgbClr val="ECF7F5"/>
                    </a:solidFill>
                  </a:tcPr>
                </a:tc>
                <a:tc>
                  <a:txBody>
                    <a:bodyPr/>
                    <a:lstStyle/>
                    <a:p>
                      <a:r>
                        <a:rPr sz="1300" b="0">
                          <a:solidFill>
                            <a:srgbClr val="3B5C9C"/>
                          </a:solidFill>
                        </a:rPr>
                        <a:t>Hub</a:t>
                      </a:r>
                    </a:p>
                  </a:txBody>
                  <a:tcPr>
                    <a:solidFill>
                      <a:srgbClr val="ECF7F5"/>
                    </a:solidFill>
                  </a:tcPr>
                </a:tc>
                <a:tc>
                  <a:txBody>
                    <a:bodyPr/>
                    <a:lstStyle/>
                    <a:p>
                      <a:r>
                        <a:rPr sz="1300" b="0">
                          <a:solidFill>
                            <a:srgbClr val="3B5C9C"/>
                          </a:solidFill>
                        </a:rPr>
                        <a:t>Metric</a:t>
                      </a:r>
                    </a:p>
                  </a:txBody>
                  <a:tcPr>
                    <a:solidFill>
                      <a:srgbClr val="ECF7F5"/>
                    </a:solidFill>
                  </a:tcPr>
                </a:tc>
                <a:extLst>
                  <a:ext uri="{0D108BD9-81ED-4DB2-BD59-A6C34878D82A}">
                    <a16:rowId xmlns:a16="http://schemas.microsoft.com/office/drawing/2014/main" val="10002"/>
                  </a:ext>
                </a:extLst>
              </a:tr>
              <a:tr h="169462">
                <a:tc>
                  <a:txBody>
                    <a:bodyPr/>
                    <a:lstStyle/>
                    <a:p>
                      <a:r>
                        <a:rPr sz="1300" b="0">
                          <a:solidFill>
                            <a:srgbClr val="3B5C9C"/>
                          </a:solidFill>
                        </a:rPr>
                        <a:t>Engine Packet</a:t>
                      </a:r>
                    </a:p>
                  </a:txBody>
                  <a:tcPr>
                    <a:solidFill>
                      <a:srgbClr val="ECF7F5"/>
                    </a:solidFill>
                  </a:tcPr>
                </a:tc>
                <a:tc>
                  <a:txBody>
                    <a:bodyPr/>
                    <a:lstStyle/>
                    <a:p>
                      <a:r>
                        <a:rPr sz="1300" b="0">
                          <a:solidFill>
                            <a:srgbClr val="3B5C9C"/>
                          </a:solidFill>
                        </a:rPr>
                        <a:t>Control Keyline</a:t>
                      </a:r>
                    </a:p>
                  </a:txBody>
                  <a:tcPr>
                    <a:solidFill>
                      <a:srgbClr val="ECF7F5"/>
                    </a:solidFill>
                  </a:tcPr>
                </a:tc>
                <a:tc>
                  <a:txBody>
                    <a:bodyPr/>
                    <a:lstStyle/>
                    <a:p>
                      <a:r>
                        <a:rPr sz="1300" b="0">
                          <a:solidFill>
                            <a:srgbClr val="3B5C9C"/>
                          </a:solidFill>
                        </a:rPr>
                        <a:t>Draft Center</a:t>
                      </a:r>
                    </a:p>
                  </a:txBody>
                  <a:tcPr>
                    <a:solidFill>
                      <a:srgbClr val="ECF7F5"/>
                    </a:solidFill>
                  </a:tcPr>
                </a:tc>
                <a:tc>
                  <a:txBody>
                    <a:bodyPr/>
                    <a:lstStyle/>
                    <a:p>
                      <a:r>
                        <a:rPr sz="1300" b="0">
                          <a:solidFill>
                            <a:srgbClr val="3B5C9C"/>
                          </a:solidFill>
                        </a:rPr>
                        <a:t>Structure Radius</a:t>
                      </a:r>
                    </a:p>
                  </a:txBody>
                  <a:tcPr>
                    <a:solidFill>
                      <a:srgbClr val="ECF7F5"/>
                    </a:solidFill>
                  </a:tcPr>
                </a:tc>
                <a:tc>
                  <a:txBody>
                    <a:bodyPr/>
                    <a:lstStyle/>
                    <a:p>
                      <a:r>
                        <a:rPr sz="1300" b="0">
                          <a:solidFill>
                            <a:srgbClr val="3B5C9C"/>
                          </a:solidFill>
                        </a:rPr>
                        <a:t>Network</a:t>
                      </a:r>
                    </a:p>
                  </a:txBody>
                  <a:tcPr>
                    <a:solidFill>
                      <a:srgbClr val="ECF7F5"/>
                    </a:solidFill>
                  </a:tcPr>
                </a:tc>
                <a:extLst>
                  <a:ext uri="{0D108BD9-81ED-4DB2-BD59-A6C34878D82A}">
                    <a16:rowId xmlns:a16="http://schemas.microsoft.com/office/drawing/2014/main" val="10003"/>
                  </a:ext>
                </a:extLst>
              </a:tr>
              <a:tr h="169462">
                <a:tc>
                  <a:txBody>
                    <a:bodyPr/>
                    <a:lstStyle/>
                    <a:p>
                      <a:r>
                        <a:rPr sz="1300" b="0">
                          <a:solidFill>
                            <a:srgbClr val="3B5C9C"/>
                          </a:solidFill>
                        </a:rPr>
                        <a:t>Point</a:t>
                      </a:r>
                    </a:p>
                  </a:txBody>
                  <a:tcPr>
                    <a:solidFill>
                      <a:srgbClr val="ECF7F5"/>
                    </a:solidFill>
                  </a:tcPr>
                </a:tc>
                <a:tc>
                  <a:txBody>
                    <a:bodyPr/>
                    <a:lstStyle/>
                    <a:p>
                      <a:r>
                        <a:rPr sz="1300" b="0">
                          <a:solidFill>
                            <a:srgbClr val="3B5C9C"/>
                          </a:solidFill>
                        </a:rPr>
                        <a:t>Needle</a:t>
                      </a:r>
                    </a:p>
                  </a:txBody>
                  <a:tcPr>
                    <a:solidFill>
                      <a:srgbClr val="ECF7F5"/>
                    </a:solidFill>
                  </a:tcPr>
                </a:tc>
                <a:tc>
                  <a:txBody>
                    <a:bodyPr/>
                    <a:lstStyle/>
                    <a:p>
                      <a:r>
                        <a:rPr sz="1300" b="0">
                          <a:solidFill>
                            <a:srgbClr val="3B5C9C"/>
                          </a:solidFill>
                        </a:rPr>
                        <a:t>Instance Input</a:t>
                      </a:r>
                    </a:p>
                  </a:txBody>
                  <a:tcPr>
                    <a:solidFill>
                      <a:srgbClr val="ECF7F5"/>
                    </a:solidFill>
                  </a:tcPr>
                </a:tc>
                <a:tc>
                  <a:txBody>
                    <a:bodyPr/>
                    <a:lstStyle/>
                    <a:p>
                      <a:r>
                        <a:rPr sz="1300" b="0">
                          <a:solidFill>
                            <a:srgbClr val="3B5C9C"/>
                          </a:solidFill>
                        </a:rPr>
                        <a:t>Forecast</a:t>
                      </a:r>
                    </a:p>
                  </a:txBody>
                  <a:tcPr>
                    <a:solidFill>
                      <a:srgbClr val="ECF7F5"/>
                    </a:solidFill>
                  </a:tcPr>
                </a:tc>
                <a:tc>
                  <a:txBody>
                    <a:bodyPr/>
                    <a:lstStyle/>
                    <a:p>
                      <a:r>
                        <a:rPr sz="1300" b="0">
                          <a:solidFill>
                            <a:srgbClr val="3B5C9C"/>
                          </a:solidFill>
                        </a:rPr>
                        <a:t>Build</a:t>
                      </a:r>
                    </a:p>
                  </a:txBody>
                  <a:tcPr>
                    <a:solidFill>
                      <a:srgbClr val="ECF7F5"/>
                    </a:solidFill>
                  </a:tcPr>
                </a:tc>
                <a:extLst>
                  <a:ext uri="{0D108BD9-81ED-4DB2-BD59-A6C34878D82A}">
                    <a16:rowId xmlns:a16="http://schemas.microsoft.com/office/drawing/2014/main" val="10004"/>
                  </a:ext>
                </a:extLst>
              </a:tr>
              <a:tr h="169465">
                <a:tc>
                  <a:txBody>
                    <a:bodyPr/>
                    <a:lstStyle/>
                    <a:p>
                      <a:r>
                        <a:rPr sz="1300" b="0">
                          <a:solidFill>
                            <a:srgbClr val="3B5C9C"/>
                          </a:solidFill>
                        </a:rPr>
                        <a:t>Catalog</a:t>
                      </a:r>
                    </a:p>
                  </a:txBody>
                  <a:tcPr>
                    <a:solidFill>
                      <a:srgbClr val="ECF7F5"/>
                    </a:solidFill>
                  </a:tcPr>
                </a:tc>
                <a:tc>
                  <a:txBody>
                    <a:bodyPr/>
                    <a:lstStyle/>
                    <a:p>
                      <a:r>
                        <a:rPr sz="1300" b="0">
                          <a:solidFill>
                            <a:srgbClr val="3B5C9C"/>
                          </a:solidFill>
                        </a:rPr>
                        <a:t>Expansion</a:t>
                      </a:r>
                    </a:p>
                  </a:txBody>
                  <a:tcPr>
                    <a:solidFill>
                      <a:srgbClr val="ECF7F5"/>
                    </a:solidFill>
                  </a:tcPr>
                </a:tc>
                <a:tc>
                  <a:txBody>
                    <a:bodyPr/>
                    <a:lstStyle/>
                    <a:p>
                      <a:r>
                        <a:rPr sz="1300" b="0">
                          <a:solidFill>
                            <a:srgbClr val="3B5C9C"/>
                          </a:solidFill>
                        </a:rPr>
                        <a:t>Track</a:t>
                      </a:r>
                    </a:p>
                  </a:txBody>
                  <a:tcPr>
                    <a:solidFill>
                      <a:srgbClr val="ECF7F5"/>
                    </a:solidFill>
                  </a:tcPr>
                </a:tc>
                <a:tc>
                  <a:txBody>
                    <a:bodyPr/>
                    <a:lstStyle/>
                    <a:p>
                      <a:r>
                        <a:rPr sz="1300" b="0">
                          <a:solidFill>
                            <a:srgbClr val="3B5C9C"/>
                          </a:solidFill>
                        </a:rPr>
                        <a:t>Control Group</a:t>
                      </a:r>
                    </a:p>
                  </a:txBody>
                  <a:tcPr>
                    <a:solidFill>
                      <a:srgbClr val="ECF7F5"/>
                    </a:solidFill>
                  </a:tcPr>
                </a:tc>
                <a:tc>
                  <a:txBody>
                    <a:bodyPr/>
                    <a:lstStyle/>
                    <a:p>
                      <a:r>
                        <a:rPr sz="1300" b="0">
                          <a:solidFill>
                            <a:srgbClr val="3B5C9C"/>
                          </a:solidFill>
                        </a:rPr>
                        <a:t>Domain Baseline</a:t>
                      </a:r>
                    </a:p>
                  </a:txBody>
                  <a:tcPr>
                    <a:solidFill>
                      <a:srgbClr val="ECF7F5"/>
                    </a:solidFill>
                  </a:tcPr>
                </a:tc>
                <a:extLst>
                  <a:ext uri="{0D108BD9-81ED-4DB2-BD59-A6C34878D82A}">
                    <a16:rowId xmlns:a16="http://schemas.microsoft.com/office/drawing/2014/main" val="10005"/>
                  </a:ext>
                </a:extLst>
              </a:tr>
            </a:tbl>
          </a:graphicData>
        </a:graphic>
      </p:graphicFrame>
      <p:sp>
        <p:nvSpPr>
          <p:cNvPr id="26" name="Octagon 25"/>
          <p:cNvSpPr/>
          <p:nvPr/>
        </p:nvSpPr>
        <p:spPr>
          <a:xfrm>
            <a:off x="1008451" y="4495790"/>
            <a:ext cx="1214230" cy="1898718"/>
          </a:xfrm>
          <a:prstGeom prst="octagon">
            <a:avLst/>
          </a:prstGeom>
          <a:solidFill>
            <a:srgbClr val="453379"/>
          </a:solidFill>
          <a:ln w="15607">
            <a:solidFill>
              <a:srgbClr val="57AA1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258825" y="3336707"/>
            <a:ext cx="1282021" cy="701788"/>
          </a:xfrm>
          <a:custGeom>
            <a:avLst/>
            <a:gdLst/>
            <a:ahLst/>
            <a:cxnLst/>
            <a:rect l="l" t="t" r="r" b="b"/>
            <a:pathLst>
              <a:path w="1282021" h="701788">
                <a:moveTo>
                  <a:pt x="0" y="155953"/>
                </a:moveTo>
                <a:lnTo>
                  <a:pt x="275704" y="0"/>
                </a:lnTo>
                <a:lnTo>
                  <a:pt x="551407" y="210536"/>
                </a:lnTo>
                <a:lnTo>
                  <a:pt x="827110" y="23392"/>
                </a:lnTo>
                <a:lnTo>
                  <a:pt x="1282021" y="545835"/>
                </a:lnTo>
                <a:lnTo>
                  <a:pt x="964962" y="701788"/>
                </a:lnTo>
                <a:lnTo>
                  <a:pt x="661688" y="467858"/>
                </a:lnTo>
                <a:lnTo>
                  <a:pt x="317059" y="678395"/>
                </a:lnTo>
                <a:close/>
              </a:path>
            </a:pathLst>
          </a:custGeom>
          <a:solidFill>
            <a:srgbClr val="ACAD34"/>
          </a:solidFill>
          <a:ln w="32268">
            <a:solidFill>
              <a:srgbClr val="58DC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Freeform 27"/>
          <p:cNvSpPr/>
          <p:nvPr/>
        </p:nvSpPr>
        <p:spPr>
          <a:xfrm>
            <a:off x="6314207" y="5435471"/>
            <a:ext cx="1546925" cy="768444"/>
          </a:xfrm>
          <a:custGeom>
            <a:avLst/>
            <a:gdLst/>
            <a:ahLst/>
            <a:cxnLst/>
            <a:rect l="l" t="t" r="r" b="b"/>
            <a:pathLst>
              <a:path w="1546925" h="768444">
                <a:moveTo>
                  <a:pt x="773463" y="0"/>
                </a:moveTo>
                <a:lnTo>
                  <a:pt x="966828" y="192111"/>
                </a:lnTo>
                <a:lnTo>
                  <a:pt x="1450242" y="138320"/>
                </a:lnTo>
                <a:lnTo>
                  <a:pt x="1176308" y="384222"/>
                </a:lnTo>
                <a:lnTo>
                  <a:pt x="1546925" y="599386"/>
                </a:lnTo>
                <a:lnTo>
                  <a:pt x="966828" y="553280"/>
                </a:lnTo>
                <a:lnTo>
                  <a:pt x="773463" y="768444"/>
                </a:lnTo>
                <a:lnTo>
                  <a:pt x="580097" y="553280"/>
                </a:lnTo>
                <a:lnTo>
                  <a:pt x="0" y="599386"/>
                </a:lnTo>
                <a:lnTo>
                  <a:pt x="370618" y="384222"/>
                </a:lnTo>
                <a:lnTo>
                  <a:pt x="96683" y="138320"/>
                </a:lnTo>
                <a:lnTo>
                  <a:pt x="580097" y="192111"/>
                </a:lnTo>
                <a:close/>
              </a:path>
            </a:pathLst>
          </a:custGeom>
          <a:solidFill>
            <a:srgbClr val="D2B2A9"/>
          </a:solidFill>
          <a:ln w="20153">
            <a:solidFill>
              <a:srgbClr val="22CF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C7659EC3-01D2-C133-5FF9-BAEA6068AFC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836723" y="576950"/>
            <a:ext cx="2748858" cy="827529"/>
          </a:xfrm>
          <a:prstGeom prst="rect">
            <a:avLst/>
          </a:prstGeom>
        </p:spPr>
      </p:pic>
      <p:pic>
        <p:nvPicPr>
          <p:cNvPr id="32" name="Graphic 31">
            <a:extLst>
              <a:ext uri="{FF2B5EF4-FFF2-40B4-BE49-F238E27FC236}">
                <a16:creationId xmlns:a16="http://schemas.microsoft.com/office/drawing/2014/main" id="{21F241D2-287A-3F5B-5617-BDB0F7A51300}"/>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130249" y="2015081"/>
            <a:ext cx="932823" cy="88250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Triangle 1"/>
          <p:cNvSpPr/>
          <p:nvPr/>
        </p:nvSpPr>
        <p:spPr>
          <a:xfrm>
            <a:off x="10933365" y="1733076"/>
            <a:ext cx="669435" cy="1170103"/>
          </a:xfrm>
          <a:prstGeom prst="rtTriangle">
            <a:avLst/>
          </a:prstGeom>
          <a:solidFill>
            <a:srgbClr val="66D3A6"/>
          </a:solidFill>
          <a:ln w="15001">
            <a:solidFill>
              <a:srgbClr val="B86BA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entagon 2"/>
          <p:cNvSpPr/>
          <p:nvPr/>
        </p:nvSpPr>
        <p:spPr>
          <a:xfrm>
            <a:off x="10746633" y="4983642"/>
            <a:ext cx="419701" cy="505134"/>
          </a:xfrm>
          <a:prstGeom prst="homePlate">
            <a:avLst/>
          </a:prstGeom>
          <a:solidFill>
            <a:srgbClr val="5E4233"/>
          </a:solidFill>
          <a:ln w="17816">
            <a:solidFill>
              <a:srgbClr val="247B7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406785" y="5164649"/>
            <a:ext cx="1103160" cy="681530"/>
          </a:xfrm>
          <a:custGeom>
            <a:avLst/>
            <a:gdLst/>
            <a:ahLst/>
            <a:cxnLst/>
            <a:rect l="l" t="t" r="r" b="b"/>
            <a:pathLst>
              <a:path w="1103160" h="681530">
                <a:moveTo>
                  <a:pt x="551580" y="0"/>
                </a:moveTo>
                <a:lnTo>
                  <a:pt x="689475" y="170383"/>
                </a:lnTo>
                <a:lnTo>
                  <a:pt x="1034213" y="122676"/>
                </a:lnTo>
                <a:lnTo>
                  <a:pt x="838861" y="340765"/>
                </a:lnTo>
                <a:lnTo>
                  <a:pt x="1103160" y="531593"/>
                </a:lnTo>
                <a:lnTo>
                  <a:pt x="689475" y="490702"/>
                </a:lnTo>
                <a:lnTo>
                  <a:pt x="551580" y="681530"/>
                </a:lnTo>
                <a:lnTo>
                  <a:pt x="413685" y="490702"/>
                </a:lnTo>
                <a:lnTo>
                  <a:pt x="0" y="531593"/>
                </a:lnTo>
                <a:lnTo>
                  <a:pt x="264299" y="340765"/>
                </a:lnTo>
                <a:lnTo>
                  <a:pt x="68948" y="122676"/>
                </a:lnTo>
                <a:lnTo>
                  <a:pt x="413685" y="170383"/>
                </a:lnTo>
                <a:close/>
              </a:path>
            </a:pathLst>
          </a:custGeom>
          <a:solidFill>
            <a:srgbClr val="BB1A9A"/>
          </a:solidFill>
          <a:ln w="30010">
            <a:solidFill>
              <a:srgbClr val="19AE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8332" y="5379707"/>
            <a:ext cx="1111001" cy="649865"/>
          </a:xfrm>
          <a:prstGeom prst="rect">
            <a:avLst/>
          </a:prstGeom>
          <a:noFill/>
        </p:spPr>
        <p:txBody>
          <a:bodyPr wrap="none" lIns="74140" tIns="74140" rIns="74140" bIns="74140">
            <a:spAutoFit/>
          </a:bodyPr>
          <a:lstStyle/>
          <a:p>
            <a:r>
              <a:rPr sz="1000" b="0" i="0" u="none">
                <a:solidFill>
                  <a:srgbClr val="3FE3B1"/>
                </a:solidFill>
                <a:latin typeface="Calibri"/>
              </a:rPr>
              <a:t>Origin Focus</a:t>
            </a:r>
          </a:p>
        </p:txBody>
      </p:sp>
      <p:sp>
        <p:nvSpPr>
          <p:cNvPr id="6" name="TextBox 5"/>
          <p:cNvSpPr txBox="1"/>
          <p:nvPr/>
        </p:nvSpPr>
        <p:spPr>
          <a:xfrm>
            <a:off x="4642290" y="1088833"/>
            <a:ext cx="949146" cy="2254276"/>
          </a:xfrm>
          <a:prstGeom prst="rect">
            <a:avLst/>
          </a:prstGeom>
          <a:noFill/>
        </p:spPr>
        <p:txBody>
          <a:bodyPr wrap="none" lIns="50078" tIns="50078" rIns="50078" bIns="50078">
            <a:spAutoFit/>
          </a:bodyPr>
          <a:lstStyle/>
          <a:p>
            <a:r>
              <a:rPr sz="2600" b="0" i="0" u="none">
                <a:solidFill>
                  <a:srgbClr val="617F49"/>
                </a:solidFill>
                <a:latin typeface="Aptos"/>
              </a:rPr>
              <a:t>Alpha Review Priority Intent Link Summary Mode Craft Module Version Priority</a:t>
            </a:r>
          </a:p>
        </p:txBody>
      </p:sp>
      <p:sp>
        <p:nvSpPr>
          <p:cNvPr id="7" name="Display 6"/>
          <p:cNvSpPr/>
          <p:nvPr/>
        </p:nvSpPr>
        <p:spPr>
          <a:xfrm>
            <a:off x="2101194" y="891460"/>
            <a:ext cx="2183606" cy="973132"/>
          </a:xfrm>
          <a:prstGeom prst="flowChartDisplay">
            <a:avLst/>
          </a:prstGeom>
          <a:noFill/>
          <a:ln w="17278">
            <a:solidFill>
              <a:srgbClr val="5CDD9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10919655" y="5904254"/>
            <a:ext cx="1037789" cy="716530"/>
          </a:xfrm>
          <a:custGeom>
            <a:avLst/>
            <a:gdLst/>
            <a:ahLst/>
            <a:cxnLst/>
            <a:rect l="l" t="t" r="r" b="b"/>
            <a:pathLst>
              <a:path w="1037789" h="716530">
                <a:moveTo>
                  <a:pt x="518894" y="0"/>
                </a:moveTo>
                <a:lnTo>
                  <a:pt x="648618" y="179133"/>
                </a:lnTo>
                <a:lnTo>
                  <a:pt x="972927" y="128976"/>
                </a:lnTo>
                <a:lnTo>
                  <a:pt x="789152" y="358265"/>
                </a:lnTo>
                <a:lnTo>
                  <a:pt x="1037789" y="558893"/>
                </a:lnTo>
                <a:lnTo>
                  <a:pt x="648618" y="515901"/>
                </a:lnTo>
                <a:lnTo>
                  <a:pt x="518894" y="716530"/>
                </a:lnTo>
                <a:lnTo>
                  <a:pt x="389171" y="515901"/>
                </a:lnTo>
                <a:lnTo>
                  <a:pt x="0" y="558893"/>
                </a:lnTo>
                <a:lnTo>
                  <a:pt x="248637" y="358265"/>
                </a:lnTo>
                <a:lnTo>
                  <a:pt x="64862" y="128976"/>
                </a:lnTo>
                <a:lnTo>
                  <a:pt x="389171" y="179133"/>
                </a:lnTo>
                <a:close/>
              </a:path>
            </a:pathLst>
          </a:custGeom>
          <a:solidFill>
            <a:srgbClr val="D83CB0"/>
          </a:solidFill>
          <a:ln w="26816">
            <a:solidFill>
              <a:srgbClr val="AE9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6627566" y="365526"/>
          <a:ext cx="4021653" cy="1647331"/>
        </p:xfrm>
        <a:graphic>
          <a:graphicData uri="http://schemas.openxmlformats.org/drawingml/2006/table">
            <a:tbl>
              <a:tblPr firstRow="1" bandRow="1">
                <a:tableStyleId>{5C22544A-7EE6-4342-B048-85BDC9FD1C3A}</a:tableStyleId>
              </a:tblPr>
              <a:tblGrid>
                <a:gridCol w="670275">
                  <a:extLst>
                    <a:ext uri="{9D8B030D-6E8A-4147-A177-3AD203B41FA5}">
                      <a16:colId xmlns:a16="http://schemas.microsoft.com/office/drawing/2014/main" val="20000"/>
                    </a:ext>
                  </a:extLst>
                </a:gridCol>
                <a:gridCol w="670275">
                  <a:extLst>
                    <a:ext uri="{9D8B030D-6E8A-4147-A177-3AD203B41FA5}">
                      <a16:colId xmlns:a16="http://schemas.microsoft.com/office/drawing/2014/main" val="20001"/>
                    </a:ext>
                  </a:extLst>
                </a:gridCol>
                <a:gridCol w="670275">
                  <a:extLst>
                    <a:ext uri="{9D8B030D-6E8A-4147-A177-3AD203B41FA5}">
                      <a16:colId xmlns:a16="http://schemas.microsoft.com/office/drawing/2014/main" val="20002"/>
                    </a:ext>
                  </a:extLst>
                </a:gridCol>
                <a:gridCol w="670275">
                  <a:extLst>
                    <a:ext uri="{9D8B030D-6E8A-4147-A177-3AD203B41FA5}">
                      <a16:colId xmlns:a16="http://schemas.microsoft.com/office/drawing/2014/main" val="20003"/>
                    </a:ext>
                  </a:extLst>
                </a:gridCol>
                <a:gridCol w="670275">
                  <a:extLst>
                    <a:ext uri="{9D8B030D-6E8A-4147-A177-3AD203B41FA5}">
                      <a16:colId xmlns:a16="http://schemas.microsoft.com/office/drawing/2014/main" val="20004"/>
                    </a:ext>
                  </a:extLst>
                </a:gridCol>
                <a:gridCol w="670278">
                  <a:extLst>
                    <a:ext uri="{9D8B030D-6E8A-4147-A177-3AD203B41FA5}">
                      <a16:colId xmlns:a16="http://schemas.microsoft.com/office/drawing/2014/main" val="20005"/>
                    </a:ext>
                  </a:extLst>
                </a:gridCol>
              </a:tblGrid>
              <a:tr h="274555">
                <a:tc>
                  <a:txBody>
                    <a:bodyPr/>
                    <a:lstStyle/>
                    <a:p>
                      <a:r>
                        <a:rPr sz="1000" b="1">
                          <a:solidFill>
                            <a:srgbClr val="39C484"/>
                          </a:solidFill>
                        </a:rPr>
                        <a:t>Pixel</a:t>
                      </a:r>
                    </a:p>
                  </a:txBody>
                  <a:tcPr>
                    <a:solidFill>
                      <a:srgbClr val="43CE9F"/>
                    </a:solidFill>
                  </a:tcPr>
                </a:tc>
                <a:tc>
                  <a:txBody>
                    <a:bodyPr/>
                    <a:lstStyle/>
                    <a:p>
                      <a:r>
                        <a:rPr sz="1000" b="1">
                          <a:solidFill>
                            <a:srgbClr val="39C484"/>
                          </a:solidFill>
                        </a:rPr>
                        <a:t>Reference</a:t>
                      </a:r>
                    </a:p>
                  </a:txBody>
                  <a:tcPr>
                    <a:solidFill>
                      <a:srgbClr val="43CE9F"/>
                    </a:solidFill>
                  </a:tcPr>
                </a:tc>
                <a:tc>
                  <a:txBody>
                    <a:bodyPr/>
                    <a:lstStyle/>
                    <a:p>
                      <a:r>
                        <a:rPr sz="1000" b="1">
                          <a:solidFill>
                            <a:srgbClr val="39C484"/>
                          </a:solidFill>
                        </a:rPr>
                        <a:t>Duration Iteration</a:t>
                      </a:r>
                    </a:p>
                  </a:txBody>
                  <a:tcPr>
                    <a:solidFill>
                      <a:srgbClr val="43CE9F"/>
                    </a:solidFill>
                  </a:tcPr>
                </a:tc>
                <a:tc>
                  <a:txBody>
                    <a:bodyPr/>
                    <a:lstStyle/>
                    <a:p>
                      <a:r>
                        <a:rPr sz="1000" b="1">
                          <a:solidFill>
                            <a:srgbClr val="39C484"/>
                          </a:solidFill>
                        </a:rPr>
                        <a:t>Audit Reference</a:t>
                      </a:r>
                    </a:p>
                  </a:txBody>
                  <a:tcPr>
                    <a:solidFill>
                      <a:srgbClr val="43CE9F"/>
                    </a:solidFill>
                  </a:tcPr>
                </a:tc>
                <a:tc>
                  <a:txBody>
                    <a:bodyPr/>
                    <a:lstStyle/>
                    <a:p>
                      <a:r>
                        <a:rPr sz="1000" b="1">
                          <a:solidFill>
                            <a:srgbClr val="39C484"/>
                          </a:solidFill>
                        </a:rPr>
                        <a:t>Connector Queue</a:t>
                      </a:r>
                    </a:p>
                  </a:txBody>
                  <a:tcPr>
                    <a:solidFill>
                      <a:srgbClr val="43CE9F"/>
                    </a:solidFill>
                  </a:tcPr>
                </a:tc>
                <a:tc>
                  <a:txBody>
                    <a:bodyPr/>
                    <a:lstStyle/>
                    <a:p>
                      <a:r>
                        <a:rPr sz="1000" b="1">
                          <a:solidFill>
                            <a:srgbClr val="39C484"/>
                          </a:solidFill>
                        </a:rPr>
                        <a:t>Moment Ledger</a:t>
                      </a:r>
                    </a:p>
                  </a:txBody>
                  <a:tcPr>
                    <a:solidFill>
                      <a:srgbClr val="43CE9F"/>
                    </a:solidFill>
                  </a:tcPr>
                </a:tc>
                <a:extLst>
                  <a:ext uri="{0D108BD9-81ED-4DB2-BD59-A6C34878D82A}">
                    <a16:rowId xmlns:a16="http://schemas.microsoft.com/office/drawing/2014/main" val="10000"/>
                  </a:ext>
                </a:extLst>
              </a:tr>
              <a:tr h="274555">
                <a:tc>
                  <a:txBody>
                    <a:bodyPr/>
                    <a:lstStyle/>
                    <a:p>
                      <a:r>
                        <a:rPr sz="1000" b="0">
                          <a:solidFill>
                            <a:srgbClr val="39C484"/>
                          </a:solidFill>
                        </a:rPr>
                        <a:t>Result Audit</a:t>
                      </a:r>
                    </a:p>
                  </a:txBody>
                  <a:tcPr>
                    <a:solidFill>
                      <a:srgbClr val="C4DADB"/>
                    </a:solidFill>
                  </a:tcPr>
                </a:tc>
                <a:tc>
                  <a:txBody>
                    <a:bodyPr/>
                    <a:lstStyle/>
                    <a:p>
                      <a:r>
                        <a:rPr sz="1000" b="0">
                          <a:solidFill>
                            <a:srgbClr val="39C484"/>
                          </a:solidFill>
                        </a:rPr>
                        <a:t>Status Brief</a:t>
                      </a:r>
                    </a:p>
                  </a:txBody>
                  <a:tcPr>
                    <a:solidFill>
                      <a:srgbClr val="C4DADB"/>
                    </a:solidFill>
                  </a:tcPr>
                </a:tc>
                <a:tc>
                  <a:txBody>
                    <a:bodyPr/>
                    <a:lstStyle/>
                    <a:p>
                      <a:r>
                        <a:rPr sz="1000" b="0">
                          <a:solidFill>
                            <a:srgbClr val="39C484"/>
                          </a:solidFill>
                        </a:rPr>
                        <a:t>Release</a:t>
                      </a:r>
                    </a:p>
                  </a:txBody>
                  <a:tcPr>
                    <a:solidFill>
                      <a:srgbClr val="C4DADB"/>
                    </a:solidFill>
                  </a:tcPr>
                </a:tc>
                <a:tc>
                  <a:txBody>
                    <a:bodyPr/>
                    <a:lstStyle/>
                    <a:p>
                      <a:r>
                        <a:rPr sz="1000" b="0">
                          <a:solidFill>
                            <a:srgbClr val="39C484"/>
                          </a:solidFill>
                        </a:rPr>
                        <a:t>Matrix Atlas</a:t>
                      </a:r>
                    </a:p>
                  </a:txBody>
                  <a:tcPr>
                    <a:solidFill>
                      <a:srgbClr val="C4DADB"/>
                    </a:solidFill>
                  </a:tcPr>
                </a:tc>
                <a:tc>
                  <a:txBody>
                    <a:bodyPr/>
                    <a:lstStyle/>
                    <a:p>
                      <a:r>
                        <a:rPr sz="1000" b="0">
                          <a:solidFill>
                            <a:srgbClr val="39C484"/>
                          </a:solidFill>
                        </a:rPr>
                        <a:t>Sample Cortex</a:t>
                      </a:r>
                    </a:p>
                  </a:txBody>
                  <a:tcPr>
                    <a:solidFill>
                      <a:srgbClr val="C4DADB"/>
                    </a:solidFill>
                  </a:tcPr>
                </a:tc>
                <a:tc>
                  <a:txBody>
                    <a:bodyPr/>
                    <a:lstStyle/>
                    <a:p>
                      <a:r>
                        <a:rPr sz="1000" b="0">
                          <a:solidFill>
                            <a:srgbClr val="39C484"/>
                          </a:solidFill>
                        </a:rPr>
                        <a:t>Matrix</a:t>
                      </a:r>
                    </a:p>
                  </a:txBody>
                  <a:tcPr>
                    <a:solidFill>
                      <a:srgbClr val="C4DADB"/>
                    </a:solidFill>
                  </a:tcPr>
                </a:tc>
                <a:extLst>
                  <a:ext uri="{0D108BD9-81ED-4DB2-BD59-A6C34878D82A}">
                    <a16:rowId xmlns:a16="http://schemas.microsoft.com/office/drawing/2014/main" val="10001"/>
                  </a:ext>
                </a:extLst>
              </a:tr>
              <a:tr h="274555">
                <a:tc>
                  <a:txBody>
                    <a:bodyPr/>
                    <a:lstStyle/>
                    <a:p>
                      <a:r>
                        <a:rPr sz="1000" b="0">
                          <a:solidFill>
                            <a:srgbClr val="39C484"/>
                          </a:solidFill>
                        </a:rPr>
                        <a:t>Station North</a:t>
                      </a:r>
                    </a:p>
                  </a:txBody>
                  <a:tcPr>
                    <a:solidFill>
                      <a:srgbClr val="DBE9E9"/>
                    </a:solidFill>
                  </a:tcPr>
                </a:tc>
                <a:tc>
                  <a:txBody>
                    <a:bodyPr/>
                    <a:lstStyle/>
                    <a:p>
                      <a:r>
                        <a:rPr sz="1000" b="0">
                          <a:solidFill>
                            <a:srgbClr val="39C484"/>
                          </a:solidFill>
                        </a:rPr>
                        <a:t>Velocity Explorer</a:t>
                      </a:r>
                    </a:p>
                  </a:txBody>
                  <a:tcPr>
                    <a:solidFill>
                      <a:srgbClr val="DBE9E9"/>
                    </a:solidFill>
                  </a:tcPr>
                </a:tc>
                <a:tc>
                  <a:txBody>
                    <a:bodyPr/>
                    <a:lstStyle/>
                    <a:p>
                      <a:r>
                        <a:rPr sz="1000" b="0">
                          <a:solidFill>
                            <a:srgbClr val="39C484"/>
                          </a:solidFill>
                        </a:rPr>
                        <a:t>Cortex</a:t>
                      </a:r>
                    </a:p>
                  </a:txBody>
                  <a:tcPr>
                    <a:solidFill>
                      <a:srgbClr val="DBE9E9"/>
                    </a:solidFill>
                  </a:tcPr>
                </a:tc>
                <a:tc>
                  <a:txBody>
                    <a:bodyPr/>
                    <a:lstStyle/>
                    <a:p>
                      <a:r>
                        <a:rPr sz="1000" b="0">
                          <a:solidFill>
                            <a:srgbClr val="39C484"/>
                          </a:solidFill>
                        </a:rPr>
                        <a:t>Function</a:t>
                      </a:r>
                    </a:p>
                  </a:txBody>
                  <a:tcPr>
                    <a:solidFill>
                      <a:srgbClr val="DBE9E9"/>
                    </a:solidFill>
                  </a:tcPr>
                </a:tc>
                <a:tc>
                  <a:txBody>
                    <a:bodyPr/>
                    <a:lstStyle/>
                    <a:p>
                      <a:r>
                        <a:rPr sz="1000" b="0">
                          <a:solidFill>
                            <a:srgbClr val="39C484"/>
                          </a:solidFill>
                        </a:rPr>
                        <a:t>Flow</a:t>
                      </a:r>
                    </a:p>
                  </a:txBody>
                  <a:tcPr>
                    <a:solidFill>
                      <a:srgbClr val="DBE9E9"/>
                    </a:solidFill>
                  </a:tcPr>
                </a:tc>
                <a:tc>
                  <a:txBody>
                    <a:bodyPr/>
                    <a:lstStyle/>
                    <a:p>
                      <a:r>
                        <a:rPr sz="1000" b="0">
                          <a:solidFill>
                            <a:srgbClr val="39C484"/>
                          </a:solidFill>
                        </a:rPr>
                        <a:t>Span</a:t>
                      </a:r>
                    </a:p>
                  </a:txBody>
                  <a:tcPr>
                    <a:solidFill>
                      <a:srgbClr val="DBE9E9"/>
                    </a:solidFill>
                  </a:tcPr>
                </a:tc>
                <a:extLst>
                  <a:ext uri="{0D108BD9-81ED-4DB2-BD59-A6C34878D82A}">
                    <a16:rowId xmlns:a16="http://schemas.microsoft.com/office/drawing/2014/main" val="10002"/>
                  </a:ext>
                </a:extLst>
              </a:tr>
              <a:tr h="274555">
                <a:tc>
                  <a:txBody>
                    <a:bodyPr/>
                    <a:lstStyle/>
                    <a:p>
                      <a:r>
                        <a:rPr sz="1000" b="0">
                          <a:solidFill>
                            <a:srgbClr val="39C484"/>
                          </a:solidFill>
                        </a:rPr>
                        <a:t>Depth Access</a:t>
                      </a:r>
                    </a:p>
                  </a:txBody>
                  <a:tcPr>
                    <a:solidFill>
                      <a:srgbClr val="C4DADB"/>
                    </a:solidFill>
                  </a:tcPr>
                </a:tc>
                <a:tc>
                  <a:txBody>
                    <a:bodyPr/>
                    <a:lstStyle/>
                    <a:p>
                      <a:r>
                        <a:rPr sz="1000" b="0">
                          <a:solidFill>
                            <a:srgbClr val="39C484"/>
                          </a:solidFill>
                        </a:rPr>
                        <a:t>Pulse</a:t>
                      </a:r>
                    </a:p>
                  </a:txBody>
                  <a:tcPr>
                    <a:solidFill>
                      <a:srgbClr val="C4DADB"/>
                    </a:solidFill>
                  </a:tcPr>
                </a:tc>
                <a:tc>
                  <a:txBody>
                    <a:bodyPr/>
                    <a:lstStyle/>
                    <a:p>
                      <a:r>
                        <a:rPr sz="1000" b="0">
                          <a:solidFill>
                            <a:srgbClr val="39C484"/>
                          </a:solidFill>
                        </a:rPr>
                        <a:t>Command Context</a:t>
                      </a:r>
                    </a:p>
                  </a:txBody>
                  <a:tcPr>
                    <a:solidFill>
                      <a:srgbClr val="C4DADB"/>
                    </a:solidFill>
                  </a:tcPr>
                </a:tc>
                <a:tc>
                  <a:txBody>
                    <a:bodyPr/>
                    <a:lstStyle/>
                    <a:p>
                      <a:r>
                        <a:rPr sz="1000" b="0">
                          <a:solidFill>
                            <a:srgbClr val="39C484"/>
                          </a:solidFill>
                        </a:rPr>
                        <a:t>Narrative</a:t>
                      </a:r>
                    </a:p>
                  </a:txBody>
                  <a:tcPr>
                    <a:solidFill>
                      <a:srgbClr val="C4DADB"/>
                    </a:solidFill>
                  </a:tcPr>
                </a:tc>
                <a:tc>
                  <a:txBody>
                    <a:bodyPr/>
                    <a:lstStyle/>
                    <a:p>
                      <a:r>
                        <a:rPr sz="1000" b="0">
                          <a:solidFill>
                            <a:srgbClr val="39C484"/>
                          </a:solidFill>
                        </a:rPr>
                        <a:t>Flow</a:t>
                      </a:r>
                    </a:p>
                  </a:txBody>
                  <a:tcPr>
                    <a:solidFill>
                      <a:srgbClr val="C4DADB"/>
                    </a:solidFill>
                  </a:tcPr>
                </a:tc>
                <a:tc>
                  <a:txBody>
                    <a:bodyPr/>
                    <a:lstStyle/>
                    <a:p>
                      <a:r>
                        <a:rPr sz="1000" b="0">
                          <a:solidFill>
                            <a:srgbClr val="39C484"/>
                          </a:solidFill>
                        </a:rPr>
                        <a:t>Timeline Group</a:t>
                      </a:r>
                    </a:p>
                  </a:txBody>
                  <a:tcPr>
                    <a:solidFill>
                      <a:srgbClr val="C4DADB"/>
                    </a:solidFill>
                  </a:tcPr>
                </a:tc>
                <a:extLst>
                  <a:ext uri="{0D108BD9-81ED-4DB2-BD59-A6C34878D82A}">
                    <a16:rowId xmlns:a16="http://schemas.microsoft.com/office/drawing/2014/main" val="10003"/>
                  </a:ext>
                </a:extLst>
              </a:tr>
              <a:tr h="274555">
                <a:tc>
                  <a:txBody>
                    <a:bodyPr/>
                    <a:lstStyle/>
                    <a:p>
                      <a:r>
                        <a:rPr sz="1000" b="0">
                          <a:solidFill>
                            <a:srgbClr val="39C484"/>
                          </a:solidFill>
                        </a:rPr>
                        <a:t>Program</a:t>
                      </a:r>
                    </a:p>
                  </a:txBody>
                  <a:tcPr>
                    <a:solidFill>
                      <a:srgbClr val="DBE9E9"/>
                    </a:solidFill>
                  </a:tcPr>
                </a:tc>
                <a:tc>
                  <a:txBody>
                    <a:bodyPr/>
                    <a:lstStyle/>
                    <a:p>
                      <a:r>
                        <a:rPr sz="1000" b="0">
                          <a:solidFill>
                            <a:srgbClr val="39C484"/>
                          </a:solidFill>
                        </a:rPr>
                        <a:t>Connector Loop</a:t>
                      </a:r>
                    </a:p>
                  </a:txBody>
                  <a:tcPr>
                    <a:solidFill>
                      <a:srgbClr val="DBE9E9"/>
                    </a:solidFill>
                  </a:tcPr>
                </a:tc>
                <a:tc>
                  <a:txBody>
                    <a:bodyPr/>
                    <a:lstStyle/>
                    <a:p>
                      <a:r>
                        <a:rPr sz="1000" b="0">
                          <a:solidFill>
                            <a:srgbClr val="39C484"/>
                          </a:solidFill>
                        </a:rPr>
                        <a:t>Stream Workflow</a:t>
                      </a:r>
                    </a:p>
                  </a:txBody>
                  <a:tcPr>
                    <a:solidFill>
                      <a:srgbClr val="DBE9E9"/>
                    </a:solidFill>
                  </a:tcPr>
                </a:tc>
                <a:tc>
                  <a:txBody>
                    <a:bodyPr/>
                    <a:lstStyle/>
                    <a:p>
                      <a:r>
                        <a:rPr sz="1000" b="0">
                          <a:solidFill>
                            <a:srgbClr val="39C484"/>
                          </a:solidFill>
                        </a:rPr>
                        <a:t>Drift</a:t>
                      </a:r>
                    </a:p>
                  </a:txBody>
                  <a:tcPr>
                    <a:solidFill>
                      <a:srgbClr val="DBE9E9"/>
                    </a:solidFill>
                  </a:tcPr>
                </a:tc>
                <a:tc>
                  <a:txBody>
                    <a:bodyPr/>
                    <a:lstStyle/>
                    <a:p>
                      <a:r>
                        <a:rPr sz="1000" b="0">
                          <a:solidFill>
                            <a:srgbClr val="39C484"/>
                          </a:solidFill>
                        </a:rPr>
                        <a:t>Apex View</a:t>
                      </a:r>
                    </a:p>
                  </a:txBody>
                  <a:tcPr>
                    <a:solidFill>
                      <a:srgbClr val="DBE9E9"/>
                    </a:solidFill>
                  </a:tcPr>
                </a:tc>
                <a:tc>
                  <a:txBody>
                    <a:bodyPr/>
                    <a:lstStyle/>
                    <a:p>
                      <a:r>
                        <a:rPr sz="1000" b="0">
                          <a:solidFill>
                            <a:srgbClr val="39C484"/>
                          </a:solidFill>
                        </a:rPr>
                        <a:t>System</a:t>
                      </a:r>
                    </a:p>
                  </a:txBody>
                  <a:tcPr>
                    <a:solidFill>
                      <a:srgbClr val="DBE9E9"/>
                    </a:solidFill>
                  </a:tcPr>
                </a:tc>
                <a:extLst>
                  <a:ext uri="{0D108BD9-81ED-4DB2-BD59-A6C34878D82A}">
                    <a16:rowId xmlns:a16="http://schemas.microsoft.com/office/drawing/2014/main" val="10004"/>
                  </a:ext>
                </a:extLst>
              </a:tr>
              <a:tr h="274556">
                <a:tc>
                  <a:txBody>
                    <a:bodyPr/>
                    <a:lstStyle/>
                    <a:p>
                      <a:r>
                        <a:rPr sz="1000" b="0">
                          <a:solidFill>
                            <a:srgbClr val="39C484"/>
                          </a:solidFill>
                        </a:rPr>
                        <a:t>Switch Asset</a:t>
                      </a:r>
                    </a:p>
                  </a:txBody>
                  <a:tcPr>
                    <a:solidFill>
                      <a:srgbClr val="C4DADB"/>
                    </a:solidFill>
                  </a:tcPr>
                </a:tc>
                <a:tc>
                  <a:txBody>
                    <a:bodyPr/>
                    <a:lstStyle/>
                    <a:p>
                      <a:r>
                        <a:rPr sz="1000" b="0">
                          <a:solidFill>
                            <a:srgbClr val="39C484"/>
                          </a:solidFill>
                        </a:rPr>
                        <a:t>Measure Keyline</a:t>
                      </a:r>
                    </a:p>
                  </a:txBody>
                  <a:tcPr>
                    <a:solidFill>
                      <a:srgbClr val="C4DADB"/>
                    </a:solidFill>
                  </a:tcPr>
                </a:tc>
                <a:tc>
                  <a:txBody>
                    <a:bodyPr/>
                    <a:lstStyle/>
                    <a:p>
                      <a:r>
                        <a:rPr sz="1000" b="0">
                          <a:solidFill>
                            <a:srgbClr val="39C484"/>
                          </a:solidFill>
                        </a:rPr>
                        <a:t>Loop Pattern</a:t>
                      </a:r>
                    </a:p>
                  </a:txBody>
                  <a:tcPr>
                    <a:solidFill>
                      <a:srgbClr val="C4DADB"/>
                    </a:solidFill>
                  </a:tcPr>
                </a:tc>
                <a:tc>
                  <a:txBody>
                    <a:bodyPr/>
                    <a:lstStyle/>
                    <a:p>
                      <a:r>
                        <a:rPr sz="1000" b="0">
                          <a:solidFill>
                            <a:srgbClr val="39C484"/>
                          </a:solidFill>
                        </a:rPr>
                        <a:t>Detail Clarity</a:t>
                      </a:r>
                    </a:p>
                  </a:txBody>
                  <a:tcPr>
                    <a:solidFill>
                      <a:srgbClr val="C4DADB"/>
                    </a:solidFill>
                  </a:tcPr>
                </a:tc>
                <a:tc>
                  <a:txBody>
                    <a:bodyPr/>
                    <a:lstStyle/>
                    <a:p>
                      <a:r>
                        <a:rPr sz="1000" b="0">
                          <a:solidFill>
                            <a:srgbClr val="39C484"/>
                          </a:solidFill>
                        </a:rPr>
                        <a:t>Frame</a:t>
                      </a:r>
                    </a:p>
                  </a:txBody>
                  <a:tcPr>
                    <a:solidFill>
                      <a:srgbClr val="C4DADB"/>
                    </a:solidFill>
                  </a:tcPr>
                </a:tc>
                <a:tc>
                  <a:txBody>
                    <a:bodyPr/>
                    <a:lstStyle/>
                    <a:p>
                      <a:r>
                        <a:rPr sz="1000" b="0">
                          <a:solidFill>
                            <a:srgbClr val="39C484"/>
                          </a:solidFill>
                        </a:rPr>
                        <a:t>Apex Entity</a:t>
                      </a:r>
                    </a:p>
                  </a:txBody>
                  <a:tcPr>
                    <a:solidFill>
                      <a:srgbClr val="C4DADB"/>
                    </a:solidFill>
                  </a:tcPr>
                </a:tc>
                <a:extLst>
                  <a:ext uri="{0D108BD9-81ED-4DB2-BD59-A6C34878D82A}">
                    <a16:rowId xmlns:a16="http://schemas.microsoft.com/office/drawing/2014/main" val="10005"/>
                  </a:ext>
                </a:extLst>
              </a:tr>
            </a:tbl>
          </a:graphicData>
        </a:graphic>
      </p:graphicFrame>
      <p:sp>
        <p:nvSpPr>
          <p:cNvPr id="10" name="Circular Arrow 9"/>
          <p:cNvSpPr/>
          <p:nvPr/>
        </p:nvSpPr>
        <p:spPr>
          <a:xfrm>
            <a:off x="7527970" y="3140580"/>
            <a:ext cx="1633618" cy="837637"/>
          </a:xfrm>
          <a:prstGeom prst="circularArrow">
            <a:avLst/>
          </a:prstGeom>
          <a:noFill/>
          <a:ln w="15829">
            <a:solidFill>
              <a:srgbClr val="538BB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cument 10"/>
          <p:cNvSpPr/>
          <p:nvPr/>
        </p:nvSpPr>
        <p:spPr>
          <a:xfrm>
            <a:off x="11187667" y="3426576"/>
            <a:ext cx="353831" cy="1969747"/>
          </a:xfrm>
          <a:prstGeom prst="flowChartDocument">
            <a:avLst/>
          </a:prstGeom>
          <a:solidFill>
            <a:srgbClr val="433471"/>
          </a:solidFill>
          <a:ln w="15111">
            <a:solidFill>
              <a:srgbClr val="C9CD5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34209" y="3492730"/>
            <a:ext cx="907776" cy="2013827"/>
          </a:xfrm>
          <a:prstGeom prst="rect">
            <a:avLst/>
          </a:prstGeom>
          <a:noFill/>
        </p:spPr>
        <p:txBody>
          <a:bodyPr wrap="none" lIns="41366" tIns="41366" rIns="41366" bIns="41366">
            <a:spAutoFit/>
          </a:bodyPr>
          <a:lstStyle/>
          <a:p>
            <a:r>
              <a:rPr sz="2500" b="0" i="0" u="sng">
                <a:solidFill>
                  <a:srgbClr val="5D7FA6"/>
                </a:solidFill>
                <a:latin typeface="Verdana"/>
              </a:rPr>
              <a:t>Output Dimension Map Feature Envelope Frame Window Region Dispatch Window Report</a:t>
            </a:r>
          </a:p>
        </p:txBody>
      </p:sp>
      <p:cxnSp>
        <p:nvCxnSpPr>
          <p:cNvPr id="13" name="Connector 12"/>
          <p:cNvCxnSpPr/>
          <p:nvPr/>
        </p:nvCxnSpPr>
        <p:spPr>
          <a:xfrm flipV="1">
            <a:off x="1558594" y="5416234"/>
            <a:ext cx="890819" cy="846493"/>
          </a:xfrm>
          <a:prstGeom prst="curvedConnector3">
            <a:avLst/>
          </a:prstGeom>
          <a:ln w="20401">
            <a:solidFill>
              <a:srgbClr val="B6B62C"/>
            </a:solidFill>
            <a:prstDash val="dashDot"/>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49466" y="2872243"/>
            <a:ext cx="1050567" cy="1465849"/>
          </a:xfrm>
          <a:prstGeom prst="rect">
            <a:avLst/>
          </a:prstGeom>
          <a:noFill/>
        </p:spPr>
        <p:txBody>
          <a:bodyPr wrap="none" lIns="76659" tIns="76659" rIns="76659" bIns="76659">
            <a:spAutoFit/>
          </a:bodyPr>
          <a:lstStyle/>
          <a:p>
            <a:r>
              <a:rPr sz="4600" b="1" i="0" u="none">
                <a:solidFill>
                  <a:srgbClr val="DF4E3A"/>
                </a:solidFill>
                <a:latin typeface="Georgia"/>
              </a:rPr>
              <a:t>Mode Interface Mode Lens</a:t>
            </a:r>
          </a:p>
        </p:txBody>
      </p:sp>
      <p:pic>
        <p:nvPicPr>
          <p:cNvPr id="15" name="Picture 14" descr="_example_image.jpg"/>
          <p:cNvPicPr>
            <a:picLocks noChangeAspect="1"/>
          </p:cNvPicPr>
          <p:nvPr/>
        </p:nvPicPr>
        <p:blipFill>
          <a:blip r:embed="rId2"/>
          <a:srcRect l="11858" t="1938" r="3508" b="204"/>
          <a:stretch>
            <a:fillRect/>
          </a:stretch>
        </p:blipFill>
        <p:spPr>
          <a:xfrm>
            <a:off x="2110791" y="4581028"/>
            <a:ext cx="1070784" cy="1223116"/>
          </a:xfrm>
          <a:prstGeom prst="rect">
            <a:avLst/>
          </a:prstGeom>
        </p:spPr>
      </p:pic>
      <p:cxnSp>
        <p:nvCxnSpPr>
          <p:cNvPr id="16" name="Connector 15"/>
          <p:cNvCxnSpPr/>
          <p:nvPr/>
        </p:nvCxnSpPr>
        <p:spPr>
          <a:xfrm flipV="1">
            <a:off x="1594311" y="296469"/>
            <a:ext cx="2668932" cy="425276"/>
          </a:xfrm>
          <a:prstGeom prst="bentConnector3">
            <a:avLst/>
          </a:prstGeom>
          <a:ln w="48739">
            <a:solidFill>
              <a:srgbClr val="9C2429"/>
            </a:solidFill>
            <a:prstDash val="dashDot"/>
          </a:ln>
        </p:spPr>
        <p:style>
          <a:lnRef idx="2">
            <a:schemeClr val="accent1"/>
          </a:lnRef>
          <a:fillRef idx="0">
            <a:schemeClr val="accent1"/>
          </a:fillRef>
          <a:effectRef idx="1">
            <a:schemeClr val="accent1"/>
          </a:effectRef>
          <a:fontRef idx="minor">
            <a:schemeClr val="tx1"/>
          </a:fontRef>
        </p:style>
      </p:cxnSp>
      <p:sp>
        <p:nvSpPr>
          <p:cNvPr id="17" name="U-Turn Arrow 16"/>
          <p:cNvSpPr/>
          <p:nvPr/>
        </p:nvSpPr>
        <p:spPr>
          <a:xfrm>
            <a:off x="8177744" y="5413434"/>
            <a:ext cx="640491" cy="334086"/>
          </a:xfrm>
          <a:prstGeom prst="uturnArrow">
            <a:avLst/>
          </a:prstGeom>
          <a:solidFill>
            <a:srgbClr val="B05949"/>
          </a:solidFill>
          <a:ln w="23719">
            <a:solidFill>
              <a:srgbClr val="A29ED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8" name="Chart 17"/>
          <p:cNvGraphicFramePr>
            <a:graphicFrameLocks noGrp="1"/>
          </p:cNvGraphicFramePr>
          <p:nvPr/>
        </p:nvGraphicFramePr>
        <p:xfrm>
          <a:off x="7511419" y="2707371"/>
          <a:ext cx="2843884" cy="1474167"/>
        </p:xfrm>
        <a:graphic>
          <a:graphicData uri="http://schemas.openxmlformats.org/drawingml/2006/chart">
            <c:chart xmlns:c="http://schemas.openxmlformats.org/drawingml/2006/chart" xmlns:r="http://schemas.openxmlformats.org/officeDocument/2006/relationships" r:id="rId3"/>
          </a:graphicData>
        </a:graphic>
      </p:graphicFrame>
      <p:pic>
        <p:nvPicPr>
          <p:cNvPr id="19" name="Picture 18" descr="_example_image.jpg"/>
          <p:cNvPicPr>
            <a:picLocks noChangeAspect="1"/>
          </p:cNvPicPr>
          <p:nvPr/>
        </p:nvPicPr>
        <p:blipFill>
          <a:blip r:embed="rId2"/>
          <a:srcRect l="9974" t="14962" r="20229" b="9248"/>
          <a:stretch>
            <a:fillRect/>
          </a:stretch>
        </p:blipFill>
        <p:spPr>
          <a:xfrm>
            <a:off x="830419" y="1958450"/>
            <a:ext cx="2899002" cy="1071839"/>
          </a:xfrm>
          <a:prstGeom prst="rect">
            <a:avLst/>
          </a:prstGeom>
        </p:spPr>
      </p:pic>
      <p:pic>
        <p:nvPicPr>
          <p:cNvPr id="20" name="Picture 19" descr="_example_image.jpg"/>
          <p:cNvPicPr>
            <a:picLocks noChangeAspect="1"/>
          </p:cNvPicPr>
          <p:nvPr/>
        </p:nvPicPr>
        <p:blipFill>
          <a:blip r:embed="rId2"/>
          <a:srcRect l="13271" t="12303" r="9197" b="16452"/>
          <a:stretch>
            <a:fillRect/>
          </a:stretch>
        </p:blipFill>
        <p:spPr>
          <a:xfrm>
            <a:off x="6346218" y="4541993"/>
            <a:ext cx="1222341" cy="1696589"/>
          </a:xfrm>
          <a:prstGeom prst="rect">
            <a:avLst/>
          </a:prstGeom>
        </p:spPr>
      </p:pic>
      <p:cxnSp>
        <p:nvCxnSpPr>
          <p:cNvPr id="21" name="Connector 20"/>
          <p:cNvCxnSpPr/>
          <p:nvPr/>
        </p:nvCxnSpPr>
        <p:spPr>
          <a:xfrm>
            <a:off x="4910231" y="3375108"/>
            <a:ext cx="733449" cy="476686"/>
          </a:xfrm>
          <a:prstGeom prst="curvedConnector3">
            <a:avLst/>
          </a:prstGeom>
          <a:ln w="12193">
            <a:solidFill>
              <a:srgbClr val="C0C592"/>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8706790" y="3947407"/>
          <a:ext cx="2032813" cy="1788800"/>
        </p:xfrm>
        <a:graphic>
          <a:graphicData uri="http://schemas.openxmlformats.org/drawingml/2006/chart">
            <c:chart xmlns:c="http://schemas.openxmlformats.org/drawingml/2006/chart" xmlns:r="http://schemas.openxmlformats.org/officeDocument/2006/relationships" r:id="rId4"/>
          </a:graphicData>
        </a:graphic>
      </p:graphicFrame>
      <p:sp>
        <p:nvSpPr>
          <p:cNvPr id="23" name="TextBox 22"/>
          <p:cNvSpPr txBox="1"/>
          <p:nvPr/>
        </p:nvSpPr>
        <p:spPr>
          <a:xfrm>
            <a:off x="4578145" y="4050910"/>
            <a:ext cx="1240144" cy="975417"/>
          </a:xfrm>
          <a:prstGeom prst="rect">
            <a:avLst/>
          </a:prstGeom>
          <a:noFill/>
        </p:spPr>
        <p:txBody>
          <a:bodyPr wrap="none" lIns="71130" tIns="71130" rIns="71130" bIns="71130">
            <a:spAutoFit/>
          </a:bodyPr>
          <a:lstStyle/>
          <a:p>
            <a:r>
              <a:rPr sz="2400" b="0" i="0" u="none">
                <a:solidFill>
                  <a:srgbClr val="C0E152"/>
                </a:solidFill>
                <a:latin typeface="Aptos"/>
              </a:rPr>
              <a:t>Dispatch Engine North Metric Agenda Function Draft Register Gateway Process Ratio Index Metric</a:t>
            </a:r>
          </a:p>
        </p:txBody>
      </p:sp>
      <p:graphicFrame>
        <p:nvGraphicFramePr>
          <p:cNvPr id="24" name="Table 23"/>
          <p:cNvGraphicFramePr>
            <a:graphicFrameLocks noGrp="1"/>
          </p:cNvGraphicFramePr>
          <p:nvPr/>
        </p:nvGraphicFramePr>
        <p:xfrm>
          <a:off x="7946425" y="4541659"/>
          <a:ext cx="2574231" cy="1660985"/>
        </p:xfrm>
        <a:graphic>
          <a:graphicData uri="http://schemas.openxmlformats.org/drawingml/2006/table">
            <a:tbl>
              <a:tblPr firstRow="1" bandRow="1">
                <a:tableStyleId>{5C22544A-7EE6-4342-B048-85BDC9FD1C3A}</a:tableStyleId>
              </a:tblPr>
              <a:tblGrid>
                <a:gridCol w="858077">
                  <a:extLst>
                    <a:ext uri="{9D8B030D-6E8A-4147-A177-3AD203B41FA5}">
                      <a16:colId xmlns:a16="http://schemas.microsoft.com/office/drawing/2014/main" val="20000"/>
                    </a:ext>
                  </a:extLst>
                </a:gridCol>
                <a:gridCol w="858077">
                  <a:extLst>
                    <a:ext uri="{9D8B030D-6E8A-4147-A177-3AD203B41FA5}">
                      <a16:colId xmlns:a16="http://schemas.microsoft.com/office/drawing/2014/main" val="20001"/>
                    </a:ext>
                  </a:extLst>
                </a:gridCol>
                <a:gridCol w="858077">
                  <a:extLst>
                    <a:ext uri="{9D8B030D-6E8A-4147-A177-3AD203B41FA5}">
                      <a16:colId xmlns:a16="http://schemas.microsoft.com/office/drawing/2014/main" val="20002"/>
                    </a:ext>
                  </a:extLst>
                </a:gridCol>
              </a:tblGrid>
              <a:tr h="237283">
                <a:tc>
                  <a:txBody>
                    <a:bodyPr/>
                    <a:lstStyle/>
                    <a:p>
                      <a:r>
                        <a:rPr sz="1200" b="1">
                          <a:solidFill>
                            <a:srgbClr val="1EDCB3"/>
                          </a:solidFill>
                        </a:rPr>
                        <a:t>Function</a:t>
                      </a:r>
                    </a:p>
                  </a:txBody>
                  <a:tcPr>
                    <a:solidFill>
                      <a:srgbClr val="61B460"/>
                    </a:solidFill>
                  </a:tcPr>
                </a:tc>
                <a:tc>
                  <a:txBody>
                    <a:bodyPr/>
                    <a:lstStyle/>
                    <a:p>
                      <a:r>
                        <a:rPr sz="1200" b="1">
                          <a:solidFill>
                            <a:srgbClr val="1EDCB3"/>
                          </a:solidFill>
                        </a:rPr>
                        <a:t>Anchor</a:t>
                      </a:r>
                    </a:p>
                  </a:txBody>
                  <a:tcPr>
                    <a:solidFill>
                      <a:srgbClr val="61B460"/>
                    </a:solidFill>
                  </a:tcPr>
                </a:tc>
                <a:tc>
                  <a:txBody>
                    <a:bodyPr/>
                    <a:lstStyle/>
                    <a:p>
                      <a:r>
                        <a:rPr sz="1200" b="1">
                          <a:solidFill>
                            <a:srgbClr val="1EDCB3"/>
                          </a:solidFill>
                        </a:rPr>
                        <a:t>Structure</a:t>
                      </a:r>
                    </a:p>
                  </a:txBody>
                  <a:tcPr>
                    <a:solidFill>
                      <a:srgbClr val="61B460"/>
                    </a:solidFill>
                  </a:tcPr>
                </a:tc>
                <a:extLst>
                  <a:ext uri="{0D108BD9-81ED-4DB2-BD59-A6C34878D82A}">
                    <a16:rowId xmlns:a16="http://schemas.microsoft.com/office/drawing/2014/main" val="10000"/>
                  </a:ext>
                </a:extLst>
              </a:tr>
              <a:tr h="237283">
                <a:tc>
                  <a:txBody>
                    <a:bodyPr/>
                    <a:lstStyle/>
                    <a:p>
                      <a:r>
                        <a:rPr sz="1200" b="0">
                          <a:solidFill>
                            <a:srgbClr val="1EDCB3"/>
                          </a:solidFill>
                        </a:rPr>
                        <a:t>Intent Transform</a:t>
                      </a:r>
                    </a:p>
                  </a:txBody>
                  <a:tcPr>
                    <a:solidFill>
                      <a:srgbClr val="D1CEA8"/>
                    </a:solidFill>
                  </a:tcPr>
                </a:tc>
                <a:tc>
                  <a:txBody>
                    <a:bodyPr/>
                    <a:lstStyle/>
                    <a:p>
                      <a:r>
                        <a:rPr sz="1200" b="0">
                          <a:solidFill>
                            <a:srgbClr val="1EDCB3"/>
                          </a:solidFill>
                        </a:rPr>
                        <a:t>Gradient Needle</a:t>
                      </a:r>
                    </a:p>
                  </a:txBody>
                  <a:tcPr>
                    <a:solidFill>
                      <a:srgbClr val="D1CEA8"/>
                    </a:solidFill>
                  </a:tcPr>
                </a:tc>
                <a:tc>
                  <a:txBody>
                    <a:bodyPr/>
                    <a:lstStyle/>
                    <a:p>
                      <a:r>
                        <a:rPr sz="1200" b="0">
                          <a:solidFill>
                            <a:srgbClr val="1EDCB3"/>
                          </a:solidFill>
                        </a:rPr>
                        <a:t>Slice</a:t>
                      </a:r>
                    </a:p>
                  </a:txBody>
                  <a:tcPr>
                    <a:solidFill>
                      <a:srgbClr val="D1CEA8"/>
                    </a:solidFill>
                  </a:tcPr>
                </a:tc>
                <a:extLst>
                  <a:ext uri="{0D108BD9-81ED-4DB2-BD59-A6C34878D82A}">
                    <a16:rowId xmlns:a16="http://schemas.microsoft.com/office/drawing/2014/main" val="10001"/>
                  </a:ext>
                </a:extLst>
              </a:tr>
              <a:tr h="237283">
                <a:tc>
                  <a:txBody>
                    <a:bodyPr/>
                    <a:lstStyle/>
                    <a:p>
                      <a:r>
                        <a:rPr sz="1200" b="0">
                          <a:solidFill>
                            <a:srgbClr val="1EDCB3"/>
                          </a:solidFill>
                        </a:rPr>
                        <a:t>Trend</a:t>
                      </a:r>
                    </a:p>
                  </a:txBody>
                  <a:tcPr>
                    <a:solidFill>
                      <a:srgbClr val="F7F6F0"/>
                    </a:solidFill>
                  </a:tcPr>
                </a:tc>
                <a:tc>
                  <a:txBody>
                    <a:bodyPr/>
                    <a:lstStyle/>
                    <a:p>
                      <a:r>
                        <a:rPr sz="1200" b="0">
                          <a:solidFill>
                            <a:srgbClr val="1EDCB3"/>
                          </a:solidFill>
                        </a:rPr>
                        <a:t>Transit Array</a:t>
                      </a:r>
                    </a:p>
                  </a:txBody>
                  <a:tcPr>
                    <a:solidFill>
                      <a:srgbClr val="F7F6F0"/>
                    </a:solidFill>
                  </a:tcPr>
                </a:tc>
                <a:tc>
                  <a:txBody>
                    <a:bodyPr/>
                    <a:lstStyle/>
                    <a:p>
                      <a:r>
                        <a:rPr sz="1200" b="0">
                          <a:solidFill>
                            <a:srgbClr val="1EDCB3"/>
                          </a:solidFill>
                        </a:rPr>
                        <a:t>Summary Template</a:t>
                      </a:r>
                    </a:p>
                  </a:txBody>
                  <a:tcPr>
                    <a:solidFill>
                      <a:srgbClr val="F7F6F0"/>
                    </a:solidFill>
                  </a:tcPr>
                </a:tc>
                <a:extLst>
                  <a:ext uri="{0D108BD9-81ED-4DB2-BD59-A6C34878D82A}">
                    <a16:rowId xmlns:a16="http://schemas.microsoft.com/office/drawing/2014/main" val="10002"/>
                  </a:ext>
                </a:extLst>
              </a:tr>
              <a:tr h="237283">
                <a:tc>
                  <a:txBody>
                    <a:bodyPr/>
                    <a:lstStyle/>
                    <a:p>
                      <a:r>
                        <a:rPr sz="1200" b="0">
                          <a:solidFill>
                            <a:srgbClr val="1EDCB3"/>
                          </a:solidFill>
                        </a:rPr>
                        <a:t>Velocity Profile</a:t>
                      </a:r>
                    </a:p>
                  </a:txBody>
                  <a:tcPr>
                    <a:solidFill>
                      <a:srgbClr val="D1CEA8"/>
                    </a:solidFill>
                  </a:tcPr>
                </a:tc>
                <a:tc>
                  <a:txBody>
                    <a:bodyPr/>
                    <a:lstStyle/>
                    <a:p>
                      <a:r>
                        <a:rPr sz="1200" b="0">
                          <a:solidFill>
                            <a:srgbClr val="1EDCB3"/>
                          </a:solidFill>
                        </a:rPr>
                        <a:t>Reserve</a:t>
                      </a:r>
                    </a:p>
                  </a:txBody>
                  <a:tcPr>
                    <a:solidFill>
                      <a:srgbClr val="D1CEA8"/>
                    </a:solidFill>
                  </a:tcPr>
                </a:tc>
                <a:tc>
                  <a:txBody>
                    <a:bodyPr/>
                    <a:lstStyle/>
                    <a:p>
                      <a:r>
                        <a:rPr sz="1200" b="0">
                          <a:solidFill>
                            <a:srgbClr val="1EDCB3"/>
                          </a:solidFill>
                        </a:rPr>
                        <a:t>Data Relay</a:t>
                      </a:r>
                    </a:p>
                  </a:txBody>
                  <a:tcPr>
                    <a:solidFill>
                      <a:srgbClr val="D1CEA8"/>
                    </a:solidFill>
                  </a:tcPr>
                </a:tc>
                <a:extLst>
                  <a:ext uri="{0D108BD9-81ED-4DB2-BD59-A6C34878D82A}">
                    <a16:rowId xmlns:a16="http://schemas.microsoft.com/office/drawing/2014/main" val="10003"/>
                  </a:ext>
                </a:extLst>
              </a:tr>
              <a:tr h="237283">
                <a:tc>
                  <a:txBody>
                    <a:bodyPr/>
                    <a:lstStyle/>
                    <a:p>
                      <a:r>
                        <a:rPr sz="1200" b="0">
                          <a:solidFill>
                            <a:srgbClr val="1EDCB3"/>
                          </a:solidFill>
                        </a:rPr>
                        <a:t>Grid</a:t>
                      </a:r>
                    </a:p>
                  </a:txBody>
                  <a:tcPr>
                    <a:solidFill>
                      <a:srgbClr val="F7F6F0"/>
                    </a:solidFill>
                  </a:tcPr>
                </a:tc>
                <a:tc>
                  <a:txBody>
                    <a:bodyPr/>
                    <a:lstStyle/>
                    <a:p>
                      <a:r>
                        <a:rPr sz="1200" b="0">
                          <a:solidFill>
                            <a:srgbClr val="1EDCB3"/>
                          </a:solidFill>
                        </a:rPr>
                        <a:t>Dashboard Command</a:t>
                      </a:r>
                    </a:p>
                  </a:txBody>
                  <a:tcPr>
                    <a:solidFill>
                      <a:srgbClr val="F7F6F0"/>
                    </a:solidFill>
                  </a:tcPr>
                </a:tc>
                <a:tc>
                  <a:txBody>
                    <a:bodyPr/>
                    <a:lstStyle/>
                    <a:p>
                      <a:r>
                        <a:rPr sz="1200" b="0">
                          <a:solidFill>
                            <a:srgbClr val="1EDCB3"/>
                          </a:solidFill>
                        </a:rPr>
                        <a:t>Format Inventory</a:t>
                      </a:r>
                    </a:p>
                  </a:txBody>
                  <a:tcPr>
                    <a:solidFill>
                      <a:srgbClr val="F7F6F0"/>
                    </a:solidFill>
                  </a:tcPr>
                </a:tc>
                <a:extLst>
                  <a:ext uri="{0D108BD9-81ED-4DB2-BD59-A6C34878D82A}">
                    <a16:rowId xmlns:a16="http://schemas.microsoft.com/office/drawing/2014/main" val="10004"/>
                  </a:ext>
                </a:extLst>
              </a:tr>
              <a:tr h="237283">
                <a:tc>
                  <a:txBody>
                    <a:bodyPr/>
                    <a:lstStyle/>
                    <a:p>
                      <a:r>
                        <a:rPr sz="1200" b="0">
                          <a:solidFill>
                            <a:srgbClr val="1EDCB3"/>
                          </a:solidFill>
                        </a:rPr>
                        <a:t>Transit Atlas</a:t>
                      </a:r>
                    </a:p>
                  </a:txBody>
                  <a:tcPr>
                    <a:solidFill>
                      <a:srgbClr val="D1CEA8"/>
                    </a:solidFill>
                  </a:tcPr>
                </a:tc>
                <a:tc>
                  <a:txBody>
                    <a:bodyPr/>
                    <a:lstStyle/>
                    <a:p>
                      <a:r>
                        <a:rPr sz="1200" b="0">
                          <a:solidFill>
                            <a:srgbClr val="1EDCB3"/>
                          </a:solidFill>
                        </a:rPr>
                        <a:t>Datum Measure</a:t>
                      </a:r>
                    </a:p>
                  </a:txBody>
                  <a:tcPr>
                    <a:solidFill>
                      <a:srgbClr val="D1CEA8"/>
                    </a:solidFill>
                  </a:tcPr>
                </a:tc>
                <a:tc>
                  <a:txBody>
                    <a:bodyPr/>
                    <a:lstStyle/>
                    <a:p>
                      <a:r>
                        <a:rPr sz="1200" b="0">
                          <a:solidFill>
                            <a:srgbClr val="1EDCB3"/>
                          </a:solidFill>
                        </a:rPr>
                        <a:t>Keyline Thread</a:t>
                      </a:r>
                    </a:p>
                  </a:txBody>
                  <a:tcPr>
                    <a:solidFill>
                      <a:srgbClr val="D1CEA8"/>
                    </a:solidFill>
                  </a:tcPr>
                </a:tc>
                <a:extLst>
                  <a:ext uri="{0D108BD9-81ED-4DB2-BD59-A6C34878D82A}">
                    <a16:rowId xmlns:a16="http://schemas.microsoft.com/office/drawing/2014/main" val="10005"/>
                  </a:ext>
                </a:extLst>
              </a:tr>
              <a:tr h="237287">
                <a:tc>
                  <a:txBody>
                    <a:bodyPr/>
                    <a:lstStyle/>
                    <a:p>
                      <a:r>
                        <a:rPr sz="1200" b="0">
                          <a:solidFill>
                            <a:srgbClr val="1EDCB3"/>
                          </a:solidFill>
                        </a:rPr>
                        <a:t>Edge Indicator</a:t>
                      </a:r>
                    </a:p>
                  </a:txBody>
                  <a:tcPr>
                    <a:solidFill>
                      <a:srgbClr val="F7F6F0"/>
                    </a:solidFill>
                  </a:tcPr>
                </a:tc>
                <a:tc>
                  <a:txBody>
                    <a:bodyPr/>
                    <a:lstStyle/>
                    <a:p>
                      <a:r>
                        <a:rPr sz="1200" b="0">
                          <a:solidFill>
                            <a:srgbClr val="1EDCB3"/>
                          </a:solidFill>
                        </a:rPr>
                        <a:t>Library Link</a:t>
                      </a:r>
                    </a:p>
                  </a:txBody>
                  <a:tcPr>
                    <a:solidFill>
                      <a:srgbClr val="F7F6F0"/>
                    </a:solidFill>
                  </a:tcPr>
                </a:tc>
                <a:tc>
                  <a:txBody>
                    <a:bodyPr/>
                    <a:lstStyle/>
                    <a:p>
                      <a:r>
                        <a:rPr sz="1200" b="0">
                          <a:solidFill>
                            <a:srgbClr val="1EDCB3"/>
                          </a:solidFill>
                        </a:rPr>
                        <a:t>Case</a:t>
                      </a:r>
                    </a:p>
                  </a:txBody>
                  <a:tcPr>
                    <a:solidFill>
                      <a:srgbClr val="F7F6F0"/>
                    </a:solidFill>
                  </a:tcPr>
                </a:tc>
                <a:extLst>
                  <a:ext uri="{0D108BD9-81ED-4DB2-BD59-A6C34878D82A}">
                    <a16:rowId xmlns:a16="http://schemas.microsoft.com/office/drawing/2014/main" val="10006"/>
                  </a:ext>
                </a:extLst>
              </a:tr>
            </a:tbl>
          </a:graphicData>
        </a:graphic>
      </p:graphicFrame>
      <p:sp>
        <p:nvSpPr>
          <p:cNvPr id="25" name="TextBox 24"/>
          <p:cNvSpPr txBox="1"/>
          <p:nvPr/>
        </p:nvSpPr>
        <p:spPr>
          <a:xfrm>
            <a:off x="7488686" y="2054451"/>
            <a:ext cx="3166014" cy="803925"/>
          </a:xfrm>
          <a:prstGeom prst="rect">
            <a:avLst/>
          </a:prstGeom>
          <a:solidFill>
            <a:srgbClr val="E17E85"/>
          </a:solidFill>
        </p:spPr>
        <p:txBody>
          <a:bodyPr wrap="none" lIns="72861" tIns="72861" rIns="72861" bIns="72861">
            <a:spAutoFit/>
          </a:bodyPr>
          <a:lstStyle/>
          <a:p>
            <a:r>
              <a:rPr sz="1500" b="0" i="0" u="none">
                <a:solidFill>
                  <a:srgbClr val="2ECE4A"/>
                </a:solidFill>
                <a:latin typeface="Georgia"/>
              </a:rPr>
              <a:t>Interface Indicator Adaptive Network Order Discovery Node Wave Terminal Buffer Input Case Object Matrix Reserve Checkpoint Cycle Sample Track Stack Agenda Texture Stream Catalog Token Mode Panel</a:t>
            </a:r>
          </a:p>
        </p:txBody>
      </p:sp>
      <p:sp>
        <p:nvSpPr>
          <p:cNvPr id="26" name="Down Ribbon 25"/>
          <p:cNvSpPr/>
          <p:nvPr/>
        </p:nvSpPr>
        <p:spPr>
          <a:xfrm>
            <a:off x="2057437" y="3270417"/>
            <a:ext cx="942732" cy="759779"/>
          </a:xfrm>
          <a:prstGeom prst="ribbon">
            <a:avLst/>
          </a:prstGeom>
          <a:noFill/>
          <a:ln w="25056">
            <a:solidFill>
              <a:srgbClr val="86A21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9FF5750C-2689-C3E3-3DD4-10C1A594D65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27246" y="3051439"/>
            <a:ext cx="1480200" cy="1960145"/>
          </a:xfrm>
          <a:prstGeom prst="rect">
            <a:avLst/>
          </a:prstGeom>
        </p:spPr>
      </p:pic>
      <p:pic>
        <p:nvPicPr>
          <p:cNvPr id="30" name="Graphic 29">
            <a:extLst>
              <a:ext uri="{FF2B5EF4-FFF2-40B4-BE49-F238E27FC236}">
                <a16:creationId xmlns:a16="http://schemas.microsoft.com/office/drawing/2014/main" id="{84D8837E-DE20-BB21-3EF6-EB034F90AF40}"/>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85079" y="146626"/>
            <a:ext cx="1895282" cy="7554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9402411" y="1423362"/>
          <a:ext cx="2647508" cy="2102913"/>
        </p:xfrm>
        <a:graphic>
          <a:graphicData uri="http://schemas.openxmlformats.org/drawingml/2006/chart">
            <c:chart xmlns:c="http://schemas.openxmlformats.org/drawingml/2006/chart" xmlns:r="http://schemas.openxmlformats.org/officeDocument/2006/relationships" r:id="rId2"/>
          </a:graphicData>
        </a:graphic>
      </p:graphicFrame>
      <p:sp>
        <p:nvSpPr>
          <p:cNvPr id="3" name="Parallelogram 2"/>
          <p:cNvSpPr/>
          <p:nvPr/>
        </p:nvSpPr>
        <p:spPr>
          <a:xfrm>
            <a:off x="1465896" y="2773443"/>
            <a:ext cx="973721" cy="321800"/>
          </a:xfrm>
          <a:prstGeom prst="parallelogram">
            <a:avLst/>
          </a:prstGeom>
          <a:solidFill>
            <a:srgbClr val="8E255A"/>
          </a:solidFill>
          <a:ln w="24797">
            <a:solidFill>
              <a:srgbClr val="8166A6"/>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653637" y="2580173"/>
            <a:ext cx="3170150" cy="849285"/>
          </a:xfrm>
          <a:prstGeom prst="rect">
            <a:avLst/>
          </a:prstGeom>
          <a:noFill/>
        </p:spPr>
        <p:txBody>
          <a:bodyPr wrap="none" lIns="88885" tIns="88885" rIns="88885" bIns="88885">
            <a:spAutoFit/>
          </a:bodyPr>
          <a:lstStyle/>
          <a:p>
            <a:r>
              <a:rPr sz="2000" b="0" i="0" u="sng">
                <a:solidFill>
                  <a:srgbClr val="E64989"/>
                </a:solidFill>
                <a:latin typeface="Aptos"/>
              </a:rPr>
              <a:t>Source Access Segment Stream Center Velocity Queue Measure Range Phase Array</a:t>
            </a:r>
          </a:p>
        </p:txBody>
      </p:sp>
      <p:sp>
        <p:nvSpPr>
          <p:cNvPr id="5" name="TextBox 4"/>
          <p:cNvSpPr txBox="1"/>
          <p:nvPr/>
        </p:nvSpPr>
        <p:spPr>
          <a:xfrm>
            <a:off x="9321163" y="3527020"/>
            <a:ext cx="523761" cy="1334376"/>
          </a:xfrm>
          <a:prstGeom prst="rect">
            <a:avLst/>
          </a:prstGeom>
          <a:noFill/>
        </p:spPr>
        <p:txBody>
          <a:bodyPr wrap="none" lIns="29613" tIns="29613" rIns="29613" bIns="29613">
            <a:spAutoFit/>
          </a:bodyPr>
          <a:lstStyle/>
          <a:p>
            <a:r>
              <a:rPr sz="1000" b="0" i="0" u="none">
                <a:solidFill>
                  <a:srgbClr val="703640"/>
                </a:solidFill>
                <a:latin typeface="Arial"/>
              </a:rPr>
              <a:t>Device Duration Status Link Range Reference Report Benchmark Epoch Reference Proof Library Apex Report Output Response Result Position Status Alpha Field Lineage Grid Topology Action Thread Discovery Event Result Journey State Blueprint Datum</a:t>
            </a:r>
          </a:p>
        </p:txBody>
      </p:sp>
      <p:sp>
        <p:nvSpPr>
          <p:cNvPr id="6" name="Freeform 5"/>
          <p:cNvSpPr/>
          <p:nvPr/>
        </p:nvSpPr>
        <p:spPr>
          <a:xfrm>
            <a:off x="471952" y="830263"/>
            <a:ext cx="2686425" cy="518883"/>
          </a:xfrm>
          <a:custGeom>
            <a:avLst/>
            <a:gdLst/>
            <a:ahLst/>
            <a:cxnLst/>
            <a:rect l="l" t="t" r="r" b="b"/>
            <a:pathLst>
              <a:path w="2686425" h="518883">
                <a:moveTo>
                  <a:pt x="288863" y="88320"/>
                </a:moveTo>
                <a:lnTo>
                  <a:pt x="953247" y="0"/>
                </a:lnTo>
                <a:lnTo>
                  <a:pt x="1964268" y="44160"/>
                </a:lnTo>
                <a:lnTo>
                  <a:pt x="2686425" y="209761"/>
                </a:lnTo>
                <a:lnTo>
                  <a:pt x="2310903" y="430562"/>
                </a:lnTo>
                <a:lnTo>
                  <a:pt x="1242110" y="518883"/>
                </a:lnTo>
                <a:lnTo>
                  <a:pt x="173317" y="375362"/>
                </a:lnTo>
                <a:lnTo>
                  <a:pt x="0" y="187681"/>
                </a:lnTo>
                <a:close/>
              </a:path>
            </a:pathLst>
          </a:custGeom>
          <a:solidFill>
            <a:srgbClr val="CF2943"/>
          </a:solidFill>
          <a:ln w="18289">
            <a:solidFill>
              <a:srgbClr val="391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4225660" y="4221381"/>
            <a:ext cx="867190" cy="379477"/>
          </a:xfrm>
          <a:prstGeom prst="bentConnector3">
            <a:avLst/>
          </a:prstGeom>
          <a:ln w="35676">
            <a:solidFill>
              <a:srgbClr val="52713D"/>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161121" y="4867160"/>
            <a:ext cx="2986981" cy="979571"/>
          </a:xfrm>
          <a:prstGeom prst="rect">
            <a:avLst/>
          </a:prstGeom>
          <a:noFill/>
        </p:spPr>
        <p:txBody>
          <a:bodyPr wrap="none" lIns="32885" tIns="32885" rIns="32885" bIns="32885">
            <a:spAutoFit/>
          </a:bodyPr>
          <a:lstStyle/>
          <a:p>
            <a:r>
              <a:rPr sz="3000" b="0" i="1" u="none">
                <a:solidFill>
                  <a:srgbClr val="35CEAD"/>
                </a:solidFill>
                <a:latin typeface="Aptos"/>
              </a:rPr>
              <a:t>Bridge Response Analysis Metric Intent Event</a:t>
            </a:r>
          </a:p>
        </p:txBody>
      </p:sp>
      <p:pic>
        <p:nvPicPr>
          <p:cNvPr id="9" name="Picture 8" descr="_example_image.jpg"/>
          <p:cNvPicPr>
            <a:picLocks noChangeAspect="1"/>
          </p:cNvPicPr>
          <p:nvPr/>
        </p:nvPicPr>
        <p:blipFill>
          <a:blip r:embed="rId3"/>
          <a:srcRect l="17095" t="8213" r="5545" b="6850"/>
          <a:stretch>
            <a:fillRect/>
          </a:stretch>
        </p:blipFill>
        <p:spPr>
          <a:xfrm>
            <a:off x="6432402" y="2701481"/>
            <a:ext cx="1340116" cy="1447480"/>
          </a:xfrm>
          <a:prstGeom prst="rect">
            <a:avLst/>
          </a:prstGeom>
        </p:spPr>
      </p:pic>
      <p:sp>
        <p:nvSpPr>
          <p:cNvPr id="10" name="Predefined Process 9"/>
          <p:cNvSpPr/>
          <p:nvPr/>
        </p:nvSpPr>
        <p:spPr>
          <a:xfrm>
            <a:off x="3508241" y="481838"/>
            <a:ext cx="2168677" cy="865682"/>
          </a:xfrm>
          <a:prstGeom prst="flowChartPredefinedProcess">
            <a:avLst/>
          </a:prstGeom>
          <a:solidFill>
            <a:srgbClr val="2974D5"/>
          </a:solidFill>
          <a:ln w="28127">
            <a:solidFill>
              <a:srgbClr val="581AC2"/>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flipV="1">
            <a:off x="1682195" y="3395016"/>
            <a:ext cx="801677" cy="1028368"/>
          </a:xfrm>
          <a:prstGeom prst="line">
            <a:avLst/>
          </a:prstGeom>
          <a:ln w="44691">
            <a:solidFill>
              <a:srgbClr val="B0C64D"/>
            </a:solidFill>
            <a:prstDash val="soli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2348" y="1395641"/>
            <a:ext cx="2131834" cy="663144"/>
          </a:xfrm>
          <a:prstGeom prst="line">
            <a:avLst/>
          </a:prstGeom>
          <a:ln w="33380">
            <a:solidFill>
              <a:srgbClr val="B353C6"/>
            </a:solidFill>
            <a:prstDash val="dash"/>
          </a:ln>
        </p:spPr>
        <p:style>
          <a:lnRef idx="2">
            <a:schemeClr val="accent1"/>
          </a:lnRef>
          <a:fillRef idx="0">
            <a:schemeClr val="accent1"/>
          </a:fillRef>
          <a:effectRef idx="1">
            <a:schemeClr val="accent1"/>
          </a:effectRef>
          <a:fontRef idx="minor">
            <a:schemeClr val="tx1"/>
          </a:fontRef>
        </p:style>
      </p:cxnSp>
      <p:sp>
        <p:nvSpPr>
          <p:cNvPr id="13" name="Right Triangle 12"/>
          <p:cNvSpPr/>
          <p:nvPr/>
        </p:nvSpPr>
        <p:spPr>
          <a:xfrm>
            <a:off x="1470507" y="2105512"/>
            <a:ext cx="1990727" cy="243388"/>
          </a:xfrm>
          <a:prstGeom prst="rtTriangle">
            <a:avLst/>
          </a:prstGeom>
          <a:solidFill>
            <a:srgbClr val="E1AD21"/>
          </a:solidFill>
          <a:ln w="27614">
            <a:solidFill>
              <a:srgbClr val="8CCD5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loud Callout 13"/>
          <p:cNvSpPr/>
          <p:nvPr/>
        </p:nvSpPr>
        <p:spPr>
          <a:xfrm>
            <a:off x="727138" y="5609343"/>
            <a:ext cx="991448" cy="312526"/>
          </a:xfrm>
          <a:prstGeom prst="cloudCallout">
            <a:avLst/>
          </a:prstGeom>
          <a:solidFill>
            <a:srgbClr val="981FA8"/>
          </a:solidFill>
          <a:ln w="12559">
            <a:solidFill>
              <a:srgbClr val="31B9B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299522" y="3970026"/>
            <a:ext cx="536756" cy="1107161"/>
          </a:xfrm>
          <a:prstGeom prst="rect">
            <a:avLst/>
          </a:prstGeom>
          <a:noFill/>
        </p:spPr>
        <p:txBody>
          <a:bodyPr wrap="none" lIns="29083" tIns="29083" rIns="29083" bIns="29083">
            <a:spAutoFit/>
          </a:bodyPr>
          <a:lstStyle/>
          <a:p>
            <a:r>
              <a:rPr sz="1400" b="0" i="0" u="none">
                <a:solidFill>
                  <a:srgbClr val="65D9E6"/>
                </a:solidFill>
                <a:latin typeface="Verdana"/>
              </a:rPr>
              <a:t>Payload Inventory Benchmark</a:t>
            </a:r>
          </a:p>
        </p:txBody>
      </p:sp>
      <p:graphicFrame>
        <p:nvGraphicFramePr>
          <p:cNvPr id="16" name="Table 15"/>
          <p:cNvGraphicFramePr>
            <a:graphicFrameLocks noGrp="1"/>
          </p:cNvGraphicFramePr>
          <p:nvPr/>
        </p:nvGraphicFramePr>
        <p:xfrm>
          <a:off x="8057631" y="5007880"/>
          <a:ext cx="3830414" cy="1002010"/>
        </p:xfrm>
        <a:graphic>
          <a:graphicData uri="http://schemas.openxmlformats.org/drawingml/2006/table">
            <a:tbl>
              <a:tblPr firstRow="1" bandRow="1">
                <a:tableStyleId>{5C22544A-7EE6-4342-B048-85BDC9FD1C3A}</a:tableStyleId>
              </a:tblPr>
              <a:tblGrid>
                <a:gridCol w="638402">
                  <a:extLst>
                    <a:ext uri="{9D8B030D-6E8A-4147-A177-3AD203B41FA5}">
                      <a16:colId xmlns:a16="http://schemas.microsoft.com/office/drawing/2014/main" val="20000"/>
                    </a:ext>
                  </a:extLst>
                </a:gridCol>
                <a:gridCol w="638402">
                  <a:extLst>
                    <a:ext uri="{9D8B030D-6E8A-4147-A177-3AD203B41FA5}">
                      <a16:colId xmlns:a16="http://schemas.microsoft.com/office/drawing/2014/main" val="20001"/>
                    </a:ext>
                  </a:extLst>
                </a:gridCol>
                <a:gridCol w="638402">
                  <a:extLst>
                    <a:ext uri="{9D8B030D-6E8A-4147-A177-3AD203B41FA5}">
                      <a16:colId xmlns:a16="http://schemas.microsoft.com/office/drawing/2014/main" val="20002"/>
                    </a:ext>
                  </a:extLst>
                </a:gridCol>
                <a:gridCol w="638402">
                  <a:extLst>
                    <a:ext uri="{9D8B030D-6E8A-4147-A177-3AD203B41FA5}">
                      <a16:colId xmlns:a16="http://schemas.microsoft.com/office/drawing/2014/main" val="20003"/>
                    </a:ext>
                  </a:extLst>
                </a:gridCol>
                <a:gridCol w="638402">
                  <a:extLst>
                    <a:ext uri="{9D8B030D-6E8A-4147-A177-3AD203B41FA5}">
                      <a16:colId xmlns:a16="http://schemas.microsoft.com/office/drawing/2014/main" val="20004"/>
                    </a:ext>
                  </a:extLst>
                </a:gridCol>
                <a:gridCol w="638404">
                  <a:extLst>
                    <a:ext uri="{9D8B030D-6E8A-4147-A177-3AD203B41FA5}">
                      <a16:colId xmlns:a16="http://schemas.microsoft.com/office/drawing/2014/main" val="20005"/>
                    </a:ext>
                  </a:extLst>
                </a:gridCol>
              </a:tblGrid>
              <a:tr h="167001">
                <a:tc>
                  <a:txBody>
                    <a:bodyPr/>
                    <a:lstStyle/>
                    <a:p>
                      <a:r>
                        <a:rPr sz="800" b="0">
                          <a:solidFill>
                            <a:srgbClr val="306269"/>
                          </a:solidFill>
                        </a:rPr>
                        <a:t>Response</a:t>
                      </a:r>
                    </a:p>
                  </a:txBody>
                  <a:tcPr>
                    <a:solidFill>
                      <a:srgbClr val="F3F1F9"/>
                    </a:solidFill>
                  </a:tcPr>
                </a:tc>
                <a:tc>
                  <a:txBody>
                    <a:bodyPr/>
                    <a:lstStyle/>
                    <a:p>
                      <a:r>
                        <a:rPr sz="800" b="0">
                          <a:solidFill>
                            <a:srgbClr val="306269"/>
                          </a:solidFill>
                        </a:rPr>
                        <a:t>Resource Group</a:t>
                      </a:r>
                    </a:p>
                  </a:txBody>
                  <a:tcPr>
                    <a:solidFill>
                      <a:srgbClr val="EAE7F5"/>
                    </a:solidFill>
                  </a:tcPr>
                </a:tc>
                <a:tc>
                  <a:txBody>
                    <a:bodyPr/>
                    <a:lstStyle/>
                    <a:p>
                      <a:r>
                        <a:rPr sz="800" b="0">
                          <a:solidFill>
                            <a:srgbClr val="306269"/>
                          </a:solidFill>
                        </a:rPr>
                        <a:t>Datum</a:t>
                      </a:r>
                    </a:p>
                  </a:txBody>
                  <a:tcPr>
                    <a:solidFill>
                      <a:srgbClr val="F3F1F9"/>
                    </a:solidFill>
                  </a:tcPr>
                </a:tc>
                <a:tc>
                  <a:txBody>
                    <a:bodyPr/>
                    <a:lstStyle/>
                    <a:p>
                      <a:r>
                        <a:rPr sz="800" b="0">
                          <a:solidFill>
                            <a:srgbClr val="306269"/>
                          </a:solidFill>
                        </a:rPr>
                        <a:t>Rhythm</a:t>
                      </a:r>
                    </a:p>
                  </a:txBody>
                  <a:tcPr>
                    <a:solidFill>
                      <a:srgbClr val="EAE7F5"/>
                    </a:solidFill>
                  </a:tcPr>
                </a:tc>
                <a:tc>
                  <a:txBody>
                    <a:bodyPr/>
                    <a:lstStyle/>
                    <a:p>
                      <a:r>
                        <a:rPr sz="800" b="0">
                          <a:solidFill>
                            <a:srgbClr val="306269"/>
                          </a:solidFill>
                        </a:rPr>
                        <a:t>Packet Array</a:t>
                      </a:r>
                    </a:p>
                  </a:txBody>
                  <a:tcPr>
                    <a:solidFill>
                      <a:srgbClr val="F3F1F9"/>
                    </a:solidFill>
                  </a:tcPr>
                </a:tc>
                <a:tc>
                  <a:txBody>
                    <a:bodyPr/>
                    <a:lstStyle/>
                    <a:p>
                      <a:r>
                        <a:rPr sz="800" b="0">
                          <a:solidFill>
                            <a:srgbClr val="306269"/>
                          </a:solidFill>
                        </a:rPr>
                        <a:t>Craft</a:t>
                      </a:r>
                    </a:p>
                  </a:txBody>
                  <a:tcPr>
                    <a:solidFill>
                      <a:srgbClr val="EAE7F5"/>
                    </a:solidFill>
                  </a:tcPr>
                </a:tc>
                <a:extLst>
                  <a:ext uri="{0D108BD9-81ED-4DB2-BD59-A6C34878D82A}">
                    <a16:rowId xmlns:a16="http://schemas.microsoft.com/office/drawing/2014/main" val="10000"/>
                  </a:ext>
                </a:extLst>
              </a:tr>
              <a:tr h="167001">
                <a:tc>
                  <a:txBody>
                    <a:bodyPr/>
                    <a:lstStyle/>
                    <a:p>
                      <a:r>
                        <a:rPr sz="800" b="0">
                          <a:solidFill>
                            <a:srgbClr val="306269"/>
                          </a:solidFill>
                        </a:rPr>
                        <a:t>Duration Logic</a:t>
                      </a:r>
                    </a:p>
                  </a:txBody>
                  <a:tcPr>
                    <a:solidFill>
                      <a:srgbClr val="F3F1F9"/>
                    </a:solidFill>
                  </a:tcPr>
                </a:tc>
                <a:tc>
                  <a:txBody>
                    <a:bodyPr/>
                    <a:lstStyle/>
                    <a:p>
                      <a:r>
                        <a:rPr sz="800" b="0">
                          <a:solidFill>
                            <a:srgbClr val="306269"/>
                          </a:solidFill>
                        </a:rPr>
                        <a:t>Channel Harbor</a:t>
                      </a:r>
                    </a:p>
                  </a:txBody>
                  <a:tcPr>
                    <a:solidFill>
                      <a:srgbClr val="EAE7F5"/>
                    </a:solidFill>
                  </a:tcPr>
                </a:tc>
                <a:tc>
                  <a:txBody>
                    <a:bodyPr/>
                    <a:lstStyle/>
                    <a:p>
                      <a:r>
                        <a:rPr sz="800" b="0">
                          <a:solidFill>
                            <a:srgbClr val="306269"/>
                          </a:solidFill>
                        </a:rPr>
                        <a:t>Release</a:t>
                      </a:r>
                    </a:p>
                  </a:txBody>
                  <a:tcPr>
                    <a:solidFill>
                      <a:srgbClr val="F3F1F9"/>
                    </a:solidFill>
                  </a:tcPr>
                </a:tc>
                <a:tc>
                  <a:txBody>
                    <a:bodyPr/>
                    <a:lstStyle/>
                    <a:p>
                      <a:r>
                        <a:rPr sz="800" b="0">
                          <a:solidFill>
                            <a:srgbClr val="306269"/>
                          </a:solidFill>
                        </a:rPr>
                        <a:t>Vertex</a:t>
                      </a:r>
                    </a:p>
                  </a:txBody>
                  <a:tcPr>
                    <a:solidFill>
                      <a:srgbClr val="EAE7F5"/>
                    </a:solidFill>
                  </a:tcPr>
                </a:tc>
                <a:tc>
                  <a:txBody>
                    <a:bodyPr/>
                    <a:lstStyle/>
                    <a:p>
                      <a:r>
                        <a:rPr sz="800" b="0">
                          <a:solidFill>
                            <a:srgbClr val="306269"/>
                          </a:solidFill>
                        </a:rPr>
                        <a:t>Craft Measure</a:t>
                      </a:r>
                    </a:p>
                  </a:txBody>
                  <a:tcPr>
                    <a:solidFill>
                      <a:srgbClr val="F3F1F9"/>
                    </a:solidFill>
                  </a:tcPr>
                </a:tc>
                <a:tc>
                  <a:txBody>
                    <a:bodyPr/>
                    <a:lstStyle/>
                    <a:p>
                      <a:r>
                        <a:rPr sz="800" b="0">
                          <a:solidFill>
                            <a:srgbClr val="306269"/>
                          </a:solidFill>
                        </a:rPr>
                        <a:t>Core Audit</a:t>
                      </a:r>
                    </a:p>
                  </a:txBody>
                  <a:tcPr>
                    <a:solidFill>
                      <a:srgbClr val="EAE7F5"/>
                    </a:solidFill>
                  </a:tcPr>
                </a:tc>
                <a:extLst>
                  <a:ext uri="{0D108BD9-81ED-4DB2-BD59-A6C34878D82A}">
                    <a16:rowId xmlns:a16="http://schemas.microsoft.com/office/drawing/2014/main" val="10001"/>
                  </a:ext>
                </a:extLst>
              </a:tr>
              <a:tr h="167001">
                <a:tc>
                  <a:txBody>
                    <a:bodyPr/>
                    <a:lstStyle/>
                    <a:p>
                      <a:r>
                        <a:rPr sz="800" b="0">
                          <a:solidFill>
                            <a:srgbClr val="306269"/>
                          </a:solidFill>
                        </a:rPr>
                        <a:t>Terminal</a:t>
                      </a:r>
                    </a:p>
                  </a:txBody>
                  <a:tcPr>
                    <a:solidFill>
                      <a:srgbClr val="F3F1F9"/>
                    </a:solidFill>
                  </a:tcPr>
                </a:tc>
                <a:tc>
                  <a:txBody>
                    <a:bodyPr/>
                    <a:lstStyle/>
                    <a:p>
                      <a:r>
                        <a:rPr sz="800" b="0">
                          <a:solidFill>
                            <a:srgbClr val="306269"/>
                          </a:solidFill>
                        </a:rPr>
                        <a:t>Summary</a:t>
                      </a:r>
                    </a:p>
                  </a:txBody>
                  <a:tcPr>
                    <a:solidFill>
                      <a:srgbClr val="EAE7F5"/>
                    </a:solidFill>
                  </a:tcPr>
                </a:tc>
                <a:tc>
                  <a:txBody>
                    <a:bodyPr/>
                    <a:lstStyle/>
                    <a:p>
                      <a:r>
                        <a:rPr sz="800" b="0">
                          <a:solidFill>
                            <a:srgbClr val="306269"/>
                          </a:solidFill>
                        </a:rPr>
                        <a:t>Channel</a:t>
                      </a:r>
                    </a:p>
                  </a:txBody>
                  <a:tcPr>
                    <a:solidFill>
                      <a:srgbClr val="F3F1F9"/>
                    </a:solidFill>
                  </a:tcPr>
                </a:tc>
                <a:tc>
                  <a:txBody>
                    <a:bodyPr/>
                    <a:lstStyle/>
                    <a:p>
                      <a:r>
                        <a:rPr sz="800" b="0">
                          <a:solidFill>
                            <a:srgbClr val="306269"/>
                          </a:solidFill>
                        </a:rPr>
                        <a:t>Queue Ledger</a:t>
                      </a:r>
                    </a:p>
                  </a:txBody>
                  <a:tcPr>
                    <a:solidFill>
                      <a:srgbClr val="EAE7F5"/>
                    </a:solidFill>
                  </a:tcPr>
                </a:tc>
                <a:tc>
                  <a:txBody>
                    <a:bodyPr/>
                    <a:lstStyle/>
                    <a:p>
                      <a:r>
                        <a:rPr sz="800" b="0">
                          <a:solidFill>
                            <a:srgbClr val="306269"/>
                          </a:solidFill>
                        </a:rPr>
                        <a:t>Blueprint</a:t>
                      </a:r>
                    </a:p>
                  </a:txBody>
                  <a:tcPr>
                    <a:solidFill>
                      <a:srgbClr val="F3F1F9"/>
                    </a:solidFill>
                  </a:tcPr>
                </a:tc>
                <a:tc>
                  <a:txBody>
                    <a:bodyPr/>
                    <a:lstStyle/>
                    <a:p>
                      <a:r>
                        <a:rPr sz="800" b="0">
                          <a:solidFill>
                            <a:srgbClr val="306269"/>
                          </a:solidFill>
                        </a:rPr>
                        <a:t>Deployment Dispatch</a:t>
                      </a:r>
                    </a:p>
                  </a:txBody>
                  <a:tcPr>
                    <a:solidFill>
                      <a:srgbClr val="EAE7F5"/>
                    </a:solidFill>
                  </a:tcPr>
                </a:tc>
                <a:extLst>
                  <a:ext uri="{0D108BD9-81ED-4DB2-BD59-A6C34878D82A}">
                    <a16:rowId xmlns:a16="http://schemas.microsoft.com/office/drawing/2014/main" val="10002"/>
                  </a:ext>
                </a:extLst>
              </a:tr>
              <a:tr h="167001">
                <a:tc>
                  <a:txBody>
                    <a:bodyPr/>
                    <a:lstStyle/>
                    <a:p>
                      <a:r>
                        <a:rPr sz="800" b="0">
                          <a:solidFill>
                            <a:srgbClr val="306269"/>
                          </a:solidFill>
                        </a:rPr>
                        <a:t>Draft Channel</a:t>
                      </a:r>
                    </a:p>
                  </a:txBody>
                  <a:tcPr>
                    <a:solidFill>
                      <a:srgbClr val="F3F1F9"/>
                    </a:solidFill>
                  </a:tcPr>
                </a:tc>
                <a:tc>
                  <a:txBody>
                    <a:bodyPr/>
                    <a:lstStyle/>
                    <a:p>
                      <a:r>
                        <a:rPr sz="800" b="0">
                          <a:solidFill>
                            <a:srgbClr val="306269"/>
                          </a:solidFill>
                        </a:rPr>
                        <a:t>Design</a:t>
                      </a:r>
                    </a:p>
                  </a:txBody>
                  <a:tcPr>
                    <a:solidFill>
                      <a:srgbClr val="EAE7F5"/>
                    </a:solidFill>
                  </a:tcPr>
                </a:tc>
                <a:tc>
                  <a:txBody>
                    <a:bodyPr/>
                    <a:lstStyle/>
                    <a:p>
                      <a:r>
                        <a:rPr sz="800" b="0">
                          <a:solidFill>
                            <a:srgbClr val="306269"/>
                          </a:solidFill>
                        </a:rPr>
                        <a:t>Wave Network</a:t>
                      </a:r>
                    </a:p>
                  </a:txBody>
                  <a:tcPr>
                    <a:solidFill>
                      <a:srgbClr val="F3F1F9"/>
                    </a:solidFill>
                  </a:tcPr>
                </a:tc>
                <a:tc>
                  <a:txBody>
                    <a:bodyPr/>
                    <a:lstStyle/>
                    <a:p>
                      <a:r>
                        <a:rPr sz="800" b="0">
                          <a:solidFill>
                            <a:srgbClr val="306269"/>
                          </a:solidFill>
                        </a:rPr>
                        <a:t>Structure Pipeline</a:t>
                      </a:r>
                    </a:p>
                  </a:txBody>
                  <a:tcPr>
                    <a:solidFill>
                      <a:srgbClr val="EAE7F5"/>
                    </a:solidFill>
                  </a:tcPr>
                </a:tc>
                <a:tc>
                  <a:txBody>
                    <a:bodyPr/>
                    <a:lstStyle/>
                    <a:p>
                      <a:r>
                        <a:rPr sz="800" b="0">
                          <a:solidFill>
                            <a:srgbClr val="306269"/>
                          </a:solidFill>
                        </a:rPr>
                        <a:t>Reserve</a:t>
                      </a:r>
                    </a:p>
                  </a:txBody>
                  <a:tcPr>
                    <a:solidFill>
                      <a:srgbClr val="F3F1F9"/>
                    </a:solidFill>
                  </a:tcPr>
                </a:tc>
                <a:tc>
                  <a:txBody>
                    <a:bodyPr/>
                    <a:lstStyle/>
                    <a:p>
                      <a:r>
                        <a:rPr sz="800" b="0">
                          <a:solidFill>
                            <a:srgbClr val="306269"/>
                          </a:solidFill>
                        </a:rPr>
                        <a:t>Friction</a:t>
                      </a:r>
                    </a:p>
                  </a:txBody>
                  <a:tcPr>
                    <a:solidFill>
                      <a:srgbClr val="EAE7F5"/>
                    </a:solidFill>
                  </a:tcPr>
                </a:tc>
                <a:extLst>
                  <a:ext uri="{0D108BD9-81ED-4DB2-BD59-A6C34878D82A}">
                    <a16:rowId xmlns:a16="http://schemas.microsoft.com/office/drawing/2014/main" val="10003"/>
                  </a:ext>
                </a:extLst>
              </a:tr>
              <a:tr h="167001">
                <a:tc>
                  <a:txBody>
                    <a:bodyPr/>
                    <a:lstStyle/>
                    <a:p>
                      <a:r>
                        <a:rPr sz="800" b="0">
                          <a:solidFill>
                            <a:srgbClr val="306269"/>
                          </a:solidFill>
                        </a:rPr>
                        <a:t>Queueing</a:t>
                      </a:r>
                    </a:p>
                  </a:txBody>
                  <a:tcPr>
                    <a:solidFill>
                      <a:srgbClr val="F3F1F9"/>
                    </a:solidFill>
                  </a:tcPr>
                </a:tc>
                <a:tc>
                  <a:txBody>
                    <a:bodyPr/>
                    <a:lstStyle/>
                    <a:p>
                      <a:r>
                        <a:rPr sz="800" b="0">
                          <a:solidFill>
                            <a:srgbClr val="306269"/>
                          </a:solidFill>
                        </a:rPr>
                        <a:t>Field</a:t>
                      </a:r>
                    </a:p>
                  </a:txBody>
                  <a:tcPr>
                    <a:solidFill>
                      <a:srgbClr val="EAE7F5"/>
                    </a:solidFill>
                  </a:tcPr>
                </a:tc>
                <a:tc>
                  <a:txBody>
                    <a:bodyPr/>
                    <a:lstStyle/>
                    <a:p>
                      <a:r>
                        <a:rPr sz="800" b="0">
                          <a:solidFill>
                            <a:srgbClr val="306269"/>
                          </a:solidFill>
                        </a:rPr>
                        <a:t>Edge Vertex</a:t>
                      </a:r>
                    </a:p>
                  </a:txBody>
                  <a:tcPr>
                    <a:solidFill>
                      <a:srgbClr val="F3F1F9"/>
                    </a:solidFill>
                  </a:tcPr>
                </a:tc>
                <a:tc>
                  <a:txBody>
                    <a:bodyPr/>
                    <a:lstStyle/>
                    <a:p>
                      <a:r>
                        <a:rPr sz="800" b="0">
                          <a:solidFill>
                            <a:srgbClr val="306269"/>
                          </a:solidFill>
                        </a:rPr>
                        <a:t>Stream</a:t>
                      </a:r>
                    </a:p>
                  </a:txBody>
                  <a:tcPr>
                    <a:solidFill>
                      <a:srgbClr val="EAE7F5"/>
                    </a:solidFill>
                  </a:tcPr>
                </a:tc>
                <a:tc>
                  <a:txBody>
                    <a:bodyPr/>
                    <a:lstStyle/>
                    <a:p>
                      <a:r>
                        <a:rPr sz="800" b="0">
                          <a:solidFill>
                            <a:srgbClr val="306269"/>
                          </a:solidFill>
                        </a:rPr>
                        <a:t>Depth</a:t>
                      </a:r>
                    </a:p>
                  </a:txBody>
                  <a:tcPr>
                    <a:solidFill>
                      <a:srgbClr val="F3F1F9"/>
                    </a:solidFill>
                  </a:tcPr>
                </a:tc>
                <a:tc>
                  <a:txBody>
                    <a:bodyPr/>
                    <a:lstStyle/>
                    <a:p>
                      <a:r>
                        <a:rPr sz="800" b="0">
                          <a:solidFill>
                            <a:srgbClr val="306269"/>
                          </a:solidFill>
                        </a:rPr>
                        <a:t>Object</a:t>
                      </a:r>
                    </a:p>
                  </a:txBody>
                  <a:tcPr>
                    <a:solidFill>
                      <a:srgbClr val="EAE7F5"/>
                    </a:solidFill>
                  </a:tcPr>
                </a:tc>
                <a:extLst>
                  <a:ext uri="{0D108BD9-81ED-4DB2-BD59-A6C34878D82A}">
                    <a16:rowId xmlns:a16="http://schemas.microsoft.com/office/drawing/2014/main" val="10004"/>
                  </a:ext>
                </a:extLst>
              </a:tr>
              <a:tr h="167005">
                <a:tc>
                  <a:txBody>
                    <a:bodyPr/>
                    <a:lstStyle/>
                    <a:p>
                      <a:r>
                        <a:rPr sz="800" b="0">
                          <a:solidFill>
                            <a:srgbClr val="306269"/>
                          </a:solidFill>
                        </a:rPr>
                        <a:t>Proof</a:t>
                      </a:r>
                    </a:p>
                  </a:txBody>
                  <a:tcPr>
                    <a:solidFill>
                      <a:srgbClr val="F3F1F9"/>
                    </a:solidFill>
                  </a:tcPr>
                </a:tc>
                <a:tc>
                  <a:txBody>
                    <a:bodyPr/>
                    <a:lstStyle/>
                    <a:p>
                      <a:r>
                        <a:rPr sz="800" b="0">
                          <a:solidFill>
                            <a:srgbClr val="306269"/>
                          </a:solidFill>
                        </a:rPr>
                        <a:t>Apex Payload</a:t>
                      </a:r>
                    </a:p>
                  </a:txBody>
                  <a:tcPr>
                    <a:solidFill>
                      <a:srgbClr val="EAE7F5"/>
                    </a:solidFill>
                  </a:tcPr>
                </a:tc>
                <a:tc>
                  <a:txBody>
                    <a:bodyPr/>
                    <a:lstStyle/>
                    <a:p>
                      <a:r>
                        <a:rPr sz="800" b="0">
                          <a:solidFill>
                            <a:srgbClr val="306269"/>
                          </a:solidFill>
                        </a:rPr>
                        <a:t>Build</a:t>
                      </a:r>
                    </a:p>
                  </a:txBody>
                  <a:tcPr>
                    <a:solidFill>
                      <a:srgbClr val="F3F1F9"/>
                    </a:solidFill>
                  </a:tcPr>
                </a:tc>
                <a:tc>
                  <a:txBody>
                    <a:bodyPr/>
                    <a:lstStyle/>
                    <a:p>
                      <a:r>
                        <a:rPr sz="800" b="0">
                          <a:solidFill>
                            <a:srgbClr val="306269"/>
                          </a:solidFill>
                        </a:rPr>
                        <a:t>Echo</a:t>
                      </a:r>
                    </a:p>
                  </a:txBody>
                  <a:tcPr>
                    <a:solidFill>
                      <a:srgbClr val="EAE7F5"/>
                    </a:solidFill>
                  </a:tcPr>
                </a:tc>
                <a:tc>
                  <a:txBody>
                    <a:bodyPr/>
                    <a:lstStyle/>
                    <a:p>
                      <a:r>
                        <a:rPr sz="800" b="0">
                          <a:solidFill>
                            <a:srgbClr val="306269"/>
                          </a:solidFill>
                        </a:rPr>
                        <a:t>Aspect</a:t>
                      </a:r>
                    </a:p>
                  </a:txBody>
                  <a:tcPr>
                    <a:solidFill>
                      <a:srgbClr val="F3F1F9"/>
                    </a:solidFill>
                  </a:tcPr>
                </a:tc>
                <a:tc>
                  <a:txBody>
                    <a:bodyPr/>
                    <a:lstStyle/>
                    <a:p>
                      <a:r>
                        <a:rPr sz="800" b="0">
                          <a:solidFill>
                            <a:srgbClr val="306269"/>
                          </a:solidFill>
                        </a:rPr>
                        <a:t>Method Table</a:t>
                      </a:r>
                    </a:p>
                  </a:txBody>
                  <a:tcPr>
                    <a:solidFill>
                      <a:srgbClr val="EAE7F5"/>
                    </a:solidFill>
                  </a:tcPr>
                </a:tc>
                <a:extLst>
                  <a:ext uri="{0D108BD9-81ED-4DB2-BD59-A6C34878D82A}">
                    <a16:rowId xmlns:a16="http://schemas.microsoft.com/office/drawing/2014/main" val="10005"/>
                  </a:ext>
                </a:extLst>
              </a:tr>
            </a:tbl>
          </a:graphicData>
        </a:graphic>
      </p:graphicFrame>
      <p:sp>
        <p:nvSpPr>
          <p:cNvPr id="17" name="Right Arrow Callout 16"/>
          <p:cNvSpPr/>
          <p:nvPr/>
        </p:nvSpPr>
        <p:spPr>
          <a:xfrm>
            <a:off x="10403561" y="2298425"/>
            <a:ext cx="1088673" cy="1882651"/>
          </a:xfrm>
          <a:prstGeom prst="rightArrowCallout">
            <a:avLst/>
          </a:prstGeom>
          <a:solidFill>
            <a:srgbClr val="4FC297"/>
          </a:solidFill>
          <a:ln w="15422">
            <a:solidFill>
              <a:srgbClr val="6AB26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3"/>
          <a:srcRect l="2500" t="5499" r="10934" b="20561"/>
          <a:stretch>
            <a:fillRect/>
          </a:stretch>
        </p:blipFill>
        <p:spPr>
          <a:xfrm>
            <a:off x="1644507" y="4761951"/>
            <a:ext cx="2165474" cy="1602220"/>
          </a:xfrm>
          <a:prstGeom prst="rect">
            <a:avLst/>
          </a:prstGeom>
        </p:spPr>
      </p:pic>
      <p:sp>
        <p:nvSpPr>
          <p:cNvPr id="19" name="TextBox 18"/>
          <p:cNvSpPr txBox="1"/>
          <p:nvPr/>
        </p:nvSpPr>
        <p:spPr>
          <a:xfrm>
            <a:off x="577459" y="2788161"/>
            <a:ext cx="572242" cy="1194779"/>
          </a:xfrm>
          <a:prstGeom prst="rect">
            <a:avLst/>
          </a:prstGeom>
          <a:noFill/>
        </p:spPr>
        <p:txBody>
          <a:bodyPr wrap="none" lIns="61284" tIns="61284" rIns="61284" bIns="61284">
            <a:spAutoFit/>
          </a:bodyPr>
          <a:lstStyle/>
          <a:p>
            <a:r>
              <a:rPr sz="1200" b="1" i="0" u="none">
                <a:solidFill>
                  <a:srgbClr val="B89936"/>
                </a:solidFill>
                <a:latin typeface="Trebuchet MS"/>
              </a:rPr>
              <a:t>Concept Flow</a:t>
            </a:r>
          </a:p>
        </p:txBody>
      </p:sp>
      <p:sp>
        <p:nvSpPr>
          <p:cNvPr id="20" name="Freeform 19"/>
          <p:cNvSpPr/>
          <p:nvPr/>
        </p:nvSpPr>
        <p:spPr>
          <a:xfrm>
            <a:off x="290350" y="4634570"/>
            <a:ext cx="786879" cy="2037247"/>
          </a:xfrm>
          <a:custGeom>
            <a:avLst/>
            <a:gdLst/>
            <a:ahLst/>
            <a:cxnLst/>
            <a:rect l="l" t="t" r="r" b="b"/>
            <a:pathLst>
              <a:path w="786879" h="2037247">
                <a:moveTo>
                  <a:pt x="393439" y="0"/>
                </a:moveTo>
                <a:lnTo>
                  <a:pt x="491799" y="509312"/>
                </a:lnTo>
                <a:lnTo>
                  <a:pt x="737699" y="366705"/>
                </a:lnTo>
                <a:lnTo>
                  <a:pt x="598356" y="1018623"/>
                </a:lnTo>
                <a:lnTo>
                  <a:pt x="786879" y="1589052"/>
                </a:lnTo>
                <a:lnTo>
                  <a:pt x="491799" y="1466818"/>
                </a:lnTo>
                <a:lnTo>
                  <a:pt x="393439" y="2037247"/>
                </a:lnTo>
                <a:lnTo>
                  <a:pt x="295080" y="1466818"/>
                </a:lnTo>
                <a:lnTo>
                  <a:pt x="0" y="1589052"/>
                </a:lnTo>
                <a:lnTo>
                  <a:pt x="188523" y="1018623"/>
                </a:lnTo>
                <a:lnTo>
                  <a:pt x="49180" y="366705"/>
                </a:lnTo>
                <a:lnTo>
                  <a:pt x="295080" y="509312"/>
                </a:lnTo>
                <a:close/>
              </a:path>
            </a:pathLst>
          </a:custGeom>
          <a:solidFill>
            <a:srgbClr val="2AB136"/>
          </a:solidFill>
          <a:ln w="12627">
            <a:solidFill>
              <a:srgbClr val="CB3F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4589715" y="1392485"/>
          <a:ext cx="2655404" cy="939550"/>
        </p:xfrm>
        <a:graphic>
          <a:graphicData uri="http://schemas.openxmlformats.org/drawingml/2006/table">
            <a:tbl>
              <a:tblPr firstRow="1" bandRow="1">
                <a:tableStyleId>{5C22544A-7EE6-4342-B048-85BDC9FD1C3A}</a:tableStyleId>
              </a:tblPr>
              <a:tblGrid>
                <a:gridCol w="885134">
                  <a:extLst>
                    <a:ext uri="{9D8B030D-6E8A-4147-A177-3AD203B41FA5}">
                      <a16:colId xmlns:a16="http://schemas.microsoft.com/office/drawing/2014/main" val="20000"/>
                    </a:ext>
                  </a:extLst>
                </a:gridCol>
                <a:gridCol w="885134">
                  <a:extLst>
                    <a:ext uri="{9D8B030D-6E8A-4147-A177-3AD203B41FA5}">
                      <a16:colId xmlns:a16="http://schemas.microsoft.com/office/drawing/2014/main" val="20001"/>
                    </a:ext>
                  </a:extLst>
                </a:gridCol>
                <a:gridCol w="885136">
                  <a:extLst>
                    <a:ext uri="{9D8B030D-6E8A-4147-A177-3AD203B41FA5}">
                      <a16:colId xmlns:a16="http://schemas.microsoft.com/office/drawing/2014/main" val="20002"/>
                    </a:ext>
                  </a:extLst>
                </a:gridCol>
              </a:tblGrid>
              <a:tr h="156591">
                <a:tc>
                  <a:txBody>
                    <a:bodyPr/>
                    <a:lstStyle/>
                    <a:p>
                      <a:r>
                        <a:rPr sz="1300" b="1">
                          <a:solidFill>
                            <a:srgbClr val="BB233D"/>
                          </a:solidFill>
                        </a:rPr>
                        <a:t>Model Timeline</a:t>
                      </a:r>
                    </a:p>
                  </a:txBody>
                  <a:tcPr>
                    <a:solidFill>
                      <a:srgbClr val="B95D34"/>
                    </a:solidFill>
                  </a:tcPr>
                </a:tc>
                <a:tc>
                  <a:txBody>
                    <a:bodyPr/>
                    <a:lstStyle/>
                    <a:p>
                      <a:r>
                        <a:rPr sz="1300" b="1">
                          <a:solidFill>
                            <a:srgbClr val="BB233D"/>
                          </a:solidFill>
                        </a:rPr>
                        <a:t>Agenda Scope</a:t>
                      </a:r>
                    </a:p>
                  </a:txBody>
                  <a:tcPr>
                    <a:solidFill>
                      <a:srgbClr val="B95D34"/>
                    </a:solidFill>
                  </a:tcPr>
                </a:tc>
                <a:tc>
                  <a:txBody>
                    <a:bodyPr/>
                    <a:lstStyle/>
                    <a:p>
                      <a:r>
                        <a:rPr sz="1300" b="1">
                          <a:solidFill>
                            <a:srgbClr val="BB233D"/>
                          </a:solidFill>
                        </a:rPr>
                        <a:t>Envelope Alignment</a:t>
                      </a:r>
                    </a:p>
                  </a:txBody>
                  <a:tcPr>
                    <a:solidFill>
                      <a:srgbClr val="B95D34"/>
                    </a:solidFill>
                  </a:tcPr>
                </a:tc>
                <a:extLst>
                  <a:ext uri="{0D108BD9-81ED-4DB2-BD59-A6C34878D82A}">
                    <a16:rowId xmlns:a16="http://schemas.microsoft.com/office/drawing/2014/main" val="10000"/>
                  </a:ext>
                </a:extLst>
              </a:tr>
              <a:tr h="156591">
                <a:tc>
                  <a:txBody>
                    <a:bodyPr/>
                    <a:lstStyle/>
                    <a:p>
                      <a:r>
                        <a:rPr sz="1300" b="0">
                          <a:solidFill>
                            <a:srgbClr val="BB233D"/>
                          </a:solidFill>
                        </a:rPr>
                        <a:t>Device</a:t>
                      </a:r>
                    </a:p>
                  </a:txBody>
                  <a:tcPr>
                    <a:solidFill>
                      <a:srgbClr val="AFB0E6"/>
                    </a:solidFill>
                  </a:tcPr>
                </a:tc>
                <a:tc>
                  <a:txBody>
                    <a:bodyPr/>
                    <a:lstStyle/>
                    <a:p>
                      <a:r>
                        <a:rPr sz="1300" b="0">
                          <a:solidFill>
                            <a:srgbClr val="BB233D"/>
                          </a:solidFill>
                        </a:rPr>
                        <a:t>Entity</a:t>
                      </a:r>
                    </a:p>
                  </a:txBody>
                  <a:tcPr>
                    <a:solidFill>
                      <a:srgbClr val="AFB0E6"/>
                    </a:solidFill>
                  </a:tcPr>
                </a:tc>
                <a:tc>
                  <a:txBody>
                    <a:bodyPr/>
                    <a:lstStyle/>
                    <a:p>
                      <a:r>
                        <a:rPr sz="1300" b="0">
                          <a:solidFill>
                            <a:srgbClr val="BB233D"/>
                          </a:solidFill>
                        </a:rPr>
                        <a:t>Package Alpha</a:t>
                      </a:r>
                    </a:p>
                  </a:txBody>
                  <a:tcPr>
                    <a:solidFill>
                      <a:srgbClr val="AFB0E6"/>
                    </a:solidFill>
                  </a:tcPr>
                </a:tc>
                <a:extLst>
                  <a:ext uri="{0D108BD9-81ED-4DB2-BD59-A6C34878D82A}">
                    <a16:rowId xmlns:a16="http://schemas.microsoft.com/office/drawing/2014/main" val="10001"/>
                  </a:ext>
                </a:extLst>
              </a:tr>
              <a:tr h="156591">
                <a:tc>
                  <a:txBody>
                    <a:bodyPr/>
                    <a:lstStyle/>
                    <a:p>
                      <a:r>
                        <a:rPr sz="1300" b="0">
                          <a:solidFill>
                            <a:srgbClr val="BB233D"/>
                          </a:solidFill>
                        </a:rPr>
                        <a:t>Intent Energy</a:t>
                      </a:r>
                    </a:p>
                  </a:txBody>
                  <a:tcPr>
                    <a:solidFill>
                      <a:srgbClr val="D2D3F1"/>
                    </a:solidFill>
                  </a:tcPr>
                </a:tc>
                <a:tc>
                  <a:txBody>
                    <a:bodyPr/>
                    <a:lstStyle/>
                    <a:p>
                      <a:r>
                        <a:rPr sz="1300" b="0">
                          <a:solidFill>
                            <a:srgbClr val="BB233D"/>
                          </a:solidFill>
                        </a:rPr>
                        <a:t>Beacon Station</a:t>
                      </a:r>
                    </a:p>
                  </a:txBody>
                  <a:tcPr>
                    <a:solidFill>
                      <a:srgbClr val="D2D3F1"/>
                    </a:solidFill>
                  </a:tcPr>
                </a:tc>
                <a:tc>
                  <a:txBody>
                    <a:bodyPr/>
                    <a:lstStyle/>
                    <a:p>
                      <a:r>
                        <a:rPr sz="1300" b="0">
                          <a:solidFill>
                            <a:srgbClr val="BB233D"/>
                          </a:solidFill>
                        </a:rPr>
                        <a:t>Domain Group</a:t>
                      </a:r>
                    </a:p>
                  </a:txBody>
                  <a:tcPr>
                    <a:solidFill>
                      <a:srgbClr val="D2D3F1"/>
                    </a:solidFill>
                  </a:tcPr>
                </a:tc>
                <a:extLst>
                  <a:ext uri="{0D108BD9-81ED-4DB2-BD59-A6C34878D82A}">
                    <a16:rowId xmlns:a16="http://schemas.microsoft.com/office/drawing/2014/main" val="10002"/>
                  </a:ext>
                </a:extLst>
              </a:tr>
              <a:tr h="156591">
                <a:tc>
                  <a:txBody>
                    <a:bodyPr/>
                    <a:lstStyle/>
                    <a:p>
                      <a:r>
                        <a:rPr sz="1300" b="0">
                          <a:solidFill>
                            <a:srgbClr val="BB233D"/>
                          </a:solidFill>
                        </a:rPr>
                        <a:t>Diagram</a:t>
                      </a:r>
                    </a:p>
                  </a:txBody>
                  <a:tcPr>
                    <a:solidFill>
                      <a:srgbClr val="AFB0E6"/>
                    </a:solidFill>
                  </a:tcPr>
                </a:tc>
                <a:tc>
                  <a:txBody>
                    <a:bodyPr/>
                    <a:lstStyle/>
                    <a:p>
                      <a:r>
                        <a:rPr sz="1300" b="0">
                          <a:solidFill>
                            <a:srgbClr val="BB233D"/>
                          </a:solidFill>
                        </a:rPr>
                        <a:t>Matrix Heading</a:t>
                      </a:r>
                    </a:p>
                  </a:txBody>
                  <a:tcPr>
                    <a:solidFill>
                      <a:srgbClr val="AFB0E6"/>
                    </a:solidFill>
                  </a:tcPr>
                </a:tc>
                <a:tc>
                  <a:txBody>
                    <a:bodyPr/>
                    <a:lstStyle/>
                    <a:p>
                      <a:r>
                        <a:rPr sz="1300" b="0">
                          <a:solidFill>
                            <a:srgbClr val="BB233D"/>
                          </a:solidFill>
                        </a:rPr>
                        <a:t>Tile</a:t>
                      </a:r>
                    </a:p>
                  </a:txBody>
                  <a:tcPr>
                    <a:solidFill>
                      <a:srgbClr val="AFB0E6"/>
                    </a:solidFill>
                  </a:tcPr>
                </a:tc>
                <a:extLst>
                  <a:ext uri="{0D108BD9-81ED-4DB2-BD59-A6C34878D82A}">
                    <a16:rowId xmlns:a16="http://schemas.microsoft.com/office/drawing/2014/main" val="10003"/>
                  </a:ext>
                </a:extLst>
              </a:tr>
              <a:tr h="156591">
                <a:tc>
                  <a:txBody>
                    <a:bodyPr/>
                    <a:lstStyle/>
                    <a:p>
                      <a:r>
                        <a:rPr sz="1300" b="0">
                          <a:solidFill>
                            <a:srgbClr val="BB233D"/>
                          </a:solidFill>
                        </a:rPr>
                        <a:t>Texture</a:t>
                      </a:r>
                    </a:p>
                  </a:txBody>
                  <a:tcPr>
                    <a:solidFill>
                      <a:srgbClr val="D2D3F1"/>
                    </a:solidFill>
                  </a:tcPr>
                </a:tc>
                <a:tc>
                  <a:txBody>
                    <a:bodyPr/>
                    <a:lstStyle/>
                    <a:p>
                      <a:r>
                        <a:rPr sz="1300" b="0">
                          <a:solidFill>
                            <a:srgbClr val="BB233D"/>
                          </a:solidFill>
                        </a:rPr>
                        <a:t>Waypoint</a:t>
                      </a:r>
                    </a:p>
                  </a:txBody>
                  <a:tcPr>
                    <a:solidFill>
                      <a:srgbClr val="D2D3F1"/>
                    </a:solidFill>
                  </a:tcPr>
                </a:tc>
                <a:tc>
                  <a:txBody>
                    <a:bodyPr/>
                    <a:lstStyle/>
                    <a:p>
                      <a:r>
                        <a:rPr sz="1300" b="0">
                          <a:solidFill>
                            <a:srgbClr val="BB233D"/>
                          </a:solidFill>
                        </a:rPr>
                        <a:t>Motion</a:t>
                      </a:r>
                    </a:p>
                  </a:txBody>
                  <a:tcPr>
                    <a:solidFill>
                      <a:srgbClr val="D2D3F1"/>
                    </a:solidFill>
                  </a:tcPr>
                </a:tc>
                <a:extLst>
                  <a:ext uri="{0D108BD9-81ED-4DB2-BD59-A6C34878D82A}">
                    <a16:rowId xmlns:a16="http://schemas.microsoft.com/office/drawing/2014/main" val="10004"/>
                  </a:ext>
                </a:extLst>
              </a:tr>
              <a:tr h="156595">
                <a:tc>
                  <a:txBody>
                    <a:bodyPr/>
                    <a:lstStyle/>
                    <a:p>
                      <a:r>
                        <a:rPr sz="1300" b="0">
                          <a:solidFill>
                            <a:srgbClr val="BB233D"/>
                          </a:solidFill>
                        </a:rPr>
                        <a:t>Forecast</a:t>
                      </a:r>
                    </a:p>
                  </a:txBody>
                  <a:tcPr>
                    <a:solidFill>
                      <a:srgbClr val="AFB0E6"/>
                    </a:solidFill>
                  </a:tcPr>
                </a:tc>
                <a:tc>
                  <a:txBody>
                    <a:bodyPr/>
                    <a:lstStyle/>
                    <a:p>
                      <a:r>
                        <a:rPr sz="1300" b="0">
                          <a:solidFill>
                            <a:srgbClr val="BB233D"/>
                          </a:solidFill>
                        </a:rPr>
                        <a:t>Friction</a:t>
                      </a:r>
                    </a:p>
                  </a:txBody>
                  <a:tcPr>
                    <a:solidFill>
                      <a:srgbClr val="AFB0E6"/>
                    </a:solidFill>
                  </a:tcPr>
                </a:tc>
                <a:tc>
                  <a:txBody>
                    <a:bodyPr/>
                    <a:lstStyle/>
                    <a:p>
                      <a:r>
                        <a:rPr sz="1300" b="0">
                          <a:solidFill>
                            <a:srgbClr val="BB233D"/>
                          </a:solidFill>
                        </a:rPr>
                        <a:t>Discovery Center</a:t>
                      </a:r>
                    </a:p>
                  </a:txBody>
                  <a:tcPr>
                    <a:solidFill>
                      <a:srgbClr val="AFB0E6"/>
                    </a:solidFill>
                  </a:tcPr>
                </a:tc>
                <a:extLst>
                  <a:ext uri="{0D108BD9-81ED-4DB2-BD59-A6C34878D82A}">
                    <a16:rowId xmlns:a16="http://schemas.microsoft.com/office/drawing/2014/main" val="10005"/>
                  </a:ext>
                </a:extLst>
              </a:tr>
            </a:tbl>
          </a:graphicData>
        </a:graphic>
      </p:graphicFrame>
      <p:sp>
        <p:nvSpPr>
          <p:cNvPr id="22" name="Pentagon 21"/>
          <p:cNvSpPr/>
          <p:nvPr/>
        </p:nvSpPr>
        <p:spPr>
          <a:xfrm>
            <a:off x="4531840" y="1925685"/>
            <a:ext cx="391562" cy="613377"/>
          </a:xfrm>
          <a:prstGeom prst="homePlate">
            <a:avLst/>
          </a:prstGeom>
          <a:solidFill>
            <a:srgbClr val="BF208A"/>
          </a:solidFill>
          <a:ln w="12651">
            <a:solidFill>
              <a:srgbClr val="6BCB66"/>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883267" y="1513277"/>
            <a:ext cx="778195" cy="2156772"/>
          </a:xfrm>
          <a:prstGeom prst="rect">
            <a:avLst/>
          </a:prstGeom>
          <a:noFill/>
        </p:spPr>
        <p:txBody>
          <a:bodyPr wrap="none" lIns="27218" tIns="27218" rIns="27218" bIns="27218">
            <a:spAutoFit/>
          </a:bodyPr>
          <a:lstStyle/>
          <a:p>
            <a:r>
              <a:rPr sz="1100" b="0" i="0" u="none">
                <a:solidFill>
                  <a:srgbClr val="772F64"/>
                </a:solidFill>
                <a:latin typeface="Arial"/>
              </a:rPr>
              <a:t>Path Pixel Phase Anchor Process Drift Request Draft Element Payload Gradient Timeline Capacity Domain Needle Adaptive Window Depth Runtime Deployment Trend Cycle Marker Review Benchmark Trigger Sync Pixel Collection Segment Cell Request Rhythm Keyline Stage Analysis Circuit Switch Trace Instance Rhythm Workflow</a:t>
            </a:r>
          </a:p>
        </p:txBody>
      </p:sp>
      <p:graphicFrame>
        <p:nvGraphicFramePr>
          <p:cNvPr id="24" name="Chart 23"/>
          <p:cNvGraphicFramePr>
            <a:graphicFrameLocks noGrp="1"/>
          </p:cNvGraphicFramePr>
          <p:nvPr/>
        </p:nvGraphicFramePr>
        <p:xfrm>
          <a:off x="5488717" y="3630959"/>
          <a:ext cx="3153742" cy="1404666"/>
        </p:xfrm>
        <a:graphic>
          <a:graphicData uri="http://schemas.openxmlformats.org/drawingml/2006/chart">
            <c:chart xmlns:c="http://schemas.openxmlformats.org/drawingml/2006/chart" xmlns:r="http://schemas.openxmlformats.org/officeDocument/2006/relationships" r:id="rId4"/>
          </a:graphicData>
        </a:graphic>
      </p:graphicFrame>
      <p:pic>
        <p:nvPicPr>
          <p:cNvPr id="25" name="Picture 24" descr="_example_image.jpg"/>
          <p:cNvPicPr>
            <a:picLocks noChangeAspect="1"/>
          </p:cNvPicPr>
          <p:nvPr/>
        </p:nvPicPr>
        <p:blipFill>
          <a:blip r:embed="rId3"/>
          <a:srcRect/>
          <a:stretch>
            <a:fillRect/>
          </a:stretch>
        </p:blipFill>
        <p:spPr>
          <a:xfrm>
            <a:off x="6435978" y="445975"/>
            <a:ext cx="2490733" cy="834130"/>
          </a:xfrm>
          <a:prstGeom prst="rect">
            <a:avLst/>
          </a:prstGeom>
        </p:spPr>
      </p:pic>
      <p:sp>
        <p:nvSpPr>
          <p:cNvPr id="26" name="Plus 25"/>
          <p:cNvSpPr/>
          <p:nvPr/>
        </p:nvSpPr>
        <p:spPr>
          <a:xfrm>
            <a:off x="3584285" y="3444458"/>
            <a:ext cx="841298" cy="562661"/>
          </a:xfrm>
          <a:prstGeom prst="mathPlus">
            <a:avLst/>
          </a:prstGeom>
          <a:solidFill>
            <a:srgbClr val="70DCA2"/>
          </a:solidFill>
          <a:ln w="27082">
            <a:solidFill>
              <a:srgbClr val="733D9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CEAE7535-E20E-7339-FC35-2F55FDC4798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067445" y="5215727"/>
            <a:ext cx="1092827" cy="1241714"/>
          </a:xfrm>
          <a:prstGeom prst="rect">
            <a:avLst/>
          </a:prstGeom>
        </p:spPr>
      </p:pic>
      <p:pic>
        <p:nvPicPr>
          <p:cNvPr id="30" name="Graphic 29">
            <a:extLst>
              <a:ext uri="{FF2B5EF4-FFF2-40B4-BE49-F238E27FC236}">
                <a16:creationId xmlns:a16="http://schemas.microsoft.com/office/drawing/2014/main" id="{A971F727-23D1-D80C-24FD-342F80A35D2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86893" y="1586186"/>
            <a:ext cx="952697" cy="96794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74317" y="577240"/>
            <a:ext cx="547354" cy="1615812"/>
          </a:xfrm>
          <a:prstGeom prst="rect">
            <a:avLst/>
          </a:prstGeom>
          <a:noFill/>
        </p:spPr>
        <p:txBody>
          <a:bodyPr wrap="none" lIns="62320" tIns="62320" rIns="62320" bIns="62320">
            <a:spAutoFit/>
          </a:bodyPr>
          <a:lstStyle/>
          <a:p>
            <a:r>
              <a:rPr sz="5100" b="1" i="0" u="none">
                <a:solidFill>
                  <a:srgbClr val="5AB388"/>
                </a:solidFill>
                <a:latin typeface="Trebuchet MS"/>
              </a:rPr>
              <a:t>Adaptive Response Entity</a:t>
            </a:r>
          </a:p>
        </p:txBody>
      </p:sp>
      <p:sp>
        <p:nvSpPr>
          <p:cNvPr id="3" name="Pie 2"/>
          <p:cNvSpPr/>
          <p:nvPr/>
        </p:nvSpPr>
        <p:spPr>
          <a:xfrm>
            <a:off x="900401" y="611219"/>
            <a:ext cx="1658707" cy="390842"/>
          </a:xfrm>
          <a:prstGeom prst="pie">
            <a:avLst/>
          </a:prstGeom>
          <a:solidFill>
            <a:srgbClr val="56CC83"/>
          </a:solidFill>
          <a:ln w="31353">
            <a:solidFill>
              <a:srgbClr val="7F70C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Up Arrow 3"/>
          <p:cNvSpPr/>
          <p:nvPr/>
        </p:nvSpPr>
        <p:spPr>
          <a:xfrm>
            <a:off x="3127760" y="4918280"/>
            <a:ext cx="2053021" cy="920954"/>
          </a:xfrm>
          <a:prstGeom prst="upArrow">
            <a:avLst/>
          </a:prstGeom>
          <a:solidFill>
            <a:srgbClr val="E13844"/>
          </a:solidFill>
          <a:ln w="22198">
            <a:solidFill>
              <a:srgbClr val="2E1E3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9037664" y="859941"/>
          <a:ext cx="2250221" cy="1476907"/>
        </p:xfrm>
        <a:graphic>
          <a:graphicData uri="http://schemas.openxmlformats.org/drawingml/2006/table">
            <a:tbl>
              <a:tblPr firstRow="1" bandRow="1">
                <a:tableStyleId>{5C22544A-7EE6-4342-B048-85BDC9FD1C3A}</a:tableStyleId>
              </a:tblPr>
              <a:tblGrid>
                <a:gridCol w="1125110">
                  <a:extLst>
                    <a:ext uri="{9D8B030D-6E8A-4147-A177-3AD203B41FA5}">
                      <a16:colId xmlns:a16="http://schemas.microsoft.com/office/drawing/2014/main" val="20000"/>
                    </a:ext>
                  </a:extLst>
                </a:gridCol>
                <a:gridCol w="1125111">
                  <a:extLst>
                    <a:ext uri="{9D8B030D-6E8A-4147-A177-3AD203B41FA5}">
                      <a16:colId xmlns:a16="http://schemas.microsoft.com/office/drawing/2014/main" val="20001"/>
                    </a:ext>
                  </a:extLst>
                </a:gridCol>
              </a:tblGrid>
              <a:tr h="210986">
                <a:tc>
                  <a:txBody>
                    <a:bodyPr/>
                    <a:lstStyle/>
                    <a:p>
                      <a:r>
                        <a:rPr sz="800" b="0">
                          <a:solidFill>
                            <a:srgbClr val="A1D5E4"/>
                          </a:solidFill>
                        </a:rPr>
                        <a:t>Packet Beacon</a:t>
                      </a:r>
                    </a:p>
                  </a:txBody>
                  <a:tcPr>
                    <a:solidFill>
                      <a:srgbClr val="DEEDE5"/>
                    </a:solidFill>
                  </a:tcPr>
                </a:tc>
                <a:tc>
                  <a:txBody>
                    <a:bodyPr/>
                    <a:lstStyle/>
                    <a:p>
                      <a:r>
                        <a:rPr sz="800" b="0">
                          <a:solidFill>
                            <a:srgbClr val="A1D5E4"/>
                          </a:solidFill>
                        </a:rPr>
                        <a:t>Slice Echo</a:t>
                      </a:r>
                    </a:p>
                  </a:txBody>
                  <a:tcPr>
                    <a:solidFill>
                      <a:srgbClr val="DEEDE5"/>
                    </a:solidFill>
                  </a:tcPr>
                </a:tc>
                <a:extLst>
                  <a:ext uri="{0D108BD9-81ED-4DB2-BD59-A6C34878D82A}">
                    <a16:rowId xmlns:a16="http://schemas.microsoft.com/office/drawing/2014/main" val="10000"/>
                  </a:ext>
                </a:extLst>
              </a:tr>
              <a:tr h="210986">
                <a:tc>
                  <a:txBody>
                    <a:bodyPr/>
                    <a:lstStyle/>
                    <a:p>
                      <a:r>
                        <a:rPr sz="800" b="0">
                          <a:solidFill>
                            <a:srgbClr val="A1D5E4"/>
                          </a:solidFill>
                        </a:rPr>
                        <a:t>Target</a:t>
                      </a:r>
                    </a:p>
                  </a:txBody>
                  <a:tcPr>
                    <a:solidFill>
                      <a:srgbClr val="DEEDE5"/>
                    </a:solidFill>
                  </a:tcPr>
                </a:tc>
                <a:tc>
                  <a:txBody>
                    <a:bodyPr/>
                    <a:lstStyle/>
                    <a:p>
                      <a:r>
                        <a:rPr sz="800" b="0">
                          <a:solidFill>
                            <a:srgbClr val="A1D5E4"/>
                          </a:solidFill>
                        </a:rPr>
                        <a:t>Keyline</a:t>
                      </a:r>
                    </a:p>
                  </a:txBody>
                  <a:tcPr>
                    <a:solidFill>
                      <a:srgbClr val="DEEDE5"/>
                    </a:solidFill>
                  </a:tcPr>
                </a:tc>
                <a:extLst>
                  <a:ext uri="{0D108BD9-81ED-4DB2-BD59-A6C34878D82A}">
                    <a16:rowId xmlns:a16="http://schemas.microsoft.com/office/drawing/2014/main" val="10001"/>
                  </a:ext>
                </a:extLst>
              </a:tr>
              <a:tr h="210986">
                <a:tc>
                  <a:txBody>
                    <a:bodyPr/>
                    <a:lstStyle/>
                    <a:p>
                      <a:r>
                        <a:rPr sz="800" b="0">
                          <a:solidFill>
                            <a:srgbClr val="A1D5E4"/>
                          </a:solidFill>
                        </a:rPr>
                        <a:t>Topology</a:t>
                      </a:r>
                    </a:p>
                  </a:txBody>
                  <a:tcPr>
                    <a:solidFill>
                      <a:srgbClr val="DEEDE5"/>
                    </a:solidFill>
                  </a:tcPr>
                </a:tc>
                <a:tc>
                  <a:txBody>
                    <a:bodyPr/>
                    <a:lstStyle/>
                    <a:p>
                      <a:r>
                        <a:rPr sz="800" b="0">
                          <a:solidFill>
                            <a:srgbClr val="A1D5E4"/>
                          </a:solidFill>
                        </a:rPr>
                        <a:t>Capacity Baseline</a:t>
                      </a:r>
                    </a:p>
                  </a:txBody>
                  <a:tcPr>
                    <a:solidFill>
                      <a:srgbClr val="DEEDE5"/>
                    </a:solidFill>
                  </a:tcPr>
                </a:tc>
                <a:extLst>
                  <a:ext uri="{0D108BD9-81ED-4DB2-BD59-A6C34878D82A}">
                    <a16:rowId xmlns:a16="http://schemas.microsoft.com/office/drawing/2014/main" val="10002"/>
                  </a:ext>
                </a:extLst>
              </a:tr>
              <a:tr h="210986">
                <a:tc>
                  <a:txBody>
                    <a:bodyPr/>
                    <a:lstStyle/>
                    <a:p>
                      <a:r>
                        <a:rPr sz="800" b="0">
                          <a:solidFill>
                            <a:srgbClr val="A1D5E4"/>
                          </a:solidFill>
                        </a:rPr>
                        <a:t>Version</a:t>
                      </a:r>
                    </a:p>
                  </a:txBody>
                  <a:tcPr>
                    <a:solidFill>
                      <a:srgbClr val="DEEDE5"/>
                    </a:solidFill>
                  </a:tcPr>
                </a:tc>
                <a:tc>
                  <a:txBody>
                    <a:bodyPr/>
                    <a:lstStyle/>
                    <a:p>
                      <a:r>
                        <a:rPr sz="800" b="0">
                          <a:solidFill>
                            <a:srgbClr val="A1D5E4"/>
                          </a:solidFill>
                        </a:rPr>
                        <a:t>Interval Checkpoint</a:t>
                      </a:r>
                    </a:p>
                  </a:txBody>
                  <a:tcPr>
                    <a:solidFill>
                      <a:srgbClr val="DEEDE5"/>
                    </a:solidFill>
                  </a:tcPr>
                </a:tc>
                <a:extLst>
                  <a:ext uri="{0D108BD9-81ED-4DB2-BD59-A6C34878D82A}">
                    <a16:rowId xmlns:a16="http://schemas.microsoft.com/office/drawing/2014/main" val="10003"/>
                  </a:ext>
                </a:extLst>
              </a:tr>
              <a:tr h="210986">
                <a:tc>
                  <a:txBody>
                    <a:bodyPr/>
                    <a:lstStyle/>
                    <a:p>
                      <a:r>
                        <a:rPr sz="800" b="0">
                          <a:solidFill>
                            <a:srgbClr val="A1D5E4"/>
                          </a:solidFill>
                        </a:rPr>
                        <a:t>Harbor</a:t>
                      </a:r>
                    </a:p>
                  </a:txBody>
                  <a:tcPr>
                    <a:solidFill>
                      <a:srgbClr val="DEEDE5"/>
                    </a:solidFill>
                  </a:tcPr>
                </a:tc>
                <a:tc>
                  <a:txBody>
                    <a:bodyPr/>
                    <a:lstStyle/>
                    <a:p>
                      <a:r>
                        <a:rPr sz="800" b="0">
                          <a:solidFill>
                            <a:srgbClr val="A1D5E4"/>
                          </a:solidFill>
                        </a:rPr>
                        <a:t>Sequence Flow</a:t>
                      </a:r>
                    </a:p>
                  </a:txBody>
                  <a:tcPr>
                    <a:solidFill>
                      <a:srgbClr val="DEEDE5"/>
                    </a:solidFill>
                  </a:tcPr>
                </a:tc>
                <a:extLst>
                  <a:ext uri="{0D108BD9-81ED-4DB2-BD59-A6C34878D82A}">
                    <a16:rowId xmlns:a16="http://schemas.microsoft.com/office/drawing/2014/main" val="10004"/>
                  </a:ext>
                </a:extLst>
              </a:tr>
              <a:tr h="210986">
                <a:tc>
                  <a:txBody>
                    <a:bodyPr/>
                    <a:lstStyle/>
                    <a:p>
                      <a:r>
                        <a:rPr sz="800" b="0">
                          <a:solidFill>
                            <a:srgbClr val="A1D5E4"/>
                          </a:solidFill>
                        </a:rPr>
                        <a:t>Service Hub</a:t>
                      </a:r>
                    </a:p>
                  </a:txBody>
                  <a:tcPr>
                    <a:solidFill>
                      <a:srgbClr val="DEEDE5"/>
                    </a:solidFill>
                  </a:tcPr>
                </a:tc>
                <a:tc>
                  <a:txBody>
                    <a:bodyPr/>
                    <a:lstStyle/>
                    <a:p>
                      <a:r>
                        <a:rPr sz="800" b="0">
                          <a:solidFill>
                            <a:srgbClr val="A1D5E4"/>
                          </a:solidFill>
                        </a:rPr>
                        <a:t>Grid State</a:t>
                      </a:r>
                    </a:p>
                  </a:txBody>
                  <a:tcPr>
                    <a:solidFill>
                      <a:srgbClr val="DEEDE5"/>
                    </a:solidFill>
                  </a:tcPr>
                </a:tc>
                <a:extLst>
                  <a:ext uri="{0D108BD9-81ED-4DB2-BD59-A6C34878D82A}">
                    <a16:rowId xmlns:a16="http://schemas.microsoft.com/office/drawing/2014/main" val="10005"/>
                  </a:ext>
                </a:extLst>
              </a:tr>
              <a:tr h="210991">
                <a:tc>
                  <a:txBody>
                    <a:bodyPr/>
                    <a:lstStyle/>
                    <a:p>
                      <a:r>
                        <a:rPr sz="800" b="0">
                          <a:solidFill>
                            <a:srgbClr val="A1D5E4"/>
                          </a:solidFill>
                        </a:rPr>
                        <a:t>Concept Deployment</a:t>
                      </a:r>
                    </a:p>
                  </a:txBody>
                  <a:tcPr>
                    <a:solidFill>
                      <a:srgbClr val="DEEDE5"/>
                    </a:solidFill>
                  </a:tcPr>
                </a:tc>
                <a:tc>
                  <a:txBody>
                    <a:bodyPr/>
                    <a:lstStyle/>
                    <a:p>
                      <a:r>
                        <a:rPr sz="800" b="0">
                          <a:solidFill>
                            <a:srgbClr val="A1D5E4"/>
                          </a:solidFill>
                        </a:rPr>
                        <a:t>Alpha Exchange</a:t>
                      </a:r>
                    </a:p>
                  </a:txBody>
                  <a:tcPr>
                    <a:solidFill>
                      <a:srgbClr val="DEEDE5"/>
                    </a:solidFill>
                  </a:tcPr>
                </a:tc>
                <a:extLst>
                  <a:ext uri="{0D108BD9-81ED-4DB2-BD59-A6C34878D82A}">
                    <a16:rowId xmlns:a16="http://schemas.microsoft.com/office/drawing/2014/main" val="10006"/>
                  </a:ext>
                </a:extLst>
              </a:tr>
            </a:tbl>
          </a:graphicData>
        </a:graphic>
      </p:graphicFrame>
      <p:graphicFrame>
        <p:nvGraphicFramePr>
          <p:cNvPr id="6" name="Chart 5"/>
          <p:cNvGraphicFramePr>
            <a:graphicFrameLocks noGrp="1"/>
          </p:cNvGraphicFramePr>
          <p:nvPr/>
        </p:nvGraphicFramePr>
        <p:xfrm>
          <a:off x="7581678" y="3084104"/>
          <a:ext cx="2182224" cy="2030720"/>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6343812" y="2658537"/>
            <a:ext cx="990251" cy="1218872"/>
          </a:xfrm>
          <a:prstGeom prst="rect">
            <a:avLst/>
          </a:prstGeom>
          <a:noFill/>
        </p:spPr>
        <p:txBody>
          <a:bodyPr wrap="none" lIns="57804" tIns="57804" rIns="57804" bIns="57804">
            <a:spAutoFit/>
          </a:bodyPr>
          <a:lstStyle/>
          <a:p>
            <a:r>
              <a:rPr sz="2000" b="0" i="1" u="none">
                <a:solidFill>
                  <a:srgbClr val="AF3961"/>
                </a:solidFill>
                <a:latin typeface="Georgia"/>
              </a:rPr>
              <a:t>Capacity Motion Option Loop Canvas Ledger Cell Panel Snapshot Discovery</a:t>
            </a:r>
          </a:p>
        </p:txBody>
      </p:sp>
      <p:sp>
        <p:nvSpPr>
          <p:cNvPr id="8" name="Rounded Rectangular Callout 7"/>
          <p:cNvSpPr/>
          <p:nvPr/>
        </p:nvSpPr>
        <p:spPr>
          <a:xfrm>
            <a:off x="3304793" y="6015586"/>
            <a:ext cx="500443" cy="327607"/>
          </a:xfrm>
          <a:prstGeom prst="wedgeRoundRectCallout">
            <a:avLst/>
          </a:prstGeom>
          <a:solidFill>
            <a:srgbClr val="96414D"/>
          </a:solidFill>
          <a:ln w="24392">
            <a:solidFill>
              <a:srgbClr val="4E432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804720" y="4630278"/>
            <a:ext cx="2441598" cy="1927606"/>
          </a:xfrm>
          <a:prstGeom prst="rect">
            <a:avLst/>
          </a:prstGeom>
          <a:solidFill>
            <a:srgbClr val="E32D99"/>
          </a:solidFill>
        </p:spPr>
        <p:txBody>
          <a:bodyPr wrap="none" lIns="31082" tIns="31082" rIns="31082" bIns="31082">
            <a:spAutoFit/>
          </a:bodyPr>
          <a:lstStyle/>
          <a:p>
            <a:r>
              <a:rPr sz="1200" b="1" i="1" u="none">
                <a:solidFill>
                  <a:srgbClr val="35C6B4"/>
                </a:solidFill>
                <a:latin typeface="Aptos"/>
              </a:rPr>
              <a:t>Texture Waypoint Level</a:t>
            </a:r>
          </a:p>
        </p:txBody>
      </p:sp>
      <p:sp>
        <p:nvSpPr>
          <p:cNvPr id="10" name="Pentagon 9"/>
          <p:cNvSpPr/>
          <p:nvPr/>
        </p:nvSpPr>
        <p:spPr>
          <a:xfrm>
            <a:off x="840136" y="1462381"/>
            <a:ext cx="2126190" cy="596911"/>
          </a:xfrm>
          <a:prstGeom prst="homePlate">
            <a:avLst/>
          </a:prstGeom>
          <a:solidFill>
            <a:srgbClr val="3524CE"/>
          </a:solidFill>
          <a:ln w="17958">
            <a:solidFill>
              <a:srgbClr val="D4317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7146831" y="2674306"/>
            <a:ext cx="1631803" cy="627023"/>
          </a:xfrm>
          <a:custGeom>
            <a:avLst/>
            <a:gdLst/>
            <a:ahLst/>
            <a:cxnLst/>
            <a:rect l="l" t="t" r="r" b="b"/>
            <a:pathLst>
              <a:path w="1631803" h="627023">
                <a:moveTo>
                  <a:pt x="815902" y="0"/>
                </a:moveTo>
                <a:lnTo>
                  <a:pt x="1019877" y="156756"/>
                </a:lnTo>
                <a:lnTo>
                  <a:pt x="1529816" y="112864"/>
                </a:lnTo>
                <a:lnTo>
                  <a:pt x="1240851" y="313511"/>
                </a:lnTo>
                <a:lnTo>
                  <a:pt x="1631803" y="489078"/>
                </a:lnTo>
                <a:lnTo>
                  <a:pt x="1019877" y="451456"/>
                </a:lnTo>
                <a:lnTo>
                  <a:pt x="815902" y="627023"/>
                </a:lnTo>
                <a:lnTo>
                  <a:pt x="611926" y="451456"/>
                </a:lnTo>
                <a:lnTo>
                  <a:pt x="0" y="489078"/>
                </a:lnTo>
                <a:lnTo>
                  <a:pt x="390953" y="313511"/>
                </a:lnTo>
                <a:lnTo>
                  <a:pt x="101988" y="112864"/>
                </a:lnTo>
                <a:lnTo>
                  <a:pt x="611926" y="156756"/>
                </a:lnTo>
                <a:close/>
              </a:path>
            </a:pathLst>
          </a:custGeom>
          <a:solidFill>
            <a:srgbClr val="644E71"/>
          </a:solidFill>
          <a:ln w="14277">
            <a:solidFill>
              <a:srgbClr val="634E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36347" y="5261910"/>
            <a:ext cx="809520" cy="1013309"/>
          </a:xfrm>
          <a:prstGeom prst="rect">
            <a:avLst/>
          </a:prstGeom>
          <a:noFill/>
        </p:spPr>
        <p:txBody>
          <a:bodyPr wrap="none" lIns="45060" tIns="45060" rIns="45060" bIns="45060">
            <a:spAutoFit/>
          </a:bodyPr>
          <a:lstStyle/>
          <a:p>
            <a:r>
              <a:rPr sz="1000" b="1" i="1" u="none">
                <a:solidFill>
                  <a:srgbClr val="8D2A3D"/>
                </a:solidFill>
                <a:latin typeface="Trebuchet MS"/>
              </a:rPr>
              <a:t>Review Needle Path Detail Command Trigger Lineage Interval Event Echo Foundation Intent Lens Span Horizon Edge Cadence Delta Alignment Marker Data Wave Catalog Threshold Segment Journey Buffer Account Input Waypoint Release Cell Record Metric Narrative Index Viewport Alignment Craft</a:t>
            </a:r>
          </a:p>
        </p:txBody>
      </p:sp>
      <p:sp>
        <p:nvSpPr>
          <p:cNvPr id="13" name="Quad Arrow 12"/>
          <p:cNvSpPr/>
          <p:nvPr/>
        </p:nvSpPr>
        <p:spPr>
          <a:xfrm>
            <a:off x="8291419" y="1037010"/>
            <a:ext cx="476212" cy="1620858"/>
          </a:xfrm>
          <a:prstGeom prst="quadArrow">
            <a:avLst/>
          </a:prstGeom>
          <a:solidFill>
            <a:srgbClr val="BB89B8"/>
          </a:solidFill>
          <a:ln w="12358">
            <a:solidFill>
              <a:srgbClr val="C8A1A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10405297" y="5792531"/>
            <a:ext cx="828758" cy="660178"/>
          </a:xfrm>
          <a:custGeom>
            <a:avLst/>
            <a:gdLst/>
            <a:ahLst/>
            <a:cxnLst/>
            <a:rect l="l" t="t" r="r" b="b"/>
            <a:pathLst>
              <a:path w="828758" h="660178">
                <a:moveTo>
                  <a:pt x="0" y="146706"/>
                </a:moveTo>
                <a:lnTo>
                  <a:pt x="178228" y="0"/>
                </a:lnTo>
                <a:lnTo>
                  <a:pt x="356455" y="198053"/>
                </a:lnTo>
                <a:lnTo>
                  <a:pt x="534683" y="22006"/>
                </a:lnTo>
                <a:lnTo>
                  <a:pt x="828758" y="513472"/>
                </a:lnTo>
                <a:lnTo>
                  <a:pt x="623796" y="660178"/>
                </a:lnTo>
                <a:lnTo>
                  <a:pt x="427746" y="440119"/>
                </a:lnTo>
                <a:lnTo>
                  <a:pt x="204962" y="638172"/>
                </a:lnTo>
                <a:close/>
              </a:path>
            </a:pathLst>
          </a:custGeom>
          <a:solidFill>
            <a:srgbClr val="C1DAD9"/>
          </a:solidFill>
          <a:ln w="17342">
            <a:solidFill>
              <a:srgbClr val="9960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7262946" y="529185"/>
            <a:ext cx="1008119" cy="1769652"/>
          </a:xfrm>
          <a:prstGeom prst="curvedConnector3">
            <a:avLst/>
          </a:prstGeom>
          <a:ln w="25308">
            <a:solidFill>
              <a:srgbClr val="63CF7F"/>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8101507" y="3466160"/>
          <a:ext cx="2509828" cy="975349"/>
        </p:xfrm>
        <a:graphic>
          <a:graphicData uri="http://schemas.openxmlformats.org/drawingml/2006/table">
            <a:tbl>
              <a:tblPr firstRow="1" bandRow="1">
                <a:tableStyleId>{5C22544A-7EE6-4342-B048-85BDC9FD1C3A}</a:tableStyleId>
              </a:tblPr>
              <a:tblGrid>
                <a:gridCol w="1254914">
                  <a:extLst>
                    <a:ext uri="{9D8B030D-6E8A-4147-A177-3AD203B41FA5}">
                      <a16:colId xmlns:a16="http://schemas.microsoft.com/office/drawing/2014/main" val="20000"/>
                    </a:ext>
                  </a:extLst>
                </a:gridCol>
                <a:gridCol w="1254914">
                  <a:extLst>
                    <a:ext uri="{9D8B030D-6E8A-4147-A177-3AD203B41FA5}">
                      <a16:colId xmlns:a16="http://schemas.microsoft.com/office/drawing/2014/main" val="20001"/>
                    </a:ext>
                  </a:extLst>
                </a:gridCol>
              </a:tblGrid>
              <a:tr h="487674">
                <a:tc>
                  <a:txBody>
                    <a:bodyPr/>
                    <a:lstStyle/>
                    <a:p>
                      <a:r>
                        <a:rPr sz="600" b="0">
                          <a:solidFill>
                            <a:srgbClr val="E26CDC"/>
                          </a:solidFill>
                        </a:rPr>
                        <a:t>Explorer</a:t>
                      </a:r>
                    </a:p>
                  </a:txBody>
                  <a:tcPr>
                    <a:solidFill>
                      <a:srgbClr val="F6F6F7"/>
                    </a:solidFill>
                  </a:tcPr>
                </a:tc>
                <a:tc>
                  <a:txBody>
                    <a:bodyPr/>
                    <a:lstStyle/>
                    <a:p>
                      <a:r>
                        <a:rPr sz="600" b="0">
                          <a:solidFill>
                            <a:srgbClr val="E26CDC"/>
                          </a:solidFill>
                        </a:rPr>
                        <a:t>Collection Threshold</a:t>
                      </a:r>
                    </a:p>
                  </a:txBody>
                  <a:tcPr>
                    <a:solidFill>
                      <a:srgbClr val="D8D8DC"/>
                    </a:solidFill>
                  </a:tcPr>
                </a:tc>
                <a:extLst>
                  <a:ext uri="{0D108BD9-81ED-4DB2-BD59-A6C34878D82A}">
                    <a16:rowId xmlns:a16="http://schemas.microsoft.com/office/drawing/2014/main" val="10000"/>
                  </a:ext>
                </a:extLst>
              </a:tr>
              <a:tr h="487675">
                <a:tc>
                  <a:txBody>
                    <a:bodyPr/>
                    <a:lstStyle/>
                    <a:p>
                      <a:r>
                        <a:rPr sz="600" b="0">
                          <a:solidFill>
                            <a:srgbClr val="E26CDC"/>
                          </a:solidFill>
                        </a:rPr>
                        <a:t>Input</a:t>
                      </a:r>
                    </a:p>
                  </a:txBody>
                  <a:tcPr>
                    <a:solidFill>
                      <a:srgbClr val="F6F6F7"/>
                    </a:solidFill>
                  </a:tcPr>
                </a:tc>
                <a:tc>
                  <a:txBody>
                    <a:bodyPr/>
                    <a:lstStyle/>
                    <a:p>
                      <a:r>
                        <a:rPr sz="600" b="0">
                          <a:solidFill>
                            <a:srgbClr val="E26CDC"/>
                          </a:solidFill>
                        </a:rPr>
                        <a:t>Command Pattern</a:t>
                      </a:r>
                    </a:p>
                  </a:txBody>
                  <a:tcPr>
                    <a:solidFill>
                      <a:srgbClr val="D8D8DC"/>
                    </a:solidFill>
                  </a:tcPr>
                </a:tc>
                <a:extLst>
                  <a:ext uri="{0D108BD9-81ED-4DB2-BD59-A6C34878D82A}">
                    <a16:rowId xmlns:a16="http://schemas.microsoft.com/office/drawing/2014/main" val="10001"/>
                  </a:ext>
                </a:extLst>
              </a:tr>
            </a:tbl>
          </a:graphicData>
        </a:graphic>
      </p:graphicFrame>
      <p:graphicFrame>
        <p:nvGraphicFramePr>
          <p:cNvPr id="17" name="Chart 16"/>
          <p:cNvGraphicFramePr>
            <a:graphicFrameLocks noGrp="1"/>
          </p:cNvGraphicFramePr>
          <p:nvPr/>
        </p:nvGraphicFramePr>
        <p:xfrm>
          <a:off x="3843128" y="4188134"/>
          <a:ext cx="2135232" cy="2126733"/>
        </p:xfrm>
        <a:graphic>
          <a:graphicData uri="http://schemas.openxmlformats.org/drawingml/2006/chart">
            <c:chart xmlns:c="http://schemas.openxmlformats.org/drawingml/2006/chart" xmlns:r="http://schemas.openxmlformats.org/officeDocument/2006/relationships" r:id="rId3"/>
          </a:graphicData>
        </a:graphic>
      </p:graphicFrame>
      <p:sp>
        <p:nvSpPr>
          <p:cNvPr id="18" name="16-Point Star 17"/>
          <p:cNvSpPr/>
          <p:nvPr/>
        </p:nvSpPr>
        <p:spPr>
          <a:xfrm>
            <a:off x="10454998" y="4359444"/>
            <a:ext cx="615785" cy="1402568"/>
          </a:xfrm>
          <a:prstGeom prst="star16">
            <a:avLst/>
          </a:prstGeom>
          <a:solidFill>
            <a:srgbClr val="3CBD36"/>
          </a:solidFill>
          <a:ln w="11578">
            <a:solidFill>
              <a:srgbClr val="2B40B9"/>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_example_image.jpg"/>
          <p:cNvPicPr>
            <a:picLocks noChangeAspect="1"/>
          </p:cNvPicPr>
          <p:nvPr/>
        </p:nvPicPr>
        <p:blipFill>
          <a:blip r:embed="rId4"/>
          <a:srcRect/>
          <a:stretch>
            <a:fillRect/>
          </a:stretch>
        </p:blipFill>
        <p:spPr>
          <a:xfrm>
            <a:off x="398209" y="2616370"/>
            <a:ext cx="1138466" cy="2085755"/>
          </a:xfrm>
          <a:prstGeom prst="rect">
            <a:avLst/>
          </a:prstGeom>
        </p:spPr>
      </p:pic>
      <p:sp>
        <p:nvSpPr>
          <p:cNvPr id="20" name="TextBox 19"/>
          <p:cNvSpPr txBox="1"/>
          <p:nvPr/>
        </p:nvSpPr>
        <p:spPr>
          <a:xfrm>
            <a:off x="2474355" y="2238032"/>
            <a:ext cx="3139798" cy="2229805"/>
          </a:xfrm>
          <a:prstGeom prst="rect">
            <a:avLst/>
          </a:prstGeom>
          <a:solidFill>
            <a:srgbClr val="C26FBC"/>
          </a:solidFill>
        </p:spPr>
        <p:txBody>
          <a:bodyPr wrap="none" lIns="72260" tIns="72260" rIns="72260" bIns="72260">
            <a:spAutoFit/>
          </a:bodyPr>
          <a:lstStyle/>
          <a:p>
            <a:r>
              <a:rPr sz="2200" b="0" i="0" u="none">
                <a:solidFill>
                  <a:srgbClr val="E5DEDC"/>
                </a:solidFill>
                <a:latin typeface="Trebuchet MS"/>
              </a:rPr>
              <a:t>Velocity Alignment Precision Impact Sync Keyline Core Sync Guide</a:t>
            </a:r>
          </a:p>
        </p:txBody>
      </p:sp>
      <p:cxnSp>
        <p:nvCxnSpPr>
          <p:cNvPr id="21" name="Connector 20"/>
          <p:cNvCxnSpPr/>
          <p:nvPr/>
        </p:nvCxnSpPr>
        <p:spPr>
          <a:xfrm flipV="1">
            <a:off x="10954439" y="249630"/>
            <a:ext cx="971880" cy="525824"/>
          </a:xfrm>
          <a:prstGeom prst="line">
            <a:avLst/>
          </a:prstGeom>
          <a:ln w="17656">
            <a:solidFill>
              <a:srgbClr val="DEC525"/>
            </a:solidFill>
            <a:prstDash val="dashDot"/>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4"/>
          <a:srcRect l="7148" t="6808" r="2498" b="13067"/>
          <a:stretch>
            <a:fillRect/>
          </a:stretch>
        </p:blipFill>
        <p:spPr>
          <a:xfrm>
            <a:off x="3289404" y="315023"/>
            <a:ext cx="2269067" cy="1656692"/>
          </a:xfrm>
          <a:prstGeom prst="rect">
            <a:avLst/>
          </a:prstGeom>
        </p:spPr>
      </p:pic>
      <p:sp>
        <p:nvSpPr>
          <p:cNvPr id="23" name="Rounded Rectangle 22"/>
          <p:cNvSpPr/>
          <p:nvPr/>
        </p:nvSpPr>
        <p:spPr>
          <a:xfrm>
            <a:off x="3289404" y="315023"/>
            <a:ext cx="2269067" cy="1656692"/>
          </a:xfrm>
          <a:prstGeom prst="roundRect">
            <a:avLst/>
          </a:prstGeom>
          <a:noFill/>
          <a:ln w="15240">
            <a:solidFill>
              <a:srgbClr val="673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_example_image.jpg"/>
          <p:cNvPicPr>
            <a:picLocks noChangeAspect="1"/>
          </p:cNvPicPr>
          <p:nvPr/>
        </p:nvPicPr>
        <p:blipFill>
          <a:blip r:embed="rId4"/>
          <a:srcRect l="14283" t="20875" r="11095" b="11419"/>
          <a:stretch>
            <a:fillRect/>
          </a:stretch>
        </p:blipFill>
        <p:spPr>
          <a:xfrm>
            <a:off x="5607346" y="1268281"/>
            <a:ext cx="1133581" cy="2135931"/>
          </a:xfrm>
          <a:prstGeom prst="rect">
            <a:avLst/>
          </a:prstGeom>
        </p:spPr>
      </p:pic>
      <p:sp>
        <p:nvSpPr>
          <p:cNvPr id="25" name="Rounded Rectangle 24"/>
          <p:cNvSpPr/>
          <p:nvPr/>
        </p:nvSpPr>
        <p:spPr>
          <a:xfrm>
            <a:off x="5607346" y="1268281"/>
            <a:ext cx="1133581" cy="2135931"/>
          </a:xfrm>
          <a:prstGeom prst="roundRect">
            <a:avLst/>
          </a:prstGeom>
          <a:noFill/>
          <a:ln w="15240">
            <a:solidFill>
              <a:srgbClr val="A989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1299173" y="4716585"/>
            <a:ext cx="1603670" cy="1388810"/>
          </a:xfrm>
          <a:prstGeom prst="bentConnector3">
            <a:avLst/>
          </a:prstGeom>
          <a:ln w="49755">
            <a:solidFill>
              <a:srgbClr val="BBBAA3"/>
            </a:solidFill>
            <a:prstDash val="dot"/>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310886" y="2668444"/>
            <a:ext cx="543227" cy="1355882"/>
          </a:xfrm>
          <a:prstGeom prst="rect">
            <a:avLst/>
          </a:prstGeom>
          <a:noFill/>
        </p:spPr>
        <p:txBody>
          <a:bodyPr wrap="none" lIns="61407" tIns="61407" rIns="61407" bIns="61407">
            <a:spAutoFit/>
          </a:bodyPr>
          <a:lstStyle/>
          <a:p>
            <a:r>
              <a:rPr sz="5900" b="1" i="0" u="none">
                <a:solidFill>
                  <a:srgbClr val="D39B6F"/>
                </a:solidFill>
                <a:latin typeface="Trebuchet MS"/>
              </a:rPr>
              <a:t>Scope Story Measure Foundation Module Input</a:t>
            </a:r>
          </a:p>
        </p:txBody>
      </p:sp>
      <p:sp>
        <p:nvSpPr>
          <p:cNvPr id="28" name="Down Ribbon 27"/>
          <p:cNvSpPr/>
          <p:nvPr/>
        </p:nvSpPr>
        <p:spPr>
          <a:xfrm>
            <a:off x="1472605" y="2161854"/>
            <a:ext cx="868348" cy="288359"/>
          </a:xfrm>
          <a:prstGeom prst="ribbon">
            <a:avLst/>
          </a:prstGeom>
          <a:solidFill>
            <a:srgbClr val="CC2CA9"/>
          </a:solidFill>
          <a:ln w="8668">
            <a:solidFill>
              <a:srgbClr val="B666C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0090DF8B-3F57-9C7C-3837-F8975A35D8D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731994" y="3608153"/>
            <a:ext cx="1010923" cy="1082299"/>
          </a:xfrm>
          <a:prstGeom prst="rect">
            <a:avLst/>
          </a:prstGeom>
        </p:spPr>
      </p:pic>
      <p:pic>
        <p:nvPicPr>
          <p:cNvPr id="32" name="Graphic 31">
            <a:extLst>
              <a:ext uri="{FF2B5EF4-FFF2-40B4-BE49-F238E27FC236}">
                <a16:creationId xmlns:a16="http://schemas.microsoft.com/office/drawing/2014/main" id="{668C1F9F-8D24-01FA-F6B6-464E8CB729D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102313" y="2439860"/>
            <a:ext cx="1011899" cy="10102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85309" y="1420844"/>
            <a:ext cx="681659" cy="2280240"/>
          </a:xfrm>
          <a:prstGeom prst="rect">
            <a:avLst/>
          </a:prstGeom>
          <a:solidFill>
            <a:srgbClr val="AD4DD3"/>
          </a:solidFill>
        </p:spPr>
        <p:txBody>
          <a:bodyPr wrap="none" lIns="36643" tIns="36643" rIns="36643" bIns="36643">
            <a:spAutoFit/>
          </a:bodyPr>
          <a:lstStyle/>
          <a:p>
            <a:r>
              <a:rPr sz="900" b="0" i="0" u="none">
                <a:solidFill>
                  <a:srgbClr val="5E22DF"/>
                </a:solidFill>
                <a:latin typeface="Verdana"/>
              </a:rPr>
              <a:t>Schema Harbor Origin Target Package Build Object Bundle Sample Format Compass Schema</a:t>
            </a:r>
          </a:p>
        </p:txBody>
      </p:sp>
      <p:sp>
        <p:nvSpPr>
          <p:cNvPr id="3" name="Left Arrow 2"/>
          <p:cNvSpPr/>
          <p:nvPr/>
        </p:nvSpPr>
        <p:spPr>
          <a:xfrm>
            <a:off x="1220994" y="5676909"/>
            <a:ext cx="559286" cy="878675"/>
          </a:xfrm>
          <a:prstGeom prst="leftArrow">
            <a:avLst/>
          </a:prstGeom>
          <a:solidFill>
            <a:srgbClr val="4E5E97"/>
          </a:solidFill>
          <a:ln w="20385">
            <a:solidFill>
              <a:srgbClr val="A12AE4"/>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Chart 3"/>
          <p:cNvGraphicFramePr>
            <a:graphicFrameLocks noGrp="1"/>
          </p:cNvGraphicFramePr>
          <p:nvPr/>
        </p:nvGraphicFramePr>
        <p:xfrm>
          <a:off x="9381067" y="3944572"/>
          <a:ext cx="2349144" cy="2689298"/>
        </p:xfrm>
        <a:graphic>
          <a:graphicData uri="http://schemas.openxmlformats.org/drawingml/2006/chart">
            <c:chart xmlns:c="http://schemas.openxmlformats.org/drawingml/2006/chart" xmlns:r="http://schemas.openxmlformats.org/officeDocument/2006/relationships" r:id="rId2"/>
          </a:graphicData>
        </a:graphic>
      </p:graphicFrame>
      <p:sp>
        <p:nvSpPr>
          <p:cNvPr id="5" name="Freeform 4"/>
          <p:cNvSpPr/>
          <p:nvPr/>
        </p:nvSpPr>
        <p:spPr>
          <a:xfrm>
            <a:off x="565780" y="3060367"/>
            <a:ext cx="869341" cy="1080313"/>
          </a:xfrm>
          <a:custGeom>
            <a:avLst/>
            <a:gdLst/>
            <a:ahLst/>
            <a:cxnLst/>
            <a:rect l="l" t="t" r="r" b="b"/>
            <a:pathLst>
              <a:path w="869341" h="1080313">
                <a:moveTo>
                  <a:pt x="0" y="240069"/>
                </a:moveTo>
                <a:lnTo>
                  <a:pt x="186955" y="0"/>
                </a:lnTo>
                <a:lnTo>
                  <a:pt x="373910" y="324094"/>
                </a:lnTo>
                <a:lnTo>
                  <a:pt x="560865" y="36010"/>
                </a:lnTo>
                <a:lnTo>
                  <a:pt x="869341" y="840244"/>
                </a:lnTo>
                <a:lnTo>
                  <a:pt x="654343" y="1080313"/>
                </a:lnTo>
                <a:lnTo>
                  <a:pt x="448692" y="720209"/>
                </a:lnTo>
                <a:lnTo>
                  <a:pt x="214998" y="1044303"/>
                </a:lnTo>
                <a:close/>
              </a:path>
            </a:pathLst>
          </a:custGeom>
          <a:solidFill>
            <a:srgbClr val="405F1D"/>
          </a:solidFill>
          <a:ln w="32979">
            <a:solidFill>
              <a:srgbClr val="34BB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04827" y="2303146"/>
            <a:ext cx="846801" cy="1128413"/>
          </a:xfrm>
          <a:prstGeom prst="rect">
            <a:avLst/>
          </a:prstGeom>
          <a:noFill/>
        </p:spPr>
        <p:txBody>
          <a:bodyPr wrap="none" lIns="29448" tIns="29448" rIns="29448" bIns="29448">
            <a:spAutoFit/>
          </a:bodyPr>
          <a:lstStyle/>
          <a:p>
            <a:r>
              <a:rPr sz="1000" b="0" i="0" u="sng">
                <a:solidFill>
                  <a:srgbClr val="E0B385"/>
                </a:solidFill>
                <a:latin typeface="Georgia"/>
              </a:rPr>
              <a:t>Volume Output Reference Forecast Depth Waypoint Release</a:t>
            </a:r>
          </a:p>
        </p:txBody>
      </p:sp>
      <p:sp>
        <p:nvSpPr>
          <p:cNvPr id="7" name="TextBox 6"/>
          <p:cNvSpPr txBox="1"/>
          <p:nvPr/>
        </p:nvSpPr>
        <p:spPr>
          <a:xfrm>
            <a:off x="7979902" y="2428861"/>
            <a:ext cx="898647" cy="1086126"/>
          </a:xfrm>
          <a:prstGeom prst="rect">
            <a:avLst/>
          </a:prstGeom>
          <a:noFill/>
        </p:spPr>
        <p:txBody>
          <a:bodyPr wrap="none" lIns="62899" tIns="62899" rIns="62899" bIns="62899">
            <a:spAutoFit/>
          </a:bodyPr>
          <a:lstStyle/>
          <a:p>
            <a:r>
              <a:rPr sz="1000" b="1" i="0" u="none">
                <a:solidFill>
                  <a:srgbClr val="95CA63"/>
                </a:solidFill>
                <a:latin typeface="Calibri"/>
              </a:rPr>
              <a:t>Format Topology Input Element Scope Flow Field Density Delta Chart Structure Signal Guide Channel Matrix Brief Balance Circuit Design Service Report Motion Target Baseline Domain Energy</a:t>
            </a:r>
          </a:p>
        </p:txBody>
      </p:sp>
      <p:cxnSp>
        <p:nvCxnSpPr>
          <p:cNvPr id="8" name="Connector 7"/>
          <p:cNvCxnSpPr/>
          <p:nvPr/>
        </p:nvCxnSpPr>
        <p:spPr>
          <a:xfrm flipV="1">
            <a:off x="613270" y="5144222"/>
            <a:ext cx="1336501" cy="402186"/>
          </a:xfrm>
          <a:prstGeom prst="bentConnector3">
            <a:avLst/>
          </a:prstGeom>
          <a:ln w="17073">
            <a:solidFill>
              <a:srgbClr val="2CCA95"/>
            </a:solidFill>
            <a:prstDash val="dash"/>
          </a:ln>
        </p:spPr>
        <p:style>
          <a:lnRef idx="2">
            <a:schemeClr val="accent1"/>
          </a:lnRef>
          <a:fillRef idx="0">
            <a:schemeClr val="accent1"/>
          </a:fillRef>
          <a:effectRef idx="1">
            <a:schemeClr val="accent1"/>
          </a:effectRef>
          <a:fontRef idx="minor">
            <a:schemeClr val="tx1"/>
          </a:fontRef>
        </p:style>
      </p:cxnSp>
      <p:pic>
        <p:nvPicPr>
          <p:cNvPr id="9" name="Picture 8" descr="_example_image.jpg"/>
          <p:cNvPicPr>
            <a:picLocks noChangeAspect="1"/>
          </p:cNvPicPr>
          <p:nvPr/>
        </p:nvPicPr>
        <p:blipFill>
          <a:blip r:embed="rId3"/>
          <a:srcRect l="5363" t="15419" r="1172" b="18581"/>
          <a:stretch>
            <a:fillRect/>
          </a:stretch>
        </p:blipFill>
        <p:spPr>
          <a:xfrm>
            <a:off x="4047997" y="501866"/>
            <a:ext cx="1434519" cy="2347828"/>
          </a:xfrm>
          <a:prstGeom prst="rect">
            <a:avLst/>
          </a:prstGeom>
        </p:spPr>
      </p:pic>
      <p:sp>
        <p:nvSpPr>
          <p:cNvPr id="10" name="Rounded Rectangle 9"/>
          <p:cNvSpPr/>
          <p:nvPr/>
        </p:nvSpPr>
        <p:spPr>
          <a:xfrm>
            <a:off x="4047997" y="501866"/>
            <a:ext cx="1434519" cy="2347828"/>
          </a:xfrm>
          <a:prstGeom prst="roundRect">
            <a:avLst/>
          </a:prstGeom>
          <a:noFill/>
          <a:ln w="15240">
            <a:solidFill>
              <a:srgbClr val="9F52B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Chart 10"/>
          <p:cNvGraphicFramePr>
            <a:graphicFrameLocks noGrp="1"/>
          </p:cNvGraphicFramePr>
          <p:nvPr/>
        </p:nvGraphicFramePr>
        <p:xfrm>
          <a:off x="817694" y="979527"/>
          <a:ext cx="2041392" cy="2567304"/>
        </p:xfrm>
        <a:graphic>
          <a:graphicData uri="http://schemas.openxmlformats.org/drawingml/2006/chart">
            <c:chart xmlns:c="http://schemas.openxmlformats.org/drawingml/2006/chart" xmlns:r="http://schemas.openxmlformats.org/officeDocument/2006/relationships" r:id="rId4"/>
          </a:graphicData>
        </a:graphic>
      </p:graphicFrame>
      <p:sp>
        <p:nvSpPr>
          <p:cNvPr id="12" name="4-Point Star 11"/>
          <p:cNvSpPr/>
          <p:nvPr/>
        </p:nvSpPr>
        <p:spPr>
          <a:xfrm>
            <a:off x="4070158" y="4252724"/>
            <a:ext cx="546439" cy="288174"/>
          </a:xfrm>
          <a:prstGeom prst="star4">
            <a:avLst/>
          </a:prstGeom>
          <a:solidFill>
            <a:srgbClr val="3681BD"/>
          </a:solidFill>
          <a:ln w="9228">
            <a:solidFill>
              <a:srgbClr val="B5D58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78680" y="2167482"/>
            <a:ext cx="1238547" cy="368167"/>
          </a:xfrm>
          <a:prstGeom prst="rect">
            <a:avLst/>
          </a:prstGeom>
          <a:noFill/>
        </p:spPr>
        <p:txBody>
          <a:bodyPr wrap="none" lIns="54103" tIns="54103" rIns="54103" bIns="54103">
            <a:spAutoFit/>
          </a:bodyPr>
          <a:lstStyle/>
          <a:p>
            <a:r>
              <a:rPr sz="2400" b="0" i="0" u="none">
                <a:solidFill>
                  <a:srgbClr val="E45B27"/>
                </a:solidFill>
                <a:latin typeface="Verdana"/>
              </a:rPr>
              <a:t>Control Volume Audit Deployment Segment Duration Panel Snapshot Needle Summary Stage Account</a:t>
            </a:r>
          </a:p>
        </p:txBody>
      </p:sp>
      <p:graphicFrame>
        <p:nvGraphicFramePr>
          <p:cNvPr id="14" name="Table 13"/>
          <p:cNvGraphicFramePr>
            <a:graphicFrameLocks noGrp="1"/>
          </p:cNvGraphicFramePr>
          <p:nvPr/>
        </p:nvGraphicFramePr>
        <p:xfrm>
          <a:off x="1929926" y="3998434"/>
          <a:ext cx="2400004" cy="2715208"/>
        </p:xfrm>
        <a:graphic>
          <a:graphicData uri="http://schemas.openxmlformats.org/drawingml/2006/table">
            <a:tbl>
              <a:tblPr firstRow="1" bandRow="1">
                <a:tableStyleId>{5C22544A-7EE6-4342-B048-85BDC9FD1C3A}</a:tableStyleId>
              </a:tblPr>
              <a:tblGrid>
                <a:gridCol w="480000">
                  <a:extLst>
                    <a:ext uri="{9D8B030D-6E8A-4147-A177-3AD203B41FA5}">
                      <a16:colId xmlns:a16="http://schemas.microsoft.com/office/drawing/2014/main" val="20000"/>
                    </a:ext>
                  </a:extLst>
                </a:gridCol>
                <a:gridCol w="480000">
                  <a:extLst>
                    <a:ext uri="{9D8B030D-6E8A-4147-A177-3AD203B41FA5}">
                      <a16:colId xmlns:a16="http://schemas.microsoft.com/office/drawing/2014/main" val="20001"/>
                    </a:ext>
                  </a:extLst>
                </a:gridCol>
                <a:gridCol w="480000">
                  <a:extLst>
                    <a:ext uri="{9D8B030D-6E8A-4147-A177-3AD203B41FA5}">
                      <a16:colId xmlns:a16="http://schemas.microsoft.com/office/drawing/2014/main" val="20002"/>
                    </a:ext>
                  </a:extLst>
                </a:gridCol>
                <a:gridCol w="480000">
                  <a:extLst>
                    <a:ext uri="{9D8B030D-6E8A-4147-A177-3AD203B41FA5}">
                      <a16:colId xmlns:a16="http://schemas.microsoft.com/office/drawing/2014/main" val="20003"/>
                    </a:ext>
                  </a:extLst>
                </a:gridCol>
                <a:gridCol w="480004">
                  <a:extLst>
                    <a:ext uri="{9D8B030D-6E8A-4147-A177-3AD203B41FA5}">
                      <a16:colId xmlns:a16="http://schemas.microsoft.com/office/drawing/2014/main" val="20004"/>
                    </a:ext>
                  </a:extLst>
                </a:gridCol>
              </a:tblGrid>
              <a:tr h="543041">
                <a:tc>
                  <a:txBody>
                    <a:bodyPr/>
                    <a:lstStyle/>
                    <a:p>
                      <a:r>
                        <a:rPr sz="700" b="1">
                          <a:solidFill>
                            <a:srgbClr val="D42ED8"/>
                          </a:solidFill>
                        </a:rPr>
                        <a:t>Agenda Focus</a:t>
                      </a:r>
                    </a:p>
                  </a:txBody>
                  <a:tcPr>
                    <a:solidFill>
                      <a:srgbClr val="C5AF38"/>
                    </a:solidFill>
                  </a:tcPr>
                </a:tc>
                <a:tc>
                  <a:txBody>
                    <a:bodyPr/>
                    <a:lstStyle/>
                    <a:p>
                      <a:r>
                        <a:rPr sz="700" b="1">
                          <a:solidFill>
                            <a:srgbClr val="D42ED8"/>
                          </a:solidFill>
                        </a:rPr>
                        <a:t>Snapshot Depth</a:t>
                      </a:r>
                    </a:p>
                  </a:txBody>
                  <a:tcPr>
                    <a:solidFill>
                      <a:srgbClr val="C5AF38"/>
                    </a:solidFill>
                  </a:tcPr>
                </a:tc>
                <a:tc>
                  <a:txBody>
                    <a:bodyPr/>
                    <a:lstStyle/>
                    <a:p>
                      <a:r>
                        <a:rPr sz="700" b="1">
                          <a:solidFill>
                            <a:srgbClr val="D42ED8"/>
                          </a:solidFill>
                        </a:rPr>
                        <a:t>Level</a:t>
                      </a:r>
                    </a:p>
                  </a:txBody>
                  <a:tcPr>
                    <a:solidFill>
                      <a:srgbClr val="C5AF38"/>
                    </a:solidFill>
                  </a:tcPr>
                </a:tc>
                <a:tc>
                  <a:txBody>
                    <a:bodyPr/>
                    <a:lstStyle/>
                    <a:p>
                      <a:r>
                        <a:rPr sz="700" b="1">
                          <a:solidFill>
                            <a:srgbClr val="D42ED8"/>
                          </a:solidFill>
                        </a:rPr>
                        <a:t>Tile</a:t>
                      </a:r>
                    </a:p>
                  </a:txBody>
                  <a:tcPr>
                    <a:solidFill>
                      <a:srgbClr val="C5AF38"/>
                    </a:solidFill>
                  </a:tcPr>
                </a:tc>
                <a:tc>
                  <a:txBody>
                    <a:bodyPr/>
                    <a:lstStyle/>
                    <a:p>
                      <a:r>
                        <a:rPr sz="700" b="1">
                          <a:solidFill>
                            <a:srgbClr val="D42ED8"/>
                          </a:solidFill>
                        </a:rPr>
                        <a:t>Thread Scale</a:t>
                      </a:r>
                    </a:p>
                  </a:txBody>
                  <a:tcPr>
                    <a:solidFill>
                      <a:srgbClr val="C5AF38"/>
                    </a:solidFill>
                  </a:tcPr>
                </a:tc>
                <a:extLst>
                  <a:ext uri="{0D108BD9-81ED-4DB2-BD59-A6C34878D82A}">
                    <a16:rowId xmlns:a16="http://schemas.microsoft.com/office/drawing/2014/main" val="10000"/>
                  </a:ext>
                </a:extLst>
              </a:tr>
              <a:tr h="543041">
                <a:tc>
                  <a:txBody>
                    <a:bodyPr/>
                    <a:lstStyle/>
                    <a:p>
                      <a:r>
                        <a:rPr sz="700" b="0">
                          <a:solidFill>
                            <a:srgbClr val="D42ED8"/>
                          </a:solidFill>
                        </a:rPr>
                        <a:t>Resource Relay</a:t>
                      </a:r>
                    </a:p>
                  </a:txBody>
                  <a:tcPr>
                    <a:solidFill>
                      <a:srgbClr val="BBC6AD"/>
                    </a:solidFill>
                  </a:tcPr>
                </a:tc>
                <a:tc>
                  <a:txBody>
                    <a:bodyPr/>
                    <a:lstStyle/>
                    <a:p>
                      <a:r>
                        <a:rPr sz="700" b="0">
                          <a:solidFill>
                            <a:srgbClr val="D42ED8"/>
                          </a:solidFill>
                        </a:rPr>
                        <a:t>Table</a:t>
                      </a:r>
                    </a:p>
                  </a:txBody>
                  <a:tcPr>
                    <a:solidFill>
                      <a:srgbClr val="BBC6AD"/>
                    </a:solidFill>
                  </a:tcPr>
                </a:tc>
                <a:tc>
                  <a:txBody>
                    <a:bodyPr/>
                    <a:lstStyle/>
                    <a:p>
                      <a:r>
                        <a:rPr sz="700" b="0">
                          <a:solidFill>
                            <a:srgbClr val="D42ED8"/>
                          </a:solidFill>
                        </a:rPr>
                        <a:t>Audit</a:t>
                      </a:r>
                    </a:p>
                  </a:txBody>
                  <a:tcPr>
                    <a:solidFill>
                      <a:srgbClr val="BBC6AD"/>
                    </a:solidFill>
                  </a:tcPr>
                </a:tc>
                <a:tc>
                  <a:txBody>
                    <a:bodyPr/>
                    <a:lstStyle/>
                    <a:p>
                      <a:r>
                        <a:rPr sz="700" b="0">
                          <a:solidFill>
                            <a:srgbClr val="D42ED8"/>
                          </a:solidFill>
                        </a:rPr>
                        <a:t>System</a:t>
                      </a:r>
                    </a:p>
                  </a:txBody>
                  <a:tcPr>
                    <a:solidFill>
                      <a:srgbClr val="BBC6AD"/>
                    </a:solidFill>
                  </a:tcPr>
                </a:tc>
                <a:tc>
                  <a:txBody>
                    <a:bodyPr/>
                    <a:lstStyle/>
                    <a:p>
                      <a:r>
                        <a:rPr sz="700" b="0">
                          <a:solidFill>
                            <a:srgbClr val="D42ED8"/>
                          </a:solidFill>
                        </a:rPr>
                        <a:t>Link</a:t>
                      </a:r>
                    </a:p>
                  </a:txBody>
                  <a:tcPr>
                    <a:solidFill>
                      <a:srgbClr val="BBC6AD"/>
                    </a:solidFill>
                  </a:tcPr>
                </a:tc>
                <a:extLst>
                  <a:ext uri="{0D108BD9-81ED-4DB2-BD59-A6C34878D82A}">
                    <a16:rowId xmlns:a16="http://schemas.microsoft.com/office/drawing/2014/main" val="10001"/>
                  </a:ext>
                </a:extLst>
              </a:tr>
              <a:tr h="543041">
                <a:tc>
                  <a:txBody>
                    <a:bodyPr/>
                    <a:lstStyle/>
                    <a:p>
                      <a:r>
                        <a:rPr sz="700" b="0">
                          <a:solidFill>
                            <a:srgbClr val="D42ED8"/>
                          </a:solidFill>
                        </a:rPr>
                        <a:t>Estimate</a:t>
                      </a:r>
                    </a:p>
                  </a:txBody>
                  <a:tcPr>
                    <a:solidFill>
                      <a:srgbClr val="E3E8DD"/>
                    </a:solidFill>
                  </a:tcPr>
                </a:tc>
                <a:tc>
                  <a:txBody>
                    <a:bodyPr/>
                    <a:lstStyle/>
                    <a:p>
                      <a:r>
                        <a:rPr sz="700" b="0">
                          <a:solidFill>
                            <a:srgbClr val="D42ED8"/>
                          </a:solidFill>
                        </a:rPr>
                        <a:t>Depth Field</a:t>
                      </a:r>
                    </a:p>
                  </a:txBody>
                  <a:tcPr>
                    <a:solidFill>
                      <a:srgbClr val="BBC6AD"/>
                    </a:solidFill>
                  </a:tcPr>
                </a:tc>
                <a:tc>
                  <a:txBody>
                    <a:bodyPr/>
                    <a:lstStyle/>
                    <a:p>
                      <a:r>
                        <a:rPr sz="700" b="0">
                          <a:solidFill>
                            <a:srgbClr val="D42ED8"/>
                          </a:solidFill>
                        </a:rPr>
                        <a:t>Result Status</a:t>
                      </a:r>
                    </a:p>
                  </a:txBody>
                  <a:tcPr>
                    <a:solidFill>
                      <a:srgbClr val="E3E8DD"/>
                    </a:solidFill>
                  </a:tcPr>
                </a:tc>
                <a:tc>
                  <a:txBody>
                    <a:bodyPr/>
                    <a:lstStyle/>
                    <a:p>
                      <a:r>
                        <a:rPr sz="700" b="0">
                          <a:solidFill>
                            <a:srgbClr val="D42ED8"/>
                          </a:solidFill>
                        </a:rPr>
                        <a:t>Foundation</a:t>
                      </a:r>
                    </a:p>
                  </a:txBody>
                  <a:tcPr>
                    <a:solidFill>
                      <a:srgbClr val="BBC6AD"/>
                    </a:solidFill>
                  </a:tcPr>
                </a:tc>
                <a:tc>
                  <a:txBody>
                    <a:bodyPr/>
                    <a:lstStyle/>
                    <a:p>
                      <a:r>
                        <a:rPr sz="700" b="0">
                          <a:solidFill>
                            <a:srgbClr val="D42ED8"/>
                          </a:solidFill>
                        </a:rPr>
                        <a:t>Precision Delta</a:t>
                      </a:r>
                    </a:p>
                  </a:txBody>
                  <a:tcPr>
                    <a:solidFill>
                      <a:srgbClr val="E3E8DD"/>
                    </a:solidFill>
                  </a:tcPr>
                </a:tc>
                <a:extLst>
                  <a:ext uri="{0D108BD9-81ED-4DB2-BD59-A6C34878D82A}">
                    <a16:rowId xmlns:a16="http://schemas.microsoft.com/office/drawing/2014/main" val="10002"/>
                  </a:ext>
                </a:extLst>
              </a:tr>
              <a:tr h="543041">
                <a:tc>
                  <a:txBody>
                    <a:bodyPr/>
                    <a:lstStyle/>
                    <a:p>
                      <a:r>
                        <a:rPr sz="700" b="0">
                          <a:solidFill>
                            <a:srgbClr val="D42ED8"/>
                          </a:solidFill>
                        </a:rPr>
                        <a:t>Foundation Tile</a:t>
                      </a:r>
                    </a:p>
                  </a:txBody>
                  <a:tcPr>
                    <a:solidFill>
                      <a:srgbClr val="BBC6AD"/>
                    </a:solidFill>
                  </a:tcPr>
                </a:tc>
                <a:tc>
                  <a:txBody>
                    <a:bodyPr/>
                    <a:lstStyle/>
                    <a:p>
                      <a:r>
                        <a:rPr sz="700" b="0">
                          <a:solidFill>
                            <a:srgbClr val="D42ED8"/>
                          </a:solidFill>
                        </a:rPr>
                        <a:t>Transit Slice</a:t>
                      </a:r>
                    </a:p>
                  </a:txBody>
                  <a:tcPr>
                    <a:solidFill>
                      <a:srgbClr val="BBC6AD"/>
                    </a:solidFill>
                  </a:tcPr>
                </a:tc>
                <a:tc>
                  <a:txBody>
                    <a:bodyPr/>
                    <a:lstStyle/>
                    <a:p>
                      <a:r>
                        <a:rPr sz="700" b="0">
                          <a:solidFill>
                            <a:srgbClr val="D42ED8"/>
                          </a:solidFill>
                        </a:rPr>
                        <a:t>Register</a:t>
                      </a:r>
                    </a:p>
                  </a:txBody>
                  <a:tcPr>
                    <a:solidFill>
                      <a:srgbClr val="BBC6AD"/>
                    </a:solidFill>
                  </a:tcPr>
                </a:tc>
                <a:tc>
                  <a:txBody>
                    <a:bodyPr/>
                    <a:lstStyle/>
                    <a:p>
                      <a:r>
                        <a:rPr sz="700" b="0">
                          <a:solidFill>
                            <a:srgbClr val="D42ED8"/>
                          </a:solidFill>
                        </a:rPr>
                        <a:t>Portal Signal</a:t>
                      </a:r>
                    </a:p>
                  </a:txBody>
                  <a:tcPr>
                    <a:solidFill>
                      <a:srgbClr val="BBC6AD"/>
                    </a:solidFill>
                  </a:tcPr>
                </a:tc>
                <a:tc>
                  <a:txBody>
                    <a:bodyPr/>
                    <a:lstStyle/>
                    <a:p>
                      <a:r>
                        <a:rPr sz="700" b="0">
                          <a:solidFill>
                            <a:srgbClr val="D42ED8"/>
                          </a:solidFill>
                        </a:rPr>
                        <a:t>Detail Region</a:t>
                      </a:r>
                    </a:p>
                  </a:txBody>
                  <a:tcPr>
                    <a:solidFill>
                      <a:srgbClr val="BBC6AD"/>
                    </a:solidFill>
                  </a:tcPr>
                </a:tc>
                <a:extLst>
                  <a:ext uri="{0D108BD9-81ED-4DB2-BD59-A6C34878D82A}">
                    <a16:rowId xmlns:a16="http://schemas.microsoft.com/office/drawing/2014/main" val="10003"/>
                  </a:ext>
                </a:extLst>
              </a:tr>
              <a:tr h="543044">
                <a:tc>
                  <a:txBody>
                    <a:bodyPr/>
                    <a:lstStyle/>
                    <a:p>
                      <a:r>
                        <a:rPr sz="700" b="0">
                          <a:solidFill>
                            <a:srgbClr val="D42ED8"/>
                          </a:solidFill>
                        </a:rPr>
                        <a:t>Request Agenda</a:t>
                      </a:r>
                    </a:p>
                  </a:txBody>
                  <a:tcPr>
                    <a:solidFill>
                      <a:srgbClr val="E3E8DD"/>
                    </a:solidFill>
                  </a:tcPr>
                </a:tc>
                <a:tc>
                  <a:txBody>
                    <a:bodyPr/>
                    <a:lstStyle/>
                    <a:p>
                      <a:r>
                        <a:rPr sz="700" b="0">
                          <a:solidFill>
                            <a:srgbClr val="D42ED8"/>
                          </a:solidFill>
                        </a:rPr>
                        <a:t>Reference Request</a:t>
                      </a:r>
                    </a:p>
                  </a:txBody>
                  <a:tcPr>
                    <a:solidFill>
                      <a:srgbClr val="BBC6AD"/>
                    </a:solidFill>
                  </a:tcPr>
                </a:tc>
                <a:tc>
                  <a:txBody>
                    <a:bodyPr/>
                    <a:lstStyle/>
                    <a:p>
                      <a:r>
                        <a:rPr sz="700" b="0">
                          <a:solidFill>
                            <a:srgbClr val="D42ED8"/>
                          </a:solidFill>
                        </a:rPr>
                        <a:t>Narrative</a:t>
                      </a:r>
                    </a:p>
                  </a:txBody>
                  <a:tcPr>
                    <a:solidFill>
                      <a:srgbClr val="E3E8DD"/>
                    </a:solidFill>
                  </a:tcPr>
                </a:tc>
                <a:tc>
                  <a:txBody>
                    <a:bodyPr/>
                    <a:lstStyle/>
                    <a:p>
                      <a:r>
                        <a:rPr sz="700" b="0">
                          <a:solidFill>
                            <a:srgbClr val="D42ED8"/>
                          </a:solidFill>
                        </a:rPr>
                        <a:t>Drive Asset</a:t>
                      </a:r>
                    </a:p>
                  </a:txBody>
                  <a:tcPr>
                    <a:solidFill>
                      <a:srgbClr val="BBC6AD"/>
                    </a:solidFill>
                  </a:tcPr>
                </a:tc>
                <a:tc>
                  <a:txBody>
                    <a:bodyPr/>
                    <a:lstStyle/>
                    <a:p>
                      <a:r>
                        <a:rPr sz="700" b="0">
                          <a:solidFill>
                            <a:srgbClr val="D42ED8"/>
                          </a:solidFill>
                        </a:rPr>
                        <a:t>Matrix Wave</a:t>
                      </a:r>
                    </a:p>
                  </a:txBody>
                  <a:tcPr>
                    <a:solidFill>
                      <a:srgbClr val="E3E8DD"/>
                    </a:solidFill>
                  </a:tcPr>
                </a:tc>
                <a:extLst>
                  <a:ext uri="{0D108BD9-81ED-4DB2-BD59-A6C34878D82A}">
                    <a16:rowId xmlns:a16="http://schemas.microsoft.com/office/drawing/2014/main" val="10004"/>
                  </a:ext>
                </a:extLst>
              </a:tr>
            </a:tbl>
          </a:graphicData>
        </a:graphic>
      </p:graphicFrame>
      <p:sp>
        <p:nvSpPr>
          <p:cNvPr id="15" name="Block Arc 14"/>
          <p:cNvSpPr/>
          <p:nvPr/>
        </p:nvSpPr>
        <p:spPr>
          <a:xfrm>
            <a:off x="1515643" y="590188"/>
            <a:ext cx="2188857" cy="636187"/>
          </a:xfrm>
          <a:prstGeom prst="blockArc">
            <a:avLst/>
          </a:prstGeom>
          <a:noFill/>
          <a:ln w="7184">
            <a:solidFill>
              <a:srgbClr val="CE37A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Line Callout 2 15"/>
          <p:cNvSpPr/>
          <p:nvPr/>
        </p:nvSpPr>
        <p:spPr>
          <a:xfrm>
            <a:off x="7980351" y="3956349"/>
            <a:ext cx="919225" cy="701843"/>
          </a:xfrm>
          <a:prstGeom prst="borderCallout2">
            <a:avLst/>
          </a:prstGeom>
          <a:solidFill>
            <a:srgbClr val="83272A"/>
          </a:solidFill>
          <a:ln w="6359">
            <a:solidFill>
              <a:srgbClr val="88CC69"/>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ie 16"/>
          <p:cNvSpPr/>
          <p:nvPr/>
        </p:nvSpPr>
        <p:spPr>
          <a:xfrm>
            <a:off x="7907164" y="4821403"/>
            <a:ext cx="1610284" cy="492989"/>
          </a:xfrm>
          <a:prstGeom prst="pie">
            <a:avLst/>
          </a:prstGeom>
          <a:solidFill>
            <a:srgbClr val="33A0DA"/>
          </a:solidFill>
          <a:ln w="17646">
            <a:solidFill>
              <a:srgbClr val="8C47E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8" name="Table 17"/>
          <p:cNvGraphicFramePr>
            <a:graphicFrameLocks noGrp="1"/>
          </p:cNvGraphicFramePr>
          <p:nvPr/>
        </p:nvGraphicFramePr>
        <p:xfrm>
          <a:off x="8317753" y="3480006"/>
          <a:ext cx="2449959" cy="1408581"/>
        </p:xfrm>
        <a:graphic>
          <a:graphicData uri="http://schemas.openxmlformats.org/drawingml/2006/table">
            <a:tbl>
              <a:tblPr firstRow="1" bandRow="1">
                <a:tableStyleId>{5C22544A-7EE6-4342-B048-85BDC9FD1C3A}</a:tableStyleId>
              </a:tblPr>
              <a:tblGrid>
                <a:gridCol w="408326">
                  <a:extLst>
                    <a:ext uri="{9D8B030D-6E8A-4147-A177-3AD203B41FA5}">
                      <a16:colId xmlns:a16="http://schemas.microsoft.com/office/drawing/2014/main" val="20000"/>
                    </a:ext>
                  </a:extLst>
                </a:gridCol>
                <a:gridCol w="408326">
                  <a:extLst>
                    <a:ext uri="{9D8B030D-6E8A-4147-A177-3AD203B41FA5}">
                      <a16:colId xmlns:a16="http://schemas.microsoft.com/office/drawing/2014/main" val="20001"/>
                    </a:ext>
                  </a:extLst>
                </a:gridCol>
                <a:gridCol w="408326">
                  <a:extLst>
                    <a:ext uri="{9D8B030D-6E8A-4147-A177-3AD203B41FA5}">
                      <a16:colId xmlns:a16="http://schemas.microsoft.com/office/drawing/2014/main" val="20002"/>
                    </a:ext>
                  </a:extLst>
                </a:gridCol>
                <a:gridCol w="408326">
                  <a:extLst>
                    <a:ext uri="{9D8B030D-6E8A-4147-A177-3AD203B41FA5}">
                      <a16:colId xmlns:a16="http://schemas.microsoft.com/office/drawing/2014/main" val="20003"/>
                    </a:ext>
                  </a:extLst>
                </a:gridCol>
                <a:gridCol w="408326">
                  <a:extLst>
                    <a:ext uri="{9D8B030D-6E8A-4147-A177-3AD203B41FA5}">
                      <a16:colId xmlns:a16="http://schemas.microsoft.com/office/drawing/2014/main" val="20004"/>
                    </a:ext>
                  </a:extLst>
                </a:gridCol>
                <a:gridCol w="408329">
                  <a:extLst>
                    <a:ext uri="{9D8B030D-6E8A-4147-A177-3AD203B41FA5}">
                      <a16:colId xmlns:a16="http://schemas.microsoft.com/office/drawing/2014/main" val="20005"/>
                    </a:ext>
                  </a:extLst>
                </a:gridCol>
              </a:tblGrid>
              <a:tr h="704290">
                <a:tc>
                  <a:txBody>
                    <a:bodyPr/>
                    <a:lstStyle/>
                    <a:p>
                      <a:r>
                        <a:rPr sz="900" b="1">
                          <a:solidFill>
                            <a:srgbClr val="37861A"/>
                          </a:solidFill>
                        </a:rPr>
                        <a:t>Alpha Output</a:t>
                      </a:r>
                    </a:p>
                  </a:txBody>
                  <a:tcPr>
                    <a:solidFill>
                      <a:srgbClr val="CFD15B"/>
                    </a:solidFill>
                  </a:tcPr>
                </a:tc>
                <a:tc>
                  <a:txBody>
                    <a:bodyPr/>
                    <a:lstStyle/>
                    <a:p>
                      <a:r>
                        <a:rPr sz="900" b="1">
                          <a:solidFill>
                            <a:srgbClr val="37861A"/>
                          </a:solidFill>
                        </a:rPr>
                        <a:t>Interval</a:t>
                      </a:r>
                    </a:p>
                  </a:txBody>
                  <a:tcPr>
                    <a:solidFill>
                      <a:srgbClr val="CFD15B"/>
                    </a:solidFill>
                  </a:tcPr>
                </a:tc>
                <a:tc>
                  <a:txBody>
                    <a:bodyPr/>
                    <a:lstStyle/>
                    <a:p>
                      <a:r>
                        <a:rPr sz="900" b="1">
                          <a:solidFill>
                            <a:srgbClr val="37861A"/>
                          </a:solidFill>
                        </a:rPr>
                        <a:t>Core Input</a:t>
                      </a:r>
                    </a:p>
                  </a:txBody>
                  <a:tcPr>
                    <a:solidFill>
                      <a:srgbClr val="CFD15B"/>
                    </a:solidFill>
                  </a:tcPr>
                </a:tc>
                <a:tc>
                  <a:txBody>
                    <a:bodyPr/>
                    <a:lstStyle/>
                    <a:p>
                      <a:r>
                        <a:rPr sz="900" b="1">
                          <a:solidFill>
                            <a:srgbClr val="37861A"/>
                          </a:solidFill>
                        </a:rPr>
                        <a:t>Friction</a:t>
                      </a:r>
                    </a:p>
                  </a:txBody>
                  <a:tcPr>
                    <a:solidFill>
                      <a:srgbClr val="CFD15B"/>
                    </a:solidFill>
                  </a:tcPr>
                </a:tc>
                <a:tc>
                  <a:txBody>
                    <a:bodyPr/>
                    <a:lstStyle/>
                    <a:p>
                      <a:r>
                        <a:rPr sz="900" b="1">
                          <a:solidFill>
                            <a:srgbClr val="37861A"/>
                          </a:solidFill>
                        </a:rPr>
                        <a:t>Diagram Trend</a:t>
                      </a:r>
                    </a:p>
                  </a:txBody>
                  <a:tcPr>
                    <a:solidFill>
                      <a:srgbClr val="CFD15B"/>
                    </a:solidFill>
                  </a:tcPr>
                </a:tc>
                <a:tc>
                  <a:txBody>
                    <a:bodyPr/>
                    <a:lstStyle/>
                    <a:p>
                      <a:r>
                        <a:rPr sz="900" b="1">
                          <a:solidFill>
                            <a:srgbClr val="37861A"/>
                          </a:solidFill>
                        </a:rPr>
                        <a:t>Range</a:t>
                      </a:r>
                    </a:p>
                  </a:txBody>
                  <a:tcPr>
                    <a:solidFill>
                      <a:srgbClr val="CFD15B"/>
                    </a:solidFill>
                  </a:tcPr>
                </a:tc>
                <a:extLst>
                  <a:ext uri="{0D108BD9-81ED-4DB2-BD59-A6C34878D82A}">
                    <a16:rowId xmlns:a16="http://schemas.microsoft.com/office/drawing/2014/main" val="10000"/>
                  </a:ext>
                </a:extLst>
              </a:tr>
              <a:tr h="704291">
                <a:tc>
                  <a:txBody>
                    <a:bodyPr/>
                    <a:lstStyle/>
                    <a:p>
                      <a:r>
                        <a:rPr sz="900" b="0">
                          <a:solidFill>
                            <a:srgbClr val="37861A"/>
                          </a:solidFill>
                        </a:rPr>
                        <a:t>Atlas Path</a:t>
                      </a:r>
                    </a:p>
                  </a:txBody>
                  <a:tcPr>
                    <a:solidFill>
                      <a:srgbClr val="F0F0EC"/>
                    </a:solidFill>
                  </a:tcPr>
                </a:tc>
                <a:tc>
                  <a:txBody>
                    <a:bodyPr/>
                    <a:lstStyle/>
                    <a:p>
                      <a:r>
                        <a:rPr sz="900" b="0">
                          <a:solidFill>
                            <a:srgbClr val="37861A"/>
                          </a:solidFill>
                        </a:rPr>
                        <a:t>Blueprint</a:t>
                      </a:r>
                    </a:p>
                  </a:txBody>
                  <a:tcPr>
                    <a:solidFill>
                      <a:srgbClr val="C2C1B0"/>
                    </a:solidFill>
                  </a:tcPr>
                </a:tc>
                <a:tc>
                  <a:txBody>
                    <a:bodyPr/>
                    <a:lstStyle/>
                    <a:p>
                      <a:r>
                        <a:rPr sz="900" b="0">
                          <a:solidFill>
                            <a:srgbClr val="37861A"/>
                          </a:solidFill>
                        </a:rPr>
                        <a:t>Exchange Wave</a:t>
                      </a:r>
                    </a:p>
                  </a:txBody>
                  <a:tcPr>
                    <a:solidFill>
                      <a:srgbClr val="F0F0EC"/>
                    </a:solidFill>
                  </a:tcPr>
                </a:tc>
                <a:tc>
                  <a:txBody>
                    <a:bodyPr/>
                    <a:lstStyle/>
                    <a:p>
                      <a:r>
                        <a:rPr sz="900" b="0">
                          <a:solidFill>
                            <a:srgbClr val="37861A"/>
                          </a:solidFill>
                        </a:rPr>
                        <a:t>Packet</a:t>
                      </a:r>
                    </a:p>
                  </a:txBody>
                  <a:tcPr>
                    <a:solidFill>
                      <a:srgbClr val="C2C1B0"/>
                    </a:solidFill>
                  </a:tcPr>
                </a:tc>
                <a:tc>
                  <a:txBody>
                    <a:bodyPr/>
                    <a:lstStyle/>
                    <a:p>
                      <a:r>
                        <a:rPr sz="900" b="0">
                          <a:solidFill>
                            <a:srgbClr val="37861A"/>
                          </a:solidFill>
                        </a:rPr>
                        <a:t>Origin</a:t>
                      </a:r>
                    </a:p>
                  </a:txBody>
                  <a:tcPr>
                    <a:solidFill>
                      <a:srgbClr val="F0F0EC"/>
                    </a:solidFill>
                  </a:tcPr>
                </a:tc>
                <a:tc>
                  <a:txBody>
                    <a:bodyPr/>
                    <a:lstStyle/>
                    <a:p>
                      <a:r>
                        <a:rPr sz="900" b="0">
                          <a:solidFill>
                            <a:srgbClr val="37861A"/>
                          </a:solidFill>
                        </a:rPr>
                        <a:t>Resource Input</a:t>
                      </a:r>
                    </a:p>
                  </a:txBody>
                  <a:tcPr>
                    <a:solidFill>
                      <a:srgbClr val="C2C1B0"/>
                    </a:solidFill>
                  </a:tcPr>
                </a:tc>
                <a:extLst>
                  <a:ext uri="{0D108BD9-81ED-4DB2-BD59-A6C34878D82A}">
                    <a16:rowId xmlns:a16="http://schemas.microsoft.com/office/drawing/2014/main" val="10001"/>
                  </a:ext>
                </a:extLst>
              </a:tr>
            </a:tbl>
          </a:graphicData>
        </a:graphic>
      </p:graphicFrame>
      <p:sp>
        <p:nvSpPr>
          <p:cNvPr id="19" name="Freeform 18"/>
          <p:cNvSpPr/>
          <p:nvPr/>
        </p:nvSpPr>
        <p:spPr>
          <a:xfrm>
            <a:off x="5886386" y="2859028"/>
            <a:ext cx="1723327" cy="1164532"/>
          </a:xfrm>
          <a:custGeom>
            <a:avLst/>
            <a:gdLst/>
            <a:ahLst/>
            <a:cxnLst/>
            <a:rect l="l" t="t" r="r" b="b"/>
            <a:pathLst>
              <a:path w="1723327" h="1164532">
                <a:moveTo>
                  <a:pt x="185304" y="198218"/>
                </a:moveTo>
                <a:lnTo>
                  <a:pt x="611503" y="0"/>
                </a:lnTo>
                <a:lnTo>
                  <a:pt x="1260067" y="99109"/>
                </a:lnTo>
                <a:lnTo>
                  <a:pt x="1723327" y="470768"/>
                </a:lnTo>
                <a:lnTo>
                  <a:pt x="1482432" y="966313"/>
                </a:lnTo>
                <a:lnTo>
                  <a:pt x="796807" y="1164532"/>
                </a:lnTo>
                <a:lnTo>
                  <a:pt x="111182" y="842427"/>
                </a:lnTo>
                <a:lnTo>
                  <a:pt x="0" y="421213"/>
                </a:lnTo>
                <a:close/>
              </a:path>
            </a:pathLst>
          </a:custGeom>
          <a:solidFill>
            <a:srgbClr val="8D2A29"/>
          </a:solidFill>
          <a:ln w="12284">
            <a:solidFill>
              <a:srgbClr val="28C4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25409" y="4250097"/>
            <a:ext cx="874611" cy="2222891"/>
          </a:xfrm>
          <a:prstGeom prst="rect">
            <a:avLst/>
          </a:prstGeom>
          <a:noFill/>
        </p:spPr>
        <p:txBody>
          <a:bodyPr wrap="none" lIns="67216" tIns="67216" rIns="67216" bIns="67216">
            <a:spAutoFit/>
          </a:bodyPr>
          <a:lstStyle/>
          <a:p>
            <a:r>
              <a:rPr sz="800" b="1" i="0" u="none">
                <a:solidFill>
                  <a:srgbClr val="52ADBF"/>
                </a:solidFill>
                <a:latin typeface="Arial"/>
              </a:rPr>
              <a:t>Profile Rhythm</a:t>
            </a:r>
          </a:p>
        </p:txBody>
      </p:sp>
      <p:cxnSp>
        <p:nvCxnSpPr>
          <p:cNvPr id="21" name="Connector 20"/>
          <p:cNvCxnSpPr/>
          <p:nvPr/>
        </p:nvCxnSpPr>
        <p:spPr>
          <a:xfrm flipV="1">
            <a:off x="10201834" y="1948512"/>
            <a:ext cx="1665034" cy="969363"/>
          </a:xfrm>
          <a:prstGeom prst="bentConnector3">
            <a:avLst/>
          </a:prstGeom>
          <a:ln w="42653">
            <a:solidFill>
              <a:srgbClr val="85836A"/>
            </a:solidFill>
            <a:prstDash val="solid"/>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3"/>
          <a:srcRect/>
          <a:stretch>
            <a:fillRect/>
          </a:stretch>
        </p:blipFill>
        <p:spPr>
          <a:xfrm>
            <a:off x="5786555" y="4815438"/>
            <a:ext cx="1832396" cy="1736791"/>
          </a:xfrm>
          <a:prstGeom prst="rect">
            <a:avLst/>
          </a:prstGeom>
        </p:spPr>
      </p:pic>
      <p:sp>
        <p:nvSpPr>
          <p:cNvPr id="23" name="Cloud 22"/>
          <p:cNvSpPr/>
          <p:nvPr/>
        </p:nvSpPr>
        <p:spPr>
          <a:xfrm>
            <a:off x="4659752" y="2854629"/>
            <a:ext cx="1162378" cy="945173"/>
          </a:xfrm>
          <a:prstGeom prst="cloud">
            <a:avLst/>
          </a:prstGeom>
          <a:noFill/>
          <a:ln w="15582">
            <a:solidFill>
              <a:srgbClr val="DC744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8618703" y="665827"/>
            <a:ext cx="910166" cy="1032246"/>
          </a:xfrm>
          <a:prstGeom prst="curvedConnector3">
            <a:avLst/>
          </a:prstGeom>
          <a:ln w="32290">
            <a:solidFill>
              <a:srgbClr val="CFA5C1"/>
            </a:solidFill>
            <a:prstDash val="lgDash"/>
          </a:ln>
        </p:spPr>
        <p:style>
          <a:lnRef idx="2">
            <a:schemeClr val="accent1"/>
          </a:lnRef>
          <a:fillRef idx="0">
            <a:schemeClr val="accent1"/>
          </a:fillRef>
          <a:effectRef idx="1">
            <a:schemeClr val="accent1"/>
          </a:effectRef>
          <a:fontRef idx="minor">
            <a:schemeClr val="tx1"/>
          </a:fontRef>
        </p:style>
      </p:cxnSp>
      <p:sp>
        <p:nvSpPr>
          <p:cNvPr id="25" name="Striped Right Arrow 24"/>
          <p:cNvSpPr/>
          <p:nvPr/>
        </p:nvSpPr>
        <p:spPr>
          <a:xfrm>
            <a:off x="9200839" y="3179673"/>
            <a:ext cx="2268880" cy="336473"/>
          </a:xfrm>
          <a:prstGeom prst="stripedRightArrow">
            <a:avLst/>
          </a:prstGeom>
          <a:solidFill>
            <a:srgbClr val="A8872A"/>
          </a:solidFill>
          <a:ln w="11028">
            <a:solidFill>
              <a:srgbClr val="60517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3"/>
          <a:srcRect l="17964" t="14028" r="12387" b="14634"/>
          <a:stretch>
            <a:fillRect/>
          </a:stretch>
        </p:blipFill>
        <p:spPr>
          <a:xfrm>
            <a:off x="6189271" y="849518"/>
            <a:ext cx="1796351" cy="1177190"/>
          </a:xfrm>
          <a:prstGeom prst="rect">
            <a:avLst/>
          </a:prstGeom>
        </p:spPr>
      </p:pic>
      <p:sp>
        <p:nvSpPr>
          <p:cNvPr id="27" name="Rounded Rectangle 26"/>
          <p:cNvSpPr/>
          <p:nvPr/>
        </p:nvSpPr>
        <p:spPr>
          <a:xfrm>
            <a:off x="6189271" y="849518"/>
            <a:ext cx="1796351" cy="1177190"/>
          </a:xfrm>
          <a:prstGeom prst="roundRect">
            <a:avLst/>
          </a:prstGeom>
          <a:noFill/>
          <a:ln w="15240">
            <a:solidFill>
              <a:srgbClr val="5B8C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77034" y="296147"/>
            <a:ext cx="1512093" cy="1242866"/>
          </a:xfrm>
          <a:prstGeom prst="rect">
            <a:avLst/>
          </a:prstGeom>
          <a:noFill/>
        </p:spPr>
        <p:txBody>
          <a:bodyPr wrap="none" lIns="50312" tIns="50312" rIns="50312" bIns="50312">
            <a:spAutoFit/>
          </a:bodyPr>
          <a:lstStyle/>
          <a:p>
            <a:r>
              <a:rPr sz="1400" b="0" i="0" u="none">
                <a:solidFill>
                  <a:srgbClr val="A64FD4"/>
                </a:solidFill>
                <a:latin typeface="Arial"/>
              </a:rPr>
              <a:t>Vertex Duration Priority Kernel Interface Object Pattern Point Estimate Expansion Beta Runtime Inventory Map Compass Waypoint Harbor Foundation Thread Resource Briefing Wave Queueing Element Harbor Edge State Schema Priority Network Feature Connector Input Origin Stage Field Timeline Layer Relay Source Analysis Compass</a:t>
            </a:r>
          </a:p>
        </p:txBody>
      </p:sp>
      <p:pic>
        <p:nvPicPr>
          <p:cNvPr id="30" name="Graphic 29">
            <a:extLst>
              <a:ext uri="{FF2B5EF4-FFF2-40B4-BE49-F238E27FC236}">
                <a16:creationId xmlns:a16="http://schemas.microsoft.com/office/drawing/2014/main" id="{0F1252EE-FFBB-D049-9F41-B8591CAA346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865208" y="833735"/>
            <a:ext cx="915202" cy="851745"/>
          </a:xfrm>
          <a:prstGeom prst="rect">
            <a:avLst/>
          </a:prstGeom>
        </p:spPr>
      </p:pic>
      <p:pic>
        <p:nvPicPr>
          <p:cNvPr id="32" name="Graphic 31">
            <a:extLst>
              <a:ext uri="{FF2B5EF4-FFF2-40B4-BE49-F238E27FC236}">
                <a16:creationId xmlns:a16="http://schemas.microsoft.com/office/drawing/2014/main" id="{4046AA64-FC74-73D0-B211-A5139A72CE2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59365" y="548065"/>
            <a:ext cx="1033721" cy="7629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186" t="13472" r="12944" b="445"/>
          <a:stretch>
            <a:fillRect/>
          </a:stretch>
        </p:blipFill>
        <p:spPr>
          <a:xfrm>
            <a:off x="3449070" y="4723798"/>
            <a:ext cx="1820584" cy="1470104"/>
          </a:xfrm>
          <a:prstGeom prst="rect">
            <a:avLst/>
          </a:prstGeom>
        </p:spPr>
      </p:pic>
      <p:sp>
        <p:nvSpPr>
          <p:cNvPr id="3" name="Rounded Rectangle 2"/>
          <p:cNvSpPr/>
          <p:nvPr/>
        </p:nvSpPr>
        <p:spPr>
          <a:xfrm>
            <a:off x="3449070" y="4723798"/>
            <a:ext cx="1820584" cy="1470104"/>
          </a:xfrm>
          <a:prstGeom prst="roundRect">
            <a:avLst/>
          </a:prstGeom>
          <a:noFill/>
          <a:ln w="15240">
            <a:solidFill>
              <a:srgbClr val="5083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ular Callout 3"/>
          <p:cNvSpPr/>
          <p:nvPr/>
        </p:nvSpPr>
        <p:spPr>
          <a:xfrm>
            <a:off x="6868283" y="2269595"/>
            <a:ext cx="1180852" cy="1661416"/>
          </a:xfrm>
          <a:prstGeom prst="wedgeRectCallout">
            <a:avLst/>
          </a:prstGeom>
          <a:solidFill>
            <a:srgbClr val="93B01C"/>
          </a:solidFill>
          <a:ln w="13125">
            <a:solidFill>
              <a:srgbClr val="266AB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8264834" y="1891571"/>
          <a:ext cx="2276491" cy="1756846"/>
        </p:xfrm>
        <a:graphic>
          <a:graphicData uri="http://schemas.openxmlformats.org/drawingml/2006/table">
            <a:tbl>
              <a:tblPr firstRow="1" bandRow="1">
                <a:tableStyleId>{5C22544A-7EE6-4342-B048-85BDC9FD1C3A}</a:tableStyleId>
              </a:tblPr>
              <a:tblGrid>
                <a:gridCol w="455298">
                  <a:extLst>
                    <a:ext uri="{9D8B030D-6E8A-4147-A177-3AD203B41FA5}">
                      <a16:colId xmlns:a16="http://schemas.microsoft.com/office/drawing/2014/main" val="20000"/>
                    </a:ext>
                  </a:extLst>
                </a:gridCol>
                <a:gridCol w="455298">
                  <a:extLst>
                    <a:ext uri="{9D8B030D-6E8A-4147-A177-3AD203B41FA5}">
                      <a16:colId xmlns:a16="http://schemas.microsoft.com/office/drawing/2014/main" val="20001"/>
                    </a:ext>
                  </a:extLst>
                </a:gridCol>
                <a:gridCol w="455298">
                  <a:extLst>
                    <a:ext uri="{9D8B030D-6E8A-4147-A177-3AD203B41FA5}">
                      <a16:colId xmlns:a16="http://schemas.microsoft.com/office/drawing/2014/main" val="20002"/>
                    </a:ext>
                  </a:extLst>
                </a:gridCol>
                <a:gridCol w="455298">
                  <a:extLst>
                    <a:ext uri="{9D8B030D-6E8A-4147-A177-3AD203B41FA5}">
                      <a16:colId xmlns:a16="http://schemas.microsoft.com/office/drawing/2014/main" val="20003"/>
                    </a:ext>
                  </a:extLst>
                </a:gridCol>
                <a:gridCol w="455299">
                  <a:extLst>
                    <a:ext uri="{9D8B030D-6E8A-4147-A177-3AD203B41FA5}">
                      <a16:colId xmlns:a16="http://schemas.microsoft.com/office/drawing/2014/main" val="20004"/>
                    </a:ext>
                  </a:extLst>
                </a:gridCol>
              </a:tblGrid>
              <a:tr h="878423">
                <a:tc>
                  <a:txBody>
                    <a:bodyPr/>
                    <a:lstStyle/>
                    <a:p>
                      <a:r>
                        <a:rPr sz="1100" b="1">
                          <a:solidFill>
                            <a:srgbClr val="79A019"/>
                          </a:solidFill>
                        </a:rPr>
                        <a:t>Dispatch</a:t>
                      </a:r>
                    </a:p>
                  </a:txBody>
                  <a:tcPr>
                    <a:solidFill>
                      <a:srgbClr val="A0952A"/>
                    </a:solidFill>
                  </a:tcPr>
                </a:tc>
                <a:tc>
                  <a:txBody>
                    <a:bodyPr/>
                    <a:lstStyle/>
                    <a:p>
                      <a:r>
                        <a:rPr sz="1100" b="1">
                          <a:solidFill>
                            <a:srgbClr val="79A019"/>
                          </a:solidFill>
                        </a:rPr>
                        <a:t>Plan</a:t>
                      </a:r>
                    </a:p>
                  </a:txBody>
                  <a:tcPr>
                    <a:solidFill>
                      <a:srgbClr val="A0952A"/>
                    </a:solidFill>
                  </a:tcPr>
                </a:tc>
                <a:tc>
                  <a:txBody>
                    <a:bodyPr/>
                    <a:lstStyle/>
                    <a:p>
                      <a:r>
                        <a:rPr sz="1100" b="1">
                          <a:solidFill>
                            <a:srgbClr val="79A019"/>
                          </a:solidFill>
                        </a:rPr>
                        <a:t>Envelope Thread</a:t>
                      </a:r>
                    </a:p>
                  </a:txBody>
                  <a:tcPr>
                    <a:solidFill>
                      <a:srgbClr val="A0952A"/>
                    </a:solidFill>
                  </a:tcPr>
                </a:tc>
                <a:tc>
                  <a:txBody>
                    <a:bodyPr/>
                    <a:lstStyle/>
                    <a:p>
                      <a:r>
                        <a:rPr sz="1100" b="1">
                          <a:solidFill>
                            <a:srgbClr val="79A019"/>
                          </a:solidFill>
                        </a:rPr>
                        <a:t>Beacon Position</a:t>
                      </a:r>
                    </a:p>
                  </a:txBody>
                  <a:tcPr>
                    <a:solidFill>
                      <a:srgbClr val="A0952A"/>
                    </a:solidFill>
                  </a:tcPr>
                </a:tc>
                <a:tc>
                  <a:txBody>
                    <a:bodyPr/>
                    <a:lstStyle/>
                    <a:p>
                      <a:r>
                        <a:rPr sz="1100" b="1">
                          <a:solidFill>
                            <a:srgbClr val="79A019"/>
                          </a:solidFill>
                        </a:rPr>
                        <a:t>Archive</a:t>
                      </a:r>
                    </a:p>
                  </a:txBody>
                  <a:tcPr>
                    <a:solidFill>
                      <a:srgbClr val="A0952A"/>
                    </a:solidFill>
                  </a:tcPr>
                </a:tc>
                <a:extLst>
                  <a:ext uri="{0D108BD9-81ED-4DB2-BD59-A6C34878D82A}">
                    <a16:rowId xmlns:a16="http://schemas.microsoft.com/office/drawing/2014/main" val="10000"/>
                  </a:ext>
                </a:extLst>
              </a:tr>
              <a:tr h="878423">
                <a:tc>
                  <a:txBody>
                    <a:bodyPr/>
                    <a:lstStyle/>
                    <a:p>
                      <a:r>
                        <a:rPr sz="1100" b="0">
                          <a:solidFill>
                            <a:srgbClr val="79A019"/>
                          </a:solidFill>
                        </a:rPr>
                        <a:t>Keyline Signal</a:t>
                      </a:r>
                    </a:p>
                  </a:txBody>
                  <a:tcPr>
                    <a:solidFill>
                      <a:srgbClr val="E7EFEA"/>
                    </a:solidFill>
                  </a:tcPr>
                </a:tc>
                <a:tc>
                  <a:txBody>
                    <a:bodyPr/>
                    <a:lstStyle/>
                    <a:p>
                      <a:r>
                        <a:rPr sz="1100" b="0">
                          <a:solidFill>
                            <a:srgbClr val="79A019"/>
                          </a:solidFill>
                        </a:rPr>
                        <a:t>Capacity Estimate</a:t>
                      </a:r>
                    </a:p>
                  </a:txBody>
                  <a:tcPr>
                    <a:solidFill>
                      <a:srgbClr val="BBD2C4"/>
                    </a:solidFill>
                  </a:tcPr>
                </a:tc>
                <a:tc>
                  <a:txBody>
                    <a:bodyPr/>
                    <a:lstStyle/>
                    <a:p>
                      <a:r>
                        <a:rPr sz="1100" b="0">
                          <a:solidFill>
                            <a:srgbClr val="79A019"/>
                          </a:solidFill>
                        </a:rPr>
                        <a:t>Column Direction</a:t>
                      </a:r>
                    </a:p>
                  </a:txBody>
                  <a:tcPr>
                    <a:solidFill>
                      <a:srgbClr val="E7EFEA"/>
                    </a:solidFill>
                  </a:tcPr>
                </a:tc>
                <a:tc>
                  <a:txBody>
                    <a:bodyPr/>
                    <a:lstStyle/>
                    <a:p>
                      <a:r>
                        <a:rPr sz="1100" b="0">
                          <a:solidFill>
                            <a:srgbClr val="79A019"/>
                          </a:solidFill>
                        </a:rPr>
                        <a:t>Trigger</a:t>
                      </a:r>
                    </a:p>
                  </a:txBody>
                  <a:tcPr>
                    <a:solidFill>
                      <a:srgbClr val="BBD2C4"/>
                    </a:solidFill>
                  </a:tcPr>
                </a:tc>
                <a:tc>
                  <a:txBody>
                    <a:bodyPr/>
                    <a:lstStyle/>
                    <a:p>
                      <a:r>
                        <a:rPr sz="1100" b="0">
                          <a:solidFill>
                            <a:srgbClr val="79A019"/>
                          </a:solidFill>
                        </a:rPr>
                        <a:t>Story</a:t>
                      </a:r>
                    </a:p>
                  </a:txBody>
                  <a:tcPr>
                    <a:solidFill>
                      <a:srgbClr val="E7EFEA"/>
                    </a:solidFill>
                  </a:tcPr>
                </a:tc>
                <a:extLst>
                  <a:ext uri="{0D108BD9-81ED-4DB2-BD59-A6C34878D82A}">
                    <a16:rowId xmlns:a16="http://schemas.microsoft.com/office/drawing/2014/main" val="10001"/>
                  </a:ext>
                </a:extLst>
              </a:tr>
            </a:tbl>
          </a:graphicData>
        </a:graphic>
      </p:graphicFrame>
      <p:sp>
        <p:nvSpPr>
          <p:cNvPr id="6" name="Freeform 5"/>
          <p:cNvSpPr/>
          <p:nvPr/>
        </p:nvSpPr>
        <p:spPr>
          <a:xfrm>
            <a:off x="458966" y="5443705"/>
            <a:ext cx="1453296" cy="916961"/>
          </a:xfrm>
          <a:custGeom>
            <a:avLst/>
            <a:gdLst/>
            <a:ahLst/>
            <a:cxnLst/>
            <a:rect l="l" t="t" r="r" b="b"/>
            <a:pathLst>
              <a:path w="1453296" h="916961">
                <a:moveTo>
                  <a:pt x="156269" y="156078"/>
                </a:moveTo>
                <a:lnTo>
                  <a:pt x="515686" y="0"/>
                </a:lnTo>
                <a:lnTo>
                  <a:pt x="1062625" y="78039"/>
                </a:lnTo>
                <a:lnTo>
                  <a:pt x="1453296" y="370686"/>
                </a:lnTo>
                <a:lnTo>
                  <a:pt x="1250148" y="760883"/>
                </a:lnTo>
                <a:lnTo>
                  <a:pt x="671955" y="916961"/>
                </a:lnTo>
                <a:lnTo>
                  <a:pt x="93762" y="663334"/>
                </a:lnTo>
                <a:lnTo>
                  <a:pt x="0" y="331667"/>
                </a:lnTo>
                <a:close/>
              </a:path>
            </a:pathLst>
          </a:custGeom>
          <a:solidFill>
            <a:srgbClr val="27AF47"/>
          </a:solidFill>
          <a:ln w="26620">
            <a:solidFill>
              <a:srgbClr val="4D4B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2474548" y="1798278"/>
            <a:ext cx="1819468" cy="1676203"/>
          </a:xfrm>
          <a:prstGeom prst="curvedConnector3">
            <a:avLst/>
          </a:prstGeom>
          <a:ln w="21706">
            <a:solidFill>
              <a:srgbClr val="5F4EDA"/>
            </a:solidFill>
            <a:prstDash val="solid"/>
          </a:ln>
        </p:spPr>
        <p:style>
          <a:lnRef idx="2">
            <a:schemeClr val="accent1"/>
          </a:lnRef>
          <a:fillRef idx="0">
            <a:schemeClr val="accent1"/>
          </a:fillRef>
          <a:effectRef idx="1">
            <a:schemeClr val="accent1"/>
          </a:effectRef>
          <a:fontRef idx="minor">
            <a:schemeClr val="tx1"/>
          </a:fontRef>
        </p:style>
      </p:cxnSp>
      <p:sp>
        <p:nvSpPr>
          <p:cNvPr id="8" name="Pie 7"/>
          <p:cNvSpPr/>
          <p:nvPr/>
        </p:nvSpPr>
        <p:spPr>
          <a:xfrm>
            <a:off x="10239524" y="4688319"/>
            <a:ext cx="366950" cy="1148237"/>
          </a:xfrm>
          <a:prstGeom prst="pie">
            <a:avLst/>
          </a:prstGeom>
          <a:noFill/>
          <a:ln w="27323">
            <a:solidFill>
              <a:srgbClr val="6F2D9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quot;No&quot; Symbol 8"/>
          <p:cNvSpPr/>
          <p:nvPr/>
        </p:nvSpPr>
        <p:spPr>
          <a:xfrm>
            <a:off x="10850401" y="3742219"/>
            <a:ext cx="1048361" cy="1679993"/>
          </a:xfrm>
          <a:prstGeom prst="noSmoking">
            <a:avLst/>
          </a:prstGeom>
          <a:solidFill>
            <a:srgbClr val="969969"/>
          </a:solidFill>
          <a:ln w="7623">
            <a:solidFill>
              <a:srgbClr val="E4832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5072" y="3765468"/>
            <a:ext cx="1335986" cy="1560946"/>
          </a:xfrm>
          <a:prstGeom prst="rect">
            <a:avLst/>
          </a:prstGeom>
          <a:noFill/>
        </p:spPr>
        <p:txBody>
          <a:bodyPr wrap="none" lIns="50122" tIns="50122" rIns="50122" bIns="50122">
            <a:spAutoFit/>
          </a:bodyPr>
          <a:lstStyle/>
          <a:p>
            <a:r>
              <a:rPr sz="2800" b="1" i="1" u="none">
                <a:solidFill>
                  <a:srgbClr val="7C385E"/>
                </a:solidFill>
                <a:latin typeface="Arial"/>
              </a:rPr>
              <a:t>Source Library Slice Aspect Position Channel Field Origin</a:t>
            </a:r>
          </a:p>
        </p:txBody>
      </p:sp>
      <p:sp>
        <p:nvSpPr>
          <p:cNvPr id="11" name="TextBox 10"/>
          <p:cNvSpPr txBox="1"/>
          <p:nvPr/>
        </p:nvSpPr>
        <p:spPr>
          <a:xfrm>
            <a:off x="1046774" y="1097910"/>
            <a:ext cx="1075882" cy="2462547"/>
          </a:xfrm>
          <a:prstGeom prst="rect">
            <a:avLst/>
          </a:prstGeom>
          <a:noFill/>
        </p:spPr>
        <p:txBody>
          <a:bodyPr wrap="none" lIns="72594" tIns="72594" rIns="72594" bIns="72594">
            <a:spAutoFit/>
          </a:bodyPr>
          <a:lstStyle/>
          <a:p>
            <a:r>
              <a:rPr sz="1500" b="1" i="0" u="sng">
                <a:solidFill>
                  <a:srgbClr val="395184"/>
                </a:solidFill>
                <a:latin typeface="Georgia"/>
              </a:rPr>
              <a:t>Energy Trend Topology Brief Thread Review Control Benchmark Level Factor Logic Cluster Rhythm Service System Summary Deck Structure Collection Discovery Panel Depth Account Cell Edge Event Lens Collection</a:t>
            </a:r>
          </a:p>
        </p:txBody>
      </p:sp>
      <p:graphicFrame>
        <p:nvGraphicFramePr>
          <p:cNvPr id="12" name="Chart 11"/>
          <p:cNvGraphicFramePr>
            <a:graphicFrameLocks noGrp="1"/>
          </p:cNvGraphicFramePr>
          <p:nvPr/>
        </p:nvGraphicFramePr>
        <p:xfrm>
          <a:off x="4837455" y="994847"/>
          <a:ext cx="2419285" cy="1659376"/>
        </p:xfrm>
        <a:graphic>
          <a:graphicData uri="http://schemas.openxmlformats.org/drawingml/2006/chart">
            <c:chart xmlns:c="http://schemas.openxmlformats.org/drawingml/2006/chart" xmlns:r="http://schemas.openxmlformats.org/officeDocument/2006/relationships" r:id="rId3"/>
          </a:graphicData>
        </a:graphic>
      </p:graphicFrame>
      <p:sp>
        <p:nvSpPr>
          <p:cNvPr id="13" name="Cloud 12"/>
          <p:cNvSpPr/>
          <p:nvPr/>
        </p:nvSpPr>
        <p:spPr>
          <a:xfrm>
            <a:off x="8398684" y="542913"/>
            <a:ext cx="2236799" cy="814038"/>
          </a:xfrm>
          <a:prstGeom prst="cloud">
            <a:avLst/>
          </a:prstGeom>
          <a:solidFill>
            <a:srgbClr val="911A24"/>
          </a:solidFill>
          <a:ln w="12119">
            <a:solidFill>
              <a:srgbClr val="1DDD8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55919" y="2068926"/>
            <a:ext cx="1854240" cy="1728807"/>
          </a:xfrm>
          <a:prstGeom prst="rect">
            <a:avLst/>
          </a:prstGeom>
          <a:noFill/>
        </p:spPr>
        <p:txBody>
          <a:bodyPr wrap="none" lIns="74580" tIns="74580" rIns="74580" bIns="74580">
            <a:spAutoFit/>
          </a:bodyPr>
          <a:lstStyle/>
          <a:p>
            <a:r>
              <a:rPr sz="1300" b="1" i="0" u="none">
                <a:solidFill>
                  <a:srgbClr val="C291B9"/>
                </a:solidFill>
                <a:latin typeface="Trebuchet MS"/>
              </a:rPr>
              <a:t>Build Payload</a:t>
            </a:r>
          </a:p>
        </p:txBody>
      </p:sp>
      <p:sp>
        <p:nvSpPr>
          <p:cNvPr id="15" name="Curved Right Arrow 14"/>
          <p:cNvSpPr/>
          <p:nvPr/>
        </p:nvSpPr>
        <p:spPr>
          <a:xfrm>
            <a:off x="1795199" y="5690839"/>
            <a:ext cx="1128069" cy="634187"/>
          </a:xfrm>
          <a:prstGeom prst="curvedRightArrow">
            <a:avLst/>
          </a:prstGeom>
          <a:solidFill>
            <a:srgbClr val="73C3E5"/>
          </a:solidFill>
          <a:ln w="13109">
            <a:solidFill>
              <a:srgbClr val="C1BA56"/>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_example_image.jpg"/>
          <p:cNvPicPr>
            <a:picLocks noChangeAspect="1"/>
          </p:cNvPicPr>
          <p:nvPr/>
        </p:nvPicPr>
        <p:blipFill>
          <a:blip r:embed="rId2"/>
          <a:srcRect l="12142" t="7466" r="10369" b="12135"/>
          <a:stretch>
            <a:fillRect/>
          </a:stretch>
        </p:blipFill>
        <p:spPr>
          <a:xfrm>
            <a:off x="1690011" y="505065"/>
            <a:ext cx="1917694" cy="1246991"/>
          </a:xfrm>
          <a:prstGeom prst="rect">
            <a:avLst/>
          </a:prstGeom>
        </p:spPr>
      </p:pic>
      <p:sp>
        <p:nvSpPr>
          <p:cNvPr id="17" name="Oval 16"/>
          <p:cNvSpPr/>
          <p:nvPr/>
        </p:nvSpPr>
        <p:spPr>
          <a:xfrm>
            <a:off x="8434480" y="3997296"/>
            <a:ext cx="1400348" cy="240238"/>
          </a:xfrm>
          <a:prstGeom prst="ellipse">
            <a:avLst/>
          </a:prstGeom>
          <a:solidFill>
            <a:srgbClr val="5D48D8"/>
          </a:solidFill>
          <a:ln w="15749">
            <a:solidFill>
              <a:srgbClr val="1A829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56287" y="5183994"/>
            <a:ext cx="1189729" cy="1011700"/>
          </a:xfrm>
          <a:prstGeom prst="rect">
            <a:avLst/>
          </a:prstGeom>
          <a:noFill/>
        </p:spPr>
        <p:txBody>
          <a:bodyPr wrap="none" lIns="75881" tIns="75881" rIns="75881" bIns="75881">
            <a:spAutoFit/>
          </a:bodyPr>
          <a:lstStyle/>
          <a:p>
            <a:r>
              <a:rPr sz="5800" b="1" i="0" u="none">
                <a:solidFill>
                  <a:srgbClr val="55C325"/>
                </a:solidFill>
                <a:latin typeface="Calibri"/>
              </a:rPr>
              <a:t>Timeline Pattern</a:t>
            </a:r>
          </a:p>
        </p:txBody>
      </p:sp>
      <p:sp>
        <p:nvSpPr>
          <p:cNvPr id="19" name="TextBox 18"/>
          <p:cNvSpPr txBox="1"/>
          <p:nvPr/>
        </p:nvSpPr>
        <p:spPr>
          <a:xfrm>
            <a:off x="6885095" y="1300112"/>
            <a:ext cx="850905" cy="797366"/>
          </a:xfrm>
          <a:prstGeom prst="rect">
            <a:avLst/>
          </a:prstGeom>
          <a:noFill/>
        </p:spPr>
        <p:txBody>
          <a:bodyPr wrap="none" lIns="70493" tIns="70493" rIns="70493" bIns="70493">
            <a:spAutoFit/>
          </a:bodyPr>
          <a:lstStyle/>
          <a:p>
            <a:r>
              <a:rPr sz="4300" b="1" i="0" u="none">
                <a:solidFill>
                  <a:srgbClr val="D2D92B"/>
                </a:solidFill>
                <a:latin typeface="Calibri"/>
              </a:rPr>
              <a:t>Switch Timeline Harbor Bundle Texture</a:t>
            </a:r>
          </a:p>
        </p:txBody>
      </p:sp>
      <p:sp>
        <p:nvSpPr>
          <p:cNvPr id="20" name="Freeform 19"/>
          <p:cNvSpPr/>
          <p:nvPr/>
        </p:nvSpPr>
        <p:spPr>
          <a:xfrm>
            <a:off x="6631526" y="586098"/>
            <a:ext cx="1941025" cy="412503"/>
          </a:xfrm>
          <a:custGeom>
            <a:avLst/>
            <a:gdLst/>
            <a:ahLst/>
            <a:cxnLst/>
            <a:rect l="l" t="t" r="r" b="b"/>
            <a:pathLst>
              <a:path w="1941025" h="412503">
                <a:moveTo>
                  <a:pt x="0" y="200522"/>
                </a:moveTo>
                <a:lnTo>
                  <a:pt x="333940" y="0"/>
                </a:lnTo>
                <a:lnTo>
                  <a:pt x="688751" y="171876"/>
                </a:lnTo>
                <a:lnTo>
                  <a:pt x="1043562" y="343752"/>
                </a:lnTo>
                <a:lnTo>
                  <a:pt x="1419244" y="143230"/>
                </a:lnTo>
                <a:lnTo>
                  <a:pt x="1941025" y="217710"/>
                </a:lnTo>
                <a:lnTo>
                  <a:pt x="1941025" y="412503"/>
                </a:lnTo>
                <a:lnTo>
                  <a:pt x="0" y="412503"/>
                </a:lnTo>
                <a:close/>
              </a:path>
            </a:pathLst>
          </a:custGeom>
          <a:solidFill>
            <a:srgbClr val="E557C4"/>
          </a:solidFill>
          <a:ln w="19578">
            <a:solidFill>
              <a:srgbClr val="DC88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ecision 20"/>
          <p:cNvSpPr/>
          <p:nvPr/>
        </p:nvSpPr>
        <p:spPr>
          <a:xfrm>
            <a:off x="7484216" y="4372361"/>
            <a:ext cx="2674830" cy="1894154"/>
          </a:xfrm>
          <a:prstGeom prst="flowChartDecision">
            <a:avLst/>
          </a:prstGeom>
          <a:solidFill>
            <a:srgbClr val="29BF1C"/>
          </a:solidFill>
          <a:ln w="25687">
            <a:solidFill>
              <a:srgbClr val="887922"/>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Table 21"/>
          <p:cNvGraphicFramePr>
            <a:graphicFrameLocks noGrp="1"/>
          </p:cNvGraphicFramePr>
          <p:nvPr/>
        </p:nvGraphicFramePr>
        <p:xfrm>
          <a:off x="4336425" y="247612"/>
          <a:ext cx="2142889" cy="1616229"/>
        </p:xfrm>
        <a:graphic>
          <a:graphicData uri="http://schemas.openxmlformats.org/drawingml/2006/table">
            <a:tbl>
              <a:tblPr firstRow="1" bandRow="1">
                <a:tableStyleId>{5C22544A-7EE6-4342-B048-85BDC9FD1C3A}</a:tableStyleId>
              </a:tblPr>
              <a:tblGrid>
                <a:gridCol w="428577">
                  <a:extLst>
                    <a:ext uri="{9D8B030D-6E8A-4147-A177-3AD203B41FA5}">
                      <a16:colId xmlns:a16="http://schemas.microsoft.com/office/drawing/2014/main" val="20000"/>
                    </a:ext>
                  </a:extLst>
                </a:gridCol>
                <a:gridCol w="428577">
                  <a:extLst>
                    <a:ext uri="{9D8B030D-6E8A-4147-A177-3AD203B41FA5}">
                      <a16:colId xmlns:a16="http://schemas.microsoft.com/office/drawing/2014/main" val="20001"/>
                    </a:ext>
                  </a:extLst>
                </a:gridCol>
                <a:gridCol w="428577">
                  <a:extLst>
                    <a:ext uri="{9D8B030D-6E8A-4147-A177-3AD203B41FA5}">
                      <a16:colId xmlns:a16="http://schemas.microsoft.com/office/drawing/2014/main" val="20002"/>
                    </a:ext>
                  </a:extLst>
                </a:gridCol>
                <a:gridCol w="428577">
                  <a:extLst>
                    <a:ext uri="{9D8B030D-6E8A-4147-A177-3AD203B41FA5}">
                      <a16:colId xmlns:a16="http://schemas.microsoft.com/office/drawing/2014/main" val="20003"/>
                    </a:ext>
                  </a:extLst>
                </a:gridCol>
                <a:gridCol w="428581">
                  <a:extLst>
                    <a:ext uri="{9D8B030D-6E8A-4147-A177-3AD203B41FA5}">
                      <a16:colId xmlns:a16="http://schemas.microsoft.com/office/drawing/2014/main" val="20004"/>
                    </a:ext>
                  </a:extLst>
                </a:gridCol>
              </a:tblGrid>
              <a:tr h="230889">
                <a:tc>
                  <a:txBody>
                    <a:bodyPr/>
                    <a:lstStyle/>
                    <a:p>
                      <a:r>
                        <a:rPr sz="600" b="1">
                          <a:solidFill>
                            <a:srgbClr val="517A9C"/>
                          </a:solidFill>
                        </a:rPr>
                        <a:t>Sample Frequency</a:t>
                      </a:r>
                    </a:p>
                  </a:txBody>
                  <a:tcPr>
                    <a:solidFill>
                      <a:srgbClr val="276BC6"/>
                    </a:solidFill>
                  </a:tcPr>
                </a:tc>
                <a:tc>
                  <a:txBody>
                    <a:bodyPr/>
                    <a:lstStyle/>
                    <a:p>
                      <a:r>
                        <a:rPr sz="600" b="1">
                          <a:solidFill>
                            <a:srgbClr val="517A9C"/>
                          </a:solidFill>
                        </a:rPr>
                        <a:t>Asset</a:t>
                      </a:r>
                    </a:p>
                  </a:txBody>
                  <a:tcPr>
                    <a:solidFill>
                      <a:srgbClr val="276BC6"/>
                    </a:solidFill>
                  </a:tcPr>
                </a:tc>
                <a:tc>
                  <a:txBody>
                    <a:bodyPr/>
                    <a:lstStyle/>
                    <a:p>
                      <a:r>
                        <a:rPr sz="600" b="1">
                          <a:solidFill>
                            <a:srgbClr val="517A9C"/>
                          </a:solidFill>
                        </a:rPr>
                        <a:t>Audit</a:t>
                      </a:r>
                    </a:p>
                  </a:txBody>
                  <a:tcPr>
                    <a:solidFill>
                      <a:srgbClr val="276BC6"/>
                    </a:solidFill>
                  </a:tcPr>
                </a:tc>
                <a:tc>
                  <a:txBody>
                    <a:bodyPr/>
                    <a:lstStyle/>
                    <a:p>
                      <a:r>
                        <a:rPr sz="600" b="1">
                          <a:solidFill>
                            <a:srgbClr val="517A9C"/>
                          </a:solidFill>
                        </a:rPr>
                        <a:t>Velocity</a:t>
                      </a:r>
                    </a:p>
                  </a:txBody>
                  <a:tcPr>
                    <a:solidFill>
                      <a:srgbClr val="276BC6"/>
                    </a:solidFill>
                  </a:tcPr>
                </a:tc>
                <a:tc>
                  <a:txBody>
                    <a:bodyPr/>
                    <a:lstStyle/>
                    <a:p>
                      <a:r>
                        <a:rPr sz="600" b="1">
                          <a:solidFill>
                            <a:srgbClr val="517A9C"/>
                          </a:solidFill>
                        </a:rPr>
                        <a:t>Stream</a:t>
                      </a:r>
                    </a:p>
                  </a:txBody>
                  <a:tcPr>
                    <a:solidFill>
                      <a:srgbClr val="276BC6"/>
                    </a:solidFill>
                  </a:tcPr>
                </a:tc>
                <a:extLst>
                  <a:ext uri="{0D108BD9-81ED-4DB2-BD59-A6C34878D82A}">
                    <a16:rowId xmlns:a16="http://schemas.microsoft.com/office/drawing/2014/main" val="10000"/>
                  </a:ext>
                </a:extLst>
              </a:tr>
              <a:tr h="230889">
                <a:tc>
                  <a:txBody>
                    <a:bodyPr/>
                    <a:lstStyle/>
                    <a:p>
                      <a:r>
                        <a:rPr sz="600" b="0">
                          <a:solidFill>
                            <a:srgbClr val="517A9C"/>
                          </a:solidFill>
                        </a:rPr>
                        <a:t>Access</a:t>
                      </a:r>
                    </a:p>
                  </a:txBody>
                  <a:tcPr>
                    <a:solidFill>
                      <a:srgbClr val="E9EEEB"/>
                    </a:solidFill>
                  </a:tcPr>
                </a:tc>
                <a:tc>
                  <a:txBody>
                    <a:bodyPr/>
                    <a:lstStyle/>
                    <a:p>
                      <a:r>
                        <a:rPr sz="600" b="0">
                          <a:solidFill>
                            <a:srgbClr val="517A9C"/>
                          </a:solidFill>
                        </a:rPr>
                        <a:t>Trend Variant</a:t>
                      </a:r>
                    </a:p>
                  </a:txBody>
                  <a:tcPr>
                    <a:solidFill>
                      <a:srgbClr val="E9EEEB"/>
                    </a:solidFill>
                  </a:tcPr>
                </a:tc>
                <a:tc>
                  <a:txBody>
                    <a:bodyPr/>
                    <a:lstStyle/>
                    <a:p>
                      <a:r>
                        <a:rPr sz="600" b="0">
                          <a:solidFill>
                            <a:srgbClr val="517A9C"/>
                          </a:solidFill>
                        </a:rPr>
                        <a:t>Layer Range</a:t>
                      </a:r>
                    </a:p>
                  </a:txBody>
                  <a:tcPr>
                    <a:solidFill>
                      <a:srgbClr val="E9EEEB"/>
                    </a:solidFill>
                  </a:tcPr>
                </a:tc>
                <a:tc>
                  <a:txBody>
                    <a:bodyPr/>
                    <a:lstStyle/>
                    <a:p>
                      <a:r>
                        <a:rPr sz="600" b="0">
                          <a:solidFill>
                            <a:srgbClr val="517A9C"/>
                          </a:solidFill>
                        </a:rPr>
                        <a:t>Timeline</a:t>
                      </a:r>
                    </a:p>
                  </a:txBody>
                  <a:tcPr>
                    <a:solidFill>
                      <a:srgbClr val="E9EEEB"/>
                    </a:solidFill>
                  </a:tcPr>
                </a:tc>
                <a:tc>
                  <a:txBody>
                    <a:bodyPr/>
                    <a:lstStyle/>
                    <a:p>
                      <a:r>
                        <a:rPr sz="600" b="0">
                          <a:solidFill>
                            <a:srgbClr val="517A9C"/>
                          </a:solidFill>
                        </a:rPr>
                        <a:t>Matrix Signal</a:t>
                      </a:r>
                    </a:p>
                  </a:txBody>
                  <a:tcPr>
                    <a:solidFill>
                      <a:srgbClr val="E9EEEB"/>
                    </a:solidFill>
                  </a:tcPr>
                </a:tc>
                <a:extLst>
                  <a:ext uri="{0D108BD9-81ED-4DB2-BD59-A6C34878D82A}">
                    <a16:rowId xmlns:a16="http://schemas.microsoft.com/office/drawing/2014/main" val="10001"/>
                  </a:ext>
                </a:extLst>
              </a:tr>
              <a:tr h="230889">
                <a:tc>
                  <a:txBody>
                    <a:bodyPr/>
                    <a:lstStyle/>
                    <a:p>
                      <a:r>
                        <a:rPr sz="600" b="0">
                          <a:solidFill>
                            <a:srgbClr val="517A9C"/>
                          </a:solidFill>
                        </a:rPr>
                        <a:t>Grid Frequency</a:t>
                      </a:r>
                    </a:p>
                  </a:txBody>
                  <a:tcPr>
                    <a:solidFill>
                      <a:srgbClr val="E9EEEB"/>
                    </a:solidFill>
                  </a:tcPr>
                </a:tc>
                <a:tc>
                  <a:txBody>
                    <a:bodyPr/>
                    <a:lstStyle/>
                    <a:p>
                      <a:r>
                        <a:rPr sz="600" b="0">
                          <a:solidFill>
                            <a:srgbClr val="517A9C"/>
                          </a:solidFill>
                        </a:rPr>
                        <a:t>Case</a:t>
                      </a:r>
                    </a:p>
                  </a:txBody>
                  <a:tcPr>
                    <a:solidFill>
                      <a:srgbClr val="E9EEEB"/>
                    </a:solidFill>
                  </a:tcPr>
                </a:tc>
                <a:tc>
                  <a:txBody>
                    <a:bodyPr/>
                    <a:lstStyle/>
                    <a:p>
                      <a:r>
                        <a:rPr sz="600" b="0">
                          <a:solidFill>
                            <a:srgbClr val="517A9C"/>
                          </a:solidFill>
                        </a:rPr>
                        <a:t>Kernel Account</a:t>
                      </a:r>
                    </a:p>
                  </a:txBody>
                  <a:tcPr>
                    <a:solidFill>
                      <a:srgbClr val="E9EEEB"/>
                    </a:solidFill>
                  </a:tcPr>
                </a:tc>
                <a:tc>
                  <a:txBody>
                    <a:bodyPr/>
                    <a:lstStyle/>
                    <a:p>
                      <a:r>
                        <a:rPr sz="600" b="0">
                          <a:solidFill>
                            <a:srgbClr val="517A9C"/>
                          </a:solidFill>
                        </a:rPr>
                        <a:t>Transform Station</a:t>
                      </a:r>
                    </a:p>
                  </a:txBody>
                  <a:tcPr>
                    <a:solidFill>
                      <a:srgbClr val="E9EEEB"/>
                    </a:solidFill>
                  </a:tcPr>
                </a:tc>
                <a:tc>
                  <a:txBody>
                    <a:bodyPr/>
                    <a:lstStyle/>
                    <a:p>
                      <a:r>
                        <a:rPr sz="600" b="0">
                          <a:solidFill>
                            <a:srgbClr val="517A9C"/>
                          </a:solidFill>
                        </a:rPr>
                        <a:t>Archive</a:t>
                      </a:r>
                    </a:p>
                  </a:txBody>
                  <a:tcPr>
                    <a:solidFill>
                      <a:srgbClr val="E9EEEB"/>
                    </a:solidFill>
                  </a:tcPr>
                </a:tc>
                <a:extLst>
                  <a:ext uri="{0D108BD9-81ED-4DB2-BD59-A6C34878D82A}">
                    <a16:rowId xmlns:a16="http://schemas.microsoft.com/office/drawing/2014/main" val="10002"/>
                  </a:ext>
                </a:extLst>
              </a:tr>
              <a:tr h="230889">
                <a:tc>
                  <a:txBody>
                    <a:bodyPr/>
                    <a:lstStyle/>
                    <a:p>
                      <a:r>
                        <a:rPr sz="600" b="0">
                          <a:solidFill>
                            <a:srgbClr val="517A9C"/>
                          </a:solidFill>
                        </a:rPr>
                        <a:t>Lineage</a:t>
                      </a:r>
                    </a:p>
                  </a:txBody>
                  <a:tcPr>
                    <a:solidFill>
                      <a:srgbClr val="E9EEEB"/>
                    </a:solidFill>
                  </a:tcPr>
                </a:tc>
                <a:tc>
                  <a:txBody>
                    <a:bodyPr/>
                    <a:lstStyle/>
                    <a:p>
                      <a:r>
                        <a:rPr sz="600" b="0">
                          <a:solidFill>
                            <a:srgbClr val="517A9C"/>
                          </a:solidFill>
                        </a:rPr>
                        <a:t>Circuit</a:t>
                      </a:r>
                    </a:p>
                  </a:txBody>
                  <a:tcPr>
                    <a:solidFill>
                      <a:srgbClr val="E9EEEB"/>
                    </a:solidFill>
                  </a:tcPr>
                </a:tc>
                <a:tc>
                  <a:txBody>
                    <a:bodyPr/>
                    <a:lstStyle/>
                    <a:p>
                      <a:r>
                        <a:rPr sz="600" b="0">
                          <a:solidFill>
                            <a:srgbClr val="517A9C"/>
                          </a:solidFill>
                        </a:rPr>
                        <a:t>Signal</a:t>
                      </a:r>
                    </a:p>
                  </a:txBody>
                  <a:tcPr>
                    <a:solidFill>
                      <a:srgbClr val="E9EEEB"/>
                    </a:solidFill>
                  </a:tcPr>
                </a:tc>
                <a:tc>
                  <a:txBody>
                    <a:bodyPr/>
                    <a:lstStyle/>
                    <a:p>
                      <a:r>
                        <a:rPr sz="600" b="0">
                          <a:solidFill>
                            <a:srgbClr val="517A9C"/>
                          </a:solidFill>
                        </a:rPr>
                        <a:t>Target Sample</a:t>
                      </a:r>
                    </a:p>
                  </a:txBody>
                  <a:tcPr>
                    <a:solidFill>
                      <a:srgbClr val="E9EEEB"/>
                    </a:solidFill>
                  </a:tcPr>
                </a:tc>
                <a:tc>
                  <a:txBody>
                    <a:bodyPr/>
                    <a:lstStyle/>
                    <a:p>
                      <a:r>
                        <a:rPr sz="600" b="0">
                          <a:solidFill>
                            <a:srgbClr val="517A9C"/>
                          </a:solidFill>
                        </a:rPr>
                        <a:t>Network</a:t>
                      </a:r>
                    </a:p>
                  </a:txBody>
                  <a:tcPr>
                    <a:solidFill>
                      <a:srgbClr val="E9EEEB"/>
                    </a:solidFill>
                  </a:tcPr>
                </a:tc>
                <a:extLst>
                  <a:ext uri="{0D108BD9-81ED-4DB2-BD59-A6C34878D82A}">
                    <a16:rowId xmlns:a16="http://schemas.microsoft.com/office/drawing/2014/main" val="10003"/>
                  </a:ext>
                </a:extLst>
              </a:tr>
              <a:tr h="230889">
                <a:tc>
                  <a:txBody>
                    <a:bodyPr/>
                    <a:lstStyle/>
                    <a:p>
                      <a:r>
                        <a:rPr sz="600" b="0">
                          <a:solidFill>
                            <a:srgbClr val="517A9C"/>
                          </a:solidFill>
                        </a:rPr>
                        <a:t>Moment</a:t>
                      </a:r>
                    </a:p>
                  </a:txBody>
                  <a:tcPr>
                    <a:solidFill>
                      <a:srgbClr val="E9EEEB"/>
                    </a:solidFill>
                  </a:tcPr>
                </a:tc>
                <a:tc>
                  <a:txBody>
                    <a:bodyPr/>
                    <a:lstStyle/>
                    <a:p>
                      <a:r>
                        <a:rPr sz="600" b="0">
                          <a:solidFill>
                            <a:srgbClr val="517A9C"/>
                          </a:solidFill>
                        </a:rPr>
                        <a:t>Pixel</a:t>
                      </a:r>
                    </a:p>
                  </a:txBody>
                  <a:tcPr>
                    <a:solidFill>
                      <a:srgbClr val="E9EEEB"/>
                    </a:solidFill>
                  </a:tcPr>
                </a:tc>
                <a:tc>
                  <a:txBody>
                    <a:bodyPr/>
                    <a:lstStyle/>
                    <a:p>
                      <a:r>
                        <a:rPr sz="600" b="0">
                          <a:solidFill>
                            <a:srgbClr val="517A9C"/>
                          </a:solidFill>
                        </a:rPr>
                        <a:t>Coverage</a:t>
                      </a:r>
                    </a:p>
                  </a:txBody>
                  <a:tcPr>
                    <a:solidFill>
                      <a:srgbClr val="E9EEEB"/>
                    </a:solidFill>
                  </a:tcPr>
                </a:tc>
                <a:tc>
                  <a:txBody>
                    <a:bodyPr/>
                    <a:lstStyle/>
                    <a:p>
                      <a:r>
                        <a:rPr sz="600" b="0">
                          <a:solidFill>
                            <a:srgbClr val="517A9C"/>
                          </a:solidFill>
                        </a:rPr>
                        <a:t>Metric</a:t>
                      </a:r>
                    </a:p>
                  </a:txBody>
                  <a:tcPr>
                    <a:solidFill>
                      <a:srgbClr val="E9EEEB"/>
                    </a:solidFill>
                  </a:tcPr>
                </a:tc>
                <a:tc>
                  <a:txBody>
                    <a:bodyPr/>
                    <a:lstStyle/>
                    <a:p>
                      <a:r>
                        <a:rPr sz="600" b="0">
                          <a:solidFill>
                            <a:srgbClr val="517A9C"/>
                          </a:solidFill>
                        </a:rPr>
                        <a:t>Spectrum Stream</a:t>
                      </a:r>
                    </a:p>
                  </a:txBody>
                  <a:tcPr>
                    <a:solidFill>
                      <a:srgbClr val="E9EEEB"/>
                    </a:solidFill>
                  </a:tcPr>
                </a:tc>
                <a:extLst>
                  <a:ext uri="{0D108BD9-81ED-4DB2-BD59-A6C34878D82A}">
                    <a16:rowId xmlns:a16="http://schemas.microsoft.com/office/drawing/2014/main" val="10004"/>
                  </a:ext>
                </a:extLst>
              </a:tr>
              <a:tr h="230889">
                <a:tc>
                  <a:txBody>
                    <a:bodyPr/>
                    <a:lstStyle/>
                    <a:p>
                      <a:r>
                        <a:rPr sz="600" b="0">
                          <a:solidFill>
                            <a:srgbClr val="517A9C"/>
                          </a:solidFill>
                        </a:rPr>
                        <a:t>Order</a:t>
                      </a:r>
                    </a:p>
                  </a:txBody>
                  <a:tcPr>
                    <a:solidFill>
                      <a:srgbClr val="E9EEEB"/>
                    </a:solidFill>
                  </a:tcPr>
                </a:tc>
                <a:tc>
                  <a:txBody>
                    <a:bodyPr/>
                    <a:lstStyle/>
                    <a:p>
                      <a:r>
                        <a:rPr sz="600" b="0">
                          <a:solidFill>
                            <a:srgbClr val="517A9C"/>
                          </a:solidFill>
                        </a:rPr>
                        <a:t>Narrative Portal</a:t>
                      </a:r>
                    </a:p>
                  </a:txBody>
                  <a:tcPr>
                    <a:solidFill>
                      <a:srgbClr val="E9EEEB"/>
                    </a:solidFill>
                  </a:tcPr>
                </a:tc>
                <a:tc>
                  <a:txBody>
                    <a:bodyPr/>
                    <a:lstStyle/>
                    <a:p>
                      <a:r>
                        <a:rPr sz="600" b="0">
                          <a:solidFill>
                            <a:srgbClr val="517A9C"/>
                          </a:solidFill>
                        </a:rPr>
                        <a:t>Cadence Cell</a:t>
                      </a:r>
                    </a:p>
                  </a:txBody>
                  <a:tcPr>
                    <a:solidFill>
                      <a:srgbClr val="E9EEEB"/>
                    </a:solidFill>
                  </a:tcPr>
                </a:tc>
                <a:tc>
                  <a:txBody>
                    <a:bodyPr/>
                    <a:lstStyle/>
                    <a:p>
                      <a:r>
                        <a:rPr sz="600" b="0">
                          <a:solidFill>
                            <a:srgbClr val="517A9C"/>
                          </a:solidFill>
                        </a:rPr>
                        <a:t>Sequence</a:t>
                      </a:r>
                    </a:p>
                  </a:txBody>
                  <a:tcPr>
                    <a:solidFill>
                      <a:srgbClr val="E9EEEB"/>
                    </a:solidFill>
                  </a:tcPr>
                </a:tc>
                <a:tc>
                  <a:txBody>
                    <a:bodyPr/>
                    <a:lstStyle/>
                    <a:p>
                      <a:r>
                        <a:rPr sz="600" b="0">
                          <a:solidFill>
                            <a:srgbClr val="517A9C"/>
                          </a:solidFill>
                        </a:rPr>
                        <a:t>Runtime</a:t>
                      </a:r>
                    </a:p>
                  </a:txBody>
                  <a:tcPr>
                    <a:solidFill>
                      <a:srgbClr val="E9EEEB"/>
                    </a:solidFill>
                  </a:tcPr>
                </a:tc>
                <a:extLst>
                  <a:ext uri="{0D108BD9-81ED-4DB2-BD59-A6C34878D82A}">
                    <a16:rowId xmlns:a16="http://schemas.microsoft.com/office/drawing/2014/main" val="10005"/>
                  </a:ext>
                </a:extLst>
              </a:tr>
              <a:tr h="230895">
                <a:tc>
                  <a:txBody>
                    <a:bodyPr/>
                    <a:lstStyle/>
                    <a:p>
                      <a:r>
                        <a:rPr sz="600" b="0">
                          <a:solidFill>
                            <a:srgbClr val="517A9C"/>
                          </a:solidFill>
                        </a:rPr>
                        <a:t>Anchor Build</a:t>
                      </a:r>
                    </a:p>
                  </a:txBody>
                  <a:tcPr>
                    <a:solidFill>
                      <a:srgbClr val="E9EEEB"/>
                    </a:solidFill>
                  </a:tcPr>
                </a:tc>
                <a:tc>
                  <a:txBody>
                    <a:bodyPr/>
                    <a:lstStyle/>
                    <a:p>
                      <a:r>
                        <a:rPr sz="600" b="0">
                          <a:solidFill>
                            <a:srgbClr val="517A9C"/>
                          </a:solidFill>
                        </a:rPr>
                        <a:t>Datum Relay</a:t>
                      </a:r>
                    </a:p>
                  </a:txBody>
                  <a:tcPr>
                    <a:solidFill>
                      <a:srgbClr val="E9EEEB"/>
                    </a:solidFill>
                  </a:tcPr>
                </a:tc>
                <a:tc>
                  <a:txBody>
                    <a:bodyPr/>
                    <a:lstStyle/>
                    <a:p>
                      <a:r>
                        <a:rPr sz="600" b="0">
                          <a:solidFill>
                            <a:srgbClr val="517A9C"/>
                          </a:solidFill>
                        </a:rPr>
                        <a:t>Version Volume</a:t>
                      </a:r>
                    </a:p>
                  </a:txBody>
                  <a:tcPr>
                    <a:solidFill>
                      <a:srgbClr val="E9EEEB"/>
                    </a:solidFill>
                  </a:tcPr>
                </a:tc>
                <a:tc>
                  <a:txBody>
                    <a:bodyPr/>
                    <a:lstStyle/>
                    <a:p>
                      <a:r>
                        <a:rPr sz="600" b="0">
                          <a:solidFill>
                            <a:srgbClr val="517A9C"/>
                          </a:solidFill>
                        </a:rPr>
                        <a:t>Target</a:t>
                      </a:r>
                    </a:p>
                  </a:txBody>
                  <a:tcPr>
                    <a:solidFill>
                      <a:srgbClr val="E9EEEB"/>
                    </a:solidFill>
                  </a:tcPr>
                </a:tc>
                <a:tc>
                  <a:txBody>
                    <a:bodyPr/>
                    <a:lstStyle/>
                    <a:p>
                      <a:r>
                        <a:rPr sz="600" b="0">
                          <a:solidFill>
                            <a:srgbClr val="517A9C"/>
                          </a:solidFill>
                        </a:rPr>
                        <a:t>Trace Marker</a:t>
                      </a:r>
                    </a:p>
                  </a:txBody>
                  <a:tcPr>
                    <a:solidFill>
                      <a:srgbClr val="E9EEEB"/>
                    </a:solidFill>
                  </a:tcPr>
                </a:tc>
                <a:extLst>
                  <a:ext uri="{0D108BD9-81ED-4DB2-BD59-A6C34878D82A}">
                    <a16:rowId xmlns:a16="http://schemas.microsoft.com/office/drawing/2014/main" val="10006"/>
                  </a:ext>
                </a:extLst>
              </a:tr>
            </a:tbl>
          </a:graphicData>
        </a:graphic>
      </p:graphicFrame>
      <p:pic>
        <p:nvPicPr>
          <p:cNvPr id="23" name="Picture 22" descr="_example_image.jpg"/>
          <p:cNvPicPr>
            <a:picLocks noChangeAspect="1"/>
          </p:cNvPicPr>
          <p:nvPr/>
        </p:nvPicPr>
        <p:blipFill>
          <a:blip r:embed="rId2"/>
          <a:srcRect l="14182" t="8652" r="18072" b="19718"/>
          <a:stretch>
            <a:fillRect/>
          </a:stretch>
        </p:blipFill>
        <p:spPr>
          <a:xfrm>
            <a:off x="10397317" y="1324376"/>
            <a:ext cx="1469120" cy="2146773"/>
          </a:xfrm>
          <a:prstGeom prst="rect">
            <a:avLst/>
          </a:prstGeom>
        </p:spPr>
      </p:pic>
      <p:sp>
        <p:nvSpPr>
          <p:cNvPr id="24" name="TextBox 23"/>
          <p:cNvSpPr txBox="1"/>
          <p:nvPr/>
        </p:nvSpPr>
        <p:spPr>
          <a:xfrm>
            <a:off x="2276213" y="4088170"/>
            <a:ext cx="3450880" cy="560361"/>
          </a:xfrm>
          <a:prstGeom prst="rect">
            <a:avLst/>
          </a:prstGeom>
          <a:noFill/>
        </p:spPr>
        <p:txBody>
          <a:bodyPr wrap="none" lIns="55750" tIns="55750" rIns="55750" bIns="55750">
            <a:spAutoFit/>
          </a:bodyPr>
          <a:lstStyle/>
          <a:p>
            <a:r>
              <a:rPr sz="900" b="0" i="0" u="none">
                <a:solidFill>
                  <a:srgbClr val="718153"/>
                </a:solidFill>
                <a:latin typeface="Verdana"/>
              </a:rPr>
              <a:t>Pattern Cell Ledger Coverage Baseline Path Method Core Process Dashboard Graph Interval Moment Catalog Asset Cadence Asset Summary Briefing Story Template Briefing Event Region Snapshot Pipeline Summary Case Insight Panel Dispatch Pipeline Command Stage Connector Inventory Capacity Compass Program Reference Case Release Ratio View</a:t>
            </a:r>
          </a:p>
        </p:txBody>
      </p:sp>
      <p:cxnSp>
        <p:nvCxnSpPr>
          <p:cNvPr id="25" name="Connector 24"/>
          <p:cNvCxnSpPr/>
          <p:nvPr/>
        </p:nvCxnSpPr>
        <p:spPr>
          <a:xfrm>
            <a:off x="8848998" y="1234754"/>
            <a:ext cx="740856" cy="443789"/>
          </a:xfrm>
          <a:prstGeom prst="bentConnector3">
            <a:avLst/>
          </a:prstGeom>
          <a:ln w="12505">
            <a:solidFill>
              <a:srgbClr val="D67ACF"/>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26" name="Chart 25"/>
          <p:cNvGraphicFramePr>
            <a:graphicFrameLocks noGrp="1"/>
          </p:cNvGraphicFramePr>
          <p:nvPr/>
        </p:nvGraphicFramePr>
        <p:xfrm>
          <a:off x="6213895" y="3512434"/>
          <a:ext cx="2654717" cy="1705830"/>
        </p:xfrm>
        <a:graphic>
          <a:graphicData uri="http://schemas.openxmlformats.org/drawingml/2006/chart">
            <c:chart xmlns:c="http://schemas.openxmlformats.org/drawingml/2006/chart" xmlns:r="http://schemas.openxmlformats.org/officeDocument/2006/relationships" r:id="rId4"/>
          </a:graphicData>
        </a:graphic>
      </p:graphicFrame>
      <p:cxnSp>
        <p:nvCxnSpPr>
          <p:cNvPr id="27" name="Connector 26"/>
          <p:cNvCxnSpPr/>
          <p:nvPr/>
        </p:nvCxnSpPr>
        <p:spPr>
          <a:xfrm flipV="1">
            <a:off x="3855373" y="3724949"/>
            <a:ext cx="1167308" cy="386796"/>
          </a:xfrm>
          <a:prstGeom prst="line">
            <a:avLst/>
          </a:prstGeom>
          <a:ln w="40797">
            <a:solidFill>
              <a:srgbClr val="24C41C"/>
            </a:solidFill>
            <a:prstDash val="lgDash"/>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14CEDE6E-9B57-3D10-D1A9-43FD5E361FD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949156" y="5464990"/>
            <a:ext cx="1474185" cy="1212851"/>
          </a:xfrm>
          <a:prstGeom prst="rect">
            <a:avLst/>
          </a:prstGeom>
        </p:spPr>
      </p:pic>
      <p:pic>
        <p:nvPicPr>
          <p:cNvPr id="31" name="Graphic 30">
            <a:extLst>
              <a:ext uri="{FF2B5EF4-FFF2-40B4-BE49-F238E27FC236}">
                <a16:creationId xmlns:a16="http://schemas.microsoft.com/office/drawing/2014/main" id="{2B76E4CB-384E-61BC-5117-2235E1294A3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098493" y="3865820"/>
            <a:ext cx="942754" cy="87391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8705811" y="3189612"/>
          <a:ext cx="2475341" cy="1489767"/>
        </p:xfrm>
        <a:graphic>
          <a:graphicData uri="http://schemas.openxmlformats.org/drawingml/2006/chart">
            <c:chart xmlns:c="http://schemas.openxmlformats.org/drawingml/2006/chart" xmlns:r="http://schemas.openxmlformats.org/officeDocument/2006/relationships" r:id="rId2"/>
          </a:graphicData>
        </a:graphic>
      </p:graphicFrame>
      <p:cxnSp>
        <p:nvCxnSpPr>
          <p:cNvPr id="3" name="Connector 2"/>
          <p:cNvCxnSpPr/>
          <p:nvPr/>
        </p:nvCxnSpPr>
        <p:spPr>
          <a:xfrm flipV="1">
            <a:off x="10618740" y="2034552"/>
            <a:ext cx="1253610" cy="782540"/>
          </a:xfrm>
          <a:prstGeom prst="curvedConnector3">
            <a:avLst/>
          </a:prstGeom>
          <a:ln w="34100">
            <a:solidFill>
              <a:srgbClr val="404768"/>
            </a:solidFill>
            <a:prstDash val="dash"/>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390976" y="3179451"/>
            <a:ext cx="3252940" cy="986504"/>
          </a:xfrm>
          <a:prstGeom prst="rect">
            <a:avLst/>
          </a:prstGeom>
          <a:noFill/>
        </p:spPr>
        <p:txBody>
          <a:bodyPr wrap="none" lIns="18321" tIns="18321" rIns="18321" bIns="18321">
            <a:spAutoFit/>
          </a:bodyPr>
          <a:lstStyle/>
          <a:p>
            <a:r>
              <a:rPr sz="1900" b="0" i="0" u="sng">
                <a:solidFill>
                  <a:srgbClr val="728B80"/>
                </a:solidFill>
                <a:latin typeface="Arial"/>
              </a:rPr>
              <a:t>Trigger Feature Marker Column Vertex Relay Metric Link</a:t>
            </a:r>
          </a:p>
        </p:txBody>
      </p:sp>
      <p:cxnSp>
        <p:nvCxnSpPr>
          <p:cNvPr id="5" name="Connector 4"/>
          <p:cNvCxnSpPr/>
          <p:nvPr/>
        </p:nvCxnSpPr>
        <p:spPr>
          <a:xfrm>
            <a:off x="6484842" y="685650"/>
            <a:ext cx="2157445" cy="487777"/>
          </a:xfrm>
          <a:prstGeom prst="line">
            <a:avLst/>
          </a:prstGeom>
          <a:ln w="45535">
            <a:solidFill>
              <a:srgbClr val="A3A2D9"/>
            </a:solidFill>
            <a:prstDash val="dot"/>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5017859" y="5767943"/>
            <a:ext cx="1230626" cy="693942"/>
          </a:xfrm>
          <a:custGeom>
            <a:avLst/>
            <a:gdLst/>
            <a:ahLst/>
            <a:cxnLst/>
            <a:rect l="l" t="t" r="r" b="b"/>
            <a:pathLst>
              <a:path w="1230626" h="693942">
                <a:moveTo>
                  <a:pt x="0" y="337333"/>
                </a:moveTo>
                <a:lnTo>
                  <a:pt x="211721" y="0"/>
                </a:lnTo>
                <a:lnTo>
                  <a:pt x="436674" y="289143"/>
                </a:lnTo>
                <a:lnTo>
                  <a:pt x="661627" y="578285"/>
                </a:lnTo>
                <a:lnTo>
                  <a:pt x="899813" y="240952"/>
                </a:lnTo>
                <a:lnTo>
                  <a:pt x="1230626" y="366247"/>
                </a:lnTo>
                <a:lnTo>
                  <a:pt x="1230626" y="693942"/>
                </a:lnTo>
                <a:lnTo>
                  <a:pt x="0" y="693942"/>
                </a:lnTo>
                <a:close/>
              </a:path>
            </a:pathLst>
          </a:custGeom>
          <a:solidFill>
            <a:srgbClr val="D130DF"/>
          </a:solidFill>
          <a:ln w="9885">
            <a:solidFill>
              <a:srgbClr val="BC238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94744" y="1989672"/>
            <a:ext cx="432813" cy="813504"/>
          </a:xfrm>
          <a:prstGeom prst="rect">
            <a:avLst/>
          </a:prstGeom>
          <a:noFill/>
        </p:spPr>
        <p:txBody>
          <a:bodyPr wrap="none" lIns="62081" tIns="62081" rIns="62081" bIns="62081">
            <a:spAutoFit/>
          </a:bodyPr>
          <a:lstStyle/>
          <a:p>
            <a:r>
              <a:rPr sz="1100" b="0" i="0" u="none">
                <a:solidFill>
                  <a:srgbClr val="94A87D"/>
                </a:solidFill>
                <a:latin typeface="Verdana"/>
              </a:rPr>
              <a:t>Depth Marker Frequency Instance</a:t>
            </a:r>
          </a:p>
        </p:txBody>
      </p:sp>
      <p:graphicFrame>
        <p:nvGraphicFramePr>
          <p:cNvPr id="8" name="Chart 7"/>
          <p:cNvGraphicFramePr>
            <a:graphicFrameLocks noGrp="1"/>
          </p:cNvGraphicFramePr>
          <p:nvPr/>
        </p:nvGraphicFramePr>
        <p:xfrm>
          <a:off x="2754564" y="3644882"/>
          <a:ext cx="2681431" cy="1415778"/>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6759148" y="4984785"/>
            <a:ext cx="2012571" cy="1586870"/>
          </a:xfrm>
          <a:prstGeom prst="rect">
            <a:avLst/>
          </a:prstGeom>
          <a:noFill/>
        </p:spPr>
        <p:txBody>
          <a:bodyPr wrap="none" lIns="83173" tIns="83173" rIns="83173" bIns="83173">
            <a:spAutoFit/>
          </a:bodyPr>
          <a:lstStyle/>
          <a:p>
            <a:r>
              <a:rPr sz="5400" b="1" i="0" u="sng">
                <a:solidFill>
                  <a:srgbClr val="908A93"/>
                </a:solidFill>
                <a:latin typeface="Aptos"/>
              </a:rPr>
              <a:t>Envelope Gradient</a:t>
            </a:r>
          </a:p>
        </p:txBody>
      </p:sp>
      <p:sp>
        <p:nvSpPr>
          <p:cNvPr id="10" name="8-Point Star 9"/>
          <p:cNvSpPr/>
          <p:nvPr/>
        </p:nvSpPr>
        <p:spPr>
          <a:xfrm>
            <a:off x="9271223" y="379558"/>
            <a:ext cx="2579793" cy="1302733"/>
          </a:xfrm>
          <a:prstGeom prst="star8">
            <a:avLst/>
          </a:prstGeom>
          <a:solidFill>
            <a:srgbClr val="839944"/>
          </a:solidFill>
          <a:ln w="22697">
            <a:solidFill>
              <a:srgbClr val="C18D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Not Equal 10"/>
          <p:cNvSpPr/>
          <p:nvPr/>
        </p:nvSpPr>
        <p:spPr>
          <a:xfrm>
            <a:off x="7348346" y="1236403"/>
            <a:ext cx="1220614" cy="1049758"/>
          </a:xfrm>
          <a:prstGeom prst="mathNotEqual">
            <a:avLst/>
          </a:prstGeom>
          <a:solidFill>
            <a:srgbClr val="CF2F5A"/>
          </a:solidFill>
          <a:ln w="25633">
            <a:solidFill>
              <a:srgbClr val="25DED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16-Point Star 11"/>
          <p:cNvSpPr/>
          <p:nvPr/>
        </p:nvSpPr>
        <p:spPr>
          <a:xfrm>
            <a:off x="5279563" y="1733921"/>
            <a:ext cx="1073569" cy="460631"/>
          </a:xfrm>
          <a:prstGeom prst="star16">
            <a:avLst/>
          </a:prstGeom>
          <a:solidFill>
            <a:srgbClr val="B2DF93"/>
          </a:solidFill>
          <a:ln w="14520">
            <a:solidFill>
              <a:srgbClr val="87A84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4"/>
          <a:srcRect l="4197" t="9851" r="20460" b="14180"/>
          <a:stretch>
            <a:fillRect/>
          </a:stretch>
        </p:blipFill>
        <p:spPr>
          <a:xfrm>
            <a:off x="1257170" y="4692682"/>
            <a:ext cx="1308294" cy="828953"/>
          </a:xfrm>
          <a:prstGeom prst="rect">
            <a:avLst/>
          </a:prstGeom>
        </p:spPr>
      </p:pic>
      <p:sp>
        <p:nvSpPr>
          <p:cNvPr id="14" name="Rounded Rectangle 13"/>
          <p:cNvSpPr/>
          <p:nvPr/>
        </p:nvSpPr>
        <p:spPr>
          <a:xfrm>
            <a:off x="1257170" y="4692682"/>
            <a:ext cx="1308294" cy="828953"/>
          </a:xfrm>
          <a:prstGeom prst="roundRect">
            <a:avLst/>
          </a:prstGeom>
          <a:noFill/>
          <a:ln w="15240">
            <a:solidFill>
              <a:srgbClr val="57866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elay 14"/>
          <p:cNvSpPr/>
          <p:nvPr/>
        </p:nvSpPr>
        <p:spPr>
          <a:xfrm>
            <a:off x="916427" y="5653154"/>
            <a:ext cx="2163702" cy="716959"/>
          </a:xfrm>
          <a:prstGeom prst="flowChartDelay">
            <a:avLst/>
          </a:prstGeom>
          <a:solidFill>
            <a:srgbClr val="521A93"/>
          </a:solidFill>
          <a:ln w="11047">
            <a:solidFill>
              <a:srgbClr val="3DAF4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3885076" y="296995"/>
            <a:ext cx="1692970" cy="787307"/>
          </a:xfrm>
          <a:custGeom>
            <a:avLst/>
            <a:gdLst/>
            <a:ahLst/>
            <a:cxnLst/>
            <a:rect l="l" t="t" r="r" b="b"/>
            <a:pathLst>
              <a:path w="1692970" h="787307">
                <a:moveTo>
                  <a:pt x="182040" y="134010"/>
                </a:moveTo>
                <a:lnTo>
                  <a:pt x="600732" y="0"/>
                </a:lnTo>
                <a:lnTo>
                  <a:pt x="1237871" y="67005"/>
                </a:lnTo>
                <a:lnTo>
                  <a:pt x="1692970" y="318273"/>
                </a:lnTo>
                <a:lnTo>
                  <a:pt x="1456319" y="653297"/>
                </a:lnTo>
                <a:lnTo>
                  <a:pt x="782771" y="787307"/>
                </a:lnTo>
                <a:lnTo>
                  <a:pt x="109224" y="569541"/>
                </a:lnTo>
                <a:lnTo>
                  <a:pt x="0" y="284771"/>
                </a:lnTo>
                <a:close/>
              </a:path>
            </a:pathLst>
          </a:custGeom>
          <a:solidFill>
            <a:srgbClr val="33707D"/>
          </a:solidFill>
          <a:ln w="35516">
            <a:solidFill>
              <a:srgbClr val="A445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_example_image.jpg"/>
          <p:cNvPicPr>
            <a:picLocks noChangeAspect="1"/>
          </p:cNvPicPr>
          <p:nvPr/>
        </p:nvPicPr>
        <p:blipFill>
          <a:blip r:embed="rId4"/>
          <a:srcRect l="21589" t="330" r="21118" b="21205"/>
          <a:stretch>
            <a:fillRect/>
          </a:stretch>
        </p:blipFill>
        <p:spPr>
          <a:xfrm>
            <a:off x="9151943" y="3366057"/>
            <a:ext cx="1387336" cy="928697"/>
          </a:xfrm>
          <a:prstGeom prst="rect">
            <a:avLst/>
          </a:prstGeom>
        </p:spPr>
      </p:pic>
      <p:sp>
        <p:nvSpPr>
          <p:cNvPr id="18" name="Rounded Rectangle 17"/>
          <p:cNvSpPr/>
          <p:nvPr/>
        </p:nvSpPr>
        <p:spPr>
          <a:xfrm>
            <a:off x="9151943" y="3366057"/>
            <a:ext cx="1387336" cy="928697"/>
          </a:xfrm>
          <a:prstGeom prst="roundRect">
            <a:avLst/>
          </a:prstGeom>
          <a:noFill/>
          <a:ln w="15240">
            <a:solidFill>
              <a:srgbClr val="5D2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_example_image.jpg"/>
          <p:cNvPicPr>
            <a:picLocks noChangeAspect="1"/>
          </p:cNvPicPr>
          <p:nvPr/>
        </p:nvPicPr>
        <p:blipFill>
          <a:blip r:embed="rId4"/>
          <a:srcRect l="9605" t="20628" r="629" b="13812"/>
          <a:stretch>
            <a:fillRect/>
          </a:stretch>
        </p:blipFill>
        <p:spPr>
          <a:xfrm>
            <a:off x="8663498" y="2018277"/>
            <a:ext cx="1952444" cy="1262591"/>
          </a:xfrm>
          <a:prstGeom prst="rect">
            <a:avLst/>
          </a:prstGeom>
        </p:spPr>
      </p:pic>
      <p:sp>
        <p:nvSpPr>
          <p:cNvPr id="20" name="TextBox 19"/>
          <p:cNvSpPr txBox="1"/>
          <p:nvPr/>
        </p:nvSpPr>
        <p:spPr>
          <a:xfrm>
            <a:off x="4048481" y="4028650"/>
            <a:ext cx="499597" cy="1752308"/>
          </a:xfrm>
          <a:prstGeom prst="rect">
            <a:avLst/>
          </a:prstGeom>
          <a:noFill/>
        </p:spPr>
        <p:txBody>
          <a:bodyPr wrap="none" lIns="58569" tIns="58569" rIns="58569" bIns="58569">
            <a:spAutoFit/>
          </a:bodyPr>
          <a:lstStyle/>
          <a:p>
            <a:r>
              <a:rPr sz="1000" b="1" i="0" u="none">
                <a:solidFill>
                  <a:srgbClr val="33C6D9"/>
                </a:solidFill>
                <a:latin typeface="Arial"/>
              </a:rPr>
              <a:t>Topology Track Action Blueprint Cortex Package Milestone Detail Slice Radius Friction Module Forecast Volume Graph Version Waypoint Control Position Interval Option Audit Function Deployment Horizon Node Profile Process Cycle Profile</a:t>
            </a:r>
          </a:p>
        </p:txBody>
      </p:sp>
      <p:graphicFrame>
        <p:nvGraphicFramePr>
          <p:cNvPr id="21" name="Table 20"/>
          <p:cNvGraphicFramePr>
            <a:graphicFrameLocks noGrp="1"/>
          </p:cNvGraphicFramePr>
          <p:nvPr/>
        </p:nvGraphicFramePr>
        <p:xfrm>
          <a:off x="1123607" y="208202"/>
          <a:ext cx="2427376" cy="1742828"/>
        </p:xfrm>
        <a:graphic>
          <a:graphicData uri="http://schemas.openxmlformats.org/drawingml/2006/table">
            <a:tbl>
              <a:tblPr firstRow="1" bandRow="1">
                <a:tableStyleId>{5C22544A-7EE6-4342-B048-85BDC9FD1C3A}</a:tableStyleId>
              </a:tblPr>
              <a:tblGrid>
                <a:gridCol w="606844">
                  <a:extLst>
                    <a:ext uri="{9D8B030D-6E8A-4147-A177-3AD203B41FA5}">
                      <a16:colId xmlns:a16="http://schemas.microsoft.com/office/drawing/2014/main" val="20000"/>
                    </a:ext>
                  </a:extLst>
                </a:gridCol>
                <a:gridCol w="606844">
                  <a:extLst>
                    <a:ext uri="{9D8B030D-6E8A-4147-A177-3AD203B41FA5}">
                      <a16:colId xmlns:a16="http://schemas.microsoft.com/office/drawing/2014/main" val="20001"/>
                    </a:ext>
                  </a:extLst>
                </a:gridCol>
                <a:gridCol w="606844">
                  <a:extLst>
                    <a:ext uri="{9D8B030D-6E8A-4147-A177-3AD203B41FA5}">
                      <a16:colId xmlns:a16="http://schemas.microsoft.com/office/drawing/2014/main" val="20002"/>
                    </a:ext>
                  </a:extLst>
                </a:gridCol>
                <a:gridCol w="606844">
                  <a:extLst>
                    <a:ext uri="{9D8B030D-6E8A-4147-A177-3AD203B41FA5}">
                      <a16:colId xmlns:a16="http://schemas.microsoft.com/office/drawing/2014/main" val="20003"/>
                    </a:ext>
                  </a:extLst>
                </a:gridCol>
              </a:tblGrid>
              <a:tr h="348565">
                <a:tc>
                  <a:txBody>
                    <a:bodyPr/>
                    <a:lstStyle/>
                    <a:p>
                      <a:r>
                        <a:rPr sz="1100" b="0">
                          <a:solidFill>
                            <a:srgbClr val="5FBE2E"/>
                          </a:solidFill>
                        </a:rPr>
                        <a:t>Trend</a:t>
                      </a:r>
                    </a:p>
                  </a:txBody>
                  <a:tcPr>
                    <a:solidFill>
                      <a:srgbClr val="EBF9DF"/>
                    </a:solidFill>
                  </a:tcPr>
                </a:tc>
                <a:tc>
                  <a:txBody>
                    <a:bodyPr/>
                    <a:lstStyle/>
                    <a:p>
                      <a:r>
                        <a:rPr sz="1100" b="0">
                          <a:solidFill>
                            <a:srgbClr val="5FBE2E"/>
                          </a:solidFill>
                        </a:rPr>
                        <a:t>Range</a:t>
                      </a:r>
                    </a:p>
                  </a:txBody>
                  <a:tcPr>
                    <a:solidFill>
                      <a:srgbClr val="CDF0AE"/>
                    </a:solidFill>
                  </a:tcPr>
                </a:tc>
                <a:tc>
                  <a:txBody>
                    <a:bodyPr/>
                    <a:lstStyle/>
                    <a:p>
                      <a:r>
                        <a:rPr sz="1100" b="0">
                          <a:solidFill>
                            <a:srgbClr val="5FBE2E"/>
                          </a:solidFill>
                        </a:rPr>
                        <a:t>Waypoint</a:t>
                      </a:r>
                    </a:p>
                  </a:txBody>
                  <a:tcPr>
                    <a:solidFill>
                      <a:srgbClr val="EBF9DF"/>
                    </a:solidFill>
                  </a:tcPr>
                </a:tc>
                <a:tc>
                  <a:txBody>
                    <a:bodyPr/>
                    <a:lstStyle/>
                    <a:p>
                      <a:r>
                        <a:rPr sz="1100" b="0">
                          <a:solidFill>
                            <a:srgbClr val="5FBE2E"/>
                          </a:solidFill>
                        </a:rPr>
                        <a:t>Record Filter</a:t>
                      </a:r>
                    </a:p>
                  </a:txBody>
                  <a:tcPr>
                    <a:solidFill>
                      <a:srgbClr val="CDF0AE"/>
                    </a:solidFill>
                  </a:tcPr>
                </a:tc>
                <a:extLst>
                  <a:ext uri="{0D108BD9-81ED-4DB2-BD59-A6C34878D82A}">
                    <a16:rowId xmlns:a16="http://schemas.microsoft.com/office/drawing/2014/main" val="10000"/>
                  </a:ext>
                </a:extLst>
              </a:tr>
              <a:tr h="348565">
                <a:tc>
                  <a:txBody>
                    <a:bodyPr/>
                    <a:lstStyle/>
                    <a:p>
                      <a:r>
                        <a:rPr sz="1100" b="0">
                          <a:solidFill>
                            <a:srgbClr val="5FBE2E"/>
                          </a:solidFill>
                        </a:rPr>
                        <a:t>Beacon Release</a:t>
                      </a:r>
                    </a:p>
                  </a:txBody>
                  <a:tcPr>
                    <a:solidFill>
                      <a:srgbClr val="CDF0AE"/>
                    </a:solidFill>
                  </a:tcPr>
                </a:tc>
                <a:tc>
                  <a:txBody>
                    <a:bodyPr/>
                    <a:lstStyle/>
                    <a:p>
                      <a:r>
                        <a:rPr sz="1100" b="0">
                          <a:solidFill>
                            <a:srgbClr val="5FBE2E"/>
                          </a:solidFill>
                        </a:rPr>
                        <a:t>Gradient</a:t>
                      </a:r>
                    </a:p>
                  </a:txBody>
                  <a:tcPr>
                    <a:solidFill>
                      <a:srgbClr val="CDF0AE"/>
                    </a:solidFill>
                  </a:tcPr>
                </a:tc>
                <a:tc>
                  <a:txBody>
                    <a:bodyPr/>
                    <a:lstStyle/>
                    <a:p>
                      <a:r>
                        <a:rPr sz="1100" b="0">
                          <a:solidFill>
                            <a:srgbClr val="5FBE2E"/>
                          </a:solidFill>
                        </a:rPr>
                        <a:t>Cluster Program</a:t>
                      </a:r>
                    </a:p>
                  </a:txBody>
                  <a:tcPr>
                    <a:solidFill>
                      <a:srgbClr val="CDF0AE"/>
                    </a:solidFill>
                  </a:tcPr>
                </a:tc>
                <a:tc>
                  <a:txBody>
                    <a:bodyPr/>
                    <a:lstStyle/>
                    <a:p>
                      <a:r>
                        <a:rPr sz="1100" b="0">
                          <a:solidFill>
                            <a:srgbClr val="5FBE2E"/>
                          </a:solidFill>
                        </a:rPr>
                        <a:t>Balance Option</a:t>
                      </a:r>
                    </a:p>
                  </a:txBody>
                  <a:tcPr>
                    <a:solidFill>
                      <a:srgbClr val="CDF0AE"/>
                    </a:solidFill>
                  </a:tcPr>
                </a:tc>
                <a:extLst>
                  <a:ext uri="{0D108BD9-81ED-4DB2-BD59-A6C34878D82A}">
                    <a16:rowId xmlns:a16="http://schemas.microsoft.com/office/drawing/2014/main" val="10001"/>
                  </a:ext>
                </a:extLst>
              </a:tr>
              <a:tr h="348565">
                <a:tc>
                  <a:txBody>
                    <a:bodyPr/>
                    <a:lstStyle/>
                    <a:p>
                      <a:r>
                        <a:rPr sz="1100" b="0">
                          <a:solidFill>
                            <a:srgbClr val="5FBE2E"/>
                          </a:solidFill>
                        </a:rPr>
                        <a:t>Table</a:t>
                      </a:r>
                    </a:p>
                  </a:txBody>
                  <a:tcPr>
                    <a:solidFill>
                      <a:srgbClr val="EBF9DF"/>
                    </a:solidFill>
                  </a:tcPr>
                </a:tc>
                <a:tc>
                  <a:txBody>
                    <a:bodyPr/>
                    <a:lstStyle/>
                    <a:p>
                      <a:r>
                        <a:rPr sz="1100" b="0">
                          <a:solidFill>
                            <a:srgbClr val="5FBE2E"/>
                          </a:solidFill>
                        </a:rPr>
                        <a:t>Bundle Logic</a:t>
                      </a:r>
                    </a:p>
                  </a:txBody>
                  <a:tcPr>
                    <a:solidFill>
                      <a:srgbClr val="CDF0AE"/>
                    </a:solidFill>
                  </a:tcPr>
                </a:tc>
                <a:tc>
                  <a:txBody>
                    <a:bodyPr/>
                    <a:lstStyle/>
                    <a:p>
                      <a:r>
                        <a:rPr sz="1100" b="0">
                          <a:solidFill>
                            <a:srgbClr val="5FBE2E"/>
                          </a:solidFill>
                        </a:rPr>
                        <a:t>Entity Atlas</a:t>
                      </a:r>
                    </a:p>
                  </a:txBody>
                  <a:tcPr>
                    <a:solidFill>
                      <a:srgbClr val="EBF9DF"/>
                    </a:solidFill>
                  </a:tcPr>
                </a:tc>
                <a:tc>
                  <a:txBody>
                    <a:bodyPr/>
                    <a:lstStyle/>
                    <a:p>
                      <a:r>
                        <a:rPr sz="1100" b="0">
                          <a:solidFill>
                            <a:srgbClr val="5FBE2E"/>
                          </a:solidFill>
                        </a:rPr>
                        <a:t>Bundle</a:t>
                      </a:r>
                    </a:p>
                  </a:txBody>
                  <a:tcPr>
                    <a:solidFill>
                      <a:srgbClr val="CDF0AE"/>
                    </a:solidFill>
                  </a:tcPr>
                </a:tc>
                <a:extLst>
                  <a:ext uri="{0D108BD9-81ED-4DB2-BD59-A6C34878D82A}">
                    <a16:rowId xmlns:a16="http://schemas.microsoft.com/office/drawing/2014/main" val="10002"/>
                  </a:ext>
                </a:extLst>
              </a:tr>
              <a:tr h="348565">
                <a:tc>
                  <a:txBody>
                    <a:bodyPr/>
                    <a:lstStyle/>
                    <a:p>
                      <a:r>
                        <a:rPr sz="1100" b="0">
                          <a:solidFill>
                            <a:srgbClr val="5FBE2E"/>
                          </a:solidFill>
                        </a:rPr>
                        <a:t>Vertex</a:t>
                      </a:r>
                    </a:p>
                  </a:txBody>
                  <a:tcPr>
                    <a:solidFill>
                      <a:srgbClr val="CDF0AE"/>
                    </a:solidFill>
                  </a:tcPr>
                </a:tc>
                <a:tc>
                  <a:txBody>
                    <a:bodyPr/>
                    <a:lstStyle/>
                    <a:p>
                      <a:r>
                        <a:rPr sz="1100" b="0">
                          <a:solidFill>
                            <a:srgbClr val="5FBE2E"/>
                          </a:solidFill>
                        </a:rPr>
                        <a:t>Buffer</a:t>
                      </a:r>
                    </a:p>
                  </a:txBody>
                  <a:tcPr>
                    <a:solidFill>
                      <a:srgbClr val="CDF0AE"/>
                    </a:solidFill>
                  </a:tcPr>
                </a:tc>
                <a:tc>
                  <a:txBody>
                    <a:bodyPr/>
                    <a:lstStyle/>
                    <a:p>
                      <a:r>
                        <a:rPr sz="1100" b="0">
                          <a:solidFill>
                            <a:srgbClr val="5FBE2E"/>
                          </a:solidFill>
                        </a:rPr>
                        <a:t>Heading</a:t>
                      </a:r>
                    </a:p>
                  </a:txBody>
                  <a:tcPr>
                    <a:solidFill>
                      <a:srgbClr val="CDF0AE"/>
                    </a:solidFill>
                  </a:tcPr>
                </a:tc>
                <a:tc>
                  <a:txBody>
                    <a:bodyPr/>
                    <a:lstStyle/>
                    <a:p>
                      <a:r>
                        <a:rPr sz="1100" b="0">
                          <a:solidFill>
                            <a:srgbClr val="5FBE2E"/>
                          </a:solidFill>
                        </a:rPr>
                        <a:t>Trace Ledger</a:t>
                      </a:r>
                    </a:p>
                  </a:txBody>
                  <a:tcPr>
                    <a:solidFill>
                      <a:srgbClr val="CDF0AE"/>
                    </a:solidFill>
                  </a:tcPr>
                </a:tc>
                <a:extLst>
                  <a:ext uri="{0D108BD9-81ED-4DB2-BD59-A6C34878D82A}">
                    <a16:rowId xmlns:a16="http://schemas.microsoft.com/office/drawing/2014/main" val="10003"/>
                  </a:ext>
                </a:extLst>
              </a:tr>
              <a:tr h="348568">
                <a:tc>
                  <a:txBody>
                    <a:bodyPr/>
                    <a:lstStyle/>
                    <a:p>
                      <a:r>
                        <a:rPr sz="1100" b="0">
                          <a:solidFill>
                            <a:srgbClr val="5FBE2E"/>
                          </a:solidFill>
                        </a:rPr>
                        <a:t>Layer</a:t>
                      </a:r>
                    </a:p>
                  </a:txBody>
                  <a:tcPr>
                    <a:solidFill>
                      <a:srgbClr val="EBF9DF"/>
                    </a:solidFill>
                  </a:tcPr>
                </a:tc>
                <a:tc>
                  <a:txBody>
                    <a:bodyPr/>
                    <a:lstStyle/>
                    <a:p>
                      <a:r>
                        <a:rPr sz="1100" b="0">
                          <a:solidFill>
                            <a:srgbClr val="5FBE2E"/>
                          </a:solidFill>
                        </a:rPr>
                        <a:t>Marker Keyline</a:t>
                      </a:r>
                    </a:p>
                  </a:txBody>
                  <a:tcPr>
                    <a:solidFill>
                      <a:srgbClr val="CDF0AE"/>
                    </a:solidFill>
                  </a:tcPr>
                </a:tc>
                <a:tc>
                  <a:txBody>
                    <a:bodyPr/>
                    <a:lstStyle/>
                    <a:p>
                      <a:r>
                        <a:rPr sz="1100" b="0">
                          <a:solidFill>
                            <a:srgbClr val="5FBE2E"/>
                          </a:solidFill>
                        </a:rPr>
                        <a:t>Build</a:t>
                      </a:r>
                    </a:p>
                  </a:txBody>
                  <a:tcPr>
                    <a:solidFill>
                      <a:srgbClr val="EBF9DF"/>
                    </a:solidFill>
                  </a:tcPr>
                </a:tc>
                <a:tc>
                  <a:txBody>
                    <a:bodyPr/>
                    <a:lstStyle/>
                    <a:p>
                      <a:r>
                        <a:rPr sz="1100" b="0">
                          <a:solidFill>
                            <a:srgbClr val="5FBE2E"/>
                          </a:solidFill>
                        </a:rPr>
                        <a:t>State Exchange</a:t>
                      </a:r>
                    </a:p>
                  </a:txBody>
                  <a:tcPr>
                    <a:solidFill>
                      <a:srgbClr val="CDF0AE"/>
                    </a:solidFill>
                  </a:tcPr>
                </a:tc>
                <a:extLst>
                  <a:ext uri="{0D108BD9-81ED-4DB2-BD59-A6C34878D82A}">
                    <a16:rowId xmlns:a16="http://schemas.microsoft.com/office/drawing/2014/main" val="10004"/>
                  </a:ext>
                </a:extLst>
              </a:tr>
            </a:tbl>
          </a:graphicData>
        </a:graphic>
      </p:graphicFrame>
      <p:sp>
        <p:nvSpPr>
          <p:cNvPr id="22" name="TextBox 21"/>
          <p:cNvSpPr txBox="1"/>
          <p:nvPr/>
        </p:nvSpPr>
        <p:spPr>
          <a:xfrm>
            <a:off x="705978" y="2035506"/>
            <a:ext cx="1721784" cy="2074858"/>
          </a:xfrm>
          <a:prstGeom prst="rect">
            <a:avLst/>
          </a:prstGeom>
          <a:solidFill>
            <a:srgbClr val="D92AE0"/>
          </a:solidFill>
        </p:spPr>
        <p:txBody>
          <a:bodyPr wrap="none" lIns="24679" tIns="24679" rIns="24679" bIns="24679">
            <a:spAutoFit/>
          </a:bodyPr>
          <a:lstStyle/>
          <a:p>
            <a:r>
              <a:rPr sz="1000" b="0" i="0" u="none">
                <a:solidFill>
                  <a:srgbClr val="BEDD55"/>
                </a:solidFill>
                <a:latin typeface="Calibri"/>
              </a:rPr>
              <a:t>Column</a:t>
            </a:r>
          </a:p>
        </p:txBody>
      </p:sp>
      <p:sp>
        <p:nvSpPr>
          <p:cNvPr id="23" name="TextBox 22"/>
          <p:cNvSpPr txBox="1"/>
          <p:nvPr/>
        </p:nvSpPr>
        <p:spPr>
          <a:xfrm>
            <a:off x="2763623" y="4738062"/>
            <a:ext cx="532754" cy="856739"/>
          </a:xfrm>
          <a:prstGeom prst="rect">
            <a:avLst/>
          </a:prstGeom>
          <a:noFill/>
        </p:spPr>
        <p:txBody>
          <a:bodyPr wrap="none" lIns="47772" tIns="47772" rIns="47772" bIns="47772">
            <a:spAutoFit/>
          </a:bodyPr>
          <a:lstStyle/>
          <a:p>
            <a:r>
              <a:rPr sz="800" b="0" i="0" u="none">
                <a:solidFill>
                  <a:srgbClr val="23445D"/>
                </a:solidFill>
                <a:latin typeface="Arial"/>
              </a:rPr>
              <a:t>Transform Cortex Circuit Trigger Thread Handle</a:t>
            </a:r>
          </a:p>
        </p:txBody>
      </p:sp>
      <p:graphicFrame>
        <p:nvGraphicFramePr>
          <p:cNvPr id="24" name="Table 23"/>
          <p:cNvGraphicFramePr>
            <a:graphicFrameLocks noGrp="1"/>
          </p:cNvGraphicFramePr>
          <p:nvPr/>
        </p:nvGraphicFramePr>
        <p:xfrm>
          <a:off x="8877107" y="4454371"/>
          <a:ext cx="2820226" cy="2023563"/>
        </p:xfrm>
        <a:graphic>
          <a:graphicData uri="http://schemas.openxmlformats.org/drawingml/2006/table">
            <a:tbl>
              <a:tblPr firstRow="1" bandRow="1">
                <a:tableStyleId>{5C22544A-7EE6-4342-B048-85BDC9FD1C3A}</a:tableStyleId>
              </a:tblPr>
              <a:tblGrid>
                <a:gridCol w="470037">
                  <a:extLst>
                    <a:ext uri="{9D8B030D-6E8A-4147-A177-3AD203B41FA5}">
                      <a16:colId xmlns:a16="http://schemas.microsoft.com/office/drawing/2014/main" val="20000"/>
                    </a:ext>
                  </a:extLst>
                </a:gridCol>
                <a:gridCol w="470037">
                  <a:extLst>
                    <a:ext uri="{9D8B030D-6E8A-4147-A177-3AD203B41FA5}">
                      <a16:colId xmlns:a16="http://schemas.microsoft.com/office/drawing/2014/main" val="20001"/>
                    </a:ext>
                  </a:extLst>
                </a:gridCol>
                <a:gridCol w="470037">
                  <a:extLst>
                    <a:ext uri="{9D8B030D-6E8A-4147-A177-3AD203B41FA5}">
                      <a16:colId xmlns:a16="http://schemas.microsoft.com/office/drawing/2014/main" val="20002"/>
                    </a:ext>
                  </a:extLst>
                </a:gridCol>
                <a:gridCol w="470037">
                  <a:extLst>
                    <a:ext uri="{9D8B030D-6E8A-4147-A177-3AD203B41FA5}">
                      <a16:colId xmlns:a16="http://schemas.microsoft.com/office/drawing/2014/main" val="20003"/>
                    </a:ext>
                  </a:extLst>
                </a:gridCol>
                <a:gridCol w="470037">
                  <a:extLst>
                    <a:ext uri="{9D8B030D-6E8A-4147-A177-3AD203B41FA5}">
                      <a16:colId xmlns:a16="http://schemas.microsoft.com/office/drawing/2014/main" val="20004"/>
                    </a:ext>
                  </a:extLst>
                </a:gridCol>
                <a:gridCol w="470041">
                  <a:extLst>
                    <a:ext uri="{9D8B030D-6E8A-4147-A177-3AD203B41FA5}">
                      <a16:colId xmlns:a16="http://schemas.microsoft.com/office/drawing/2014/main" val="20005"/>
                    </a:ext>
                  </a:extLst>
                </a:gridCol>
              </a:tblGrid>
              <a:tr h="404712">
                <a:tc>
                  <a:txBody>
                    <a:bodyPr/>
                    <a:lstStyle/>
                    <a:p>
                      <a:r>
                        <a:rPr sz="1000" b="0">
                          <a:solidFill>
                            <a:srgbClr val="904A4E"/>
                          </a:solidFill>
                        </a:rPr>
                        <a:t>Result</a:t>
                      </a:r>
                    </a:p>
                  </a:txBody>
                  <a:tcPr>
                    <a:solidFill>
                      <a:srgbClr val="DCE7F2"/>
                    </a:solidFill>
                  </a:tcPr>
                </a:tc>
                <a:tc>
                  <a:txBody>
                    <a:bodyPr/>
                    <a:lstStyle/>
                    <a:p>
                      <a:r>
                        <a:rPr sz="1000" b="0">
                          <a:solidFill>
                            <a:srgbClr val="904A4E"/>
                          </a:solidFill>
                        </a:rPr>
                        <a:t>Graph</a:t>
                      </a:r>
                    </a:p>
                  </a:txBody>
                  <a:tcPr>
                    <a:solidFill>
                      <a:srgbClr val="C2D6E9"/>
                    </a:solidFill>
                  </a:tcPr>
                </a:tc>
                <a:tc>
                  <a:txBody>
                    <a:bodyPr/>
                    <a:lstStyle/>
                    <a:p>
                      <a:r>
                        <a:rPr sz="1000" b="0">
                          <a:solidFill>
                            <a:srgbClr val="904A4E"/>
                          </a:solidFill>
                        </a:rPr>
                        <a:t>Flow</a:t>
                      </a:r>
                    </a:p>
                  </a:txBody>
                  <a:tcPr>
                    <a:solidFill>
                      <a:srgbClr val="DCE7F2"/>
                    </a:solidFill>
                  </a:tcPr>
                </a:tc>
                <a:tc>
                  <a:txBody>
                    <a:bodyPr/>
                    <a:lstStyle/>
                    <a:p>
                      <a:r>
                        <a:rPr sz="1000" b="0">
                          <a:solidFill>
                            <a:srgbClr val="904A4E"/>
                          </a:solidFill>
                        </a:rPr>
                        <a:t>Forecast</a:t>
                      </a:r>
                    </a:p>
                  </a:txBody>
                  <a:tcPr>
                    <a:solidFill>
                      <a:srgbClr val="C2D6E9"/>
                    </a:solidFill>
                  </a:tcPr>
                </a:tc>
                <a:tc>
                  <a:txBody>
                    <a:bodyPr/>
                    <a:lstStyle/>
                    <a:p>
                      <a:r>
                        <a:rPr sz="1000" b="0">
                          <a:solidFill>
                            <a:srgbClr val="904A4E"/>
                          </a:solidFill>
                        </a:rPr>
                        <a:t>Spectrum Metric</a:t>
                      </a:r>
                    </a:p>
                  </a:txBody>
                  <a:tcPr>
                    <a:solidFill>
                      <a:srgbClr val="DCE7F2"/>
                    </a:solidFill>
                  </a:tcPr>
                </a:tc>
                <a:tc>
                  <a:txBody>
                    <a:bodyPr/>
                    <a:lstStyle/>
                    <a:p>
                      <a:r>
                        <a:rPr sz="1000" b="0">
                          <a:solidFill>
                            <a:srgbClr val="904A4E"/>
                          </a:solidFill>
                        </a:rPr>
                        <a:t>Payload</a:t>
                      </a:r>
                    </a:p>
                  </a:txBody>
                  <a:tcPr>
                    <a:solidFill>
                      <a:srgbClr val="C2D6E9"/>
                    </a:solidFill>
                  </a:tcPr>
                </a:tc>
                <a:extLst>
                  <a:ext uri="{0D108BD9-81ED-4DB2-BD59-A6C34878D82A}">
                    <a16:rowId xmlns:a16="http://schemas.microsoft.com/office/drawing/2014/main" val="10000"/>
                  </a:ext>
                </a:extLst>
              </a:tr>
              <a:tr h="404712">
                <a:tc>
                  <a:txBody>
                    <a:bodyPr/>
                    <a:lstStyle/>
                    <a:p>
                      <a:r>
                        <a:rPr sz="1000" b="0">
                          <a:solidFill>
                            <a:srgbClr val="904A4E"/>
                          </a:solidFill>
                        </a:rPr>
                        <a:t>Matrix Cell</a:t>
                      </a:r>
                    </a:p>
                  </a:txBody>
                  <a:tcPr>
                    <a:solidFill>
                      <a:srgbClr val="DCE7F2"/>
                    </a:solidFill>
                  </a:tcPr>
                </a:tc>
                <a:tc>
                  <a:txBody>
                    <a:bodyPr/>
                    <a:lstStyle/>
                    <a:p>
                      <a:r>
                        <a:rPr sz="1000" b="0">
                          <a:solidFill>
                            <a:srgbClr val="904A4E"/>
                          </a:solidFill>
                        </a:rPr>
                        <a:t>Flow</a:t>
                      </a:r>
                    </a:p>
                  </a:txBody>
                  <a:tcPr>
                    <a:solidFill>
                      <a:srgbClr val="C2D6E9"/>
                    </a:solidFill>
                  </a:tcPr>
                </a:tc>
                <a:tc>
                  <a:txBody>
                    <a:bodyPr/>
                    <a:lstStyle/>
                    <a:p>
                      <a:r>
                        <a:rPr sz="1000" b="0">
                          <a:solidFill>
                            <a:srgbClr val="904A4E"/>
                          </a:solidFill>
                        </a:rPr>
                        <a:t>Center Status</a:t>
                      </a:r>
                    </a:p>
                  </a:txBody>
                  <a:tcPr>
                    <a:solidFill>
                      <a:srgbClr val="DCE7F2"/>
                    </a:solidFill>
                  </a:tcPr>
                </a:tc>
                <a:tc>
                  <a:txBody>
                    <a:bodyPr/>
                    <a:lstStyle/>
                    <a:p>
                      <a:r>
                        <a:rPr sz="1000" b="0">
                          <a:solidFill>
                            <a:srgbClr val="904A4E"/>
                          </a:solidFill>
                        </a:rPr>
                        <a:t>Trend Service</a:t>
                      </a:r>
                    </a:p>
                  </a:txBody>
                  <a:tcPr>
                    <a:solidFill>
                      <a:srgbClr val="C2D6E9"/>
                    </a:solidFill>
                  </a:tcPr>
                </a:tc>
                <a:tc>
                  <a:txBody>
                    <a:bodyPr/>
                    <a:lstStyle/>
                    <a:p>
                      <a:r>
                        <a:rPr sz="1000" b="0">
                          <a:solidFill>
                            <a:srgbClr val="904A4E"/>
                          </a:solidFill>
                        </a:rPr>
                        <a:t>Service Marker</a:t>
                      </a:r>
                    </a:p>
                  </a:txBody>
                  <a:tcPr>
                    <a:solidFill>
                      <a:srgbClr val="DCE7F2"/>
                    </a:solidFill>
                  </a:tcPr>
                </a:tc>
                <a:tc>
                  <a:txBody>
                    <a:bodyPr/>
                    <a:lstStyle/>
                    <a:p>
                      <a:r>
                        <a:rPr sz="1000" b="0">
                          <a:solidFill>
                            <a:srgbClr val="904A4E"/>
                          </a:solidFill>
                        </a:rPr>
                        <a:t>Result</a:t>
                      </a:r>
                    </a:p>
                  </a:txBody>
                  <a:tcPr>
                    <a:solidFill>
                      <a:srgbClr val="C2D6E9"/>
                    </a:solidFill>
                  </a:tcPr>
                </a:tc>
                <a:extLst>
                  <a:ext uri="{0D108BD9-81ED-4DB2-BD59-A6C34878D82A}">
                    <a16:rowId xmlns:a16="http://schemas.microsoft.com/office/drawing/2014/main" val="10001"/>
                  </a:ext>
                </a:extLst>
              </a:tr>
              <a:tr h="404712">
                <a:tc>
                  <a:txBody>
                    <a:bodyPr/>
                    <a:lstStyle/>
                    <a:p>
                      <a:r>
                        <a:rPr sz="1000" b="0">
                          <a:solidFill>
                            <a:srgbClr val="904A4E"/>
                          </a:solidFill>
                        </a:rPr>
                        <a:t>Tile Payload</a:t>
                      </a:r>
                    </a:p>
                  </a:txBody>
                  <a:tcPr>
                    <a:solidFill>
                      <a:srgbClr val="DCE7F2"/>
                    </a:solidFill>
                  </a:tcPr>
                </a:tc>
                <a:tc>
                  <a:txBody>
                    <a:bodyPr/>
                    <a:lstStyle/>
                    <a:p>
                      <a:r>
                        <a:rPr sz="1000" b="0">
                          <a:solidFill>
                            <a:srgbClr val="904A4E"/>
                          </a:solidFill>
                        </a:rPr>
                        <a:t>Kernel</a:t>
                      </a:r>
                    </a:p>
                  </a:txBody>
                  <a:tcPr>
                    <a:solidFill>
                      <a:srgbClr val="C2D6E9"/>
                    </a:solidFill>
                  </a:tcPr>
                </a:tc>
                <a:tc>
                  <a:txBody>
                    <a:bodyPr/>
                    <a:lstStyle/>
                    <a:p>
                      <a:r>
                        <a:rPr sz="1000" b="0">
                          <a:solidFill>
                            <a:srgbClr val="904A4E"/>
                          </a:solidFill>
                        </a:rPr>
                        <a:t>Story</a:t>
                      </a:r>
                    </a:p>
                  </a:txBody>
                  <a:tcPr>
                    <a:solidFill>
                      <a:srgbClr val="DCE7F2"/>
                    </a:solidFill>
                  </a:tcPr>
                </a:tc>
                <a:tc>
                  <a:txBody>
                    <a:bodyPr/>
                    <a:lstStyle/>
                    <a:p>
                      <a:r>
                        <a:rPr sz="1000" b="0">
                          <a:solidFill>
                            <a:srgbClr val="904A4E"/>
                          </a:solidFill>
                        </a:rPr>
                        <a:t>Wave</a:t>
                      </a:r>
                    </a:p>
                  </a:txBody>
                  <a:tcPr>
                    <a:solidFill>
                      <a:srgbClr val="C2D6E9"/>
                    </a:solidFill>
                  </a:tcPr>
                </a:tc>
                <a:tc>
                  <a:txBody>
                    <a:bodyPr/>
                    <a:lstStyle/>
                    <a:p>
                      <a:r>
                        <a:rPr sz="1000" b="0">
                          <a:solidFill>
                            <a:srgbClr val="904A4E"/>
                          </a:solidFill>
                        </a:rPr>
                        <a:t>Duration Proof</a:t>
                      </a:r>
                    </a:p>
                  </a:txBody>
                  <a:tcPr>
                    <a:solidFill>
                      <a:srgbClr val="DCE7F2"/>
                    </a:solidFill>
                  </a:tcPr>
                </a:tc>
                <a:tc>
                  <a:txBody>
                    <a:bodyPr/>
                    <a:lstStyle/>
                    <a:p>
                      <a:r>
                        <a:rPr sz="1000" b="0">
                          <a:solidFill>
                            <a:srgbClr val="904A4E"/>
                          </a:solidFill>
                        </a:rPr>
                        <a:t>Connector Range</a:t>
                      </a:r>
                    </a:p>
                  </a:txBody>
                  <a:tcPr>
                    <a:solidFill>
                      <a:srgbClr val="C2D6E9"/>
                    </a:solidFill>
                  </a:tcPr>
                </a:tc>
                <a:extLst>
                  <a:ext uri="{0D108BD9-81ED-4DB2-BD59-A6C34878D82A}">
                    <a16:rowId xmlns:a16="http://schemas.microsoft.com/office/drawing/2014/main" val="10002"/>
                  </a:ext>
                </a:extLst>
              </a:tr>
              <a:tr h="404712">
                <a:tc>
                  <a:txBody>
                    <a:bodyPr/>
                    <a:lstStyle/>
                    <a:p>
                      <a:r>
                        <a:rPr sz="1000" b="0">
                          <a:solidFill>
                            <a:srgbClr val="904A4E"/>
                          </a:solidFill>
                        </a:rPr>
                        <a:t>Case</a:t>
                      </a:r>
                    </a:p>
                  </a:txBody>
                  <a:tcPr>
                    <a:solidFill>
                      <a:srgbClr val="DCE7F2"/>
                    </a:solidFill>
                  </a:tcPr>
                </a:tc>
                <a:tc>
                  <a:txBody>
                    <a:bodyPr/>
                    <a:lstStyle/>
                    <a:p>
                      <a:r>
                        <a:rPr sz="1000" b="0">
                          <a:solidFill>
                            <a:srgbClr val="904A4E"/>
                          </a:solidFill>
                        </a:rPr>
                        <a:t>Graph</a:t>
                      </a:r>
                    </a:p>
                  </a:txBody>
                  <a:tcPr>
                    <a:solidFill>
                      <a:srgbClr val="C2D6E9"/>
                    </a:solidFill>
                  </a:tcPr>
                </a:tc>
                <a:tc>
                  <a:txBody>
                    <a:bodyPr/>
                    <a:lstStyle/>
                    <a:p>
                      <a:r>
                        <a:rPr sz="1000" b="0">
                          <a:solidFill>
                            <a:srgbClr val="904A4E"/>
                          </a:solidFill>
                        </a:rPr>
                        <a:t>Cadence Trend</a:t>
                      </a:r>
                    </a:p>
                  </a:txBody>
                  <a:tcPr>
                    <a:solidFill>
                      <a:srgbClr val="DCE7F2"/>
                    </a:solidFill>
                  </a:tcPr>
                </a:tc>
                <a:tc>
                  <a:txBody>
                    <a:bodyPr/>
                    <a:lstStyle/>
                    <a:p>
                      <a:r>
                        <a:rPr sz="1000" b="0">
                          <a:solidFill>
                            <a:srgbClr val="904A4E"/>
                          </a:solidFill>
                        </a:rPr>
                        <a:t>View</a:t>
                      </a:r>
                    </a:p>
                  </a:txBody>
                  <a:tcPr>
                    <a:solidFill>
                      <a:srgbClr val="C2D6E9"/>
                    </a:solidFill>
                  </a:tcPr>
                </a:tc>
                <a:tc>
                  <a:txBody>
                    <a:bodyPr/>
                    <a:lstStyle/>
                    <a:p>
                      <a:r>
                        <a:rPr sz="1000" b="0">
                          <a:solidFill>
                            <a:srgbClr val="904A4E"/>
                          </a:solidFill>
                        </a:rPr>
                        <a:t>Threshold</a:t>
                      </a:r>
                    </a:p>
                  </a:txBody>
                  <a:tcPr>
                    <a:solidFill>
                      <a:srgbClr val="DCE7F2"/>
                    </a:solidFill>
                  </a:tcPr>
                </a:tc>
                <a:tc>
                  <a:txBody>
                    <a:bodyPr/>
                    <a:lstStyle/>
                    <a:p>
                      <a:r>
                        <a:rPr sz="1000" b="0">
                          <a:solidFill>
                            <a:srgbClr val="904A4E"/>
                          </a:solidFill>
                        </a:rPr>
                        <a:t>Channel</a:t>
                      </a:r>
                    </a:p>
                  </a:txBody>
                  <a:tcPr>
                    <a:solidFill>
                      <a:srgbClr val="C2D6E9"/>
                    </a:solidFill>
                  </a:tcPr>
                </a:tc>
                <a:extLst>
                  <a:ext uri="{0D108BD9-81ED-4DB2-BD59-A6C34878D82A}">
                    <a16:rowId xmlns:a16="http://schemas.microsoft.com/office/drawing/2014/main" val="10003"/>
                  </a:ext>
                </a:extLst>
              </a:tr>
              <a:tr h="404715">
                <a:tc>
                  <a:txBody>
                    <a:bodyPr/>
                    <a:lstStyle/>
                    <a:p>
                      <a:r>
                        <a:rPr sz="1000" b="0">
                          <a:solidFill>
                            <a:srgbClr val="904A4E"/>
                          </a:solidFill>
                        </a:rPr>
                        <a:t>Pipeline</a:t>
                      </a:r>
                    </a:p>
                  </a:txBody>
                  <a:tcPr>
                    <a:solidFill>
                      <a:srgbClr val="DCE7F2"/>
                    </a:solidFill>
                  </a:tcPr>
                </a:tc>
                <a:tc>
                  <a:txBody>
                    <a:bodyPr/>
                    <a:lstStyle/>
                    <a:p>
                      <a:r>
                        <a:rPr sz="1000" b="0">
                          <a:solidFill>
                            <a:srgbClr val="904A4E"/>
                          </a:solidFill>
                        </a:rPr>
                        <a:t>Echo</a:t>
                      </a:r>
                    </a:p>
                  </a:txBody>
                  <a:tcPr>
                    <a:solidFill>
                      <a:srgbClr val="C2D6E9"/>
                    </a:solidFill>
                  </a:tcPr>
                </a:tc>
                <a:tc>
                  <a:txBody>
                    <a:bodyPr/>
                    <a:lstStyle/>
                    <a:p>
                      <a:r>
                        <a:rPr sz="1000" b="0">
                          <a:solidFill>
                            <a:srgbClr val="904A4E"/>
                          </a:solidFill>
                        </a:rPr>
                        <a:t>Motion</a:t>
                      </a:r>
                    </a:p>
                  </a:txBody>
                  <a:tcPr>
                    <a:solidFill>
                      <a:srgbClr val="DCE7F2"/>
                    </a:solidFill>
                  </a:tcPr>
                </a:tc>
                <a:tc>
                  <a:txBody>
                    <a:bodyPr/>
                    <a:lstStyle/>
                    <a:p>
                      <a:r>
                        <a:rPr sz="1000" b="0">
                          <a:solidFill>
                            <a:srgbClr val="904A4E"/>
                          </a:solidFill>
                        </a:rPr>
                        <a:t>Drift Zone</a:t>
                      </a:r>
                    </a:p>
                  </a:txBody>
                  <a:tcPr>
                    <a:solidFill>
                      <a:srgbClr val="C2D6E9"/>
                    </a:solidFill>
                  </a:tcPr>
                </a:tc>
                <a:tc>
                  <a:txBody>
                    <a:bodyPr/>
                    <a:lstStyle/>
                    <a:p>
                      <a:r>
                        <a:rPr sz="1000" b="0">
                          <a:solidFill>
                            <a:srgbClr val="904A4E"/>
                          </a:solidFill>
                        </a:rPr>
                        <a:t>Service</a:t>
                      </a:r>
                    </a:p>
                  </a:txBody>
                  <a:tcPr>
                    <a:solidFill>
                      <a:srgbClr val="DCE7F2"/>
                    </a:solidFill>
                  </a:tcPr>
                </a:tc>
                <a:tc>
                  <a:txBody>
                    <a:bodyPr/>
                    <a:lstStyle/>
                    <a:p>
                      <a:r>
                        <a:rPr sz="1000" b="0">
                          <a:solidFill>
                            <a:srgbClr val="904A4E"/>
                          </a:solidFill>
                        </a:rPr>
                        <a:t>Interval</a:t>
                      </a:r>
                    </a:p>
                  </a:txBody>
                  <a:tcPr>
                    <a:solidFill>
                      <a:srgbClr val="C2D6E9"/>
                    </a:solidFill>
                  </a:tcPr>
                </a:tc>
                <a:extLst>
                  <a:ext uri="{0D108BD9-81ED-4DB2-BD59-A6C34878D82A}">
                    <a16:rowId xmlns:a16="http://schemas.microsoft.com/office/drawing/2014/main" val="10004"/>
                  </a:ext>
                </a:extLst>
              </a:tr>
            </a:tbl>
          </a:graphicData>
        </a:graphic>
      </p:graphicFrame>
      <p:sp>
        <p:nvSpPr>
          <p:cNvPr id="25" name="Parallelogram 24"/>
          <p:cNvSpPr/>
          <p:nvPr/>
        </p:nvSpPr>
        <p:spPr>
          <a:xfrm>
            <a:off x="4821525" y="4407260"/>
            <a:ext cx="1687347" cy="788849"/>
          </a:xfrm>
          <a:prstGeom prst="parallelogram">
            <a:avLst/>
          </a:prstGeom>
          <a:solidFill>
            <a:srgbClr val="D7823A"/>
          </a:solidFill>
          <a:ln w="7531">
            <a:solidFill>
              <a:srgbClr val="AECBD2"/>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flipV="1">
            <a:off x="6618705" y="4622365"/>
            <a:ext cx="2131343" cy="402926"/>
          </a:xfrm>
          <a:prstGeom prst="line">
            <a:avLst/>
          </a:prstGeom>
          <a:ln w="20861">
            <a:solidFill>
              <a:srgbClr val="649E87"/>
            </a:solidFill>
            <a:prstDash val="solid"/>
          </a:ln>
        </p:spPr>
        <p:style>
          <a:lnRef idx="2">
            <a:schemeClr val="accent1"/>
          </a:lnRef>
          <a:fillRef idx="0">
            <a:schemeClr val="accent1"/>
          </a:fillRef>
          <a:effectRef idx="1">
            <a:schemeClr val="accent1"/>
          </a:effectRef>
          <a:fontRef idx="minor">
            <a:schemeClr val="tx1"/>
          </a:fontRef>
        </p:style>
      </p:cxnSp>
      <p:sp>
        <p:nvSpPr>
          <p:cNvPr id="27" name="Curved Down Ribbon 26"/>
          <p:cNvSpPr/>
          <p:nvPr/>
        </p:nvSpPr>
        <p:spPr>
          <a:xfrm>
            <a:off x="5397132" y="2634443"/>
            <a:ext cx="1512739" cy="256387"/>
          </a:xfrm>
          <a:prstGeom prst="ellipseRibbon">
            <a:avLst/>
          </a:prstGeom>
          <a:solidFill>
            <a:srgbClr val="20B386"/>
          </a:solidFill>
          <a:ln w="18889">
            <a:solidFill>
              <a:srgbClr val="9D6B2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iamond 27"/>
          <p:cNvSpPr/>
          <p:nvPr/>
        </p:nvSpPr>
        <p:spPr>
          <a:xfrm>
            <a:off x="3877702" y="1536610"/>
            <a:ext cx="1003953" cy="1920136"/>
          </a:xfrm>
          <a:prstGeom prst="diamond">
            <a:avLst/>
          </a:prstGeom>
          <a:noFill/>
          <a:ln w="19327">
            <a:solidFill>
              <a:srgbClr val="5FD52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BC1FF0AF-A5E0-B081-81E5-C024C7BB74D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192157" y="5767356"/>
            <a:ext cx="1784896" cy="773591"/>
          </a:xfrm>
          <a:prstGeom prst="rect">
            <a:avLst/>
          </a:prstGeom>
        </p:spPr>
      </p:pic>
      <p:pic>
        <p:nvPicPr>
          <p:cNvPr id="32" name="Graphic 31">
            <a:extLst>
              <a:ext uri="{FF2B5EF4-FFF2-40B4-BE49-F238E27FC236}">
                <a16:creationId xmlns:a16="http://schemas.microsoft.com/office/drawing/2014/main" id="{AD874466-B934-4A49-EAD0-305700E72238}"/>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761713" y="1819175"/>
            <a:ext cx="1373076" cy="163120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54527" y="332952"/>
          <a:ext cx="2339891" cy="1477707"/>
        </p:xfrm>
        <a:graphic>
          <a:graphicData uri="http://schemas.openxmlformats.org/drawingml/2006/table">
            <a:tbl>
              <a:tblPr firstRow="1" bandRow="1">
                <a:tableStyleId>{5C22544A-7EE6-4342-B048-85BDC9FD1C3A}</a:tableStyleId>
              </a:tblPr>
              <a:tblGrid>
                <a:gridCol w="467978">
                  <a:extLst>
                    <a:ext uri="{9D8B030D-6E8A-4147-A177-3AD203B41FA5}">
                      <a16:colId xmlns:a16="http://schemas.microsoft.com/office/drawing/2014/main" val="20000"/>
                    </a:ext>
                  </a:extLst>
                </a:gridCol>
                <a:gridCol w="467978">
                  <a:extLst>
                    <a:ext uri="{9D8B030D-6E8A-4147-A177-3AD203B41FA5}">
                      <a16:colId xmlns:a16="http://schemas.microsoft.com/office/drawing/2014/main" val="20001"/>
                    </a:ext>
                  </a:extLst>
                </a:gridCol>
                <a:gridCol w="467978">
                  <a:extLst>
                    <a:ext uri="{9D8B030D-6E8A-4147-A177-3AD203B41FA5}">
                      <a16:colId xmlns:a16="http://schemas.microsoft.com/office/drawing/2014/main" val="20002"/>
                    </a:ext>
                  </a:extLst>
                </a:gridCol>
                <a:gridCol w="467978">
                  <a:extLst>
                    <a:ext uri="{9D8B030D-6E8A-4147-A177-3AD203B41FA5}">
                      <a16:colId xmlns:a16="http://schemas.microsoft.com/office/drawing/2014/main" val="20003"/>
                    </a:ext>
                  </a:extLst>
                </a:gridCol>
                <a:gridCol w="467979">
                  <a:extLst>
                    <a:ext uri="{9D8B030D-6E8A-4147-A177-3AD203B41FA5}">
                      <a16:colId xmlns:a16="http://schemas.microsoft.com/office/drawing/2014/main" val="20004"/>
                    </a:ext>
                  </a:extLst>
                </a:gridCol>
              </a:tblGrid>
              <a:tr h="246284">
                <a:tc>
                  <a:txBody>
                    <a:bodyPr/>
                    <a:lstStyle/>
                    <a:p>
                      <a:r>
                        <a:rPr sz="1200" b="1">
                          <a:solidFill>
                            <a:srgbClr val="91D33B"/>
                          </a:solidFill>
                        </a:rPr>
                        <a:t>Field</a:t>
                      </a:r>
                    </a:p>
                  </a:txBody>
                  <a:tcPr>
                    <a:solidFill>
                      <a:srgbClr val="599776"/>
                    </a:solidFill>
                  </a:tcPr>
                </a:tc>
                <a:tc>
                  <a:txBody>
                    <a:bodyPr/>
                    <a:lstStyle/>
                    <a:p>
                      <a:r>
                        <a:rPr sz="1200" b="1">
                          <a:solidFill>
                            <a:srgbClr val="91D33B"/>
                          </a:solidFill>
                        </a:rPr>
                        <a:t>Foundation Buffer</a:t>
                      </a:r>
                    </a:p>
                  </a:txBody>
                  <a:tcPr>
                    <a:solidFill>
                      <a:srgbClr val="599776"/>
                    </a:solidFill>
                  </a:tcPr>
                </a:tc>
                <a:tc>
                  <a:txBody>
                    <a:bodyPr/>
                    <a:lstStyle/>
                    <a:p>
                      <a:r>
                        <a:rPr sz="1200" b="1">
                          <a:solidFill>
                            <a:srgbClr val="91D33B"/>
                          </a:solidFill>
                        </a:rPr>
                        <a:t>Dispatch Level</a:t>
                      </a:r>
                    </a:p>
                  </a:txBody>
                  <a:tcPr>
                    <a:solidFill>
                      <a:srgbClr val="599776"/>
                    </a:solidFill>
                  </a:tcPr>
                </a:tc>
                <a:tc>
                  <a:txBody>
                    <a:bodyPr/>
                    <a:lstStyle/>
                    <a:p>
                      <a:r>
                        <a:rPr sz="1200" b="1">
                          <a:solidFill>
                            <a:srgbClr val="91D33B"/>
                          </a:solidFill>
                        </a:rPr>
                        <a:t>Model</a:t>
                      </a:r>
                    </a:p>
                  </a:txBody>
                  <a:tcPr>
                    <a:solidFill>
                      <a:srgbClr val="599776"/>
                    </a:solidFill>
                  </a:tcPr>
                </a:tc>
                <a:tc>
                  <a:txBody>
                    <a:bodyPr/>
                    <a:lstStyle/>
                    <a:p>
                      <a:r>
                        <a:rPr sz="1200" b="1">
                          <a:solidFill>
                            <a:srgbClr val="91D33B"/>
                          </a:solidFill>
                        </a:rPr>
                        <a:t>Balance Clarity</a:t>
                      </a:r>
                    </a:p>
                  </a:txBody>
                  <a:tcPr>
                    <a:solidFill>
                      <a:srgbClr val="599776"/>
                    </a:solidFill>
                  </a:tcPr>
                </a:tc>
                <a:extLst>
                  <a:ext uri="{0D108BD9-81ED-4DB2-BD59-A6C34878D82A}">
                    <a16:rowId xmlns:a16="http://schemas.microsoft.com/office/drawing/2014/main" val="10000"/>
                  </a:ext>
                </a:extLst>
              </a:tr>
              <a:tr h="246284">
                <a:tc>
                  <a:txBody>
                    <a:bodyPr/>
                    <a:lstStyle/>
                    <a:p>
                      <a:r>
                        <a:rPr sz="1200" b="0">
                          <a:solidFill>
                            <a:srgbClr val="91D33B"/>
                          </a:solidFill>
                        </a:rPr>
                        <a:t>Order</a:t>
                      </a:r>
                    </a:p>
                  </a:txBody>
                  <a:tcPr>
                    <a:solidFill>
                      <a:srgbClr val="F2E7FA"/>
                    </a:solidFill>
                  </a:tcPr>
                </a:tc>
                <a:tc>
                  <a:txBody>
                    <a:bodyPr/>
                    <a:lstStyle/>
                    <a:p>
                      <a:r>
                        <a:rPr sz="1200" b="0">
                          <a:solidFill>
                            <a:srgbClr val="91D33B"/>
                          </a:solidFill>
                        </a:rPr>
                        <a:t>Expansion</a:t>
                      </a:r>
                    </a:p>
                  </a:txBody>
                  <a:tcPr>
                    <a:solidFill>
                      <a:srgbClr val="F2E7FA"/>
                    </a:solidFill>
                  </a:tcPr>
                </a:tc>
                <a:tc>
                  <a:txBody>
                    <a:bodyPr/>
                    <a:lstStyle/>
                    <a:p>
                      <a:r>
                        <a:rPr sz="1200" b="0">
                          <a:solidFill>
                            <a:srgbClr val="91D33B"/>
                          </a:solidFill>
                        </a:rPr>
                        <a:t>Bundle Record</a:t>
                      </a:r>
                    </a:p>
                  </a:txBody>
                  <a:tcPr>
                    <a:solidFill>
                      <a:srgbClr val="F2E7FA"/>
                    </a:solidFill>
                  </a:tcPr>
                </a:tc>
                <a:tc>
                  <a:txBody>
                    <a:bodyPr/>
                    <a:lstStyle/>
                    <a:p>
                      <a:r>
                        <a:rPr sz="1200" b="0">
                          <a:solidFill>
                            <a:srgbClr val="91D33B"/>
                          </a:solidFill>
                        </a:rPr>
                        <a:t>Queueing</a:t>
                      </a:r>
                    </a:p>
                  </a:txBody>
                  <a:tcPr>
                    <a:solidFill>
                      <a:srgbClr val="F2E7FA"/>
                    </a:solidFill>
                  </a:tcPr>
                </a:tc>
                <a:tc>
                  <a:txBody>
                    <a:bodyPr/>
                    <a:lstStyle/>
                    <a:p>
                      <a:r>
                        <a:rPr sz="1200" b="0">
                          <a:solidFill>
                            <a:srgbClr val="91D33B"/>
                          </a:solidFill>
                        </a:rPr>
                        <a:t>Intent Harbor</a:t>
                      </a:r>
                    </a:p>
                  </a:txBody>
                  <a:tcPr>
                    <a:solidFill>
                      <a:srgbClr val="F2E7FA"/>
                    </a:solidFill>
                  </a:tcPr>
                </a:tc>
                <a:extLst>
                  <a:ext uri="{0D108BD9-81ED-4DB2-BD59-A6C34878D82A}">
                    <a16:rowId xmlns:a16="http://schemas.microsoft.com/office/drawing/2014/main" val="10001"/>
                  </a:ext>
                </a:extLst>
              </a:tr>
              <a:tr h="246284">
                <a:tc>
                  <a:txBody>
                    <a:bodyPr/>
                    <a:lstStyle/>
                    <a:p>
                      <a:r>
                        <a:rPr sz="1200" b="0">
                          <a:solidFill>
                            <a:srgbClr val="91D33B"/>
                          </a:solidFill>
                        </a:rPr>
                        <a:t>Forecast Beacon</a:t>
                      </a:r>
                    </a:p>
                  </a:txBody>
                  <a:tcPr>
                    <a:solidFill>
                      <a:srgbClr val="F2E7FA"/>
                    </a:solidFill>
                  </a:tcPr>
                </a:tc>
                <a:tc>
                  <a:txBody>
                    <a:bodyPr/>
                    <a:lstStyle/>
                    <a:p>
                      <a:r>
                        <a:rPr sz="1200" b="0">
                          <a:solidFill>
                            <a:srgbClr val="91D33B"/>
                          </a:solidFill>
                        </a:rPr>
                        <a:t>Signal Point</a:t>
                      </a:r>
                    </a:p>
                  </a:txBody>
                  <a:tcPr>
                    <a:solidFill>
                      <a:srgbClr val="F2E7FA"/>
                    </a:solidFill>
                  </a:tcPr>
                </a:tc>
                <a:tc>
                  <a:txBody>
                    <a:bodyPr/>
                    <a:lstStyle/>
                    <a:p>
                      <a:r>
                        <a:rPr sz="1200" b="0">
                          <a:solidFill>
                            <a:srgbClr val="91D33B"/>
                          </a:solidFill>
                        </a:rPr>
                        <a:t>Deployment</a:t>
                      </a:r>
                    </a:p>
                  </a:txBody>
                  <a:tcPr>
                    <a:solidFill>
                      <a:srgbClr val="F2E7FA"/>
                    </a:solidFill>
                  </a:tcPr>
                </a:tc>
                <a:tc>
                  <a:txBody>
                    <a:bodyPr/>
                    <a:lstStyle/>
                    <a:p>
                      <a:r>
                        <a:rPr sz="1200" b="0">
                          <a:solidFill>
                            <a:srgbClr val="91D33B"/>
                          </a:solidFill>
                        </a:rPr>
                        <a:t>Trend Clarity</a:t>
                      </a:r>
                    </a:p>
                  </a:txBody>
                  <a:tcPr>
                    <a:solidFill>
                      <a:srgbClr val="F2E7FA"/>
                    </a:solidFill>
                  </a:tcPr>
                </a:tc>
                <a:tc>
                  <a:txBody>
                    <a:bodyPr/>
                    <a:lstStyle/>
                    <a:p>
                      <a:r>
                        <a:rPr sz="1200" b="0">
                          <a:solidFill>
                            <a:srgbClr val="91D33B"/>
                          </a:solidFill>
                        </a:rPr>
                        <a:t>Release Token</a:t>
                      </a:r>
                    </a:p>
                  </a:txBody>
                  <a:tcPr>
                    <a:solidFill>
                      <a:srgbClr val="F2E7FA"/>
                    </a:solidFill>
                  </a:tcPr>
                </a:tc>
                <a:extLst>
                  <a:ext uri="{0D108BD9-81ED-4DB2-BD59-A6C34878D82A}">
                    <a16:rowId xmlns:a16="http://schemas.microsoft.com/office/drawing/2014/main" val="10002"/>
                  </a:ext>
                </a:extLst>
              </a:tr>
              <a:tr h="246284">
                <a:tc>
                  <a:txBody>
                    <a:bodyPr/>
                    <a:lstStyle/>
                    <a:p>
                      <a:r>
                        <a:rPr sz="1200" b="0">
                          <a:solidFill>
                            <a:srgbClr val="91D33B"/>
                          </a:solidFill>
                        </a:rPr>
                        <a:t>Format</a:t>
                      </a:r>
                    </a:p>
                  </a:txBody>
                  <a:tcPr>
                    <a:solidFill>
                      <a:srgbClr val="F2E7FA"/>
                    </a:solidFill>
                  </a:tcPr>
                </a:tc>
                <a:tc>
                  <a:txBody>
                    <a:bodyPr/>
                    <a:lstStyle/>
                    <a:p>
                      <a:r>
                        <a:rPr sz="1200" b="0">
                          <a:solidFill>
                            <a:srgbClr val="91D33B"/>
                          </a:solidFill>
                        </a:rPr>
                        <a:t>Horizon</a:t>
                      </a:r>
                    </a:p>
                  </a:txBody>
                  <a:tcPr>
                    <a:solidFill>
                      <a:srgbClr val="F2E7FA"/>
                    </a:solidFill>
                  </a:tcPr>
                </a:tc>
                <a:tc>
                  <a:txBody>
                    <a:bodyPr/>
                    <a:lstStyle/>
                    <a:p>
                      <a:r>
                        <a:rPr sz="1200" b="0">
                          <a:solidFill>
                            <a:srgbClr val="91D33B"/>
                          </a:solidFill>
                        </a:rPr>
                        <a:t>Wave Mode</a:t>
                      </a:r>
                    </a:p>
                  </a:txBody>
                  <a:tcPr>
                    <a:solidFill>
                      <a:srgbClr val="F2E7FA"/>
                    </a:solidFill>
                  </a:tcPr>
                </a:tc>
                <a:tc>
                  <a:txBody>
                    <a:bodyPr/>
                    <a:lstStyle/>
                    <a:p>
                      <a:r>
                        <a:rPr sz="1200" b="0">
                          <a:solidFill>
                            <a:srgbClr val="91D33B"/>
                          </a:solidFill>
                        </a:rPr>
                        <a:t>Keyline Interval</a:t>
                      </a:r>
                    </a:p>
                  </a:txBody>
                  <a:tcPr>
                    <a:solidFill>
                      <a:srgbClr val="F2E7FA"/>
                    </a:solidFill>
                  </a:tcPr>
                </a:tc>
                <a:tc>
                  <a:txBody>
                    <a:bodyPr/>
                    <a:lstStyle/>
                    <a:p>
                      <a:r>
                        <a:rPr sz="1200" b="0">
                          <a:solidFill>
                            <a:srgbClr val="91D33B"/>
                          </a:solidFill>
                        </a:rPr>
                        <a:t>Filter Compass</a:t>
                      </a:r>
                    </a:p>
                  </a:txBody>
                  <a:tcPr>
                    <a:solidFill>
                      <a:srgbClr val="F2E7FA"/>
                    </a:solidFill>
                  </a:tcPr>
                </a:tc>
                <a:extLst>
                  <a:ext uri="{0D108BD9-81ED-4DB2-BD59-A6C34878D82A}">
                    <a16:rowId xmlns:a16="http://schemas.microsoft.com/office/drawing/2014/main" val="10003"/>
                  </a:ext>
                </a:extLst>
              </a:tr>
              <a:tr h="246284">
                <a:tc>
                  <a:txBody>
                    <a:bodyPr/>
                    <a:lstStyle/>
                    <a:p>
                      <a:r>
                        <a:rPr sz="1200" b="0">
                          <a:solidFill>
                            <a:srgbClr val="91D33B"/>
                          </a:solidFill>
                        </a:rPr>
                        <a:t>Topology Runtime</a:t>
                      </a:r>
                    </a:p>
                  </a:txBody>
                  <a:tcPr>
                    <a:solidFill>
                      <a:srgbClr val="F2E7FA"/>
                    </a:solidFill>
                  </a:tcPr>
                </a:tc>
                <a:tc>
                  <a:txBody>
                    <a:bodyPr/>
                    <a:lstStyle/>
                    <a:p>
                      <a:r>
                        <a:rPr sz="1200" b="0">
                          <a:solidFill>
                            <a:srgbClr val="91D33B"/>
                          </a:solidFill>
                        </a:rPr>
                        <a:t>Deployment Loop</a:t>
                      </a:r>
                    </a:p>
                  </a:txBody>
                  <a:tcPr>
                    <a:solidFill>
                      <a:srgbClr val="F2E7FA"/>
                    </a:solidFill>
                  </a:tcPr>
                </a:tc>
                <a:tc>
                  <a:txBody>
                    <a:bodyPr/>
                    <a:lstStyle/>
                    <a:p>
                      <a:r>
                        <a:rPr sz="1200" b="0">
                          <a:solidFill>
                            <a:srgbClr val="91D33B"/>
                          </a:solidFill>
                        </a:rPr>
                        <a:t>Capacity Stage</a:t>
                      </a:r>
                    </a:p>
                  </a:txBody>
                  <a:tcPr>
                    <a:solidFill>
                      <a:srgbClr val="F2E7FA"/>
                    </a:solidFill>
                  </a:tcPr>
                </a:tc>
                <a:tc>
                  <a:txBody>
                    <a:bodyPr/>
                    <a:lstStyle/>
                    <a:p>
                      <a:r>
                        <a:rPr sz="1200" b="0">
                          <a:solidFill>
                            <a:srgbClr val="91D33B"/>
                          </a:solidFill>
                        </a:rPr>
                        <a:t>Motion</a:t>
                      </a:r>
                    </a:p>
                  </a:txBody>
                  <a:tcPr>
                    <a:solidFill>
                      <a:srgbClr val="F2E7FA"/>
                    </a:solidFill>
                  </a:tcPr>
                </a:tc>
                <a:tc>
                  <a:txBody>
                    <a:bodyPr/>
                    <a:lstStyle/>
                    <a:p>
                      <a:r>
                        <a:rPr sz="1200" b="0">
                          <a:solidFill>
                            <a:srgbClr val="91D33B"/>
                          </a:solidFill>
                        </a:rPr>
                        <a:t>Module</a:t>
                      </a:r>
                    </a:p>
                  </a:txBody>
                  <a:tcPr>
                    <a:solidFill>
                      <a:srgbClr val="F2E7FA"/>
                    </a:solidFill>
                  </a:tcPr>
                </a:tc>
                <a:extLst>
                  <a:ext uri="{0D108BD9-81ED-4DB2-BD59-A6C34878D82A}">
                    <a16:rowId xmlns:a16="http://schemas.microsoft.com/office/drawing/2014/main" val="10004"/>
                  </a:ext>
                </a:extLst>
              </a:tr>
              <a:tr h="246287">
                <a:tc>
                  <a:txBody>
                    <a:bodyPr/>
                    <a:lstStyle/>
                    <a:p>
                      <a:r>
                        <a:rPr sz="1200" b="0">
                          <a:solidFill>
                            <a:srgbClr val="91D33B"/>
                          </a:solidFill>
                        </a:rPr>
                        <a:t>Model</a:t>
                      </a:r>
                    </a:p>
                  </a:txBody>
                  <a:tcPr>
                    <a:solidFill>
                      <a:srgbClr val="F2E7FA"/>
                    </a:solidFill>
                  </a:tcPr>
                </a:tc>
                <a:tc>
                  <a:txBody>
                    <a:bodyPr/>
                    <a:lstStyle/>
                    <a:p>
                      <a:r>
                        <a:rPr sz="1200" b="0">
                          <a:solidFill>
                            <a:srgbClr val="91D33B"/>
                          </a:solidFill>
                        </a:rPr>
                        <a:t>Sequence Milestone</a:t>
                      </a:r>
                    </a:p>
                  </a:txBody>
                  <a:tcPr>
                    <a:solidFill>
                      <a:srgbClr val="F2E7FA"/>
                    </a:solidFill>
                  </a:tcPr>
                </a:tc>
                <a:tc>
                  <a:txBody>
                    <a:bodyPr/>
                    <a:lstStyle/>
                    <a:p>
                      <a:r>
                        <a:rPr sz="1200" b="0">
                          <a:solidFill>
                            <a:srgbClr val="91D33B"/>
                          </a:solidFill>
                        </a:rPr>
                        <a:t>Scope Graph</a:t>
                      </a:r>
                    </a:p>
                  </a:txBody>
                  <a:tcPr>
                    <a:solidFill>
                      <a:srgbClr val="F2E7FA"/>
                    </a:solidFill>
                  </a:tcPr>
                </a:tc>
                <a:tc>
                  <a:txBody>
                    <a:bodyPr/>
                    <a:lstStyle/>
                    <a:p>
                      <a:r>
                        <a:rPr sz="1200" b="0">
                          <a:solidFill>
                            <a:srgbClr val="91D33B"/>
                          </a:solidFill>
                        </a:rPr>
                        <a:t>Moment Table</a:t>
                      </a:r>
                    </a:p>
                  </a:txBody>
                  <a:tcPr>
                    <a:solidFill>
                      <a:srgbClr val="F2E7FA"/>
                    </a:solidFill>
                  </a:tcPr>
                </a:tc>
                <a:tc>
                  <a:txBody>
                    <a:bodyPr/>
                    <a:lstStyle/>
                    <a:p>
                      <a:r>
                        <a:rPr sz="1200" b="0">
                          <a:solidFill>
                            <a:srgbClr val="91D33B"/>
                          </a:solidFill>
                        </a:rPr>
                        <a:t>Lens Audit</a:t>
                      </a:r>
                    </a:p>
                  </a:txBody>
                  <a:tcPr>
                    <a:solidFill>
                      <a:srgbClr val="F2E7FA"/>
                    </a:solidFill>
                  </a:tcPr>
                </a:tc>
                <a:extLst>
                  <a:ext uri="{0D108BD9-81ED-4DB2-BD59-A6C34878D82A}">
                    <a16:rowId xmlns:a16="http://schemas.microsoft.com/office/drawing/2014/main" val="10005"/>
                  </a:ext>
                </a:extLst>
              </a:tr>
            </a:tbl>
          </a:graphicData>
        </a:graphic>
      </p:graphicFrame>
      <p:sp>
        <p:nvSpPr>
          <p:cNvPr id="3" name="Freeform 2"/>
          <p:cNvSpPr/>
          <p:nvPr/>
        </p:nvSpPr>
        <p:spPr>
          <a:xfrm>
            <a:off x="6395055" y="4407499"/>
            <a:ext cx="1171517" cy="538286"/>
          </a:xfrm>
          <a:custGeom>
            <a:avLst/>
            <a:gdLst/>
            <a:ahLst/>
            <a:cxnLst/>
            <a:rect l="l" t="t" r="r" b="b"/>
            <a:pathLst>
              <a:path w="1171517" h="538286">
                <a:moveTo>
                  <a:pt x="125969" y="91623"/>
                </a:moveTo>
                <a:lnTo>
                  <a:pt x="415699" y="0"/>
                </a:lnTo>
                <a:lnTo>
                  <a:pt x="856593" y="45812"/>
                </a:lnTo>
                <a:lnTo>
                  <a:pt x="1171517" y="217605"/>
                </a:lnTo>
                <a:lnTo>
                  <a:pt x="1007756" y="446663"/>
                </a:lnTo>
                <a:lnTo>
                  <a:pt x="541669" y="538286"/>
                </a:lnTo>
                <a:lnTo>
                  <a:pt x="75582" y="389398"/>
                </a:lnTo>
                <a:lnTo>
                  <a:pt x="0" y="194699"/>
                </a:lnTo>
                <a:close/>
              </a:path>
            </a:pathLst>
          </a:custGeom>
          <a:solidFill>
            <a:srgbClr val="8F5CA5"/>
          </a:solidFill>
          <a:ln w="27155">
            <a:solidFill>
              <a:srgbClr val="58CC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Chart 3"/>
          <p:cNvGraphicFramePr>
            <a:graphicFrameLocks noGrp="1"/>
          </p:cNvGraphicFramePr>
          <p:nvPr/>
        </p:nvGraphicFramePr>
        <p:xfrm>
          <a:off x="1008186" y="3877288"/>
          <a:ext cx="2321138" cy="1665549"/>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10196756" y="2653319"/>
            <a:ext cx="1175249" cy="1536808"/>
          </a:xfrm>
          <a:prstGeom prst="rect">
            <a:avLst/>
          </a:prstGeom>
          <a:noFill/>
        </p:spPr>
        <p:txBody>
          <a:bodyPr wrap="none" lIns="71467" tIns="71467" rIns="71467" bIns="71467">
            <a:spAutoFit/>
          </a:bodyPr>
          <a:lstStyle/>
          <a:p>
            <a:r>
              <a:rPr sz="1800" b="0" i="0" u="none">
                <a:solidFill>
                  <a:srgbClr val="772448"/>
                </a:solidFill>
                <a:latin typeface="Arial"/>
              </a:rPr>
              <a:t>Sample Stage Explorer Beacon Matrix Asset Report Duration Network Summary Input Span Loop Loop Version Mesh Entity Bundle Center Sequence Hub Texture Process Threshold Proof Heading Object Sequence</a:t>
            </a:r>
          </a:p>
        </p:txBody>
      </p:sp>
      <p:sp>
        <p:nvSpPr>
          <p:cNvPr id="6" name="Octagon 5"/>
          <p:cNvSpPr/>
          <p:nvPr/>
        </p:nvSpPr>
        <p:spPr>
          <a:xfrm>
            <a:off x="9572809" y="4225581"/>
            <a:ext cx="2336944" cy="1059950"/>
          </a:xfrm>
          <a:prstGeom prst="octagon">
            <a:avLst/>
          </a:prstGeom>
          <a:noFill/>
          <a:ln w="16861">
            <a:solidFill>
              <a:srgbClr val="9527B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30835" y="3132004"/>
            <a:ext cx="582253" cy="2494415"/>
          </a:xfrm>
          <a:prstGeom prst="rect">
            <a:avLst/>
          </a:prstGeom>
          <a:noFill/>
        </p:spPr>
        <p:txBody>
          <a:bodyPr wrap="none" lIns="31867" tIns="31867" rIns="31867" bIns="31867">
            <a:spAutoFit/>
          </a:bodyPr>
          <a:lstStyle/>
          <a:p>
            <a:r>
              <a:rPr sz="1200" b="0" i="0" u="none">
                <a:solidFill>
                  <a:srgbClr val="38506B"/>
                </a:solidFill>
                <a:latin typeface="Georgia"/>
              </a:rPr>
              <a:t>Result Vertex</a:t>
            </a:r>
          </a:p>
        </p:txBody>
      </p:sp>
      <p:sp>
        <p:nvSpPr>
          <p:cNvPr id="8" name="TextBox 7"/>
          <p:cNvSpPr txBox="1"/>
          <p:nvPr/>
        </p:nvSpPr>
        <p:spPr>
          <a:xfrm>
            <a:off x="7415172" y="4130819"/>
            <a:ext cx="827472" cy="2309772"/>
          </a:xfrm>
          <a:prstGeom prst="rect">
            <a:avLst/>
          </a:prstGeom>
          <a:noFill/>
        </p:spPr>
        <p:txBody>
          <a:bodyPr wrap="none" lIns="57603" tIns="57603" rIns="57603" bIns="57603">
            <a:spAutoFit/>
          </a:bodyPr>
          <a:lstStyle/>
          <a:p>
            <a:r>
              <a:rPr sz="2300" b="1" i="0" u="none">
                <a:solidFill>
                  <a:srgbClr val="9D7DBC"/>
                </a:solidFill>
                <a:latin typeface="Arial"/>
              </a:rPr>
              <a:t>Route Duration Horizon Mesh Memory Case Envelope Packet Marker Transit Variant Graph Deployment Texture</a:t>
            </a:r>
          </a:p>
        </p:txBody>
      </p:sp>
      <p:sp>
        <p:nvSpPr>
          <p:cNvPr id="9" name="TextBox 8"/>
          <p:cNvSpPr txBox="1"/>
          <p:nvPr/>
        </p:nvSpPr>
        <p:spPr>
          <a:xfrm>
            <a:off x="3017736" y="3954087"/>
            <a:ext cx="1078118" cy="2173461"/>
          </a:xfrm>
          <a:prstGeom prst="rect">
            <a:avLst/>
          </a:prstGeom>
          <a:noFill/>
        </p:spPr>
        <p:txBody>
          <a:bodyPr wrap="none" lIns="57414" tIns="57414" rIns="57414" bIns="57414">
            <a:spAutoFit/>
          </a:bodyPr>
          <a:lstStyle/>
          <a:p>
            <a:r>
              <a:rPr sz="3000" b="1" i="0" u="none">
                <a:solidFill>
                  <a:srgbClr val="CA667F"/>
                </a:solidFill>
                <a:latin typeface="Trebuchet MS"/>
              </a:rPr>
              <a:t>Thread Range Structure Memory Profile Snapshot Aspect Memory Scope Option Graph</a:t>
            </a:r>
          </a:p>
        </p:txBody>
      </p:sp>
      <p:graphicFrame>
        <p:nvGraphicFramePr>
          <p:cNvPr id="10" name="Chart 9"/>
          <p:cNvGraphicFramePr>
            <a:graphicFrameLocks noGrp="1"/>
          </p:cNvGraphicFramePr>
          <p:nvPr/>
        </p:nvGraphicFramePr>
        <p:xfrm>
          <a:off x="3607864" y="4311519"/>
          <a:ext cx="2765365" cy="1982270"/>
        </p:xfrm>
        <a:graphic>
          <a:graphicData uri="http://schemas.openxmlformats.org/drawingml/2006/chart">
            <c:chart xmlns:c="http://schemas.openxmlformats.org/drawingml/2006/chart" xmlns:r="http://schemas.openxmlformats.org/officeDocument/2006/relationships" r:id="rId3"/>
          </a:graphicData>
        </a:graphic>
      </p:graphicFrame>
      <p:sp>
        <p:nvSpPr>
          <p:cNvPr id="11" name="Gear 6 10"/>
          <p:cNvSpPr/>
          <p:nvPr/>
        </p:nvSpPr>
        <p:spPr>
          <a:xfrm>
            <a:off x="4248214" y="3540425"/>
            <a:ext cx="343296" cy="1168034"/>
          </a:xfrm>
          <a:prstGeom prst="gear6">
            <a:avLst/>
          </a:prstGeom>
          <a:solidFill>
            <a:srgbClr val="C52F75"/>
          </a:solidFill>
          <a:ln w="11973">
            <a:solidFill>
              <a:srgbClr val="5E19A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cument 11"/>
          <p:cNvSpPr/>
          <p:nvPr/>
        </p:nvSpPr>
        <p:spPr>
          <a:xfrm>
            <a:off x="7625062" y="751860"/>
            <a:ext cx="2408005" cy="1968319"/>
          </a:xfrm>
          <a:prstGeom prst="flowChartDocument">
            <a:avLst/>
          </a:prstGeom>
          <a:solidFill>
            <a:srgbClr val="28A86B"/>
          </a:solidFill>
          <a:ln w="28495">
            <a:solidFill>
              <a:srgbClr val="7B491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4"/>
          <a:srcRect l="5227" t="13888" r="15952" b="4719"/>
          <a:stretch>
            <a:fillRect/>
          </a:stretch>
        </p:blipFill>
        <p:spPr>
          <a:xfrm>
            <a:off x="3864495" y="1646736"/>
            <a:ext cx="1549779" cy="1131532"/>
          </a:xfrm>
          <a:prstGeom prst="rect">
            <a:avLst/>
          </a:prstGeom>
        </p:spPr>
      </p:pic>
      <p:sp>
        <p:nvSpPr>
          <p:cNvPr id="14" name="Rounded Rectangle 13"/>
          <p:cNvSpPr/>
          <p:nvPr/>
        </p:nvSpPr>
        <p:spPr>
          <a:xfrm>
            <a:off x="3864495" y="1646736"/>
            <a:ext cx="1549779" cy="1131532"/>
          </a:xfrm>
          <a:prstGeom prst="roundRect">
            <a:avLst/>
          </a:prstGeom>
          <a:noFill/>
          <a:ln w="15240">
            <a:solidFill>
              <a:srgbClr val="4C78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93801" y="1743823"/>
            <a:ext cx="537682" cy="2169876"/>
          </a:xfrm>
          <a:prstGeom prst="rect">
            <a:avLst/>
          </a:prstGeom>
          <a:noFill/>
        </p:spPr>
        <p:txBody>
          <a:bodyPr wrap="none" lIns="62883" tIns="62883" rIns="62883" bIns="62883">
            <a:spAutoFit/>
          </a:bodyPr>
          <a:lstStyle/>
          <a:p>
            <a:r>
              <a:rPr sz="5000" b="1" i="0" u="sng">
                <a:solidFill>
                  <a:srgbClr val="213326"/>
                </a:solidFill>
                <a:latin typeface="Arial"/>
              </a:rPr>
              <a:t>Cadence Route Impact Beacon Alignment</a:t>
            </a:r>
          </a:p>
        </p:txBody>
      </p:sp>
      <p:pic>
        <p:nvPicPr>
          <p:cNvPr id="16" name="Picture 15" descr="_example_image.jpg"/>
          <p:cNvPicPr>
            <a:picLocks noChangeAspect="1"/>
          </p:cNvPicPr>
          <p:nvPr/>
        </p:nvPicPr>
        <p:blipFill>
          <a:blip r:embed="rId4"/>
          <a:srcRect l="12118" t="9503" r="14775" b="21632"/>
          <a:stretch>
            <a:fillRect/>
          </a:stretch>
        </p:blipFill>
        <p:spPr>
          <a:xfrm>
            <a:off x="284251" y="4557516"/>
            <a:ext cx="1093383" cy="1412201"/>
          </a:xfrm>
          <a:prstGeom prst="rect">
            <a:avLst/>
          </a:prstGeom>
        </p:spPr>
      </p:pic>
      <p:sp>
        <p:nvSpPr>
          <p:cNvPr id="17" name="Line Callout 2 16"/>
          <p:cNvSpPr/>
          <p:nvPr/>
        </p:nvSpPr>
        <p:spPr>
          <a:xfrm>
            <a:off x="6594162" y="909843"/>
            <a:ext cx="998362" cy="1729565"/>
          </a:xfrm>
          <a:prstGeom prst="borderCallout2">
            <a:avLst/>
          </a:prstGeom>
          <a:solidFill>
            <a:srgbClr val="C4A2D5"/>
          </a:solidFill>
          <a:ln w="25670">
            <a:solidFill>
              <a:srgbClr val="E5DB8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lus 17"/>
          <p:cNvSpPr/>
          <p:nvPr/>
        </p:nvSpPr>
        <p:spPr>
          <a:xfrm>
            <a:off x="8857334" y="4702130"/>
            <a:ext cx="602509" cy="439648"/>
          </a:xfrm>
          <a:prstGeom prst="mathPlus">
            <a:avLst/>
          </a:prstGeom>
          <a:solidFill>
            <a:srgbClr val="639F4C"/>
          </a:solidFill>
          <a:ln w="16256">
            <a:solidFill>
              <a:srgbClr val="1C718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4300999" y="5864053"/>
            <a:ext cx="1426690" cy="489554"/>
          </a:xfrm>
          <a:prstGeom prst="bentConnector3">
            <a:avLst/>
          </a:prstGeom>
          <a:ln w="21546">
            <a:solidFill>
              <a:srgbClr val="56C59D"/>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08018" y="5939298"/>
            <a:ext cx="1844507" cy="475793"/>
          </a:xfrm>
          <a:prstGeom prst="line">
            <a:avLst/>
          </a:prstGeom>
          <a:ln w="49926">
            <a:solidFill>
              <a:srgbClr val="A8643D"/>
            </a:solidFill>
            <a:prstDash val="dashDot"/>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9663627" y="5820883"/>
            <a:ext cx="1914136" cy="896788"/>
          </a:xfrm>
          <a:custGeom>
            <a:avLst/>
            <a:gdLst/>
            <a:ahLst/>
            <a:cxnLst/>
            <a:rect l="l" t="t" r="r" b="b"/>
            <a:pathLst>
              <a:path w="1914136" h="896788">
                <a:moveTo>
                  <a:pt x="957068" y="0"/>
                </a:moveTo>
                <a:lnTo>
                  <a:pt x="1196335" y="224197"/>
                </a:lnTo>
                <a:lnTo>
                  <a:pt x="1794502" y="161422"/>
                </a:lnTo>
                <a:lnTo>
                  <a:pt x="1455540" y="448394"/>
                </a:lnTo>
                <a:lnTo>
                  <a:pt x="1914136" y="699495"/>
                </a:lnTo>
                <a:lnTo>
                  <a:pt x="1196335" y="645687"/>
                </a:lnTo>
                <a:lnTo>
                  <a:pt x="957068" y="896788"/>
                </a:lnTo>
                <a:lnTo>
                  <a:pt x="717801" y="645687"/>
                </a:lnTo>
                <a:lnTo>
                  <a:pt x="0" y="699495"/>
                </a:lnTo>
                <a:lnTo>
                  <a:pt x="458595" y="448394"/>
                </a:lnTo>
                <a:lnTo>
                  <a:pt x="119633" y="161422"/>
                </a:lnTo>
                <a:lnTo>
                  <a:pt x="717801" y="224197"/>
                </a:lnTo>
                <a:close/>
              </a:path>
            </a:pathLst>
          </a:custGeom>
          <a:solidFill>
            <a:srgbClr val="56B744"/>
          </a:solidFill>
          <a:ln w="6351">
            <a:solidFill>
              <a:srgbClr val="736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Table 21"/>
          <p:cNvGraphicFramePr>
            <a:graphicFrameLocks noGrp="1"/>
          </p:cNvGraphicFramePr>
          <p:nvPr/>
        </p:nvGraphicFramePr>
        <p:xfrm>
          <a:off x="4584235" y="2867275"/>
          <a:ext cx="3406277" cy="1086597"/>
        </p:xfrm>
        <a:graphic>
          <a:graphicData uri="http://schemas.openxmlformats.org/drawingml/2006/table">
            <a:tbl>
              <a:tblPr firstRow="1" bandRow="1">
                <a:tableStyleId>{5C22544A-7EE6-4342-B048-85BDC9FD1C3A}</a:tableStyleId>
              </a:tblPr>
              <a:tblGrid>
                <a:gridCol w="567712">
                  <a:extLst>
                    <a:ext uri="{9D8B030D-6E8A-4147-A177-3AD203B41FA5}">
                      <a16:colId xmlns:a16="http://schemas.microsoft.com/office/drawing/2014/main" val="20000"/>
                    </a:ext>
                  </a:extLst>
                </a:gridCol>
                <a:gridCol w="567712">
                  <a:extLst>
                    <a:ext uri="{9D8B030D-6E8A-4147-A177-3AD203B41FA5}">
                      <a16:colId xmlns:a16="http://schemas.microsoft.com/office/drawing/2014/main" val="20001"/>
                    </a:ext>
                  </a:extLst>
                </a:gridCol>
                <a:gridCol w="567712">
                  <a:extLst>
                    <a:ext uri="{9D8B030D-6E8A-4147-A177-3AD203B41FA5}">
                      <a16:colId xmlns:a16="http://schemas.microsoft.com/office/drawing/2014/main" val="20002"/>
                    </a:ext>
                  </a:extLst>
                </a:gridCol>
                <a:gridCol w="567712">
                  <a:extLst>
                    <a:ext uri="{9D8B030D-6E8A-4147-A177-3AD203B41FA5}">
                      <a16:colId xmlns:a16="http://schemas.microsoft.com/office/drawing/2014/main" val="20003"/>
                    </a:ext>
                  </a:extLst>
                </a:gridCol>
                <a:gridCol w="567712">
                  <a:extLst>
                    <a:ext uri="{9D8B030D-6E8A-4147-A177-3AD203B41FA5}">
                      <a16:colId xmlns:a16="http://schemas.microsoft.com/office/drawing/2014/main" val="20004"/>
                    </a:ext>
                  </a:extLst>
                </a:gridCol>
                <a:gridCol w="567717">
                  <a:extLst>
                    <a:ext uri="{9D8B030D-6E8A-4147-A177-3AD203B41FA5}">
                      <a16:colId xmlns:a16="http://schemas.microsoft.com/office/drawing/2014/main" val="20005"/>
                    </a:ext>
                  </a:extLst>
                </a:gridCol>
              </a:tblGrid>
              <a:tr h="543298">
                <a:tc>
                  <a:txBody>
                    <a:bodyPr/>
                    <a:lstStyle/>
                    <a:p>
                      <a:r>
                        <a:rPr sz="800" b="1">
                          <a:solidFill>
                            <a:srgbClr val="455819"/>
                          </a:solidFill>
                        </a:rPr>
                        <a:t>Entity</a:t>
                      </a:r>
                    </a:p>
                  </a:txBody>
                  <a:tcPr>
                    <a:solidFill>
                      <a:srgbClr val="BA344F"/>
                    </a:solidFill>
                  </a:tcPr>
                </a:tc>
                <a:tc>
                  <a:txBody>
                    <a:bodyPr/>
                    <a:lstStyle/>
                    <a:p>
                      <a:r>
                        <a:rPr sz="800" b="1">
                          <a:solidFill>
                            <a:srgbClr val="455819"/>
                          </a:solidFill>
                        </a:rPr>
                        <a:t>Wave Schema</a:t>
                      </a:r>
                    </a:p>
                  </a:txBody>
                  <a:tcPr>
                    <a:solidFill>
                      <a:srgbClr val="BA344F"/>
                    </a:solidFill>
                  </a:tcPr>
                </a:tc>
                <a:tc>
                  <a:txBody>
                    <a:bodyPr/>
                    <a:lstStyle/>
                    <a:p>
                      <a:r>
                        <a:rPr sz="800" b="1">
                          <a:solidFill>
                            <a:srgbClr val="455819"/>
                          </a:solidFill>
                        </a:rPr>
                        <a:t>Coverage</a:t>
                      </a:r>
                    </a:p>
                  </a:txBody>
                  <a:tcPr>
                    <a:solidFill>
                      <a:srgbClr val="BA344F"/>
                    </a:solidFill>
                  </a:tcPr>
                </a:tc>
                <a:tc>
                  <a:txBody>
                    <a:bodyPr/>
                    <a:lstStyle/>
                    <a:p>
                      <a:r>
                        <a:rPr sz="800" b="1">
                          <a:solidFill>
                            <a:srgbClr val="455819"/>
                          </a:solidFill>
                        </a:rPr>
                        <a:t>Route Context</a:t>
                      </a:r>
                    </a:p>
                  </a:txBody>
                  <a:tcPr>
                    <a:solidFill>
                      <a:srgbClr val="BA344F"/>
                    </a:solidFill>
                  </a:tcPr>
                </a:tc>
                <a:tc>
                  <a:txBody>
                    <a:bodyPr/>
                    <a:lstStyle/>
                    <a:p>
                      <a:r>
                        <a:rPr sz="800" b="1">
                          <a:solidFill>
                            <a:srgbClr val="455819"/>
                          </a:solidFill>
                        </a:rPr>
                        <a:t>Apex Method</a:t>
                      </a:r>
                    </a:p>
                  </a:txBody>
                  <a:tcPr>
                    <a:solidFill>
                      <a:srgbClr val="BA344F"/>
                    </a:solidFill>
                  </a:tcPr>
                </a:tc>
                <a:tc>
                  <a:txBody>
                    <a:bodyPr/>
                    <a:lstStyle/>
                    <a:p>
                      <a:r>
                        <a:rPr sz="800" b="1">
                          <a:solidFill>
                            <a:srgbClr val="455819"/>
                          </a:solidFill>
                        </a:rPr>
                        <a:t>Signal</a:t>
                      </a:r>
                    </a:p>
                  </a:txBody>
                  <a:tcPr>
                    <a:solidFill>
                      <a:srgbClr val="BA344F"/>
                    </a:solidFill>
                  </a:tcPr>
                </a:tc>
                <a:extLst>
                  <a:ext uri="{0D108BD9-81ED-4DB2-BD59-A6C34878D82A}">
                    <a16:rowId xmlns:a16="http://schemas.microsoft.com/office/drawing/2014/main" val="10000"/>
                  </a:ext>
                </a:extLst>
              </a:tr>
              <a:tr h="543299">
                <a:tc>
                  <a:txBody>
                    <a:bodyPr/>
                    <a:lstStyle/>
                    <a:p>
                      <a:r>
                        <a:rPr sz="800" b="0">
                          <a:solidFill>
                            <a:srgbClr val="455819"/>
                          </a:solidFill>
                        </a:rPr>
                        <a:t>Source Exchange</a:t>
                      </a:r>
                    </a:p>
                  </a:txBody>
                  <a:tcPr>
                    <a:solidFill>
                      <a:srgbClr val="F3F9FA"/>
                    </a:solidFill>
                  </a:tcPr>
                </a:tc>
                <a:tc>
                  <a:txBody>
                    <a:bodyPr/>
                    <a:lstStyle/>
                    <a:p>
                      <a:r>
                        <a:rPr sz="800" b="0">
                          <a:solidFill>
                            <a:srgbClr val="455819"/>
                          </a:solidFill>
                        </a:rPr>
                        <a:t>Model</a:t>
                      </a:r>
                    </a:p>
                  </a:txBody>
                  <a:tcPr>
                    <a:solidFill>
                      <a:srgbClr val="F3F9FA"/>
                    </a:solidFill>
                  </a:tcPr>
                </a:tc>
                <a:tc>
                  <a:txBody>
                    <a:bodyPr/>
                    <a:lstStyle/>
                    <a:p>
                      <a:r>
                        <a:rPr sz="800" b="0">
                          <a:solidFill>
                            <a:srgbClr val="455819"/>
                          </a:solidFill>
                        </a:rPr>
                        <a:t>Command</a:t>
                      </a:r>
                    </a:p>
                  </a:txBody>
                  <a:tcPr>
                    <a:solidFill>
                      <a:srgbClr val="F3F9FA"/>
                    </a:solidFill>
                  </a:tcPr>
                </a:tc>
                <a:tc>
                  <a:txBody>
                    <a:bodyPr/>
                    <a:lstStyle/>
                    <a:p>
                      <a:r>
                        <a:rPr sz="800" b="0">
                          <a:solidFill>
                            <a:srgbClr val="455819"/>
                          </a:solidFill>
                        </a:rPr>
                        <a:t>Slice Point</a:t>
                      </a:r>
                    </a:p>
                  </a:txBody>
                  <a:tcPr>
                    <a:solidFill>
                      <a:srgbClr val="F3F9FA"/>
                    </a:solidFill>
                  </a:tcPr>
                </a:tc>
                <a:tc>
                  <a:txBody>
                    <a:bodyPr/>
                    <a:lstStyle/>
                    <a:p>
                      <a:r>
                        <a:rPr sz="800" b="0">
                          <a:solidFill>
                            <a:srgbClr val="455819"/>
                          </a:solidFill>
                        </a:rPr>
                        <a:t>Heading</a:t>
                      </a:r>
                    </a:p>
                  </a:txBody>
                  <a:tcPr>
                    <a:solidFill>
                      <a:srgbClr val="F3F9FA"/>
                    </a:solidFill>
                  </a:tcPr>
                </a:tc>
                <a:tc>
                  <a:txBody>
                    <a:bodyPr/>
                    <a:lstStyle/>
                    <a:p>
                      <a:r>
                        <a:rPr sz="800" b="0">
                          <a:solidFill>
                            <a:srgbClr val="455819"/>
                          </a:solidFill>
                        </a:rPr>
                        <a:t>Layer</a:t>
                      </a:r>
                    </a:p>
                  </a:txBody>
                  <a:tcPr>
                    <a:solidFill>
                      <a:srgbClr val="F3F9FA"/>
                    </a:solidFill>
                  </a:tcPr>
                </a:tc>
                <a:extLst>
                  <a:ext uri="{0D108BD9-81ED-4DB2-BD59-A6C34878D82A}">
                    <a16:rowId xmlns:a16="http://schemas.microsoft.com/office/drawing/2014/main" val="10001"/>
                  </a:ext>
                </a:extLst>
              </a:tr>
            </a:tbl>
          </a:graphicData>
        </a:graphic>
      </p:graphicFrame>
      <p:pic>
        <p:nvPicPr>
          <p:cNvPr id="23" name="Picture 22" descr="_example_image.jpg"/>
          <p:cNvPicPr>
            <a:picLocks noChangeAspect="1"/>
          </p:cNvPicPr>
          <p:nvPr/>
        </p:nvPicPr>
        <p:blipFill>
          <a:blip r:embed="rId4"/>
          <a:srcRect l="2194" t="8400" r="1862" b="17469"/>
          <a:stretch>
            <a:fillRect/>
          </a:stretch>
        </p:blipFill>
        <p:spPr>
          <a:xfrm>
            <a:off x="8443855" y="5117111"/>
            <a:ext cx="1107907" cy="1278954"/>
          </a:xfrm>
          <a:prstGeom prst="rect">
            <a:avLst/>
          </a:prstGeom>
        </p:spPr>
      </p:pic>
      <p:sp>
        <p:nvSpPr>
          <p:cNvPr id="24" name="Rounded Rectangle 23"/>
          <p:cNvSpPr/>
          <p:nvPr/>
        </p:nvSpPr>
        <p:spPr>
          <a:xfrm>
            <a:off x="8443855" y="5117111"/>
            <a:ext cx="1107907" cy="1278954"/>
          </a:xfrm>
          <a:prstGeom prst="roundRect">
            <a:avLst/>
          </a:prstGeom>
          <a:noFill/>
          <a:ln w="15240">
            <a:solidFill>
              <a:srgbClr val="2C8E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ata 24"/>
          <p:cNvSpPr/>
          <p:nvPr/>
        </p:nvSpPr>
        <p:spPr>
          <a:xfrm>
            <a:off x="10651299" y="1304754"/>
            <a:ext cx="868912" cy="306993"/>
          </a:xfrm>
          <a:prstGeom prst="flowChartInputOutput">
            <a:avLst/>
          </a:prstGeom>
          <a:solidFill>
            <a:srgbClr val="8B992A"/>
          </a:solidFill>
          <a:ln w="30346">
            <a:solidFill>
              <a:srgbClr val="A3205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58304" y="459692"/>
            <a:ext cx="3748365" cy="893330"/>
          </a:xfrm>
          <a:prstGeom prst="rect">
            <a:avLst/>
          </a:prstGeom>
          <a:solidFill>
            <a:srgbClr val="227CA8"/>
          </a:solidFill>
        </p:spPr>
        <p:txBody>
          <a:bodyPr wrap="none" lIns="51108" tIns="51108" rIns="51108" bIns="51108">
            <a:spAutoFit/>
          </a:bodyPr>
          <a:lstStyle/>
          <a:p>
            <a:r>
              <a:rPr sz="800" b="0" i="0" u="none">
                <a:solidFill>
                  <a:srgbClr val="9A3B63"/>
                </a:solidFill>
                <a:latin typeface="Trebuchet MS"/>
              </a:rPr>
              <a:t>Window Coverage Sample Response Build Briefing Device Beacon Agenda</a:t>
            </a:r>
          </a:p>
        </p:txBody>
      </p:sp>
      <p:sp>
        <p:nvSpPr>
          <p:cNvPr id="27" name="Can 26"/>
          <p:cNvSpPr/>
          <p:nvPr/>
        </p:nvSpPr>
        <p:spPr>
          <a:xfrm>
            <a:off x="8065503" y="3134868"/>
            <a:ext cx="1640409" cy="840067"/>
          </a:xfrm>
          <a:prstGeom prst="can">
            <a:avLst/>
          </a:prstGeom>
          <a:noFill/>
          <a:ln w="27603">
            <a:solidFill>
              <a:srgbClr val="54812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V="1">
            <a:off x="1610260" y="3608637"/>
            <a:ext cx="805936" cy="580100"/>
          </a:xfrm>
          <a:prstGeom prst="curvedConnector3">
            <a:avLst/>
          </a:prstGeom>
          <a:ln w="15867">
            <a:solidFill>
              <a:srgbClr val="654B81"/>
            </a:solidFill>
            <a:prstDash val="dot"/>
          </a:ln>
        </p:spPr>
        <p:style>
          <a:lnRef idx="2">
            <a:schemeClr val="accent1"/>
          </a:lnRef>
          <a:fillRef idx="0">
            <a:schemeClr val="accent1"/>
          </a:fillRef>
          <a:effectRef idx="1">
            <a:schemeClr val="accent1"/>
          </a:effectRef>
          <a:fontRef idx="minor">
            <a:schemeClr val="tx1"/>
          </a:fontRef>
        </p:style>
      </p:cxnSp>
      <p:pic>
        <p:nvPicPr>
          <p:cNvPr id="30" name="Graphic 29">
            <a:extLst>
              <a:ext uri="{FF2B5EF4-FFF2-40B4-BE49-F238E27FC236}">
                <a16:creationId xmlns:a16="http://schemas.microsoft.com/office/drawing/2014/main" id="{330E0BAC-7FA7-6AF9-5BA1-5EB2987C931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227873" y="4336938"/>
            <a:ext cx="1438130" cy="987562"/>
          </a:xfrm>
          <a:prstGeom prst="rect">
            <a:avLst/>
          </a:prstGeom>
        </p:spPr>
      </p:pic>
      <p:pic>
        <p:nvPicPr>
          <p:cNvPr id="32" name="Graphic 31">
            <a:extLst>
              <a:ext uri="{FF2B5EF4-FFF2-40B4-BE49-F238E27FC236}">
                <a16:creationId xmlns:a16="http://schemas.microsoft.com/office/drawing/2014/main" id="{64561F05-C0BF-086C-8BC3-64D2FFBEC18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899212" y="2529924"/>
            <a:ext cx="1446960" cy="98651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677882" y="1634368"/>
          <a:ext cx="3572186" cy="1286617"/>
        </p:xfrm>
        <a:graphic>
          <a:graphicData uri="http://schemas.openxmlformats.org/drawingml/2006/table">
            <a:tbl>
              <a:tblPr firstRow="1" bandRow="1">
                <a:tableStyleId>{5C22544A-7EE6-4342-B048-85BDC9FD1C3A}</a:tableStyleId>
              </a:tblPr>
              <a:tblGrid>
                <a:gridCol w="893046">
                  <a:extLst>
                    <a:ext uri="{9D8B030D-6E8A-4147-A177-3AD203B41FA5}">
                      <a16:colId xmlns:a16="http://schemas.microsoft.com/office/drawing/2014/main" val="20000"/>
                    </a:ext>
                  </a:extLst>
                </a:gridCol>
                <a:gridCol w="893046">
                  <a:extLst>
                    <a:ext uri="{9D8B030D-6E8A-4147-A177-3AD203B41FA5}">
                      <a16:colId xmlns:a16="http://schemas.microsoft.com/office/drawing/2014/main" val="20001"/>
                    </a:ext>
                  </a:extLst>
                </a:gridCol>
                <a:gridCol w="893046">
                  <a:extLst>
                    <a:ext uri="{9D8B030D-6E8A-4147-A177-3AD203B41FA5}">
                      <a16:colId xmlns:a16="http://schemas.microsoft.com/office/drawing/2014/main" val="20002"/>
                    </a:ext>
                  </a:extLst>
                </a:gridCol>
                <a:gridCol w="893048">
                  <a:extLst>
                    <a:ext uri="{9D8B030D-6E8A-4147-A177-3AD203B41FA5}">
                      <a16:colId xmlns:a16="http://schemas.microsoft.com/office/drawing/2014/main" val="20003"/>
                    </a:ext>
                  </a:extLst>
                </a:gridCol>
              </a:tblGrid>
              <a:tr h="257323">
                <a:tc>
                  <a:txBody>
                    <a:bodyPr/>
                    <a:lstStyle/>
                    <a:p>
                      <a:r>
                        <a:rPr sz="600" b="0">
                          <a:solidFill>
                            <a:srgbClr val="43DB92"/>
                          </a:solidFill>
                        </a:rPr>
                        <a:t>Program</a:t>
                      </a:r>
                    </a:p>
                  </a:txBody>
                  <a:tcPr>
                    <a:solidFill>
                      <a:srgbClr val="D3EBEE"/>
                    </a:solidFill>
                  </a:tcPr>
                </a:tc>
                <a:tc>
                  <a:txBody>
                    <a:bodyPr/>
                    <a:lstStyle/>
                    <a:p>
                      <a:r>
                        <a:rPr sz="600" b="0">
                          <a:solidFill>
                            <a:srgbClr val="43DB92"/>
                          </a:solidFill>
                        </a:rPr>
                        <a:t>Horizon Atlas</a:t>
                      </a:r>
                    </a:p>
                  </a:txBody>
                  <a:tcPr>
                    <a:solidFill>
                      <a:srgbClr val="B0DBE2"/>
                    </a:solidFill>
                  </a:tcPr>
                </a:tc>
                <a:tc>
                  <a:txBody>
                    <a:bodyPr/>
                    <a:lstStyle/>
                    <a:p>
                      <a:r>
                        <a:rPr sz="600" b="0">
                          <a:solidFill>
                            <a:srgbClr val="43DB92"/>
                          </a:solidFill>
                        </a:rPr>
                        <a:t>Column</a:t>
                      </a:r>
                    </a:p>
                  </a:txBody>
                  <a:tcPr>
                    <a:solidFill>
                      <a:srgbClr val="D3EBEE"/>
                    </a:solidFill>
                  </a:tcPr>
                </a:tc>
                <a:tc>
                  <a:txBody>
                    <a:bodyPr/>
                    <a:lstStyle/>
                    <a:p>
                      <a:r>
                        <a:rPr sz="600" b="0">
                          <a:solidFill>
                            <a:srgbClr val="43DB92"/>
                          </a:solidFill>
                        </a:rPr>
                        <a:t>Cell</a:t>
                      </a:r>
                    </a:p>
                  </a:txBody>
                  <a:tcPr>
                    <a:solidFill>
                      <a:srgbClr val="B0DBE2"/>
                    </a:solidFill>
                  </a:tcPr>
                </a:tc>
                <a:extLst>
                  <a:ext uri="{0D108BD9-81ED-4DB2-BD59-A6C34878D82A}">
                    <a16:rowId xmlns:a16="http://schemas.microsoft.com/office/drawing/2014/main" val="10000"/>
                  </a:ext>
                </a:extLst>
              </a:tr>
              <a:tr h="257323">
                <a:tc>
                  <a:txBody>
                    <a:bodyPr/>
                    <a:lstStyle/>
                    <a:p>
                      <a:r>
                        <a:rPr sz="600" b="0">
                          <a:solidFill>
                            <a:srgbClr val="43DB92"/>
                          </a:solidFill>
                        </a:rPr>
                        <a:t>Thread Circuit</a:t>
                      </a:r>
                    </a:p>
                  </a:txBody>
                  <a:tcPr>
                    <a:solidFill>
                      <a:srgbClr val="D3EBEE"/>
                    </a:solidFill>
                  </a:tcPr>
                </a:tc>
                <a:tc>
                  <a:txBody>
                    <a:bodyPr/>
                    <a:lstStyle/>
                    <a:p>
                      <a:r>
                        <a:rPr sz="600" b="0">
                          <a:solidFill>
                            <a:srgbClr val="43DB92"/>
                          </a:solidFill>
                        </a:rPr>
                        <a:t>Timeline</a:t>
                      </a:r>
                    </a:p>
                  </a:txBody>
                  <a:tcPr>
                    <a:solidFill>
                      <a:srgbClr val="B0DBE2"/>
                    </a:solidFill>
                  </a:tcPr>
                </a:tc>
                <a:tc>
                  <a:txBody>
                    <a:bodyPr/>
                    <a:lstStyle/>
                    <a:p>
                      <a:r>
                        <a:rPr sz="600" b="0">
                          <a:solidFill>
                            <a:srgbClr val="43DB92"/>
                          </a:solidFill>
                        </a:rPr>
                        <a:t>Program Dashboard</a:t>
                      </a:r>
                    </a:p>
                  </a:txBody>
                  <a:tcPr>
                    <a:solidFill>
                      <a:srgbClr val="D3EBEE"/>
                    </a:solidFill>
                  </a:tcPr>
                </a:tc>
                <a:tc>
                  <a:txBody>
                    <a:bodyPr/>
                    <a:lstStyle/>
                    <a:p>
                      <a:r>
                        <a:rPr sz="600" b="0">
                          <a:solidFill>
                            <a:srgbClr val="43DB92"/>
                          </a:solidFill>
                        </a:rPr>
                        <a:t>Gateway Energy</a:t>
                      </a:r>
                    </a:p>
                  </a:txBody>
                  <a:tcPr>
                    <a:solidFill>
                      <a:srgbClr val="B0DBE2"/>
                    </a:solidFill>
                  </a:tcPr>
                </a:tc>
                <a:extLst>
                  <a:ext uri="{0D108BD9-81ED-4DB2-BD59-A6C34878D82A}">
                    <a16:rowId xmlns:a16="http://schemas.microsoft.com/office/drawing/2014/main" val="10001"/>
                  </a:ext>
                </a:extLst>
              </a:tr>
              <a:tr h="257323">
                <a:tc>
                  <a:txBody>
                    <a:bodyPr/>
                    <a:lstStyle/>
                    <a:p>
                      <a:r>
                        <a:rPr sz="600" b="0">
                          <a:solidFill>
                            <a:srgbClr val="43DB92"/>
                          </a:solidFill>
                        </a:rPr>
                        <a:t>Structure Limit</a:t>
                      </a:r>
                    </a:p>
                  </a:txBody>
                  <a:tcPr>
                    <a:solidFill>
                      <a:srgbClr val="D3EBEE"/>
                    </a:solidFill>
                  </a:tcPr>
                </a:tc>
                <a:tc>
                  <a:txBody>
                    <a:bodyPr/>
                    <a:lstStyle/>
                    <a:p>
                      <a:r>
                        <a:rPr sz="600" b="0">
                          <a:solidFill>
                            <a:srgbClr val="43DB92"/>
                          </a:solidFill>
                        </a:rPr>
                        <a:t>Frame</a:t>
                      </a:r>
                    </a:p>
                  </a:txBody>
                  <a:tcPr>
                    <a:solidFill>
                      <a:srgbClr val="B0DBE2"/>
                    </a:solidFill>
                  </a:tcPr>
                </a:tc>
                <a:tc>
                  <a:txBody>
                    <a:bodyPr/>
                    <a:lstStyle/>
                    <a:p>
                      <a:r>
                        <a:rPr sz="600" b="0">
                          <a:solidFill>
                            <a:srgbClr val="43DB92"/>
                          </a:solidFill>
                        </a:rPr>
                        <a:t>Intent Concept</a:t>
                      </a:r>
                    </a:p>
                  </a:txBody>
                  <a:tcPr>
                    <a:solidFill>
                      <a:srgbClr val="D3EBEE"/>
                    </a:solidFill>
                  </a:tcPr>
                </a:tc>
                <a:tc>
                  <a:txBody>
                    <a:bodyPr/>
                    <a:lstStyle/>
                    <a:p>
                      <a:r>
                        <a:rPr sz="600" b="0">
                          <a:solidFill>
                            <a:srgbClr val="43DB92"/>
                          </a:solidFill>
                        </a:rPr>
                        <a:t>Lens Schema</a:t>
                      </a:r>
                    </a:p>
                  </a:txBody>
                  <a:tcPr>
                    <a:solidFill>
                      <a:srgbClr val="B0DBE2"/>
                    </a:solidFill>
                  </a:tcPr>
                </a:tc>
                <a:extLst>
                  <a:ext uri="{0D108BD9-81ED-4DB2-BD59-A6C34878D82A}">
                    <a16:rowId xmlns:a16="http://schemas.microsoft.com/office/drawing/2014/main" val="10002"/>
                  </a:ext>
                </a:extLst>
              </a:tr>
              <a:tr h="257323">
                <a:tc>
                  <a:txBody>
                    <a:bodyPr/>
                    <a:lstStyle/>
                    <a:p>
                      <a:r>
                        <a:rPr sz="600" b="0">
                          <a:solidFill>
                            <a:srgbClr val="43DB92"/>
                          </a:solidFill>
                        </a:rPr>
                        <a:t>Pixel Stack</a:t>
                      </a:r>
                    </a:p>
                  </a:txBody>
                  <a:tcPr>
                    <a:solidFill>
                      <a:srgbClr val="D3EBEE"/>
                    </a:solidFill>
                  </a:tcPr>
                </a:tc>
                <a:tc>
                  <a:txBody>
                    <a:bodyPr/>
                    <a:lstStyle/>
                    <a:p>
                      <a:r>
                        <a:rPr sz="600" b="0">
                          <a:solidFill>
                            <a:srgbClr val="43DB92"/>
                          </a:solidFill>
                        </a:rPr>
                        <a:t>Data</a:t>
                      </a:r>
                    </a:p>
                  </a:txBody>
                  <a:tcPr>
                    <a:solidFill>
                      <a:srgbClr val="B0DBE2"/>
                    </a:solidFill>
                  </a:tcPr>
                </a:tc>
                <a:tc>
                  <a:txBody>
                    <a:bodyPr/>
                    <a:lstStyle/>
                    <a:p>
                      <a:r>
                        <a:rPr sz="600" b="0">
                          <a:solidFill>
                            <a:srgbClr val="43DB92"/>
                          </a:solidFill>
                        </a:rPr>
                        <a:t>Cell Matrix</a:t>
                      </a:r>
                    </a:p>
                  </a:txBody>
                  <a:tcPr>
                    <a:solidFill>
                      <a:srgbClr val="D3EBEE"/>
                    </a:solidFill>
                  </a:tcPr>
                </a:tc>
                <a:tc>
                  <a:txBody>
                    <a:bodyPr/>
                    <a:lstStyle/>
                    <a:p>
                      <a:r>
                        <a:rPr sz="600" b="0">
                          <a:solidFill>
                            <a:srgbClr val="43DB92"/>
                          </a:solidFill>
                        </a:rPr>
                        <a:t>Collection</a:t>
                      </a:r>
                    </a:p>
                  </a:txBody>
                  <a:tcPr>
                    <a:solidFill>
                      <a:srgbClr val="B0DBE2"/>
                    </a:solidFill>
                  </a:tcPr>
                </a:tc>
                <a:extLst>
                  <a:ext uri="{0D108BD9-81ED-4DB2-BD59-A6C34878D82A}">
                    <a16:rowId xmlns:a16="http://schemas.microsoft.com/office/drawing/2014/main" val="10003"/>
                  </a:ext>
                </a:extLst>
              </a:tr>
              <a:tr h="257325">
                <a:tc>
                  <a:txBody>
                    <a:bodyPr/>
                    <a:lstStyle/>
                    <a:p>
                      <a:r>
                        <a:rPr sz="600" b="0">
                          <a:solidFill>
                            <a:srgbClr val="43DB92"/>
                          </a:solidFill>
                        </a:rPr>
                        <a:t>Duration</a:t>
                      </a:r>
                    </a:p>
                  </a:txBody>
                  <a:tcPr>
                    <a:solidFill>
                      <a:srgbClr val="D3EBEE"/>
                    </a:solidFill>
                  </a:tcPr>
                </a:tc>
                <a:tc>
                  <a:txBody>
                    <a:bodyPr/>
                    <a:lstStyle/>
                    <a:p>
                      <a:r>
                        <a:rPr sz="600" b="0">
                          <a:solidFill>
                            <a:srgbClr val="43DB92"/>
                          </a:solidFill>
                        </a:rPr>
                        <a:t>Reference Response</a:t>
                      </a:r>
                    </a:p>
                  </a:txBody>
                  <a:tcPr>
                    <a:solidFill>
                      <a:srgbClr val="B0DBE2"/>
                    </a:solidFill>
                  </a:tcPr>
                </a:tc>
                <a:tc>
                  <a:txBody>
                    <a:bodyPr/>
                    <a:lstStyle/>
                    <a:p>
                      <a:r>
                        <a:rPr sz="600" b="0">
                          <a:solidFill>
                            <a:srgbClr val="43DB92"/>
                          </a:solidFill>
                        </a:rPr>
                        <a:t>Capacity Analysis</a:t>
                      </a:r>
                    </a:p>
                  </a:txBody>
                  <a:tcPr>
                    <a:solidFill>
                      <a:srgbClr val="D3EBEE"/>
                    </a:solidFill>
                  </a:tcPr>
                </a:tc>
                <a:tc>
                  <a:txBody>
                    <a:bodyPr/>
                    <a:lstStyle/>
                    <a:p>
                      <a:r>
                        <a:rPr sz="600" b="0">
                          <a:solidFill>
                            <a:srgbClr val="43DB92"/>
                          </a:solidFill>
                        </a:rPr>
                        <a:t>Loop Map</a:t>
                      </a:r>
                    </a:p>
                  </a:txBody>
                  <a:tcPr>
                    <a:solidFill>
                      <a:srgbClr val="B0DBE2"/>
                    </a:solidFill>
                  </a:tcPr>
                </a:tc>
                <a:extLst>
                  <a:ext uri="{0D108BD9-81ED-4DB2-BD59-A6C34878D82A}">
                    <a16:rowId xmlns:a16="http://schemas.microsoft.com/office/drawing/2014/main" val="10004"/>
                  </a:ext>
                </a:extLst>
              </a:tr>
            </a:tbl>
          </a:graphicData>
        </a:graphic>
      </p:graphicFrame>
      <p:sp>
        <p:nvSpPr>
          <p:cNvPr id="3" name="TextBox 2"/>
          <p:cNvSpPr txBox="1"/>
          <p:nvPr/>
        </p:nvSpPr>
        <p:spPr>
          <a:xfrm>
            <a:off x="3088351" y="3938596"/>
            <a:ext cx="751022" cy="2019398"/>
          </a:xfrm>
          <a:prstGeom prst="rect">
            <a:avLst/>
          </a:prstGeom>
          <a:noFill/>
        </p:spPr>
        <p:txBody>
          <a:bodyPr wrap="none" lIns="75994" tIns="75994" rIns="75994" bIns="75994">
            <a:spAutoFit/>
          </a:bodyPr>
          <a:lstStyle/>
          <a:p>
            <a:r>
              <a:rPr sz="3700" b="1" i="1" u="none">
                <a:solidFill>
                  <a:srgbClr val="85A75B"/>
                </a:solidFill>
                <a:latin typeface="Calibri"/>
              </a:rPr>
              <a:t>Energy Template Vector Engine Layer Access Terminal</a:t>
            </a:r>
          </a:p>
        </p:txBody>
      </p:sp>
      <p:sp>
        <p:nvSpPr>
          <p:cNvPr id="4" name="Rectangular Callout 3"/>
          <p:cNvSpPr/>
          <p:nvPr/>
        </p:nvSpPr>
        <p:spPr>
          <a:xfrm>
            <a:off x="2726606" y="2264334"/>
            <a:ext cx="591713" cy="1599911"/>
          </a:xfrm>
          <a:prstGeom prst="wedgeRectCallout">
            <a:avLst/>
          </a:prstGeom>
          <a:solidFill>
            <a:srgbClr val="68D5B8"/>
          </a:solidFill>
          <a:ln w="25433">
            <a:solidFill>
              <a:srgbClr val="98C78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_example_image.jpg"/>
          <p:cNvPicPr>
            <a:picLocks noChangeAspect="1"/>
          </p:cNvPicPr>
          <p:nvPr/>
        </p:nvPicPr>
        <p:blipFill>
          <a:blip r:embed="rId2"/>
          <a:srcRect l="10584" t="21153" r="14283" b="715"/>
          <a:stretch>
            <a:fillRect/>
          </a:stretch>
        </p:blipFill>
        <p:spPr>
          <a:xfrm>
            <a:off x="10377997" y="5498408"/>
            <a:ext cx="1183236" cy="1142021"/>
          </a:xfrm>
          <a:prstGeom prst="rect">
            <a:avLst/>
          </a:prstGeom>
        </p:spPr>
      </p:pic>
      <p:sp>
        <p:nvSpPr>
          <p:cNvPr id="6" name="5-Point Star 5"/>
          <p:cNvSpPr/>
          <p:nvPr/>
        </p:nvSpPr>
        <p:spPr>
          <a:xfrm>
            <a:off x="4910772" y="3466384"/>
            <a:ext cx="2517562" cy="783695"/>
          </a:xfrm>
          <a:prstGeom prst="star5">
            <a:avLst/>
          </a:prstGeom>
          <a:solidFill>
            <a:srgbClr val="315ACB"/>
          </a:solidFill>
          <a:ln w="15076">
            <a:solidFill>
              <a:srgbClr val="33532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_example_image.jpg"/>
          <p:cNvPicPr>
            <a:picLocks noChangeAspect="1"/>
          </p:cNvPicPr>
          <p:nvPr/>
        </p:nvPicPr>
        <p:blipFill>
          <a:blip r:embed="rId2"/>
          <a:srcRect l="11954" t="18755" r="19365" b="21956"/>
          <a:stretch>
            <a:fillRect/>
          </a:stretch>
        </p:blipFill>
        <p:spPr>
          <a:xfrm>
            <a:off x="8940206" y="5731771"/>
            <a:ext cx="1496233" cy="844939"/>
          </a:xfrm>
          <a:prstGeom prst="rect">
            <a:avLst/>
          </a:prstGeom>
        </p:spPr>
      </p:pic>
      <p:cxnSp>
        <p:nvCxnSpPr>
          <p:cNvPr id="8" name="Connector 7"/>
          <p:cNvCxnSpPr/>
          <p:nvPr/>
        </p:nvCxnSpPr>
        <p:spPr>
          <a:xfrm>
            <a:off x="5808492" y="4360024"/>
            <a:ext cx="1823717" cy="598313"/>
          </a:xfrm>
          <a:prstGeom prst="curvedConnector3">
            <a:avLst/>
          </a:prstGeom>
          <a:ln w="8332">
            <a:solidFill>
              <a:srgbClr val="D4D7D5"/>
            </a:solidFill>
            <a:prstDash val="lg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632731" y="2983381"/>
            <a:ext cx="744588" cy="294357"/>
          </a:xfrm>
          <a:prstGeom prst="rect">
            <a:avLst/>
          </a:prstGeom>
          <a:solidFill>
            <a:srgbClr val="834892"/>
          </a:solidFill>
        </p:spPr>
        <p:txBody>
          <a:bodyPr wrap="none" lIns="63818" tIns="63818" rIns="63818" bIns="63818">
            <a:spAutoFit/>
          </a:bodyPr>
          <a:lstStyle/>
          <a:p>
            <a:r>
              <a:rPr sz="2300" b="0" i="0" u="none">
                <a:solidFill>
                  <a:srgbClr val="3A706F"/>
                </a:solidFill>
                <a:latin typeface="Arial"/>
              </a:rPr>
              <a:t>Terminal Frame Inventory Checkpoint Metric Format Coverage Element Coverage Instance Transform Mode Logic</a:t>
            </a:r>
          </a:p>
        </p:txBody>
      </p:sp>
      <p:pic>
        <p:nvPicPr>
          <p:cNvPr id="10" name="Picture 9" descr="_example_image.jpg"/>
          <p:cNvPicPr>
            <a:picLocks noChangeAspect="1"/>
          </p:cNvPicPr>
          <p:nvPr/>
        </p:nvPicPr>
        <p:blipFill>
          <a:blip r:embed="rId2"/>
          <a:srcRect l="11429" t="7957" r="3380" b="11481"/>
          <a:stretch>
            <a:fillRect/>
          </a:stretch>
        </p:blipFill>
        <p:spPr>
          <a:xfrm>
            <a:off x="1202193" y="1206649"/>
            <a:ext cx="1363182" cy="2128634"/>
          </a:xfrm>
          <a:prstGeom prst="rect">
            <a:avLst/>
          </a:prstGeom>
        </p:spPr>
      </p:pic>
      <p:sp>
        <p:nvSpPr>
          <p:cNvPr id="11" name="Rounded Rectangle 10"/>
          <p:cNvSpPr/>
          <p:nvPr/>
        </p:nvSpPr>
        <p:spPr>
          <a:xfrm>
            <a:off x="1202193" y="1206649"/>
            <a:ext cx="1363182" cy="2128634"/>
          </a:xfrm>
          <a:prstGeom prst="roundRect">
            <a:avLst/>
          </a:prstGeom>
          <a:noFill/>
          <a:ln w="15240">
            <a:solidFill>
              <a:srgbClr val="2489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59658" y="5320272"/>
            <a:ext cx="515229" cy="694685"/>
          </a:xfrm>
          <a:prstGeom prst="rect">
            <a:avLst/>
          </a:prstGeom>
          <a:noFill/>
        </p:spPr>
        <p:txBody>
          <a:bodyPr wrap="none" lIns="28470" tIns="28470" rIns="28470" bIns="28470">
            <a:spAutoFit/>
          </a:bodyPr>
          <a:lstStyle/>
          <a:p>
            <a:r>
              <a:rPr sz="700" b="1" i="0" u="none">
                <a:solidFill>
                  <a:srgbClr val="CA71DB"/>
                </a:solidFill>
                <a:latin typeface="Trebuchet MS"/>
              </a:rPr>
              <a:t>Beta Logic Needle Needle Packet Array Aspect Gradient Position</a:t>
            </a:r>
          </a:p>
        </p:txBody>
      </p:sp>
      <p:sp>
        <p:nvSpPr>
          <p:cNvPr id="13" name="Hexagon 12"/>
          <p:cNvSpPr/>
          <p:nvPr/>
        </p:nvSpPr>
        <p:spPr>
          <a:xfrm>
            <a:off x="10634162" y="988840"/>
            <a:ext cx="1119444" cy="1889537"/>
          </a:xfrm>
          <a:prstGeom prst="hexagon">
            <a:avLst/>
          </a:prstGeom>
          <a:solidFill>
            <a:srgbClr val="83DFCC"/>
          </a:solidFill>
          <a:ln w="22774">
            <a:solidFill>
              <a:srgbClr val="53AA8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Multiply 13"/>
          <p:cNvSpPr/>
          <p:nvPr/>
        </p:nvSpPr>
        <p:spPr>
          <a:xfrm>
            <a:off x="1486100" y="4811559"/>
            <a:ext cx="539788" cy="1408695"/>
          </a:xfrm>
          <a:prstGeom prst="mathMultiply">
            <a:avLst/>
          </a:prstGeom>
          <a:solidFill>
            <a:srgbClr val="361D97"/>
          </a:solidFill>
          <a:ln w="14123">
            <a:solidFill>
              <a:srgbClr val="D2559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lus 14"/>
          <p:cNvSpPr/>
          <p:nvPr/>
        </p:nvSpPr>
        <p:spPr>
          <a:xfrm>
            <a:off x="3897106" y="3230364"/>
            <a:ext cx="657093" cy="1113903"/>
          </a:xfrm>
          <a:prstGeom prst="mathPlus">
            <a:avLst/>
          </a:prstGeom>
          <a:solidFill>
            <a:srgbClr val="C069C7"/>
          </a:solidFill>
          <a:ln w="15752">
            <a:solidFill>
              <a:srgbClr val="8A6C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Chart 15"/>
          <p:cNvGraphicFramePr>
            <a:graphicFrameLocks noGrp="1"/>
          </p:cNvGraphicFramePr>
          <p:nvPr/>
        </p:nvGraphicFramePr>
        <p:xfrm>
          <a:off x="3747671" y="222714"/>
          <a:ext cx="3272886" cy="1933498"/>
        </p:xfrm>
        <a:graphic>
          <a:graphicData uri="http://schemas.openxmlformats.org/drawingml/2006/chart">
            <c:chart xmlns:c="http://schemas.openxmlformats.org/drawingml/2006/chart" xmlns:r="http://schemas.openxmlformats.org/officeDocument/2006/relationships" r:id="rId3"/>
          </a:graphicData>
        </a:graphic>
      </p:graphicFrame>
      <p:sp>
        <p:nvSpPr>
          <p:cNvPr id="17" name="Freeform 16"/>
          <p:cNvSpPr/>
          <p:nvPr/>
        </p:nvSpPr>
        <p:spPr>
          <a:xfrm>
            <a:off x="1974818" y="350718"/>
            <a:ext cx="1224923" cy="709160"/>
          </a:xfrm>
          <a:custGeom>
            <a:avLst/>
            <a:gdLst/>
            <a:ahLst/>
            <a:cxnLst/>
            <a:rect l="l" t="t" r="r" b="b"/>
            <a:pathLst>
              <a:path w="1224923" h="709160">
                <a:moveTo>
                  <a:pt x="131712" y="120708"/>
                </a:moveTo>
                <a:lnTo>
                  <a:pt x="434650" y="0"/>
                </a:lnTo>
                <a:lnTo>
                  <a:pt x="895642" y="60354"/>
                </a:lnTo>
                <a:lnTo>
                  <a:pt x="1224923" y="286682"/>
                </a:lnTo>
                <a:lnTo>
                  <a:pt x="1053697" y="588452"/>
                </a:lnTo>
                <a:lnTo>
                  <a:pt x="566362" y="709160"/>
                </a:lnTo>
                <a:lnTo>
                  <a:pt x="79027" y="513009"/>
                </a:lnTo>
                <a:lnTo>
                  <a:pt x="0" y="256505"/>
                </a:lnTo>
                <a:close/>
              </a:path>
            </a:pathLst>
          </a:custGeom>
          <a:solidFill>
            <a:srgbClr val="744B79"/>
          </a:solidFill>
          <a:ln w="13824">
            <a:solidFill>
              <a:srgbClr val="DA28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8" name="Chart 17"/>
          <p:cNvGraphicFramePr>
            <a:graphicFrameLocks noGrp="1"/>
          </p:cNvGraphicFramePr>
          <p:nvPr/>
        </p:nvGraphicFramePr>
        <p:xfrm>
          <a:off x="1575162" y="4290552"/>
          <a:ext cx="2980106" cy="1477288"/>
        </p:xfrm>
        <a:graphic>
          <a:graphicData uri="http://schemas.openxmlformats.org/drawingml/2006/chart">
            <c:chart xmlns:c="http://schemas.openxmlformats.org/drawingml/2006/chart" xmlns:r="http://schemas.openxmlformats.org/officeDocument/2006/relationships" r:id="rId4"/>
          </a:graphicData>
        </a:graphic>
      </p:graphicFrame>
      <p:sp>
        <p:nvSpPr>
          <p:cNvPr id="19" name="8-Point Star 18"/>
          <p:cNvSpPr/>
          <p:nvPr/>
        </p:nvSpPr>
        <p:spPr>
          <a:xfrm>
            <a:off x="4187578" y="1317596"/>
            <a:ext cx="1918440" cy="1226075"/>
          </a:xfrm>
          <a:prstGeom prst="star8">
            <a:avLst/>
          </a:prstGeom>
          <a:noFill/>
          <a:ln w="7311">
            <a:solidFill>
              <a:srgbClr val="337C3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Table 19"/>
          <p:cNvGraphicFramePr>
            <a:graphicFrameLocks noGrp="1"/>
          </p:cNvGraphicFramePr>
          <p:nvPr/>
        </p:nvGraphicFramePr>
        <p:xfrm>
          <a:off x="201644" y="3445223"/>
          <a:ext cx="2120639" cy="1352021"/>
        </p:xfrm>
        <a:graphic>
          <a:graphicData uri="http://schemas.openxmlformats.org/drawingml/2006/table">
            <a:tbl>
              <a:tblPr firstRow="1" bandRow="1">
                <a:tableStyleId>{5C22544A-7EE6-4342-B048-85BDC9FD1C3A}</a:tableStyleId>
              </a:tblPr>
              <a:tblGrid>
                <a:gridCol w="706879">
                  <a:extLst>
                    <a:ext uri="{9D8B030D-6E8A-4147-A177-3AD203B41FA5}">
                      <a16:colId xmlns:a16="http://schemas.microsoft.com/office/drawing/2014/main" val="20000"/>
                    </a:ext>
                  </a:extLst>
                </a:gridCol>
                <a:gridCol w="706879">
                  <a:extLst>
                    <a:ext uri="{9D8B030D-6E8A-4147-A177-3AD203B41FA5}">
                      <a16:colId xmlns:a16="http://schemas.microsoft.com/office/drawing/2014/main" val="20001"/>
                    </a:ext>
                  </a:extLst>
                </a:gridCol>
                <a:gridCol w="706881">
                  <a:extLst>
                    <a:ext uri="{9D8B030D-6E8A-4147-A177-3AD203B41FA5}">
                      <a16:colId xmlns:a16="http://schemas.microsoft.com/office/drawing/2014/main" val="20002"/>
                    </a:ext>
                  </a:extLst>
                </a:gridCol>
              </a:tblGrid>
              <a:tr h="193145">
                <a:tc>
                  <a:txBody>
                    <a:bodyPr/>
                    <a:lstStyle/>
                    <a:p>
                      <a:r>
                        <a:rPr sz="1000" b="1">
                          <a:solidFill>
                            <a:srgbClr val="3CB490"/>
                          </a:solidFill>
                        </a:rPr>
                        <a:t>Marker</a:t>
                      </a:r>
                    </a:p>
                  </a:txBody>
                  <a:tcPr>
                    <a:solidFill>
                      <a:srgbClr val="44D71B"/>
                    </a:solidFill>
                  </a:tcPr>
                </a:tc>
                <a:tc>
                  <a:txBody>
                    <a:bodyPr/>
                    <a:lstStyle/>
                    <a:p>
                      <a:r>
                        <a:rPr sz="1000" b="1">
                          <a:solidFill>
                            <a:srgbClr val="3CB490"/>
                          </a:solidFill>
                        </a:rPr>
                        <a:t>Checkpoint</a:t>
                      </a:r>
                    </a:p>
                  </a:txBody>
                  <a:tcPr>
                    <a:solidFill>
                      <a:srgbClr val="44D71B"/>
                    </a:solidFill>
                  </a:tcPr>
                </a:tc>
                <a:tc>
                  <a:txBody>
                    <a:bodyPr/>
                    <a:lstStyle/>
                    <a:p>
                      <a:r>
                        <a:rPr sz="1000" b="1">
                          <a:solidFill>
                            <a:srgbClr val="3CB490"/>
                          </a:solidFill>
                        </a:rPr>
                        <a:t>System Matrix</a:t>
                      </a:r>
                    </a:p>
                  </a:txBody>
                  <a:tcPr>
                    <a:solidFill>
                      <a:srgbClr val="44D71B"/>
                    </a:solidFill>
                  </a:tcPr>
                </a:tc>
                <a:extLst>
                  <a:ext uri="{0D108BD9-81ED-4DB2-BD59-A6C34878D82A}">
                    <a16:rowId xmlns:a16="http://schemas.microsoft.com/office/drawing/2014/main" val="10000"/>
                  </a:ext>
                </a:extLst>
              </a:tr>
              <a:tr h="193145">
                <a:tc>
                  <a:txBody>
                    <a:bodyPr/>
                    <a:lstStyle/>
                    <a:p>
                      <a:r>
                        <a:rPr sz="1000" b="0">
                          <a:solidFill>
                            <a:srgbClr val="3CB490"/>
                          </a:solidFill>
                        </a:rPr>
                        <a:t>Access</a:t>
                      </a:r>
                    </a:p>
                  </a:txBody>
                  <a:tcPr>
                    <a:solidFill>
                      <a:srgbClr val="ECFBEF"/>
                    </a:solidFill>
                  </a:tcPr>
                </a:tc>
                <a:tc>
                  <a:txBody>
                    <a:bodyPr/>
                    <a:lstStyle/>
                    <a:p>
                      <a:r>
                        <a:rPr sz="1000" b="0">
                          <a:solidFill>
                            <a:srgbClr val="3CB490"/>
                          </a:solidFill>
                        </a:rPr>
                        <a:t>Needle</a:t>
                      </a:r>
                    </a:p>
                  </a:txBody>
                  <a:tcPr>
                    <a:solidFill>
                      <a:srgbClr val="BAF3C8"/>
                    </a:solidFill>
                  </a:tcPr>
                </a:tc>
                <a:tc>
                  <a:txBody>
                    <a:bodyPr/>
                    <a:lstStyle/>
                    <a:p>
                      <a:r>
                        <a:rPr sz="1000" b="0">
                          <a:solidFill>
                            <a:srgbClr val="3CB490"/>
                          </a:solidFill>
                        </a:rPr>
                        <a:t>Agenda Sync</a:t>
                      </a:r>
                    </a:p>
                  </a:txBody>
                  <a:tcPr>
                    <a:solidFill>
                      <a:srgbClr val="ECFBEF"/>
                    </a:solidFill>
                  </a:tcPr>
                </a:tc>
                <a:extLst>
                  <a:ext uri="{0D108BD9-81ED-4DB2-BD59-A6C34878D82A}">
                    <a16:rowId xmlns:a16="http://schemas.microsoft.com/office/drawing/2014/main" val="10001"/>
                  </a:ext>
                </a:extLst>
              </a:tr>
              <a:tr h="193145">
                <a:tc>
                  <a:txBody>
                    <a:bodyPr/>
                    <a:lstStyle/>
                    <a:p>
                      <a:r>
                        <a:rPr sz="1000" b="0">
                          <a:solidFill>
                            <a:srgbClr val="3CB490"/>
                          </a:solidFill>
                        </a:rPr>
                        <a:t>Event Response</a:t>
                      </a:r>
                    </a:p>
                  </a:txBody>
                  <a:tcPr>
                    <a:solidFill>
                      <a:srgbClr val="ECFBEF"/>
                    </a:solidFill>
                  </a:tcPr>
                </a:tc>
                <a:tc>
                  <a:txBody>
                    <a:bodyPr/>
                    <a:lstStyle/>
                    <a:p>
                      <a:r>
                        <a:rPr sz="1000" b="0">
                          <a:solidFill>
                            <a:srgbClr val="3CB490"/>
                          </a:solidFill>
                        </a:rPr>
                        <a:t>Transit</a:t>
                      </a:r>
                    </a:p>
                  </a:txBody>
                  <a:tcPr>
                    <a:solidFill>
                      <a:srgbClr val="BAF3C8"/>
                    </a:solidFill>
                  </a:tcPr>
                </a:tc>
                <a:tc>
                  <a:txBody>
                    <a:bodyPr/>
                    <a:lstStyle/>
                    <a:p>
                      <a:r>
                        <a:rPr sz="1000" b="0">
                          <a:solidFill>
                            <a:srgbClr val="3CB490"/>
                          </a:solidFill>
                        </a:rPr>
                        <a:t>Package Rhythm</a:t>
                      </a:r>
                    </a:p>
                  </a:txBody>
                  <a:tcPr>
                    <a:solidFill>
                      <a:srgbClr val="ECFBEF"/>
                    </a:solidFill>
                  </a:tcPr>
                </a:tc>
                <a:extLst>
                  <a:ext uri="{0D108BD9-81ED-4DB2-BD59-A6C34878D82A}">
                    <a16:rowId xmlns:a16="http://schemas.microsoft.com/office/drawing/2014/main" val="10002"/>
                  </a:ext>
                </a:extLst>
              </a:tr>
              <a:tr h="193145">
                <a:tc>
                  <a:txBody>
                    <a:bodyPr/>
                    <a:lstStyle/>
                    <a:p>
                      <a:r>
                        <a:rPr sz="1000" b="0">
                          <a:solidFill>
                            <a:srgbClr val="3CB490"/>
                          </a:solidFill>
                        </a:rPr>
                        <a:t>Buffer Gradient</a:t>
                      </a:r>
                    </a:p>
                  </a:txBody>
                  <a:tcPr>
                    <a:solidFill>
                      <a:srgbClr val="ECFBEF"/>
                    </a:solidFill>
                  </a:tcPr>
                </a:tc>
                <a:tc>
                  <a:txBody>
                    <a:bodyPr/>
                    <a:lstStyle/>
                    <a:p>
                      <a:r>
                        <a:rPr sz="1000" b="0">
                          <a:solidFill>
                            <a:srgbClr val="3CB490"/>
                          </a:solidFill>
                        </a:rPr>
                        <a:t>Compass</a:t>
                      </a:r>
                    </a:p>
                  </a:txBody>
                  <a:tcPr>
                    <a:solidFill>
                      <a:srgbClr val="BAF3C8"/>
                    </a:solidFill>
                  </a:tcPr>
                </a:tc>
                <a:tc>
                  <a:txBody>
                    <a:bodyPr/>
                    <a:lstStyle/>
                    <a:p>
                      <a:r>
                        <a:rPr sz="1000" b="0">
                          <a:solidFill>
                            <a:srgbClr val="3CB490"/>
                          </a:solidFill>
                        </a:rPr>
                        <a:t>Logic Switch</a:t>
                      </a:r>
                    </a:p>
                  </a:txBody>
                  <a:tcPr>
                    <a:solidFill>
                      <a:srgbClr val="ECFBEF"/>
                    </a:solidFill>
                  </a:tcPr>
                </a:tc>
                <a:extLst>
                  <a:ext uri="{0D108BD9-81ED-4DB2-BD59-A6C34878D82A}">
                    <a16:rowId xmlns:a16="http://schemas.microsoft.com/office/drawing/2014/main" val="10003"/>
                  </a:ext>
                </a:extLst>
              </a:tr>
              <a:tr h="193145">
                <a:tc>
                  <a:txBody>
                    <a:bodyPr/>
                    <a:lstStyle/>
                    <a:p>
                      <a:r>
                        <a:rPr sz="1000" b="0">
                          <a:solidFill>
                            <a:srgbClr val="3CB490"/>
                          </a:solidFill>
                        </a:rPr>
                        <a:t>Grid Domain</a:t>
                      </a:r>
                    </a:p>
                  </a:txBody>
                  <a:tcPr>
                    <a:solidFill>
                      <a:srgbClr val="ECFBEF"/>
                    </a:solidFill>
                  </a:tcPr>
                </a:tc>
                <a:tc>
                  <a:txBody>
                    <a:bodyPr/>
                    <a:lstStyle/>
                    <a:p>
                      <a:r>
                        <a:rPr sz="1000" b="0">
                          <a:solidFill>
                            <a:srgbClr val="3CB490"/>
                          </a:solidFill>
                        </a:rPr>
                        <a:t>Handle Result</a:t>
                      </a:r>
                    </a:p>
                  </a:txBody>
                  <a:tcPr>
                    <a:solidFill>
                      <a:srgbClr val="BAF3C8"/>
                    </a:solidFill>
                  </a:tcPr>
                </a:tc>
                <a:tc>
                  <a:txBody>
                    <a:bodyPr/>
                    <a:lstStyle/>
                    <a:p>
                      <a:r>
                        <a:rPr sz="1000" b="0">
                          <a:solidFill>
                            <a:srgbClr val="3CB490"/>
                          </a:solidFill>
                        </a:rPr>
                        <a:t>Loop</a:t>
                      </a:r>
                    </a:p>
                  </a:txBody>
                  <a:tcPr>
                    <a:solidFill>
                      <a:srgbClr val="ECFBEF"/>
                    </a:solidFill>
                  </a:tcPr>
                </a:tc>
                <a:extLst>
                  <a:ext uri="{0D108BD9-81ED-4DB2-BD59-A6C34878D82A}">
                    <a16:rowId xmlns:a16="http://schemas.microsoft.com/office/drawing/2014/main" val="10004"/>
                  </a:ext>
                </a:extLst>
              </a:tr>
              <a:tr h="193145">
                <a:tc>
                  <a:txBody>
                    <a:bodyPr/>
                    <a:lstStyle/>
                    <a:p>
                      <a:r>
                        <a:rPr sz="1000" b="0">
                          <a:solidFill>
                            <a:srgbClr val="3CB490"/>
                          </a:solidFill>
                        </a:rPr>
                        <a:t>Signal Motion</a:t>
                      </a:r>
                    </a:p>
                  </a:txBody>
                  <a:tcPr>
                    <a:solidFill>
                      <a:srgbClr val="ECFBEF"/>
                    </a:solidFill>
                  </a:tcPr>
                </a:tc>
                <a:tc>
                  <a:txBody>
                    <a:bodyPr/>
                    <a:lstStyle/>
                    <a:p>
                      <a:r>
                        <a:rPr sz="1000" b="0">
                          <a:solidFill>
                            <a:srgbClr val="3CB490"/>
                          </a:solidFill>
                        </a:rPr>
                        <a:t>Access Path</a:t>
                      </a:r>
                    </a:p>
                  </a:txBody>
                  <a:tcPr>
                    <a:solidFill>
                      <a:srgbClr val="BAF3C8"/>
                    </a:solidFill>
                  </a:tcPr>
                </a:tc>
                <a:tc>
                  <a:txBody>
                    <a:bodyPr/>
                    <a:lstStyle/>
                    <a:p>
                      <a:r>
                        <a:rPr sz="1000" b="0">
                          <a:solidFill>
                            <a:srgbClr val="3CB490"/>
                          </a:solidFill>
                        </a:rPr>
                        <a:t>Vertex</a:t>
                      </a:r>
                    </a:p>
                  </a:txBody>
                  <a:tcPr>
                    <a:solidFill>
                      <a:srgbClr val="ECFBEF"/>
                    </a:solidFill>
                  </a:tcPr>
                </a:tc>
                <a:extLst>
                  <a:ext uri="{0D108BD9-81ED-4DB2-BD59-A6C34878D82A}">
                    <a16:rowId xmlns:a16="http://schemas.microsoft.com/office/drawing/2014/main" val="10005"/>
                  </a:ext>
                </a:extLst>
              </a:tr>
              <a:tr h="193151">
                <a:tc>
                  <a:txBody>
                    <a:bodyPr/>
                    <a:lstStyle/>
                    <a:p>
                      <a:r>
                        <a:rPr sz="1000" b="0">
                          <a:solidFill>
                            <a:srgbClr val="3CB490"/>
                          </a:solidFill>
                        </a:rPr>
                        <a:t>Journey</a:t>
                      </a:r>
                    </a:p>
                  </a:txBody>
                  <a:tcPr>
                    <a:solidFill>
                      <a:srgbClr val="ECFBEF"/>
                    </a:solidFill>
                  </a:tcPr>
                </a:tc>
                <a:tc>
                  <a:txBody>
                    <a:bodyPr/>
                    <a:lstStyle/>
                    <a:p>
                      <a:r>
                        <a:rPr sz="1000" b="0">
                          <a:solidFill>
                            <a:srgbClr val="3CB490"/>
                          </a:solidFill>
                        </a:rPr>
                        <a:t>Viewport</a:t>
                      </a:r>
                    </a:p>
                  </a:txBody>
                  <a:tcPr>
                    <a:solidFill>
                      <a:srgbClr val="BAF3C8"/>
                    </a:solidFill>
                  </a:tcPr>
                </a:tc>
                <a:tc>
                  <a:txBody>
                    <a:bodyPr/>
                    <a:lstStyle/>
                    <a:p>
                      <a:r>
                        <a:rPr sz="1000" b="0">
                          <a:solidFill>
                            <a:srgbClr val="3CB490"/>
                          </a:solidFill>
                        </a:rPr>
                        <a:t>Guide Origin</a:t>
                      </a:r>
                    </a:p>
                  </a:txBody>
                  <a:tcPr>
                    <a:solidFill>
                      <a:srgbClr val="ECFBEF"/>
                    </a:solidFill>
                  </a:tcPr>
                </a:tc>
                <a:extLst>
                  <a:ext uri="{0D108BD9-81ED-4DB2-BD59-A6C34878D82A}">
                    <a16:rowId xmlns:a16="http://schemas.microsoft.com/office/drawing/2014/main" val="10006"/>
                  </a:ext>
                </a:extLst>
              </a:tr>
            </a:tbl>
          </a:graphicData>
        </a:graphic>
      </p:graphicFrame>
      <p:sp>
        <p:nvSpPr>
          <p:cNvPr id="21" name="Freeform 20"/>
          <p:cNvSpPr/>
          <p:nvPr/>
        </p:nvSpPr>
        <p:spPr>
          <a:xfrm>
            <a:off x="7756631" y="3870583"/>
            <a:ext cx="820208" cy="627855"/>
          </a:xfrm>
          <a:custGeom>
            <a:avLst/>
            <a:gdLst/>
            <a:ahLst/>
            <a:cxnLst/>
            <a:rect l="l" t="t" r="r" b="b"/>
            <a:pathLst>
              <a:path w="820208" h="627855">
                <a:moveTo>
                  <a:pt x="0" y="139523"/>
                </a:moveTo>
                <a:lnTo>
                  <a:pt x="176388" y="0"/>
                </a:lnTo>
                <a:lnTo>
                  <a:pt x="352777" y="188356"/>
                </a:lnTo>
                <a:lnTo>
                  <a:pt x="529166" y="20928"/>
                </a:lnTo>
                <a:lnTo>
                  <a:pt x="820208" y="488331"/>
                </a:lnTo>
                <a:lnTo>
                  <a:pt x="617361" y="627855"/>
                </a:lnTo>
                <a:lnTo>
                  <a:pt x="423333" y="418570"/>
                </a:lnTo>
                <a:lnTo>
                  <a:pt x="202847" y="606926"/>
                </a:lnTo>
                <a:close/>
              </a:path>
            </a:pathLst>
          </a:custGeom>
          <a:solidFill>
            <a:srgbClr val="DF355E"/>
          </a:solidFill>
          <a:ln w="34874">
            <a:solidFill>
              <a:srgbClr val="56D9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16256" y="5579550"/>
            <a:ext cx="1572754" cy="803615"/>
          </a:xfrm>
          <a:prstGeom prst="rect">
            <a:avLst/>
          </a:prstGeom>
          <a:noFill/>
        </p:spPr>
        <p:txBody>
          <a:bodyPr wrap="none" lIns="67862" tIns="67862" rIns="67862" bIns="67862">
            <a:spAutoFit/>
          </a:bodyPr>
          <a:lstStyle/>
          <a:p>
            <a:r>
              <a:rPr sz="1200" b="0" i="0" u="none">
                <a:solidFill>
                  <a:srgbClr val="2AE5C8"/>
                </a:solidFill>
                <a:latin typeface="Aptos"/>
              </a:rPr>
              <a:t>Context North Station Baseline Insight Analysis Response Access Device Transit</a:t>
            </a:r>
          </a:p>
        </p:txBody>
      </p:sp>
      <p:sp>
        <p:nvSpPr>
          <p:cNvPr id="23" name="TextBox 22"/>
          <p:cNvSpPr txBox="1"/>
          <p:nvPr/>
        </p:nvSpPr>
        <p:spPr>
          <a:xfrm>
            <a:off x="8878858" y="4052809"/>
            <a:ext cx="2772739" cy="1053031"/>
          </a:xfrm>
          <a:prstGeom prst="rect">
            <a:avLst/>
          </a:prstGeom>
          <a:noFill/>
        </p:spPr>
        <p:txBody>
          <a:bodyPr wrap="none" lIns="57117" tIns="57117" rIns="57117" bIns="57117">
            <a:spAutoFit/>
          </a:bodyPr>
          <a:lstStyle/>
          <a:p>
            <a:r>
              <a:rPr sz="1700" b="0" i="1" u="none">
                <a:solidFill>
                  <a:srgbClr val="AA896D"/>
                </a:solidFill>
                <a:latin typeface="Arial"/>
              </a:rPr>
              <a:t>Pipeline Compass Benchmark Switch Dashboard Control Drive Interface Bridge Mesh Harbor</a:t>
            </a:r>
          </a:p>
        </p:txBody>
      </p:sp>
      <p:sp>
        <p:nvSpPr>
          <p:cNvPr id="24" name="TextBox 23"/>
          <p:cNvSpPr txBox="1"/>
          <p:nvPr/>
        </p:nvSpPr>
        <p:spPr>
          <a:xfrm>
            <a:off x="8646360" y="1423883"/>
            <a:ext cx="475007" cy="743356"/>
          </a:xfrm>
          <a:prstGeom prst="rect">
            <a:avLst/>
          </a:prstGeom>
          <a:noFill/>
        </p:spPr>
        <p:txBody>
          <a:bodyPr wrap="none" lIns="53697" tIns="53697" rIns="53697" bIns="53697">
            <a:spAutoFit/>
          </a:bodyPr>
          <a:lstStyle/>
          <a:p>
            <a:r>
              <a:rPr sz="900" b="0" i="0" u="none">
                <a:solidFill>
                  <a:srgbClr val="B8A9BA"/>
                </a:solidFill>
                <a:latin typeface="Verdana"/>
              </a:rPr>
              <a:t>Module</a:t>
            </a:r>
          </a:p>
        </p:txBody>
      </p:sp>
      <p:sp>
        <p:nvSpPr>
          <p:cNvPr id="25" name="Rectangle 24"/>
          <p:cNvSpPr/>
          <p:nvPr/>
        </p:nvSpPr>
        <p:spPr>
          <a:xfrm>
            <a:off x="1213309" y="398604"/>
            <a:ext cx="1198384" cy="414533"/>
          </a:xfrm>
          <a:prstGeom prst="rect">
            <a:avLst/>
          </a:prstGeom>
          <a:noFill/>
          <a:ln w="23667">
            <a:solidFill>
              <a:srgbClr val="D1803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flipV="1">
            <a:off x="9903920" y="3069479"/>
            <a:ext cx="1935087" cy="375936"/>
          </a:xfrm>
          <a:prstGeom prst="line">
            <a:avLst/>
          </a:prstGeom>
          <a:ln w="42380">
            <a:solidFill>
              <a:srgbClr val="9D72E2"/>
            </a:solidFill>
            <a:prstDash val="lg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799706" y="602091"/>
            <a:ext cx="2866849" cy="857204"/>
          </a:xfrm>
          <a:prstGeom prst="line">
            <a:avLst/>
          </a:prstGeom>
          <a:ln w="13241">
            <a:solidFill>
              <a:srgbClr val="2829DE"/>
            </a:solidFill>
            <a:prstDash val="dash"/>
          </a:ln>
        </p:spPr>
        <p:style>
          <a:lnRef idx="2">
            <a:schemeClr val="accent1"/>
          </a:lnRef>
          <a:fillRef idx="0">
            <a:schemeClr val="accent1"/>
          </a:fillRef>
          <a:effectRef idx="1">
            <a:schemeClr val="accent1"/>
          </a:effectRef>
          <a:fontRef idx="minor">
            <a:schemeClr val="tx1"/>
          </a:fontRef>
        </p:style>
      </p:cxnSp>
      <p:pic>
        <p:nvPicPr>
          <p:cNvPr id="29" name="Graphic 28">
            <a:extLst>
              <a:ext uri="{FF2B5EF4-FFF2-40B4-BE49-F238E27FC236}">
                <a16:creationId xmlns:a16="http://schemas.microsoft.com/office/drawing/2014/main" id="{157F8071-296C-FB8F-42A8-85DD275B801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968642" y="4230336"/>
            <a:ext cx="1146052" cy="783127"/>
          </a:xfrm>
          <a:prstGeom prst="rect">
            <a:avLst/>
          </a:prstGeom>
        </p:spPr>
      </p:pic>
      <p:pic>
        <p:nvPicPr>
          <p:cNvPr id="31" name="Graphic 30">
            <a:extLst>
              <a:ext uri="{FF2B5EF4-FFF2-40B4-BE49-F238E27FC236}">
                <a16:creationId xmlns:a16="http://schemas.microsoft.com/office/drawing/2014/main" id="{DD1A278E-1789-9F6B-EAB2-42404DFC191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816599" y="4562562"/>
            <a:ext cx="1383834" cy="146970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495" t="4315" r="6756" b="10938"/>
          <a:stretch>
            <a:fillRect/>
          </a:stretch>
        </p:blipFill>
        <p:spPr>
          <a:xfrm>
            <a:off x="8687300" y="873244"/>
            <a:ext cx="1885016" cy="771710"/>
          </a:xfrm>
          <a:prstGeom prst="rect">
            <a:avLst/>
          </a:prstGeom>
        </p:spPr>
      </p:pic>
      <p:sp>
        <p:nvSpPr>
          <p:cNvPr id="3" name="Rounded Rectangle 2"/>
          <p:cNvSpPr/>
          <p:nvPr/>
        </p:nvSpPr>
        <p:spPr>
          <a:xfrm>
            <a:off x="8687300" y="873244"/>
            <a:ext cx="1885016" cy="771710"/>
          </a:xfrm>
          <a:prstGeom prst="roundRect">
            <a:avLst/>
          </a:prstGeom>
          <a:noFill/>
          <a:ln w="15240">
            <a:solidFill>
              <a:srgbClr val="1DD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_example_image.jpg"/>
          <p:cNvPicPr>
            <a:picLocks noChangeAspect="1"/>
          </p:cNvPicPr>
          <p:nvPr/>
        </p:nvPicPr>
        <p:blipFill>
          <a:blip r:embed="rId2"/>
          <a:srcRect/>
          <a:stretch>
            <a:fillRect/>
          </a:stretch>
        </p:blipFill>
        <p:spPr>
          <a:xfrm>
            <a:off x="9773768" y="4521902"/>
            <a:ext cx="1060492" cy="2040728"/>
          </a:xfrm>
          <a:prstGeom prst="rect">
            <a:avLst/>
          </a:prstGeom>
        </p:spPr>
      </p:pic>
      <p:sp>
        <p:nvSpPr>
          <p:cNvPr id="5" name="Rounded Rectangle 4"/>
          <p:cNvSpPr/>
          <p:nvPr/>
        </p:nvSpPr>
        <p:spPr>
          <a:xfrm>
            <a:off x="9773768" y="4521902"/>
            <a:ext cx="1060492" cy="2040728"/>
          </a:xfrm>
          <a:prstGeom prst="roundRect">
            <a:avLst/>
          </a:prstGeom>
          <a:noFill/>
          <a:ln w="15240">
            <a:solidFill>
              <a:srgbClr val="CFE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28144" y="1925545"/>
            <a:ext cx="852162" cy="2432285"/>
          </a:xfrm>
          <a:prstGeom prst="rect">
            <a:avLst/>
          </a:prstGeom>
          <a:noFill/>
        </p:spPr>
        <p:txBody>
          <a:bodyPr wrap="none" lIns="82080" tIns="82080" rIns="82080" bIns="82080">
            <a:spAutoFit/>
          </a:bodyPr>
          <a:lstStyle/>
          <a:p>
            <a:r>
              <a:rPr sz="1000" b="1" i="0" u="none">
                <a:solidFill>
                  <a:srgbClr val="3F7B61"/>
                </a:solidFill>
                <a:latin typeface="Arial"/>
              </a:rPr>
              <a:t>Group Expansion Marker Status Wave</a:t>
            </a:r>
          </a:p>
        </p:txBody>
      </p:sp>
      <p:cxnSp>
        <p:nvCxnSpPr>
          <p:cNvPr id="7" name="Connector 6"/>
          <p:cNvCxnSpPr/>
          <p:nvPr/>
        </p:nvCxnSpPr>
        <p:spPr>
          <a:xfrm flipV="1">
            <a:off x="11161630" y="4361755"/>
            <a:ext cx="789938" cy="1460353"/>
          </a:xfrm>
          <a:prstGeom prst="bentConnector3">
            <a:avLst/>
          </a:prstGeom>
          <a:ln w="46136">
            <a:solidFill>
              <a:srgbClr val="52C85F"/>
            </a:solidFill>
            <a:prstDash val="dot"/>
          </a:ln>
        </p:spPr>
        <p:style>
          <a:lnRef idx="2">
            <a:schemeClr val="accent1"/>
          </a:lnRef>
          <a:fillRef idx="0">
            <a:schemeClr val="accent1"/>
          </a:fillRef>
          <a:effectRef idx="1">
            <a:schemeClr val="accent1"/>
          </a:effectRef>
          <a:fontRef idx="minor">
            <a:schemeClr val="tx1"/>
          </a:fontRef>
        </p:style>
      </p:cxnSp>
      <p:sp>
        <p:nvSpPr>
          <p:cNvPr id="8" name="Right Arrow Callout 7"/>
          <p:cNvSpPr/>
          <p:nvPr/>
        </p:nvSpPr>
        <p:spPr>
          <a:xfrm>
            <a:off x="6754728" y="5615556"/>
            <a:ext cx="2536246" cy="857989"/>
          </a:xfrm>
          <a:prstGeom prst="rightArrowCallout">
            <a:avLst/>
          </a:prstGeom>
          <a:solidFill>
            <a:srgbClr val="351F6B"/>
          </a:solidFill>
          <a:ln w="8735">
            <a:solidFill>
              <a:srgbClr val="3B7AD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p:cNvSpPr/>
          <p:nvPr/>
        </p:nvSpPr>
        <p:spPr>
          <a:xfrm>
            <a:off x="7394080" y="4814771"/>
            <a:ext cx="1344198" cy="942422"/>
          </a:xfrm>
          <a:custGeom>
            <a:avLst/>
            <a:gdLst/>
            <a:ahLst/>
            <a:cxnLst/>
            <a:rect l="l" t="t" r="r" b="b"/>
            <a:pathLst>
              <a:path w="1344198" h="942422">
                <a:moveTo>
                  <a:pt x="672099" y="0"/>
                </a:moveTo>
                <a:lnTo>
                  <a:pt x="840124" y="235606"/>
                </a:lnTo>
                <a:lnTo>
                  <a:pt x="1260185" y="169636"/>
                </a:lnTo>
                <a:lnTo>
                  <a:pt x="1022150" y="471211"/>
                </a:lnTo>
                <a:lnTo>
                  <a:pt x="1344198" y="735090"/>
                </a:lnTo>
                <a:lnTo>
                  <a:pt x="840124" y="678544"/>
                </a:lnTo>
                <a:lnTo>
                  <a:pt x="672099" y="942422"/>
                </a:lnTo>
                <a:lnTo>
                  <a:pt x="504074" y="678544"/>
                </a:lnTo>
                <a:lnTo>
                  <a:pt x="0" y="735090"/>
                </a:lnTo>
                <a:lnTo>
                  <a:pt x="322047" y="471211"/>
                </a:lnTo>
                <a:lnTo>
                  <a:pt x="84012" y="169636"/>
                </a:lnTo>
                <a:lnTo>
                  <a:pt x="504074" y="235606"/>
                </a:lnTo>
                <a:close/>
              </a:path>
            </a:pathLst>
          </a:custGeom>
          <a:solidFill>
            <a:srgbClr val="20C4BE"/>
          </a:solidFill>
          <a:ln w="13364">
            <a:solidFill>
              <a:srgbClr val="859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_example_image.jpg"/>
          <p:cNvPicPr>
            <a:picLocks noChangeAspect="1"/>
          </p:cNvPicPr>
          <p:nvPr/>
        </p:nvPicPr>
        <p:blipFill>
          <a:blip r:embed="rId2"/>
          <a:srcRect l="10994" t="10688" r="4886" b="21677"/>
          <a:stretch>
            <a:fillRect/>
          </a:stretch>
        </p:blipFill>
        <p:spPr>
          <a:xfrm>
            <a:off x="3765848" y="5260592"/>
            <a:ext cx="1061074" cy="1124415"/>
          </a:xfrm>
          <a:prstGeom prst="rect">
            <a:avLst/>
          </a:prstGeom>
        </p:spPr>
      </p:pic>
      <p:sp>
        <p:nvSpPr>
          <p:cNvPr id="11" name="Rounded Rectangle 10"/>
          <p:cNvSpPr/>
          <p:nvPr/>
        </p:nvSpPr>
        <p:spPr>
          <a:xfrm>
            <a:off x="3765848" y="5260592"/>
            <a:ext cx="1061074" cy="1124415"/>
          </a:xfrm>
          <a:prstGeom prst="roundRect">
            <a:avLst/>
          </a:prstGeom>
          <a:noFill/>
          <a:ln w="15240">
            <a:solidFill>
              <a:srgbClr val="D72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06318" y="1080556"/>
            <a:ext cx="779295" cy="1107980"/>
          </a:xfrm>
          <a:prstGeom prst="rect">
            <a:avLst/>
          </a:prstGeom>
          <a:noFill/>
        </p:spPr>
        <p:txBody>
          <a:bodyPr wrap="none" lIns="39609" tIns="39609" rIns="39609" bIns="39609">
            <a:spAutoFit/>
          </a:bodyPr>
          <a:lstStyle/>
          <a:p>
            <a:r>
              <a:rPr sz="800" b="0" i="0" u="none">
                <a:solidFill>
                  <a:srgbClr val="A53592"/>
                </a:solidFill>
                <a:latin typeface="Aptos"/>
              </a:rPr>
              <a:t>Estimate Library Input Pixel Cluster Trigger Table Transform</a:t>
            </a:r>
          </a:p>
        </p:txBody>
      </p:sp>
      <p:sp>
        <p:nvSpPr>
          <p:cNvPr id="13" name="Freeform 12"/>
          <p:cNvSpPr/>
          <p:nvPr/>
        </p:nvSpPr>
        <p:spPr>
          <a:xfrm>
            <a:off x="10284025" y="633112"/>
            <a:ext cx="1573808" cy="1544879"/>
          </a:xfrm>
          <a:custGeom>
            <a:avLst/>
            <a:gdLst/>
            <a:ahLst/>
            <a:cxnLst/>
            <a:rect l="l" t="t" r="r" b="b"/>
            <a:pathLst>
              <a:path w="1573808" h="1544879">
                <a:moveTo>
                  <a:pt x="169227" y="262958"/>
                </a:moveTo>
                <a:lnTo>
                  <a:pt x="558448" y="0"/>
                </a:lnTo>
                <a:lnTo>
                  <a:pt x="1150741" y="131479"/>
                </a:lnTo>
                <a:lnTo>
                  <a:pt x="1573808" y="624526"/>
                </a:lnTo>
                <a:lnTo>
                  <a:pt x="1353813" y="1281921"/>
                </a:lnTo>
                <a:lnTo>
                  <a:pt x="727675" y="1544879"/>
                </a:lnTo>
                <a:lnTo>
                  <a:pt x="101536" y="1117572"/>
                </a:lnTo>
                <a:lnTo>
                  <a:pt x="0" y="558786"/>
                </a:lnTo>
                <a:close/>
              </a:path>
            </a:pathLst>
          </a:custGeom>
          <a:solidFill>
            <a:srgbClr val="37DFCB"/>
          </a:solidFill>
          <a:ln w="9894">
            <a:solidFill>
              <a:srgbClr val="C3C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09196" y="469982"/>
            <a:ext cx="951503" cy="821710"/>
          </a:xfrm>
          <a:prstGeom prst="rect">
            <a:avLst/>
          </a:prstGeom>
          <a:noFill/>
        </p:spPr>
        <p:txBody>
          <a:bodyPr wrap="none" lIns="51177" tIns="51177" rIns="51177" bIns="51177">
            <a:spAutoFit/>
          </a:bodyPr>
          <a:lstStyle/>
          <a:p>
            <a:r>
              <a:rPr sz="1700" b="0" i="0" u="none">
                <a:solidFill>
                  <a:srgbClr val="613959"/>
                </a:solidFill>
                <a:latin typeface="Trebuchet MS"/>
              </a:rPr>
              <a:t>Reference Summary Response Horizon Beacon Station Harbor Brief Package System Source Data Strategy Connector Snapshot Coverage Channel Tile Beacon Volume Duration Version Tile Keyline Metric Keyline Review Dimension Connector Model Proof</a:t>
            </a:r>
          </a:p>
        </p:txBody>
      </p:sp>
      <p:graphicFrame>
        <p:nvGraphicFramePr>
          <p:cNvPr id="15" name="Table 14"/>
          <p:cNvGraphicFramePr>
            <a:graphicFrameLocks noGrp="1"/>
          </p:cNvGraphicFramePr>
          <p:nvPr/>
        </p:nvGraphicFramePr>
        <p:xfrm>
          <a:off x="2092073" y="3605407"/>
          <a:ext cx="2243203" cy="1323353"/>
        </p:xfrm>
        <a:graphic>
          <a:graphicData uri="http://schemas.openxmlformats.org/drawingml/2006/table">
            <a:tbl>
              <a:tblPr firstRow="1" bandRow="1">
                <a:tableStyleId>{5C22544A-7EE6-4342-B048-85BDC9FD1C3A}</a:tableStyleId>
              </a:tblPr>
              <a:tblGrid>
                <a:gridCol w="373867">
                  <a:extLst>
                    <a:ext uri="{9D8B030D-6E8A-4147-A177-3AD203B41FA5}">
                      <a16:colId xmlns:a16="http://schemas.microsoft.com/office/drawing/2014/main" val="20000"/>
                    </a:ext>
                  </a:extLst>
                </a:gridCol>
                <a:gridCol w="373867">
                  <a:extLst>
                    <a:ext uri="{9D8B030D-6E8A-4147-A177-3AD203B41FA5}">
                      <a16:colId xmlns:a16="http://schemas.microsoft.com/office/drawing/2014/main" val="20001"/>
                    </a:ext>
                  </a:extLst>
                </a:gridCol>
                <a:gridCol w="373867">
                  <a:extLst>
                    <a:ext uri="{9D8B030D-6E8A-4147-A177-3AD203B41FA5}">
                      <a16:colId xmlns:a16="http://schemas.microsoft.com/office/drawing/2014/main" val="20002"/>
                    </a:ext>
                  </a:extLst>
                </a:gridCol>
                <a:gridCol w="373867">
                  <a:extLst>
                    <a:ext uri="{9D8B030D-6E8A-4147-A177-3AD203B41FA5}">
                      <a16:colId xmlns:a16="http://schemas.microsoft.com/office/drawing/2014/main" val="20003"/>
                    </a:ext>
                  </a:extLst>
                </a:gridCol>
                <a:gridCol w="373867">
                  <a:extLst>
                    <a:ext uri="{9D8B030D-6E8A-4147-A177-3AD203B41FA5}">
                      <a16:colId xmlns:a16="http://schemas.microsoft.com/office/drawing/2014/main" val="20004"/>
                    </a:ext>
                  </a:extLst>
                </a:gridCol>
                <a:gridCol w="373868">
                  <a:extLst>
                    <a:ext uri="{9D8B030D-6E8A-4147-A177-3AD203B41FA5}">
                      <a16:colId xmlns:a16="http://schemas.microsoft.com/office/drawing/2014/main" val="20005"/>
                    </a:ext>
                  </a:extLst>
                </a:gridCol>
              </a:tblGrid>
              <a:tr h="220558">
                <a:tc>
                  <a:txBody>
                    <a:bodyPr/>
                    <a:lstStyle/>
                    <a:p>
                      <a:r>
                        <a:rPr sz="800" b="1">
                          <a:solidFill>
                            <a:srgbClr val="3CCE6F"/>
                          </a:solidFill>
                        </a:rPr>
                        <a:t>Circuit Filter</a:t>
                      </a:r>
                    </a:p>
                  </a:txBody>
                  <a:tcPr>
                    <a:solidFill>
                      <a:srgbClr val="6DBA89"/>
                    </a:solidFill>
                  </a:tcPr>
                </a:tc>
                <a:tc>
                  <a:txBody>
                    <a:bodyPr/>
                    <a:lstStyle/>
                    <a:p>
                      <a:r>
                        <a:rPr sz="800" b="1">
                          <a:solidFill>
                            <a:srgbClr val="3CCE6F"/>
                          </a:solidFill>
                        </a:rPr>
                        <a:t>Focus</a:t>
                      </a:r>
                    </a:p>
                  </a:txBody>
                  <a:tcPr>
                    <a:solidFill>
                      <a:srgbClr val="6DBA89"/>
                    </a:solidFill>
                  </a:tcPr>
                </a:tc>
                <a:tc>
                  <a:txBody>
                    <a:bodyPr/>
                    <a:lstStyle/>
                    <a:p>
                      <a:r>
                        <a:rPr sz="800" b="1">
                          <a:solidFill>
                            <a:srgbClr val="3CCE6F"/>
                          </a:solidFill>
                        </a:rPr>
                        <a:t>Limit</a:t>
                      </a:r>
                    </a:p>
                  </a:txBody>
                  <a:tcPr>
                    <a:solidFill>
                      <a:srgbClr val="6DBA89"/>
                    </a:solidFill>
                  </a:tcPr>
                </a:tc>
                <a:tc>
                  <a:txBody>
                    <a:bodyPr/>
                    <a:lstStyle/>
                    <a:p>
                      <a:r>
                        <a:rPr sz="800" b="1">
                          <a:solidFill>
                            <a:srgbClr val="3CCE6F"/>
                          </a:solidFill>
                        </a:rPr>
                        <a:t>Beacon</a:t>
                      </a:r>
                    </a:p>
                  </a:txBody>
                  <a:tcPr>
                    <a:solidFill>
                      <a:srgbClr val="6DBA89"/>
                    </a:solidFill>
                  </a:tcPr>
                </a:tc>
                <a:tc>
                  <a:txBody>
                    <a:bodyPr/>
                    <a:lstStyle/>
                    <a:p>
                      <a:r>
                        <a:rPr sz="800" b="1">
                          <a:solidFill>
                            <a:srgbClr val="3CCE6F"/>
                          </a:solidFill>
                        </a:rPr>
                        <a:t>Program</a:t>
                      </a:r>
                    </a:p>
                  </a:txBody>
                  <a:tcPr>
                    <a:solidFill>
                      <a:srgbClr val="6DBA89"/>
                    </a:solidFill>
                  </a:tcPr>
                </a:tc>
                <a:tc>
                  <a:txBody>
                    <a:bodyPr/>
                    <a:lstStyle/>
                    <a:p>
                      <a:r>
                        <a:rPr sz="800" b="1">
                          <a:solidFill>
                            <a:srgbClr val="3CCE6F"/>
                          </a:solidFill>
                        </a:rPr>
                        <a:t>Program</a:t>
                      </a:r>
                    </a:p>
                  </a:txBody>
                  <a:tcPr>
                    <a:solidFill>
                      <a:srgbClr val="6DBA89"/>
                    </a:solidFill>
                  </a:tcPr>
                </a:tc>
                <a:extLst>
                  <a:ext uri="{0D108BD9-81ED-4DB2-BD59-A6C34878D82A}">
                    <a16:rowId xmlns:a16="http://schemas.microsoft.com/office/drawing/2014/main" val="10000"/>
                  </a:ext>
                </a:extLst>
              </a:tr>
              <a:tr h="220558">
                <a:tc>
                  <a:txBody>
                    <a:bodyPr/>
                    <a:lstStyle/>
                    <a:p>
                      <a:r>
                        <a:rPr sz="800" b="0">
                          <a:solidFill>
                            <a:srgbClr val="3CCE6F"/>
                          </a:solidFill>
                        </a:rPr>
                        <a:t>Token Engine</a:t>
                      </a:r>
                    </a:p>
                  </a:txBody>
                  <a:tcPr>
                    <a:solidFill>
                      <a:srgbClr val="EECDC3"/>
                    </a:solidFill>
                  </a:tcPr>
                </a:tc>
                <a:tc>
                  <a:txBody>
                    <a:bodyPr/>
                    <a:lstStyle/>
                    <a:p>
                      <a:r>
                        <a:rPr sz="800" b="0">
                          <a:solidFill>
                            <a:srgbClr val="3CCE6F"/>
                          </a:solidFill>
                        </a:rPr>
                        <a:t>Insight Reference</a:t>
                      </a:r>
                    </a:p>
                  </a:txBody>
                  <a:tcPr>
                    <a:solidFill>
                      <a:srgbClr val="EECDC3"/>
                    </a:solidFill>
                  </a:tcPr>
                </a:tc>
                <a:tc>
                  <a:txBody>
                    <a:bodyPr/>
                    <a:lstStyle/>
                    <a:p>
                      <a:r>
                        <a:rPr sz="800" b="0">
                          <a:solidFill>
                            <a:srgbClr val="3CCE6F"/>
                          </a:solidFill>
                        </a:rPr>
                        <a:t>Program Lens</a:t>
                      </a:r>
                    </a:p>
                  </a:txBody>
                  <a:tcPr>
                    <a:solidFill>
                      <a:srgbClr val="EECDC3"/>
                    </a:solidFill>
                  </a:tcPr>
                </a:tc>
                <a:tc>
                  <a:txBody>
                    <a:bodyPr/>
                    <a:lstStyle/>
                    <a:p>
                      <a:r>
                        <a:rPr sz="800" b="0">
                          <a:solidFill>
                            <a:srgbClr val="3CCE6F"/>
                          </a:solidFill>
                        </a:rPr>
                        <a:t>View Echo</a:t>
                      </a:r>
                    </a:p>
                  </a:txBody>
                  <a:tcPr>
                    <a:solidFill>
                      <a:srgbClr val="EECDC3"/>
                    </a:solidFill>
                  </a:tcPr>
                </a:tc>
                <a:tc>
                  <a:txBody>
                    <a:bodyPr/>
                    <a:lstStyle/>
                    <a:p>
                      <a:r>
                        <a:rPr sz="800" b="0">
                          <a:solidFill>
                            <a:srgbClr val="3CCE6F"/>
                          </a:solidFill>
                        </a:rPr>
                        <a:t>Deck Table</a:t>
                      </a:r>
                    </a:p>
                  </a:txBody>
                  <a:tcPr>
                    <a:solidFill>
                      <a:srgbClr val="EECDC3"/>
                    </a:solidFill>
                  </a:tcPr>
                </a:tc>
                <a:tc>
                  <a:txBody>
                    <a:bodyPr/>
                    <a:lstStyle/>
                    <a:p>
                      <a:r>
                        <a:rPr sz="800" b="0">
                          <a:solidFill>
                            <a:srgbClr val="3CCE6F"/>
                          </a:solidFill>
                        </a:rPr>
                        <a:t>Result</a:t>
                      </a:r>
                    </a:p>
                  </a:txBody>
                  <a:tcPr>
                    <a:solidFill>
                      <a:srgbClr val="EECDC3"/>
                    </a:solidFill>
                  </a:tcPr>
                </a:tc>
                <a:extLst>
                  <a:ext uri="{0D108BD9-81ED-4DB2-BD59-A6C34878D82A}">
                    <a16:rowId xmlns:a16="http://schemas.microsoft.com/office/drawing/2014/main" val="10001"/>
                  </a:ext>
                </a:extLst>
              </a:tr>
              <a:tr h="220558">
                <a:tc>
                  <a:txBody>
                    <a:bodyPr/>
                    <a:lstStyle/>
                    <a:p>
                      <a:r>
                        <a:rPr sz="800" b="0">
                          <a:solidFill>
                            <a:srgbClr val="3CCE6F"/>
                          </a:solidFill>
                        </a:rPr>
                        <a:t>Control Scope</a:t>
                      </a:r>
                    </a:p>
                  </a:txBody>
                  <a:tcPr>
                    <a:solidFill>
                      <a:srgbClr val="F6E7E2"/>
                    </a:solidFill>
                  </a:tcPr>
                </a:tc>
                <a:tc>
                  <a:txBody>
                    <a:bodyPr/>
                    <a:lstStyle/>
                    <a:p>
                      <a:r>
                        <a:rPr sz="800" b="0">
                          <a:solidFill>
                            <a:srgbClr val="3CCE6F"/>
                          </a:solidFill>
                        </a:rPr>
                        <a:t>Segment Marker</a:t>
                      </a:r>
                    </a:p>
                  </a:txBody>
                  <a:tcPr>
                    <a:solidFill>
                      <a:srgbClr val="F6E7E2"/>
                    </a:solidFill>
                  </a:tcPr>
                </a:tc>
                <a:tc>
                  <a:txBody>
                    <a:bodyPr/>
                    <a:lstStyle/>
                    <a:p>
                      <a:r>
                        <a:rPr sz="800" b="0">
                          <a:solidFill>
                            <a:srgbClr val="3CCE6F"/>
                          </a:solidFill>
                        </a:rPr>
                        <a:t>Channel Table</a:t>
                      </a:r>
                    </a:p>
                  </a:txBody>
                  <a:tcPr>
                    <a:solidFill>
                      <a:srgbClr val="F6E7E2"/>
                    </a:solidFill>
                  </a:tcPr>
                </a:tc>
                <a:tc>
                  <a:txBody>
                    <a:bodyPr/>
                    <a:lstStyle/>
                    <a:p>
                      <a:r>
                        <a:rPr sz="800" b="0">
                          <a:solidFill>
                            <a:srgbClr val="3CCE6F"/>
                          </a:solidFill>
                        </a:rPr>
                        <a:t>Response Transform</a:t>
                      </a:r>
                    </a:p>
                  </a:txBody>
                  <a:tcPr>
                    <a:solidFill>
                      <a:srgbClr val="F6E7E2"/>
                    </a:solidFill>
                  </a:tcPr>
                </a:tc>
                <a:tc>
                  <a:txBody>
                    <a:bodyPr/>
                    <a:lstStyle/>
                    <a:p>
                      <a:r>
                        <a:rPr sz="800" b="0">
                          <a:solidFill>
                            <a:srgbClr val="3CCE6F"/>
                          </a:solidFill>
                        </a:rPr>
                        <a:t>Response</a:t>
                      </a:r>
                    </a:p>
                  </a:txBody>
                  <a:tcPr>
                    <a:solidFill>
                      <a:srgbClr val="F6E7E2"/>
                    </a:solidFill>
                  </a:tcPr>
                </a:tc>
                <a:tc>
                  <a:txBody>
                    <a:bodyPr/>
                    <a:lstStyle/>
                    <a:p>
                      <a:r>
                        <a:rPr sz="800" b="0">
                          <a:solidFill>
                            <a:srgbClr val="3CCE6F"/>
                          </a:solidFill>
                        </a:rPr>
                        <a:t>Action</a:t>
                      </a:r>
                    </a:p>
                  </a:txBody>
                  <a:tcPr>
                    <a:solidFill>
                      <a:srgbClr val="F6E7E2"/>
                    </a:solidFill>
                  </a:tcPr>
                </a:tc>
                <a:extLst>
                  <a:ext uri="{0D108BD9-81ED-4DB2-BD59-A6C34878D82A}">
                    <a16:rowId xmlns:a16="http://schemas.microsoft.com/office/drawing/2014/main" val="10002"/>
                  </a:ext>
                </a:extLst>
              </a:tr>
              <a:tr h="220558">
                <a:tc>
                  <a:txBody>
                    <a:bodyPr/>
                    <a:lstStyle/>
                    <a:p>
                      <a:r>
                        <a:rPr sz="800" b="0">
                          <a:solidFill>
                            <a:srgbClr val="3CCE6F"/>
                          </a:solidFill>
                        </a:rPr>
                        <a:t>Sync</a:t>
                      </a:r>
                    </a:p>
                  </a:txBody>
                  <a:tcPr>
                    <a:solidFill>
                      <a:srgbClr val="EECDC3"/>
                    </a:solidFill>
                  </a:tcPr>
                </a:tc>
                <a:tc>
                  <a:txBody>
                    <a:bodyPr/>
                    <a:lstStyle/>
                    <a:p>
                      <a:r>
                        <a:rPr sz="800" b="0">
                          <a:solidFill>
                            <a:srgbClr val="3CCE6F"/>
                          </a:solidFill>
                        </a:rPr>
                        <a:t>Surface Dimension</a:t>
                      </a:r>
                    </a:p>
                  </a:txBody>
                  <a:tcPr>
                    <a:solidFill>
                      <a:srgbClr val="EECDC3"/>
                    </a:solidFill>
                  </a:tcPr>
                </a:tc>
                <a:tc>
                  <a:txBody>
                    <a:bodyPr/>
                    <a:lstStyle/>
                    <a:p>
                      <a:r>
                        <a:rPr sz="800" b="0">
                          <a:solidFill>
                            <a:srgbClr val="3CCE6F"/>
                          </a:solidFill>
                        </a:rPr>
                        <a:t>Diagram Variant</a:t>
                      </a:r>
                    </a:p>
                  </a:txBody>
                  <a:tcPr>
                    <a:solidFill>
                      <a:srgbClr val="EECDC3"/>
                    </a:solidFill>
                  </a:tcPr>
                </a:tc>
                <a:tc>
                  <a:txBody>
                    <a:bodyPr/>
                    <a:lstStyle/>
                    <a:p>
                      <a:r>
                        <a:rPr sz="800" b="0">
                          <a:solidFill>
                            <a:srgbClr val="3CCE6F"/>
                          </a:solidFill>
                        </a:rPr>
                        <a:t>Velocity Focus</a:t>
                      </a:r>
                    </a:p>
                  </a:txBody>
                  <a:tcPr>
                    <a:solidFill>
                      <a:srgbClr val="EECDC3"/>
                    </a:solidFill>
                  </a:tcPr>
                </a:tc>
                <a:tc>
                  <a:txBody>
                    <a:bodyPr/>
                    <a:lstStyle/>
                    <a:p>
                      <a:r>
                        <a:rPr sz="800" b="0">
                          <a:solidFill>
                            <a:srgbClr val="3CCE6F"/>
                          </a:solidFill>
                        </a:rPr>
                        <a:t>Goal</a:t>
                      </a:r>
                    </a:p>
                  </a:txBody>
                  <a:tcPr>
                    <a:solidFill>
                      <a:srgbClr val="EECDC3"/>
                    </a:solidFill>
                  </a:tcPr>
                </a:tc>
                <a:tc>
                  <a:txBody>
                    <a:bodyPr/>
                    <a:lstStyle/>
                    <a:p>
                      <a:r>
                        <a:rPr sz="800" b="0">
                          <a:solidFill>
                            <a:srgbClr val="3CCE6F"/>
                          </a:solidFill>
                        </a:rPr>
                        <a:t>Spectrum</a:t>
                      </a:r>
                    </a:p>
                  </a:txBody>
                  <a:tcPr>
                    <a:solidFill>
                      <a:srgbClr val="EECDC3"/>
                    </a:solidFill>
                  </a:tcPr>
                </a:tc>
                <a:extLst>
                  <a:ext uri="{0D108BD9-81ED-4DB2-BD59-A6C34878D82A}">
                    <a16:rowId xmlns:a16="http://schemas.microsoft.com/office/drawing/2014/main" val="10003"/>
                  </a:ext>
                </a:extLst>
              </a:tr>
              <a:tr h="220558">
                <a:tc>
                  <a:txBody>
                    <a:bodyPr/>
                    <a:lstStyle/>
                    <a:p>
                      <a:r>
                        <a:rPr sz="800" b="0">
                          <a:solidFill>
                            <a:srgbClr val="3CCE6F"/>
                          </a:solidFill>
                        </a:rPr>
                        <a:t>Relay</a:t>
                      </a:r>
                    </a:p>
                  </a:txBody>
                  <a:tcPr>
                    <a:solidFill>
                      <a:srgbClr val="F6E7E2"/>
                    </a:solidFill>
                  </a:tcPr>
                </a:tc>
                <a:tc>
                  <a:txBody>
                    <a:bodyPr/>
                    <a:lstStyle/>
                    <a:p>
                      <a:r>
                        <a:rPr sz="800" b="0">
                          <a:solidFill>
                            <a:srgbClr val="3CCE6F"/>
                          </a:solidFill>
                        </a:rPr>
                        <a:t>Compass</a:t>
                      </a:r>
                    </a:p>
                  </a:txBody>
                  <a:tcPr>
                    <a:solidFill>
                      <a:srgbClr val="F6E7E2"/>
                    </a:solidFill>
                  </a:tcPr>
                </a:tc>
                <a:tc>
                  <a:txBody>
                    <a:bodyPr/>
                    <a:lstStyle/>
                    <a:p>
                      <a:r>
                        <a:rPr sz="800" b="0">
                          <a:solidFill>
                            <a:srgbClr val="3CCE6F"/>
                          </a:solidFill>
                        </a:rPr>
                        <a:t>Needle</a:t>
                      </a:r>
                    </a:p>
                  </a:txBody>
                  <a:tcPr>
                    <a:solidFill>
                      <a:srgbClr val="F6E7E2"/>
                    </a:solidFill>
                  </a:tcPr>
                </a:tc>
                <a:tc>
                  <a:txBody>
                    <a:bodyPr/>
                    <a:lstStyle/>
                    <a:p>
                      <a:r>
                        <a:rPr sz="800" b="0">
                          <a:solidFill>
                            <a:srgbClr val="3CCE6F"/>
                          </a:solidFill>
                        </a:rPr>
                        <a:t>Pipeline</a:t>
                      </a:r>
                    </a:p>
                  </a:txBody>
                  <a:tcPr>
                    <a:solidFill>
                      <a:srgbClr val="F6E7E2"/>
                    </a:solidFill>
                  </a:tcPr>
                </a:tc>
                <a:tc>
                  <a:txBody>
                    <a:bodyPr/>
                    <a:lstStyle/>
                    <a:p>
                      <a:r>
                        <a:rPr sz="800" b="0">
                          <a:solidFill>
                            <a:srgbClr val="3CCE6F"/>
                          </a:solidFill>
                        </a:rPr>
                        <a:t>Channel Needle</a:t>
                      </a:r>
                    </a:p>
                  </a:txBody>
                  <a:tcPr>
                    <a:solidFill>
                      <a:srgbClr val="F6E7E2"/>
                    </a:solidFill>
                  </a:tcPr>
                </a:tc>
                <a:tc>
                  <a:txBody>
                    <a:bodyPr/>
                    <a:lstStyle/>
                    <a:p>
                      <a:r>
                        <a:rPr sz="800" b="0">
                          <a:solidFill>
                            <a:srgbClr val="3CCE6F"/>
                          </a:solidFill>
                        </a:rPr>
                        <a:t>Format Node</a:t>
                      </a:r>
                    </a:p>
                  </a:txBody>
                  <a:tcPr>
                    <a:solidFill>
                      <a:srgbClr val="F6E7E2"/>
                    </a:solidFill>
                  </a:tcPr>
                </a:tc>
                <a:extLst>
                  <a:ext uri="{0D108BD9-81ED-4DB2-BD59-A6C34878D82A}">
                    <a16:rowId xmlns:a16="http://schemas.microsoft.com/office/drawing/2014/main" val="10004"/>
                  </a:ext>
                </a:extLst>
              </a:tr>
              <a:tr h="220563">
                <a:tc>
                  <a:txBody>
                    <a:bodyPr/>
                    <a:lstStyle/>
                    <a:p>
                      <a:r>
                        <a:rPr sz="800" b="0">
                          <a:solidFill>
                            <a:srgbClr val="3CCE6F"/>
                          </a:solidFill>
                        </a:rPr>
                        <a:t>Texture Brief</a:t>
                      </a:r>
                    </a:p>
                  </a:txBody>
                  <a:tcPr>
                    <a:solidFill>
                      <a:srgbClr val="EECDC3"/>
                    </a:solidFill>
                  </a:tcPr>
                </a:tc>
                <a:tc>
                  <a:txBody>
                    <a:bodyPr/>
                    <a:lstStyle/>
                    <a:p>
                      <a:r>
                        <a:rPr sz="800" b="0">
                          <a:solidFill>
                            <a:srgbClr val="3CCE6F"/>
                          </a:solidFill>
                        </a:rPr>
                        <a:t>Context Dimension</a:t>
                      </a:r>
                    </a:p>
                  </a:txBody>
                  <a:tcPr>
                    <a:solidFill>
                      <a:srgbClr val="EECDC3"/>
                    </a:solidFill>
                  </a:tcPr>
                </a:tc>
                <a:tc>
                  <a:txBody>
                    <a:bodyPr/>
                    <a:lstStyle/>
                    <a:p>
                      <a:r>
                        <a:rPr sz="800" b="0">
                          <a:solidFill>
                            <a:srgbClr val="3CCE6F"/>
                          </a:solidFill>
                        </a:rPr>
                        <a:t>Tile</a:t>
                      </a:r>
                    </a:p>
                  </a:txBody>
                  <a:tcPr>
                    <a:solidFill>
                      <a:srgbClr val="EECDC3"/>
                    </a:solidFill>
                  </a:tcPr>
                </a:tc>
                <a:tc>
                  <a:txBody>
                    <a:bodyPr/>
                    <a:lstStyle/>
                    <a:p>
                      <a:r>
                        <a:rPr sz="800" b="0">
                          <a:solidFill>
                            <a:srgbClr val="3CCE6F"/>
                          </a:solidFill>
                        </a:rPr>
                        <a:t>Discovery Explorer</a:t>
                      </a:r>
                    </a:p>
                  </a:txBody>
                  <a:tcPr>
                    <a:solidFill>
                      <a:srgbClr val="EECDC3"/>
                    </a:solidFill>
                  </a:tcPr>
                </a:tc>
                <a:tc>
                  <a:txBody>
                    <a:bodyPr/>
                    <a:lstStyle/>
                    <a:p>
                      <a:r>
                        <a:rPr sz="800" b="0">
                          <a:solidFill>
                            <a:srgbClr val="3CCE6F"/>
                          </a:solidFill>
                        </a:rPr>
                        <a:t>Scope</a:t>
                      </a:r>
                    </a:p>
                  </a:txBody>
                  <a:tcPr>
                    <a:solidFill>
                      <a:srgbClr val="EECDC3"/>
                    </a:solidFill>
                  </a:tcPr>
                </a:tc>
                <a:tc>
                  <a:txBody>
                    <a:bodyPr/>
                    <a:lstStyle/>
                    <a:p>
                      <a:r>
                        <a:rPr sz="800" b="0">
                          <a:solidFill>
                            <a:srgbClr val="3CCE6F"/>
                          </a:solidFill>
                        </a:rPr>
                        <a:t>Gateway</a:t>
                      </a:r>
                    </a:p>
                  </a:txBody>
                  <a:tcPr>
                    <a:solidFill>
                      <a:srgbClr val="EECDC3"/>
                    </a:solidFill>
                  </a:tcPr>
                </a:tc>
                <a:extLst>
                  <a:ext uri="{0D108BD9-81ED-4DB2-BD59-A6C34878D82A}">
                    <a16:rowId xmlns:a16="http://schemas.microsoft.com/office/drawing/2014/main" val="10005"/>
                  </a:ext>
                </a:extLst>
              </a:tr>
            </a:tbl>
          </a:graphicData>
        </a:graphic>
      </p:graphicFrame>
      <p:cxnSp>
        <p:nvCxnSpPr>
          <p:cNvPr id="16" name="Connector 15"/>
          <p:cNvCxnSpPr/>
          <p:nvPr/>
        </p:nvCxnSpPr>
        <p:spPr>
          <a:xfrm flipV="1">
            <a:off x="4279693" y="1761982"/>
            <a:ext cx="1566414" cy="975501"/>
          </a:xfrm>
          <a:prstGeom prst="bentConnector3">
            <a:avLst/>
          </a:prstGeom>
          <a:ln w="28493">
            <a:solidFill>
              <a:srgbClr val="D44776"/>
            </a:solidFill>
            <a:prstDash val="lg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719157" y="1825550"/>
            <a:ext cx="791814" cy="1265682"/>
          </a:xfrm>
          <a:prstGeom prst="line">
            <a:avLst/>
          </a:prstGeom>
          <a:ln w="35426">
            <a:solidFill>
              <a:srgbClr val="A1E223"/>
            </a:solidFill>
            <a:prstDash val="dashDot"/>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902044" y="3082313"/>
            <a:ext cx="1528584" cy="1231024"/>
          </a:xfrm>
          <a:prstGeom prst="roundRect">
            <a:avLst/>
          </a:prstGeom>
          <a:solidFill>
            <a:srgbClr val="88D2E4"/>
          </a:solidFill>
          <a:ln w="11838">
            <a:solidFill>
              <a:srgbClr val="B5B3D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9" name="Chart 18"/>
          <p:cNvGraphicFramePr>
            <a:graphicFrameLocks noGrp="1"/>
          </p:cNvGraphicFramePr>
          <p:nvPr/>
        </p:nvGraphicFramePr>
        <p:xfrm>
          <a:off x="6947887" y="2159110"/>
          <a:ext cx="2337948" cy="2080727"/>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Box 19"/>
          <p:cNvSpPr txBox="1"/>
          <p:nvPr/>
        </p:nvSpPr>
        <p:spPr>
          <a:xfrm>
            <a:off x="5931822" y="2529281"/>
            <a:ext cx="833950" cy="1480215"/>
          </a:xfrm>
          <a:prstGeom prst="rect">
            <a:avLst/>
          </a:prstGeom>
          <a:solidFill>
            <a:srgbClr val="9B9E52"/>
          </a:solidFill>
        </p:spPr>
        <p:txBody>
          <a:bodyPr wrap="none" lIns="33579" tIns="33579" rIns="33579" bIns="33579">
            <a:spAutoFit/>
          </a:bodyPr>
          <a:lstStyle/>
          <a:p>
            <a:r>
              <a:rPr sz="800" b="0" i="0" u="sng">
                <a:solidFill>
                  <a:srgbClr val="BC47AF"/>
                </a:solidFill>
                <a:latin typeface="Aptos"/>
              </a:rPr>
              <a:t>Engine Origin</a:t>
            </a:r>
          </a:p>
        </p:txBody>
      </p:sp>
      <p:sp>
        <p:nvSpPr>
          <p:cNvPr id="21" name="TextBox 20"/>
          <p:cNvSpPr txBox="1"/>
          <p:nvPr/>
        </p:nvSpPr>
        <p:spPr>
          <a:xfrm>
            <a:off x="2720306" y="1547748"/>
            <a:ext cx="691217" cy="1070040"/>
          </a:xfrm>
          <a:prstGeom prst="rect">
            <a:avLst/>
          </a:prstGeom>
          <a:noFill/>
        </p:spPr>
        <p:txBody>
          <a:bodyPr wrap="none" lIns="46555" tIns="46555" rIns="46555" bIns="46555">
            <a:spAutoFit/>
          </a:bodyPr>
          <a:lstStyle/>
          <a:p>
            <a:r>
              <a:rPr sz="1200" b="1" i="1" u="none">
                <a:solidFill>
                  <a:srgbClr val="24ACC2"/>
                </a:solidFill>
                <a:latin typeface="Aptos"/>
              </a:rPr>
              <a:t>Detail Feature Summary Cadence Process Method Briefing Friction Filter Account State Motion Input System Benchmark Channel Stage Volume Index Needle Impact Echo Response</a:t>
            </a:r>
          </a:p>
        </p:txBody>
      </p:sp>
      <p:sp>
        <p:nvSpPr>
          <p:cNvPr id="22" name="TextBox 21"/>
          <p:cNvSpPr txBox="1"/>
          <p:nvPr/>
        </p:nvSpPr>
        <p:spPr>
          <a:xfrm>
            <a:off x="1798672" y="4824784"/>
            <a:ext cx="1978880" cy="1155677"/>
          </a:xfrm>
          <a:prstGeom prst="rect">
            <a:avLst/>
          </a:prstGeom>
          <a:noFill/>
        </p:spPr>
        <p:txBody>
          <a:bodyPr wrap="none" lIns="80509" tIns="80509" rIns="80509" bIns="80509">
            <a:spAutoFit/>
          </a:bodyPr>
          <a:lstStyle/>
          <a:p>
            <a:r>
              <a:rPr sz="1200" b="0" i="0" u="none">
                <a:solidFill>
                  <a:srgbClr val="B95723"/>
                </a:solidFill>
                <a:latin typeface="Calibri"/>
              </a:rPr>
              <a:t>Response Build Loop Grid Velocity Forecast Resource Threshold Delta Explorer</a:t>
            </a:r>
          </a:p>
        </p:txBody>
      </p:sp>
      <p:sp>
        <p:nvSpPr>
          <p:cNvPr id="23" name="Right Arrow Callout 22"/>
          <p:cNvSpPr/>
          <p:nvPr/>
        </p:nvSpPr>
        <p:spPr>
          <a:xfrm>
            <a:off x="1237044" y="2225458"/>
            <a:ext cx="1094917" cy="1568330"/>
          </a:xfrm>
          <a:prstGeom prst="rightArrowCallout">
            <a:avLst/>
          </a:prstGeom>
          <a:solidFill>
            <a:srgbClr val="2791A1"/>
          </a:solidFill>
          <a:ln w="13288">
            <a:solidFill>
              <a:srgbClr val="A3B63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8-Point Star 23"/>
          <p:cNvSpPr/>
          <p:nvPr/>
        </p:nvSpPr>
        <p:spPr>
          <a:xfrm>
            <a:off x="3864081" y="3396853"/>
            <a:ext cx="863072" cy="273284"/>
          </a:xfrm>
          <a:prstGeom prst="star8">
            <a:avLst/>
          </a:prstGeom>
          <a:noFill/>
          <a:ln w="10801">
            <a:solidFill>
              <a:srgbClr val="6E7D4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Explosion 24"/>
          <p:cNvSpPr/>
          <p:nvPr/>
        </p:nvSpPr>
        <p:spPr>
          <a:xfrm>
            <a:off x="627928" y="951380"/>
            <a:ext cx="416376" cy="1499348"/>
          </a:xfrm>
          <a:prstGeom prst="irregularSeal2">
            <a:avLst/>
          </a:prstGeom>
          <a:solidFill>
            <a:srgbClr val="8086A5"/>
          </a:solidFill>
          <a:ln w="10513">
            <a:solidFill>
              <a:srgbClr val="ABA6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Chart 25"/>
          <p:cNvGraphicFramePr>
            <a:graphicFrameLocks noGrp="1"/>
          </p:cNvGraphicFramePr>
          <p:nvPr/>
        </p:nvGraphicFramePr>
        <p:xfrm>
          <a:off x="4022879" y="5081187"/>
          <a:ext cx="2123714" cy="1584056"/>
        </p:xfrm>
        <a:graphic>
          <a:graphicData uri="http://schemas.openxmlformats.org/drawingml/2006/chart">
            <c:chart xmlns:c="http://schemas.openxmlformats.org/drawingml/2006/chart" xmlns:r="http://schemas.openxmlformats.org/officeDocument/2006/relationships" r:id="rId4"/>
          </a:graphicData>
        </a:graphic>
      </p:graphicFrame>
      <p:sp>
        <p:nvSpPr>
          <p:cNvPr id="27" name="Predefined Process 26"/>
          <p:cNvSpPr/>
          <p:nvPr/>
        </p:nvSpPr>
        <p:spPr>
          <a:xfrm>
            <a:off x="3698233" y="1388118"/>
            <a:ext cx="411815" cy="1983892"/>
          </a:xfrm>
          <a:prstGeom prst="flowChartPredefinedProcess">
            <a:avLst/>
          </a:prstGeom>
          <a:solidFill>
            <a:srgbClr val="9EC3B4"/>
          </a:solidFill>
          <a:ln w="12852">
            <a:solidFill>
              <a:srgbClr val="AB46D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8" name="Table 27"/>
          <p:cNvGraphicFramePr>
            <a:graphicFrameLocks noGrp="1"/>
          </p:cNvGraphicFramePr>
          <p:nvPr/>
        </p:nvGraphicFramePr>
        <p:xfrm>
          <a:off x="4537305" y="3792290"/>
          <a:ext cx="3693809" cy="1051324"/>
        </p:xfrm>
        <a:graphic>
          <a:graphicData uri="http://schemas.openxmlformats.org/drawingml/2006/table">
            <a:tbl>
              <a:tblPr firstRow="1" bandRow="1">
                <a:tableStyleId>{5C22544A-7EE6-4342-B048-85BDC9FD1C3A}</a:tableStyleId>
              </a:tblPr>
              <a:tblGrid>
                <a:gridCol w="738761">
                  <a:extLst>
                    <a:ext uri="{9D8B030D-6E8A-4147-A177-3AD203B41FA5}">
                      <a16:colId xmlns:a16="http://schemas.microsoft.com/office/drawing/2014/main" val="20000"/>
                    </a:ext>
                  </a:extLst>
                </a:gridCol>
                <a:gridCol w="738761">
                  <a:extLst>
                    <a:ext uri="{9D8B030D-6E8A-4147-A177-3AD203B41FA5}">
                      <a16:colId xmlns:a16="http://schemas.microsoft.com/office/drawing/2014/main" val="20001"/>
                    </a:ext>
                  </a:extLst>
                </a:gridCol>
                <a:gridCol w="738761">
                  <a:extLst>
                    <a:ext uri="{9D8B030D-6E8A-4147-A177-3AD203B41FA5}">
                      <a16:colId xmlns:a16="http://schemas.microsoft.com/office/drawing/2014/main" val="20002"/>
                    </a:ext>
                  </a:extLst>
                </a:gridCol>
                <a:gridCol w="738761">
                  <a:extLst>
                    <a:ext uri="{9D8B030D-6E8A-4147-A177-3AD203B41FA5}">
                      <a16:colId xmlns:a16="http://schemas.microsoft.com/office/drawing/2014/main" val="20003"/>
                    </a:ext>
                  </a:extLst>
                </a:gridCol>
                <a:gridCol w="738765">
                  <a:extLst>
                    <a:ext uri="{9D8B030D-6E8A-4147-A177-3AD203B41FA5}">
                      <a16:colId xmlns:a16="http://schemas.microsoft.com/office/drawing/2014/main" val="20004"/>
                    </a:ext>
                  </a:extLst>
                </a:gridCol>
              </a:tblGrid>
              <a:tr h="150189">
                <a:tc>
                  <a:txBody>
                    <a:bodyPr/>
                    <a:lstStyle/>
                    <a:p>
                      <a:r>
                        <a:rPr sz="900" b="0">
                          <a:solidFill>
                            <a:srgbClr val="52CF31"/>
                          </a:solidFill>
                        </a:rPr>
                        <a:t>Explorer Slice</a:t>
                      </a:r>
                    </a:p>
                  </a:txBody>
                  <a:tcPr>
                    <a:solidFill>
                      <a:srgbClr val="DBE4DC"/>
                    </a:solidFill>
                  </a:tcPr>
                </a:tc>
                <a:tc>
                  <a:txBody>
                    <a:bodyPr/>
                    <a:lstStyle/>
                    <a:p>
                      <a:r>
                        <a:rPr sz="900" b="0">
                          <a:solidFill>
                            <a:srgbClr val="52CF31"/>
                          </a:solidFill>
                        </a:rPr>
                        <a:t>Thread</a:t>
                      </a:r>
                    </a:p>
                  </a:txBody>
                  <a:tcPr>
                    <a:solidFill>
                      <a:srgbClr val="DBE4DC"/>
                    </a:solidFill>
                  </a:tcPr>
                </a:tc>
                <a:tc>
                  <a:txBody>
                    <a:bodyPr/>
                    <a:lstStyle/>
                    <a:p>
                      <a:r>
                        <a:rPr sz="900" b="0">
                          <a:solidFill>
                            <a:srgbClr val="52CF31"/>
                          </a:solidFill>
                        </a:rPr>
                        <a:t>Zone</a:t>
                      </a:r>
                    </a:p>
                  </a:txBody>
                  <a:tcPr>
                    <a:solidFill>
                      <a:srgbClr val="DBE4DC"/>
                    </a:solidFill>
                  </a:tcPr>
                </a:tc>
                <a:tc>
                  <a:txBody>
                    <a:bodyPr/>
                    <a:lstStyle/>
                    <a:p>
                      <a:r>
                        <a:rPr sz="900" b="0">
                          <a:solidFill>
                            <a:srgbClr val="52CF31"/>
                          </a:solidFill>
                        </a:rPr>
                        <a:t>Collection Frame</a:t>
                      </a:r>
                    </a:p>
                  </a:txBody>
                  <a:tcPr>
                    <a:solidFill>
                      <a:srgbClr val="DBE4DC"/>
                    </a:solidFill>
                  </a:tcPr>
                </a:tc>
                <a:tc>
                  <a:txBody>
                    <a:bodyPr/>
                    <a:lstStyle/>
                    <a:p>
                      <a:r>
                        <a:rPr sz="900" b="0">
                          <a:solidFill>
                            <a:srgbClr val="52CF31"/>
                          </a:solidFill>
                        </a:rPr>
                        <a:t>Viewport</a:t>
                      </a:r>
                    </a:p>
                  </a:txBody>
                  <a:tcPr>
                    <a:solidFill>
                      <a:srgbClr val="DBE4DC"/>
                    </a:solidFill>
                  </a:tcPr>
                </a:tc>
                <a:extLst>
                  <a:ext uri="{0D108BD9-81ED-4DB2-BD59-A6C34878D82A}">
                    <a16:rowId xmlns:a16="http://schemas.microsoft.com/office/drawing/2014/main" val="10000"/>
                  </a:ext>
                </a:extLst>
              </a:tr>
              <a:tr h="150189">
                <a:tc>
                  <a:txBody>
                    <a:bodyPr/>
                    <a:lstStyle/>
                    <a:p>
                      <a:r>
                        <a:rPr sz="900" b="0">
                          <a:solidFill>
                            <a:srgbClr val="52CF31"/>
                          </a:solidFill>
                        </a:rPr>
                        <a:t>Lineage</a:t>
                      </a:r>
                    </a:p>
                  </a:txBody>
                  <a:tcPr>
                    <a:solidFill>
                      <a:srgbClr val="C2D2C4"/>
                    </a:solidFill>
                  </a:tcPr>
                </a:tc>
                <a:tc>
                  <a:txBody>
                    <a:bodyPr/>
                    <a:lstStyle/>
                    <a:p>
                      <a:r>
                        <a:rPr sz="900" b="0">
                          <a:solidFill>
                            <a:srgbClr val="52CF31"/>
                          </a:solidFill>
                        </a:rPr>
                        <a:t>Insight</a:t>
                      </a:r>
                    </a:p>
                  </a:txBody>
                  <a:tcPr>
                    <a:solidFill>
                      <a:srgbClr val="C2D2C4"/>
                    </a:solidFill>
                  </a:tcPr>
                </a:tc>
                <a:tc>
                  <a:txBody>
                    <a:bodyPr/>
                    <a:lstStyle/>
                    <a:p>
                      <a:r>
                        <a:rPr sz="900" b="0">
                          <a:solidFill>
                            <a:srgbClr val="52CF31"/>
                          </a:solidFill>
                        </a:rPr>
                        <a:t>Schema Profile</a:t>
                      </a:r>
                    </a:p>
                  </a:txBody>
                  <a:tcPr>
                    <a:solidFill>
                      <a:srgbClr val="C2D2C4"/>
                    </a:solidFill>
                  </a:tcPr>
                </a:tc>
                <a:tc>
                  <a:txBody>
                    <a:bodyPr/>
                    <a:lstStyle/>
                    <a:p>
                      <a:r>
                        <a:rPr sz="900" b="0">
                          <a:solidFill>
                            <a:srgbClr val="52CF31"/>
                          </a:solidFill>
                        </a:rPr>
                        <a:t>Graph</a:t>
                      </a:r>
                    </a:p>
                  </a:txBody>
                  <a:tcPr>
                    <a:solidFill>
                      <a:srgbClr val="C2D2C4"/>
                    </a:solidFill>
                  </a:tcPr>
                </a:tc>
                <a:tc>
                  <a:txBody>
                    <a:bodyPr/>
                    <a:lstStyle/>
                    <a:p>
                      <a:r>
                        <a:rPr sz="900" b="0">
                          <a:solidFill>
                            <a:srgbClr val="52CF31"/>
                          </a:solidFill>
                        </a:rPr>
                        <a:t>Ledger</a:t>
                      </a:r>
                    </a:p>
                  </a:txBody>
                  <a:tcPr>
                    <a:solidFill>
                      <a:srgbClr val="C2D2C4"/>
                    </a:solidFill>
                  </a:tcPr>
                </a:tc>
                <a:extLst>
                  <a:ext uri="{0D108BD9-81ED-4DB2-BD59-A6C34878D82A}">
                    <a16:rowId xmlns:a16="http://schemas.microsoft.com/office/drawing/2014/main" val="10001"/>
                  </a:ext>
                </a:extLst>
              </a:tr>
              <a:tr h="150189">
                <a:tc>
                  <a:txBody>
                    <a:bodyPr/>
                    <a:lstStyle/>
                    <a:p>
                      <a:r>
                        <a:rPr sz="900" b="0">
                          <a:solidFill>
                            <a:srgbClr val="52CF31"/>
                          </a:solidFill>
                        </a:rPr>
                        <a:t>Matrix</a:t>
                      </a:r>
                    </a:p>
                  </a:txBody>
                  <a:tcPr>
                    <a:solidFill>
                      <a:srgbClr val="DBE4DC"/>
                    </a:solidFill>
                  </a:tcPr>
                </a:tc>
                <a:tc>
                  <a:txBody>
                    <a:bodyPr/>
                    <a:lstStyle/>
                    <a:p>
                      <a:r>
                        <a:rPr sz="900" b="0">
                          <a:solidFill>
                            <a:srgbClr val="52CF31"/>
                          </a:solidFill>
                        </a:rPr>
                        <a:t>Flow Energy</a:t>
                      </a:r>
                    </a:p>
                  </a:txBody>
                  <a:tcPr>
                    <a:solidFill>
                      <a:srgbClr val="DBE4DC"/>
                    </a:solidFill>
                  </a:tcPr>
                </a:tc>
                <a:tc>
                  <a:txBody>
                    <a:bodyPr/>
                    <a:lstStyle/>
                    <a:p>
                      <a:r>
                        <a:rPr sz="900" b="0">
                          <a:solidFill>
                            <a:srgbClr val="52CF31"/>
                          </a:solidFill>
                        </a:rPr>
                        <a:t>Station Link</a:t>
                      </a:r>
                    </a:p>
                  </a:txBody>
                  <a:tcPr>
                    <a:solidFill>
                      <a:srgbClr val="DBE4DC"/>
                    </a:solidFill>
                  </a:tcPr>
                </a:tc>
                <a:tc>
                  <a:txBody>
                    <a:bodyPr/>
                    <a:lstStyle/>
                    <a:p>
                      <a:r>
                        <a:rPr sz="900" b="0">
                          <a:solidFill>
                            <a:srgbClr val="52CF31"/>
                          </a:solidFill>
                        </a:rPr>
                        <a:t>Connector Target</a:t>
                      </a:r>
                    </a:p>
                  </a:txBody>
                  <a:tcPr>
                    <a:solidFill>
                      <a:srgbClr val="DBE4DC"/>
                    </a:solidFill>
                  </a:tcPr>
                </a:tc>
                <a:tc>
                  <a:txBody>
                    <a:bodyPr/>
                    <a:lstStyle/>
                    <a:p>
                      <a:r>
                        <a:rPr sz="900" b="0">
                          <a:solidFill>
                            <a:srgbClr val="52CF31"/>
                          </a:solidFill>
                        </a:rPr>
                        <a:t>Deployment Echo</a:t>
                      </a:r>
                    </a:p>
                  </a:txBody>
                  <a:tcPr>
                    <a:solidFill>
                      <a:srgbClr val="DBE4DC"/>
                    </a:solidFill>
                  </a:tcPr>
                </a:tc>
                <a:extLst>
                  <a:ext uri="{0D108BD9-81ED-4DB2-BD59-A6C34878D82A}">
                    <a16:rowId xmlns:a16="http://schemas.microsoft.com/office/drawing/2014/main" val="10002"/>
                  </a:ext>
                </a:extLst>
              </a:tr>
              <a:tr h="150189">
                <a:tc>
                  <a:txBody>
                    <a:bodyPr/>
                    <a:lstStyle/>
                    <a:p>
                      <a:r>
                        <a:rPr sz="900" b="0">
                          <a:solidFill>
                            <a:srgbClr val="52CF31"/>
                          </a:solidFill>
                        </a:rPr>
                        <a:t>Layer Signal</a:t>
                      </a:r>
                    </a:p>
                  </a:txBody>
                  <a:tcPr>
                    <a:solidFill>
                      <a:srgbClr val="C2D2C4"/>
                    </a:solidFill>
                  </a:tcPr>
                </a:tc>
                <a:tc>
                  <a:txBody>
                    <a:bodyPr/>
                    <a:lstStyle/>
                    <a:p>
                      <a:r>
                        <a:rPr sz="900" b="0">
                          <a:solidFill>
                            <a:srgbClr val="52CF31"/>
                          </a:solidFill>
                        </a:rPr>
                        <a:t>Narrative Alignment</a:t>
                      </a:r>
                    </a:p>
                  </a:txBody>
                  <a:tcPr>
                    <a:solidFill>
                      <a:srgbClr val="C2D2C4"/>
                    </a:solidFill>
                  </a:tcPr>
                </a:tc>
                <a:tc>
                  <a:txBody>
                    <a:bodyPr/>
                    <a:lstStyle/>
                    <a:p>
                      <a:r>
                        <a:rPr sz="900" b="0">
                          <a:solidFill>
                            <a:srgbClr val="52CF31"/>
                          </a:solidFill>
                        </a:rPr>
                        <a:t>Gradient Edge</a:t>
                      </a:r>
                    </a:p>
                  </a:txBody>
                  <a:tcPr>
                    <a:solidFill>
                      <a:srgbClr val="C2D2C4"/>
                    </a:solidFill>
                  </a:tcPr>
                </a:tc>
                <a:tc>
                  <a:txBody>
                    <a:bodyPr/>
                    <a:lstStyle/>
                    <a:p>
                      <a:r>
                        <a:rPr sz="900" b="0">
                          <a:solidFill>
                            <a:srgbClr val="52CF31"/>
                          </a:solidFill>
                        </a:rPr>
                        <a:t>Proof</a:t>
                      </a:r>
                    </a:p>
                  </a:txBody>
                  <a:tcPr>
                    <a:solidFill>
                      <a:srgbClr val="C2D2C4"/>
                    </a:solidFill>
                  </a:tcPr>
                </a:tc>
                <a:tc>
                  <a:txBody>
                    <a:bodyPr/>
                    <a:lstStyle/>
                    <a:p>
                      <a:r>
                        <a:rPr sz="900" b="0">
                          <a:solidFill>
                            <a:srgbClr val="52CF31"/>
                          </a:solidFill>
                        </a:rPr>
                        <a:t>Cluster Canvas</a:t>
                      </a:r>
                    </a:p>
                  </a:txBody>
                  <a:tcPr>
                    <a:solidFill>
                      <a:srgbClr val="C2D2C4"/>
                    </a:solidFill>
                  </a:tcPr>
                </a:tc>
                <a:extLst>
                  <a:ext uri="{0D108BD9-81ED-4DB2-BD59-A6C34878D82A}">
                    <a16:rowId xmlns:a16="http://schemas.microsoft.com/office/drawing/2014/main" val="10003"/>
                  </a:ext>
                </a:extLst>
              </a:tr>
              <a:tr h="150189">
                <a:tc>
                  <a:txBody>
                    <a:bodyPr/>
                    <a:lstStyle/>
                    <a:p>
                      <a:r>
                        <a:rPr sz="900" b="0">
                          <a:solidFill>
                            <a:srgbClr val="52CF31"/>
                          </a:solidFill>
                        </a:rPr>
                        <a:t>Rhythm</a:t>
                      </a:r>
                    </a:p>
                  </a:txBody>
                  <a:tcPr>
                    <a:solidFill>
                      <a:srgbClr val="DBE4DC"/>
                    </a:solidFill>
                  </a:tcPr>
                </a:tc>
                <a:tc>
                  <a:txBody>
                    <a:bodyPr/>
                    <a:lstStyle/>
                    <a:p>
                      <a:r>
                        <a:rPr sz="900" b="0">
                          <a:solidFill>
                            <a:srgbClr val="52CF31"/>
                          </a:solidFill>
                        </a:rPr>
                        <a:t>Resource</a:t>
                      </a:r>
                    </a:p>
                  </a:txBody>
                  <a:tcPr>
                    <a:solidFill>
                      <a:srgbClr val="DBE4DC"/>
                    </a:solidFill>
                  </a:tcPr>
                </a:tc>
                <a:tc>
                  <a:txBody>
                    <a:bodyPr/>
                    <a:lstStyle/>
                    <a:p>
                      <a:r>
                        <a:rPr sz="900" b="0">
                          <a:solidFill>
                            <a:srgbClr val="52CF31"/>
                          </a:solidFill>
                        </a:rPr>
                        <a:t>Packet Lineage</a:t>
                      </a:r>
                    </a:p>
                  </a:txBody>
                  <a:tcPr>
                    <a:solidFill>
                      <a:srgbClr val="DBE4DC"/>
                    </a:solidFill>
                  </a:tcPr>
                </a:tc>
                <a:tc>
                  <a:txBody>
                    <a:bodyPr/>
                    <a:lstStyle/>
                    <a:p>
                      <a:r>
                        <a:rPr sz="900" b="0">
                          <a:solidFill>
                            <a:srgbClr val="52CF31"/>
                          </a:solidFill>
                        </a:rPr>
                        <a:t>Domain</a:t>
                      </a:r>
                    </a:p>
                  </a:txBody>
                  <a:tcPr>
                    <a:solidFill>
                      <a:srgbClr val="DBE4DC"/>
                    </a:solidFill>
                  </a:tcPr>
                </a:tc>
                <a:tc>
                  <a:txBody>
                    <a:bodyPr/>
                    <a:lstStyle/>
                    <a:p>
                      <a:r>
                        <a:rPr sz="900" b="0">
                          <a:solidFill>
                            <a:srgbClr val="52CF31"/>
                          </a:solidFill>
                        </a:rPr>
                        <a:t>Link</a:t>
                      </a:r>
                    </a:p>
                  </a:txBody>
                  <a:tcPr>
                    <a:solidFill>
                      <a:srgbClr val="DBE4DC"/>
                    </a:solidFill>
                  </a:tcPr>
                </a:tc>
                <a:extLst>
                  <a:ext uri="{0D108BD9-81ED-4DB2-BD59-A6C34878D82A}">
                    <a16:rowId xmlns:a16="http://schemas.microsoft.com/office/drawing/2014/main" val="10004"/>
                  </a:ext>
                </a:extLst>
              </a:tr>
              <a:tr h="150189">
                <a:tc>
                  <a:txBody>
                    <a:bodyPr/>
                    <a:lstStyle/>
                    <a:p>
                      <a:r>
                        <a:rPr sz="900" b="0">
                          <a:solidFill>
                            <a:srgbClr val="52CF31"/>
                          </a:solidFill>
                        </a:rPr>
                        <a:t>Process Timeline</a:t>
                      </a:r>
                    </a:p>
                  </a:txBody>
                  <a:tcPr>
                    <a:solidFill>
                      <a:srgbClr val="C2D2C4"/>
                    </a:solidFill>
                  </a:tcPr>
                </a:tc>
                <a:tc>
                  <a:txBody>
                    <a:bodyPr/>
                    <a:lstStyle/>
                    <a:p>
                      <a:r>
                        <a:rPr sz="900" b="0">
                          <a:solidFill>
                            <a:srgbClr val="52CF31"/>
                          </a:solidFill>
                        </a:rPr>
                        <a:t>Indicator</a:t>
                      </a:r>
                    </a:p>
                  </a:txBody>
                  <a:tcPr>
                    <a:solidFill>
                      <a:srgbClr val="C2D2C4"/>
                    </a:solidFill>
                  </a:tcPr>
                </a:tc>
                <a:tc>
                  <a:txBody>
                    <a:bodyPr/>
                    <a:lstStyle/>
                    <a:p>
                      <a:r>
                        <a:rPr sz="900" b="0">
                          <a:solidFill>
                            <a:srgbClr val="52CF31"/>
                          </a:solidFill>
                        </a:rPr>
                        <a:t>Feature Token</a:t>
                      </a:r>
                    </a:p>
                  </a:txBody>
                  <a:tcPr>
                    <a:solidFill>
                      <a:srgbClr val="C2D2C4"/>
                    </a:solidFill>
                  </a:tcPr>
                </a:tc>
                <a:tc>
                  <a:txBody>
                    <a:bodyPr/>
                    <a:lstStyle/>
                    <a:p>
                      <a:r>
                        <a:rPr sz="900" b="0">
                          <a:solidFill>
                            <a:srgbClr val="52CF31"/>
                          </a:solidFill>
                        </a:rPr>
                        <a:t>Bridge</a:t>
                      </a:r>
                    </a:p>
                  </a:txBody>
                  <a:tcPr>
                    <a:solidFill>
                      <a:srgbClr val="C2D2C4"/>
                    </a:solidFill>
                  </a:tcPr>
                </a:tc>
                <a:tc>
                  <a:txBody>
                    <a:bodyPr/>
                    <a:lstStyle/>
                    <a:p>
                      <a:r>
                        <a:rPr sz="900" b="0">
                          <a:solidFill>
                            <a:srgbClr val="52CF31"/>
                          </a:solidFill>
                        </a:rPr>
                        <a:t>Mode</a:t>
                      </a:r>
                    </a:p>
                  </a:txBody>
                  <a:tcPr>
                    <a:solidFill>
                      <a:srgbClr val="C2D2C4"/>
                    </a:solidFill>
                  </a:tcPr>
                </a:tc>
                <a:extLst>
                  <a:ext uri="{0D108BD9-81ED-4DB2-BD59-A6C34878D82A}">
                    <a16:rowId xmlns:a16="http://schemas.microsoft.com/office/drawing/2014/main" val="10005"/>
                  </a:ext>
                </a:extLst>
              </a:tr>
              <a:tr h="150190">
                <a:tc>
                  <a:txBody>
                    <a:bodyPr/>
                    <a:lstStyle/>
                    <a:p>
                      <a:r>
                        <a:rPr sz="900" b="0">
                          <a:solidFill>
                            <a:srgbClr val="52CF31"/>
                          </a:solidFill>
                        </a:rPr>
                        <a:t>Version</a:t>
                      </a:r>
                    </a:p>
                  </a:txBody>
                  <a:tcPr>
                    <a:solidFill>
                      <a:srgbClr val="DBE4DC"/>
                    </a:solidFill>
                  </a:tcPr>
                </a:tc>
                <a:tc>
                  <a:txBody>
                    <a:bodyPr/>
                    <a:lstStyle/>
                    <a:p>
                      <a:r>
                        <a:rPr sz="900" b="0">
                          <a:solidFill>
                            <a:srgbClr val="52CF31"/>
                          </a:solidFill>
                        </a:rPr>
                        <a:t>Sequence</a:t>
                      </a:r>
                    </a:p>
                  </a:txBody>
                  <a:tcPr>
                    <a:solidFill>
                      <a:srgbClr val="DBE4DC"/>
                    </a:solidFill>
                  </a:tcPr>
                </a:tc>
                <a:tc>
                  <a:txBody>
                    <a:bodyPr/>
                    <a:lstStyle/>
                    <a:p>
                      <a:r>
                        <a:rPr sz="900" b="0">
                          <a:solidFill>
                            <a:srgbClr val="52CF31"/>
                          </a:solidFill>
                        </a:rPr>
                        <a:t>Brief Gradient</a:t>
                      </a:r>
                    </a:p>
                  </a:txBody>
                  <a:tcPr>
                    <a:solidFill>
                      <a:srgbClr val="DBE4DC"/>
                    </a:solidFill>
                  </a:tcPr>
                </a:tc>
                <a:tc>
                  <a:txBody>
                    <a:bodyPr/>
                    <a:lstStyle/>
                    <a:p>
                      <a:r>
                        <a:rPr sz="900" b="0">
                          <a:solidFill>
                            <a:srgbClr val="52CF31"/>
                          </a:solidFill>
                        </a:rPr>
                        <a:t>Span</a:t>
                      </a:r>
                    </a:p>
                  </a:txBody>
                  <a:tcPr>
                    <a:solidFill>
                      <a:srgbClr val="DBE4DC"/>
                    </a:solidFill>
                  </a:tcPr>
                </a:tc>
                <a:tc>
                  <a:txBody>
                    <a:bodyPr/>
                    <a:lstStyle/>
                    <a:p>
                      <a:r>
                        <a:rPr sz="900" b="0">
                          <a:solidFill>
                            <a:srgbClr val="52CF31"/>
                          </a:solidFill>
                        </a:rPr>
                        <a:t>Access</a:t>
                      </a:r>
                    </a:p>
                  </a:txBody>
                  <a:tcPr>
                    <a:solidFill>
                      <a:srgbClr val="DBE4DC"/>
                    </a:solidFill>
                  </a:tcPr>
                </a:tc>
                <a:extLst>
                  <a:ext uri="{0D108BD9-81ED-4DB2-BD59-A6C34878D82A}">
                    <a16:rowId xmlns:a16="http://schemas.microsoft.com/office/drawing/2014/main" val="10006"/>
                  </a:ext>
                </a:extLst>
              </a:tr>
            </a:tbl>
          </a:graphicData>
        </a:graphic>
      </p:graphicFrame>
      <p:sp>
        <p:nvSpPr>
          <p:cNvPr id="29" name="Donut 28"/>
          <p:cNvSpPr/>
          <p:nvPr/>
        </p:nvSpPr>
        <p:spPr>
          <a:xfrm>
            <a:off x="5892643" y="1136383"/>
            <a:ext cx="2468918" cy="538112"/>
          </a:xfrm>
          <a:prstGeom prst="donut">
            <a:avLst/>
          </a:prstGeom>
          <a:solidFill>
            <a:srgbClr val="921DDA"/>
          </a:solidFill>
          <a:ln w="29305">
            <a:solidFill>
              <a:srgbClr val="2FD45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Graphic 30">
            <a:extLst>
              <a:ext uri="{FF2B5EF4-FFF2-40B4-BE49-F238E27FC236}">
                <a16:creationId xmlns:a16="http://schemas.microsoft.com/office/drawing/2014/main" id="{1D1B1BDD-A4D6-4889-940F-CA9B1E7F7C33}"/>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82859" y="4171736"/>
            <a:ext cx="1363556" cy="1361769"/>
          </a:xfrm>
          <a:prstGeom prst="rect">
            <a:avLst/>
          </a:prstGeom>
        </p:spPr>
      </p:pic>
      <p:pic>
        <p:nvPicPr>
          <p:cNvPr id="33" name="Graphic 32">
            <a:extLst>
              <a:ext uri="{FF2B5EF4-FFF2-40B4-BE49-F238E27FC236}">
                <a16:creationId xmlns:a16="http://schemas.microsoft.com/office/drawing/2014/main" id="{C0631F46-8A87-BA0D-A9E1-E7DCFDEBDFF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78324" y="222016"/>
            <a:ext cx="2704120" cy="76183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Point Star 1"/>
          <p:cNvSpPr/>
          <p:nvPr/>
        </p:nvSpPr>
        <p:spPr>
          <a:xfrm>
            <a:off x="10389007" y="2291144"/>
            <a:ext cx="509236" cy="1426564"/>
          </a:xfrm>
          <a:prstGeom prst="star5">
            <a:avLst/>
          </a:prstGeom>
          <a:solidFill>
            <a:srgbClr val="E669D9"/>
          </a:solidFill>
          <a:ln w="29568">
            <a:solidFill>
              <a:srgbClr val="656ED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_example_image.jpg"/>
          <p:cNvPicPr>
            <a:picLocks noChangeAspect="1"/>
          </p:cNvPicPr>
          <p:nvPr/>
        </p:nvPicPr>
        <p:blipFill>
          <a:blip r:embed="rId2"/>
          <a:srcRect l="21352" t="20694" r="517" b="14997"/>
          <a:stretch>
            <a:fillRect/>
          </a:stretch>
        </p:blipFill>
        <p:spPr>
          <a:xfrm>
            <a:off x="4710079" y="139055"/>
            <a:ext cx="2874383" cy="973878"/>
          </a:xfrm>
          <a:prstGeom prst="rect">
            <a:avLst/>
          </a:prstGeom>
        </p:spPr>
      </p:pic>
      <p:sp>
        <p:nvSpPr>
          <p:cNvPr id="4" name="Rounded Rectangle 3"/>
          <p:cNvSpPr/>
          <p:nvPr/>
        </p:nvSpPr>
        <p:spPr>
          <a:xfrm>
            <a:off x="4710079" y="139055"/>
            <a:ext cx="2874383" cy="973878"/>
          </a:xfrm>
          <a:prstGeom prst="roundRect">
            <a:avLst/>
          </a:prstGeom>
          <a:noFill/>
          <a:ln w="15240">
            <a:solidFill>
              <a:srgbClr val="40DE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78963" y="2206721"/>
            <a:ext cx="560960" cy="1396448"/>
          </a:xfrm>
          <a:prstGeom prst="rect">
            <a:avLst/>
          </a:prstGeom>
          <a:noFill/>
        </p:spPr>
        <p:txBody>
          <a:bodyPr wrap="none" lIns="25058" tIns="25058" rIns="25058" bIns="25058">
            <a:spAutoFit/>
          </a:bodyPr>
          <a:lstStyle/>
          <a:p>
            <a:r>
              <a:rPr sz="1000" b="1" i="0" u="none">
                <a:solidFill>
                  <a:srgbClr val="86B56A"/>
                </a:solidFill>
                <a:latin typeface="Aptos"/>
              </a:rPr>
              <a:t>Queueing Factor Process Relay Position Center Pattern Benchmark Workflow Snapshot Map Measure Stream Story Precision Drive Spectrum Gradient Pattern Radius Pulse Mode Version Query Access Device Sequence Profile Panel Lineage Benchmark Cortex Transit System Command Table</a:t>
            </a:r>
          </a:p>
        </p:txBody>
      </p:sp>
      <p:sp>
        <p:nvSpPr>
          <p:cNvPr id="6" name="TextBox 5"/>
          <p:cNvSpPr txBox="1"/>
          <p:nvPr/>
        </p:nvSpPr>
        <p:spPr>
          <a:xfrm>
            <a:off x="7587436" y="4749090"/>
            <a:ext cx="1844721" cy="313089"/>
          </a:xfrm>
          <a:prstGeom prst="rect">
            <a:avLst/>
          </a:prstGeom>
          <a:solidFill>
            <a:srgbClr val="DA633A"/>
          </a:solidFill>
        </p:spPr>
        <p:txBody>
          <a:bodyPr wrap="none" lIns="64899" tIns="64899" rIns="64899" bIns="64899">
            <a:spAutoFit/>
          </a:bodyPr>
          <a:lstStyle/>
          <a:p>
            <a:r>
              <a:rPr sz="3500" b="1" i="0" u="none">
                <a:solidFill>
                  <a:srgbClr val="899D69"/>
                </a:solidFill>
                <a:latin typeface="Trebuchet MS"/>
              </a:rPr>
              <a:t>Drift Scale Matrix</a:t>
            </a:r>
          </a:p>
        </p:txBody>
      </p:sp>
      <p:sp>
        <p:nvSpPr>
          <p:cNvPr id="7" name="Freeform 6"/>
          <p:cNvSpPr/>
          <p:nvPr/>
        </p:nvSpPr>
        <p:spPr>
          <a:xfrm>
            <a:off x="672942" y="5844694"/>
            <a:ext cx="2580208" cy="853945"/>
          </a:xfrm>
          <a:custGeom>
            <a:avLst/>
            <a:gdLst/>
            <a:ahLst/>
            <a:cxnLst/>
            <a:rect l="l" t="t" r="r" b="b"/>
            <a:pathLst>
              <a:path w="2580208" h="853945">
                <a:moveTo>
                  <a:pt x="277441" y="145353"/>
                </a:moveTo>
                <a:lnTo>
                  <a:pt x="915557" y="0"/>
                </a:lnTo>
                <a:lnTo>
                  <a:pt x="1886603" y="72676"/>
                </a:lnTo>
                <a:lnTo>
                  <a:pt x="2580208" y="345212"/>
                </a:lnTo>
                <a:lnTo>
                  <a:pt x="2219533" y="708593"/>
                </a:lnTo>
                <a:lnTo>
                  <a:pt x="1192999" y="853945"/>
                </a:lnTo>
                <a:lnTo>
                  <a:pt x="166465" y="617748"/>
                </a:lnTo>
                <a:lnTo>
                  <a:pt x="0" y="308874"/>
                </a:lnTo>
                <a:close/>
              </a:path>
            </a:pathLst>
          </a:custGeom>
          <a:solidFill>
            <a:srgbClr val="2E45AB"/>
          </a:solidFill>
          <a:ln w="27974">
            <a:solidFill>
              <a:srgbClr val="A620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109817" y="4879898"/>
            <a:ext cx="659254" cy="1482299"/>
          </a:xfrm>
          <a:prstGeom prst="ellipse">
            <a:avLst/>
          </a:prstGeom>
          <a:solidFill>
            <a:srgbClr val="88279C"/>
          </a:solidFill>
          <a:ln w="22001">
            <a:solidFill>
              <a:srgbClr val="6F7537"/>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47643" y="4288607"/>
            <a:ext cx="533133" cy="1884762"/>
          </a:xfrm>
          <a:prstGeom prst="rect">
            <a:avLst/>
          </a:prstGeom>
          <a:noFill/>
        </p:spPr>
        <p:txBody>
          <a:bodyPr wrap="none" lIns="37572" tIns="37572" rIns="37572" bIns="37572">
            <a:spAutoFit/>
          </a:bodyPr>
          <a:lstStyle/>
          <a:p>
            <a:r>
              <a:rPr sz="4600" b="1" i="0" u="none">
                <a:solidFill>
                  <a:srgbClr val="8B8179"/>
                </a:solidFill>
                <a:latin typeface="Calibri"/>
              </a:rPr>
              <a:t>Queue Matrix</a:t>
            </a:r>
          </a:p>
        </p:txBody>
      </p:sp>
      <p:graphicFrame>
        <p:nvGraphicFramePr>
          <p:cNvPr id="10" name="Table 9"/>
          <p:cNvGraphicFramePr>
            <a:graphicFrameLocks noGrp="1"/>
          </p:cNvGraphicFramePr>
          <p:nvPr/>
        </p:nvGraphicFramePr>
        <p:xfrm>
          <a:off x="7732077" y="3649044"/>
          <a:ext cx="3770864" cy="1111797"/>
        </p:xfrm>
        <a:graphic>
          <a:graphicData uri="http://schemas.openxmlformats.org/drawingml/2006/table">
            <a:tbl>
              <a:tblPr firstRow="1" bandRow="1">
                <a:tableStyleId>{5C22544A-7EE6-4342-B048-85BDC9FD1C3A}</a:tableStyleId>
              </a:tblPr>
              <a:tblGrid>
                <a:gridCol w="754172">
                  <a:extLst>
                    <a:ext uri="{9D8B030D-6E8A-4147-A177-3AD203B41FA5}">
                      <a16:colId xmlns:a16="http://schemas.microsoft.com/office/drawing/2014/main" val="20000"/>
                    </a:ext>
                  </a:extLst>
                </a:gridCol>
                <a:gridCol w="754172">
                  <a:extLst>
                    <a:ext uri="{9D8B030D-6E8A-4147-A177-3AD203B41FA5}">
                      <a16:colId xmlns:a16="http://schemas.microsoft.com/office/drawing/2014/main" val="20001"/>
                    </a:ext>
                  </a:extLst>
                </a:gridCol>
                <a:gridCol w="754172">
                  <a:extLst>
                    <a:ext uri="{9D8B030D-6E8A-4147-A177-3AD203B41FA5}">
                      <a16:colId xmlns:a16="http://schemas.microsoft.com/office/drawing/2014/main" val="20002"/>
                    </a:ext>
                  </a:extLst>
                </a:gridCol>
                <a:gridCol w="754172">
                  <a:extLst>
                    <a:ext uri="{9D8B030D-6E8A-4147-A177-3AD203B41FA5}">
                      <a16:colId xmlns:a16="http://schemas.microsoft.com/office/drawing/2014/main" val="20003"/>
                    </a:ext>
                  </a:extLst>
                </a:gridCol>
                <a:gridCol w="754176">
                  <a:extLst>
                    <a:ext uri="{9D8B030D-6E8A-4147-A177-3AD203B41FA5}">
                      <a16:colId xmlns:a16="http://schemas.microsoft.com/office/drawing/2014/main" val="20004"/>
                    </a:ext>
                  </a:extLst>
                </a:gridCol>
              </a:tblGrid>
              <a:tr h="277949">
                <a:tc>
                  <a:txBody>
                    <a:bodyPr/>
                    <a:lstStyle/>
                    <a:p>
                      <a:r>
                        <a:rPr sz="700" b="1">
                          <a:solidFill>
                            <a:srgbClr val="1A2C7D"/>
                          </a:solidFill>
                        </a:rPr>
                        <a:t>Reserve Moment</a:t>
                      </a:r>
                    </a:p>
                  </a:txBody>
                  <a:tcPr>
                    <a:solidFill>
                      <a:srgbClr val="9343A5"/>
                    </a:solidFill>
                  </a:tcPr>
                </a:tc>
                <a:tc>
                  <a:txBody>
                    <a:bodyPr/>
                    <a:lstStyle/>
                    <a:p>
                      <a:r>
                        <a:rPr sz="700" b="1">
                          <a:solidFill>
                            <a:srgbClr val="1A2C7D"/>
                          </a:solidFill>
                        </a:rPr>
                        <a:t>Stream Thread</a:t>
                      </a:r>
                    </a:p>
                  </a:txBody>
                  <a:tcPr>
                    <a:solidFill>
                      <a:srgbClr val="9343A5"/>
                    </a:solidFill>
                  </a:tcPr>
                </a:tc>
                <a:tc>
                  <a:txBody>
                    <a:bodyPr/>
                    <a:lstStyle/>
                    <a:p>
                      <a:r>
                        <a:rPr sz="700" b="1">
                          <a:solidFill>
                            <a:srgbClr val="1A2C7D"/>
                          </a:solidFill>
                        </a:rPr>
                        <a:t>Story</a:t>
                      </a:r>
                    </a:p>
                  </a:txBody>
                  <a:tcPr>
                    <a:solidFill>
                      <a:srgbClr val="9343A5"/>
                    </a:solidFill>
                  </a:tcPr>
                </a:tc>
                <a:tc>
                  <a:txBody>
                    <a:bodyPr/>
                    <a:lstStyle/>
                    <a:p>
                      <a:r>
                        <a:rPr sz="700" b="1">
                          <a:solidFill>
                            <a:srgbClr val="1A2C7D"/>
                          </a:solidFill>
                        </a:rPr>
                        <a:t>Core</a:t>
                      </a:r>
                    </a:p>
                  </a:txBody>
                  <a:tcPr>
                    <a:solidFill>
                      <a:srgbClr val="9343A5"/>
                    </a:solidFill>
                  </a:tcPr>
                </a:tc>
                <a:tc>
                  <a:txBody>
                    <a:bodyPr/>
                    <a:lstStyle/>
                    <a:p>
                      <a:r>
                        <a:rPr sz="700" b="1">
                          <a:solidFill>
                            <a:srgbClr val="1A2C7D"/>
                          </a:solidFill>
                        </a:rPr>
                        <a:t>Circuit Workflow</a:t>
                      </a:r>
                    </a:p>
                  </a:txBody>
                  <a:tcPr>
                    <a:solidFill>
                      <a:srgbClr val="9343A5"/>
                    </a:solidFill>
                  </a:tcPr>
                </a:tc>
                <a:extLst>
                  <a:ext uri="{0D108BD9-81ED-4DB2-BD59-A6C34878D82A}">
                    <a16:rowId xmlns:a16="http://schemas.microsoft.com/office/drawing/2014/main" val="10000"/>
                  </a:ext>
                </a:extLst>
              </a:tr>
              <a:tr h="277949">
                <a:tc>
                  <a:txBody>
                    <a:bodyPr/>
                    <a:lstStyle/>
                    <a:p>
                      <a:r>
                        <a:rPr sz="700" b="0">
                          <a:solidFill>
                            <a:srgbClr val="1A2C7D"/>
                          </a:solidFill>
                        </a:rPr>
                        <a:t>Priority</a:t>
                      </a:r>
                    </a:p>
                  </a:txBody>
                  <a:tcPr>
                    <a:solidFill>
                      <a:srgbClr val="BAD8B9"/>
                    </a:solidFill>
                  </a:tcPr>
                </a:tc>
                <a:tc>
                  <a:txBody>
                    <a:bodyPr/>
                    <a:lstStyle/>
                    <a:p>
                      <a:r>
                        <a:rPr sz="700" b="0">
                          <a:solidFill>
                            <a:srgbClr val="1A2C7D"/>
                          </a:solidFill>
                        </a:rPr>
                        <a:t>Drift</a:t>
                      </a:r>
                    </a:p>
                  </a:txBody>
                  <a:tcPr>
                    <a:solidFill>
                      <a:srgbClr val="BAD8B9"/>
                    </a:solidFill>
                  </a:tcPr>
                </a:tc>
                <a:tc>
                  <a:txBody>
                    <a:bodyPr/>
                    <a:lstStyle/>
                    <a:p>
                      <a:r>
                        <a:rPr sz="700" b="0">
                          <a:solidFill>
                            <a:srgbClr val="1A2C7D"/>
                          </a:solidFill>
                        </a:rPr>
                        <a:t>Sequence Variant</a:t>
                      </a:r>
                    </a:p>
                  </a:txBody>
                  <a:tcPr>
                    <a:solidFill>
                      <a:srgbClr val="BAD8B9"/>
                    </a:solidFill>
                  </a:tcPr>
                </a:tc>
                <a:tc>
                  <a:txBody>
                    <a:bodyPr/>
                    <a:lstStyle/>
                    <a:p>
                      <a:r>
                        <a:rPr sz="700" b="0">
                          <a:solidFill>
                            <a:srgbClr val="1A2C7D"/>
                          </a:solidFill>
                        </a:rPr>
                        <a:t>Catalog</a:t>
                      </a:r>
                    </a:p>
                  </a:txBody>
                  <a:tcPr>
                    <a:solidFill>
                      <a:srgbClr val="BAD8B9"/>
                    </a:solidFill>
                  </a:tcPr>
                </a:tc>
                <a:tc>
                  <a:txBody>
                    <a:bodyPr/>
                    <a:lstStyle/>
                    <a:p>
                      <a:r>
                        <a:rPr sz="700" b="0">
                          <a:solidFill>
                            <a:srgbClr val="1A2C7D"/>
                          </a:solidFill>
                        </a:rPr>
                        <a:t>Surface</a:t>
                      </a:r>
                    </a:p>
                  </a:txBody>
                  <a:tcPr>
                    <a:solidFill>
                      <a:srgbClr val="BAD8B9"/>
                    </a:solidFill>
                  </a:tcPr>
                </a:tc>
                <a:extLst>
                  <a:ext uri="{0D108BD9-81ED-4DB2-BD59-A6C34878D82A}">
                    <a16:rowId xmlns:a16="http://schemas.microsoft.com/office/drawing/2014/main" val="10001"/>
                  </a:ext>
                </a:extLst>
              </a:tr>
              <a:tr h="277949">
                <a:tc>
                  <a:txBody>
                    <a:bodyPr/>
                    <a:lstStyle/>
                    <a:p>
                      <a:r>
                        <a:rPr sz="700" b="0">
                          <a:solidFill>
                            <a:srgbClr val="1A2C7D"/>
                          </a:solidFill>
                        </a:rPr>
                        <a:t>Segment</a:t>
                      </a:r>
                    </a:p>
                  </a:txBody>
                  <a:tcPr>
                    <a:solidFill>
                      <a:srgbClr val="D8E9D8"/>
                    </a:solidFill>
                  </a:tcPr>
                </a:tc>
                <a:tc>
                  <a:txBody>
                    <a:bodyPr/>
                    <a:lstStyle/>
                    <a:p>
                      <a:r>
                        <a:rPr sz="700" b="0">
                          <a:solidFill>
                            <a:srgbClr val="1A2C7D"/>
                          </a:solidFill>
                        </a:rPr>
                        <a:t>Memory</a:t>
                      </a:r>
                    </a:p>
                  </a:txBody>
                  <a:tcPr>
                    <a:solidFill>
                      <a:srgbClr val="D8E9D8"/>
                    </a:solidFill>
                  </a:tcPr>
                </a:tc>
                <a:tc>
                  <a:txBody>
                    <a:bodyPr/>
                    <a:lstStyle/>
                    <a:p>
                      <a:r>
                        <a:rPr sz="700" b="0">
                          <a:solidFill>
                            <a:srgbClr val="1A2C7D"/>
                          </a:solidFill>
                        </a:rPr>
                        <a:t>Program Option</a:t>
                      </a:r>
                    </a:p>
                  </a:txBody>
                  <a:tcPr>
                    <a:solidFill>
                      <a:srgbClr val="D8E9D8"/>
                    </a:solidFill>
                  </a:tcPr>
                </a:tc>
                <a:tc>
                  <a:txBody>
                    <a:bodyPr/>
                    <a:lstStyle/>
                    <a:p>
                      <a:r>
                        <a:rPr sz="700" b="0">
                          <a:solidFill>
                            <a:srgbClr val="1A2C7D"/>
                          </a:solidFill>
                        </a:rPr>
                        <a:t>Snapshot</a:t>
                      </a:r>
                    </a:p>
                  </a:txBody>
                  <a:tcPr>
                    <a:solidFill>
                      <a:srgbClr val="D8E9D8"/>
                    </a:solidFill>
                  </a:tcPr>
                </a:tc>
                <a:tc>
                  <a:txBody>
                    <a:bodyPr/>
                    <a:lstStyle/>
                    <a:p>
                      <a:r>
                        <a:rPr sz="700" b="0">
                          <a:solidFill>
                            <a:srgbClr val="1A2C7D"/>
                          </a:solidFill>
                        </a:rPr>
                        <a:t>Trace</a:t>
                      </a:r>
                    </a:p>
                  </a:txBody>
                  <a:tcPr>
                    <a:solidFill>
                      <a:srgbClr val="D8E9D8"/>
                    </a:solidFill>
                  </a:tcPr>
                </a:tc>
                <a:extLst>
                  <a:ext uri="{0D108BD9-81ED-4DB2-BD59-A6C34878D82A}">
                    <a16:rowId xmlns:a16="http://schemas.microsoft.com/office/drawing/2014/main" val="10002"/>
                  </a:ext>
                </a:extLst>
              </a:tr>
              <a:tr h="277950">
                <a:tc>
                  <a:txBody>
                    <a:bodyPr/>
                    <a:lstStyle/>
                    <a:p>
                      <a:r>
                        <a:rPr sz="700" b="0">
                          <a:solidFill>
                            <a:srgbClr val="1A2C7D"/>
                          </a:solidFill>
                        </a:rPr>
                        <a:t>Surface Library</a:t>
                      </a:r>
                    </a:p>
                  </a:txBody>
                  <a:tcPr>
                    <a:solidFill>
                      <a:srgbClr val="BAD8B9"/>
                    </a:solidFill>
                  </a:tcPr>
                </a:tc>
                <a:tc>
                  <a:txBody>
                    <a:bodyPr/>
                    <a:lstStyle/>
                    <a:p>
                      <a:r>
                        <a:rPr sz="700" b="0">
                          <a:solidFill>
                            <a:srgbClr val="1A2C7D"/>
                          </a:solidFill>
                        </a:rPr>
                        <a:t>Iteration Gradient</a:t>
                      </a:r>
                    </a:p>
                  </a:txBody>
                  <a:tcPr>
                    <a:solidFill>
                      <a:srgbClr val="BAD8B9"/>
                    </a:solidFill>
                  </a:tcPr>
                </a:tc>
                <a:tc>
                  <a:txBody>
                    <a:bodyPr/>
                    <a:lstStyle/>
                    <a:p>
                      <a:r>
                        <a:rPr sz="700" b="0">
                          <a:solidFill>
                            <a:srgbClr val="1A2C7D"/>
                          </a:solidFill>
                        </a:rPr>
                        <a:t>Brief</a:t>
                      </a:r>
                    </a:p>
                  </a:txBody>
                  <a:tcPr>
                    <a:solidFill>
                      <a:srgbClr val="BAD8B9"/>
                    </a:solidFill>
                  </a:tcPr>
                </a:tc>
                <a:tc>
                  <a:txBody>
                    <a:bodyPr/>
                    <a:lstStyle/>
                    <a:p>
                      <a:r>
                        <a:rPr sz="700" b="0">
                          <a:solidFill>
                            <a:srgbClr val="1A2C7D"/>
                          </a:solidFill>
                        </a:rPr>
                        <a:t>Grid</a:t>
                      </a:r>
                    </a:p>
                  </a:txBody>
                  <a:tcPr>
                    <a:solidFill>
                      <a:srgbClr val="BAD8B9"/>
                    </a:solidFill>
                  </a:tcPr>
                </a:tc>
                <a:tc>
                  <a:txBody>
                    <a:bodyPr/>
                    <a:lstStyle/>
                    <a:p>
                      <a:r>
                        <a:rPr sz="700" b="0">
                          <a:solidFill>
                            <a:srgbClr val="1A2C7D"/>
                          </a:solidFill>
                        </a:rPr>
                        <a:t>Source Resource</a:t>
                      </a:r>
                    </a:p>
                  </a:txBody>
                  <a:tcPr>
                    <a:solidFill>
                      <a:srgbClr val="BAD8B9"/>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9397044" y="2093173"/>
            <a:ext cx="739948" cy="1350730"/>
          </a:xfrm>
          <a:prstGeom prst="rect">
            <a:avLst/>
          </a:prstGeom>
          <a:noFill/>
        </p:spPr>
        <p:txBody>
          <a:bodyPr wrap="none" lIns="74615" tIns="74615" rIns="74615" bIns="74615">
            <a:spAutoFit/>
          </a:bodyPr>
          <a:lstStyle/>
          <a:p>
            <a:r>
              <a:rPr sz="1400" b="0" i="0" u="none">
                <a:solidFill>
                  <a:srgbClr val="9797BF"/>
                </a:solidFill>
                <a:latin typeface="Calibri"/>
              </a:rPr>
              <a:t>Mesh Diagram Gateway Balance Bundle Report Review Gradient Iteration Strategy Delta Narrative Network Profile Asset Query Group Program Payload Flow Domain Interval Detail Format Target Trend Build Spectrum Pulse System Cortex Field Portal Action Envelope Sync Goal Story Deployment Graph Foundation Tile Table</a:t>
            </a:r>
          </a:p>
        </p:txBody>
      </p:sp>
      <p:sp>
        <p:nvSpPr>
          <p:cNvPr id="12" name="Left Right Ribbon 11"/>
          <p:cNvSpPr/>
          <p:nvPr/>
        </p:nvSpPr>
        <p:spPr>
          <a:xfrm>
            <a:off x="8859010" y="807324"/>
            <a:ext cx="1171060" cy="295568"/>
          </a:xfrm>
          <a:prstGeom prst="leftRightRibbon">
            <a:avLst/>
          </a:prstGeom>
          <a:solidFill>
            <a:srgbClr val="364C66"/>
          </a:solidFill>
          <a:ln w="18763">
            <a:solidFill>
              <a:srgbClr val="BC6765"/>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2455" y="2601520"/>
            <a:ext cx="3354172" cy="1310388"/>
          </a:xfrm>
          <a:prstGeom prst="rect">
            <a:avLst/>
          </a:prstGeom>
          <a:solidFill>
            <a:srgbClr val="B27872"/>
          </a:solidFill>
        </p:spPr>
        <p:txBody>
          <a:bodyPr wrap="none" lIns="60669" tIns="60669" rIns="60669" bIns="60669">
            <a:spAutoFit/>
          </a:bodyPr>
          <a:lstStyle/>
          <a:p>
            <a:r>
              <a:rPr sz="1100" b="0" i="0" u="none">
                <a:solidFill>
                  <a:srgbClr val="C5BCA3"/>
                </a:solidFill>
                <a:latin typeface="Verdana"/>
              </a:rPr>
              <a:t>Detail</a:t>
            </a:r>
          </a:p>
        </p:txBody>
      </p:sp>
      <p:pic>
        <p:nvPicPr>
          <p:cNvPr id="14" name="Picture 13" descr="_example_image.jpg"/>
          <p:cNvPicPr>
            <a:picLocks noChangeAspect="1"/>
          </p:cNvPicPr>
          <p:nvPr/>
        </p:nvPicPr>
        <p:blipFill>
          <a:blip r:embed="rId2"/>
          <a:srcRect/>
          <a:stretch>
            <a:fillRect/>
          </a:stretch>
        </p:blipFill>
        <p:spPr>
          <a:xfrm>
            <a:off x="868079" y="3939262"/>
            <a:ext cx="3386996" cy="776046"/>
          </a:xfrm>
          <a:prstGeom prst="rect">
            <a:avLst/>
          </a:prstGeom>
        </p:spPr>
      </p:pic>
      <p:graphicFrame>
        <p:nvGraphicFramePr>
          <p:cNvPr id="15" name="Table 14"/>
          <p:cNvGraphicFramePr>
            <a:graphicFrameLocks noGrp="1"/>
          </p:cNvGraphicFramePr>
          <p:nvPr/>
        </p:nvGraphicFramePr>
        <p:xfrm>
          <a:off x="4359499" y="1624760"/>
          <a:ext cx="4196926" cy="968295"/>
        </p:xfrm>
        <a:graphic>
          <a:graphicData uri="http://schemas.openxmlformats.org/drawingml/2006/table">
            <a:tbl>
              <a:tblPr firstRow="1" bandRow="1">
                <a:tableStyleId>{5C22544A-7EE6-4342-B048-85BDC9FD1C3A}</a:tableStyleId>
              </a:tblPr>
              <a:tblGrid>
                <a:gridCol w="2098463">
                  <a:extLst>
                    <a:ext uri="{9D8B030D-6E8A-4147-A177-3AD203B41FA5}">
                      <a16:colId xmlns:a16="http://schemas.microsoft.com/office/drawing/2014/main" val="20000"/>
                    </a:ext>
                  </a:extLst>
                </a:gridCol>
                <a:gridCol w="2098463">
                  <a:extLst>
                    <a:ext uri="{9D8B030D-6E8A-4147-A177-3AD203B41FA5}">
                      <a16:colId xmlns:a16="http://schemas.microsoft.com/office/drawing/2014/main" val="20001"/>
                    </a:ext>
                  </a:extLst>
                </a:gridCol>
              </a:tblGrid>
              <a:tr h="484147">
                <a:tc>
                  <a:txBody>
                    <a:bodyPr/>
                    <a:lstStyle/>
                    <a:p>
                      <a:r>
                        <a:rPr sz="900" b="1">
                          <a:solidFill>
                            <a:srgbClr val="CA1D8B"/>
                          </a:solidFill>
                        </a:rPr>
                        <a:t>Sample Center</a:t>
                      </a:r>
                    </a:p>
                  </a:txBody>
                  <a:tcPr>
                    <a:solidFill>
                      <a:srgbClr val="4D8480"/>
                    </a:solidFill>
                  </a:tcPr>
                </a:tc>
                <a:tc>
                  <a:txBody>
                    <a:bodyPr/>
                    <a:lstStyle/>
                    <a:p>
                      <a:r>
                        <a:rPr sz="900" b="1">
                          <a:solidFill>
                            <a:srgbClr val="CA1D8B"/>
                          </a:solidFill>
                        </a:rPr>
                        <a:t>Zone</a:t>
                      </a:r>
                    </a:p>
                  </a:txBody>
                  <a:tcPr>
                    <a:solidFill>
                      <a:srgbClr val="4D8480"/>
                    </a:solidFill>
                  </a:tcPr>
                </a:tc>
                <a:extLst>
                  <a:ext uri="{0D108BD9-81ED-4DB2-BD59-A6C34878D82A}">
                    <a16:rowId xmlns:a16="http://schemas.microsoft.com/office/drawing/2014/main" val="10000"/>
                  </a:ext>
                </a:extLst>
              </a:tr>
              <a:tr h="484148">
                <a:tc>
                  <a:txBody>
                    <a:bodyPr/>
                    <a:lstStyle/>
                    <a:p>
                      <a:r>
                        <a:rPr sz="900" b="0">
                          <a:solidFill>
                            <a:srgbClr val="CA1D8B"/>
                          </a:solidFill>
                        </a:rPr>
                        <a:t>Service</a:t>
                      </a:r>
                    </a:p>
                  </a:txBody>
                  <a:tcPr>
                    <a:solidFill>
                      <a:srgbClr val="DFDCB9"/>
                    </a:solidFill>
                  </a:tcPr>
                </a:tc>
                <a:tc>
                  <a:txBody>
                    <a:bodyPr/>
                    <a:lstStyle/>
                    <a:p>
                      <a:r>
                        <a:rPr sz="900" b="0">
                          <a:solidFill>
                            <a:srgbClr val="CA1D8B"/>
                          </a:solidFill>
                        </a:rPr>
                        <a:t>Mesh</a:t>
                      </a:r>
                    </a:p>
                  </a:txBody>
                  <a:tcPr>
                    <a:solidFill>
                      <a:srgbClr val="DFDCB9"/>
                    </a:solidFill>
                  </a:tcPr>
                </a:tc>
                <a:extLst>
                  <a:ext uri="{0D108BD9-81ED-4DB2-BD59-A6C34878D82A}">
                    <a16:rowId xmlns:a16="http://schemas.microsoft.com/office/drawing/2014/main" val="10001"/>
                  </a:ext>
                </a:extLst>
              </a:tr>
            </a:tbl>
          </a:graphicData>
        </a:graphic>
      </p:graphicFrame>
      <p:sp>
        <p:nvSpPr>
          <p:cNvPr id="16" name="Funnel 15"/>
          <p:cNvSpPr/>
          <p:nvPr/>
        </p:nvSpPr>
        <p:spPr>
          <a:xfrm>
            <a:off x="1618298" y="4858798"/>
            <a:ext cx="1859662" cy="362867"/>
          </a:xfrm>
          <a:prstGeom prst="funnel">
            <a:avLst/>
          </a:prstGeom>
          <a:solidFill>
            <a:srgbClr val="6F4958"/>
          </a:solidFill>
          <a:ln w="7484">
            <a:solidFill>
              <a:srgbClr val="D0967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7425883" y="156850"/>
          <a:ext cx="2773171" cy="2161299"/>
        </p:xfrm>
        <a:graphic>
          <a:graphicData uri="http://schemas.openxmlformats.org/drawingml/2006/chart">
            <c:chart xmlns:c="http://schemas.openxmlformats.org/drawingml/2006/chart" xmlns:r="http://schemas.openxmlformats.org/officeDocument/2006/relationships" r:id="rId3"/>
          </a:graphicData>
        </a:graphic>
      </p:graphicFrame>
      <p:sp>
        <p:nvSpPr>
          <p:cNvPr id="18" name="4-Point Star 17"/>
          <p:cNvSpPr/>
          <p:nvPr/>
        </p:nvSpPr>
        <p:spPr>
          <a:xfrm>
            <a:off x="10085660" y="959982"/>
            <a:ext cx="480330" cy="753379"/>
          </a:xfrm>
          <a:prstGeom prst="star4">
            <a:avLst/>
          </a:prstGeom>
          <a:noFill/>
          <a:ln w="24623">
            <a:solidFill>
              <a:srgbClr val="E56FA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7709073" y="2685954"/>
            <a:ext cx="833574" cy="771865"/>
          </a:xfrm>
          <a:custGeom>
            <a:avLst/>
            <a:gdLst/>
            <a:ahLst/>
            <a:cxnLst/>
            <a:rect l="l" t="t" r="r" b="b"/>
            <a:pathLst>
              <a:path w="833574" h="771865">
                <a:moveTo>
                  <a:pt x="89632" y="131381"/>
                </a:moveTo>
                <a:lnTo>
                  <a:pt x="295784" y="0"/>
                </a:lnTo>
                <a:lnTo>
                  <a:pt x="609495" y="65690"/>
                </a:lnTo>
                <a:lnTo>
                  <a:pt x="833574" y="312031"/>
                </a:lnTo>
                <a:lnTo>
                  <a:pt x="717053" y="640484"/>
                </a:lnTo>
                <a:lnTo>
                  <a:pt x="385416" y="771865"/>
                </a:lnTo>
                <a:lnTo>
                  <a:pt x="53779" y="558371"/>
                </a:lnTo>
                <a:lnTo>
                  <a:pt x="0" y="279185"/>
                </a:lnTo>
                <a:close/>
              </a:path>
            </a:pathLst>
          </a:custGeom>
          <a:solidFill>
            <a:srgbClr val="72B765"/>
          </a:solidFill>
          <a:ln w="33536">
            <a:solidFill>
              <a:srgbClr val="7DCF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2324943" y="5201876"/>
            <a:ext cx="1466514" cy="856684"/>
          </a:xfrm>
          <a:prstGeom prst="bentConnector3">
            <a:avLst/>
          </a:prstGeom>
          <a:ln w="50060">
            <a:solidFill>
              <a:srgbClr val="35DBDE"/>
            </a:solidFill>
            <a:prstDash val="dashDot"/>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594935" y="5633395"/>
            <a:ext cx="1004042" cy="781065"/>
          </a:xfrm>
          <a:prstGeom prst="bentConnector3">
            <a:avLst/>
          </a:prstGeom>
          <a:ln w="33611">
            <a:solidFill>
              <a:srgbClr val="2C6597"/>
            </a:solidFill>
            <a:prstDash val="solid"/>
          </a:ln>
        </p:spPr>
        <p:style>
          <a:lnRef idx="2">
            <a:schemeClr val="accent1"/>
          </a:lnRef>
          <a:fillRef idx="0">
            <a:schemeClr val="accent1"/>
          </a:fillRef>
          <a:effectRef idx="1">
            <a:schemeClr val="accent1"/>
          </a:effectRef>
          <a:fontRef idx="minor">
            <a:schemeClr val="tx1"/>
          </a:fontRef>
        </p:style>
      </p:cxnSp>
      <p:sp>
        <p:nvSpPr>
          <p:cNvPr id="22" name="16-Point Star 21"/>
          <p:cNvSpPr/>
          <p:nvPr/>
        </p:nvSpPr>
        <p:spPr>
          <a:xfrm>
            <a:off x="986691" y="1883651"/>
            <a:ext cx="2154759" cy="693924"/>
          </a:xfrm>
          <a:prstGeom prst="star16">
            <a:avLst/>
          </a:prstGeom>
          <a:solidFill>
            <a:srgbClr val="28B2A9"/>
          </a:solidFill>
          <a:ln w="14352">
            <a:solidFill>
              <a:srgbClr val="78A429"/>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2"/>
          <a:srcRect/>
          <a:stretch>
            <a:fillRect/>
          </a:stretch>
        </p:blipFill>
        <p:spPr>
          <a:xfrm>
            <a:off x="5868600" y="5485897"/>
            <a:ext cx="3310377" cy="914646"/>
          </a:xfrm>
          <a:prstGeom prst="rect">
            <a:avLst/>
          </a:prstGeom>
        </p:spPr>
      </p:pic>
      <p:cxnSp>
        <p:nvCxnSpPr>
          <p:cNvPr id="24" name="Connector 23"/>
          <p:cNvCxnSpPr/>
          <p:nvPr/>
        </p:nvCxnSpPr>
        <p:spPr>
          <a:xfrm flipV="1">
            <a:off x="10606041" y="225677"/>
            <a:ext cx="815366" cy="1866177"/>
          </a:xfrm>
          <a:prstGeom prst="line">
            <a:avLst/>
          </a:prstGeom>
          <a:ln w="15780">
            <a:solidFill>
              <a:srgbClr val="97C625"/>
            </a:solidFill>
            <a:prstDash val="soli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08648" y="2959852"/>
            <a:ext cx="1151962" cy="1742453"/>
          </a:xfrm>
          <a:prstGeom prst="rect">
            <a:avLst/>
          </a:prstGeom>
          <a:noFill/>
        </p:spPr>
        <p:txBody>
          <a:bodyPr wrap="none" lIns="52847" tIns="52847" rIns="52847" bIns="52847">
            <a:spAutoFit/>
          </a:bodyPr>
          <a:lstStyle/>
          <a:p>
            <a:r>
              <a:rPr sz="6100" b="1" i="0" u="none">
                <a:solidFill>
                  <a:srgbClr val="C52660"/>
                </a:solidFill>
                <a:latin typeface="Verdana"/>
              </a:rPr>
              <a:t>Motion Trend Waypoint Reserve</a:t>
            </a:r>
          </a:p>
        </p:txBody>
      </p:sp>
      <p:graphicFrame>
        <p:nvGraphicFramePr>
          <p:cNvPr id="26" name="Chart 25"/>
          <p:cNvGraphicFramePr>
            <a:graphicFrameLocks noGrp="1"/>
          </p:cNvGraphicFramePr>
          <p:nvPr/>
        </p:nvGraphicFramePr>
        <p:xfrm>
          <a:off x="5369498" y="4626729"/>
          <a:ext cx="2650130" cy="1863609"/>
        </p:xfrm>
        <a:graphic>
          <a:graphicData uri="http://schemas.openxmlformats.org/drawingml/2006/chart">
            <c:chart xmlns:c="http://schemas.openxmlformats.org/drawingml/2006/chart" xmlns:r="http://schemas.openxmlformats.org/officeDocument/2006/relationships" r:id="rId4"/>
          </a:graphicData>
        </a:graphic>
      </p:graphicFrame>
      <p:sp>
        <p:nvSpPr>
          <p:cNvPr id="27" name="Down Arrow 26"/>
          <p:cNvSpPr/>
          <p:nvPr/>
        </p:nvSpPr>
        <p:spPr>
          <a:xfrm>
            <a:off x="1074101" y="444194"/>
            <a:ext cx="2117211" cy="1230412"/>
          </a:xfrm>
          <a:prstGeom prst="downArrow">
            <a:avLst/>
          </a:prstGeom>
          <a:solidFill>
            <a:srgbClr val="B62C5E"/>
          </a:solidFill>
          <a:ln w="27159">
            <a:solidFill>
              <a:srgbClr val="24816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B4C18A20-FF12-01FB-32F7-0B71D83CE8B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090561" y="5117168"/>
            <a:ext cx="942130" cy="1094566"/>
          </a:xfrm>
          <a:prstGeom prst="rect">
            <a:avLst/>
          </a:prstGeom>
        </p:spPr>
      </p:pic>
      <p:pic>
        <p:nvPicPr>
          <p:cNvPr id="31" name="Graphic 30">
            <a:extLst>
              <a:ext uri="{FF2B5EF4-FFF2-40B4-BE49-F238E27FC236}">
                <a16:creationId xmlns:a16="http://schemas.microsoft.com/office/drawing/2014/main" id="{7E9EB121-9EE5-7585-0DF6-6DE8A0E0BF8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315151" y="3076844"/>
            <a:ext cx="1350641" cy="125163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4666" y="2523325"/>
            <a:ext cx="3465486" cy="402971"/>
          </a:xfrm>
          <a:prstGeom prst="rect">
            <a:avLst/>
          </a:prstGeom>
          <a:noFill/>
        </p:spPr>
        <p:txBody>
          <a:bodyPr wrap="none" lIns="41927" tIns="41927" rIns="41927" bIns="41927">
            <a:spAutoFit/>
          </a:bodyPr>
          <a:lstStyle/>
          <a:p>
            <a:r>
              <a:rPr sz="3300" b="1" i="0" u="none">
                <a:solidFill>
                  <a:srgbClr val="1BA0C5"/>
                </a:solidFill>
                <a:latin typeface="Trebuchet MS"/>
              </a:rPr>
              <a:t>Waypoint Needle Panel Network Iteration Feature</a:t>
            </a:r>
          </a:p>
        </p:txBody>
      </p:sp>
      <p:sp>
        <p:nvSpPr>
          <p:cNvPr id="3" name="TextBox 2"/>
          <p:cNvSpPr txBox="1"/>
          <p:nvPr/>
        </p:nvSpPr>
        <p:spPr>
          <a:xfrm>
            <a:off x="7959193" y="1012540"/>
            <a:ext cx="2133053" cy="876381"/>
          </a:xfrm>
          <a:prstGeom prst="rect">
            <a:avLst/>
          </a:prstGeom>
          <a:noFill/>
        </p:spPr>
        <p:txBody>
          <a:bodyPr wrap="none" lIns="75304" tIns="75304" rIns="75304" bIns="75304">
            <a:spAutoFit/>
          </a:bodyPr>
          <a:lstStyle/>
          <a:p>
            <a:r>
              <a:rPr sz="1400" b="1" i="0" u="none">
                <a:solidFill>
                  <a:srgbClr val="5C8DA8"/>
                </a:solidFill>
                <a:latin typeface="Arial"/>
              </a:rPr>
              <a:t>Track Precision Model Report Schema Pipeline Indicator Goal Draft Drive Column Checkpoint Datum Marker Mesh Tile Source Order Cell</a:t>
            </a:r>
          </a:p>
        </p:txBody>
      </p:sp>
      <p:graphicFrame>
        <p:nvGraphicFramePr>
          <p:cNvPr id="4" name="Chart 3"/>
          <p:cNvGraphicFramePr>
            <a:graphicFrameLocks noGrp="1"/>
          </p:cNvGraphicFramePr>
          <p:nvPr/>
        </p:nvGraphicFramePr>
        <p:xfrm>
          <a:off x="503490" y="2993649"/>
          <a:ext cx="3274187" cy="1503823"/>
        </p:xfrm>
        <a:graphic>
          <a:graphicData uri="http://schemas.openxmlformats.org/drawingml/2006/chart">
            <c:chart xmlns:c="http://schemas.openxmlformats.org/drawingml/2006/chart" xmlns:r="http://schemas.openxmlformats.org/officeDocument/2006/relationships" r:id="rId2"/>
          </a:graphicData>
        </a:graphic>
      </p:graphicFrame>
      <p:pic>
        <p:nvPicPr>
          <p:cNvPr id="5" name="Picture 4" descr="_example_image.jpg"/>
          <p:cNvPicPr>
            <a:picLocks noChangeAspect="1"/>
          </p:cNvPicPr>
          <p:nvPr/>
        </p:nvPicPr>
        <p:blipFill>
          <a:blip r:embed="rId3"/>
          <a:srcRect l="15538" t="18336" r="16741" b="5191"/>
          <a:stretch>
            <a:fillRect/>
          </a:stretch>
        </p:blipFill>
        <p:spPr>
          <a:xfrm>
            <a:off x="6552224" y="365646"/>
            <a:ext cx="1115519" cy="1733284"/>
          </a:xfrm>
          <a:prstGeom prst="rect">
            <a:avLst/>
          </a:prstGeom>
        </p:spPr>
      </p:pic>
      <p:sp>
        <p:nvSpPr>
          <p:cNvPr id="6" name="Rounded Rectangle 5"/>
          <p:cNvSpPr/>
          <p:nvPr/>
        </p:nvSpPr>
        <p:spPr>
          <a:xfrm>
            <a:off x="6552224" y="365646"/>
            <a:ext cx="1115519" cy="1733284"/>
          </a:xfrm>
          <a:prstGeom prst="roundRect">
            <a:avLst/>
          </a:prstGeom>
          <a:noFill/>
          <a:ln w="15240">
            <a:solidFill>
              <a:srgbClr val="8EB2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151715" y="3960151"/>
            <a:ext cx="1081971" cy="1021380"/>
          </a:xfrm>
          <a:prstGeom prst="bentConnector3">
            <a:avLst/>
          </a:prstGeom>
          <a:ln w="22971">
            <a:solidFill>
              <a:srgbClr val="49DCA5"/>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812014" y="196441"/>
          <a:ext cx="4660774" cy="1123921"/>
        </p:xfrm>
        <a:graphic>
          <a:graphicData uri="http://schemas.openxmlformats.org/drawingml/2006/table">
            <a:tbl>
              <a:tblPr firstRow="1" bandRow="1">
                <a:tableStyleId>{5C22544A-7EE6-4342-B048-85BDC9FD1C3A}</a:tableStyleId>
              </a:tblPr>
              <a:tblGrid>
                <a:gridCol w="932154">
                  <a:extLst>
                    <a:ext uri="{9D8B030D-6E8A-4147-A177-3AD203B41FA5}">
                      <a16:colId xmlns:a16="http://schemas.microsoft.com/office/drawing/2014/main" val="20000"/>
                    </a:ext>
                  </a:extLst>
                </a:gridCol>
                <a:gridCol w="932154">
                  <a:extLst>
                    <a:ext uri="{9D8B030D-6E8A-4147-A177-3AD203B41FA5}">
                      <a16:colId xmlns:a16="http://schemas.microsoft.com/office/drawing/2014/main" val="20001"/>
                    </a:ext>
                  </a:extLst>
                </a:gridCol>
                <a:gridCol w="932154">
                  <a:extLst>
                    <a:ext uri="{9D8B030D-6E8A-4147-A177-3AD203B41FA5}">
                      <a16:colId xmlns:a16="http://schemas.microsoft.com/office/drawing/2014/main" val="20002"/>
                    </a:ext>
                  </a:extLst>
                </a:gridCol>
                <a:gridCol w="932154">
                  <a:extLst>
                    <a:ext uri="{9D8B030D-6E8A-4147-A177-3AD203B41FA5}">
                      <a16:colId xmlns:a16="http://schemas.microsoft.com/office/drawing/2014/main" val="20003"/>
                    </a:ext>
                  </a:extLst>
                </a:gridCol>
                <a:gridCol w="932158">
                  <a:extLst>
                    <a:ext uri="{9D8B030D-6E8A-4147-A177-3AD203B41FA5}">
                      <a16:colId xmlns:a16="http://schemas.microsoft.com/office/drawing/2014/main" val="20004"/>
                    </a:ext>
                  </a:extLst>
                </a:gridCol>
              </a:tblGrid>
              <a:tr h="224784">
                <a:tc>
                  <a:txBody>
                    <a:bodyPr/>
                    <a:lstStyle/>
                    <a:p>
                      <a:r>
                        <a:rPr sz="1000" b="1">
                          <a:solidFill>
                            <a:srgbClr val="947794"/>
                          </a:solidFill>
                        </a:rPr>
                        <a:t>Source Topology</a:t>
                      </a:r>
                    </a:p>
                  </a:txBody>
                  <a:tcPr>
                    <a:solidFill>
                      <a:srgbClr val="B0214B"/>
                    </a:solidFill>
                  </a:tcPr>
                </a:tc>
                <a:tc>
                  <a:txBody>
                    <a:bodyPr/>
                    <a:lstStyle/>
                    <a:p>
                      <a:r>
                        <a:rPr sz="1000" b="1">
                          <a:solidFill>
                            <a:srgbClr val="947794"/>
                          </a:solidFill>
                        </a:rPr>
                        <a:t>Lineage</a:t>
                      </a:r>
                    </a:p>
                  </a:txBody>
                  <a:tcPr>
                    <a:solidFill>
                      <a:srgbClr val="B0214B"/>
                    </a:solidFill>
                  </a:tcPr>
                </a:tc>
                <a:tc>
                  <a:txBody>
                    <a:bodyPr/>
                    <a:lstStyle/>
                    <a:p>
                      <a:r>
                        <a:rPr sz="1000" b="1">
                          <a:solidFill>
                            <a:srgbClr val="947794"/>
                          </a:solidFill>
                        </a:rPr>
                        <a:t>Payload</a:t>
                      </a:r>
                    </a:p>
                  </a:txBody>
                  <a:tcPr>
                    <a:solidFill>
                      <a:srgbClr val="B0214B"/>
                    </a:solidFill>
                  </a:tcPr>
                </a:tc>
                <a:tc>
                  <a:txBody>
                    <a:bodyPr/>
                    <a:lstStyle/>
                    <a:p>
                      <a:r>
                        <a:rPr sz="1000" b="1">
                          <a:solidFill>
                            <a:srgbClr val="947794"/>
                          </a:solidFill>
                        </a:rPr>
                        <a:t>Vertex</a:t>
                      </a:r>
                    </a:p>
                  </a:txBody>
                  <a:tcPr>
                    <a:solidFill>
                      <a:srgbClr val="B0214B"/>
                    </a:solidFill>
                  </a:tcPr>
                </a:tc>
                <a:tc>
                  <a:txBody>
                    <a:bodyPr/>
                    <a:lstStyle/>
                    <a:p>
                      <a:r>
                        <a:rPr sz="1000" b="1">
                          <a:solidFill>
                            <a:srgbClr val="947794"/>
                          </a:solidFill>
                        </a:rPr>
                        <a:t>Alignment Coverage</a:t>
                      </a:r>
                    </a:p>
                  </a:txBody>
                  <a:tcPr>
                    <a:solidFill>
                      <a:srgbClr val="B0214B"/>
                    </a:solidFill>
                  </a:tcPr>
                </a:tc>
                <a:extLst>
                  <a:ext uri="{0D108BD9-81ED-4DB2-BD59-A6C34878D82A}">
                    <a16:rowId xmlns:a16="http://schemas.microsoft.com/office/drawing/2014/main" val="10000"/>
                  </a:ext>
                </a:extLst>
              </a:tr>
              <a:tr h="224784">
                <a:tc>
                  <a:txBody>
                    <a:bodyPr/>
                    <a:lstStyle/>
                    <a:p>
                      <a:r>
                        <a:rPr sz="1000" b="0">
                          <a:solidFill>
                            <a:srgbClr val="947794"/>
                          </a:solidFill>
                        </a:rPr>
                        <a:t>Zone Matrix</a:t>
                      </a:r>
                    </a:p>
                  </a:txBody>
                  <a:tcPr>
                    <a:solidFill>
                      <a:srgbClr val="F0C3F2"/>
                    </a:solidFill>
                  </a:tcPr>
                </a:tc>
                <a:tc>
                  <a:txBody>
                    <a:bodyPr/>
                    <a:lstStyle/>
                    <a:p>
                      <a:r>
                        <a:rPr sz="1000" b="0">
                          <a:solidFill>
                            <a:srgbClr val="947794"/>
                          </a:solidFill>
                        </a:rPr>
                        <a:t>Option Cadence</a:t>
                      </a:r>
                    </a:p>
                  </a:txBody>
                  <a:tcPr>
                    <a:solidFill>
                      <a:srgbClr val="F0C3F2"/>
                    </a:solidFill>
                  </a:tcPr>
                </a:tc>
                <a:tc>
                  <a:txBody>
                    <a:bodyPr/>
                    <a:lstStyle/>
                    <a:p>
                      <a:r>
                        <a:rPr sz="1000" b="0">
                          <a:solidFill>
                            <a:srgbClr val="947794"/>
                          </a:solidFill>
                        </a:rPr>
                        <a:t>Datum Deployment</a:t>
                      </a:r>
                    </a:p>
                  </a:txBody>
                  <a:tcPr>
                    <a:solidFill>
                      <a:srgbClr val="F0C3F2"/>
                    </a:solidFill>
                  </a:tcPr>
                </a:tc>
                <a:tc>
                  <a:txBody>
                    <a:bodyPr/>
                    <a:lstStyle/>
                    <a:p>
                      <a:r>
                        <a:rPr sz="1000" b="0">
                          <a:solidFill>
                            <a:srgbClr val="947794"/>
                          </a:solidFill>
                        </a:rPr>
                        <a:t>Stage</a:t>
                      </a:r>
                    </a:p>
                  </a:txBody>
                  <a:tcPr>
                    <a:solidFill>
                      <a:srgbClr val="F0C3F2"/>
                    </a:solidFill>
                  </a:tcPr>
                </a:tc>
                <a:tc>
                  <a:txBody>
                    <a:bodyPr/>
                    <a:lstStyle/>
                    <a:p>
                      <a:r>
                        <a:rPr sz="1000" b="0">
                          <a:solidFill>
                            <a:srgbClr val="947794"/>
                          </a:solidFill>
                        </a:rPr>
                        <a:t>Diagram</a:t>
                      </a:r>
                    </a:p>
                  </a:txBody>
                  <a:tcPr>
                    <a:solidFill>
                      <a:srgbClr val="F0C3F2"/>
                    </a:solidFill>
                  </a:tcPr>
                </a:tc>
                <a:extLst>
                  <a:ext uri="{0D108BD9-81ED-4DB2-BD59-A6C34878D82A}">
                    <a16:rowId xmlns:a16="http://schemas.microsoft.com/office/drawing/2014/main" val="10001"/>
                  </a:ext>
                </a:extLst>
              </a:tr>
              <a:tr h="224784">
                <a:tc>
                  <a:txBody>
                    <a:bodyPr/>
                    <a:lstStyle/>
                    <a:p>
                      <a:r>
                        <a:rPr sz="1000" b="0">
                          <a:solidFill>
                            <a:srgbClr val="947794"/>
                          </a:solidFill>
                        </a:rPr>
                        <a:t>Ledger Cell</a:t>
                      </a:r>
                    </a:p>
                  </a:txBody>
                  <a:tcPr>
                    <a:solidFill>
                      <a:srgbClr val="F9E9FA"/>
                    </a:solidFill>
                  </a:tcPr>
                </a:tc>
                <a:tc>
                  <a:txBody>
                    <a:bodyPr/>
                    <a:lstStyle/>
                    <a:p>
                      <a:r>
                        <a:rPr sz="1000" b="0">
                          <a:solidFill>
                            <a:srgbClr val="947794"/>
                          </a:solidFill>
                        </a:rPr>
                        <a:t>Thread Track</a:t>
                      </a:r>
                    </a:p>
                  </a:txBody>
                  <a:tcPr>
                    <a:solidFill>
                      <a:srgbClr val="F9E9FA"/>
                    </a:solidFill>
                  </a:tcPr>
                </a:tc>
                <a:tc>
                  <a:txBody>
                    <a:bodyPr/>
                    <a:lstStyle/>
                    <a:p>
                      <a:r>
                        <a:rPr sz="1000" b="0">
                          <a:solidFill>
                            <a:srgbClr val="947794"/>
                          </a:solidFill>
                        </a:rPr>
                        <a:t>Command</a:t>
                      </a:r>
                    </a:p>
                  </a:txBody>
                  <a:tcPr>
                    <a:solidFill>
                      <a:srgbClr val="F9E9FA"/>
                    </a:solidFill>
                  </a:tcPr>
                </a:tc>
                <a:tc>
                  <a:txBody>
                    <a:bodyPr/>
                    <a:lstStyle/>
                    <a:p>
                      <a:r>
                        <a:rPr sz="1000" b="0">
                          <a:solidFill>
                            <a:srgbClr val="947794"/>
                          </a:solidFill>
                        </a:rPr>
                        <a:t>Plan Register</a:t>
                      </a:r>
                    </a:p>
                  </a:txBody>
                  <a:tcPr>
                    <a:solidFill>
                      <a:srgbClr val="F9E9FA"/>
                    </a:solidFill>
                  </a:tcPr>
                </a:tc>
                <a:tc>
                  <a:txBody>
                    <a:bodyPr/>
                    <a:lstStyle/>
                    <a:p>
                      <a:r>
                        <a:rPr sz="1000" b="0">
                          <a:solidFill>
                            <a:srgbClr val="947794"/>
                          </a:solidFill>
                        </a:rPr>
                        <a:t>Feature Texture</a:t>
                      </a:r>
                    </a:p>
                  </a:txBody>
                  <a:tcPr>
                    <a:solidFill>
                      <a:srgbClr val="F9E9FA"/>
                    </a:solidFill>
                  </a:tcPr>
                </a:tc>
                <a:extLst>
                  <a:ext uri="{0D108BD9-81ED-4DB2-BD59-A6C34878D82A}">
                    <a16:rowId xmlns:a16="http://schemas.microsoft.com/office/drawing/2014/main" val="10002"/>
                  </a:ext>
                </a:extLst>
              </a:tr>
              <a:tr h="224784">
                <a:tc>
                  <a:txBody>
                    <a:bodyPr/>
                    <a:lstStyle/>
                    <a:p>
                      <a:r>
                        <a:rPr sz="1000" b="0">
                          <a:solidFill>
                            <a:srgbClr val="947794"/>
                          </a:solidFill>
                        </a:rPr>
                        <a:t>Clarity</a:t>
                      </a:r>
                    </a:p>
                  </a:txBody>
                  <a:tcPr>
                    <a:solidFill>
                      <a:srgbClr val="F0C3F2"/>
                    </a:solidFill>
                  </a:tcPr>
                </a:tc>
                <a:tc>
                  <a:txBody>
                    <a:bodyPr/>
                    <a:lstStyle/>
                    <a:p>
                      <a:r>
                        <a:rPr sz="1000" b="0">
                          <a:solidFill>
                            <a:srgbClr val="947794"/>
                          </a:solidFill>
                        </a:rPr>
                        <a:t>Level</a:t>
                      </a:r>
                    </a:p>
                  </a:txBody>
                  <a:tcPr>
                    <a:solidFill>
                      <a:srgbClr val="F0C3F2"/>
                    </a:solidFill>
                  </a:tcPr>
                </a:tc>
                <a:tc>
                  <a:txBody>
                    <a:bodyPr/>
                    <a:lstStyle/>
                    <a:p>
                      <a:r>
                        <a:rPr sz="1000" b="0">
                          <a:solidFill>
                            <a:srgbClr val="947794"/>
                          </a:solidFill>
                        </a:rPr>
                        <a:t>Journey</a:t>
                      </a:r>
                    </a:p>
                  </a:txBody>
                  <a:tcPr>
                    <a:solidFill>
                      <a:srgbClr val="F0C3F2"/>
                    </a:solidFill>
                  </a:tcPr>
                </a:tc>
                <a:tc>
                  <a:txBody>
                    <a:bodyPr/>
                    <a:lstStyle/>
                    <a:p>
                      <a:r>
                        <a:rPr sz="1000" b="0">
                          <a:solidFill>
                            <a:srgbClr val="947794"/>
                          </a:solidFill>
                        </a:rPr>
                        <a:t>Forecast Stack</a:t>
                      </a:r>
                    </a:p>
                  </a:txBody>
                  <a:tcPr>
                    <a:solidFill>
                      <a:srgbClr val="F0C3F2"/>
                    </a:solidFill>
                  </a:tcPr>
                </a:tc>
                <a:tc>
                  <a:txBody>
                    <a:bodyPr/>
                    <a:lstStyle/>
                    <a:p>
                      <a:r>
                        <a:rPr sz="1000" b="0">
                          <a:solidFill>
                            <a:srgbClr val="947794"/>
                          </a:solidFill>
                        </a:rPr>
                        <a:t>Memory Motion</a:t>
                      </a:r>
                    </a:p>
                  </a:txBody>
                  <a:tcPr>
                    <a:solidFill>
                      <a:srgbClr val="F0C3F2"/>
                    </a:solidFill>
                  </a:tcPr>
                </a:tc>
                <a:extLst>
                  <a:ext uri="{0D108BD9-81ED-4DB2-BD59-A6C34878D82A}">
                    <a16:rowId xmlns:a16="http://schemas.microsoft.com/office/drawing/2014/main" val="10003"/>
                  </a:ext>
                </a:extLst>
              </a:tr>
              <a:tr h="224785">
                <a:tc>
                  <a:txBody>
                    <a:bodyPr/>
                    <a:lstStyle/>
                    <a:p>
                      <a:r>
                        <a:rPr sz="1000" b="0">
                          <a:solidFill>
                            <a:srgbClr val="947794"/>
                          </a:solidFill>
                        </a:rPr>
                        <a:t>Cortex State</a:t>
                      </a:r>
                    </a:p>
                  </a:txBody>
                  <a:tcPr>
                    <a:solidFill>
                      <a:srgbClr val="F9E9FA"/>
                    </a:solidFill>
                  </a:tcPr>
                </a:tc>
                <a:tc>
                  <a:txBody>
                    <a:bodyPr/>
                    <a:lstStyle/>
                    <a:p>
                      <a:r>
                        <a:rPr sz="1000" b="0">
                          <a:solidFill>
                            <a:srgbClr val="947794"/>
                          </a:solidFill>
                        </a:rPr>
                        <a:t>Needle</a:t>
                      </a:r>
                    </a:p>
                  </a:txBody>
                  <a:tcPr>
                    <a:solidFill>
                      <a:srgbClr val="F9E9FA"/>
                    </a:solidFill>
                  </a:tcPr>
                </a:tc>
                <a:tc>
                  <a:txBody>
                    <a:bodyPr/>
                    <a:lstStyle/>
                    <a:p>
                      <a:r>
                        <a:rPr sz="1000" b="0">
                          <a:solidFill>
                            <a:srgbClr val="947794"/>
                          </a:solidFill>
                        </a:rPr>
                        <a:t>Stack</a:t>
                      </a:r>
                    </a:p>
                  </a:txBody>
                  <a:tcPr>
                    <a:solidFill>
                      <a:srgbClr val="F9E9FA"/>
                    </a:solidFill>
                  </a:tcPr>
                </a:tc>
                <a:tc>
                  <a:txBody>
                    <a:bodyPr/>
                    <a:lstStyle/>
                    <a:p>
                      <a:r>
                        <a:rPr sz="1000" b="0">
                          <a:solidFill>
                            <a:srgbClr val="947794"/>
                          </a:solidFill>
                        </a:rPr>
                        <a:t>Frequency</a:t>
                      </a:r>
                    </a:p>
                  </a:txBody>
                  <a:tcPr>
                    <a:solidFill>
                      <a:srgbClr val="F9E9FA"/>
                    </a:solidFill>
                  </a:tcPr>
                </a:tc>
                <a:tc>
                  <a:txBody>
                    <a:bodyPr/>
                    <a:lstStyle/>
                    <a:p>
                      <a:r>
                        <a:rPr sz="1000" b="0">
                          <a:solidFill>
                            <a:srgbClr val="947794"/>
                          </a:solidFill>
                        </a:rPr>
                        <a:t>Node</a:t>
                      </a:r>
                    </a:p>
                  </a:txBody>
                  <a:tcPr>
                    <a:solidFill>
                      <a:srgbClr val="F9E9FA"/>
                    </a:solidFill>
                  </a:tcPr>
                </a:tc>
                <a:extLst>
                  <a:ext uri="{0D108BD9-81ED-4DB2-BD59-A6C34878D82A}">
                    <a16:rowId xmlns:a16="http://schemas.microsoft.com/office/drawing/2014/main" val="10004"/>
                  </a:ext>
                </a:extLst>
              </a:tr>
            </a:tbl>
          </a:graphicData>
        </a:graphic>
      </p:graphicFrame>
      <p:sp>
        <p:nvSpPr>
          <p:cNvPr id="9" name="Diamond 8"/>
          <p:cNvSpPr/>
          <p:nvPr/>
        </p:nvSpPr>
        <p:spPr>
          <a:xfrm>
            <a:off x="6096415" y="4865290"/>
            <a:ext cx="367426" cy="1406785"/>
          </a:xfrm>
          <a:prstGeom prst="diamond">
            <a:avLst/>
          </a:prstGeom>
          <a:solidFill>
            <a:srgbClr val="72899C"/>
          </a:solidFill>
          <a:ln w="31682">
            <a:solidFill>
              <a:srgbClr val="BD97E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7128297" y="5900929"/>
            <a:ext cx="985155" cy="567044"/>
          </a:xfrm>
          <a:custGeom>
            <a:avLst/>
            <a:gdLst/>
            <a:ahLst/>
            <a:cxnLst/>
            <a:rect l="l" t="t" r="r" b="b"/>
            <a:pathLst>
              <a:path w="985155" h="567044">
                <a:moveTo>
                  <a:pt x="492577" y="0"/>
                </a:moveTo>
                <a:lnTo>
                  <a:pt x="615722" y="141761"/>
                </a:lnTo>
                <a:lnTo>
                  <a:pt x="923583" y="102068"/>
                </a:lnTo>
                <a:lnTo>
                  <a:pt x="749128" y="283522"/>
                </a:lnTo>
                <a:lnTo>
                  <a:pt x="985155" y="442295"/>
                </a:lnTo>
                <a:lnTo>
                  <a:pt x="615722" y="408272"/>
                </a:lnTo>
                <a:lnTo>
                  <a:pt x="492577" y="567044"/>
                </a:lnTo>
                <a:lnTo>
                  <a:pt x="369433" y="408272"/>
                </a:lnTo>
                <a:lnTo>
                  <a:pt x="0" y="442295"/>
                </a:lnTo>
                <a:lnTo>
                  <a:pt x="236026" y="283522"/>
                </a:lnTo>
                <a:lnTo>
                  <a:pt x="61572" y="102068"/>
                </a:lnTo>
                <a:lnTo>
                  <a:pt x="369433" y="141761"/>
                </a:lnTo>
                <a:close/>
              </a:path>
            </a:pathLst>
          </a:custGeom>
          <a:solidFill>
            <a:srgbClr val="4448CC"/>
          </a:solidFill>
          <a:ln w="10520">
            <a:solidFill>
              <a:srgbClr val="1D34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8392055" y="2201546"/>
            <a:ext cx="878470" cy="1672490"/>
          </a:xfrm>
          <a:prstGeom prst="curvedConnector3">
            <a:avLst/>
          </a:prstGeom>
          <a:ln w="40191">
            <a:solidFill>
              <a:srgbClr val="E4728E"/>
            </a:solidFill>
            <a:prstDash val="lg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689162" y="2262242"/>
            <a:ext cx="773667" cy="2449316"/>
          </a:xfrm>
          <a:prstGeom prst="rect">
            <a:avLst/>
          </a:prstGeom>
          <a:noFill/>
        </p:spPr>
        <p:txBody>
          <a:bodyPr wrap="none" lIns="85534" tIns="85534" rIns="85534" bIns="85534">
            <a:spAutoFit/>
          </a:bodyPr>
          <a:lstStyle/>
          <a:p>
            <a:r>
              <a:rPr sz="1400" b="0" i="0" u="none">
                <a:solidFill>
                  <a:srgbClr val="3C7185"/>
                </a:solidFill>
                <a:latin typeface="Aptos"/>
              </a:rPr>
              <a:t>Apex Echo</a:t>
            </a:r>
          </a:p>
        </p:txBody>
      </p:sp>
      <p:sp>
        <p:nvSpPr>
          <p:cNvPr id="13" name="TextBox 12"/>
          <p:cNvSpPr txBox="1"/>
          <p:nvPr/>
        </p:nvSpPr>
        <p:spPr>
          <a:xfrm>
            <a:off x="3314744" y="4592088"/>
            <a:ext cx="575765" cy="796860"/>
          </a:xfrm>
          <a:prstGeom prst="rect">
            <a:avLst/>
          </a:prstGeom>
          <a:noFill/>
        </p:spPr>
        <p:txBody>
          <a:bodyPr wrap="none" lIns="35015" tIns="35015" rIns="35015" bIns="35015">
            <a:spAutoFit/>
          </a:bodyPr>
          <a:lstStyle/>
          <a:p>
            <a:r>
              <a:rPr sz="2700" b="0" i="0" u="none">
                <a:solidFill>
                  <a:srgbClr val="75D28B"/>
                </a:solidFill>
                <a:latin typeface="Georgia"/>
              </a:rPr>
              <a:t>Data Account Core Alpha Buffer Orbit</a:t>
            </a:r>
          </a:p>
        </p:txBody>
      </p:sp>
      <p:pic>
        <p:nvPicPr>
          <p:cNvPr id="14" name="Picture 13" descr="_example_image.jpg"/>
          <p:cNvPicPr>
            <a:picLocks noChangeAspect="1"/>
          </p:cNvPicPr>
          <p:nvPr/>
        </p:nvPicPr>
        <p:blipFill>
          <a:blip r:embed="rId3"/>
          <a:srcRect l="12830" t="18793" r="12478" b="18269"/>
          <a:stretch>
            <a:fillRect/>
          </a:stretch>
        </p:blipFill>
        <p:spPr>
          <a:xfrm>
            <a:off x="921006" y="3058590"/>
            <a:ext cx="1333972" cy="796467"/>
          </a:xfrm>
          <a:prstGeom prst="rect">
            <a:avLst/>
          </a:prstGeom>
        </p:spPr>
      </p:pic>
      <p:graphicFrame>
        <p:nvGraphicFramePr>
          <p:cNvPr id="15" name="Chart 14"/>
          <p:cNvGraphicFramePr>
            <a:graphicFrameLocks noGrp="1"/>
          </p:cNvGraphicFramePr>
          <p:nvPr/>
        </p:nvGraphicFramePr>
        <p:xfrm>
          <a:off x="6705640" y="3464608"/>
          <a:ext cx="2044815" cy="1770014"/>
        </p:xfrm>
        <a:graphic>
          <a:graphicData uri="http://schemas.openxmlformats.org/drawingml/2006/chart">
            <c:chart xmlns:c="http://schemas.openxmlformats.org/drawingml/2006/chart" xmlns:r="http://schemas.openxmlformats.org/officeDocument/2006/relationships" r:id="rId4"/>
          </a:graphicData>
        </a:graphic>
      </p:graphicFrame>
      <p:cxnSp>
        <p:nvCxnSpPr>
          <p:cNvPr id="16" name="Connector 15"/>
          <p:cNvCxnSpPr/>
          <p:nvPr/>
        </p:nvCxnSpPr>
        <p:spPr>
          <a:xfrm>
            <a:off x="4880202" y="4018441"/>
            <a:ext cx="1482588" cy="1034432"/>
          </a:xfrm>
          <a:prstGeom prst="curvedConnector3">
            <a:avLst/>
          </a:prstGeom>
          <a:ln w="39475">
            <a:solidFill>
              <a:srgbClr val="4086D8"/>
            </a:solidFill>
            <a:prstDash val="lgDash"/>
          </a:ln>
        </p:spPr>
        <p:style>
          <a:lnRef idx="2">
            <a:schemeClr val="accent1"/>
          </a:lnRef>
          <a:fillRef idx="0">
            <a:schemeClr val="accent1"/>
          </a:fillRef>
          <a:effectRef idx="1">
            <a:schemeClr val="accent1"/>
          </a:effectRef>
          <a:fontRef idx="minor">
            <a:schemeClr val="tx1"/>
          </a:fontRef>
        </p:style>
      </p:cxnSp>
      <p:sp>
        <p:nvSpPr>
          <p:cNvPr id="17" name="Predefined Process 16"/>
          <p:cNvSpPr/>
          <p:nvPr/>
        </p:nvSpPr>
        <p:spPr>
          <a:xfrm>
            <a:off x="10687331" y="882736"/>
            <a:ext cx="839882" cy="1452995"/>
          </a:xfrm>
          <a:prstGeom prst="flowChartPredefinedProcess">
            <a:avLst/>
          </a:prstGeom>
          <a:solidFill>
            <a:srgbClr val="2CDB61"/>
          </a:solidFill>
          <a:ln w="26900">
            <a:solidFill>
              <a:srgbClr val="74B959"/>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ecision 17"/>
          <p:cNvSpPr/>
          <p:nvPr/>
        </p:nvSpPr>
        <p:spPr>
          <a:xfrm>
            <a:off x="7490641" y="4467162"/>
            <a:ext cx="1206471" cy="1396950"/>
          </a:xfrm>
          <a:prstGeom prst="flowChartDecision">
            <a:avLst/>
          </a:prstGeom>
          <a:solidFill>
            <a:srgbClr val="CFA14B"/>
          </a:solidFill>
          <a:ln w="25365">
            <a:solidFill>
              <a:srgbClr val="54221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_example_image.jpg"/>
          <p:cNvPicPr>
            <a:picLocks noChangeAspect="1"/>
          </p:cNvPicPr>
          <p:nvPr/>
        </p:nvPicPr>
        <p:blipFill>
          <a:blip r:embed="rId3"/>
          <a:srcRect/>
          <a:stretch>
            <a:fillRect/>
          </a:stretch>
        </p:blipFill>
        <p:spPr>
          <a:xfrm>
            <a:off x="9943446" y="5030974"/>
            <a:ext cx="1914586" cy="777941"/>
          </a:xfrm>
          <a:prstGeom prst="rect">
            <a:avLst/>
          </a:prstGeom>
        </p:spPr>
      </p:pic>
      <p:sp>
        <p:nvSpPr>
          <p:cNvPr id="20" name="Rounded Rectangle 19"/>
          <p:cNvSpPr/>
          <p:nvPr/>
        </p:nvSpPr>
        <p:spPr>
          <a:xfrm>
            <a:off x="9943446" y="5030974"/>
            <a:ext cx="1914586" cy="777941"/>
          </a:xfrm>
          <a:prstGeom prst="roundRect">
            <a:avLst/>
          </a:prstGeom>
          <a:noFill/>
          <a:ln w="15240">
            <a:solidFill>
              <a:srgbClr val="85A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1033271" y="5351898"/>
            <a:ext cx="703631" cy="1158495"/>
          </a:xfrm>
          <a:custGeom>
            <a:avLst/>
            <a:gdLst/>
            <a:ahLst/>
            <a:cxnLst/>
            <a:rect l="l" t="t" r="r" b="b"/>
            <a:pathLst>
              <a:path w="703631" h="1158495">
                <a:moveTo>
                  <a:pt x="75659" y="197190"/>
                </a:moveTo>
                <a:lnTo>
                  <a:pt x="249676" y="0"/>
                </a:lnTo>
                <a:lnTo>
                  <a:pt x="514483" y="98595"/>
                </a:lnTo>
                <a:lnTo>
                  <a:pt x="703631" y="468328"/>
                </a:lnTo>
                <a:lnTo>
                  <a:pt x="605274" y="961304"/>
                </a:lnTo>
                <a:lnTo>
                  <a:pt x="325335" y="1158495"/>
                </a:lnTo>
                <a:lnTo>
                  <a:pt x="45396" y="838060"/>
                </a:lnTo>
                <a:lnTo>
                  <a:pt x="0" y="419030"/>
                </a:lnTo>
                <a:close/>
              </a:path>
            </a:pathLst>
          </a:custGeom>
          <a:solidFill>
            <a:srgbClr val="8A2D25"/>
          </a:solidFill>
          <a:ln w="30551">
            <a:solidFill>
              <a:srgbClr val="59AA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93981" y="1999951"/>
            <a:ext cx="1036728" cy="2150812"/>
          </a:xfrm>
          <a:prstGeom prst="rect">
            <a:avLst/>
          </a:prstGeom>
          <a:noFill/>
        </p:spPr>
        <p:txBody>
          <a:bodyPr wrap="none" lIns="83266" tIns="83266" rIns="83266" bIns="83266">
            <a:spAutoFit/>
          </a:bodyPr>
          <a:lstStyle/>
          <a:p>
            <a:r>
              <a:rPr sz="1800" b="0" i="1" u="none">
                <a:solidFill>
                  <a:srgbClr val="9CB1B2"/>
                </a:solidFill>
                <a:latin typeface="Georgia"/>
              </a:rPr>
              <a:t>View Direction Duration Plan Estimate Atlas Grid Reference Packet Switch Build</a:t>
            </a:r>
          </a:p>
        </p:txBody>
      </p:sp>
      <p:sp>
        <p:nvSpPr>
          <p:cNvPr id="23" name="Funnel 22"/>
          <p:cNvSpPr/>
          <p:nvPr/>
        </p:nvSpPr>
        <p:spPr>
          <a:xfrm>
            <a:off x="5730598" y="518085"/>
            <a:ext cx="436552" cy="1709941"/>
          </a:xfrm>
          <a:prstGeom prst="funnel">
            <a:avLst/>
          </a:prstGeom>
          <a:solidFill>
            <a:srgbClr val="A7C9C8"/>
          </a:solidFill>
          <a:ln w="13774">
            <a:solidFill>
              <a:srgbClr val="D91E9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ight Arrow Callout 23"/>
          <p:cNvSpPr/>
          <p:nvPr/>
        </p:nvSpPr>
        <p:spPr>
          <a:xfrm>
            <a:off x="9542819" y="4855383"/>
            <a:ext cx="2328540" cy="243036"/>
          </a:xfrm>
          <a:prstGeom prst="rightArrowCallout">
            <a:avLst/>
          </a:prstGeom>
          <a:solidFill>
            <a:srgbClr val="D97A6C"/>
          </a:solidFill>
          <a:ln w="10237">
            <a:solidFill>
              <a:srgbClr val="9AB5D7"/>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p:cNvGraphicFramePr>
            <a:graphicFrameLocks noGrp="1"/>
          </p:cNvGraphicFramePr>
          <p:nvPr/>
        </p:nvGraphicFramePr>
        <p:xfrm>
          <a:off x="6196972" y="2322460"/>
          <a:ext cx="2119602" cy="1028002"/>
        </p:xfrm>
        <a:graphic>
          <a:graphicData uri="http://schemas.openxmlformats.org/drawingml/2006/table">
            <a:tbl>
              <a:tblPr firstRow="1" bandRow="1">
                <a:tableStyleId>{5C22544A-7EE6-4342-B048-85BDC9FD1C3A}</a:tableStyleId>
              </a:tblPr>
              <a:tblGrid>
                <a:gridCol w="1059801">
                  <a:extLst>
                    <a:ext uri="{9D8B030D-6E8A-4147-A177-3AD203B41FA5}">
                      <a16:colId xmlns:a16="http://schemas.microsoft.com/office/drawing/2014/main" val="20000"/>
                    </a:ext>
                  </a:extLst>
                </a:gridCol>
                <a:gridCol w="1059801">
                  <a:extLst>
                    <a:ext uri="{9D8B030D-6E8A-4147-A177-3AD203B41FA5}">
                      <a16:colId xmlns:a16="http://schemas.microsoft.com/office/drawing/2014/main" val="20001"/>
                    </a:ext>
                  </a:extLst>
                </a:gridCol>
              </a:tblGrid>
              <a:tr h="171333">
                <a:tc>
                  <a:txBody>
                    <a:bodyPr/>
                    <a:lstStyle/>
                    <a:p>
                      <a:r>
                        <a:rPr sz="900" b="0">
                          <a:solidFill>
                            <a:srgbClr val="E57584"/>
                          </a:solidFill>
                        </a:rPr>
                        <a:t>Moment</a:t>
                      </a:r>
                    </a:p>
                  </a:txBody>
                  <a:tcPr>
                    <a:solidFill>
                      <a:srgbClr val="FAF9ED"/>
                    </a:solidFill>
                  </a:tcPr>
                </a:tc>
                <a:tc>
                  <a:txBody>
                    <a:bodyPr/>
                    <a:lstStyle/>
                    <a:p>
                      <a:r>
                        <a:rPr sz="900" b="0">
                          <a:solidFill>
                            <a:srgbClr val="E57584"/>
                          </a:solidFill>
                        </a:rPr>
                        <a:t>Region Panel</a:t>
                      </a:r>
                    </a:p>
                  </a:txBody>
                  <a:tcPr>
                    <a:solidFill>
                      <a:srgbClr val="FAF9ED"/>
                    </a:solidFill>
                  </a:tcPr>
                </a:tc>
                <a:extLst>
                  <a:ext uri="{0D108BD9-81ED-4DB2-BD59-A6C34878D82A}">
                    <a16:rowId xmlns:a16="http://schemas.microsoft.com/office/drawing/2014/main" val="10000"/>
                  </a:ext>
                </a:extLst>
              </a:tr>
              <a:tr h="171333">
                <a:tc>
                  <a:txBody>
                    <a:bodyPr/>
                    <a:lstStyle/>
                    <a:p>
                      <a:r>
                        <a:rPr sz="900" b="0">
                          <a:solidFill>
                            <a:srgbClr val="E57584"/>
                          </a:solidFill>
                        </a:rPr>
                        <a:t>Network</a:t>
                      </a:r>
                    </a:p>
                  </a:txBody>
                  <a:tcPr>
                    <a:solidFill>
                      <a:srgbClr val="EDE6B3"/>
                    </a:solidFill>
                  </a:tcPr>
                </a:tc>
                <a:tc>
                  <a:txBody>
                    <a:bodyPr/>
                    <a:lstStyle/>
                    <a:p>
                      <a:r>
                        <a:rPr sz="900" b="0">
                          <a:solidFill>
                            <a:srgbClr val="E57584"/>
                          </a:solidFill>
                        </a:rPr>
                        <a:t>Schema</a:t>
                      </a:r>
                    </a:p>
                  </a:txBody>
                  <a:tcPr>
                    <a:solidFill>
                      <a:srgbClr val="EDE6B3"/>
                    </a:solidFill>
                  </a:tcPr>
                </a:tc>
                <a:extLst>
                  <a:ext uri="{0D108BD9-81ED-4DB2-BD59-A6C34878D82A}">
                    <a16:rowId xmlns:a16="http://schemas.microsoft.com/office/drawing/2014/main" val="10001"/>
                  </a:ext>
                </a:extLst>
              </a:tr>
              <a:tr h="171333">
                <a:tc>
                  <a:txBody>
                    <a:bodyPr/>
                    <a:lstStyle/>
                    <a:p>
                      <a:r>
                        <a:rPr sz="900" b="0">
                          <a:solidFill>
                            <a:srgbClr val="E57584"/>
                          </a:solidFill>
                        </a:rPr>
                        <a:t>Table Release</a:t>
                      </a:r>
                    </a:p>
                  </a:txBody>
                  <a:tcPr>
                    <a:solidFill>
                      <a:srgbClr val="FAF9ED"/>
                    </a:solidFill>
                  </a:tcPr>
                </a:tc>
                <a:tc>
                  <a:txBody>
                    <a:bodyPr/>
                    <a:lstStyle/>
                    <a:p>
                      <a:r>
                        <a:rPr sz="900" b="0">
                          <a:solidFill>
                            <a:srgbClr val="E57584"/>
                          </a:solidFill>
                        </a:rPr>
                        <a:t>Deployment</a:t>
                      </a:r>
                    </a:p>
                  </a:txBody>
                  <a:tcPr>
                    <a:solidFill>
                      <a:srgbClr val="FAF9ED"/>
                    </a:solidFill>
                  </a:tcPr>
                </a:tc>
                <a:extLst>
                  <a:ext uri="{0D108BD9-81ED-4DB2-BD59-A6C34878D82A}">
                    <a16:rowId xmlns:a16="http://schemas.microsoft.com/office/drawing/2014/main" val="10002"/>
                  </a:ext>
                </a:extLst>
              </a:tr>
              <a:tr h="171333">
                <a:tc>
                  <a:txBody>
                    <a:bodyPr/>
                    <a:lstStyle/>
                    <a:p>
                      <a:r>
                        <a:rPr sz="900" b="0">
                          <a:solidFill>
                            <a:srgbClr val="E57584"/>
                          </a:solidFill>
                        </a:rPr>
                        <a:t>Focus</a:t>
                      </a:r>
                    </a:p>
                  </a:txBody>
                  <a:tcPr>
                    <a:solidFill>
                      <a:srgbClr val="EDE6B3"/>
                    </a:solidFill>
                  </a:tcPr>
                </a:tc>
                <a:tc>
                  <a:txBody>
                    <a:bodyPr/>
                    <a:lstStyle/>
                    <a:p>
                      <a:r>
                        <a:rPr sz="900" b="0">
                          <a:solidFill>
                            <a:srgbClr val="E57584"/>
                          </a:solidFill>
                        </a:rPr>
                        <a:t>Queue Terminal</a:t>
                      </a:r>
                    </a:p>
                  </a:txBody>
                  <a:tcPr>
                    <a:solidFill>
                      <a:srgbClr val="EDE6B3"/>
                    </a:solidFill>
                  </a:tcPr>
                </a:tc>
                <a:extLst>
                  <a:ext uri="{0D108BD9-81ED-4DB2-BD59-A6C34878D82A}">
                    <a16:rowId xmlns:a16="http://schemas.microsoft.com/office/drawing/2014/main" val="10003"/>
                  </a:ext>
                </a:extLst>
              </a:tr>
              <a:tr h="171333">
                <a:tc>
                  <a:txBody>
                    <a:bodyPr/>
                    <a:lstStyle/>
                    <a:p>
                      <a:r>
                        <a:rPr sz="900" b="0">
                          <a:solidFill>
                            <a:srgbClr val="E57584"/>
                          </a:solidFill>
                        </a:rPr>
                        <a:t>Audit Source</a:t>
                      </a:r>
                    </a:p>
                  </a:txBody>
                  <a:tcPr>
                    <a:solidFill>
                      <a:srgbClr val="FAF9ED"/>
                    </a:solidFill>
                  </a:tcPr>
                </a:tc>
                <a:tc>
                  <a:txBody>
                    <a:bodyPr/>
                    <a:lstStyle/>
                    <a:p>
                      <a:r>
                        <a:rPr sz="900" b="0">
                          <a:solidFill>
                            <a:srgbClr val="E57584"/>
                          </a:solidFill>
                        </a:rPr>
                        <a:t>Insight Array</a:t>
                      </a:r>
                    </a:p>
                  </a:txBody>
                  <a:tcPr>
                    <a:solidFill>
                      <a:srgbClr val="FAF9ED"/>
                    </a:solidFill>
                  </a:tcPr>
                </a:tc>
                <a:extLst>
                  <a:ext uri="{0D108BD9-81ED-4DB2-BD59-A6C34878D82A}">
                    <a16:rowId xmlns:a16="http://schemas.microsoft.com/office/drawing/2014/main" val="10004"/>
                  </a:ext>
                </a:extLst>
              </a:tr>
              <a:tr h="171337">
                <a:tc>
                  <a:txBody>
                    <a:bodyPr/>
                    <a:lstStyle/>
                    <a:p>
                      <a:r>
                        <a:rPr sz="900" b="0">
                          <a:solidFill>
                            <a:srgbClr val="E57584"/>
                          </a:solidFill>
                        </a:rPr>
                        <a:t>Program</a:t>
                      </a:r>
                    </a:p>
                  </a:txBody>
                  <a:tcPr>
                    <a:solidFill>
                      <a:srgbClr val="EDE6B3"/>
                    </a:solidFill>
                  </a:tcPr>
                </a:tc>
                <a:tc>
                  <a:txBody>
                    <a:bodyPr/>
                    <a:lstStyle/>
                    <a:p>
                      <a:r>
                        <a:rPr sz="900" b="0">
                          <a:solidFill>
                            <a:srgbClr val="E57584"/>
                          </a:solidFill>
                        </a:rPr>
                        <a:t>Beacon</a:t>
                      </a:r>
                    </a:p>
                  </a:txBody>
                  <a:tcPr>
                    <a:solidFill>
                      <a:srgbClr val="EDE6B3"/>
                    </a:solidFill>
                  </a:tcPr>
                </a:tc>
                <a:extLst>
                  <a:ext uri="{0D108BD9-81ED-4DB2-BD59-A6C34878D82A}">
                    <a16:rowId xmlns:a16="http://schemas.microsoft.com/office/drawing/2014/main" val="10005"/>
                  </a:ext>
                </a:extLst>
              </a:tr>
            </a:tbl>
          </a:graphicData>
        </a:graphic>
      </p:graphicFrame>
      <p:sp>
        <p:nvSpPr>
          <p:cNvPr id="26" name="Terminator 25"/>
          <p:cNvSpPr/>
          <p:nvPr/>
        </p:nvSpPr>
        <p:spPr>
          <a:xfrm>
            <a:off x="7188884" y="432108"/>
            <a:ext cx="2614477" cy="362284"/>
          </a:xfrm>
          <a:prstGeom prst="flowChartTerminator">
            <a:avLst/>
          </a:prstGeom>
          <a:solidFill>
            <a:srgbClr val="3D9B8A"/>
          </a:solidFill>
          <a:ln w="28257">
            <a:solidFill>
              <a:srgbClr val="81B37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19972" y="1033004"/>
            <a:ext cx="1022365" cy="1401498"/>
          </a:xfrm>
          <a:prstGeom prst="rect">
            <a:avLst/>
          </a:prstGeom>
          <a:noFill/>
        </p:spPr>
        <p:txBody>
          <a:bodyPr wrap="none" lIns="30202" tIns="30202" rIns="30202" bIns="30202">
            <a:spAutoFit/>
          </a:bodyPr>
          <a:lstStyle/>
          <a:p>
            <a:r>
              <a:rPr sz="1800" b="1" i="0" u="none">
                <a:solidFill>
                  <a:srgbClr val="69B647"/>
                </a:solidFill>
                <a:latin typeface="Calibri"/>
              </a:rPr>
              <a:t>Motion Dimension Foundation Scale Device Signal Depth Needle Iteration Heading Guide Forecast Array Radius Intent Milestone Drift Cortex Level</a:t>
            </a:r>
          </a:p>
        </p:txBody>
      </p:sp>
      <p:sp>
        <p:nvSpPr>
          <p:cNvPr id="28" name="Document 27"/>
          <p:cNvSpPr/>
          <p:nvPr/>
        </p:nvSpPr>
        <p:spPr>
          <a:xfrm>
            <a:off x="1512099" y="4105979"/>
            <a:ext cx="1604017" cy="1032162"/>
          </a:xfrm>
          <a:prstGeom prst="flowChartDocument">
            <a:avLst/>
          </a:prstGeom>
          <a:solidFill>
            <a:srgbClr val="314595"/>
          </a:solidFill>
          <a:ln w="27559">
            <a:solidFill>
              <a:srgbClr val="962A9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39D72206-165A-EE16-C1C0-DEC1921A974C}"/>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688637" y="3824243"/>
            <a:ext cx="1062700" cy="1028727"/>
          </a:xfrm>
          <a:prstGeom prst="rect">
            <a:avLst/>
          </a:prstGeom>
        </p:spPr>
      </p:pic>
      <p:pic>
        <p:nvPicPr>
          <p:cNvPr id="32" name="Graphic 31">
            <a:extLst>
              <a:ext uri="{FF2B5EF4-FFF2-40B4-BE49-F238E27FC236}">
                <a16:creationId xmlns:a16="http://schemas.microsoft.com/office/drawing/2014/main" id="{42B4C478-86F2-1169-0B96-F1D2A196272C}"/>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834147" y="193515"/>
            <a:ext cx="1685216" cy="83740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1102767" y="1715155"/>
            <a:ext cx="490937" cy="1508692"/>
          </a:xfrm>
          <a:prstGeom prst="wave">
            <a:avLst/>
          </a:prstGeom>
          <a:solidFill>
            <a:srgbClr val="A83576"/>
          </a:solidFill>
          <a:ln w="11059">
            <a:solidFill>
              <a:srgbClr val="BDDCB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914765" y="2984866"/>
            <a:ext cx="461435" cy="890353"/>
          </a:xfrm>
          <a:prstGeom prst="rect">
            <a:avLst/>
          </a:prstGeom>
          <a:noFill/>
        </p:spPr>
        <p:txBody>
          <a:bodyPr wrap="none" lIns="88580" tIns="88580" rIns="88580" bIns="88580">
            <a:spAutoFit/>
          </a:bodyPr>
          <a:lstStyle/>
          <a:p>
            <a:r>
              <a:rPr sz="1200" b="0" i="0" u="none">
                <a:solidFill>
                  <a:srgbClr val="19BE2A"/>
                </a:solidFill>
                <a:latin typeface="Verdana"/>
              </a:rPr>
              <a:t>Sequence Circuit Cycle Intent Transform Discovery Beta Service Vector Release Event Focus Moment Precision Input Datum Point Strategy Echo Viewport Needle Model Vector Flow Rhythm Graph Level Link Apex Index Precision Journey Entity Window Canvas Datum Diagram</a:t>
            </a:r>
          </a:p>
        </p:txBody>
      </p:sp>
      <p:sp>
        <p:nvSpPr>
          <p:cNvPr id="4" name="TextBox 3"/>
          <p:cNvSpPr txBox="1"/>
          <p:nvPr/>
        </p:nvSpPr>
        <p:spPr>
          <a:xfrm>
            <a:off x="4546133" y="3033149"/>
            <a:ext cx="1712079" cy="1795546"/>
          </a:xfrm>
          <a:prstGeom prst="rect">
            <a:avLst/>
          </a:prstGeom>
          <a:solidFill>
            <a:srgbClr val="C15182"/>
          </a:solidFill>
        </p:spPr>
        <p:txBody>
          <a:bodyPr wrap="none" lIns="77485" tIns="77485" rIns="77485" bIns="77485">
            <a:spAutoFit/>
          </a:bodyPr>
          <a:lstStyle/>
          <a:p>
            <a:r>
              <a:rPr sz="800" b="1" i="0" u="none">
                <a:solidFill>
                  <a:srgbClr val="CD295C"/>
                </a:solidFill>
                <a:latin typeface="Aptos"/>
              </a:rPr>
              <a:t>Diagram Buffer Moment Cycle Instance Datum Span Ratio</a:t>
            </a:r>
          </a:p>
        </p:txBody>
      </p:sp>
      <p:sp>
        <p:nvSpPr>
          <p:cNvPr id="5" name="Document 4"/>
          <p:cNvSpPr/>
          <p:nvPr/>
        </p:nvSpPr>
        <p:spPr>
          <a:xfrm>
            <a:off x="5206072" y="5330755"/>
            <a:ext cx="2734372" cy="610301"/>
          </a:xfrm>
          <a:prstGeom prst="flowChartDocument">
            <a:avLst/>
          </a:prstGeom>
          <a:noFill/>
          <a:ln w="28311">
            <a:solidFill>
              <a:srgbClr val="7453D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10749856" y="318058"/>
            <a:ext cx="862871" cy="1769203"/>
          </a:xfrm>
          <a:custGeom>
            <a:avLst/>
            <a:gdLst/>
            <a:ahLst/>
            <a:cxnLst/>
            <a:rect l="l" t="t" r="r" b="b"/>
            <a:pathLst>
              <a:path w="862871" h="1769203">
                <a:moveTo>
                  <a:pt x="92782" y="301141"/>
                </a:moveTo>
                <a:lnTo>
                  <a:pt x="306180" y="0"/>
                </a:lnTo>
                <a:lnTo>
                  <a:pt x="630917" y="150570"/>
                </a:lnTo>
                <a:lnTo>
                  <a:pt x="862871" y="715209"/>
                </a:lnTo>
                <a:lnTo>
                  <a:pt x="742255" y="1468062"/>
                </a:lnTo>
                <a:lnTo>
                  <a:pt x="398962" y="1769203"/>
                </a:lnTo>
                <a:lnTo>
                  <a:pt x="55669" y="1279849"/>
                </a:lnTo>
                <a:lnTo>
                  <a:pt x="0" y="639924"/>
                </a:lnTo>
                <a:close/>
              </a:path>
            </a:pathLst>
          </a:custGeom>
          <a:solidFill>
            <a:srgbClr val="1FCA6E"/>
          </a:solidFill>
          <a:ln w="31062">
            <a:solidFill>
              <a:srgbClr val="DC6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Equal 6"/>
          <p:cNvSpPr/>
          <p:nvPr/>
        </p:nvSpPr>
        <p:spPr>
          <a:xfrm>
            <a:off x="2405276" y="4999559"/>
            <a:ext cx="2372711" cy="451696"/>
          </a:xfrm>
          <a:prstGeom prst="mathEqual">
            <a:avLst/>
          </a:prstGeom>
          <a:solidFill>
            <a:srgbClr val="88982D"/>
          </a:solidFill>
          <a:ln w="18450">
            <a:solidFill>
              <a:srgbClr val="4A5F8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7328457" y="137633"/>
          <a:ext cx="2545206" cy="1394054"/>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3214717" y="2283798"/>
            <a:ext cx="640859" cy="1437566"/>
          </a:xfrm>
          <a:prstGeom prst="rect">
            <a:avLst/>
          </a:prstGeom>
          <a:noFill/>
        </p:spPr>
        <p:txBody>
          <a:bodyPr wrap="none" lIns="61070" tIns="61070" rIns="61070" bIns="61070">
            <a:spAutoFit/>
          </a:bodyPr>
          <a:lstStyle/>
          <a:p>
            <a:r>
              <a:rPr sz="6100" b="1" i="1" u="none">
                <a:solidFill>
                  <a:srgbClr val="3F3ABD"/>
                </a:solidFill>
                <a:latin typeface="Verdana"/>
              </a:rPr>
              <a:t>Access Region Library Diagram Interval</a:t>
            </a:r>
          </a:p>
        </p:txBody>
      </p:sp>
      <p:sp>
        <p:nvSpPr>
          <p:cNvPr id="10" name="TextBox 9"/>
          <p:cNvSpPr txBox="1"/>
          <p:nvPr/>
        </p:nvSpPr>
        <p:spPr>
          <a:xfrm>
            <a:off x="2549794" y="2720602"/>
            <a:ext cx="570839" cy="1994124"/>
          </a:xfrm>
          <a:prstGeom prst="rect">
            <a:avLst/>
          </a:prstGeom>
          <a:noFill/>
        </p:spPr>
        <p:txBody>
          <a:bodyPr wrap="none" lIns="75378" tIns="75378" rIns="75378" bIns="75378">
            <a:spAutoFit/>
          </a:bodyPr>
          <a:lstStyle/>
          <a:p>
            <a:r>
              <a:rPr sz="1800" b="0" i="0" u="none">
                <a:solidFill>
                  <a:srgbClr val="3C6322"/>
                </a:solidFill>
                <a:latin typeface="Verdana"/>
              </a:rPr>
              <a:t>Vertex View Library Factor Mode Pattern Scope Concept Density Transit Apex Gradient Timeline Radius Alpha Resource Method State Stage Estimate Graph Stream Matrix Catalog Program State Core Portal Function State</a:t>
            </a:r>
          </a:p>
        </p:txBody>
      </p:sp>
      <p:sp>
        <p:nvSpPr>
          <p:cNvPr id="11" name="TextBox 10"/>
          <p:cNvSpPr txBox="1"/>
          <p:nvPr/>
        </p:nvSpPr>
        <p:spPr>
          <a:xfrm>
            <a:off x="7464236" y="1485966"/>
            <a:ext cx="938270" cy="2280983"/>
          </a:xfrm>
          <a:prstGeom prst="rect">
            <a:avLst/>
          </a:prstGeom>
          <a:noFill/>
        </p:spPr>
        <p:txBody>
          <a:bodyPr wrap="none" lIns="31204" tIns="31204" rIns="31204" bIns="31204">
            <a:spAutoFit/>
          </a:bodyPr>
          <a:lstStyle/>
          <a:p>
            <a:r>
              <a:rPr sz="6200" b="1" i="0" u="none">
                <a:solidFill>
                  <a:srgbClr val="1CBD8D"/>
                </a:solidFill>
                <a:latin typeface="Aptos"/>
              </a:rPr>
              <a:t>Cortex Design Order Balance Plan North Column</a:t>
            </a:r>
          </a:p>
        </p:txBody>
      </p:sp>
      <p:graphicFrame>
        <p:nvGraphicFramePr>
          <p:cNvPr id="12" name="Table 11"/>
          <p:cNvGraphicFramePr>
            <a:graphicFrameLocks noGrp="1"/>
          </p:cNvGraphicFramePr>
          <p:nvPr/>
        </p:nvGraphicFramePr>
        <p:xfrm>
          <a:off x="7306337" y="5237113"/>
          <a:ext cx="3936950" cy="972390"/>
        </p:xfrm>
        <a:graphic>
          <a:graphicData uri="http://schemas.openxmlformats.org/drawingml/2006/table">
            <a:tbl>
              <a:tblPr firstRow="1" bandRow="1">
                <a:tableStyleId>{5C22544A-7EE6-4342-B048-85BDC9FD1C3A}</a:tableStyleId>
              </a:tblPr>
              <a:tblGrid>
                <a:gridCol w="1968475">
                  <a:extLst>
                    <a:ext uri="{9D8B030D-6E8A-4147-A177-3AD203B41FA5}">
                      <a16:colId xmlns:a16="http://schemas.microsoft.com/office/drawing/2014/main" val="20000"/>
                    </a:ext>
                  </a:extLst>
                </a:gridCol>
                <a:gridCol w="1968475">
                  <a:extLst>
                    <a:ext uri="{9D8B030D-6E8A-4147-A177-3AD203B41FA5}">
                      <a16:colId xmlns:a16="http://schemas.microsoft.com/office/drawing/2014/main" val="20001"/>
                    </a:ext>
                  </a:extLst>
                </a:gridCol>
              </a:tblGrid>
              <a:tr h="194478">
                <a:tc>
                  <a:txBody>
                    <a:bodyPr/>
                    <a:lstStyle/>
                    <a:p>
                      <a:r>
                        <a:rPr sz="1200" b="1">
                          <a:solidFill>
                            <a:srgbClr val="85E4B8"/>
                          </a:solidFill>
                        </a:rPr>
                        <a:t>Proof Dashboard</a:t>
                      </a:r>
                    </a:p>
                  </a:txBody>
                  <a:tcPr>
                    <a:solidFill>
                      <a:srgbClr val="D2BFAF"/>
                    </a:solidFill>
                  </a:tcPr>
                </a:tc>
                <a:tc>
                  <a:txBody>
                    <a:bodyPr/>
                    <a:lstStyle/>
                    <a:p>
                      <a:r>
                        <a:rPr sz="1200" b="1">
                          <a:solidFill>
                            <a:srgbClr val="85E4B8"/>
                          </a:solidFill>
                        </a:rPr>
                        <a:t>Token Input</a:t>
                      </a:r>
                    </a:p>
                  </a:txBody>
                  <a:tcPr>
                    <a:solidFill>
                      <a:srgbClr val="D2BFAF"/>
                    </a:solidFill>
                  </a:tcPr>
                </a:tc>
                <a:extLst>
                  <a:ext uri="{0D108BD9-81ED-4DB2-BD59-A6C34878D82A}">
                    <a16:rowId xmlns:a16="http://schemas.microsoft.com/office/drawing/2014/main" val="10000"/>
                  </a:ext>
                </a:extLst>
              </a:tr>
              <a:tr h="194478">
                <a:tc>
                  <a:txBody>
                    <a:bodyPr/>
                    <a:lstStyle/>
                    <a:p>
                      <a:r>
                        <a:rPr sz="1200" b="0">
                          <a:solidFill>
                            <a:srgbClr val="85E4B8"/>
                          </a:solidFill>
                        </a:rPr>
                        <a:t>Signal North</a:t>
                      </a:r>
                    </a:p>
                  </a:txBody>
                  <a:tcPr>
                    <a:solidFill>
                      <a:srgbClr val="E8E6E3"/>
                    </a:solidFill>
                  </a:tcPr>
                </a:tc>
                <a:tc>
                  <a:txBody>
                    <a:bodyPr/>
                    <a:lstStyle/>
                    <a:p>
                      <a:r>
                        <a:rPr sz="1200" b="0">
                          <a:solidFill>
                            <a:srgbClr val="85E4B8"/>
                          </a:solidFill>
                        </a:rPr>
                        <a:t>Schema</a:t>
                      </a:r>
                    </a:p>
                  </a:txBody>
                  <a:tcPr>
                    <a:solidFill>
                      <a:srgbClr val="E8E6E3"/>
                    </a:solidFill>
                  </a:tcPr>
                </a:tc>
                <a:extLst>
                  <a:ext uri="{0D108BD9-81ED-4DB2-BD59-A6C34878D82A}">
                    <a16:rowId xmlns:a16="http://schemas.microsoft.com/office/drawing/2014/main" val="10001"/>
                  </a:ext>
                </a:extLst>
              </a:tr>
              <a:tr h="194478">
                <a:tc>
                  <a:txBody>
                    <a:bodyPr/>
                    <a:lstStyle/>
                    <a:p>
                      <a:r>
                        <a:rPr sz="1200" b="0">
                          <a:solidFill>
                            <a:srgbClr val="85E4B8"/>
                          </a:solidFill>
                        </a:rPr>
                        <a:t>Window</a:t>
                      </a:r>
                    </a:p>
                  </a:txBody>
                  <a:tcPr>
                    <a:solidFill>
                      <a:srgbClr val="E8E6E3"/>
                    </a:solidFill>
                  </a:tcPr>
                </a:tc>
                <a:tc>
                  <a:txBody>
                    <a:bodyPr/>
                    <a:lstStyle/>
                    <a:p>
                      <a:r>
                        <a:rPr sz="1200" b="0">
                          <a:solidFill>
                            <a:srgbClr val="85E4B8"/>
                          </a:solidFill>
                        </a:rPr>
                        <a:t>Gateway</a:t>
                      </a:r>
                    </a:p>
                  </a:txBody>
                  <a:tcPr>
                    <a:solidFill>
                      <a:srgbClr val="E8E6E3"/>
                    </a:solidFill>
                  </a:tcPr>
                </a:tc>
                <a:extLst>
                  <a:ext uri="{0D108BD9-81ED-4DB2-BD59-A6C34878D82A}">
                    <a16:rowId xmlns:a16="http://schemas.microsoft.com/office/drawing/2014/main" val="10002"/>
                  </a:ext>
                </a:extLst>
              </a:tr>
              <a:tr h="194478">
                <a:tc>
                  <a:txBody>
                    <a:bodyPr/>
                    <a:lstStyle/>
                    <a:p>
                      <a:r>
                        <a:rPr sz="1200" b="0">
                          <a:solidFill>
                            <a:srgbClr val="85E4B8"/>
                          </a:solidFill>
                        </a:rPr>
                        <a:t>Datum</a:t>
                      </a:r>
                    </a:p>
                  </a:txBody>
                  <a:tcPr>
                    <a:solidFill>
                      <a:srgbClr val="E8E6E3"/>
                    </a:solidFill>
                  </a:tcPr>
                </a:tc>
                <a:tc>
                  <a:txBody>
                    <a:bodyPr/>
                    <a:lstStyle/>
                    <a:p>
                      <a:r>
                        <a:rPr sz="1200" b="0">
                          <a:solidFill>
                            <a:srgbClr val="85E4B8"/>
                          </a:solidFill>
                        </a:rPr>
                        <a:t>Network Object</a:t>
                      </a:r>
                    </a:p>
                  </a:txBody>
                  <a:tcPr>
                    <a:solidFill>
                      <a:srgbClr val="E8E6E3"/>
                    </a:solidFill>
                  </a:tcPr>
                </a:tc>
                <a:extLst>
                  <a:ext uri="{0D108BD9-81ED-4DB2-BD59-A6C34878D82A}">
                    <a16:rowId xmlns:a16="http://schemas.microsoft.com/office/drawing/2014/main" val="10003"/>
                  </a:ext>
                </a:extLst>
              </a:tr>
              <a:tr h="194478">
                <a:tc>
                  <a:txBody>
                    <a:bodyPr/>
                    <a:lstStyle/>
                    <a:p>
                      <a:r>
                        <a:rPr sz="1200" b="0">
                          <a:solidFill>
                            <a:srgbClr val="85E4B8"/>
                          </a:solidFill>
                        </a:rPr>
                        <a:t>Workflow Buffer</a:t>
                      </a:r>
                    </a:p>
                  </a:txBody>
                  <a:tcPr>
                    <a:solidFill>
                      <a:srgbClr val="E8E6E3"/>
                    </a:solidFill>
                  </a:tcPr>
                </a:tc>
                <a:tc>
                  <a:txBody>
                    <a:bodyPr/>
                    <a:lstStyle/>
                    <a:p>
                      <a:r>
                        <a:rPr sz="1200" b="0">
                          <a:solidFill>
                            <a:srgbClr val="85E4B8"/>
                          </a:solidFill>
                        </a:rPr>
                        <a:t>Deck</a:t>
                      </a:r>
                    </a:p>
                  </a:txBody>
                  <a:tcPr>
                    <a:solidFill>
                      <a:srgbClr val="E8E6E3"/>
                    </a:solidFill>
                  </a:tcPr>
                </a:tc>
                <a:extLst>
                  <a:ext uri="{0D108BD9-81ED-4DB2-BD59-A6C34878D82A}">
                    <a16:rowId xmlns:a16="http://schemas.microsoft.com/office/drawing/2014/main" val="10004"/>
                  </a:ext>
                </a:extLst>
              </a:tr>
            </a:tbl>
          </a:graphicData>
        </a:graphic>
      </p:graphicFrame>
      <p:sp>
        <p:nvSpPr>
          <p:cNvPr id="13" name="TextBox 12"/>
          <p:cNvSpPr txBox="1"/>
          <p:nvPr/>
        </p:nvSpPr>
        <p:spPr>
          <a:xfrm>
            <a:off x="8836280" y="4341758"/>
            <a:ext cx="990698" cy="856896"/>
          </a:xfrm>
          <a:prstGeom prst="rect">
            <a:avLst/>
          </a:prstGeom>
          <a:noFill/>
        </p:spPr>
        <p:txBody>
          <a:bodyPr wrap="none" lIns="86878" tIns="86878" rIns="86878" bIns="86878">
            <a:spAutoFit/>
          </a:bodyPr>
          <a:lstStyle/>
          <a:p>
            <a:r>
              <a:rPr sz="1900" b="0" i="1" u="sng">
                <a:solidFill>
                  <a:srgbClr val="9A55A1"/>
                </a:solidFill>
                <a:latin typeface="Georgia"/>
              </a:rPr>
              <a:t>Format Method Range Precision Atlas Loop Object Device Coverage Brief Feature Pattern Iteration Marker</a:t>
            </a:r>
          </a:p>
        </p:txBody>
      </p:sp>
      <p:cxnSp>
        <p:nvCxnSpPr>
          <p:cNvPr id="14" name="Connector 13"/>
          <p:cNvCxnSpPr/>
          <p:nvPr/>
        </p:nvCxnSpPr>
        <p:spPr>
          <a:xfrm flipV="1">
            <a:off x="8343887" y="1617834"/>
            <a:ext cx="781150" cy="739156"/>
          </a:xfrm>
          <a:prstGeom prst="line">
            <a:avLst/>
          </a:prstGeom>
          <a:ln w="19521">
            <a:solidFill>
              <a:srgbClr val="ABC28D"/>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698609" y="635787"/>
          <a:ext cx="3950287" cy="1120313"/>
        </p:xfrm>
        <a:graphic>
          <a:graphicData uri="http://schemas.openxmlformats.org/drawingml/2006/table">
            <a:tbl>
              <a:tblPr firstRow="1" bandRow="1">
                <a:tableStyleId>{5C22544A-7EE6-4342-B048-85BDC9FD1C3A}</a:tableStyleId>
              </a:tblPr>
              <a:tblGrid>
                <a:gridCol w="987571">
                  <a:extLst>
                    <a:ext uri="{9D8B030D-6E8A-4147-A177-3AD203B41FA5}">
                      <a16:colId xmlns:a16="http://schemas.microsoft.com/office/drawing/2014/main" val="20000"/>
                    </a:ext>
                  </a:extLst>
                </a:gridCol>
                <a:gridCol w="987571">
                  <a:extLst>
                    <a:ext uri="{9D8B030D-6E8A-4147-A177-3AD203B41FA5}">
                      <a16:colId xmlns:a16="http://schemas.microsoft.com/office/drawing/2014/main" val="20001"/>
                    </a:ext>
                  </a:extLst>
                </a:gridCol>
                <a:gridCol w="987571">
                  <a:extLst>
                    <a:ext uri="{9D8B030D-6E8A-4147-A177-3AD203B41FA5}">
                      <a16:colId xmlns:a16="http://schemas.microsoft.com/office/drawing/2014/main" val="20002"/>
                    </a:ext>
                  </a:extLst>
                </a:gridCol>
                <a:gridCol w="987574">
                  <a:extLst>
                    <a:ext uri="{9D8B030D-6E8A-4147-A177-3AD203B41FA5}">
                      <a16:colId xmlns:a16="http://schemas.microsoft.com/office/drawing/2014/main" val="20003"/>
                    </a:ext>
                  </a:extLst>
                </a:gridCol>
              </a:tblGrid>
              <a:tr h="186718">
                <a:tc>
                  <a:txBody>
                    <a:bodyPr/>
                    <a:lstStyle/>
                    <a:p>
                      <a:r>
                        <a:rPr sz="800" b="1">
                          <a:solidFill>
                            <a:srgbClr val="918256"/>
                          </a:solidFill>
                        </a:rPr>
                        <a:t>Module Kernel</a:t>
                      </a:r>
                    </a:p>
                  </a:txBody>
                  <a:tcPr>
                    <a:solidFill>
                      <a:srgbClr val="1B2949"/>
                    </a:solidFill>
                  </a:tcPr>
                </a:tc>
                <a:tc>
                  <a:txBody>
                    <a:bodyPr/>
                    <a:lstStyle/>
                    <a:p>
                      <a:r>
                        <a:rPr sz="800" b="1">
                          <a:solidFill>
                            <a:srgbClr val="918256"/>
                          </a:solidFill>
                        </a:rPr>
                        <a:t>Detail</a:t>
                      </a:r>
                    </a:p>
                  </a:txBody>
                  <a:tcPr>
                    <a:solidFill>
                      <a:srgbClr val="1B2949"/>
                    </a:solidFill>
                  </a:tcPr>
                </a:tc>
                <a:tc>
                  <a:txBody>
                    <a:bodyPr/>
                    <a:lstStyle/>
                    <a:p>
                      <a:r>
                        <a:rPr sz="800" b="1">
                          <a:solidFill>
                            <a:srgbClr val="918256"/>
                          </a:solidFill>
                        </a:rPr>
                        <a:t>Diagram Epoch</a:t>
                      </a:r>
                    </a:p>
                  </a:txBody>
                  <a:tcPr>
                    <a:solidFill>
                      <a:srgbClr val="1B2949"/>
                    </a:solidFill>
                  </a:tcPr>
                </a:tc>
                <a:tc>
                  <a:txBody>
                    <a:bodyPr/>
                    <a:lstStyle/>
                    <a:p>
                      <a:r>
                        <a:rPr sz="800" b="1">
                          <a:solidFill>
                            <a:srgbClr val="918256"/>
                          </a:solidFill>
                        </a:rPr>
                        <a:t>Schema Scale</a:t>
                      </a:r>
                    </a:p>
                  </a:txBody>
                  <a:tcPr>
                    <a:solidFill>
                      <a:srgbClr val="1B2949"/>
                    </a:solidFill>
                  </a:tcPr>
                </a:tc>
                <a:extLst>
                  <a:ext uri="{0D108BD9-81ED-4DB2-BD59-A6C34878D82A}">
                    <a16:rowId xmlns:a16="http://schemas.microsoft.com/office/drawing/2014/main" val="10000"/>
                  </a:ext>
                </a:extLst>
              </a:tr>
              <a:tr h="186718">
                <a:tc>
                  <a:txBody>
                    <a:bodyPr/>
                    <a:lstStyle/>
                    <a:p>
                      <a:r>
                        <a:rPr sz="800" b="0">
                          <a:solidFill>
                            <a:srgbClr val="918256"/>
                          </a:solidFill>
                        </a:rPr>
                        <a:t>Status</a:t>
                      </a:r>
                    </a:p>
                  </a:txBody>
                  <a:tcPr>
                    <a:solidFill>
                      <a:srgbClr val="D4E1DA"/>
                    </a:solidFill>
                  </a:tcPr>
                </a:tc>
                <a:tc>
                  <a:txBody>
                    <a:bodyPr/>
                    <a:lstStyle/>
                    <a:p>
                      <a:r>
                        <a:rPr sz="800" b="0">
                          <a:solidFill>
                            <a:srgbClr val="918256"/>
                          </a:solidFill>
                        </a:rPr>
                        <a:t>Device</a:t>
                      </a:r>
                    </a:p>
                  </a:txBody>
                  <a:tcPr>
                    <a:solidFill>
                      <a:srgbClr val="D4E1DA"/>
                    </a:solidFill>
                  </a:tcPr>
                </a:tc>
                <a:tc>
                  <a:txBody>
                    <a:bodyPr/>
                    <a:lstStyle/>
                    <a:p>
                      <a:r>
                        <a:rPr sz="800" b="0">
                          <a:solidFill>
                            <a:srgbClr val="918256"/>
                          </a:solidFill>
                        </a:rPr>
                        <a:t>Intent</a:t>
                      </a:r>
                    </a:p>
                  </a:txBody>
                  <a:tcPr>
                    <a:solidFill>
                      <a:srgbClr val="D4E1DA"/>
                    </a:solidFill>
                  </a:tcPr>
                </a:tc>
                <a:tc>
                  <a:txBody>
                    <a:bodyPr/>
                    <a:lstStyle/>
                    <a:p>
                      <a:r>
                        <a:rPr sz="800" b="0">
                          <a:solidFill>
                            <a:srgbClr val="918256"/>
                          </a:solidFill>
                        </a:rPr>
                        <a:t>Stage</a:t>
                      </a:r>
                    </a:p>
                  </a:txBody>
                  <a:tcPr>
                    <a:solidFill>
                      <a:srgbClr val="D4E1DA"/>
                    </a:solidFill>
                  </a:tcPr>
                </a:tc>
                <a:extLst>
                  <a:ext uri="{0D108BD9-81ED-4DB2-BD59-A6C34878D82A}">
                    <a16:rowId xmlns:a16="http://schemas.microsoft.com/office/drawing/2014/main" val="10001"/>
                  </a:ext>
                </a:extLst>
              </a:tr>
              <a:tr h="186718">
                <a:tc>
                  <a:txBody>
                    <a:bodyPr/>
                    <a:lstStyle/>
                    <a:p>
                      <a:r>
                        <a:rPr sz="800" b="0">
                          <a:solidFill>
                            <a:srgbClr val="918256"/>
                          </a:solidFill>
                        </a:rPr>
                        <a:t>Stack Column</a:t>
                      </a:r>
                    </a:p>
                  </a:txBody>
                  <a:tcPr>
                    <a:solidFill>
                      <a:srgbClr val="D4E1DA"/>
                    </a:solidFill>
                  </a:tcPr>
                </a:tc>
                <a:tc>
                  <a:txBody>
                    <a:bodyPr/>
                    <a:lstStyle/>
                    <a:p>
                      <a:r>
                        <a:rPr sz="800" b="0">
                          <a:solidFill>
                            <a:srgbClr val="918256"/>
                          </a:solidFill>
                        </a:rPr>
                        <a:t>Echo</a:t>
                      </a:r>
                    </a:p>
                  </a:txBody>
                  <a:tcPr>
                    <a:solidFill>
                      <a:srgbClr val="D4E1DA"/>
                    </a:solidFill>
                  </a:tcPr>
                </a:tc>
                <a:tc>
                  <a:txBody>
                    <a:bodyPr/>
                    <a:lstStyle/>
                    <a:p>
                      <a:r>
                        <a:rPr sz="800" b="0">
                          <a:solidFill>
                            <a:srgbClr val="918256"/>
                          </a:solidFill>
                        </a:rPr>
                        <a:t>Method</a:t>
                      </a:r>
                    </a:p>
                  </a:txBody>
                  <a:tcPr>
                    <a:solidFill>
                      <a:srgbClr val="D4E1DA"/>
                    </a:solidFill>
                  </a:tcPr>
                </a:tc>
                <a:tc>
                  <a:txBody>
                    <a:bodyPr/>
                    <a:lstStyle/>
                    <a:p>
                      <a:r>
                        <a:rPr sz="800" b="0">
                          <a:solidFill>
                            <a:srgbClr val="918256"/>
                          </a:solidFill>
                        </a:rPr>
                        <a:t>Beta Flow</a:t>
                      </a:r>
                    </a:p>
                  </a:txBody>
                  <a:tcPr>
                    <a:solidFill>
                      <a:srgbClr val="D4E1DA"/>
                    </a:solidFill>
                  </a:tcPr>
                </a:tc>
                <a:extLst>
                  <a:ext uri="{0D108BD9-81ED-4DB2-BD59-A6C34878D82A}">
                    <a16:rowId xmlns:a16="http://schemas.microsoft.com/office/drawing/2014/main" val="10002"/>
                  </a:ext>
                </a:extLst>
              </a:tr>
              <a:tr h="186718">
                <a:tc>
                  <a:txBody>
                    <a:bodyPr/>
                    <a:lstStyle/>
                    <a:p>
                      <a:r>
                        <a:rPr sz="800" b="0">
                          <a:solidFill>
                            <a:srgbClr val="918256"/>
                          </a:solidFill>
                        </a:rPr>
                        <a:t>Queueing</a:t>
                      </a:r>
                    </a:p>
                  </a:txBody>
                  <a:tcPr>
                    <a:solidFill>
                      <a:srgbClr val="D4E1DA"/>
                    </a:solidFill>
                  </a:tcPr>
                </a:tc>
                <a:tc>
                  <a:txBody>
                    <a:bodyPr/>
                    <a:lstStyle/>
                    <a:p>
                      <a:r>
                        <a:rPr sz="800" b="0">
                          <a:solidFill>
                            <a:srgbClr val="918256"/>
                          </a:solidFill>
                        </a:rPr>
                        <a:t>Drift</a:t>
                      </a:r>
                    </a:p>
                  </a:txBody>
                  <a:tcPr>
                    <a:solidFill>
                      <a:srgbClr val="D4E1DA"/>
                    </a:solidFill>
                  </a:tcPr>
                </a:tc>
                <a:tc>
                  <a:txBody>
                    <a:bodyPr/>
                    <a:lstStyle/>
                    <a:p>
                      <a:r>
                        <a:rPr sz="800" b="0">
                          <a:solidFill>
                            <a:srgbClr val="918256"/>
                          </a:solidFill>
                        </a:rPr>
                        <a:t>Guide Precision</a:t>
                      </a:r>
                    </a:p>
                  </a:txBody>
                  <a:tcPr>
                    <a:solidFill>
                      <a:srgbClr val="D4E1DA"/>
                    </a:solidFill>
                  </a:tcPr>
                </a:tc>
                <a:tc>
                  <a:txBody>
                    <a:bodyPr/>
                    <a:lstStyle/>
                    <a:p>
                      <a:r>
                        <a:rPr sz="800" b="0">
                          <a:solidFill>
                            <a:srgbClr val="918256"/>
                          </a:solidFill>
                        </a:rPr>
                        <a:t>Narrative Volume</a:t>
                      </a:r>
                    </a:p>
                  </a:txBody>
                  <a:tcPr>
                    <a:solidFill>
                      <a:srgbClr val="D4E1DA"/>
                    </a:solidFill>
                  </a:tcPr>
                </a:tc>
                <a:extLst>
                  <a:ext uri="{0D108BD9-81ED-4DB2-BD59-A6C34878D82A}">
                    <a16:rowId xmlns:a16="http://schemas.microsoft.com/office/drawing/2014/main" val="10003"/>
                  </a:ext>
                </a:extLst>
              </a:tr>
              <a:tr h="186718">
                <a:tc>
                  <a:txBody>
                    <a:bodyPr/>
                    <a:lstStyle/>
                    <a:p>
                      <a:r>
                        <a:rPr sz="800" b="0">
                          <a:solidFill>
                            <a:srgbClr val="918256"/>
                          </a:solidFill>
                        </a:rPr>
                        <a:t>Module</a:t>
                      </a:r>
                    </a:p>
                  </a:txBody>
                  <a:tcPr>
                    <a:solidFill>
                      <a:srgbClr val="D4E1DA"/>
                    </a:solidFill>
                  </a:tcPr>
                </a:tc>
                <a:tc>
                  <a:txBody>
                    <a:bodyPr/>
                    <a:lstStyle/>
                    <a:p>
                      <a:r>
                        <a:rPr sz="800" b="0">
                          <a:solidFill>
                            <a:srgbClr val="918256"/>
                          </a:solidFill>
                        </a:rPr>
                        <a:t>Instance</a:t>
                      </a:r>
                    </a:p>
                  </a:txBody>
                  <a:tcPr>
                    <a:solidFill>
                      <a:srgbClr val="D4E1DA"/>
                    </a:solidFill>
                  </a:tcPr>
                </a:tc>
                <a:tc>
                  <a:txBody>
                    <a:bodyPr/>
                    <a:lstStyle/>
                    <a:p>
                      <a:r>
                        <a:rPr sz="800" b="0">
                          <a:solidFill>
                            <a:srgbClr val="918256"/>
                          </a:solidFill>
                        </a:rPr>
                        <a:t>Feature</a:t>
                      </a:r>
                    </a:p>
                  </a:txBody>
                  <a:tcPr>
                    <a:solidFill>
                      <a:srgbClr val="D4E1DA"/>
                    </a:solidFill>
                  </a:tcPr>
                </a:tc>
                <a:tc>
                  <a:txBody>
                    <a:bodyPr/>
                    <a:lstStyle/>
                    <a:p>
                      <a:r>
                        <a:rPr sz="800" b="0">
                          <a:solidFill>
                            <a:srgbClr val="918256"/>
                          </a:solidFill>
                        </a:rPr>
                        <a:t>Cadence</a:t>
                      </a:r>
                    </a:p>
                  </a:txBody>
                  <a:tcPr>
                    <a:solidFill>
                      <a:srgbClr val="D4E1DA"/>
                    </a:solidFill>
                  </a:tcPr>
                </a:tc>
                <a:extLst>
                  <a:ext uri="{0D108BD9-81ED-4DB2-BD59-A6C34878D82A}">
                    <a16:rowId xmlns:a16="http://schemas.microsoft.com/office/drawing/2014/main" val="10004"/>
                  </a:ext>
                </a:extLst>
              </a:tr>
              <a:tr h="186723">
                <a:tc>
                  <a:txBody>
                    <a:bodyPr/>
                    <a:lstStyle/>
                    <a:p>
                      <a:r>
                        <a:rPr sz="800" b="0">
                          <a:solidFill>
                            <a:srgbClr val="918256"/>
                          </a:solidFill>
                        </a:rPr>
                        <a:t>Point</a:t>
                      </a:r>
                    </a:p>
                  </a:txBody>
                  <a:tcPr>
                    <a:solidFill>
                      <a:srgbClr val="D4E1DA"/>
                    </a:solidFill>
                  </a:tcPr>
                </a:tc>
                <a:tc>
                  <a:txBody>
                    <a:bodyPr/>
                    <a:lstStyle/>
                    <a:p>
                      <a:r>
                        <a:rPr sz="800" b="0">
                          <a:solidFill>
                            <a:srgbClr val="918256"/>
                          </a:solidFill>
                        </a:rPr>
                        <a:t>Cycle Result</a:t>
                      </a:r>
                    </a:p>
                  </a:txBody>
                  <a:tcPr>
                    <a:solidFill>
                      <a:srgbClr val="D4E1DA"/>
                    </a:solidFill>
                  </a:tcPr>
                </a:tc>
                <a:tc>
                  <a:txBody>
                    <a:bodyPr/>
                    <a:lstStyle/>
                    <a:p>
                      <a:r>
                        <a:rPr sz="800" b="0">
                          <a:solidFill>
                            <a:srgbClr val="918256"/>
                          </a:solidFill>
                        </a:rPr>
                        <a:t>Flow View</a:t>
                      </a:r>
                    </a:p>
                  </a:txBody>
                  <a:tcPr>
                    <a:solidFill>
                      <a:srgbClr val="D4E1DA"/>
                    </a:solidFill>
                  </a:tcPr>
                </a:tc>
                <a:tc>
                  <a:txBody>
                    <a:bodyPr/>
                    <a:lstStyle/>
                    <a:p>
                      <a:r>
                        <a:rPr sz="800" b="0">
                          <a:solidFill>
                            <a:srgbClr val="918256"/>
                          </a:solidFill>
                        </a:rPr>
                        <a:t>Layer</a:t>
                      </a:r>
                    </a:p>
                  </a:txBody>
                  <a:tcPr>
                    <a:solidFill>
                      <a:srgbClr val="D4E1DA"/>
                    </a:solidFill>
                  </a:tcPr>
                </a:tc>
                <a:extLst>
                  <a:ext uri="{0D108BD9-81ED-4DB2-BD59-A6C34878D82A}">
                    <a16:rowId xmlns:a16="http://schemas.microsoft.com/office/drawing/2014/main" val="10005"/>
                  </a:ext>
                </a:extLst>
              </a:tr>
            </a:tbl>
          </a:graphicData>
        </a:graphic>
      </p:graphicFrame>
      <p:cxnSp>
        <p:nvCxnSpPr>
          <p:cNvPr id="16" name="Connector 15"/>
          <p:cNvCxnSpPr/>
          <p:nvPr/>
        </p:nvCxnSpPr>
        <p:spPr>
          <a:xfrm>
            <a:off x="7702443" y="4125188"/>
            <a:ext cx="938224" cy="957177"/>
          </a:xfrm>
          <a:prstGeom prst="line">
            <a:avLst/>
          </a:prstGeom>
          <a:ln w="19374">
            <a:solidFill>
              <a:srgbClr val="DF7941"/>
            </a:solidFill>
            <a:prstDash val="dot"/>
          </a:ln>
        </p:spPr>
        <p:style>
          <a:lnRef idx="2">
            <a:schemeClr val="accent1"/>
          </a:lnRef>
          <a:fillRef idx="0">
            <a:schemeClr val="accent1"/>
          </a:fillRef>
          <a:effectRef idx="1">
            <a:schemeClr val="accent1"/>
          </a:effectRef>
          <a:fontRef idx="minor">
            <a:schemeClr val="tx1"/>
          </a:fontRef>
        </p:style>
      </p:cxnSp>
      <p:sp>
        <p:nvSpPr>
          <p:cNvPr id="17" name="Cloud 16"/>
          <p:cNvSpPr/>
          <p:nvPr/>
        </p:nvSpPr>
        <p:spPr>
          <a:xfrm>
            <a:off x="3030950" y="1640544"/>
            <a:ext cx="429032" cy="613599"/>
          </a:xfrm>
          <a:prstGeom prst="cloud">
            <a:avLst/>
          </a:prstGeom>
          <a:solidFill>
            <a:srgbClr val="A92748"/>
          </a:solidFill>
          <a:ln w="30710">
            <a:solidFill>
              <a:srgbClr val="E19F2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3"/>
          <a:srcRect/>
          <a:stretch>
            <a:fillRect/>
          </a:stretch>
        </p:blipFill>
        <p:spPr>
          <a:xfrm>
            <a:off x="6269620" y="495177"/>
            <a:ext cx="1181834" cy="1976272"/>
          </a:xfrm>
          <a:prstGeom prst="rect">
            <a:avLst/>
          </a:prstGeom>
        </p:spPr>
      </p:pic>
      <p:sp>
        <p:nvSpPr>
          <p:cNvPr id="19" name="Rounded Rectangle 18"/>
          <p:cNvSpPr/>
          <p:nvPr/>
        </p:nvSpPr>
        <p:spPr>
          <a:xfrm>
            <a:off x="6269620" y="495177"/>
            <a:ext cx="1181834" cy="1976272"/>
          </a:xfrm>
          <a:prstGeom prst="roundRect">
            <a:avLst/>
          </a:prstGeom>
          <a:noFill/>
          <a:ln w="15240">
            <a:solidFill>
              <a:srgbClr val="2D8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splay 19"/>
          <p:cNvSpPr/>
          <p:nvPr/>
        </p:nvSpPr>
        <p:spPr>
          <a:xfrm>
            <a:off x="9966971" y="4807817"/>
            <a:ext cx="1856524" cy="237154"/>
          </a:xfrm>
          <a:prstGeom prst="flowChartDisplay">
            <a:avLst/>
          </a:prstGeom>
          <a:solidFill>
            <a:srgbClr val="416DA7"/>
          </a:solidFill>
          <a:ln w="26243">
            <a:solidFill>
              <a:srgbClr val="504BAA"/>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995997" y="5391810"/>
            <a:ext cx="800081" cy="1271993"/>
          </a:xfrm>
          <a:prstGeom prst="line">
            <a:avLst/>
          </a:prstGeom>
          <a:ln w="31322">
            <a:solidFill>
              <a:srgbClr val="31C09F"/>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048759" y="5126422"/>
          <a:ext cx="3095120" cy="1446994"/>
        </p:xfrm>
        <a:graphic>
          <a:graphicData uri="http://schemas.openxmlformats.org/drawingml/2006/chart">
            <c:chart xmlns:c="http://schemas.openxmlformats.org/drawingml/2006/chart" xmlns:r="http://schemas.openxmlformats.org/officeDocument/2006/relationships" r:id="rId4"/>
          </a:graphicData>
        </a:graphic>
      </p:graphicFrame>
      <p:pic>
        <p:nvPicPr>
          <p:cNvPr id="23" name="Picture 22" descr="_example_image.jpg"/>
          <p:cNvPicPr>
            <a:picLocks noChangeAspect="1"/>
          </p:cNvPicPr>
          <p:nvPr/>
        </p:nvPicPr>
        <p:blipFill>
          <a:blip r:embed="rId3"/>
          <a:srcRect l="20390" t="170" r="12287" b="17588"/>
          <a:stretch>
            <a:fillRect/>
          </a:stretch>
        </p:blipFill>
        <p:spPr>
          <a:xfrm>
            <a:off x="8838515" y="2363533"/>
            <a:ext cx="2141053" cy="920194"/>
          </a:xfrm>
          <a:prstGeom prst="rect">
            <a:avLst/>
          </a:prstGeom>
        </p:spPr>
      </p:pic>
      <p:sp>
        <p:nvSpPr>
          <p:cNvPr id="24" name="Freeform 23"/>
          <p:cNvSpPr/>
          <p:nvPr/>
        </p:nvSpPr>
        <p:spPr>
          <a:xfrm>
            <a:off x="6381266" y="4338398"/>
            <a:ext cx="1223332" cy="587854"/>
          </a:xfrm>
          <a:custGeom>
            <a:avLst/>
            <a:gdLst/>
            <a:ahLst/>
            <a:cxnLst/>
            <a:rect l="l" t="t" r="r" b="b"/>
            <a:pathLst>
              <a:path w="1223332" h="587854">
                <a:moveTo>
                  <a:pt x="131541" y="100060"/>
                </a:moveTo>
                <a:lnTo>
                  <a:pt x="434085" y="0"/>
                </a:lnTo>
                <a:lnTo>
                  <a:pt x="894479" y="50030"/>
                </a:lnTo>
                <a:lnTo>
                  <a:pt x="1223332" y="237643"/>
                </a:lnTo>
                <a:lnTo>
                  <a:pt x="1052328" y="487794"/>
                </a:lnTo>
                <a:lnTo>
                  <a:pt x="565626" y="587854"/>
                </a:lnTo>
                <a:lnTo>
                  <a:pt x="78924" y="425256"/>
                </a:lnTo>
                <a:lnTo>
                  <a:pt x="0" y="212628"/>
                </a:lnTo>
                <a:close/>
              </a:path>
            </a:pathLst>
          </a:custGeom>
          <a:solidFill>
            <a:srgbClr val="D896E4"/>
          </a:solidFill>
          <a:ln w="8283">
            <a:solidFill>
              <a:srgbClr val="3E7C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Ribbon 24"/>
          <p:cNvSpPr/>
          <p:nvPr/>
        </p:nvSpPr>
        <p:spPr>
          <a:xfrm>
            <a:off x="3542190" y="1344609"/>
            <a:ext cx="2489836" cy="466740"/>
          </a:xfrm>
          <a:prstGeom prst="ribbon2">
            <a:avLst/>
          </a:prstGeom>
          <a:solidFill>
            <a:srgbClr val="64A822"/>
          </a:solidFill>
          <a:ln w="31120">
            <a:solidFill>
              <a:srgbClr val="AE95A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3"/>
          <a:srcRect l="7574" t="20664" r="12671" b="8968"/>
          <a:stretch>
            <a:fillRect/>
          </a:stretch>
        </p:blipFill>
        <p:spPr>
          <a:xfrm>
            <a:off x="773278" y="3767846"/>
            <a:ext cx="1637638" cy="1091842"/>
          </a:xfrm>
          <a:prstGeom prst="rect">
            <a:avLst/>
          </a:prstGeom>
        </p:spPr>
      </p:pic>
      <p:sp>
        <p:nvSpPr>
          <p:cNvPr id="27" name="Can 26"/>
          <p:cNvSpPr/>
          <p:nvPr/>
        </p:nvSpPr>
        <p:spPr>
          <a:xfrm>
            <a:off x="9103791" y="715488"/>
            <a:ext cx="860681" cy="1405817"/>
          </a:xfrm>
          <a:prstGeom prst="can">
            <a:avLst/>
          </a:prstGeom>
          <a:solidFill>
            <a:srgbClr val="33BDC4"/>
          </a:solidFill>
          <a:ln w="13238">
            <a:solidFill>
              <a:srgbClr val="67759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37CC5572-7944-F256-480E-50A322F6839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937568" y="3394385"/>
            <a:ext cx="2506988" cy="1156107"/>
          </a:xfrm>
          <a:prstGeom prst="rect">
            <a:avLst/>
          </a:prstGeom>
        </p:spPr>
      </p:pic>
      <p:pic>
        <p:nvPicPr>
          <p:cNvPr id="31" name="Graphic 30">
            <a:extLst>
              <a:ext uri="{FF2B5EF4-FFF2-40B4-BE49-F238E27FC236}">
                <a16:creationId xmlns:a16="http://schemas.microsoft.com/office/drawing/2014/main" id="{C41F5E6A-B39F-036A-F136-3B8768AEB62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041307" y="1867378"/>
            <a:ext cx="1088285" cy="75968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31341" y="6209271"/>
            <a:ext cx="2470673" cy="278419"/>
          </a:xfrm>
          <a:prstGeom prst="rect">
            <a:avLst/>
          </a:prstGeom>
          <a:noFill/>
        </p:spPr>
        <p:txBody>
          <a:bodyPr wrap="none" lIns="32769" tIns="32769" rIns="32769" bIns="32769">
            <a:spAutoFit/>
          </a:bodyPr>
          <a:lstStyle/>
          <a:p>
            <a:r>
              <a:rPr sz="4600" b="1" i="0" u="none">
                <a:solidFill>
                  <a:srgbClr val="616A7E"/>
                </a:solidFill>
                <a:latin typeface="Arial"/>
              </a:rPr>
              <a:t>Request Transit Guide Mesh Pipeline Array</a:t>
            </a:r>
          </a:p>
        </p:txBody>
      </p:sp>
      <p:sp>
        <p:nvSpPr>
          <p:cNvPr id="3" name="TextBox 2"/>
          <p:cNvSpPr txBox="1"/>
          <p:nvPr/>
        </p:nvSpPr>
        <p:spPr>
          <a:xfrm>
            <a:off x="2265889" y="4078050"/>
            <a:ext cx="3291469" cy="1771807"/>
          </a:xfrm>
          <a:prstGeom prst="rect">
            <a:avLst/>
          </a:prstGeom>
          <a:noFill/>
        </p:spPr>
        <p:txBody>
          <a:bodyPr wrap="none" lIns="20964" tIns="20964" rIns="20964" bIns="20964">
            <a:spAutoFit/>
          </a:bodyPr>
          <a:lstStyle/>
          <a:p>
            <a:r>
              <a:rPr sz="5600" b="1" i="0" u="none">
                <a:solidFill>
                  <a:srgbClr val="CD50E4"/>
                </a:solidFill>
                <a:latin typeface="Georgia"/>
              </a:rPr>
              <a:t>Story Vector Sync North Payload Volume Goal</a:t>
            </a:r>
          </a:p>
        </p:txBody>
      </p:sp>
      <p:sp>
        <p:nvSpPr>
          <p:cNvPr id="4" name="U-Turn Arrow 3"/>
          <p:cNvSpPr/>
          <p:nvPr/>
        </p:nvSpPr>
        <p:spPr>
          <a:xfrm>
            <a:off x="1682720" y="1762435"/>
            <a:ext cx="1797954" cy="356195"/>
          </a:xfrm>
          <a:prstGeom prst="uturnArrow">
            <a:avLst/>
          </a:prstGeom>
          <a:noFill/>
          <a:ln w="15980">
            <a:solidFill>
              <a:srgbClr val="898147"/>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7151175" y="152705"/>
          <a:ext cx="2313355" cy="1498348"/>
        </p:xfrm>
        <a:graphic>
          <a:graphicData uri="http://schemas.openxmlformats.org/drawingml/2006/chart">
            <c:chart xmlns:c="http://schemas.openxmlformats.org/drawingml/2006/chart" xmlns:r="http://schemas.openxmlformats.org/officeDocument/2006/relationships" r:id="rId2"/>
          </a:graphicData>
        </a:graphic>
      </p:graphicFrame>
      <p:pic>
        <p:nvPicPr>
          <p:cNvPr id="6" name="Picture 5" descr="_example_image.jpg"/>
          <p:cNvPicPr>
            <a:picLocks noChangeAspect="1"/>
          </p:cNvPicPr>
          <p:nvPr/>
        </p:nvPicPr>
        <p:blipFill>
          <a:blip r:embed="rId3"/>
          <a:srcRect l="18737" t="20698" r="1728" b="18567"/>
          <a:stretch>
            <a:fillRect/>
          </a:stretch>
        </p:blipFill>
        <p:spPr>
          <a:xfrm>
            <a:off x="5627555" y="241991"/>
            <a:ext cx="1846172" cy="994973"/>
          </a:xfrm>
          <a:prstGeom prst="rect">
            <a:avLst/>
          </a:prstGeom>
        </p:spPr>
      </p:pic>
      <p:cxnSp>
        <p:nvCxnSpPr>
          <p:cNvPr id="7" name="Connector 6"/>
          <p:cNvCxnSpPr/>
          <p:nvPr/>
        </p:nvCxnSpPr>
        <p:spPr>
          <a:xfrm flipV="1">
            <a:off x="3786358" y="2823200"/>
            <a:ext cx="1203083" cy="428369"/>
          </a:xfrm>
          <a:prstGeom prst="curvedConnector3">
            <a:avLst/>
          </a:prstGeom>
          <a:ln w="35308">
            <a:solidFill>
              <a:srgbClr val="6DBE2B"/>
            </a:solidFill>
            <a:prstDash val="dash"/>
          </a:ln>
        </p:spPr>
        <p:style>
          <a:lnRef idx="2">
            <a:schemeClr val="accent1"/>
          </a:lnRef>
          <a:fillRef idx="0">
            <a:schemeClr val="accent1"/>
          </a:fillRef>
          <a:effectRef idx="1">
            <a:schemeClr val="accent1"/>
          </a:effectRef>
          <a:fontRef idx="minor">
            <a:schemeClr val="tx1"/>
          </a:fontRef>
        </p:style>
      </p:cxnSp>
      <p:pic>
        <p:nvPicPr>
          <p:cNvPr id="8" name="Picture 7" descr="_example_image.jpg"/>
          <p:cNvPicPr>
            <a:picLocks noChangeAspect="1"/>
          </p:cNvPicPr>
          <p:nvPr/>
        </p:nvPicPr>
        <p:blipFill>
          <a:blip r:embed="rId3"/>
          <a:srcRect/>
          <a:stretch>
            <a:fillRect/>
          </a:stretch>
        </p:blipFill>
        <p:spPr>
          <a:xfrm>
            <a:off x="568967" y="5533237"/>
            <a:ext cx="1965768" cy="1028305"/>
          </a:xfrm>
          <a:prstGeom prst="rect">
            <a:avLst/>
          </a:prstGeom>
        </p:spPr>
      </p:pic>
      <p:sp>
        <p:nvSpPr>
          <p:cNvPr id="9" name="Predefined Process 8"/>
          <p:cNvSpPr/>
          <p:nvPr/>
        </p:nvSpPr>
        <p:spPr>
          <a:xfrm>
            <a:off x="8651113" y="551721"/>
            <a:ext cx="2042677" cy="1443109"/>
          </a:xfrm>
          <a:prstGeom prst="flowChartPredefinedProcess">
            <a:avLst/>
          </a:prstGeom>
          <a:solidFill>
            <a:srgbClr val="5F9A74"/>
          </a:solidFill>
          <a:ln w="27028">
            <a:solidFill>
              <a:srgbClr val="E4B57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a:off x="7964683" y="2573407"/>
            <a:ext cx="1080767" cy="661535"/>
          </a:xfrm>
          <a:prstGeom prst="bentConnector3">
            <a:avLst/>
          </a:prstGeom>
          <a:ln w="44149">
            <a:solidFill>
              <a:srgbClr val="6FB8C8"/>
            </a:solidFill>
            <a:prstDash val="dot"/>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10935222" y="5034572"/>
            <a:ext cx="903574" cy="441438"/>
          </a:xfrm>
          <a:custGeom>
            <a:avLst/>
            <a:gdLst/>
            <a:ahLst/>
            <a:cxnLst/>
            <a:rect l="l" t="t" r="r" b="b"/>
            <a:pathLst>
              <a:path w="903574" h="441438">
                <a:moveTo>
                  <a:pt x="0" y="214588"/>
                </a:moveTo>
                <a:lnTo>
                  <a:pt x="155453" y="0"/>
                </a:lnTo>
                <a:lnTo>
                  <a:pt x="320623" y="183932"/>
                </a:lnTo>
                <a:lnTo>
                  <a:pt x="485792" y="367865"/>
                </a:lnTo>
                <a:lnTo>
                  <a:pt x="660677" y="153277"/>
                </a:lnTo>
                <a:lnTo>
                  <a:pt x="903574" y="232981"/>
                </a:lnTo>
                <a:lnTo>
                  <a:pt x="903574" y="441438"/>
                </a:lnTo>
                <a:lnTo>
                  <a:pt x="0" y="441438"/>
                </a:lnTo>
                <a:close/>
              </a:path>
            </a:pathLst>
          </a:custGeom>
          <a:solidFill>
            <a:srgbClr val="3F874F"/>
          </a:solidFill>
          <a:ln w="14389">
            <a:solidFill>
              <a:srgbClr val="D3C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77040" y="2898798"/>
            <a:ext cx="593027" cy="816298"/>
          </a:xfrm>
          <a:prstGeom prst="rect">
            <a:avLst/>
          </a:prstGeom>
          <a:noFill/>
        </p:spPr>
        <p:txBody>
          <a:bodyPr wrap="none" lIns="57383" tIns="57383" rIns="57383" bIns="57383">
            <a:spAutoFit/>
          </a:bodyPr>
          <a:lstStyle/>
          <a:p>
            <a:r>
              <a:rPr sz="1700" b="0" i="0" u="none">
                <a:solidFill>
                  <a:srgbClr val="BA4620"/>
                </a:solidFill>
                <a:latin typeface="Verdana"/>
              </a:rPr>
              <a:t>Object Limit Action Threshold Source Trend Status Span Dispatch Program</a:t>
            </a:r>
          </a:p>
        </p:txBody>
      </p:sp>
      <p:sp>
        <p:nvSpPr>
          <p:cNvPr id="13" name="TextBox 12"/>
          <p:cNvSpPr txBox="1"/>
          <p:nvPr/>
        </p:nvSpPr>
        <p:spPr>
          <a:xfrm>
            <a:off x="7279599" y="3248329"/>
            <a:ext cx="3689246" cy="703823"/>
          </a:xfrm>
          <a:prstGeom prst="rect">
            <a:avLst/>
          </a:prstGeom>
          <a:noFill/>
        </p:spPr>
        <p:txBody>
          <a:bodyPr wrap="none" lIns="88405" tIns="88405" rIns="88405" bIns="88405">
            <a:spAutoFit/>
          </a:bodyPr>
          <a:lstStyle/>
          <a:p>
            <a:r>
              <a:rPr sz="1500" b="0" i="0" u="sng">
                <a:solidFill>
                  <a:srgbClr val="5EB250"/>
                </a:solidFill>
                <a:latin typeface="Verdana"/>
              </a:rPr>
              <a:t>Station Detail Topology Slice Checkpoint Method Journey Envelope Reference Phase Insight Region Function Moment Archive Echo Status Dashboard Velocity Analysis Snapshot Flow Command Pulse Impact Duration Drive Story Report Packet Beacon Interface Forecast State Switch Model Atlas Access Briefing</a:t>
            </a:r>
          </a:p>
        </p:txBody>
      </p:sp>
      <p:graphicFrame>
        <p:nvGraphicFramePr>
          <p:cNvPr id="14" name="Table 13"/>
          <p:cNvGraphicFramePr>
            <a:graphicFrameLocks noGrp="1"/>
          </p:cNvGraphicFramePr>
          <p:nvPr/>
        </p:nvGraphicFramePr>
        <p:xfrm>
          <a:off x="252458" y="2218203"/>
          <a:ext cx="2086522" cy="1123740"/>
        </p:xfrm>
        <a:graphic>
          <a:graphicData uri="http://schemas.openxmlformats.org/drawingml/2006/table">
            <a:tbl>
              <a:tblPr firstRow="1" bandRow="1">
                <a:tableStyleId>{5C22544A-7EE6-4342-B048-85BDC9FD1C3A}</a:tableStyleId>
              </a:tblPr>
              <a:tblGrid>
                <a:gridCol w="1043261">
                  <a:extLst>
                    <a:ext uri="{9D8B030D-6E8A-4147-A177-3AD203B41FA5}">
                      <a16:colId xmlns:a16="http://schemas.microsoft.com/office/drawing/2014/main" val="20000"/>
                    </a:ext>
                  </a:extLst>
                </a:gridCol>
                <a:gridCol w="1043261">
                  <a:extLst>
                    <a:ext uri="{9D8B030D-6E8A-4147-A177-3AD203B41FA5}">
                      <a16:colId xmlns:a16="http://schemas.microsoft.com/office/drawing/2014/main" val="20001"/>
                    </a:ext>
                  </a:extLst>
                </a:gridCol>
              </a:tblGrid>
              <a:tr h="187290">
                <a:tc>
                  <a:txBody>
                    <a:bodyPr/>
                    <a:lstStyle/>
                    <a:p>
                      <a:r>
                        <a:rPr sz="1200" b="0">
                          <a:solidFill>
                            <a:srgbClr val="822F2F"/>
                          </a:solidFill>
                        </a:rPr>
                        <a:t>State</a:t>
                      </a:r>
                    </a:p>
                  </a:txBody>
                  <a:tcPr>
                    <a:solidFill>
                      <a:srgbClr val="DEEAD7"/>
                    </a:solidFill>
                  </a:tcPr>
                </a:tc>
                <a:tc>
                  <a:txBody>
                    <a:bodyPr/>
                    <a:lstStyle/>
                    <a:p>
                      <a:r>
                        <a:rPr sz="1200" b="0">
                          <a:solidFill>
                            <a:srgbClr val="822F2F"/>
                          </a:solidFill>
                        </a:rPr>
                        <a:t>Design</a:t>
                      </a:r>
                    </a:p>
                  </a:txBody>
                  <a:tcPr>
                    <a:solidFill>
                      <a:srgbClr val="DEEAD7"/>
                    </a:solidFill>
                  </a:tcPr>
                </a:tc>
                <a:extLst>
                  <a:ext uri="{0D108BD9-81ED-4DB2-BD59-A6C34878D82A}">
                    <a16:rowId xmlns:a16="http://schemas.microsoft.com/office/drawing/2014/main" val="10000"/>
                  </a:ext>
                </a:extLst>
              </a:tr>
              <a:tr h="187290">
                <a:tc>
                  <a:txBody>
                    <a:bodyPr/>
                    <a:lstStyle/>
                    <a:p>
                      <a:r>
                        <a:rPr sz="1200" b="0">
                          <a:solidFill>
                            <a:srgbClr val="822F2F"/>
                          </a:solidFill>
                        </a:rPr>
                        <a:t>Thread</a:t>
                      </a:r>
                    </a:p>
                  </a:txBody>
                  <a:tcPr>
                    <a:solidFill>
                      <a:srgbClr val="DEEAD7"/>
                    </a:solidFill>
                  </a:tcPr>
                </a:tc>
                <a:tc>
                  <a:txBody>
                    <a:bodyPr/>
                    <a:lstStyle/>
                    <a:p>
                      <a:r>
                        <a:rPr sz="1200" b="0">
                          <a:solidFill>
                            <a:srgbClr val="822F2F"/>
                          </a:solidFill>
                        </a:rPr>
                        <a:t>Variant Asset</a:t>
                      </a:r>
                    </a:p>
                  </a:txBody>
                  <a:tcPr>
                    <a:solidFill>
                      <a:srgbClr val="DEEAD7"/>
                    </a:solidFill>
                  </a:tcPr>
                </a:tc>
                <a:extLst>
                  <a:ext uri="{0D108BD9-81ED-4DB2-BD59-A6C34878D82A}">
                    <a16:rowId xmlns:a16="http://schemas.microsoft.com/office/drawing/2014/main" val="10001"/>
                  </a:ext>
                </a:extLst>
              </a:tr>
              <a:tr h="187290">
                <a:tc>
                  <a:txBody>
                    <a:bodyPr/>
                    <a:lstStyle/>
                    <a:p>
                      <a:r>
                        <a:rPr sz="1200" b="0">
                          <a:solidFill>
                            <a:srgbClr val="822F2F"/>
                          </a:solidFill>
                        </a:rPr>
                        <a:t>Mode</a:t>
                      </a:r>
                    </a:p>
                  </a:txBody>
                  <a:tcPr>
                    <a:solidFill>
                      <a:srgbClr val="DEEAD7"/>
                    </a:solidFill>
                  </a:tcPr>
                </a:tc>
                <a:tc>
                  <a:txBody>
                    <a:bodyPr/>
                    <a:lstStyle/>
                    <a:p>
                      <a:r>
                        <a:rPr sz="1200" b="0">
                          <a:solidFill>
                            <a:srgbClr val="822F2F"/>
                          </a:solidFill>
                        </a:rPr>
                        <a:t>Bridge</a:t>
                      </a:r>
                    </a:p>
                  </a:txBody>
                  <a:tcPr>
                    <a:solidFill>
                      <a:srgbClr val="DEEAD7"/>
                    </a:solidFill>
                  </a:tcPr>
                </a:tc>
                <a:extLst>
                  <a:ext uri="{0D108BD9-81ED-4DB2-BD59-A6C34878D82A}">
                    <a16:rowId xmlns:a16="http://schemas.microsoft.com/office/drawing/2014/main" val="10002"/>
                  </a:ext>
                </a:extLst>
              </a:tr>
              <a:tr h="187290">
                <a:tc>
                  <a:txBody>
                    <a:bodyPr/>
                    <a:lstStyle/>
                    <a:p>
                      <a:r>
                        <a:rPr sz="1200" b="0">
                          <a:solidFill>
                            <a:srgbClr val="822F2F"/>
                          </a:solidFill>
                        </a:rPr>
                        <a:t>Layer</a:t>
                      </a:r>
                    </a:p>
                  </a:txBody>
                  <a:tcPr>
                    <a:solidFill>
                      <a:srgbClr val="DEEAD7"/>
                    </a:solidFill>
                  </a:tcPr>
                </a:tc>
                <a:tc>
                  <a:txBody>
                    <a:bodyPr/>
                    <a:lstStyle/>
                    <a:p>
                      <a:r>
                        <a:rPr sz="1200" b="0">
                          <a:solidFill>
                            <a:srgbClr val="822F2F"/>
                          </a:solidFill>
                        </a:rPr>
                        <a:t>Drive</a:t>
                      </a:r>
                    </a:p>
                  </a:txBody>
                  <a:tcPr>
                    <a:solidFill>
                      <a:srgbClr val="DEEAD7"/>
                    </a:solidFill>
                  </a:tcPr>
                </a:tc>
                <a:extLst>
                  <a:ext uri="{0D108BD9-81ED-4DB2-BD59-A6C34878D82A}">
                    <a16:rowId xmlns:a16="http://schemas.microsoft.com/office/drawing/2014/main" val="10003"/>
                  </a:ext>
                </a:extLst>
              </a:tr>
              <a:tr h="187290">
                <a:tc>
                  <a:txBody>
                    <a:bodyPr/>
                    <a:lstStyle/>
                    <a:p>
                      <a:r>
                        <a:rPr sz="1200" b="0">
                          <a:solidFill>
                            <a:srgbClr val="822F2F"/>
                          </a:solidFill>
                        </a:rPr>
                        <a:t>Timeline</a:t>
                      </a:r>
                    </a:p>
                  </a:txBody>
                  <a:tcPr>
                    <a:solidFill>
                      <a:srgbClr val="DEEAD7"/>
                    </a:solidFill>
                  </a:tcPr>
                </a:tc>
                <a:tc>
                  <a:txBody>
                    <a:bodyPr/>
                    <a:lstStyle/>
                    <a:p>
                      <a:r>
                        <a:rPr sz="1200" b="0">
                          <a:solidFill>
                            <a:srgbClr val="822F2F"/>
                          </a:solidFill>
                        </a:rPr>
                        <a:t>Schema Diagram</a:t>
                      </a:r>
                    </a:p>
                  </a:txBody>
                  <a:tcPr>
                    <a:solidFill>
                      <a:srgbClr val="DEEAD7"/>
                    </a:solidFill>
                  </a:tcPr>
                </a:tc>
                <a:extLst>
                  <a:ext uri="{0D108BD9-81ED-4DB2-BD59-A6C34878D82A}">
                    <a16:rowId xmlns:a16="http://schemas.microsoft.com/office/drawing/2014/main" val="10004"/>
                  </a:ext>
                </a:extLst>
              </a:tr>
              <a:tr h="187290">
                <a:tc>
                  <a:txBody>
                    <a:bodyPr/>
                    <a:lstStyle/>
                    <a:p>
                      <a:r>
                        <a:rPr sz="1200" b="0">
                          <a:solidFill>
                            <a:srgbClr val="822F2F"/>
                          </a:solidFill>
                        </a:rPr>
                        <a:t>Journey Method</a:t>
                      </a:r>
                    </a:p>
                  </a:txBody>
                  <a:tcPr>
                    <a:solidFill>
                      <a:srgbClr val="DEEAD7"/>
                    </a:solidFill>
                  </a:tcPr>
                </a:tc>
                <a:tc>
                  <a:txBody>
                    <a:bodyPr/>
                    <a:lstStyle/>
                    <a:p>
                      <a:r>
                        <a:rPr sz="1200" b="0">
                          <a:solidFill>
                            <a:srgbClr val="822F2F"/>
                          </a:solidFill>
                        </a:rPr>
                        <a:t>Inventory</a:t>
                      </a:r>
                    </a:p>
                  </a:txBody>
                  <a:tcPr>
                    <a:solidFill>
                      <a:srgbClr val="DEEAD7"/>
                    </a:solidFill>
                  </a:tcPr>
                </a:tc>
                <a:extLst>
                  <a:ext uri="{0D108BD9-81ED-4DB2-BD59-A6C34878D82A}">
                    <a16:rowId xmlns:a16="http://schemas.microsoft.com/office/drawing/2014/main" val="10005"/>
                  </a:ext>
                </a:extLst>
              </a:tr>
            </a:tbl>
          </a:graphicData>
        </a:graphic>
      </p:graphicFrame>
      <p:graphicFrame>
        <p:nvGraphicFramePr>
          <p:cNvPr id="15" name="Table 14"/>
          <p:cNvGraphicFramePr>
            <a:graphicFrameLocks noGrp="1"/>
          </p:cNvGraphicFramePr>
          <p:nvPr/>
        </p:nvGraphicFramePr>
        <p:xfrm>
          <a:off x="9580564" y="4122924"/>
          <a:ext cx="2200480" cy="1004016"/>
        </p:xfrm>
        <a:graphic>
          <a:graphicData uri="http://schemas.openxmlformats.org/drawingml/2006/table">
            <a:tbl>
              <a:tblPr firstRow="1" bandRow="1">
                <a:tableStyleId>{5C22544A-7EE6-4342-B048-85BDC9FD1C3A}</a:tableStyleId>
              </a:tblPr>
              <a:tblGrid>
                <a:gridCol w="1100240">
                  <a:extLst>
                    <a:ext uri="{9D8B030D-6E8A-4147-A177-3AD203B41FA5}">
                      <a16:colId xmlns:a16="http://schemas.microsoft.com/office/drawing/2014/main" val="20000"/>
                    </a:ext>
                  </a:extLst>
                </a:gridCol>
                <a:gridCol w="1100240">
                  <a:extLst>
                    <a:ext uri="{9D8B030D-6E8A-4147-A177-3AD203B41FA5}">
                      <a16:colId xmlns:a16="http://schemas.microsoft.com/office/drawing/2014/main" val="20001"/>
                    </a:ext>
                  </a:extLst>
                </a:gridCol>
              </a:tblGrid>
              <a:tr h="167336">
                <a:tc>
                  <a:txBody>
                    <a:bodyPr/>
                    <a:lstStyle/>
                    <a:p>
                      <a:r>
                        <a:rPr sz="700" b="1">
                          <a:solidFill>
                            <a:srgbClr val="8795E5"/>
                          </a:solidFill>
                        </a:rPr>
                        <a:t>Benchmark Duration</a:t>
                      </a:r>
                    </a:p>
                  </a:txBody>
                  <a:tcPr>
                    <a:solidFill>
                      <a:srgbClr val="A527DE"/>
                    </a:solidFill>
                  </a:tcPr>
                </a:tc>
                <a:tc>
                  <a:txBody>
                    <a:bodyPr/>
                    <a:lstStyle/>
                    <a:p>
                      <a:r>
                        <a:rPr sz="700" b="1">
                          <a:solidFill>
                            <a:srgbClr val="8795E5"/>
                          </a:solidFill>
                        </a:rPr>
                        <a:t>Node Range</a:t>
                      </a:r>
                    </a:p>
                  </a:txBody>
                  <a:tcPr>
                    <a:solidFill>
                      <a:srgbClr val="A527DE"/>
                    </a:solidFill>
                  </a:tcPr>
                </a:tc>
                <a:extLst>
                  <a:ext uri="{0D108BD9-81ED-4DB2-BD59-A6C34878D82A}">
                    <a16:rowId xmlns:a16="http://schemas.microsoft.com/office/drawing/2014/main" val="10000"/>
                  </a:ext>
                </a:extLst>
              </a:tr>
              <a:tr h="167336">
                <a:tc>
                  <a:txBody>
                    <a:bodyPr/>
                    <a:lstStyle/>
                    <a:p>
                      <a:r>
                        <a:rPr sz="700" b="0">
                          <a:solidFill>
                            <a:srgbClr val="8795E5"/>
                          </a:solidFill>
                        </a:rPr>
                        <a:t>Resource Benchmark</a:t>
                      </a:r>
                    </a:p>
                  </a:txBody>
                  <a:tcPr>
                    <a:solidFill>
                      <a:srgbClr val="C2AEEC"/>
                    </a:solidFill>
                  </a:tcPr>
                </a:tc>
                <a:tc>
                  <a:txBody>
                    <a:bodyPr/>
                    <a:lstStyle/>
                    <a:p>
                      <a:r>
                        <a:rPr sz="700" b="0">
                          <a:solidFill>
                            <a:srgbClr val="8795E5"/>
                          </a:solidFill>
                        </a:rPr>
                        <a:t>Milestone</a:t>
                      </a:r>
                    </a:p>
                  </a:txBody>
                  <a:tcPr>
                    <a:solidFill>
                      <a:srgbClr val="C2AEEC"/>
                    </a:solidFill>
                  </a:tcPr>
                </a:tc>
                <a:extLst>
                  <a:ext uri="{0D108BD9-81ED-4DB2-BD59-A6C34878D82A}">
                    <a16:rowId xmlns:a16="http://schemas.microsoft.com/office/drawing/2014/main" val="10001"/>
                  </a:ext>
                </a:extLst>
              </a:tr>
              <a:tr h="167336">
                <a:tc>
                  <a:txBody>
                    <a:bodyPr/>
                    <a:lstStyle/>
                    <a:p>
                      <a:r>
                        <a:rPr sz="700" b="0">
                          <a:solidFill>
                            <a:srgbClr val="8795E5"/>
                          </a:solidFill>
                        </a:rPr>
                        <a:t>Slice Pixel</a:t>
                      </a:r>
                    </a:p>
                  </a:txBody>
                  <a:tcPr>
                    <a:solidFill>
                      <a:srgbClr val="E5DDF7"/>
                    </a:solidFill>
                  </a:tcPr>
                </a:tc>
                <a:tc>
                  <a:txBody>
                    <a:bodyPr/>
                    <a:lstStyle/>
                    <a:p>
                      <a:r>
                        <a:rPr sz="700" b="0">
                          <a:solidFill>
                            <a:srgbClr val="8795E5"/>
                          </a:solidFill>
                        </a:rPr>
                        <a:t>Brief Action</a:t>
                      </a:r>
                    </a:p>
                  </a:txBody>
                  <a:tcPr>
                    <a:solidFill>
                      <a:srgbClr val="E5DDF7"/>
                    </a:solidFill>
                  </a:tcPr>
                </a:tc>
                <a:extLst>
                  <a:ext uri="{0D108BD9-81ED-4DB2-BD59-A6C34878D82A}">
                    <a16:rowId xmlns:a16="http://schemas.microsoft.com/office/drawing/2014/main" val="10002"/>
                  </a:ext>
                </a:extLst>
              </a:tr>
              <a:tr h="167336">
                <a:tc>
                  <a:txBody>
                    <a:bodyPr/>
                    <a:lstStyle/>
                    <a:p>
                      <a:r>
                        <a:rPr sz="700" b="0">
                          <a:solidFill>
                            <a:srgbClr val="8795E5"/>
                          </a:solidFill>
                        </a:rPr>
                        <a:t>Anchor</a:t>
                      </a:r>
                    </a:p>
                  </a:txBody>
                  <a:tcPr>
                    <a:solidFill>
                      <a:srgbClr val="C2AEEC"/>
                    </a:solidFill>
                  </a:tcPr>
                </a:tc>
                <a:tc>
                  <a:txBody>
                    <a:bodyPr/>
                    <a:lstStyle/>
                    <a:p>
                      <a:r>
                        <a:rPr sz="700" b="0">
                          <a:solidFill>
                            <a:srgbClr val="8795E5"/>
                          </a:solidFill>
                        </a:rPr>
                        <a:t>Filter</a:t>
                      </a:r>
                    </a:p>
                  </a:txBody>
                  <a:tcPr>
                    <a:solidFill>
                      <a:srgbClr val="C2AEEC"/>
                    </a:solidFill>
                  </a:tcPr>
                </a:tc>
                <a:extLst>
                  <a:ext uri="{0D108BD9-81ED-4DB2-BD59-A6C34878D82A}">
                    <a16:rowId xmlns:a16="http://schemas.microsoft.com/office/drawing/2014/main" val="10003"/>
                  </a:ext>
                </a:extLst>
              </a:tr>
              <a:tr h="167336">
                <a:tc>
                  <a:txBody>
                    <a:bodyPr/>
                    <a:lstStyle/>
                    <a:p>
                      <a:r>
                        <a:rPr sz="700" b="0">
                          <a:solidFill>
                            <a:srgbClr val="8795E5"/>
                          </a:solidFill>
                        </a:rPr>
                        <a:t>Core</a:t>
                      </a:r>
                    </a:p>
                  </a:txBody>
                  <a:tcPr>
                    <a:solidFill>
                      <a:srgbClr val="E5DDF7"/>
                    </a:solidFill>
                  </a:tcPr>
                </a:tc>
                <a:tc>
                  <a:txBody>
                    <a:bodyPr/>
                    <a:lstStyle/>
                    <a:p>
                      <a:r>
                        <a:rPr sz="700" b="0">
                          <a:solidFill>
                            <a:srgbClr val="8795E5"/>
                          </a:solidFill>
                        </a:rPr>
                        <a:t>View</a:t>
                      </a:r>
                    </a:p>
                  </a:txBody>
                  <a:tcPr>
                    <a:solidFill>
                      <a:srgbClr val="E5DDF7"/>
                    </a:solidFill>
                  </a:tcPr>
                </a:tc>
                <a:extLst>
                  <a:ext uri="{0D108BD9-81ED-4DB2-BD59-A6C34878D82A}">
                    <a16:rowId xmlns:a16="http://schemas.microsoft.com/office/drawing/2014/main" val="10004"/>
                  </a:ext>
                </a:extLst>
              </a:tr>
              <a:tr h="167336">
                <a:tc>
                  <a:txBody>
                    <a:bodyPr/>
                    <a:lstStyle/>
                    <a:p>
                      <a:r>
                        <a:rPr sz="700" b="0">
                          <a:solidFill>
                            <a:srgbClr val="8795E5"/>
                          </a:solidFill>
                        </a:rPr>
                        <a:t>Goal Packet</a:t>
                      </a:r>
                    </a:p>
                  </a:txBody>
                  <a:tcPr>
                    <a:solidFill>
                      <a:srgbClr val="C2AEEC"/>
                    </a:solidFill>
                  </a:tcPr>
                </a:tc>
                <a:tc>
                  <a:txBody>
                    <a:bodyPr/>
                    <a:lstStyle/>
                    <a:p>
                      <a:r>
                        <a:rPr sz="700" b="0">
                          <a:solidFill>
                            <a:srgbClr val="8795E5"/>
                          </a:solidFill>
                        </a:rPr>
                        <a:t>Pipeline</a:t>
                      </a:r>
                    </a:p>
                  </a:txBody>
                  <a:tcPr>
                    <a:solidFill>
                      <a:srgbClr val="C2AEEC"/>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1272532" y="286108"/>
            <a:ext cx="3500776" cy="678771"/>
          </a:xfrm>
          <a:prstGeom prst="rect">
            <a:avLst/>
          </a:prstGeom>
          <a:noFill/>
        </p:spPr>
        <p:txBody>
          <a:bodyPr wrap="none" lIns="53574" tIns="53574" rIns="53574" bIns="53574">
            <a:spAutoFit/>
          </a:bodyPr>
          <a:lstStyle/>
          <a:p>
            <a:r>
              <a:rPr sz="4900" b="1" i="0" u="none">
                <a:solidFill>
                  <a:srgbClr val="6364E3"/>
                </a:solidFill>
                <a:latin typeface="Verdana"/>
              </a:rPr>
              <a:t>Echo Object Output Keyline Phase Release</a:t>
            </a:r>
          </a:p>
        </p:txBody>
      </p:sp>
      <p:graphicFrame>
        <p:nvGraphicFramePr>
          <p:cNvPr id="17" name="Chart 16"/>
          <p:cNvGraphicFramePr>
            <a:graphicFrameLocks noGrp="1"/>
          </p:cNvGraphicFramePr>
          <p:nvPr/>
        </p:nvGraphicFramePr>
        <p:xfrm>
          <a:off x="5857219" y="1688248"/>
          <a:ext cx="3946413" cy="1422811"/>
        </p:xfrm>
        <a:graphic>
          <a:graphicData uri="http://schemas.openxmlformats.org/drawingml/2006/chart">
            <c:chart xmlns:c="http://schemas.openxmlformats.org/drawingml/2006/chart" xmlns:r="http://schemas.openxmlformats.org/officeDocument/2006/relationships" r:id="rId4"/>
          </a:graphicData>
        </a:graphic>
      </p:graphicFrame>
      <p:sp>
        <p:nvSpPr>
          <p:cNvPr id="18" name="Freeform 17"/>
          <p:cNvSpPr/>
          <p:nvPr/>
        </p:nvSpPr>
        <p:spPr>
          <a:xfrm>
            <a:off x="3068394" y="1416270"/>
            <a:ext cx="736225" cy="577372"/>
          </a:xfrm>
          <a:custGeom>
            <a:avLst/>
            <a:gdLst/>
            <a:ahLst/>
            <a:cxnLst/>
            <a:rect l="l" t="t" r="r" b="b"/>
            <a:pathLst>
              <a:path w="736225" h="577372">
                <a:moveTo>
                  <a:pt x="0" y="128305"/>
                </a:moveTo>
                <a:lnTo>
                  <a:pt x="158328" y="0"/>
                </a:lnTo>
                <a:lnTo>
                  <a:pt x="316656" y="173212"/>
                </a:lnTo>
                <a:lnTo>
                  <a:pt x="474984" y="19246"/>
                </a:lnTo>
                <a:lnTo>
                  <a:pt x="736225" y="449067"/>
                </a:lnTo>
                <a:lnTo>
                  <a:pt x="554148" y="577372"/>
                </a:lnTo>
                <a:lnTo>
                  <a:pt x="379987" y="384915"/>
                </a:lnTo>
                <a:lnTo>
                  <a:pt x="182077" y="558127"/>
                </a:lnTo>
                <a:close/>
              </a:path>
            </a:pathLst>
          </a:custGeom>
          <a:solidFill>
            <a:srgbClr val="673389"/>
          </a:solidFill>
          <a:ln w="10797">
            <a:solidFill>
              <a:srgbClr val="8566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3390" y="4235793"/>
            <a:ext cx="1975247" cy="1936854"/>
          </a:xfrm>
          <a:prstGeom prst="rect">
            <a:avLst/>
          </a:prstGeom>
          <a:noFill/>
        </p:spPr>
        <p:txBody>
          <a:bodyPr wrap="none" lIns="67423" tIns="67423" rIns="67423" bIns="67423">
            <a:spAutoFit/>
          </a:bodyPr>
          <a:lstStyle/>
          <a:p>
            <a:r>
              <a:rPr sz="1100" b="0" i="0" u="none">
                <a:solidFill>
                  <a:srgbClr val="7895B5"/>
                </a:solidFill>
                <a:latin typeface="Verdana"/>
              </a:rPr>
              <a:t>Token Horizon Canvas Volume Access Checkpoint Buffer Drive Module Limit Needle Marker Origin Ratio Report Record Profile Input Lens Terminal Anchor Frequency Interface Chart</a:t>
            </a:r>
          </a:p>
        </p:txBody>
      </p:sp>
      <p:sp>
        <p:nvSpPr>
          <p:cNvPr id="20" name="Explosion 19"/>
          <p:cNvSpPr/>
          <p:nvPr/>
        </p:nvSpPr>
        <p:spPr>
          <a:xfrm>
            <a:off x="4536458" y="2089003"/>
            <a:ext cx="1255882" cy="635737"/>
          </a:xfrm>
          <a:prstGeom prst="irregularSeal1">
            <a:avLst/>
          </a:prstGeom>
          <a:noFill/>
          <a:ln w="11234">
            <a:solidFill>
              <a:srgbClr val="64E1B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urved Right Arrow 20"/>
          <p:cNvSpPr/>
          <p:nvPr/>
        </p:nvSpPr>
        <p:spPr>
          <a:xfrm>
            <a:off x="290159" y="4311404"/>
            <a:ext cx="1264143" cy="794540"/>
          </a:xfrm>
          <a:prstGeom prst="curvedRightArrow">
            <a:avLst/>
          </a:prstGeom>
          <a:solidFill>
            <a:srgbClr val="CE7678"/>
          </a:solidFill>
          <a:ln w="13434">
            <a:solidFill>
              <a:srgbClr val="6B8D4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Line Callout 2 21"/>
          <p:cNvSpPr/>
          <p:nvPr/>
        </p:nvSpPr>
        <p:spPr>
          <a:xfrm>
            <a:off x="4659885" y="3326257"/>
            <a:ext cx="1800372" cy="733837"/>
          </a:xfrm>
          <a:prstGeom prst="borderCallout2">
            <a:avLst/>
          </a:prstGeom>
          <a:solidFill>
            <a:srgbClr val="84A7C3"/>
          </a:solidFill>
          <a:ln w="18693">
            <a:solidFill>
              <a:srgbClr val="D7D267"/>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3"/>
          <a:srcRect l="18565" t="21852" r="10695" b="19891"/>
          <a:stretch>
            <a:fillRect/>
          </a:stretch>
        </p:blipFill>
        <p:spPr>
          <a:xfrm>
            <a:off x="10803073" y="2365831"/>
            <a:ext cx="1169415" cy="1028270"/>
          </a:xfrm>
          <a:prstGeom prst="rect">
            <a:avLst/>
          </a:prstGeom>
        </p:spPr>
      </p:pic>
      <p:sp>
        <p:nvSpPr>
          <p:cNvPr id="24" name="Rounded Rectangle 23"/>
          <p:cNvSpPr/>
          <p:nvPr/>
        </p:nvSpPr>
        <p:spPr>
          <a:xfrm>
            <a:off x="10803073" y="2365831"/>
            <a:ext cx="1169415" cy="1028270"/>
          </a:xfrm>
          <a:prstGeom prst="roundRect">
            <a:avLst/>
          </a:prstGeom>
          <a:noFill/>
          <a:ln w="15240">
            <a:solidFill>
              <a:srgbClr val="90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ctagon 24"/>
          <p:cNvSpPr/>
          <p:nvPr/>
        </p:nvSpPr>
        <p:spPr>
          <a:xfrm>
            <a:off x="8513506" y="4864560"/>
            <a:ext cx="922411" cy="472357"/>
          </a:xfrm>
          <a:prstGeom prst="octagon">
            <a:avLst/>
          </a:prstGeom>
          <a:noFill/>
          <a:ln w="22413">
            <a:solidFill>
              <a:srgbClr val="CF8AB7"/>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8784266" y="5764434"/>
            <a:ext cx="1889187" cy="564379"/>
          </a:xfrm>
          <a:prstGeom prst="line">
            <a:avLst/>
          </a:prstGeom>
          <a:ln w="37241">
            <a:solidFill>
              <a:srgbClr val="1A49E6"/>
            </a:solidFill>
            <a:prstDash val="dot"/>
          </a:ln>
        </p:spPr>
        <p:style>
          <a:lnRef idx="2">
            <a:schemeClr val="accent1"/>
          </a:lnRef>
          <a:fillRef idx="0">
            <a:schemeClr val="accent1"/>
          </a:fillRef>
          <a:effectRef idx="1">
            <a:schemeClr val="accent1"/>
          </a:effectRef>
          <a:fontRef idx="minor">
            <a:schemeClr val="tx1"/>
          </a:fontRef>
        </p:style>
      </p:cxnSp>
      <p:sp>
        <p:nvSpPr>
          <p:cNvPr id="27" name="Explosion 26"/>
          <p:cNvSpPr/>
          <p:nvPr/>
        </p:nvSpPr>
        <p:spPr>
          <a:xfrm>
            <a:off x="2997167" y="2327645"/>
            <a:ext cx="1095846" cy="1040683"/>
          </a:xfrm>
          <a:prstGeom prst="irregularSeal1">
            <a:avLst/>
          </a:prstGeom>
          <a:solidFill>
            <a:srgbClr val="997C83"/>
          </a:solidFill>
          <a:ln w="29522">
            <a:solidFill>
              <a:srgbClr val="43E0E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765FAAD6-B077-DCF7-546F-B6DBBD0848A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906884" y="963155"/>
            <a:ext cx="962484" cy="1422804"/>
          </a:xfrm>
          <a:prstGeom prst="rect">
            <a:avLst/>
          </a:prstGeom>
        </p:spPr>
      </p:pic>
      <p:pic>
        <p:nvPicPr>
          <p:cNvPr id="31" name="Graphic 30">
            <a:extLst>
              <a:ext uri="{FF2B5EF4-FFF2-40B4-BE49-F238E27FC236}">
                <a16:creationId xmlns:a16="http://schemas.microsoft.com/office/drawing/2014/main" id="{91D07B91-C062-CC4E-F6EA-4A8A6A60B4CF}"/>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825574" y="3071611"/>
            <a:ext cx="1154005" cy="101427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7518923" y="393175"/>
            <a:ext cx="1106216" cy="1512594"/>
          </a:xfrm>
          <a:prstGeom prst="bentConnector3">
            <a:avLst/>
          </a:prstGeom>
          <a:ln w="18841">
            <a:solidFill>
              <a:srgbClr val="E6CEBD"/>
            </a:solidFill>
            <a:prstDash val="lgDash"/>
          </a:ln>
        </p:spPr>
        <p:style>
          <a:lnRef idx="2">
            <a:schemeClr val="accent1"/>
          </a:lnRef>
          <a:fillRef idx="0">
            <a:schemeClr val="accent1"/>
          </a:fillRef>
          <a:effectRef idx="1">
            <a:schemeClr val="accent1"/>
          </a:effectRef>
          <a:fontRef idx="minor">
            <a:schemeClr val="tx1"/>
          </a:fontRef>
        </p:style>
      </p:cxnSp>
      <p:sp>
        <p:nvSpPr>
          <p:cNvPr id="3" name="Rounded Rectangular Callout 2"/>
          <p:cNvSpPr/>
          <p:nvPr/>
        </p:nvSpPr>
        <p:spPr>
          <a:xfrm>
            <a:off x="1264491" y="1040874"/>
            <a:ext cx="948252" cy="230168"/>
          </a:xfrm>
          <a:prstGeom prst="wedgeRoundRectCallout">
            <a:avLst/>
          </a:prstGeom>
          <a:solidFill>
            <a:srgbClr val="56A45A"/>
          </a:solidFill>
          <a:ln w="11382">
            <a:solidFill>
              <a:srgbClr val="45DE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Division 3"/>
          <p:cNvSpPr/>
          <p:nvPr/>
        </p:nvSpPr>
        <p:spPr>
          <a:xfrm>
            <a:off x="8338873" y="5003985"/>
            <a:ext cx="2535093" cy="1552292"/>
          </a:xfrm>
          <a:prstGeom prst="mathDivide">
            <a:avLst/>
          </a:prstGeom>
          <a:solidFill>
            <a:srgbClr val="428D94"/>
          </a:solidFill>
          <a:ln w="7187">
            <a:solidFill>
              <a:srgbClr val="CFA86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own Arrow 4"/>
          <p:cNvSpPr/>
          <p:nvPr/>
        </p:nvSpPr>
        <p:spPr>
          <a:xfrm>
            <a:off x="7238047" y="5078744"/>
            <a:ext cx="801409" cy="615687"/>
          </a:xfrm>
          <a:prstGeom prst="downArrow">
            <a:avLst/>
          </a:prstGeom>
          <a:noFill/>
          <a:ln w="10746">
            <a:solidFill>
              <a:srgbClr val="23C27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1631062" y="1381451"/>
            <a:ext cx="1121618" cy="838520"/>
          </a:xfrm>
          <a:custGeom>
            <a:avLst/>
            <a:gdLst/>
            <a:ahLst/>
            <a:cxnLst/>
            <a:rect l="l" t="t" r="r" b="b"/>
            <a:pathLst>
              <a:path w="1121618" h="838520">
                <a:moveTo>
                  <a:pt x="560809" y="0"/>
                </a:moveTo>
                <a:lnTo>
                  <a:pt x="701011" y="209630"/>
                </a:lnTo>
                <a:lnTo>
                  <a:pt x="1051517" y="150933"/>
                </a:lnTo>
                <a:lnTo>
                  <a:pt x="852897" y="419260"/>
                </a:lnTo>
                <a:lnTo>
                  <a:pt x="1121618" y="654046"/>
                </a:lnTo>
                <a:lnTo>
                  <a:pt x="701011" y="603735"/>
                </a:lnTo>
                <a:lnTo>
                  <a:pt x="560809" y="838520"/>
                </a:lnTo>
                <a:lnTo>
                  <a:pt x="420607" y="603735"/>
                </a:lnTo>
                <a:lnTo>
                  <a:pt x="0" y="654046"/>
                </a:lnTo>
                <a:lnTo>
                  <a:pt x="268721" y="419260"/>
                </a:lnTo>
                <a:lnTo>
                  <a:pt x="70101" y="150933"/>
                </a:lnTo>
                <a:lnTo>
                  <a:pt x="420607" y="209630"/>
                </a:lnTo>
                <a:close/>
              </a:path>
            </a:pathLst>
          </a:custGeom>
          <a:solidFill>
            <a:srgbClr val="5DC690"/>
          </a:solidFill>
          <a:ln w="15407">
            <a:solidFill>
              <a:srgbClr val="2E3A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_example_image.jpg"/>
          <p:cNvPicPr>
            <a:picLocks noChangeAspect="1"/>
          </p:cNvPicPr>
          <p:nvPr/>
        </p:nvPicPr>
        <p:blipFill>
          <a:blip r:embed="rId2"/>
          <a:srcRect l="6950" t="12459" r="15271" b="13386"/>
          <a:stretch>
            <a:fillRect/>
          </a:stretch>
        </p:blipFill>
        <p:spPr>
          <a:xfrm>
            <a:off x="5021568" y="4565028"/>
            <a:ext cx="1963668" cy="1604438"/>
          </a:xfrm>
          <a:prstGeom prst="rect">
            <a:avLst/>
          </a:prstGeom>
        </p:spPr>
      </p:pic>
      <p:sp>
        <p:nvSpPr>
          <p:cNvPr id="8" name="Pie 7"/>
          <p:cNvSpPr/>
          <p:nvPr/>
        </p:nvSpPr>
        <p:spPr>
          <a:xfrm>
            <a:off x="5972554" y="833068"/>
            <a:ext cx="1020530" cy="376379"/>
          </a:xfrm>
          <a:prstGeom prst="pie">
            <a:avLst/>
          </a:prstGeom>
          <a:solidFill>
            <a:srgbClr val="909555"/>
          </a:solidFill>
          <a:ln w="26475">
            <a:solidFill>
              <a:srgbClr val="4FD5E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8458878" y="3651873"/>
          <a:ext cx="2458271" cy="1065163"/>
        </p:xfrm>
        <a:graphic>
          <a:graphicData uri="http://schemas.openxmlformats.org/drawingml/2006/table">
            <a:tbl>
              <a:tblPr firstRow="1" bandRow="1">
                <a:tableStyleId>{5C22544A-7EE6-4342-B048-85BDC9FD1C3A}</a:tableStyleId>
              </a:tblPr>
              <a:tblGrid>
                <a:gridCol w="491654">
                  <a:extLst>
                    <a:ext uri="{9D8B030D-6E8A-4147-A177-3AD203B41FA5}">
                      <a16:colId xmlns:a16="http://schemas.microsoft.com/office/drawing/2014/main" val="20000"/>
                    </a:ext>
                  </a:extLst>
                </a:gridCol>
                <a:gridCol w="491654">
                  <a:extLst>
                    <a:ext uri="{9D8B030D-6E8A-4147-A177-3AD203B41FA5}">
                      <a16:colId xmlns:a16="http://schemas.microsoft.com/office/drawing/2014/main" val="20001"/>
                    </a:ext>
                  </a:extLst>
                </a:gridCol>
                <a:gridCol w="491654">
                  <a:extLst>
                    <a:ext uri="{9D8B030D-6E8A-4147-A177-3AD203B41FA5}">
                      <a16:colId xmlns:a16="http://schemas.microsoft.com/office/drawing/2014/main" val="20002"/>
                    </a:ext>
                  </a:extLst>
                </a:gridCol>
                <a:gridCol w="491654">
                  <a:extLst>
                    <a:ext uri="{9D8B030D-6E8A-4147-A177-3AD203B41FA5}">
                      <a16:colId xmlns:a16="http://schemas.microsoft.com/office/drawing/2014/main" val="20003"/>
                    </a:ext>
                  </a:extLst>
                </a:gridCol>
                <a:gridCol w="491655">
                  <a:extLst>
                    <a:ext uri="{9D8B030D-6E8A-4147-A177-3AD203B41FA5}">
                      <a16:colId xmlns:a16="http://schemas.microsoft.com/office/drawing/2014/main" val="20004"/>
                    </a:ext>
                  </a:extLst>
                </a:gridCol>
              </a:tblGrid>
              <a:tr h="266290">
                <a:tc>
                  <a:txBody>
                    <a:bodyPr/>
                    <a:lstStyle/>
                    <a:p>
                      <a:r>
                        <a:rPr sz="900" b="1">
                          <a:solidFill>
                            <a:srgbClr val="DD52CB"/>
                          </a:solidFill>
                        </a:rPr>
                        <a:t>Status Tile</a:t>
                      </a:r>
                    </a:p>
                  </a:txBody>
                  <a:tcPr>
                    <a:solidFill>
                      <a:srgbClr val="801F75"/>
                    </a:solidFill>
                  </a:tcPr>
                </a:tc>
                <a:tc>
                  <a:txBody>
                    <a:bodyPr/>
                    <a:lstStyle/>
                    <a:p>
                      <a:r>
                        <a:rPr sz="900" b="1">
                          <a:solidFill>
                            <a:srgbClr val="DD52CB"/>
                          </a:solidFill>
                        </a:rPr>
                        <a:t>Path</a:t>
                      </a:r>
                    </a:p>
                  </a:txBody>
                  <a:tcPr>
                    <a:solidFill>
                      <a:srgbClr val="801F75"/>
                    </a:solidFill>
                  </a:tcPr>
                </a:tc>
                <a:tc>
                  <a:txBody>
                    <a:bodyPr/>
                    <a:lstStyle/>
                    <a:p>
                      <a:r>
                        <a:rPr sz="900" b="1">
                          <a:solidFill>
                            <a:srgbClr val="DD52CB"/>
                          </a:solidFill>
                        </a:rPr>
                        <a:t>Event Texture</a:t>
                      </a:r>
                    </a:p>
                  </a:txBody>
                  <a:tcPr>
                    <a:solidFill>
                      <a:srgbClr val="801F75"/>
                    </a:solidFill>
                  </a:tcPr>
                </a:tc>
                <a:tc>
                  <a:txBody>
                    <a:bodyPr/>
                    <a:lstStyle/>
                    <a:p>
                      <a:r>
                        <a:rPr sz="900" b="1">
                          <a:solidFill>
                            <a:srgbClr val="DD52CB"/>
                          </a:solidFill>
                        </a:rPr>
                        <a:t>Portal</a:t>
                      </a:r>
                    </a:p>
                  </a:txBody>
                  <a:tcPr>
                    <a:solidFill>
                      <a:srgbClr val="801F75"/>
                    </a:solidFill>
                  </a:tcPr>
                </a:tc>
                <a:tc>
                  <a:txBody>
                    <a:bodyPr/>
                    <a:lstStyle/>
                    <a:p>
                      <a:r>
                        <a:rPr sz="900" b="1">
                          <a:solidFill>
                            <a:srgbClr val="DD52CB"/>
                          </a:solidFill>
                        </a:rPr>
                        <a:t>Analysis Instance</a:t>
                      </a:r>
                    </a:p>
                  </a:txBody>
                  <a:tcPr>
                    <a:solidFill>
                      <a:srgbClr val="801F75"/>
                    </a:solidFill>
                  </a:tcPr>
                </a:tc>
                <a:extLst>
                  <a:ext uri="{0D108BD9-81ED-4DB2-BD59-A6C34878D82A}">
                    <a16:rowId xmlns:a16="http://schemas.microsoft.com/office/drawing/2014/main" val="10000"/>
                  </a:ext>
                </a:extLst>
              </a:tr>
              <a:tr h="266290">
                <a:tc>
                  <a:txBody>
                    <a:bodyPr/>
                    <a:lstStyle/>
                    <a:p>
                      <a:r>
                        <a:rPr sz="900" b="0">
                          <a:solidFill>
                            <a:srgbClr val="DD52CB"/>
                          </a:solidFill>
                        </a:rPr>
                        <a:t>Grid Result</a:t>
                      </a:r>
                    </a:p>
                  </a:txBody>
                  <a:tcPr>
                    <a:solidFill>
                      <a:srgbClr val="ADD5DD"/>
                    </a:solidFill>
                  </a:tcPr>
                </a:tc>
                <a:tc>
                  <a:txBody>
                    <a:bodyPr/>
                    <a:lstStyle/>
                    <a:p>
                      <a:r>
                        <a:rPr sz="900" b="0">
                          <a:solidFill>
                            <a:srgbClr val="DD52CB"/>
                          </a:solidFill>
                        </a:rPr>
                        <a:t>Coverage Milestone</a:t>
                      </a:r>
                    </a:p>
                  </a:txBody>
                  <a:tcPr>
                    <a:solidFill>
                      <a:srgbClr val="ADD5DD"/>
                    </a:solidFill>
                  </a:tcPr>
                </a:tc>
                <a:tc>
                  <a:txBody>
                    <a:bodyPr/>
                    <a:lstStyle/>
                    <a:p>
                      <a:r>
                        <a:rPr sz="900" b="0">
                          <a:solidFill>
                            <a:srgbClr val="DD52CB"/>
                          </a:solidFill>
                        </a:rPr>
                        <a:t>Station Filter</a:t>
                      </a:r>
                    </a:p>
                  </a:txBody>
                  <a:tcPr>
                    <a:solidFill>
                      <a:srgbClr val="ADD5DD"/>
                    </a:solidFill>
                  </a:tcPr>
                </a:tc>
                <a:tc>
                  <a:txBody>
                    <a:bodyPr/>
                    <a:lstStyle/>
                    <a:p>
                      <a:r>
                        <a:rPr sz="900" b="0">
                          <a:solidFill>
                            <a:srgbClr val="DD52CB"/>
                          </a:solidFill>
                        </a:rPr>
                        <a:t>Metric Portal</a:t>
                      </a:r>
                    </a:p>
                  </a:txBody>
                  <a:tcPr>
                    <a:solidFill>
                      <a:srgbClr val="ADD5DD"/>
                    </a:solidFill>
                  </a:tcPr>
                </a:tc>
                <a:tc>
                  <a:txBody>
                    <a:bodyPr/>
                    <a:lstStyle/>
                    <a:p>
                      <a:r>
                        <a:rPr sz="900" b="0">
                          <a:solidFill>
                            <a:srgbClr val="DD52CB"/>
                          </a:solidFill>
                        </a:rPr>
                        <a:t>Pixel Pulse</a:t>
                      </a:r>
                    </a:p>
                  </a:txBody>
                  <a:tcPr>
                    <a:solidFill>
                      <a:srgbClr val="ADD5DD"/>
                    </a:solidFill>
                  </a:tcPr>
                </a:tc>
                <a:extLst>
                  <a:ext uri="{0D108BD9-81ED-4DB2-BD59-A6C34878D82A}">
                    <a16:rowId xmlns:a16="http://schemas.microsoft.com/office/drawing/2014/main" val="10001"/>
                  </a:ext>
                </a:extLst>
              </a:tr>
              <a:tr h="266290">
                <a:tc>
                  <a:txBody>
                    <a:bodyPr/>
                    <a:lstStyle/>
                    <a:p>
                      <a:r>
                        <a:rPr sz="900" b="0">
                          <a:solidFill>
                            <a:srgbClr val="DD52CB"/>
                          </a:solidFill>
                        </a:rPr>
                        <a:t>Lens</a:t>
                      </a:r>
                    </a:p>
                  </a:txBody>
                  <a:tcPr>
                    <a:solidFill>
                      <a:srgbClr val="DDEEF1"/>
                    </a:solidFill>
                  </a:tcPr>
                </a:tc>
                <a:tc>
                  <a:txBody>
                    <a:bodyPr/>
                    <a:lstStyle/>
                    <a:p>
                      <a:r>
                        <a:rPr sz="900" b="0">
                          <a:solidFill>
                            <a:srgbClr val="DD52CB"/>
                          </a:solidFill>
                        </a:rPr>
                        <a:t>Result Cortex</a:t>
                      </a:r>
                    </a:p>
                  </a:txBody>
                  <a:tcPr>
                    <a:solidFill>
                      <a:srgbClr val="DDEEF1"/>
                    </a:solidFill>
                  </a:tcPr>
                </a:tc>
                <a:tc>
                  <a:txBody>
                    <a:bodyPr/>
                    <a:lstStyle/>
                    <a:p>
                      <a:r>
                        <a:rPr sz="900" b="0">
                          <a:solidFill>
                            <a:srgbClr val="DD52CB"/>
                          </a:solidFill>
                        </a:rPr>
                        <a:t>Signal</a:t>
                      </a:r>
                    </a:p>
                  </a:txBody>
                  <a:tcPr>
                    <a:solidFill>
                      <a:srgbClr val="DDEEF1"/>
                    </a:solidFill>
                  </a:tcPr>
                </a:tc>
                <a:tc>
                  <a:txBody>
                    <a:bodyPr/>
                    <a:lstStyle/>
                    <a:p>
                      <a:r>
                        <a:rPr sz="900" b="0">
                          <a:solidFill>
                            <a:srgbClr val="DD52CB"/>
                          </a:solidFill>
                        </a:rPr>
                        <a:t>Panel</a:t>
                      </a:r>
                    </a:p>
                  </a:txBody>
                  <a:tcPr>
                    <a:solidFill>
                      <a:srgbClr val="DDEEF1"/>
                    </a:solidFill>
                  </a:tcPr>
                </a:tc>
                <a:tc>
                  <a:txBody>
                    <a:bodyPr/>
                    <a:lstStyle/>
                    <a:p>
                      <a:r>
                        <a:rPr sz="900" b="0">
                          <a:solidFill>
                            <a:srgbClr val="DD52CB"/>
                          </a:solidFill>
                        </a:rPr>
                        <a:t>Span Segment</a:t>
                      </a:r>
                    </a:p>
                  </a:txBody>
                  <a:tcPr>
                    <a:solidFill>
                      <a:srgbClr val="DDEEF1"/>
                    </a:solidFill>
                  </a:tcPr>
                </a:tc>
                <a:extLst>
                  <a:ext uri="{0D108BD9-81ED-4DB2-BD59-A6C34878D82A}">
                    <a16:rowId xmlns:a16="http://schemas.microsoft.com/office/drawing/2014/main" val="10002"/>
                  </a:ext>
                </a:extLst>
              </a:tr>
              <a:tr h="266293">
                <a:tc>
                  <a:txBody>
                    <a:bodyPr/>
                    <a:lstStyle/>
                    <a:p>
                      <a:r>
                        <a:rPr sz="900" b="0">
                          <a:solidFill>
                            <a:srgbClr val="DD52CB"/>
                          </a:solidFill>
                        </a:rPr>
                        <a:t>Signal</a:t>
                      </a:r>
                    </a:p>
                  </a:txBody>
                  <a:tcPr>
                    <a:solidFill>
                      <a:srgbClr val="ADD5DD"/>
                    </a:solidFill>
                  </a:tcPr>
                </a:tc>
                <a:tc>
                  <a:txBody>
                    <a:bodyPr/>
                    <a:lstStyle/>
                    <a:p>
                      <a:r>
                        <a:rPr sz="900" b="0">
                          <a:solidFill>
                            <a:srgbClr val="DD52CB"/>
                          </a:solidFill>
                        </a:rPr>
                        <a:t>Beta Model</a:t>
                      </a:r>
                    </a:p>
                  </a:txBody>
                  <a:tcPr>
                    <a:solidFill>
                      <a:srgbClr val="ADD5DD"/>
                    </a:solidFill>
                  </a:tcPr>
                </a:tc>
                <a:tc>
                  <a:txBody>
                    <a:bodyPr/>
                    <a:lstStyle/>
                    <a:p>
                      <a:r>
                        <a:rPr sz="900" b="0">
                          <a:solidFill>
                            <a:srgbClr val="DD52CB"/>
                          </a:solidFill>
                        </a:rPr>
                        <a:t>Drift Sync</a:t>
                      </a:r>
                    </a:p>
                  </a:txBody>
                  <a:tcPr>
                    <a:solidFill>
                      <a:srgbClr val="ADD5DD"/>
                    </a:solidFill>
                  </a:tcPr>
                </a:tc>
                <a:tc>
                  <a:txBody>
                    <a:bodyPr/>
                    <a:lstStyle/>
                    <a:p>
                      <a:r>
                        <a:rPr sz="900" b="0">
                          <a:solidFill>
                            <a:srgbClr val="DD52CB"/>
                          </a:solidFill>
                        </a:rPr>
                        <a:t>Signal</a:t>
                      </a:r>
                    </a:p>
                  </a:txBody>
                  <a:tcPr>
                    <a:solidFill>
                      <a:srgbClr val="ADD5DD"/>
                    </a:solidFill>
                  </a:tcPr>
                </a:tc>
                <a:tc>
                  <a:txBody>
                    <a:bodyPr/>
                    <a:lstStyle/>
                    <a:p>
                      <a:r>
                        <a:rPr sz="900" b="0">
                          <a:solidFill>
                            <a:srgbClr val="DD52CB"/>
                          </a:solidFill>
                        </a:rPr>
                        <a:t>Entity Method</a:t>
                      </a:r>
                    </a:p>
                  </a:txBody>
                  <a:tcPr>
                    <a:solidFill>
                      <a:srgbClr val="ADD5DD"/>
                    </a:solidFill>
                  </a:tcPr>
                </a:tc>
                <a:extLst>
                  <a:ext uri="{0D108BD9-81ED-4DB2-BD59-A6C34878D82A}">
                    <a16:rowId xmlns:a16="http://schemas.microsoft.com/office/drawing/2014/main" val="10003"/>
                  </a:ext>
                </a:extLst>
              </a:tr>
            </a:tbl>
          </a:graphicData>
        </a:graphic>
      </p:graphicFrame>
      <p:graphicFrame>
        <p:nvGraphicFramePr>
          <p:cNvPr id="10" name="Chart 9"/>
          <p:cNvGraphicFramePr>
            <a:graphicFrameLocks noGrp="1"/>
          </p:cNvGraphicFramePr>
          <p:nvPr/>
        </p:nvGraphicFramePr>
        <p:xfrm>
          <a:off x="4300381" y="4588235"/>
          <a:ext cx="2112763" cy="1374588"/>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438298" y="4765260"/>
            <a:ext cx="1254144" cy="711108"/>
          </a:xfrm>
          <a:prstGeom prst="rect">
            <a:avLst/>
          </a:prstGeom>
          <a:solidFill>
            <a:srgbClr val="B3B14B"/>
          </a:solidFill>
          <a:ln w="22213">
            <a:solidFill>
              <a:srgbClr val="503A3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09918" y="919275"/>
            <a:ext cx="1479760" cy="231918"/>
          </a:xfrm>
          <a:prstGeom prst="rect">
            <a:avLst/>
          </a:prstGeom>
          <a:noFill/>
        </p:spPr>
        <p:txBody>
          <a:bodyPr wrap="none" lIns="30074" tIns="30074" rIns="30074" bIns="30074">
            <a:spAutoFit/>
          </a:bodyPr>
          <a:lstStyle/>
          <a:p>
            <a:r>
              <a:rPr sz="6300" b="1" i="0" u="none">
                <a:solidFill>
                  <a:srgbClr val="E43D2B"/>
                </a:solidFill>
                <a:latin typeface="Georgia"/>
              </a:rPr>
              <a:t>Relay Ledger Signal Frequency Energy</a:t>
            </a:r>
          </a:p>
        </p:txBody>
      </p:sp>
      <p:pic>
        <p:nvPicPr>
          <p:cNvPr id="13" name="Picture 12" descr="_example_image.jpg"/>
          <p:cNvPicPr>
            <a:picLocks noChangeAspect="1"/>
          </p:cNvPicPr>
          <p:nvPr/>
        </p:nvPicPr>
        <p:blipFill>
          <a:blip r:embed="rId2"/>
          <a:srcRect/>
          <a:stretch>
            <a:fillRect/>
          </a:stretch>
        </p:blipFill>
        <p:spPr>
          <a:xfrm>
            <a:off x="9464828" y="422947"/>
            <a:ext cx="1073143" cy="939200"/>
          </a:xfrm>
          <a:prstGeom prst="rect">
            <a:avLst/>
          </a:prstGeom>
        </p:spPr>
      </p:pic>
      <p:sp>
        <p:nvSpPr>
          <p:cNvPr id="14" name="TextBox 13"/>
          <p:cNvSpPr txBox="1"/>
          <p:nvPr/>
        </p:nvSpPr>
        <p:spPr>
          <a:xfrm>
            <a:off x="3086956" y="945224"/>
            <a:ext cx="772578" cy="2115049"/>
          </a:xfrm>
          <a:prstGeom prst="rect">
            <a:avLst/>
          </a:prstGeom>
          <a:noFill/>
        </p:spPr>
        <p:txBody>
          <a:bodyPr wrap="none" lIns="23786" tIns="23786" rIns="23786" bIns="23786">
            <a:spAutoFit/>
          </a:bodyPr>
          <a:lstStyle/>
          <a:p>
            <a:r>
              <a:rPr sz="1800" b="0" i="0" u="none">
                <a:solidFill>
                  <a:srgbClr val="2A4471"/>
                </a:solidFill>
                <a:latin typeface="Calibri"/>
              </a:rPr>
              <a:t>Summary Input Impact Discovery State Orbit Alignment Module Action Graph Metric Entity Link Catalog Window Cadence Trigger Build Result Exchange Exchange Clarity Friction Station Process Priority Compass Flow Control Program Cortex Analysis</a:t>
            </a:r>
          </a:p>
        </p:txBody>
      </p:sp>
      <p:sp>
        <p:nvSpPr>
          <p:cNvPr id="15" name="TextBox 14"/>
          <p:cNvSpPr txBox="1"/>
          <p:nvPr/>
        </p:nvSpPr>
        <p:spPr>
          <a:xfrm>
            <a:off x="5491648" y="2021344"/>
            <a:ext cx="3034141" cy="2369088"/>
          </a:xfrm>
          <a:prstGeom prst="rect">
            <a:avLst/>
          </a:prstGeom>
          <a:solidFill>
            <a:srgbClr val="6A40AB"/>
          </a:solidFill>
        </p:spPr>
        <p:txBody>
          <a:bodyPr wrap="none" lIns="29380" tIns="29380" rIns="29380" bIns="29380">
            <a:spAutoFit/>
          </a:bodyPr>
          <a:lstStyle/>
          <a:p>
            <a:r>
              <a:rPr sz="1000" b="0" i="0" u="none">
                <a:solidFill>
                  <a:srgbClr val="D98D36"/>
                </a:solidFill>
                <a:latin typeface="Verdana"/>
              </a:rPr>
              <a:t>View Diagram</a:t>
            </a:r>
          </a:p>
        </p:txBody>
      </p:sp>
      <p:sp>
        <p:nvSpPr>
          <p:cNvPr id="16" name="Diamond 15"/>
          <p:cNvSpPr/>
          <p:nvPr/>
        </p:nvSpPr>
        <p:spPr>
          <a:xfrm>
            <a:off x="9815035" y="2855301"/>
            <a:ext cx="449638" cy="1825632"/>
          </a:xfrm>
          <a:prstGeom prst="diamond">
            <a:avLst/>
          </a:prstGeom>
          <a:noFill/>
          <a:ln w="7178">
            <a:solidFill>
              <a:srgbClr val="CC62CE"/>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143600" y="4403987"/>
          <a:ext cx="3107438" cy="1625703"/>
        </p:xfrm>
        <a:graphic>
          <a:graphicData uri="http://schemas.openxmlformats.org/drawingml/2006/chart">
            <c:chart xmlns:c="http://schemas.openxmlformats.org/drawingml/2006/chart" xmlns:r="http://schemas.openxmlformats.org/officeDocument/2006/relationships" r:id="rId4"/>
          </a:graphicData>
        </a:graphic>
      </p:graphicFrame>
      <p:cxnSp>
        <p:nvCxnSpPr>
          <p:cNvPr id="18" name="Connector 17"/>
          <p:cNvCxnSpPr/>
          <p:nvPr/>
        </p:nvCxnSpPr>
        <p:spPr>
          <a:xfrm>
            <a:off x="173636" y="1816353"/>
            <a:ext cx="1433367" cy="919745"/>
          </a:xfrm>
          <a:prstGeom prst="bentConnector3">
            <a:avLst/>
          </a:prstGeom>
          <a:ln w="11115">
            <a:solidFill>
              <a:srgbClr val="3D8330"/>
            </a:solidFill>
            <a:prstDash val="dot"/>
          </a:ln>
        </p:spPr>
        <p:style>
          <a:lnRef idx="2">
            <a:schemeClr val="accent1"/>
          </a:lnRef>
          <a:fillRef idx="0">
            <a:schemeClr val="accent1"/>
          </a:fillRef>
          <a:effectRef idx="1">
            <a:schemeClr val="accent1"/>
          </a:effectRef>
          <a:fontRef idx="minor">
            <a:schemeClr val="tx1"/>
          </a:fontRef>
        </p:style>
      </p:cxnSp>
      <p:sp>
        <p:nvSpPr>
          <p:cNvPr id="19" name="Left Arrow 18"/>
          <p:cNvSpPr/>
          <p:nvPr/>
        </p:nvSpPr>
        <p:spPr>
          <a:xfrm>
            <a:off x="1156482" y="2277828"/>
            <a:ext cx="1285939" cy="1528404"/>
          </a:xfrm>
          <a:prstGeom prst="leftArrow">
            <a:avLst/>
          </a:prstGeom>
          <a:solidFill>
            <a:srgbClr val="ABD06A"/>
          </a:solidFill>
          <a:ln w="23031">
            <a:solidFill>
              <a:srgbClr val="E33DB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25913" y="6042655"/>
            <a:ext cx="3327299" cy="266886"/>
          </a:xfrm>
          <a:prstGeom prst="rect">
            <a:avLst/>
          </a:prstGeom>
          <a:noFill/>
        </p:spPr>
        <p:txBody>
          <a:bodyPr wrap="none" lIns="84868" tIns="84868" rIns="84868" bIns="84868">
            <a:spAutoFit/>
          </a:bodyPr>
          <a:lstStyle/>
          <a:p>
            <a:r>
              <a:rPr sz="900" b="0" i="0" u="none">
                <a:solidFill>
                  <a:srgbClr val="325134"/>
                </a:solidFill>
                <a:latin typeface="Arial"/>
              </a:rPr>
              <a:t>Track Account Result System Schema Template Zone Response Marker Topology Heading Table Sync Trace Lens Viewport Mesh Variant Package Marker Package</a:t>
            </a:r>
          </a:p>
        </p:txBody>
      </p:sp>
      <p:pic>
        <p:nvPicPr>
          <p:cNvPr id="21" name="Picture 20" descr="_example_image.jpg"/>
          <p:cNvPicPr>
            <a:picLocks noChangeAspect="1"/>
          </p:cNvPicPr>
          <p:nvPr/>
        </p:nvPicPr>
        <p:blipFill>
          <a:blip r:embed="rId2"/>
          <a:srcRect/>
          <a:stretch>
            <a:fillRect/>
          </a:stretch>
        </p:blipFill>
        <p:spPr>
          <a:xfrm>
            <a:off x="8695297" y="2365632"/>
            <a:ext cx="1445583" cy="1229428"/>
          </a:xfrm>
          <a:prstGeom prst="rect">
            <a:avLst/>
          </a:prstGeom>
        </p:spPr>
      </p:pic>
      <p:sp>
        <p:nvSpPr>
          <p:cNvPr id="22" name="TextBox 21"/>
          <p:cNvSpPr txBox="1"/>
          <p:nvPr/>
        </p:nvSpPr>
        <p:spPr>
          <a:xfrm>
            <a:off x="3059972" y="3279014"/>
            <a:ext cx="1502624" cy="2128221"/>
          </a:xfrm>
          <a:prstGeom prst="rect">
            <a:avLst/>
          </a:prstGeom>
          <a:noFill/>
        </p:spPr>
        <p:txBody>
          <a:bodyPr wrap="none" lIns="20733" tIns="20733" rIns="20733" bIns="20733">
            <a:spAutoFit/>
          </a:bodyPr>
          <a:lstStyle/>
          <a:p>
            <a:r>
              <a:rPr sz="2300" b="0" i="0" u="none">
                <a:solidFill>
                  <a:srgbClr val="6DB261"/>
                </a:solidFill>
                <a:latin typeface="Aptos"/>
              </a:rPr>
              <a:t>Scope Summary Focus Queueing Access Story Engine Path Vector</a:t>
            </a:r>
          </a:p>
        </p:txBody>
      </p:sp>
      <p:sp>
        <p:nvSpPr>
          <p:cNvPr id="23" name="TextBox 22"/>
          <p:cNvSpPr txBox="1"/>
          <p:nvPr/>
        </p:nvSpPr>
        <p:spPr>
          <a:xfrm>
            <a:off x="10365912" y="1570387"/>
            <a:ext cx="458280" cy="1987616"/>
          </a:xfrm>
          <a:prstGeom prst="rect">
            <a:avLst/>
          </a:prstGeom>
          <a:noFill/>
        </p:spPr>
        <p:txBody>
          <a:bodyPr wrap="none" lIns="46487" tIns="46487" rIns="46487" bIns="46487">
            <a:spAutoFit/>
          </a:bodyPr>
          <a:lstStyle/>
          <a:p>
            <a:r>
              <a:rPr sz="1800" b="0" i="0" u="none">
                <a:solidFill>
                  <a:srgbClr val="A0D550"/>
                </a:solidFill>
                <a:latin typeface="Trebuchet MS"/>
              </a:rPr>
              <a:t>Lens Loop Gradient Program Design Scale Result Center Origin Queueing Buffer Packet Signal Energy Handle Analysis Direction Inventory Ratio Craft Template Texture Pulse Delta</a:t>
            </a:r>
          </a:p>
        </p:txBody>
      </p:sp>
      <p:sp>
        <p:nvSpPr>
          <p:cNvPr id="24" name="Freeform 23"/>
          <p:cNvSpPr/>
          <p:nvPr/>
        </p:nvSpPr>
        <p:spPr>
          <a:xfrm>
            <a:off x="708684" y="3207754"/>
            <a:ext cx="890042" cy="995404"/>
          </a:xfrm>
          <a:custGeom>
            <a:avLst/>
            <a:gdLst/>
            <a:ahLst/>
            <a:cxnLst/>
            <a:rect l="l" t="t" r="r" b="b"/>
            <a:pathLst>
              <a:path w="890042" h="995404">
                <a:moveTo>
                  <a:pt x="445021" y="0"/>
                </a:moveTo>
                <a:lnTo>
                  <a:pt x="556276" y="248851"/>
                </a:lnTo>
                <a:lnTo>
                  <a:pt x="834414" y="179173"/>
                </a:lnTo>
                <a:lnTo>
                  <a:pt x="676803" y="497702"/>
                </a:lnTo>
                <a:lnTo>
                  <a:pt x="890042" y="776415"/>
                </a:lnTo>
                <a:lnTo>
                  <a:pt x="556276" y="716691"/>
                </a:lnTo>
                <a:lnTo>
                  <a:pt x="445021" y="995404"/>
                </a:lnTo>
                <a:lnTo>
                  <a:pt x="333766" y="716691"/>
                </a:lnTo>
                <a:lnTo>
                  <a:pt x="0" y="776415"/>
                </a:lnTo>
                <a:lnTo>
                  <a:pt x="213239" y="497702"/>
                </a:lnTo>
                <a:lnTo>
                  <a:pt x="55628" y="179173"/>
                </a:lnTo>
                <a:lnTo>
                  <a:pt x="333766" y="248851"/>
                </a:lnTo>
                <a:close/>
              </a:path>
            </a:pathLst>
          </a:custGeom>
          <a:solidFill>
            <a:srgbClr val="8E31CE"/>
          </a:solidFill>
          <a:ln w="27954">
            <a:solidFill>
              <a:srgbClr val="C558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V="1">
            <a:off x="10227275" y="539911"/>
            <a:ext cx="1323630" cy="471239"/>
          </a:xfrm>
          <a:prstGeom prst="line">
            <a:avLst/>
          </a:prstGeom>
          <a:ln w="18092">
            <a:solidFill>
              <a:srgbClr val="AEA83D"/>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26" name="Table 25"/>
          <p:cNvGraphicFramePr>
            <a:graphicFrameLocks noGrp="1"/>
          </p:cNvGraphicFramePr>
          <p:nvPr/>
        </p:nvGraphicFramePr>
        <p:xfrm>
          <a:off x="3953785" y="1038072"/>
          <a:ext cx="2353227" cy="1185934"/>
        </p:xfrm>
        <a:graphic>
          <a:graphicData uri="http://schemas.openxmlformats.org/drawingml/2006/table">
            <a:tbl>
              <a:tblPr firstRow="1" bandRow="1">
                <a:tableStyleId>{5C22544A-7EE6-4342-B048-85BDC9FD1C3A}</a:tableStyleId>
              </a:tblPr>
              <a:tblGrid>
                <a:gridCol w="588306">
                  <a:extLst>
                    <a:ext uri="{9D8B030D-6E8A-4147-A177-3AD203B41FA5}">
                      <a16:colId xmlns:a16="http://schemas.microsoft.com/office/drawing/2014/main" val="20000"/>
                    </a:ext>
                  </a:extLst>
                </a:gridCol>
                <a:gridCol w="588306">
                  <a:extLst>
                    <a:ext uri="{9D8B030D-6E8A-4147-A177-3AD203B41FA5}">
                      <a16:colId xmlns:a16="http://schemas.microsoft.com/office/drawing/2014/main" val="20001"/>
                    </a:ext>
                  </a:extLst>
                </a:gridCol>
                <a:gridCol w="588306">
                  <a:extLst>
                    <a:ext uri="{9D8B030D-6E8A-4147-A177-3AD203B41FA5}">
                      <a16:colId xmlns:a16="http://schemas.microsoft.com/office/drawing/2014/main" val="20002"/>
                    </a:ext>
                  </a:extLst>
                </a:gridCol>
                <a:gridCol w="588309">
                  <a:extLst>
                    <a:ext uri="{9D8B030D-6E8A-4147-A177-3AD203B41FA5}">
                      <a16:colId xmlns:a16="http://schemas.microsoft.com/office/drawing/2014/main" val="20003"/>
                    </a:ext>
                  </a:extLst>
                </a:gridCol>
              </a:tblGrid>
              <a:tr h="197655">
                <a:tc>
                  <a:txBody>
                    <a:bodyPr/>
                    <a:lstStyle/>
                    <a:p>
                      <a:r>
                        <a:rPr sz="1000" b="1">
                          <a:solidFill>
                            <a:srgbClr val="E27EC1"/>
                          </a:solidFill>
                        </a:rPr>
                        <a:t>Workflow Chart</a:t>
                      </a:r>
                    </a:p>
                  </a:txBody>
                  <a:tcPr>
                    <a:solidFill>
                      <a:srgbClr val="67265E"/>
                    </a:solidFill>
                  </a:tcPr>
                </a:tc>
                <a:tc>
                  <a:txBody>
                    <a:bodyPr/>
                    <a:lstStyle/>
                    <a:p>
                      <a:r>
                        <a:rPr sz="1000" b="1">
                          <a:solidFill>
                            <a:srgbClr val="E27EC1"/>
                          </a:solidFill>
                        </a:rPr>
                        <a:t>Package</a:t>
                      </a:r>
                    </a:p>
                  </a:txBody>
                  <a:tcPr>
                    <a:solidFill>
                      <a:srgbClr val="67265E"/>
                    </a:solidFill>
                  </a:tcPr>
                </a:tc>
                <a:tc>
                  <a:txBody>
                    <a:bodyPr/>
                    <a:lstStyle/>
                    <a:p>
                      <a:r>
                        <a:rPr sz="1000" b="1">
                          <a:solidFill>
                            <a:srgbClr val="E27EC1"/>
                          </a:solidFill>
                        </a:rPr>
                        <a:t>Network</a:t>
                      </a:r>
                    </a:p>
                  </a:txBody>
                  <a:tcPr>
                    <a:solidFill>
                      <a:srgbClr val="67265E"/>
                    </a:solidFill>
                  </a:tcPr>
                </a:tc>
                <a:tc>
                  <a:txBody>
                    <a:bodyPr/>
                    <a:lstStyle/>
                    <a:p>
                      <a:r>
                        <a:rPr sz="1000" b="1">
                          <a:solidFill>
                            <a:srgbClr val="E27EC1"/>
                          </a:solidFill>
                        </a:rPr>
                        <a:t>Node</a:t>
                      </a:r>
                    </a:p>
                  </a:txBody>
                  <a:tcPr>
                    <a:solidFill>
                      <a:srgbClr val="67265E"/>
                    </a:solidFill>
                  </a:tcPr>
                </a:tc>
                <a:extLst>
                  <a:ext uri="{0D108BD9-81ED-4DB2-BD59-A6C34878D82A}">
                    <a16:rowId xmlns:a16="http://schemas.microsoft.com/office/drawing/2014/main" val="10000"/>
                  </a:ext>
                </a:extLst>
              </a:tr>
              <a:tr h="197655">
                <a:tc>
                  <a:txBody>
                    <a:bodyPr/>
                    <a:lstStyle/>
                    <a:p>
                      <a:r>
                        <a:rPr sz="1000" b="0">
                          <a:solidFill>
                            <a:srgbClr val="E27EC1"/>
                          </a:solidFill>
                        </a:rPr>
                        <a:t>Concept</a:t>
                      </a:r>
                    </a:p>
                  </a:txBody>
                  <a:tcPr>
                    <a:solidFill>
                      <a:srgbClr val="D2BCB6"/>
                    </a:solidFill>
                  </a:tcPr>
                </a:tc>
                <a:tc>
                  <a:txBody>
                    <a:bodyPr/>
                    <a:lstStyle/>
                    <a:p>
                      <a:r>
                        <a:rPr sz="1000" b="0">
                          <a:solidFill>
                            <a:srgbClr val="E27EC1"/>
                          </a:solidFill>
                        </a:rPr>
                        <a:t>Core</a:t>
                      </a:r>
                    </a:p>
                  </a:txBody>
                  <a:tcPr>
                    <a:solidFill>
                      <a:srgbClr val="D2BCB6"/>
                    </a:solidFill>
                  </a:tcPr>
                </a:tc>
                <a:tc>
                  <a:txBody>
                    <a:bodyPr/>
                    <a:lstStyle/>
                    <a:p>
                      <a:r>
                        <a:rPr sz="1000" b="0">
                          <a:solidFill>
                            <a:srgbClr val="E27EC1"/>
                          </a:solidFill>
                        </a:rPr>
                        <a:t>Balance</a:t>
                      </a:r>
                    </a:p>
                  </a:txBody>
                  <a:tcPr>
                    <a:solidFill>
                      <a:srgbClr val="D2BCB6"/>
                    </a:solidFill>
                  </a:tcPr>
                </a:tc>
                <a:tc>
                  <a:txBody>
                    <a:bodyPr/>
                    <a:lstStyle/>
                    <a:p>
                      <a:r>
                        <a:rPr sz="1000" b="0">
                          <a:solidFill>
                            <a:srgbClr val="E27EC1"/>
                          </a:solidFill>
                        </a:rPr>
                        <a:t>Catalog</a:t>
                      </a:r>
                    </a:p>
                  </a:txBody>
                  <a:tcPr>
                    <a:solidFill>
                      <a:srgbClr val="D2BCB6"/>
                    </a:solidFill>
                  </a:tcPr>
                </a:tc>
                <a:extLst>
                  <a:ext uri="{0D108BD9-81ED-4DB2-BD59-A6C34878D82A}">
                    <a16:rowId xmlns:a16="http://schemas.microsoft.com/office/drawing/2014/main" val="10001"/>
                  </a:ext>
                </a:extLst>
              </a:tr>
              <a:tr h="197655">
                <a:tc>
                  <a:txBody>
                    <a:bodyPr/>
                    <a:lstStyle/>
                    <a:p>
                      <a:r>
                        <a:rPr sz="1000" b="0">
                          <a:solidFill>
                            <a:srgbClr val="E27EC1"/>
                          </a:solidFill>
                        </a:rPr>
                        <a:t>Trigger Friction</a:t>
                      </a:r>
                    </a:p>
                  </a:txBody>
                  <a:tcPr>
                    <a:solidFill>
                      <a:srgbClr val="F6F2F1"/>
                    </a:solidFill>
                  </a:tcPr>
                </a:tc>
                <a:tc>
                  <a:txBody>
                    <a:bodyPr/>
                    <a:lstStyle/>
                    <a:p>
                      <a:r>
                        <a:rPr sz="1000" b="0">
                          <a:solidFill>
                            <a:srgbClr val="E27EC1"/>
                          </a:solidFill>
                        </a:rPr>
                        <a:t>Report</a:t>
                      </a:r>
                    </a:p>
                  </a:txBody>
                  <a:tcPr>
                    <a:solidFill>
                      <a:srgbClr val="F6F2F1"/>
                    </a:solidFill>
                  </a:tcPr>
                </a:tc>
                <a:tc>
                  <a:txBody>
                    <a:bodyPr/>
                    <a:lstStyle/>
                    <a:p>
                      <a:r>
                        <a:rPr sz="1000" b="0">
                          <a:solidFill>
                            <a:srgbClr val="E27EC1"/>
                          </a:solidFill>
                        </a:rPr>
                        <a:t>Epoch</a:t>
                      </a:r>
                    </a:p>
                  </a:txBody>
                  <a:tcPr>
                    <a:solidFill>
                      <a:srgbClr val="F6F2F1"/>
                    </a:solidFill>
                  </a:tcPr>
                </a:tc>
                <a:tc>
                  <a:txBody>
                    <a:bodyPr/>
                    <a:lstStyle/>
                    <a:p>
                      <a:r>
                        <a:rPr sz="1000" b="0">
                          <a:solidFill>
                            <a:srgbClr val="E27EC1"/>
                          </a:solidFill>
                        </a:rPr>
                        <a:t>Strategy Stack</a:t>
                      </a:r>
                    </a:p>
                  </a:txBody>
                  <a:tcPr>
                    <a:solidFill>
                      <a:srgbClr val="F6F2F1"/>
                    </a:solidFill>
                  </a:tcPr>
                </a:tc>
                <a:extLst>
                  <a:ext uri="{0D108BD9-81ED-4DB2-BD59-A6C34878D82A}">
                    <a16:rowId xmlns:a16="http://schemas.microsoft.com/office/drawing/2014/main" val="10002"/>
                  </a:ext>
                </a:extLst>
              </a:tr>
              <a:tr h="197655">
                <a:tc>
                  <a:txBody>
                    <a:bodyPr/>
                    <a:lstStyle/>
                    <a:p>
                      <a:r>
                        <a:rPr sz="1000" b="0">
                          <a:solidFill>
                            <a:srgbClr val="E27EC1"/>
                          </a:solidFill>
                        </a:rPr>
                        <a:t>Measure</a:t>
                      </a:r>
                    </a:p>
                  </a:txBody>
                  <a:tcPr>
                    <a:solidFill>
                      <a:srgbClr val="D2BCB6"/>
                    </a:solidFill>
                  </a:tcPr>
                </a:tc>
                <a:tc>
                  <a:txBody>
                    <a:bodyPr/>
                    <a:lstStyle/>
                    <a:p>
                      <a:r>
                        <a:rPr sz="1000" b="0">
                          <a:solidFill>
                            <a:srgbClr val="E27EC1"/>
                          </a:solidFill>
                        </a:rPr>
                        <a:t>Entity</a:t>
                      </a:r>
                    </a:p>
                  </a:txBody>
                  <a:tcPr>
                    <a:solidFill>
                      <a:srgbClr val="D2BCB6"/>
                    </a:solidFill>
                  </a:tcPr>
                </a:tc>
                <a:tc>
                  <a:txBody>
                    <a:bodyPr/>
                    <a:lstStyle/>
                    <a:p>
                      <a:r>
                        <a:rPr sz="1000" b="0">
                          <a:solidFill>
                            <a:srgbClr val="E27EC1"/>
                          </a:solidFill>
                        </a:rPr>
                        <a:t>Pipeline</a:t>
                      </a:r>
                    </a:p>
                  </a:txBody>
                  <a:tcPr>
                    <a:solidFill>
                      <a:srgbClr val="D2BCB6"/>
                    </a:solidFill>
                  </a:tcPr>
                </a:tc>
                <a:tc>
                  <a:txBody>
                    <a:bodyPr/>
                    <a:lstStyle/>
                    <a:p>
                      <a:r>
                        <a:rPr sz="1000" b="0">
                          <a:solidFill>
                            <a:srgbClr val="E27EC1"/>
                          </a:solidFill>
                        </a:rPr>
                        <a:t>Moment</a:t>
                      </a:r>
                    </a:p>
                  </a:txBody>
                  <a:tcPr>
                    <a:solidFill>
                      <a:srgbClr val="D2BCB6"/>
                    </a:solidFill>
                  </a:tcPr>
                </a:tc>
                <a:extLst>
                  <a:ext uri="{0D108BD9-81ED-4DB2-BD59-A6C34878D82A}">
                    <a16:rowId xmlns:a16="http://schemas.microsoft.com/office/drawing/2014/main" val="10003"/>
                  </a:ext>
                </a:extLst>
              </a:tr>
              <a:tr h="197655">
                <a:tc>
                  <a:txBody>
                    <a:bodyPr/>
                    <a:lstStyle/>
                    <a:p>
                      <a:r>
                        <a:rPr sz="1000" b="0">
                          <a:solidFill>
                            <a:srgbClr val="E27EC1"/>
                          </a:solidFill>
                        </a:rPr>
                        <a:t>Exchange Brief</a:t>
                      </a:r>
                    </a:p>
                  </a:txBody>
                  <a:tcPr>
                    <a:solidFill>
                      <a:srgbClr val="F6F2F1"/>
                    </a:solidFill>
                  </a:tcPr>
                </a:tc>
                <a:tc>
                  <a:txBody>
                    <a:bodyPr/>
                    <a:lstStyle/>
                    <a:p>
                      <a:r>
                        <a:rPr sz="1000" b="0">
                          <a:solidFill>
                            <a:srgbClr val="E27EC1"/>
                          </a:solidFill>
                        </a:rPr>
                        <a:t>Pipeline Schema</a:t>
                      </a:r>
                    </a:p>
                  </a:txBody>
                  <a:tcPr>
                    <a:solidFill>
                      <a:srgbClr val="F6F2F1"/>
                    </a:solidFill>
                  </a:tcPr>
                </a:tc>
                <a:tc>
                  <a:txBody>
                    <a:bodyPr/>
                    <a:lstStyle/>
                    <a:p>
                      <a:r>
                        <a:rPr sz="1000" b="0">
                          <a:solidFill>
                            <a:srgbClr val="E27EC1"/>
                          </a:solidFill>
                        </a:rPr>
                        <a:t>Agenda Sequence</a:t>
                      </a:r>
                    </a:p>
                  </a:txBody>
                  <a:tcPr>
                    <a:solidFill>
                      <a:srgbClr val="F6F2F1"/>
                    </a:solidFill>
                  </a:tcPr>
                </a:tc>
                <a:tc>
                  <a:txBody>
                    <a:bodyPr/>
                    <a:lstStyle/>
                    <a:p>
                      <a:r>
                        <a:rPr sz="1000" b="0">
                          <a:solidFill>
                            <a:srgbClr val="E27EC1"/>
                          </a:solidFill>
                        </a:rPr>
                        <a:t>Command</a:t>
                      </a:r>
                    </a:p>
                  </a:txBody>
                  <a:tcPr>
                    <a:solidFill>
                      <a:srgbClr val="F6F2F1"/>
                    </a:solidFill>
                  </a:tcPr>
                </a:tc>
                <a:extLst>
                  <a:ext uri="{0D108BD9-81ED-4DB2-BD59-A6C34878D82A}">
                    <a16:rowId xmlns:a16="http://schemas.microsoft.com/office/drawing/2014/main" val="10004"/>
                  </a:ext>
                </a:extLst>
              </a:tr>
              <a:tr h="197659">
                <a:tc>
                  <a:txBody>
                    <a:bodyPr/>
                    <a:lstStyle/>
                    <a:p>
                      <a:r>
                        <a:rPr sz="1000" b="0">
                          <a:solidFill>
                            <a:srgbClr val="E27EC1"/>
                          </a:solidFill>
                        </a:rPr>
                        <a:t>Datum Range</a:t>
                      </a:r>
                    </a:p>
                  </a:txBody>
                  <a:tcPr>
                    <a:solidFill>
                      <a:srgbClr val="D2BCB6"/>
                    </a:solidFill>
                  </a:tcPr>
                </a:tc>
                <a:tc>
                  <a:txBody>
                    <a:bodyPr/>
                    <a:lstStyle/>
                    <a:p>
                      <a:r>
                        <a:rPr sz="1000" b="0">
                          <a:solidFill>
                            <a:srgbClr val="E27EC1"/>
                          </a:solidFill>
                        </a:rPr>
                        <a:t>Archive Object</a:t>
                      </a:r>
                    </a:p>
                  </a:txBody>
                  <a:tcPr>
                    <a:solidFill>
                      <a:srgbClr val="D2BCB6"/>
                    </a:solidFill>
                  </a:tcPr>
                </a:tc>
                <a:tc>
                  <a:txBody>
                    <a:bodyPr/>
                    <a:lstStyle/>
                    <a:p>
                      <a:r>
                        <a:rPr sz="1000" b="0">
                          <a:solidFill>
                            <a:srgbClr val="E27EC1"/>
                          </a:solidFill>
                        </a:rPr>
                        <a:t>Orbit Cycle</a:t>
                      </a:r>
                    </a:p>
                  </a:txBody>
                  <a:tcPr>
                    <a:solidFill>
                      <a:srgbClr val="D2BCB6"/>
                    </a:solidFill>
                  </a:tcPr>
                </a:tc>
                <a:tc>
                  <a:txBody>
                    <a:bodyPr/>
                    <a:lstStyle/>
                    <a:p>
                      <a:r>
                        <a:rPr sz="1000" b="0">
                          <a:solidFill>
                            <a:srgbClr val="E27EC1"/>
                          </a:solidFill>
                        </a:rPr>
                        <a:t>Context Dispatch</a:t>
                      </a:r>
                    </a:p>
                  </a:txBody>
                  <a:tcPr>
                    <a:solidFill>
                      <a:srgbClr val="D2BCB6"/>
                    </a:solidFill>
                  </a:tcPr>
                </a:tc>
                <a:extLst>
                  <a:ext uri="{0D108BD9-81ED-4DB2-BD59-A6C34878D82A}">
                    <a16:rowId xmlns:a16="http://schemas.microsoft.com/office/drawing/2014/main" val="10005"/>
                  </a:ext>
                </a:extLst>
              </a:tr>
            </a:tbl>
          </a:graphicData>
        </a:graphic>
      </p:graphicFrame>
      <p:pic>
        <p:nvPicPr>
          <p:cNvPr id="28" name="Graphic 27">
            <a:extLst>
              <a:ext uri="{FF2B5EF4-FFF2-40B4-BE49-F238E27FC236}">
                <a16:creationId xmlns:a16="http://schemas.microsoft.com/office/drawing/2014/main" id="{6AD161FD-70B2-D93A-69C5-E99E92EAC4D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90733" y="486133"/>
            <a:ext cx="1262307" cy="976870"/>
          </a:xfrm>
          <a:prstGeom prst="rect">
            <a:avLst/>
          </a:prstGeom>
        </p:spPr>
      </p:pic>
      <p:pic>
        <p:nvPicPr>
          <p:cNvPr id="30" name="Graphic 29">
            <a:extLst>
              <a:ext uri="{FF2B5EF4-FFF2-40B4-BE49-F238E27FC236}">
                <a16:creationId xmlns:a16="http://schemas.microsoft.com/office/drawing/2014/main" id="{7119DCD8-680C-B7CE-C5BB-B9AC7B53474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200228" y="4735079"/>
            <a:ext cx="1078765" cy="126153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e 1"/>
          <p:cNvSpPr/>
          <p:nvPr/>
        </p:nvSpPr>
        <p:spPr>
          <a:xfrm>
            <a:off x="2446819" y="5131022"/>
            <a:ext cx="486923" cy="490130"/>
          </a:xfrm>
          <a:prstGeom prst="pie">
            <a:avLst/>
          </a:prstGeom>
          <a:solidFill>
            <a:srgbClr val="7B8363"/>
          </a:solidFill>
          <a:ln w="14953">
            <a:solidFill>
              <a:srgbClr val="A6A6D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Arrow 2"/>
          <p:cNvSpPr/>
          <p:nvPr/>
        </p:nvSpPr>
        <p:spPr>
          <a:xfrm>
            <a:off x="4766204" y="1869551"/>
            <a:ext cx="1524416" cy="1191632"/>
          </a:xfrm>
          <a:prstGeom prst="rightArrow">
            <a:avLst/>
          </a:prstGeom>
          <a:solidFill>
            <a:srgbClr val="5387C2"/>
          </a:solidFill>
          <a:ln w="16592">
            <a:solidFill>
              <a:srgbClr val="862F5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Explosion 3"/>
          <p:cNvSpPr/>
          <p:nvPr/>
        </p:nvSpPr>
        <p:spPr>
          <a:xfrm>
            <a:off x="6502986" y="823590"/>
            <a:ext cx="346334" cy="1070354"/>
          </a:xfrm>
          <a:prstGeom prst="irregularSeal2">
            <a:avLst/>
          </a:prstGeom>
          <a:solidFill>
            <a:srgbClr val="2FD647"/>
          </a:solidFill>
          <a:ln w="19972">
            <a:solidFill>
              <a:srgbClr val="A5317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_example_image.jpg"/>
          <p:cNvPicPr>
            <a:picLocks noChangeAspect="1"/>
          </p:cNvPicPr>
          <p:nvPr/>
        </p:nvPicPr>
        <p:blipFill>
          <a:blip r:embed="rId2"/>
          <a:srcRect l="6500" t="17184" r="8140" b="21480"/>
          <a:stretch>
            <a:fillRect/>
          </a:stretch>
        </p:blipFill>
        <p:spPr>
          <a:xfrm>
            <a:off x="229920" y="1739643"/>
            <a:ext cx="1595343" cy="1813430"/>
          </a:xfrm>
          <a:prstGeom prst="rect">
            <a:avLst/>
          </a:prstGeom>
        </p:spPr>
      </p:pic>
      <p:pic>
        <p:nvPicPr>
          <p:cNvPr id="6" name="Picture 5" descr="_example_image.jpg"/>
          <p:cNvPicPr>
            <a:picLocks noChangeAspect="1"/>
          </p:cNvPicPr>
          <p:nvPr/>
        </p:nvPicPr>
        <p:blipFill>
          <a:blip r:embed="rId2"/>
          <a:srcRect l="18050" t="6758" r="8050" b="15559"/>
          <a:stretch>
            <a:fillRect/>
          </a:stretch>
        </p:blipFill>
        <p:spPr>
          <a:xfrm>
            <a:off x="7197123" y="5311594"/>
            <a:ext cx="2426918" cy="1328399"/>
          </a:xfrm>
          <a:prstGeom prst="rect">
            <a:avLst/>
          </a:prstGeom>
        </p:spPr>
      </p:pic>
      <p:sp>
        <p:nvSpPr>
          <p:cNvPr id="7" name="TextBox 6"/>
          <p:cNvSpPr txBox="1"/>
          <p:nvPr/>
        </p:nvSpPr>
        <p:spPr>
          <a:xfrm>
            <a:off x="9785783" y="3838913"/>
            <a:ext cx="1214969" cy="2462469"/>
          </a:xfrm>
          <a:prstGeom prst="rect">
            <a:avLst/>
          </a:prstGeom>
          <a:noFill/>
        </p:spPr>
        <p:txBody>
          <a:bodyPr wrap="none" lIns="21343" tIns="21343" rIns="21343" bIns="21343">
            <a:spAutoFit/>
          </a:bodyPr>
          <a:lstStyle/>
          <a:p>
            <a:r>
              <a:rPr sz="4100" b="1" i="0" u="none">
                <a:solidFill>
                  <a:srgbClr val="52378C"/>
                </a:solidFill>
                <a:latin typeface="Georgia"/>
              </a:rPr>
              <a:t>Slice Build Gateway</a:t>
            </a:r>
          </a:p>
        </p:txBody>
      </p:sp>
      <p:sp>
        <p:nvSpPr>
          <p:cNvPr id="8" name="Curved Down Ribbon 7"/>
          <p:cNvSpPr/>
          <p:nvPr/>
        </p:nvSpPr>
        <p:spPr>
          <a:xfrm>
            <a:off x="778973" y="3675133"/>
            <a:ext cx="1116843" cy="1762718"/>
          </a:xfrm>
          <a:prstGeom prst="ellipseRibbon">
            <a:avLst/>
          </a:prstGeom>
          <a:noFill/>
          <a:ln w="26723">
            <a:solidFill>
              <a:srgbClr val="D96D5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44188" y="638803"/>
            <a:ext cx="1076404" cy="671974"/>
          </a:xfrm>
          <a:prstGeom prst="rect">
            <a:avLst/>
          </a:prstGeom>
          <a:noFill/>
        </p:spPr>
        <p:txBody>
          <a:bodyPr wrap="none" lIns="58748" tIns="58748" rIns="58748" bIns="58748">
            <a:spAutoFit/>
          </a:bodyPr>
          <a:lstStyle/>
          <a:p>
            <a:r>
              <a:rPr sz="1200" b="0" i="1" u="none">
                <a:solidFill>
                  <a:srgbClr val="78B04D"/>
                </a:solidFill>
                <a:latin typeface="Arial"/>
              </a:rPr>
              <a:t>Sync</a:t>
            </a:r>
          </a:p>
        </p:txBody>
      </p:sp>
      <p:cxnSp>
        <p:nvCxnSpPr>
          <p:cNvPr id="10" name="Connector 9"/>
          <p:cNvCxnSpPr/>
          <p:nvPr/>
        </p:nvCxnSpPr>
        <p:spPr>
          <a:xfrm>
            <a:off x="3416124" y="265597"/>
            <a:ext cx="867210" cy="653011"/>
          </a:xfrm>
          <a:prstGeom prst="bentConnector3">
            <a:avLst/>
          </a:prstGeom>
          <a:ln w="44104">
            <a:solidFill>
              <a:srgbClr val="5E7FBD"/>
            </a:solidFill>
            <a:prstDash val="dot"/>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81200" y="2815168"/>
            <a:ext cx="1137583" cy="1322575"/>
          </a:xfrm>
          <a:prstGeom prst="rect">
            <a:avLst/>
          </a:prstGeom>
          <a:noFill/>
        </p:spPr>
        <p:txBody>
          <a:bodyPr wrap="none" lIns="65839" tIns="65839" rIns="65839" bIns="65839">
            <a:spAutoFit/>
          </a:bodyPr>
          <a:lstStyle/>
          <a:p>
            <a:r>
              <a:rPr sz="1900" b="1" i="0" u="none">
                <a:solidFill>
                  <a:srgbClr val="19753D"/>
                </a:solidFill>
                <a:latin typeface="Aptos"/>
              </a:rPr>
              <a:t>Node Beacon Stream Engine Mode Terminal Impact Case</a:t>
            </a:r>
          </a:p>
        </p:txBody>
      </p:sp>
      <p:graphicFrame>
        <p:nvGraphicFramePr>
          <p:cNvPr id="12" name="Chart 11"/>
          <p:cNvGraphicFramePr>
            <a:graphicFrameLocks noGrp="1"/>
          </p:cNvGraphicFramePr>
          <p:nvPr/>
        </p:nvGraphicFramePr>
        <p:xfrm>
          <a:off x="4259598" y="415187"/>
          <a:ext cx="3443676" cy="1643555"/>
        </p:xfrm>
        <a:graphic>
          <a:graphicData uri="http://schemas.openxmlformats.org/drawingml/2006/chart">
            <c:chart xmlns:c="http://schemas.openxmlformats.org/drawingml/2006/chart" xmlns:r="http://schemas.openxmlformats.org/officeDocument/2006/relationships" r:id="rId3"/>
          </a:graphicData>
        </a:graphic>
      </p:graphicFrame>
      <p:sp>
        <p:nvSpPr>
          <p:cNvPr id="13" name="Document 12"/>
          <p:cNvSpPr/>
          <p:nvPr/>
        </p:nvSpPr>
        <p:spPr>
          <a:xfrm>
            <a:off x="1920779" y="2020121"/>
            <a:ext cx="818310" cy="930209"/>
          </a:xfrm>
          <a:prstGeom prst="flowChartDocument">
            <a:avLst/>
          </a:prstGeom>
          <a:solidFill>
            <a:srgbClr val="D3E6DB"/>
          </a:solidFill>
          <a:ln w="17269">
            <a:solidFill>
              <a:srgbClr val="569DA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Left-Right Arrow Callout 13"/>
          <p:cNvSpPr/>
          <p:nvPr/>
        </p:nvSpPr>
        <p:spPr>
          <a:xfrm>
            <a:off x="8444597" y="2446971"/>
            <a:ext cx="2725531" cy="1321373"/>
          </a:xfrm>
          <a:prstGeom prst="leftRightArrowCallout">
            <a:avLst/>
          </a:prstGeom>
          <a:solidFill>
            <a:srgbClr val="BAB978"/>
          </a:solidFill>
          <a:ln w="17837">
            <a:solidFill>
              <a:srgbClr val="D6AE1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890644" y="520200"/>
          <a:ext cx="2469890" cy="1201298"/>
        </p:xfrm>
        <a:graphic>
          <a:graphicData uri="http://schemas.openxmlformats.org/drawingml/2006/table">
            <a:tbl>
              <a:tblPr firstRow="1" bandRow="1">
                <a:tableStyleId>{5C22544A-7EE6-4342-B048-85BDC9FD1C3A}</a:tableStyleId>
              </a:tblPr>
              <a:tblGrid>
                <a:gridCol w="1234945">
                  <a:extLst>
                    <a:ext uri="{9D8B030D-6E8A-4147-A177-3AD203B41FA5}">
                      <a16:colId xmlns:a16="http://schemas.microsoft.com/office/drawing/2014/main" val="20000"/>
                    </a:ext>
                  </a:extLst>
                </a:gridCol>
                <a:gridCol w="1234945">
                  <a:extLst>
                    <a:ext uri="{9D8B030D-6E8A-4147-A177-3AD203B41FA5}">
                      <a16:colId xmlns:a16="http://schemas.microsoft.com/office/drawing/2014/main" val="20001"/>
                    </a:ext>
                  </a:extLst>
                </a:gridCol>
              </a:tblGrid>
              <a:tr h="600649">
                <a:tc>
                  <a:txBody>
                    <a:bodyPr/>
                    <a:lstStyle/>
                    <a:p>
                      <a:r>
                        <a:rPr sz="1100" b="0">
                          <a:solidFill>
                            <a:srgbClr val="A36E3E"/>
                          </a:solidFill>
                        </a:rPr>
                        <a:t>Measure Origin</a:t>
                      </a:r>
                    </a:p>
                  </a:txBody>
                  <a:tcPr>
                    <a:solidFill>
                      <a:srgbClr val="F4F9E8"/>
                    </a:solidFill>
                  </a:tcPr>
                </a:tc>
                <a:tc>
                  <a:txBody>
                    <a:bodyPr/>
                    <a:lstStyle/>
                    <a:p>
                      <a:r>
                        <a:rPr sz="1100" b="0">
                          <a:solidFill>
                            <a:srgbClr val="A36E3E"/>
                          </a:solidFill>
                        </a:rPr>
                        <a:t>Deployment</a:t>
                      </a:r>
                    </a:p>
                  </a:txBody>
                  <a:tcPr>
                    <a:solidFill>
                      <a:srgbClr val="F4F9E8"/>
                    </a:solidFill>
                  </a:tcPr>
                </a:tc>
                <a:extLst>
                  <a:ext uri="{0D108BD9-81ED-4DB2-BD59-A6C34878D82A}">
                    <a16:rowId xmlns:a16="http://schemas.microsoft.com/office/drawing/2014/main" val="10000"/>
                  </a:ext>
                </a:extLst>
              </a:tr>
              <a:tr h="600649">
                <a:tc>
                  <a:txBody>
                    <a:bodyPr/>
                    <a:lstStyle/>
                    <a:p>
                      <a:r>
                        <a:rPr sz="1100" b="0">
                          <a:solidFill>
                            <a:srgbClr val="A36E3E"/>
                          </a:solidFill>
                        </a:rPr>
                        <a:t>Source</a:t>
                      </a:r>
                    </a:p>
                  </a:txBody>
                  <a:tcPr>
                    <a:solidFill>
                      <a:srgbClr val="DBEEB3"/>
                    </a:solidFill>
                  </a:tcPr>
                </a:tc>
                <a:tc>
                  <a:txBody>
                    <a:bodyPr/>
                    <a:lstStyle/>
                    <a:p>
                      <a:r>
                        <a:rPr sz="1100" b="0">
                          <a:solidFill>
                            <a:srgbClr val="A36E3E"/>
                          </a:solidFill>
                        </a:rPr>
                        <a:t>Response Schema</a:t>
                      </a:r>
                    </a:p>
                  </a:txBody>
                  <a:tcPr>
                    <a:solidFill>
                      <a:srgbClr val="DBEEB3"/>
                    </a:solidFill>
                  </a:tcPr>
                </a:tc>
                <a:extLst>
                  <a:ext uri="{0D108BD9-81ED-4DB2-BD59-A6C34878D82A}">
                    <a16:rowId xmlns:a16="http://schemas.microsoft.com/office/drawing/2014/main" val="10001"/>
                  </a:ext>
                </a:extLst>
              </a:tr>
            </a:tbl>
          </a:graphicData>
        </a:graphic>
      </p:graphicFrame>
      <p:cxnSp>
        <p:nvCxnSpPr>
          <p:cNvPr id="16" name="Connector 15"/>
          <p:cNvCxnSpPr/>
          <p:nvPr/>
        </p:nvCxnSpPr>
        <p:spPr>
          <a:xfrm>
            <a:off x="378781" y="5721979"/>
            <a:ext cx="2299983" cy="722621"/>
          </a:xfrm>
          <a:prstGeom prst="curvedConnector3">
            <a:avLst/>
          </a:prstGeom>
          <a:ln w="32510">
            <a:solidFill>
              <a:srgbClr val="3CD49F"/>
            </a:solidFill>
            <a:prstDash val="soli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357139" y="2377770"/>
            <a:ext cx="497852" cy="2332641"/>
          </a:xfrm>
          <a:prstGeom prst="rect">
            <a:avLst/>
          </a:prstGeom>
          <a:noFill/>
        </p:spPr>
        <p:txBody>
          <a:bodyPr wrap="none" lIns="18335" tIns="18335" rIns="18335" bIns="18335">
            <a:spAutoFit/>
          </a:bodyPr>
          <a:lstStyle/>
          <a:p>
            <a:r>
              <a:rPr sz="2600" b="0" i="0" u="none">
                <a:solidFill>
                  <a:srgbClr val="E0CD99"/>
                </a:solidFill>
                <a:latin typeface="Calibri"/>
              </a:rPr>
              <a:t>Density Buffer Index Control Lineage Moment Story Method</a:t>
            </a:r>
          </a:p>
        </p:txBody>
      </p:sp>
      <p:graphicFrame>
        <p:nvGraphicFramePr>
          <p:cNvPr id="18" name="Table 17"/>
          <p:cNvGraphicFramePr>
            <a:graphicFrameLocks noGrp="1"/>
          </p:cNvGraphicFramePr>
          <p:nvPr/>
        </p:nvGraphicFramePr>
        <p:xfrm>
          <a:off x="6474887" y="1272543"/>
          <a:ext cx="4144847" cy="1274004"/>
        </p:xfrm>
        <a:graphic>
          <a:graphicData uri="http://schemas.openxmlformats.org/drawingml/2006/table">
            <a:tbl>
              <a:tblPr firstRow="1" bandRow="1">
                <a:tableStyleId>{5C22544A-7EE6-4342-B048-85BDC9FD1C3A}</a:tableStyleId>
              </a:tblPr>
              <a:tblGrid>
                <a:gridCol w="2072423">
                  <a:extLst>
                    <a:ext uri="{9D8B030D-6E8A-4147-A177-3AD203B41FA5}">
                      <a16:colId xmlns:a16="http://schemas.microsoft.com/office/drawing/2014/main" val="20000"/>
                    </a:ext>
                  </a:extLst>
                </a:gridCol>
                <a:gridCol w="2072424">
                  <a:extLst>
                    <a:ext uri="{9D8B030D-6E8A-4147-A177-3AD203B41FA5}">
                      <a16:colId xmlns:a16="http://schemas.microsoft.com/office/drawing/2014/main" val="20001"/>
                    </a:ext>
                  </a:extLst>
                </a:gridCol>
              </a:tblGrid>
              <a:tr h="212334">
                <a:tc>
                  <a:txBody>
                    <a:bodyPr/>
                    <a:lstStyle/>
                    <a:p>
                      <a:r>
                        <a:rPr sz="1100" b="1">
                          <a:solidFill>
                            <a:srgbClr val="B289BF"/>
                          </a:solidFill>
                        </a:rPr>
                        <a:t>Segment Flow</a:t>
                      </a:r>
                    </a:p>
                  </a:txBody>
                  <a:tcPr>
                    <a:solidFill>
                      <a:srgbClr val="4F2D48"/>
                    </a:solidFill>
                  </a:tcPr>
                </a:tc>
                <a:tc>
                  <a:txBody>
                    <a:bodyPr/>
                    <a:lstStyle/>
                    <a:p>
                      <a:r>
                        <a:rPr sz="1100" b="1">
                          <a:solidFill>
                            <a:srgbClr val="B289BF"/>
                          </a:solidFill>
                        </a:rPr>
                        <a:t>Deck Cadence</a:t>
                      </a:r>
                    </a:p>
                  </a:txBody>
                  <a:tcPr>
                    <a:solidFill>
                      <a:srgbClr val="4F2D48"/>
                    </a:solidFill>
                  </a:tcPr>
                </a:tc>
                <a:extLst>
                  <a:ext uri="{0D108BD9-81ED-4DB2-BD59-A6C34878D82A}">
                    <a16:rowId xmlns:a16="http://schemas.microsoft.com/office/drawing/2014/main" val="10000"/>
                  </a:ext>
                </a:extLst>
              </a:tr>
              <a:tr h="212334">
                <a:tc>
                  <a:txBody>
                    <a:bodyPr/>
                    <a:lstStyle/>
                    <a:p>
                      <a:r>
                        <a:rPr sz="1100" b="0">
                          <a:solidFill>
                            <a:srgbClr val="B289BF"/>
                          </a:solidFill>
                        </a:rPr>
                        <a:t>Table</a:t>
                      </a:r>
                    </a:p>
                  </a:txBody>
                  <a:tcPr>
                    <a:solidFill>
                      <a:srgbClr val="DFE6E3"/>
                    </a:solidFill>
                  </a:tcPr>
                </a:tc>
                <a:tc>
                  <a:txBody>
                    <a:bodyPr/>
                    <a:lstStyle/>
                    <a:p>
                      <a:r>
                        <a:rPr sz="1100" b="0">
                          <a:solidFill>
                            <a:srgbClr val="B289BF"/>
                          </a:solidFill>
                        </a:rPr>
                        <a:t>Event Precision</a:t>
                      </a:r>
                    </a:p>
                  </a:txBody>
                  <a:tcPr>
                    <a:solidFill>
                      <a:srgbClr val="DFE6E3"/>
                    </a:solidFill>
                  </a:tcPr>
                </a:tc>
                <a:extLst>
                  <a:ext uri="{0D108BD9-81ED-4DB2-BD59-A6C34878D82A}">
                    <a16:rowId xmlns:a16="http://schemas.microsoft.com/office/drawing/2014/main" val="10001"/>
                  </a:ext>
                </a:extLst>
              </a:tr>
              <a:tr h="212334">
                <a:tc>
                  <a:txBody>
                    <a:bodyPr/>
                    <a:lstStyle/>
                    <a:p>
                      <a:r>
                        <a:rPr sz="1100" b="0">
                          <a:solidFill>
                            <a:srgbClr val="B289BF"/>
                          </a:solidFill>
                        </a:rPr>
                        <a:t>Keyline</a:t>
                      </a:r>
                    </a:p>
                  </a:txBody>
                  <a:tcPr>
                    <a:solidFill>
                      <a:srgbClr val="DFE6E3"/>
                    </a:solidFill>
                  </a:tcPr>
                </a:tc>
                <a:tc>
                  <a:txBody>
                    <a:bodyPr/>
                    <a:lstStyle/>
                    <a:p>
                      <a:r>
                        <a:rPr sz="1100" b="0">
                          <a:solidFill>
                            <a:srgbClr val="B289BF"/>
                          </a:solidFill>
                        </a:rPr>
                        <a:t>Dashboard</a:t>
                      </a:r>
                    </a:p>
                  </a:txBody>
                  <a:tcPr>
                    <a:solidFill>
                      <a:srgbClr val="DFE6E3"/>
                    </a:solidFill>
                  </a:tcPr>
                </a:tc>
                <a:extLst>
                  <a:ext uri="{0D108BD9-81ED-4DB2-BD59-A6C34878D82A}">
                    <a16:rowId xmlns:a16="http://schemas.microsoft.com/office/drawing/2014/main" val="10002"/>
                  </a:ext>
                </a:extLst>
              </a:tr>
              <a:tr h="212334">
                <a:tc>
                  <a:txBody>
                    <a:bodyPr/>
                    <a:lstStyle/>
                    <a:p>
                      <a:r>
                        <a:rPr sz="1100" b="0">
                          <a:solidFill>
                            <a:srgbClr val="B289BF"/>
                          </a:solidFill>
                        </a:rPr>
                        <a:t>Portal Core</a:t>
                      </a:r>
                    </a:p>
                  </a:txBody>
                  <a:tcPr>
                    <a:solidFill>
                      <a:srgbClr val="DFE6E3"/>
                    </a:solidFill>
                  </a:tcPr>
                </a:tc>
                <a:tc>
                  <a:txBody>
                    <a:bodyPr/>
                    <a:lstStyle/>
                    <a:p>
                      <a:r>
                        <a:rPr sz="1100" b="0">
                          <a:solidFill>
                            <a:srgbClr val="B289BF"/>
                          </a:solidFill>
                        </a:rPr>
                        <a:t>Station Cluster</a:t>
                      </a:r>
                    </a:p>
                  </a:txBody>
                  <a:tcPr>
                    <a:solidFill>
                      <a:srgbClr val="DFE6E3"/>
                    </a:solidFill>
                  </a:tcPr>
                </a:tc>
                <a:extLst>
                  <a:ext uri="{0D108BD9-81ED-4DB2-BD59-A6C34878D82A}">
                    <a16:rowId xmlns:a16="http://schemas.microsoft.com/office/drawing/2014/main" val="10003"/>
                  </a:ext>
                </a:extLst>
              </a:tr>
              <a:tr h="212334">
                <a:tc>
                  <a:txBody>
                    <a:bodyPr/>
                    <a:lstStyle/>
                    <a:p>
                      <a:r>
                        <a:rPr sz="1100" b="0">
                          <a:solidFill>
                            <a:srgbClr val="B289BF"/>
                          </a:solidFill>
                        </a:rPr>
                        <a:t>Analysis</a:t>
                      </a:r>
                    </a:p>
                  </a:txBody>
                  <a:tcPr>
                    <a:solidFill>
                      <a:srgbClr val="DFE6E3"/>
                    </a:solidFill>
                  </a:tcPr>
                </a:tc>
                <a:tc>
                  <a:txBody>
                    <a:bodyPr/>
                    <a:lstStyle/>
                    <a:p>
                      <a:r>
                        <a:rPr sz="1100" b="0">
                          <a:solidFill>
                            <a:srgbClr val="B289BF"/>
                          </a:solidFill>
                        </a:rPr>
                        <a:t>Topology</a:t>
                      </a:r>
                    </a:p>
                  </a:txBody>
                  <a:tcPr>
                    <a:solidFill>
                      <a:srgbClr val="DFE6E3"/>
                    </a:solidFill>
                  </a:tcPr>
                </a:tc>
                <a:extLst>
                  <a:ext uri="{0D108BD9-81ED-4DB2-BD59-A6C34878D82A}">
                    <a16:rowId xmlns:a16="http://schemas.microsoft.com/office/drawing/2014/main" val="10004"/>
                  </a:ext>
                </a:extLst>
              </a:tr>
              <a:tr h="212334">
                <a:tc>
                  <a:txBody>
                    <a:bodyPr/>
                    <a:lstStyle/>
                    <a:p>
                      <a:r>
                        <a:rPr sz="1100" b="0">
                          <a:solidFill>
                            <a:srgbClr val="B289BF"/>
                          </a:solidFill>
                        </a:rPr>
                        <a:t>Response Position</a:t>
                      </a:r>
                    </a:p>
                  </a:txBody>
                  <a:tcPr>
                    <a:solidFill>
                      <a:srgbClr val="DFE6E3"/>
                    </a:solidFill>
                  </a:tcPr>
                </a:tc>
                <a:tc>
                  <a:txBody>
                    <a:bodyPr/>
                    <a:lstStyle/>
                    <a:p>
                      <a:r>
                        <a:rPr sz="1100" b="0">
                          <a:solidFill>
                            <a:srgbClr val="B289BF"/>
                          </a:solidFill>
                        </a:rPr>
                        <a:t>Option Canvas</a:t>
                      </a:r>
                    </a:p>
                  </a:txBody>
                  <a:tcPr>
                    <a:solidFill>
                      <a:srgbClr val="DFE6E3"/>
                    </a:solidFill>
                  </a:tcPr>
                </a:tc>
                <a:extLst>
                  <a:ext uri="{0D108BD9-81ED-4DB2-BD59-A6C34878D82A}">
                    <a16:rowId xmlns:a16="http://schemas.microsoft.com/office/drawing/2014/main" val="10005"/>
                  </a:ext>
                </a:extLst>
              </a:tr>
            </a:tbl>
          </a:graphicData>
        </a:graphic>
      </p:graphicFrame>
      <p:sp>
        <p:nvSpPr>
          <p:cNvPr id="19" name="TextBox 18"/>
          <p:cNvSpPr txBox="1"/>
          <p:nvPr/>
        </p:nvSpPr>
        <p:spPr>
          <a:xfrm>
            <a:off x="3423253" y="5039120"/>
            <a:ext cx="3626410" cy="1179224"/>
          </a:xfrm>
          <a:prstGeom prst="rect">
            <a:avLst/>
          </a:prstGeom>
          <a:noFill/>
        </p:spPr>
        <p:txBody>
          <a:bodyPr wrap="none" lIns="62965" tIns="62965" rIns="62965" bIns="62965">
            <a:spAutoFit/>
          </a:bodyPr>
          <a:lstStyle/>
          <a:p>
            <a:r>
              <a:rPr sz="1200" b="0" i="0" u="none">
                <a:solidFill>
                  <a:srgbClr val="DC8887"/>
                </a:solidFill>
                <a:latin typeface="Aptos"/>
              </a:rPr>
              <a:t>Sequence Density Cadence Build Gradient Target</a:t>
            </a:r>
          </a:p>
        </p:txBody>
      </p:sp>
      <p:graphicFrame>
        <p:nvGraphicFramePr>
          <p:cNvPr id="20" name="Chart 19"/>
          <p:cNvGraphicFramePr>
            <a:graphicFrameLocks noGrp="1"/>
          </p:cNvGraphicFramePr>
          <p:nvPr/>
        </p:nvGraphicFramePr>
        <p:xfrm>
          <a:off x="1919107" y="3224066"/>
          <a:ext cx="3601425" cy="1375244"/>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20"/>
          <p:cNvSpPr txBox="1"/>
          <p:nvPr/>
        </p:nvSpPr>
        <p:spPr>
          <a:xfrm>
            <a:off x="3970939" y="3685833"/>
            <a:ext cx="956661" cy="1225619"/>
          </a:xfrm>
          <a:prstGeom prst="rect">
            <a:avLst/>
          </a:prstGeom>
          <a:noFill/>
        </p:spPr>
        <p:txBody>
          <a:bodyPr wrap="none" lIns="65533" tIns="65533" rIns="65533" bIns="65533">
            <a:spAutoFit/>
          </a:bodyPr>
          <a:lstStyle/>
          <a:p>
            <a:r>
              <a:rPr sz="1400" b="1" i="0" u="none">
                <a:solidFill>
                  <a:srgbClr val="488838"/>
                </a:solidFill>
                <a:latin typeface="Aptos"/>
              </a:rPr>
              <a:t>Goal Token Lens Narrative Engine Memory Profile Signal Bridge Object Blueprint Strategy Precision Compass Cell Terminal Viewport Marker Trend Beacon Friction Logic Priority Program Ledger Impact Measure</a:t>
            </a:r>
          </a:p>
        </p:txBody>
      </p:sp>
      <p:sp>
        <p:nvSpPr>
          <p:cNvPr id="22" name="Freeform 21"/>
          <p:cNvSpPr/>
          <p:nvPr/>
        </p:nvSpPr>
        <p:spPr>
          <a:xfrm>
            <a:off x="2549494" y="1564979"/>
            <a:ext cx="824173" cy="1848977"/>
          </a:xfrm>
          <a:custGeom>
            <a:avLst/>
            <a:gdLst/>
            <a:ahLst/>
            <a:cxnLst/>
            <a:rect l="l" t="t" r="r" b="b"/>
            <a:pathLst>
              <a:path w="824173" h="1848977">
                <a:moveTo>
                  <a:pt x="412087" y="0"/>
                </a:moveTo>
                <a:lnTo>
                  <a:pt x="515108" y="462244"/>
                </a:lnTo>
                <a:lnTo>
                  <a:pt x="772662" y="332816"/>
                </a:lnTo>
                <a:lnTo>
                  <a:pt x="626715" y="924488"/>
                </a:lnTo>
                <a:lnTo>
                  <a:pt x="824173" y="1442202"/>
                </a:lnTo>
                <a:lnTo>
                  <a:pt x="515108" y="1331263"/>
                </a:lnTo>
                <a:lnTo>
                  <a:pt x="412087" y="1848977"/>
                </a:lnTo>
                <a:lnTo>
                  <a:pt x="309065" y="1331263"/>
                </a:lnTo>
                <a:lnTo>
                  <a:pt x="0" y="1442202"/>
                </a:lnTo>
                <a:lnTo>
                  <a:pt x="197458" y="924488"/>
                </a:lnTo>
                <a:lnTo>
                  <a:pt x="51511" y="332816"/>
                </a:lnTo>
                <a:lnTo>
                  <a:pt x="309065" y="462244"/>
                </a:lnTo>
                <a:close/>
              </a:path>
            </a:pathLst>
          </a:custGeom>
          <a:solidFill>
            <a:srgbClr val="E66888"/>
          </a:solidFill>
          <a:ln w="34539">
            <a:solidFill>
              <a:srgbClr val="9B4E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2"/>
          <a:srcRect l="7590" t="20934" r="7623" b="19664"/>
          <a:stretch>
            <a:fillRect/>
          </a:stretch>
        </p:blipFill>
        <p:spPr>
          <a:xfrm>
            <a:off x="6879730" y="4199699"/>
            <a:ext cx="2389951" cy="737971"/>
          </a:xfrm>
          <a:prstGeom prst="rect">
            <a:avLst/>
          </a:prstGeom>
        </p:spPr>
      </p:pic>
      <p:sp>
        <p:nvSpPr>
          <p:cNvPr id="24" name="Freeform 23"/>
          <p:cNvSpPr/>
          <p:nvPr/>
        </p:nvSpPr>
        <p:spPr>
          <a:xfrm>
            <a:off x="164225" y="3706857"/>
            <a:ext cx="1038872" cy="562919"/>
          </a:xfrm>
          <a:custGeom>
            <a:avLst/>
            <a:gdLst/>
            <a:ahLst/>
            <a:cxnLst/>
            <a:rect l="l" t="t" r="r" b="b"/>
            <a:pathLst>
              <a:path w="1038872" h="562919">
                <a:moveTo>
                  <a:pt x="0" y="273641"/>
                </a:moveTo>
                <a:lnTo>
                  <a:pt x="178731" y="0"/>
                </a:lnTo>
                <a:lnTo>
                  <a:pt x="368632" y="234550"/>
                </a:lnTo>
                <a:lnTo>
                  <a:pt x="558533" y="469099"/>
                </a:lnTo>
                <a:lnTo>
                  <a:pt x="759605" y="195458"/>
                </a:lnTo>
                <a:lnTo>
                  <a:pt x="1038872" y="297096"/>
                </a:lnTo>
                <a:lnTo>
                  <a:pt x="1038872" y="562919"/>
                </a:lnTo>
                <a:lnTo>
                  <a:pt x="0" y="562919"/>
                </a:lnTo>
                <a:close/>
              </a:path>
            </a:pathLst>
          </a:custGeom>
          <a:solidFill>
            <a:srgbClr val="286BA8"/>
          </a:solidFill>
          <a:ln w="28330">
            <a:solidFill>
              <a:srgbClr val="A73D9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ightning Bolt 24"/>
          <p:cNvSpPr/>
          <p:nvPr/>
        </p:nvSpPr>
        <p:spPr>
          <a:xfrm>
            <a:off x="3974534" y="673171"/>
            <a:ext cx="455481" cy="467873"/>
          </a:xfrm>
          <a:prstGeom prst="lightningBolt">
            <a:avLst/>
          </a:prstGeom>
          <a:noFill/>
          <a:ln w="10006">
            <a:solidFill>
              <a:srgbClr val="2391E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flipV="1">
            <a:off x="5431387" y="3066170"/>
            <a:ext cx="1310561" cy="719167"/>
          </a:xfrm>
          <a:prstGeom prst="line">
            <a:avLst/>
          </a:prstGeom>
          <a:ln w="39508">
            <a:solidFill>
              <a:srgbClr val="BA7C91"/>
            </a:solidFill>
            <a:prstDash val="dash"/>
          </a:ln>
        </p:spPr>
        <p:style>
          <a:lnRef idx="2">
            <a:schemeClr val="accent1"/>
          </a:lnRef>
          <a:fillRef idx="0">
            <a:schemeClr val="accent1"/>
          </a:fillRef>
          <a:effectRef idx="1">
            <a:schemeClr val="accent1"/>
          </a:effectRef>
          <a:fontRef idx="minor">
            <a:schemeClr val="tx1"/>
          </a:fontRef>
        </p:style>
      </p:cxnSp>
      <p:pic>
        <p:nvPicPr>
          <p:cNvPr id="28" name="Graphic 27">
            <a:extLst>
              <a:ext uri="{FF2B5EF4-FFF2-40B4-BE49-F238E27FC236}">
                <a16:creationId xmlns:a16="http://schemas.microsoft.com/office/drawing/2014/main" id="{003D54D6-E66D-63AF-CFE6-E15D4993F90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457347" y="280152"/>
            <a:ext cx="1433196" cy="1731715"/>
          </a:xfrm>
          <a:prstGeom prst="rect">
            <a:avLst/>
          </a:prstGeom>
        </p:spPr>
      </p:pic>
      <p:pic>
        <p:nvPicPr>
          <p:cNvPr id="30" name="Graphic 29">
            <a:extLst>
              <a:ext uri="{FF2B5EF4-FFF2-40B4-BE49-F238E27FC236}">
                <a16:creationId xmlns:a16="http://schemas.microsoft.com/office/drawing/2014/main" id="{31C24FEB-0E0E-9C2C-856A-E881746C03E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117491" y="4567085"/>
            <a:ext cx="1491875" cy="113989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5307906" y="551341"/>
            <a:ext cx="994055" cy="787989"/>
          </a:xfrm>
          <a:prstGeom prst="bentConnector3">
            <a:avLst/>
          </a:prstGeom>
          <a:ln w="8135">
            <a:solidFill>
              <a:srgbClr val="9D42CC"/>
            </a:solidFill>
            <a:prstDash val="dash"/>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316274" y="4631875"/>
            <a:ext cx="2179292" cy="394225"/>
          </a:xfrm>
          <a:prstGeom prst="bentConnector3">
            <a:avLst/>
          </a:prstGeom>
          <a:ln w="43373">
            <a:solidFill>
              <a:srgbClr val="764DD5"/>
            </a:solidFill>
            <a:prstDash val="dashDot"/>
          </a:ln>
        </p:spPr>
        <p:style>
          <a:lnRef idx="2">
            <a:schemeClr val="accent1"/>
          </a:lnRef>
          <a:fillRef idx="0">
            <a:schemeClr val="accent1"/>
          </a:fillRef>
          <a:effectRef idx="1">
            <a:schemeClr val="accent1"/>
          </a:effectRef>
          <a:fontRef idx="minor">
            <a:schemeClr val="tx1"/>
          </a:fontRef>
        </p:style>
      </p:cxnSp>
      <p:sp>
        <p:nvSpPr>
          <p:cNvPr id="4" name="Freeform 3"/>
          <p:cNvSpPr/>
          <p:nvPr/>
        </p:nvSpPr>
        <p:spPr>
          <a:xfrm>
            <a:off x="9995599" y="478792"/>
            <a:ext cx="756777" cy="1105156"/>
          </a:xfrm>
          <a:custGeom>
            <a:avLst/>
            <a:gdLst/>
            <a:ahLst/>
            <a:cxnLst/>
            <a:rect l="l" t="t" r="r" b="b"/>
            <a:pathLst>
              <a:path w="756777" h="1105156">
                <a:moveTo>
                  <a:pt x="0" y="245590"/>
                </a:moveTo>
                <a:lnTo>
                  <a:pt x="162748" y="0"/>
                </a:lnTo>
                <a:lnTo>
                  <a:pt x="325496" y="331547"/>
                </a:lnTo>
                <a:lnTo>
                  <a:pt x="488243" y="36838"/>
                </a:lnTo>
                <a:lnTo>
                  <a:pt x="756777" y="859566"/>
                </a:lnTo>
                <a:lnTo>
                  <a:pt x="569617" y="1105156"/>
                </a:lnTo>
                <a:lnTo>
                  <a:pt x="390595" y="736770"/>
                </a:lnTo>
                <a:lnTo>
                  <a:pt x="187160" y="1068317"/>
                </a:lnTo>
                <a:close/>
              </a:path>
            </a:pathLst>
          </a:custGeom>
          <a:solidFill>
            <a:srgbClr val="BB3747"/>
          </a:solidFill>
          <a:ln w="31953">
            <a:solidFill>
              <a:srgbClr val="2D55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1834588" y="1224719"/>
          <a:ext cx="2022307" cy="20438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Table 5"/>
          <p:cNvGraphicFramePr>
            <a:graphicFrameLocks noGrp="1"/>
          </p:cNvGraphicFramePr>
          <p:nvPr/>
        </p:nvGraphicFramePr>
        <p:xfrm>
          <a:off x="5126329" y="5397206"/>
          <a:ext cx="3874030" cy="1177165"/>
        </p:xfrm>
        <a:graphic>
          <a:graphicData uri="http://schemas.openxmlformats.org/drawingml/2006/table">
            <a:tbl>
              <a:tblPr firstRow="1" bandRow="1">
                <a:tableStyleId>{5C22544A-7EE6-4342-B048-85BDC9FD1C3A}</a:tableStyleId>
              </a:tblPr>
              <a:tblGrid>
                <a:gridCol w="1291343">
                  <a:extLst>
                    <a:ext uri="{9D8B030D-6E8A-4147-A177-3AD203B41FA5}">
                      <a16:colId xmlns:a16="http://schemas.microsoft.com/office/drawing/2014/main" val="20000"/>
                    </a:ext>
                  </a:extLst>
                </a:gridCol>
                <a:gridCol w="1291343">
                  <a:extLst>
                    <a:ext uri="{9D8B030D-6E8A-4147-A177-3AD203B41FA5}">
                      <a16:colId xmlns:a16="http://schemas.microsoft.com/office/drawing/2014/main" val="20001"/>
                    </a:ext>
                  </a:extLst>
                </a:gridCol>
                <a:gridCol w="1291344">
                  <a:extLst>
                    <a:ext uri="{9D8B030D-6E8A-4147-A177-3AD203B41FA5}">
                      <a16:colId xmlns:a16="http://schemas.microsoft.com/office/drawing/2014/main" val="20002"/>
                    </a:ext>
                  </a:extLst>
                </a:gridCol>
              </a:tblGrid>
              <a:tr h="196194">
                <a:tc>
                  <a:txBody>
                    <a:bodyPr/>
                    <a:lstStyle/>
                    <a:p>
                      <a:r>
                        <a:rPr sz="1300" b="1">
                          <a:solidFill>
                            <a:srgbClr val="B8A3CF"/>
                          </a:solidFill>
                        </a:rPr>
                        <a:t>Detail</a:t>
                      </a:r>
                    </a:p>
                  </a:txBody>
                  <a:tcPr>
                    <a:solidFill>
                      <a:srgbClr val="581A32"/>
                    </a:solidFill>
                  </a:tcPr>
                </a:tc>
                <a:tc>
                  <a:txBody>
                    <a:bodyPr/>
                    <a:lstStyle/>
                    <a:p>
                      <a:r>
                        <a:rPr sz="1300" b="1">
                          <a:solidFill>
                            <a:srgbClr val="B8A3CF"/>
                          </a:solidFill>
                        </a:rPr>
                        <a:t>Lineage Moment</a:t>
                      </a:r>
                    </a:p>
                  </a:txBody>
                  <a:tcPr>
                    <a:solidFill>
                      <a:srgbClr val="581A32"/>
                    </a:solidFill>
                  </a:tcPr>
                </a:tc>
                <a:tc>
                  <a:txBody>
                    <a:bodyPr/>
                    <a:lstStyle/>
                    <a:p>
                      <a:r>
                        <a:rPr sz="1300" b="1">
                          <a:solidFill>
                            <a:srgbClr val="B8A3CF"/>
                          </a:solidFill>
                        </a:rPr>
                        <a:t>Index</a:t>
                      </a:r>
                    </a:p>
                  </a:txBody>
                  <a:tcPr>
                    <a:solidFill>
                      <a:srgbClr val="581A32"/>
                    </a:solidFill>
                  </a:tcPr>
                </a:tc>
                <a:extLst>
                  <a:ext uri="{0D108BD9-81ED-4DB2-BD59-A6C34878D82A}">
                    <a16:rowId xmlns:a16="http://schemas.microsoft.com/office/drawing/2014/main" val="10000"/>
                  </a:ext>
                </a:extLst>
              </a:tr>
              <a:tr h="196194">
                <a:tc>
                  <a:txBody>
                    <a:bodyPr/>
                    <a:lstStyle/>
                    <a:p>
                      <a:r>
                        <a:rPr sz="1300" b="0">
                          <a:solidFill>
                            <a:srgbClr val="B8A3CF"/>
                          </a:solidFill>
                        </a:rPr>
                        <a:t>Option Zone</a:t>
                      </a:r>
                    </a:p>
                  </a:txBody>
                  <a:tcPr>
                    <a:solidFill>
                      <a:srgbClr val="F1F2F7"/>
                    </a:solidFill>
                  </a:tcPr>
                </a:tc>
                <a:tc>
                  <a:txBody>
                    <a:bodyPr/>
                    <a:lstStyle/>
                    <a:p>
                      <a:r>
                        <a:rPr sz="1300" b="0">
                          <a:solidFill>
                            <a:srgbClr val="B8A3CF"/>
                          </a:solidFill>
                        </a:rPr>
                        <a:t>Frequency</a:t>
                      </a:r>
                    </a:p>
                  </a:txBody>
                  <a:tcPr>
                    <a:solidFill>
                      <a:srgbClr val="F1F2F7"/>
                    </a:solidFill>
                  </a:tcPr>
                </a:tc>
                <a:tc>
                  <a:txBody>
                    <a:bodyPr/>
                    <a:lstStyle/>
                    <a:p>
                      <a:r>
                        <a:rPr sz="1300" b="0">
                          <a:solidFill>
                            <a:srgbClr val="B8A3CF"/>
                          </a:solidFill>
                        </a:rPr>
                        <a:t>Control</a:t>
                      </a:r>
                    </a:p>
                  </a:txBody>
                  <a:tcPr>
                    <a:solidFill>
                      <a:srgbClr val="F1F2F7"/>
                    </a:solidFill>
                  </a:tcPr>
                </a:tc>
                <a:extLst>
                  <a:ext uri="{0D108BD9-81ED-4DB2-BD59-A6C34878D82A}">
                    <a16:rowId xmlns:a16="http://schemas.microsoft.com/office/drawing/2014/main" val="10001"/>
                  </a:ext>
                </a:extLst>
              </a:tr>
              <a:tr h="196194">
                <a:tc>
                  <a:txBody>
                    <a:bodyPr/>
                    <a:lstStyle/>
                    <a:p>
                      <a:r>
                        <a:rPr sz="1300" b="0">
                          <a:solidFill>
                            <a:srgbClr val="B8A3CF"/>
                          </a:solidFill>
                        </a:rPr>
                        <a:t>Library Depth</a:t>
                      </a:r>
                    </a:p>
                  </a:txBody>
                  <a:tcPr>
                    <a:solidFill>
                      <a:srgbClr val="F1F2F7"/>
                    </a:solidFill>
                  </a:tcPr>
                </a:tc>
                <a:tc>
                  <a:txBody>
                    <a:bodyPr/>
                    <a:lstStyle/>
                    <a:p>
                      <a:r>
                        <a:rPr sz="1300" b="0">
                          <a:solidFill>
                            <a:srgbClr val="B8A3CF"/>
                          </a:solidFill>
                        </a:rPr>
                        <a:t>Journey Module</a:t>
                      </a:r>
                    </a:p>
                  </a:txBody>
                  <a:tcPr>
                    <a:solidFill>
                      <a:srgbClr val="F1F2F7"/>
                    </a:solidFill>
                  </a:tcPr>
                </a:tc>
                <a:tc>
                  <a:txBody>
                    <a:bodyPr/>
                    <a:lstStyle/>
                    <a:p>
                      <a:r>
                        <a:rPr sz="1300" b="0">
                          <a:solidFill>
                            <a:srgbClr val="B8A3CF"/>
                          </a:solidFill>
                        </a:rPr>
                        <a:t>Handle</a:t>
                      </a:r>
                    </a:p>
                  </a:txBody>
                  <a:tcPr>
                    <a:solidFill>
                      <a:srgbClr val="F1F2F7"/>
                    </a:solidFill>
                  </a:tcPr>
                </a:tc>
                <a:extLst>
                  <a:ext uri="{0D108BD9-81ED-4DB2-BD59-A6C34878D82A}">
                    <a16:rowId xmlns:a16="http://schemas.microsoft.com/office/drawing/2014/main" val="10002"/>
                  </a:ext>
                </a:extLst>
              </a:tr>
              <a:tr h="196194">
                <a:tc>
                  <a:txBody>
                    <a:bodyPr/>
                    <a:lstStyle/>
                    <a:p>
                      <a:r>
                        <a:rPr sz="1300" b="0">
                          <a:solidFill>
                            <a:srgbClr val="B8A3CF"/>
                          </a:solidFill>
                        </a:rPr>
                        <a:t>Loop Schema</a:t>
                      </a:r>
                    </a:p>
                  </a:txBody>
                  <a:tcPr>
                    <a:solidFill>
                      <a:srgbClr val="F1F2F7"/>
                    </a:solidFill>
                  </a:tcPr>
                </a:tc>
                <a:tc>
                  <a:txBody>
                    <a:bodyPr/>
                    <a:lstStyle/>
                    <a:p>
                      <a:r>
                        <a:rPr sz="1300" b="0">
                          <a:solidFill>
                            <a:srgbClr val="B8A3CF"/>
                          </a:solidFill>
                        </a:rPr>
                        <a:t>Level Metric</a:t>
                      </a:r>
                    </a:p>
                  </a:txBody>
                  <a:tcPr>
                    <a:solidFill>
                      <a:srgbClr val="F1F2F7"/>
                    </a:solidFill>
                  </a:tcPr>
                </a:tc>
                <a:tc>
                  <a:txBody>
                    <a:bodyPr/>
                    <a:lstStyle/>
                    <a:p>
                      <a:r>
                        <a:rPr sz="1300" b="0">
                          <a:solidFill>
                            <a:srgbClr val="B8A3CF"/>
                          </a:solidFill>
                        </a:rPr>
                        <a:t>Queueing</a:t>
                      </a:r>
                    </a:p>
                  </a:txBody>
                  <a:tcPr>
                    <a:solidFill>
                      <a:srgbClr val="F1F2F7"/>
                    </a:solidFill>
                  </a:tcPr>
                </a:tc>
                <a:extLst>
                  <a:ext uri="{0D108BD9-81ED-4DB2-BD59-A6C34878D82A}">
                    <a16:rowId xmlns:a16="http://schemas.microsoft.com/office/drawing/2014/main" val="10003"/>
                  </a:ext>
                </a:extLst>
              </a:tr>
              <a:tr h="196194">
                <a:tc>
                  <a:txBody>
                    <a:bodyPr/>
                    <a:lstStyle/>
                    <a:p>
                      <a:r>
                        <a:rPr sz="1300" b="0">
                          <a:solidFill>
                            <a:srgbClr val="B8A3CF"/>
                          </a:solidFill>
                        </a:rPr>
                        <a:t>Entity Edge</a:t>
                      </a:r>
                    </a:p>
                  </a:txBody>
                  <a:tcPr>
                    <a:solidFill>
                      <a:srgbClr val="F1F2F7"/>
                    </a:solidFill>
                  </a:tcPr>
                </a:tc>
                <a:tc>
                  <a:txBody>
                    <a:bodyPr/>
                    <a:lstStyle/>
                    <a:p>
                      <a:r>
                        <a:rPr sz="1300" b="0">
                          <a:solidFill>
                            <a:srgbClr val="B8A3CF"/>
                          </a:solidFill>
                        </a:rPr>
                        <a:t>Friction</a:t>
                      </a:r>
                    </a:p>
                  </a:txBody>
                  <a:tcPr>
                    <a:solidFill>
                      <a:srgbClr val="F1F2F7"/>
                    </a:solidFill>
                  </a:tcPr>
                </a:tc>
                <a:tc>
                  <a:txBody>
                    <a:bodyPr/>
                    <a:lstStyle/>
                    <a:p>
                      <a:r>
                        <a:rPr sz="1300" b="0">
                          <a:solidFill>
                            <a:srgbClr val="B8A3CF"/>
                          </a:solidFill>
                        </a:rPr>
                        <a:t>Service</a:t>
                      </a:r>
                    </a:p>
                  </a:txBody>
                  <a:tcPr>
                    <a:solidFill>
                      <a:srgbClr val="F1F2F7"/>
                    </a:solidFill>
                  </a:tcPr>
                </a:tc>
                <a:extLst>
                  <a:ext uri="{0D108BD9-81ED-4DB2-BD59-A6C34878D82A}">
                    <a16:rowId xmlns:a16="http://schemas.microsoft.com/office/drawing/2014/main" val="10004"/>
                  </a:ext>
                </a:extLst>
              </a:tr>
              <a:tr h="196195">
                <a:tc>
                  <a:txBody>
                    <a:bodyPr/>
                    <a:lstStyle/>
                    <a:p>
                      <a:r>
                        <a:rPr sz="1300" b="0">
                          <a:solidFill>
                            <a:srgbClr val="B8A3CF"/>
                          </a:solidFill>
                        </a:rPr>
                        <a:t>Cluster</a:t>
                      </a:r>
                    </a:p>
                  </a:txBody>
                  <a:tcPr>
                    <a:solidFill>
                      <a:srgbClr val="F1F2F7"/>
                    </a:solidFill>
                  </a:tcPr>
                </a:tc>
                <a:tc>
                  <a:txBody>
                    <a:bodyPr/>
                    <a:lstStyle/>
                    <a:p>
                      <a:r>
                        <a:rPr sz="1300" b="0">
                          <a:solidFill>
                            <a:srgbClr val="B8A3CF"/>
                          </a:solidFill>
                        </a:rPr>
                        <a:t>Control</a:t>
                      </a:r>
                    </a:p>
                  </a:txBody>
                  <a:tcPr>
                    <a:solidFill>
                      <a:srgbClr val="F1F2F7"/>
                    </a:solidFill>
                  </a:tcPr>
                </a:tc>
                <a:tc>
                  <a:txBody>
                    <a:bodyPr/>
                    <a:lstStyle/>
                    <a:p>
                      <a:r>
                        <a:rPr sz="1300" b="0">
                          <a:solidFill>
                            <a:srgbClr val="B8A3CF"/>
                          </a:solidFill>
                        </a:rPr>
                        <a:t>Estimate Map</a:t>
                      </a:r>
                    </a:p>
                  </a:txBody>
                  <a:tcPr>
                    <a:solidFill>
                      <a:srgbClr val="F1F2F7"/>
                    </a:solidFill>
                  </a:tcPr>
                </a:tc>
                <a:extLst>
                  <a:ext uri="{0D108BD9-81ED-4DB2-BD59-A6C34878D82A}">
                    <a16:rowId xmlns:a16="http://schemas.microsoft.com/office/drawing/2014/main" val="10005"/>
                  </a:ext>
                </a:extLst>
              </a:tr>
            </a:tbl>
          </a:graphicData>
        </a:graphic>
      </p:graphicFrame>
      <p:graphicFrame>
        <p:nvGraphicFramePr>
          <p:cNvPr id="7" name="Chart 6"/>
          <p:cNvGraphicFramePr>
            <a:graphicFrameLocks noGrp="1"/>
          </p:cNvGraphicFramePr>
          <p:nvPr/>
        </p:nvGraphicFramePr>
        <p:xfrm>
          <a:off x="9358301" y="2714299"/>
          <a:ext cx="2332280" cy="226457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3951522" y="1779481"/>
            <a:ext cx="2948508" cy="2406006"/>
          </a:xfrm>
          <a:prstGeom prst="rect">
            <a:avLst/>
          </a:prstGeom>
          <a:noFill/>
        </p:spPr>
        <p:txBody>
          <a:bodyPr wrap="none" lIns="29449" tIns="29449" rIns="29449" bIns="29449">
            <a:spAutoFit/>
          </a:bodyPr>
          <a:lstStyle/>
          <a:p>
            <a:r>
              <a:rPr sz="3200" b="1" i="0" u="none">
                <a:solidFill>
                  <a:srgbClr val="E263E0"/>
                </a:solidFill>
                <a:latin typeface="Arial"/>
              </a:rPr>
              <a:t>Dimension Cycle</a:t>
            </a:r>
          </a:p>
        </p:txBody>
      </p:sp>
      <p:sp>
        <p:nvSpPr>
          <p:cNvPr id="9" name="TextBox 8"/>
          <p:cNvSpPr txBox="1"/>
          <p:nvPr/>
        </p:nvSpPr>
        <p:spPr>
          <a:xfrm>
            <a:off x="8533298" y="2783146"/>
            <a:ext cx="730481" cy="2503189"/>
          </a:xfrm>
          <a:prstGeom prst="rect">
            <a:avLst/>
          </a:prstGeom>
          <a:noFill/>
        </p:spPr>
        <p:txBody>
          <a:bodyPr wrap="none" lIns="60890" tIns="60890" rIns="60890" bIns="60890">
            <a:spAutoFit/>
          </a:bodyPr>
          <a:lstStyle/>
          <a:p>
            <a:r>
              <a:rPr sz="900" b="0" i="0" u="none">
                <a:solidFill>
                  <a:srgbClr val="80C199"/>
                </a:solidFill>
                <a:latin typeface="Verdana"/>
              </a:rPr>
              <a:t>Adaptive Status Segment Region Trend Version Apex Stack Control Build Track Asset Network Deployment Adaptive Mode Estimate Network Interface Datum Drift Deployment Network Alignment Journey Data Device Foundation Control Vector Query Vertex Trigger Library Lineage</a:t>
            </a:r>
          </a:p>
        </p:txBody>
      </p:sp>
      <p:sp>
        <p:nvSpPr>
          <p:cNvPr id="10" name="Isosceles Triangle 9"/>
          <p:cNvSpPr/>
          <p:nvPr/>
        </p:nvSpPr>
        <p:spPr>
          <a:xfrm>
            <a:off x="8012591" y="451630"/>
            <a:ext cx="1086315" cy="909273"/>
          </a:xfrm>
          <a:prstGeom prst="triangle">
            <a:avLst/>
          </a:prstGeom>
          <a:solidFill>
            <a:srgbClr val="5D4675"/>
          </a:solidFill>
          <a:ln w="16052">
            <a:solidFill>
              <a:srgbClr val="D5B68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_example_image.jpg"/>
          <p:cNvPicPr>
            <a:picLocks noChangeAspect="1"/>
          </p:cNvPicPr>
          <p:nvPr/>
        </p:nvPicPr>
        <p:blipFill>
          <a:blip r:embed="rId4"/>
          <a:srcRect/>
          <a:stretch>
            <a:fillRect/>
          </a:stretch>
        </p:blipFill>
        <p:spPr>
          <a:xfrm>
            <a:off x="2584816" y="564030"/>
            <a:ext cx="1285914" cy="962992"/>
          </a:xfrm>
          <a:prstGeom prst="rect">
            <a:avLst/>
          </a:prstGeom>
        </p:spPr>
      </p:pic>
      <p:sp>
        <p:nvSpPr>
          <p:cNvPr id="12" name="TextBox 11"/>
          <p:cNvSpPr txBox="1"/>
          <p:nvPr/>
        </p:nvSpPr>
        <p:spPr>
          <a:xfrm>
            <a:off x="4108774" y="282191"/>
            <a:ext cx="1117772" cy="1359030"/>
          </a:xfrm>
          <a:prstGeom prst="rect">
            <a:avLst/>
          </a:prstGeom>
          <a:noFill/>
        </p:spPr>
        <p:txBody>
          <a:bodyPr wrap="none" lIns="38479" tIns="38479" rIns="38479" bIns="38479">
            <a:spAutoFit/>
          </a:bodyPr>
          <a:lstStyle/>
          <a:p>
            <a:r>
              <a:rPr sz="2900" b="0" i="0" u="none">
                <a:solidFill>
                  <a:srgbClr val="B22E9C"/>
                </a:solidFill>
                <a:latin typeface="Arial"/>
              </a:rPr>
              <a:t>Trend Frequency Release Plan Service Precision Pulse Moment Review Network Build Transform</a:t>
            </a:r>
          </a:p>
        </p:txBody>
      </p:sp>
      <p:sp>
        <p:nvSpPr>
          <p:cNvPr id="13" name="Gear 9 12"/>
          <p:cNvSpPr/>
          <p:nvPr/>
        </p:nvSpPr>
        <p:spPr>
          <a:xfrm>
            <a:off x="591912" y="2935557"/>
            <a:ext cx="685880" cy="671432"/>
          </a:xfrm>
          <a:prstGeom prst="gear9">
            <a:avLst/>
          </a:prstGeom>
          <a:solidFill>
            <a:srgbClr val="C1D025"/>
          </a:solidFill>
          <a:ln w="24137">
            <a:solidFill>
              <a:srgbClr val="DBA5D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ie 13"/>
          <p:cNvSpPr/>
          <p:nvPr/>
        </p:nvSpPr>
        <p:spPr>
          <a:xfrm>
            <a:off x="534727" y="4290778"/>
            <a:ext cx="2472474" cy="326262"/>
          </a:xfrm>
          <a:prstGeom prst="pie">
            <a:avLst/>
          </a:prstGeom>
          <a:solidFill>
            <a:srgbClr val="4A3D98"/>
          </a:solidFill>
          <a:ln w="8160">
            <a:solidFill>
              <a:srgbClr val="88753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_example_image.jpg"/>
          <p:cNvPicPr>
            <a:picLocks noChangeAspect="1"/>
          </p:cNvPicPr>
          <p:nvPr/>
        </p:nvPicPr>
        <p:blipFill>
          <a:blip r:embed="rId4"/>
          <a:srcRect l="19155" t="9994" r="16033" b="19350"/>
          <a:stretch>
            <a:fillRect/>
          </a:stretch>
        </p:blipFill>
        <p:spPr>
          <a:xfrm>
            <a:off x="369886" y="5174048"/>
            <a:ext cx="1862001" cy="955179"/>
          </a:xfrm>
          <a:prstGeom prst="rect">
            <a:avLst/>
          </a:prstGeom>
        </p:spPr>
      </p:pic>
      <p:sp>
        <p:nvSpPr>
          <p:cNvPr id="16" name="Rounded Rectangle 15"/>
          <p:cNvSpPr/>
          <p:nvPr/>
        </p:nvSpPr>
        <p:spPr>
          <a:xfrm>
            <a:off x="369886" y="5174048"/>
            <a:ext cx="1862001" cy="955179"/>
          </a:xfrm>
          <a:prstGeom prst="roundRect">
            <a:avLst/>
          </a:prstGeom>
          <a:noFill/>
          <a:ln w="15240">
            <a:solidFill>
              <a:srgbClr val="75839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_example_image.jpg"/>
          <p:cNvPicPr>
            <a:picLocks noChangeAspect="1"/>
          </p:cNvPicPr>
          <p:nvPr/>
        </p:nvPicPr>
        <p:blipFill>
          <a:blip r:embed="rId4"/>
          <a:srcRect l="8834" t="7538" r="9277" b="19345"/>
          <a:stretch>
            <a:fillRect/>
          </a:stretch>
        </p:blipFill>
        <p:spPr>
          <a:xfrm>
            <a:off x="2898250" y="3054811"/>
            <a:ext cx="1196278" cy="1411411"/>
          </a:xfrm>
          <a:prstGeom prst="rect">
            <a:avLst/>
          </a:prstGeom>
        </p:spPr>
      </p:pic>
      <p:sp>
        <p:nvSpPr>
          <p:cNvPr id="18" name="Notched Right Arrow 17"/>
          <p:cNvSpPr/>
          <p:nvPr/>
        </p:nvSpPr>
        <p:spPr>
          <a:xfrm>
            <a:off x="11291290" y="2486910"/>
            <a:ext cx="490757" cy="738589"/>
          </a:xfrm>
          <a:prstGeom prst="notchedRightArrow">
            <a:avLst/>
          </a:prstGeom>
          <a:solidFill>
            <a:srgbClr val="A9E1AA"/>
          </a:solidFill>
          <a:ln w="12980">
            <a:solidFill>
              <a:srgbClr val="9E2F8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40181" y="421099"/>
            <a:ext cx="497538" cy="670357"/>
          </a:xfrm>
          <a:prstGeom prst="rect">
            <a:avLst/>
          </a:prstGeom>
          <a:noFill/>
        </p:spPr>
        <p:txBody>
          <a:bodyPr wrap="none" lIns="24137" tIns="24137" rIns="24137" bIns="24137">
            <a:spAutoFit/>
          </a:bodyPr>
          <a:lstStyle/>
          <a:p>
            <a:r>
              <a:rPr sz="3000" b="0" i="0" u="none">
                <a:solidFill>
                  <a:srgbClr val="352648"/>
                </a:solidFill>
                <a:latin typeface="Calibri"/>
              </a:rPr>
              <a:t>Ratio Channel Map Reserve Horizon Gateway Vector Briefing Guide</a:t>
            </a:r>
          </a:p>
        </p:txBody>
      </p:sp>
      <p:sp>
        <p:nvSpPr>
          <p:cNvPr id="20" name="Freeform 19"/>
          <p:cNvSpPr/>
          <p:nvPr/>
        </p:nvSpPr>
        <p:spPr>
          <a:xfrm>
            <a:off x="7190235" y="3547570"/>
            <a:ext cx="1490469" cy="524147"/>
          </a:xfrm>
          <a:custGeom>
            <a:avLst/>
            <a:gdLst/>
            <a:ahLst/>
            <a:cxnLst/>
            <a:rect l="l" t="t" r="r" b="b"/>
            <a:pathLst>
              <a:path w="1490469" h="524147">
                <a:moveTo>
                  <a:pt x="0" y="116477"/>
                </a:moveTo>
                <a:lnTo>
                  <a:pt x="320531" y="0"/>
                </a:lnTo>
                <a:lnTo>
                  <a:pt x="641062" y="157244"/>
                </a:lnTo>
                <a:lnTo>
                  <a:pt x="961593" y="17472"/>
                </a:lnTo>
                <a:lnTo>
                  <a:pt x="1490469" y="407670"/>
                </a:lnTo>
                <a:lnTo>
                  <a:pt x="1121859" y="524147"/>
                </a:lnTo>
                <a:lnTo>
                  <a:pt x="769275" y="349431"/>
                </a:lnTo>
                <a:lnTo>
                  <a:pt x="368611" y="506675"/>
                </a:lnTo>
                <a:close/>
              </a:path>
            </a:pathLst>
          </a:custGeom>
          <a:solidFill>
            <a:srgbClr val="77CA7B"/>
          </a:solidFill>
          <a:ln w="9199">
            <a:solidFill>
              <a:srgbClr val="789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12666" y="4670647"/>
            <a:ext cx="2569450" cy="1172533"/>
          </a:xfrm>
          <a:prstGeom prst="rect">
            <a:avLst/>
          </a:prstGeom>
          <a:noFill/>
        </p:spPr>
        <p:txBody>
          <a:bodyPr wrap="none" lIns="87266" tIns="87266" rIns="87266" bIns="87266">
            <a:spAutoFit/>
          </a:bodyPr>
          <a:lstStyle/>
          <a:p>
            <a:r>
              <a:rPr sz="4800" b="1" i="0" u="sng">
                <a:solidFill>
                  <a:srgbClr val="AB5DE1"/>
                </a:solidFill>
                <a:latin typeface="Verdana"/>
              </a:rPr>
              <a:t>Function Metric</a:t>
            </a:r>
          </a:p>
        </p:txBody>
      </p:sp>
      <p:sp>
        <p:nvSpPr>
          <p:cNvPr id="22" name="Right Arrow Callout 21"/>
          <p:cNvSpPr/>
          <p:nvPr/>
        </p:nvSpPr>
        <p:spPr>
          <a:xfrm>
            <a:off x="7249618" y="1196112"/>
            <a:ext cx="725947" cy="756562"/>
          </a:xfrm>
          <a:prstGeom prst="rightArrowCallout">
            <a:avLst/>
          </a:prstGeom>
          <a:noFill/>
          <a:ln w="29708">
            <a:solidFill>
              <a:srgbClr val="4EC3E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576251" y="2409895"/>
            <a:ext cx="1063643" cy="1186314"/>
          </a:xfrm>
          <a:prstGeom prst="roundRect">
            <a:avLst/>
          </a:prstGeom>
          <a:solidFill>
            <a:srgbClr val="BD75AE"/>
          </a:solidFill>
          <a:ln w="16485">
            <a:solidFill>
              <a:srgbClr val="6D513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nvGraphicFramePr>
        <p:xfrm>
          <a:off x="9104032" y="1431522"/>
          <a:ext cx="2232674" cy="1263751"/>
        </p:xfrm>
        <a:graphic>
          <a:graphicData uri="http://schemas.openxmlformats.org/drawingml/2006/table">
            <a:tbl>
              <a:tblPr firstRow="1" bandRow="1">
                <a:tableStyleId>{5C22544A-7EE6-4342-B048-85BDC9FD1C3A}</a:tableStyleId>
              </a:tblPr>
              <a:tblGrid>
                <a:gridCol w="744224">
                  <a:extLst>
                    <a:ext uri="{9D8B030D-6E8A-4147-A177-3AD203B41FA5}">
                      <a16:colId xmlns:a16="http://schemas.microsoft.com/office/drawing/2014/main" val="20000"/>
                    </a:ext>
                  </a:extLst>
                </a:gridCol>
                <a:gridCol w="744224">
                  <a:extLst>
                    <a:ext uri="{9D8B030D-6E8A-4147-A177-3AD203B41FA5}">
                      <a16:colId xmlns:a16="http://schemas.microsoft.com/office/drawing/2014/main" val="20001"/>
                    </a:ext>
                  </a:extLst>
                </a:gridCol>
                <a:gridCol w="744226">
                  <a:extLst>
                    <a:ext uri="{9D8B030D-6E8A-4147-A177-3AD203B41FA5}">
                      <a16:colId xmlns:a16="http://schemas.microsoft.com/office/drawing/2014/main" val="20002"/>
                    </a:ext>
                  </a:extLst>
                </a:gridCol>
              </a:tblGrid>
              <a:tr h="631875">
                <a:tc>
                  <a:txBody>
                    <a:bodyPr/>
                    <a:lstStyle/>
                    <a:p>
                      <a:r>
                        <a:rPr sz="1000" b="1">
                          <a:solidFill>
                            <a:srgbClr val="8B4A6F"/>
                          </a:solidFill>
                        </a:rPr>
                        <a:t>Workflow</a:t>
                      </a:r>
                    </a:p>
                  </a:txBody>
                  <a:tcPr>
                    <a:solidFill>
                      <a:srgbClr val="AD29BC"/>
                    </a:solidFill>
                  </a:tcPr>
                </a:tc>
                <a:tc>
                  <a:txBody>
                    <a:bodyPr/>
                    <a:lstStyle/>
                    <a:p>
                      <a:r>
                        <a:rPr sz="1000" b="1">
                          <a:solidFill>
                            <a:srgbClr val="8B4A6F"/>
                          </a:solidFill>
                        </a:rPr>
                        <a:t>Device Scale</a:t>
                      </a:r>
                    </a:p>
                  </a:txBody>
                  <a:tcPr>
                    <a:solidFill>
                      <a:srgbClr val="AD29BC"/>
                    </a:solidFill>
                  </a:tcPr>
                </a:tc>
                <a:tc>
                  <a:txBody>
                    <a:bodyPr/>
                    <a:lstStyle/>
                    <a:p>
                      <a:r>
                        <a:rPr sz="1000" b="1">
                          <a:solidFill>
                            <a:srgbClr val="8B4A6F"/>
                          </a:solidFill>
                        </a:rPr>
                        <a:t>Layer Priority</a:t>
                      </a:r>
                    </a:p>
                  </a:txBody>
                  <a:tcPr>
                    <a:solidFill>
                      <a:srgbClr val="AD29BC"/>
                    </a:solidFill>
                  </a:tcPr>
                </a:tc>
                <a:extLst>
                  <a:ext uri="{0D108BD9-81ED-4DB2-BD59-A6C34878D82A}">
                    <a16:rowId xmlns:a16="http://schemas.microsoft.com/office/drawing/2014/main" val="10000"/>
                  </a:ext>
                </a:extLst>
              </a:tr>
              <a:tr h="631876">
                <a:tc>
                  <a:txBody>
                    <a:bodyPr/>
                    <a:lstStyle/>
                    <a:p>
                      <a:r>
                        <a:rPr sz="1000" b="0">
                          <a:solidFill>
                            <a:srgbClr val="8B4A6F"/>
                          </a:solidFill>
                        </a:rPr>
                        <a:t>Marker Estimate</a:t>
                      </a:r>
                    </a:p>
                  </a:txBody>
                  <a:tcPr>
                    <a:solidFill>
                      <a:srgbClr val="F3CEC6"/>
                    </a:solidFill>
                  </a:tcPr>
                </a:tc>
                <a:tc>
                  <a:txBody>
                    <a:bodyPr/>
                    <a:lstStyle/>
                    <a:p>
                      <a:r>
                        <a:rPr sz="1000" b="0">
                          <a:solidFill>
                            <a:srgbClr val="8B4A6F"/>
                          </a:solidFill>
                        </a:rPr>
                        <a:t>Cadence Signal</a:t>
                      </a:r>
                    </a:p>
                  </a:txBody>
                  <a:tcPr>
                    <a:solidFill>
                      <a:srgbClr val="F3CEC6"/>
                    </a:solidFill>
                  </a:tcPr>
                </a:tc>
                <a:tc>
                  <a:txBody>
                    <a:bodyPr/>
                    <a:lstStyle/>
                    <a:p>
                      <a:r>
                        <a:rPr sz="1000" b="0">
                          <a:solidFill>
                            <a:srgbClr val="8B4A6F"/>
                          </a:solidFill>
                        </a:rPr>
                        <a:t>Cadence</a:t>
                      </a:r>
                    </a:p>
                  </a:txBody>
                  <a:tcPr>
                    <a:solidFill>
                      <a:srgbClr val="F3CEC6"/>
                    </a:solidFill>
                  </a:tcPr>
                </a:tc>
                <a:extLst>
                  <a:ext uri="{0D108BD9-81ED-4DB2-BD59-A6C34878D82A}">
                    <a16:rowId xmlns:a16="http://schemas.microsoft.com/office/drawing/2014/main" val="10001"/>
                  </a:ext>
                </a:extLst>
              </a:tr>
            </a:tbl>
          </a:graphicData>
        </a:graphic>
      </p:graphicFrame>
      <p:cxnSp>
        <p:nvCxnSpPr>
          <p:cNvPr id="25" name="Connector 24"/>
          <p:cNvCxnSpPr/>
          <p:nvPr/>
        </p:nvCxnSpPr>
        <p:spPr>
          <a:xfrm flipV="1">
            <a:off x="9186888" y="5433714"/>
            <a:ext cx="1126007" cy="1066578"/>
          </a:xfrm>
          <a:prstGeom prst="curvedConnector3">
            <a:avLst/>
          </a:prstGeom>
          <a:ln w="16968">
            <a:solidFill>
              <a:srgbClr val="DE6957"/>
            </a:solidFill>
            <a:prstDash val="solid"/>
          </a:ln>
        </p:spPr>
        <p:style>
          <a:lnRef idx="2">
            <a:schemeClr val="accent1"/>
          </a:lnRef>
          <a:fillRef idx="0">
            <a:schemeClr val="accent1"/>
          </a:fillRef>
          <a:effectRef idx="1">
            <a:schemeClr val="accent1"/>
          </a:effectRef>
          <a:fontRef idx="minor">
            <a:schemeClr val="tx1"/>
          </a:fontRef>
        </p:style>
      </p:cxnSp>
      <p:sp>
        <p:nvSpPr>
          <p:cNvPr id="26" name="Rounded Rectangular Callout 25"/>
          <p:cNvSpPr/>
          <p:nvPr/>
        </p:nvSpPr>
        <p:spPr>
          <a:xfrm>
            <a:off x="1399425" y="396398"/>
            <a:ext cx="815789" cy="1498005"/>
          </a:xfrm>
          <a:prstGeom prst="wedgeRoundRectCallout">
            <a:avLst/>
          </a:prstGeom>
          <a:solidFill>
            <a:srgbClr val="C36CA2"/>
          </a:solidFill>
          <a:ln w="30255">
            <a:solidFill>
              <a:srgbClr val="1FBFD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14213" y="4118930"/>
            <a:ext cx="853300" cy="1513240"/>
          </a:xfrm>
          <a:prstGeom prst="rect">
            <a:avLst/>
          </a:prstGeom>
          <a:noFill/>
        </p:spPr>
        <p:txBody>
          <a:bodyPr wrap="none" lIns="59195" tIns="59195" rIns="59195" bIns="59195">
            <a:spAutoFit/>
          </a:bodyPr>
          <a:lstStyle/>
          <a:p>
            <a:r>
              <a:rPr sz="3200" b="1" i="0" u="none">
                <a:solidFill>
                  <a:srgbClr val="527562"/>
                </a:solidFill>
                <a:latin typeface="Aptos"/>
              </a:rPr>
              <a:t>Foundation Slice Output</a:t>
            </a:r>
          </a:p>
        </p:txBody>
      </p:sp>
      <p:pic>
        <p:nvPicPr>
          <p:cNvPr id="29" name="Graphic 28">
            <a:extLst>
              <a:ext uri="{FF2B5EF4-FFF2-40B4-BE49-F238E27FC236}">
                <a16:creationId xmlns:a16="http://schemas.microsoft.com/office/drawing/2014/main" id="{6F5F669B-04FA-2DC9-A49F-488F1FBA44D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755088" y="4154675"/>
            <a:ext cx="2601867" cy="1190002"/>
          </a:xfrm>
          <a:prstGeom prst="rect">
            <a:avLst/>
          </a:prstGeom>
        </p:spPr>
      </p:pic>
      <p:pic>
        <p:nvPicPr>
          <p:cNvPr id="31" name="Graphic 30">
            <a:extLst>
              <a:ext uri="{FF2B5EF4-FFF2-40B4-BE49-F238E27FC236}">
                <a16:creationId xmlns:a16="http://schemas.microsoft.com/office/drawing/2014/main" id="{4B331C19-AA98-DCB3-57E0-83CB15A8809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978324" y="223385"/>
            <a:ext cx="2253078" cy="115766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20236" t="9957" r="19170" b="16560"/>
          <a:stretch>
            <a:fillRect/>
          </a:stretch>
        </p:blipFill>
        <p:spPr>
          <a:xfrm>
            <a:off x="10281796" y="4696512"/>
            <a:ext cx="1443723" cy="935821"/>
          </a:xfrm>
          <a:prstGeom prst="rect">
            <a:avLst/>
          </a:prstGeom>
        </p:spPr>
      </p:pic>
      <p:sp>
        <p:nvSpPr>
          <p:cNvPr id="3" name="TextBox 2"/>
          <p:cNvSpPr txBox="1"/>
          <p:nvPr/>
        </p:nvSpPr>
        <p:spPr>
          <a:xfrm>
            <a:off x="993625" y="5526382"/>
            <a:ext cx="2543934" cy="702210"/>
          </a:xfrm>
          <a:prstGeom prst="rect">
            <a:avLst/>
          </a:prstGeom>
          <a:noFill/>
        </p:spPr>
        <p:txBody>
          <a:bodyPr wrap="none" lIns="24998" tIns="24998" rIns="24998" bIns="24998">
            <a:spAutoFit/>
          </a:bodyPr>
          <a:lstStyle/>
          <a:p>
            <a:r>
              <a:rPr sz="900" b="0" i="0" u="none">
                <a:solidFill>
                  <a:srgbClr val="1E9823"/>
                </a:solidFill>
                <a:latin typeface="Aptos"/>
              </a:rPr>
              <a:t>Logic Input Concept Filter Dimension Timeline Map Action Datum Craft Layer Link Lens Buffer Guide Zone Capacity Brief Foundation Iteration Memory Review Mode Estimate Analysis Order Plan Concept Mode Compass Cell Scale Version Atlas Response Position Node Option</a:t>
            </a:r>
          </a:p>
        </p:txBody>
      </p:sp>
      <p:sp>
        <p:nvSpPr>
          <p:cNvPr id="4" name="TextBox 3"/>
          <p:cNvSpPr txBox="1"/>
          <p:nvPr/>
        </p:nvSpPr>
        <p:spPr>
          <a:xfrm>
            <a:off x="8767385" y="1330024"/>
            <a:ext cx="3084258" cy="474980"/>
          </a:xfrm>
          <a:prstGeom prst="rect">
            <a:avLst/>
          </a:prstGeom>
          <a:noFill/>
        </p:spPr>
        <p:txBody>
          <a:bodyPr wrap="none" lIns="84388" tIns="84388" rIns="84388" bIns="84388">
            <a:spAutoFit/>
          </a:bodyPr>
          <a:lstStyle/>
          <a:p>
            <a:r>
              <a:rPr sz="1600" b="0" i="0" u="none">
                <a:solidFill>
                  <a:srgbClr val="BC4242"/>
                </a:solidFill>
                <a:latin typeface="Verdana"/>
              </a:rPr>
              <a:t>Motion Alignment Template Bridge Filter Rhythm Center Timeline Atlas Method</a:t>
            </a:r>
          </a:p>
        </p:txBody>
      </p:sp>
      <p:sp>
        <p:nvSpPr>
          <p:cNvPr id="5" name="Left-Right Arrow 4"/>
          <p:cNvSpPr/>
          <p:nvPr/>
        </p:nvSpPr>
        <p:spPr>
          <a:xfrm>
            <a:off x="4277487" y="5347366"/>
            <a:ext cx="1554123" cy="455750"/>
          </a:xfrm>
          <a:prstGeom prst="leftRightArrow">
            <a:avLst/>
          </a:prstGeom>
          <a:noFill/>
          <a:ln w="15493">
            <a:solidFill>
              <a:srgbClr val="3AB329"/>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_example_image.jpg"/>
          <p:cNvPicPr>
            <a:picLocks noChangeAspect="1"/>
          </p:cNvPicPr>
          <p:nvPr/>
        </p:nvPicPr>
        <p:blipFill>
          <a:blip r:embed="rId2"/>
          <a:srcRect l="331" t="18804" r="12558" b="7106"/>
          <a:stretch>
            <a:fillRect/>
          </a:stretch>
        </p:blipFill>
        <p:spPr>
          <a:xfrm>
            <a:off x="10570094" y="3481815"/>
            <a:ext cx="1170681" cy="952966"/>
          </a:xfrm>
          <a:prstGeom prst="rect">
            <a:avLst/>
          </a:prstGeom>
        </p:spPr>
      </p:pic>
      <p:sp>
        <p:nvSpPr>
          <p:cNvPr id="7" name="Octagon 6"/>
          <p:cNvSpPr/>
          <p:nvPr/>
        </p:nvSpPr>
        <p:spPr>
          <a:xfrm>
            <a:off x="3084223" y="2427062"/>
            <a:ext cx="566667" cy="372812"/>
          </a:xfrm>
          <a:prstGeom prst="octagon">
            <a:avLst/>
          </a:prstGeom>
          <a:solidFill>
            <a:srgbClr val="E538A6"/>
          </a:solidFill>
          <a:ln w="9348">
            <a:solidFill>
              <a:srgbClr val="27696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Quad Arrow 7"/>
          <p:cNvSpPr/>
          <p:nvPr/>
        </p:nvSpPr>
        <p:spPr>
          <a:xfrm>
            <a:off x="3386825" y="4800937"/>
            <a:ext cx="1692170" cy="533986"/>
          </a:xfrm>
          <a:prstGeom prst="quadArrow">
            <a:avLst/>
          </a:prstGeom>
          <a:solidFill>
            <a:srgbClr val="3C6847"/>
          </a:solidFill>
          <a:ln w="26212">
            <a:solidFill>
              <a:srgbClr val="CB246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1473539" y="3004973"/>
          <a:ext cx="4019896" cy="1765930"/>
        </p:xfrm>
        <a:graphic>
          <a:graphicData uri="http://schemas.openxmlformats.org/drawingml/2006/table">
            <a:tbl>
              <a:tblPr firstRow="1" bandRow="1">
                <a:tableStyleId>{5C22544A-7EE6-4342-B048-85BDC9FD1C3A}</a:tableStyleId>
              </a:tblPr>
              <a:tblGrid>
                <a:gridCol w="1339965">
                  <a:extLst>
                    <a:ext uri="{9D8B030D-6E8A-4147-A177-3AD203B41FA5}">
                      <a16:colId xmlns:a16="http://schemas.microsoft.com/office/drawing/2014/main" val="20000"/>
                    </a:ext>
                  </a:extLst>
                </a:gridCol>
                <a:gridCol w="1339965">
                  <a:extLst>
                    <a:ext uri="{9D8B030D-6E8A-4147-A177-3AD203B41FA5}">
                      <a16:colId xmlns:a16="http://schemas.microsoft.com/office/drawing/2014/main" val="20001"/>
                    </a:ext>
                  </a:extLst>
                </a:gridCol>
                <a:gridCol w="1339966">
                  <a:extLst>
                    <a:ext uri="{9D8B030D-6E8A-4147-A177-3AD203B41FA5}">
                      <a16:colId xmlns:a16="http://schemas.microsoft.com/office/drawing/2014/main" val="20002"/>
                    </a:ext>
                  </a:extLst>
                </a:gridCol>
              </a:tblGrid>
              <a:tr h="588643">
                <a:tc>
                  <a:txBody>
                    <a:bodyPr/>
                    <a:lstStyle/>
                    <a:p>
                      <a:r>
                        <a:rPr sz="1100" b="1">
                          <a:solidFill>
                            <a:srgbClr val="E3A380"/>
                          </a:solidFill>
                        </a:rPr>
                        <a:t>Channel Schema</a:t>
                      </a:r>
                    </a:p>
                  </a:txBody>
                  <a:tcPr>
                    <a:solidFill>
                      <a:srgbClr val="477B8F"/>
                    </a:solidFill>
                  </a:tcPr>
                </a:tc>
                <a:tc>
                  <a:txBody>
                    <a:bodyPr/>
                    <a:lstStyle/>
                    <a:p>
                      <a:r>
                        <a:rPr sz="1100" b="1">
                          <a:solidFill>
                            <a:srgbClr val="E3A380"/>
                          </a:solidFill>
                        </a:rPr>
                        <a:t>Schema Briefing</a:t>
                      </a:r>
                    </a:p>
                  </a:txBody>
                  <a:tcPr>
                    <a:solidFill>
                      <a:srgbClr val="477B8F"/>
                    </a:solidFill>
                  </a:tcPr>
                </a:tc>
                <a:tc>
                  <a:txBody>
                    <a:bodyPr/>
                    <a:lstStyle/>
                    <a:p>
                      <a:r>
                        <a:rPr sz="1100" b="1">
                          <a:solidFill>
                            <a:srgbClr val="E3A380"/>
                          </a:solidFill>
                        </a:rPr>
                        <a:t>Mode</a:t>
                      </a:r>
                    </a:p>
                  </a:txBody>
                  <a:tcPr>
                    <a:solidFill>
                      <a:srgbClr val="477B8F"/>
                    </a:solidFill>
                  </a:tcPr>
                </a:tc>
                <a:extLst>
                  <a:ext uri="{0D108BD9-81ED-4DB2-BD59-A6C34878D82A}">
                    <a16:rowId xmlns:a16="http://schemas.microsoft.com/office/drawing/2014/main" val="10000"/>
                  </a:ext>
                </a:extLst>
              </a:tr>
              <a:tr h="588643">
                <a:tc>
                  <a:txBody>
                    <a:bodyPr/>
                    <a:lstStyle/>
                    <a:p>
                      <a:r>
                        <a:rPr sz="1100" b="0">
                          <a:solidFill>
                            <a:srgbClr val="E3A380"/>
                          </a:solidFill>
                        </a:rPr>
                        <a:t>Canvas</a:t>
                      </a:r>
                    </a:p>
                  </a:txBody>
                  <a:tcPr>
                    <a:solidFill>
                      <a:srgbClr val="BDC5B8"/>
                    </a:solidFill>
                  </a:tcPr>
                </a:tc>
                <a:tc>
                  <a:txBody>
                    <a:bodyPr/>
                    <a:lstStyle/>
                    <a:p>
                      <a:r>
                        <a:rPr sz="1100" b="0">
                          <a:solidFill>
                            <a:srgbClr val="E3A380"/>
                          </a:solidFill>
                        </a:rPr>
                        <a:t>Grid</a:t>
                      </a:r>
                    </a:p>
                  </a:txBody>
                  <a:tcPr>
                    <a:solidFill>
                      <a:srgbClr val="BDC5B8"/>
                    </a:solidFill>
                  </a:tcPr>
                </a:tc>
                <a:tc>
                  <a:txBody>
                    <a:bodyPr/>
                    <a:lstStyle/>
                    <a:p>
                      <a:r>
                        <a:rPr sz="1100" b="0">
                          <a:solidFill>
                            <a:srgbClr val="E3A380"/>
                          </a:solidFill>
                        </a:rPr>
                        <a:t>Action Zone</a:t>
                      </a:r>
                    </a:p>
                  </a:txBody>
                  <a:tcPr>
                    <a:solidFill>
                      <a:srgbClr val="BDC5B8"/>
                    </a:solidFill>
                  </a:tcPr>
                </a:tc>
                <a:extLst>
                  <a:ext uri="{0D108BD9-81ED-4DB2-BD59-A6C34878D82A}">
                    <a16:rowId xmlns:a16="http://schemas.microsoft.com/office/drawing/2014/main" val="10001"/>
                  </a:ext>
                </a:extLst>
              </a:tr>
              <a:tr h="588644">
                <a:tc>
                  <a:txBody>
                    <a:bodyPr/>
                    <a:lstStyle/>
                    <a:p>
                      <a:r>
                        <a:rPr sz="1100" b="0">
                          <a:solidFill>
                            <a:srgbClr val="E3A380"/>
                          </a:solidFill>
                        </a:rPr>
                        <a:t>Table Threshold</a:t>
                      </a:r>
                    </a:p>
                  </a:txBody>
                  <a:tcPr>
                    <a:solidFill>
                      <a:srgbClr val="D7DDD5"/>
                    </a:solidFill>
                  </a:tcPr>
                </a:tc>
                <a:tc>
                  <a:txBody>
                    <a:bodyPr/>
                    <a:lstStyle/>
                    <a:p>
                      <a:r>
                        <a:rPr sz="1100" b="0">
                          <a:solidFill>
                            <a:srgbClr val="E3A380"/>
                          </a:solidFill>
                        </a:rPr>
                        <a:t>Level</a:t>
                      </a:r>
                    </a:p>
                  </a:txBody>
                  <a:tcPr>
                    <a:solidFill>
                      <a:srgbClr val="D7DDD5"/>
                    </a:solidFill>
                  </a:tcPr>
                </a:tc>
                <a:tc>
                  <a:txBody>
                    <a:bodyPr/>
                    <a:lstStyle/>
                    <a:p>
                      <a:r>
                        <a:rPr sz="1100" b="0">
                          <a:solidFill>
                            <a:srgbClr val="E3A380"/>
                          </a:solidFill>
                        </a:rPr>
                        <a:t>Point</a:t>
                      </a:r>
                    </a:p>
                  </a:txBody>
                  <a:tcPr>
                    <a:solidFill>
                      <a:srgbClr val="D7DDD5"/>
                    </a:solidFill>
                  </a:tcPr>
                </a:tc>
                <a:extLst>
                  <a:ext uri="{0D108BD9-81ED-4DB2-BD59-A6C34878D82A}">
                    <a16:rowId xmlns:a16="http://schemas.microsoft.com/office/drawing/2014/main" val="10002"/>
                  </a:ext>
                </a:extLst>
              </a:tr>
            </a:tbl>
          </a:graphicData>
        </a:graphic>
      </p:graphicFrame>
      <p:sp>
        <p:nvSpPr>
          <p:cNvPr id="10" name="TextBox 9"/>
          <p:cNvSpPr txBox="1"/>
          <p:nvPr/>
        </p:nvSpPr>
        <p:spPr>
          <a:xfrm>
            <a:off x="9285340" y="2707274"/>
            <a:ext cx="903847" cy="2426720"/>
          </a:xfrm>
          <a:prstGeom prst="rect">
            <a:avLst/>
          </a:prstGeom>
          <a:solidFill>
            <a:srgbClr val="B694D5"/>
          </a:solidFill>
        </p:spPr>
        <p:txBody>
          <a:bodyPr wrap="none" lIns="69759" tIns="69759" rIns="69759" bIns="69759">
            <a:spAutoFit/>
          </a:bodyPr>
          <a:lstStyle/>
          <a:p>
            <a:r>
              <a:rPr sz="1100" b="0" i="0" u="none">
                <a:solidFill>
                  <a:srgbClr val="31CC23"/>
                </a:solidFill>
                <a:latin typeface="Verdana"/>
              </a:rPr>
              <a:t>Packet Needle Deployment Impact Phase Velocity Loop Command Runtime</a:t>
            </a:r>
          </a:p>
        </p:txBody>
      </p:sp>
      <p:graphicFrame>
        <p:nvGraphicFramePr>
          <p:cNvPr id="11" name="Chart 10"/>
          <p:cNvGraphicFramePr>
            <a:graphicFrameLocks noGrp="1"/>
          </p:cNvGraphicFramePr>
          <p:nvPr/>
        </p:nvGraphicFramePr>
        <p:xfrm>
          <a:off x="8884419" y="921436"/>
          <a:ext cx="2072211" cy="19769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a:graphicFrameLocks noGrp="1"/>
          </p:cNvGraphicFramePr>
          <p:nvPr/>
        </p:nvGraphicFramePr>
        <p:xfrm>
          <a:off x="3287704" y="1660447"/>
          <a:ext cx="2533458" cy="1486619"/>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5970661" y="4497136"/>
            <a:ext cx="2115413" cy="1685883"/>
          </a:xfrm>
          <a:prstGeom prst="rect">
            <a:avLst/>
          </a:prstGeom>
          <a:noFill/>
        </p:spPr>
        <p:txBody>
          <a:bodyPr wrap="none" lIns="42526" tIns="42526" rIns="42526" bIns="42526">
            <a:spAutoFit/>
          </a:bodyPr>
          <a:lstStyle/>
          <a:p>
            <a:r>
              <a:rPr sz="900" b="0" i="0" u="none">
                <a:solidFill>
                  <a:srgbClr val="1A5C26"/>
                </a:solidFill>
                <a:latin typeface="Georgia"/>
              </a:rPr>
              <a:t>Apex Structure Station Sync Detail</a:t>
            </a:r>
          </a:p>
        </p:txBody>
      </p:sp>
      <p:sp>
        <p:nvSpPr>
          <p:cNvPr id="14" name="Freeform 13"/>
          <p:cNvSpPr/>
          <p:nvPr/>
        </p:nvSpPr>
        <p:spPr>
          <a:xfrm>
            <a:off x="10769015" y="5760343"/>
            <a:ext cx="946322" cy="671868"/>
          </a:xfrm>
          <a:custGeom>
            <a:avLst/>
            <a:gdLst/>
            <a:ahLst/>
            <a:cxnLst/>
            <a:rect l="l" t="t" r="r" b="b"/>
            <a:pathLst>
              <a:path w="946322" h="671868">
                <a:moveTo>
                  <a:pt x="0" y="326602"/>
                </a:moveTo>
                <a:lnTo>
                  <a:pt x="162808" y="0"/>
                </a:lnTo>
                <a:lnTo>
                  <a:pt x="335792" y="279945"/>
                </a:lnTo>
                <a:lnTo>
                  <a:pt x="508776" y="559890"/>
                </a:lnTo>
                <a:lnTo>
                  <a:pt x="691935" y="233287"/>
                </a:lnTo>
                <a:lnTo>
                  <a:pt x="946322" y="354597"/>
                </a:lnTo>
                <a:lnTo>
                  <a:pt x="946322" y="671868"/>
                </a:lnTo>
                <a:lnTo>
                  <a:pt x="0" y="671868"/>
                </a:lnTo>
                <a:close/>
              </a:path>
            </a:pathLst>
          </a:custGeom>
          <a:solidFill>
            <a:srgbClr val="5AA691"/>
          </a:solidFill>
          <a:ln w="27494">
            <a:solidFill>
              <a:srgbClr val="60C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535143" y="2469306"/>
            <a:ext cx="1383064" cy="423980"/>
          </a:xfrm>
          <a:custGeom>
            <a:avLst/>
            <a:gdLst/>
            <a:ahLst/>
            <a:cxnLst/>
            <a:rect l="l" t="t" r="r" b="b"/>
            <a:pathLst>
              <a:path w="1383064" h="423980">
                <a:moveTo>
                  <a:pt x="0" y="206101"/>
                </a:moveTo>
                <a:lnTo>
                  <a:pt x="237947" y="0"/>
                </a:lnTo>
                <a:lnTo>
                  <a:pt x="490765" y="176658"/>
                </a:lnTo>
                <a:lnTo>
                  <a:pt x="743583" y="353317"/>
                </a:lnTo>
                <a:lnTo>
                  <a:pt x="1011272" y="147215"/>
                </a:lnTo>
                <a:lnTo>
                  <a:pt x="1383064" y="223767"/>
                </a:lnTo>
                <a:lnTo>
                  <a:pt x="1383064" y="423980"/>
                </a:lnTo>
                <a:lnTo>
                  <a:pt x="0" y="423980"/>
                </a:lnTo>
                <a:close/>
              </a:path>
            </a:pathLst>
          </a:custGeom>
          <a:solidFill>
            <a:srgbClr val="309A21"/>
          </a:solidFill>
          <a:ln w="21295">
            <a:solidFill>
              <a:srgbClr val="7A80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_example_image.jpg"/>
          <p:cNvPicPr>
            <a:picLocks noChangeAspect="1"/>
          </p:cNvPicPr>
          <p:nvPr/>
        </p:nvPicPr>
        <p:blipFill>
          <a:blip r:embed="rId2"/>
          <a:srcRect/>
          <a:stretch>
            <a:fillRect/>
          </a:stretch>
        </p:blipFill>
        <p:spPr>
          <a:xfrm>
            <a:off x="5665987" y="559344"/>
            <a:ext cx="2874606" cy="921150"/>
          </a:xfrm>
          <a:prstGeom prst="rect">
            <a:avLst/>
          </a:prstGeom>
        </p:spPr>
      </p:pic>
      <p:sp>
        <p:nvSpPr>
          <p:cNvPr id="17" name="Notched Right Arrow 16"/>
          <p:cNvSpPr/>
          <p:nvPr/>
        </p:nvSpPr>
        <p:spPr>
          <a:xfrm>
            <a:off x="6675202" y="1678164"/>
            <a:ext cx="842457" cy="1487738"/>
          </a:xfrm>
          <a:prstGeom prst="notchedRightArrow">
            <a:avLst/>
          </a:prstGeom>
          <a:solidFill>
            <a:srgbClr val="C0D9D0"/>
          </a:solidFill>
          <a:ln w="31710">
            <a:solidFill>
              <a:srgbClr val="3EDD1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7769639" y="3504350"/>
            <a:ext cx="1569192" cy="629917"/>
          </a:xfrm>
          <a:prstGeom prst="bentConnector3">
            <a:avLst/>
          </a:prstGeom>
          <a:ln w="46748">
            <a:solidFill>
              <a:srgbClr val="72AF5A"/>
            </a:solidFill>
            <a:prstDash val="dashDot"/>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088467" y="6016261"/>
            <a:ext cx="3035190" cy="668683"/>
          </a:xfrm>
          <a:prstGeom prst="curvedConnector3">
            <a:avLst/>
          </a:prstGeom>
          <a:ln w="8576">
            <a:solidFill>
              <a:srgbClr val="6B6E49"/>
            </a:solidFill>
            <a:prstDash val="dot"/>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364054" y="5371861"/>
            <a:ext cx="1024589" cy="271306"/>
          </a:xfrm>
          <a:prstGeom prst="rect">
            <a:avLst/>
          </a:prstGeom>
          <a:solidFill>
            <a:srgbClr val="A4C581"/>
          </a:solidFill>
          <a:ln w="9163">
            <a:solidFill>
              <a:srgbClr val="60CFB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757207" y="1588709"/>
            <a:ext cx="1087925" cy="789765"/>
          </a:xfrm>
          <a:prstGeom prst="bentConnector3">
            <a:avLst/>
          </a:prstGeom>
          <a:ln w="33597">
            <a:solidFill>
              <a:srgbClr val="71BA19"/>
            </a:solidFill>
            <a:prstDash val="dot"/>
          </a:ln>
        </p:spPr>
        <p:style>
          <a:lnRef idx="2">
            <a:schemeClr val="accent1"/>
          </a:lnRef>
          <a:fillRef idx="0">
            <a:schemeClr val="accent1"/>
          </a:fillRef>
          <a:effectRef idx="1">
            <a:schemeClr val="accent1"/>
          </a:effectRef>
          <a:fontRef idx="minor">
            <a:schemeClr val="tx1"/>
          </a:fontRef>
        </p:style>
      </p:cxnSp>
      <p:graphicFrame>
        <p:nvGraphicFramePr>
          <p:cNvPr id="22" name="Table 21"/>
          <p:cNvGraphicFramePr>
            <a:graphicFrameLocks noGrp="1"/>
          </p:cNvGraphicFramePr>
          <p:nvPr/>
        </p:nvGraphicFramePr>
        <p:xfrm>
          <a:off x="1176241" y="281634"/>
          <a:ext cx="3751525" cy="1488634"/>
        </p:xfrm>
        <a:graphic>
          <a:graphicData uri="http://schemas.openxmlformats.org/drawingml/2006/table">
            <a:tbl>
              <a:tblPr firstRow="1" bandRow="1">
                <a:tableStyleId>{5C22544A-7EE6-4342-B048-85BDC9FD1C3A}</a:tableStyleId>
              </a:tblPr>
              <a:tblGrid>
                <a:gridCol w="937881">
                  <a:extLst>
                    <a:ext uri="{9D8B030D-6E8A-4147-A177-3AD203B41FA5}">
                      <a16:colId xmlns:a16="http://schemas.microsoft.com/office/drawing/2014/main" val="20000"/>
                    </a:ext>
                  </a:extLst>
                </a:gridCol>
                <a:gridCol w="937881">
                  <a:extLst>
                    <a:ext uri="{9D8B030D-6E8A-4147-A177-3AD203B41FA5}">
                      <a16:colId xmlns:a16="http://schemas.microsoft.com/office/drawing/2014/main" val="20001"/>
                    </a:ext>
                  </a:extLst>
                </a:gridCol>
                <a:gridCol w="937881">
                  <a:extLst>
                    <a:ext uri="{9D8B030D-6E8A-4147-A177-3AD203B41FA5}">
                      <a16:colId xmlns:a16="http://schemas.microsoft.com/office/drawing/2014/main" val="20002"/>
                    </a:ext>
                  </a:extLst>
                </a:gridCol>
                <a:gridCol w="937882">
                  <a:extLst>
                    <a:ext uri="{9D8B030D-6E8A-4147-A177-3AD203B41FA5}">
                      <a16:colId xmlns:a16="http://schemas.microsoft.com/office/drawing/2014/main" val="20003"/>
                    </a:ext>
                  </a:extLst>
                </a:gridCol>
              </a:tblGrid>
              <a:tr h="496211">
                <a:tc>
                  <a:txBody>
                    <a:bodyPr/>
                    <a:lstStyle/>
                    <a:p>
                      <a:r>
                        <a:rPr sz="600" b="0">
                          <a:solidFill>
                            <a:srgbClr val="C16074"/>
                          </a:solidFill>
                        </a:rPr>
                        <a:t>Format</a:t>
                      </a:r>
                    </a:p>
                  </a:txBody>
                  <a:tcPr>
                    <a:solidFill>
                      <a:srgbClr val="F0FAE6"/>
                    </a:solidFill>
                  </a:tcPr>
                </a:tc>
                <a:tc>
                  <a:txBody>
                    <a:bodyPr/>
                    <a:lstStyle/>
                    <a:p>
                      <a:r>
                        <a:rPr sz="600" b="0">
                          <a:solidFill>
                            <a:srgbClr val="C16074"/>
                          </a:solidFill>
                        </a:rPr>
                        <a:t>Sample Release</a:t>
                      </a:r>
                    </a:p>
                  </a:txBody>
                  <a:tcPr>
                    <a:solidFill>
                      <a:srgbClr val="F0FAE6"/>
                    </a:solidFill>
                  </a:tcPr>
                </a:tc>
                <a:tc>
                  <a:txBody>
                    <a:bodyPr/>
                    <a:lstStyle/>
                    <a:p>
                      <a:r>
                        <a:rPr sz="600" b="0">
                          <a:solidFill>
                            <a:srgbClr val="C16074"/>
                          </a:solidFill>
                        </a:rPr>
                        <a:t>Action Agenda</a:t>
                      </a:r>
                    </a:p>
                  </a:txBody>
                  <a:tcPr>
                    <a:solidFill>
                      <a:srgbClr val="F0FAE6"/>
                    </a:solidFill>
                  </a:tcPr>
                </a:tc>
                <a:tc>
                  <a:txBody>
                    <a:bodyPr/>
                    <a:lstStyle/>
                    <a:p>
                      <a:r>
                        <a:rPr sz="600" b="0">
                          <a:solidFill>
                            <a:srgbClr val="C16074"/>
                          </a:solidFill>
                        </a:rPr>
                        <a:t>Tile</a:t>
                      </a:r>
                    </a:p>
                  </a:txBody>
                  <a:tcPr>
                    <a:solidFill>
                      <a:srgbClr val="F0FAE6"/>
                    </a:solidFill>
                  </a:tcPr>
                </a:tc>
                <a:extLst>
                  <a:ext uri="{0D108BD9-81ED-4DB2-BD59-A6C34878D82A}">
                    <a16:rowId xmlns:a16="http://schemas.microsoft.com/office/drawing/2014/main" val="10000"/>
                  </a:ext>
                </a:extLst>
              </a:tr>
              <a:tr h="496211">
                <a:tc>
                  <a:txBody>
                    <a:bodyPr/>
                    <a:lstStyle/>
                    <a:p>
                      <a:r>
                        <a:rPr sz="600" b="0">
                          <a:solidFill>
                            <a:srgbClr val="C16074"/>
                          </a:solidFill>
                        </a:rPr>
                        <a:t>Vector Topology</a:t>
                      </a:r>
                    </a:p>
                  </a:txBody>
                  <a:tcPr>
                    <a:solidFill>
                      <a:srgbClr val="F0FAE6"/>
                    </a:solidFill>
                  </a:tcPr>
                </a:tc>
                <a:tc>
                  <a:txBody>
                    <a:bodyPr/>
                    <a:lstStyle/>
                    <a:p>
                      <a:r>
                        <a:rPr sz="600" b="0">
                          <a:solidFill>
                            <a:srgbClr val="C16074"/>
                          </a:solidFill>
                        </a:rPr>
                        <a:t>Envelope</a:t>
                      </a:r>
                    </a:p>
                  </a:txBody>
                  <a:tcPr>
                    <a:solidFill>
                      <a:srgbClr val="F0FAE6"/>
                    </a:solidFill>
                  </a:tcPr>
                </a:tc>
                <a:tc>
                  <a:txBody>
                    <a:bodyPr/>
                    <a:lstStyle/>
                    <a:p>
                      <a:r>
                        <a:rPr sz="600" b="0">
                          <a:solidFill>
                            <a:srgbClr val="C16074"/>
                          </a:solidFill>
                        </a:rPr>
                        <a:t>Memory</a:t>
                      </a:r>
                    </a:p>
                  </a:txBody>
                  <a:tcPr>
                    <a:solidFill>
                      <a:srgbClr val="F0FAE6"/>
                    </a:solidFill>
                  </a:tcPr>
                </a:tc>
                <a:tc>
                  <a:txBody>
                    <a:bodyPr/>
                    <a:lstStyle/>
                    <a:p>
                      <a:r>
                        <a:rPr sz="600" b="0">
                          <a:solidFill>
                            <a:srgbClr val="C16074"/>
                          </a:solidFill>
                        </a:rPr>
                        <a:t>Table Velocity</a:t>
                      </a:r>
                    </a:p>
                  </a:txBody>
                  <a:tcPr>
                    <a:solidFill>
                      <a:srgbClr val="F0FAE6"/>
                    </a:solidFill>
                  </a:tcPr>
                </a:tc>
                <a:extLst>
                  <a:ext uri="{0D108BD9-81ED-4DB2-BD59-A6C34878D82A}">
                    <a16:rowId xmlns:a16="http://schemas.microsoft.com/office/drawing/2014/main" val="10001"/>
                  </a:ext>
                </a:extLst>
              </a:tr>
              <a:tr h="496212">
                <a:tc>
                  <a:txBody>
                    <a:bodyPr/>
                    <a:lstStyle/>
                    <a:p>
                      <a:r>
                        <a:rPr sz="600" b="0">
                          <a:solidFill>
                            <a:srgbClr val="C16074"/>
                          </a:solidFill>
                        </a:rPr>
                        <a:t>Record</a:t>
                      </a:r>
                    </a:p>
                  </a:txBody>
                  <a:tcPr>
                    <a:solidFill>
                      <a:srgbClr val="F0FAE6"/>
                    </a:solidFill>
                  </a:tcPr>
                </a:tc>
                <a:tc>
                  <a:txBody>
                    <a:bodyPr/>
                    <a:lstStyle/>
                    <a:p>
                      <a:r>
                        <a:rPr sz="600" b="0">
                          <a:solidFill>
                            <a:srgbClr val="C16074"/>
                          </a:solidFill>
                        </a:rPr>
                        <a:t>Balance Connector</a:t>
                      </a:r>
                    </a:p>
                  </a:txBody>
                  <a:tcPr>
                    <a:solidFill>
                      <a:srgbClr val="F0FAE6"/>
                    </a:solidFill>
                  </a:tcPr>
                </a:tc>
                <a:tc>
                  <a:txBody>
                    <a:bodyPr/>
                    <a:lstStyle/>
                    <a:p>
                      <a:r>
                        <a:rPr sz="600" b="0">
                          <a:solidFill>
                            <a:srgbClr val="C16074"/>
                          </a:solidFill>
                        </a:rPr>
                        <a:t>Model</a:t>
                      </a:r>
                    </a:p>
                  </a:txBody>
                  <a:tcPr>
                    <a:solidFill>
                      <a:srgbClr val="F0FAE6"/>
                    </a:solidFill>
                  </a:tcPr>
                </a:tc>
                <a:tc>
                  <a:txBody>
                    <a:bodyPr/>
                    <a:lstStyle/>
                    <a:p>
                      <a:r>
                        <a:rPr sz="600" b="0">
                          <a:solidFill>
                            <a:srgbClr val="C16074"/>
                          </a:solidFill>
                        </a:rPr>
                        <a:t>Transform Baseline</a:t>
                      </a:r>
                    </a:p>
                  </a:txBody>
                  <a:tcPr>
                    <a:solidFill>
                      <a:srgbClr val="F0FAE6"/>
                    </a:solidFill>
                  </a:tcPr>
                </a:tc>
                <a:extLst>
                  <a:ext uri="{0D108BD9-81ED-4DB2-BD59-A6C34878D82A}">
                    <a16:rowId xmlns:a16="http://schemas.microsoft.com/office/drawing/2014/main" val="10002"/>
                  </a:ext>
                </a:extLst>
              </a:tr>
            </a:tbl>
          </a:graphicData>
        </a:graphic>
      </p:graphicFrame>
      <p:sp>
        <p:nvSpPr>
          <p:cNvPr id="23" name="TextBox 22"/>
          <p:cNvSpPr txBox="1"/>
          <p:nvPr/>
        </p:nvSpPr>
        <p:spPr>
          <a:xfrm>
            <a:off x="2111383" y="3944020"/>
            <a:ext cx="1127190" cy="733788"/>
          </a:xfrm>
          <a:prstGeom prst="rect">
            <a:avLst/>
          </a:prstGeom>
          <a:noFill/>
        </p:spPr>
        <p:txBody>
          <a:bodyPr wrap="none" lIns="35117" tIns="35117" rIns="35117" bIns="35117">
            <a:spAutoFit/>
          </a:bodyPr>
          <a:lstStyle/>
          <a:p>
            <a:r>
              <a:rPr sz="1100" b="1" i="0" u="none">
                <a:solidFill>
                  <a:srgbClr val="E275C4"/>
                </a:solidFill>
                <a:latin typeface="Trebuchet MS"/>
              </a:rPr>
              <a:t>Review Filter Point Capacity Dimension Explorer Coverage Buffer Slice Drive Access Account Status Cycle Chart Echo Harbor Flow Phase Moment Radius Target Atlas Expansion Object Pulse Heading Cluster Datum Friction Checkpoint Iteration Topology Packet Cluster Explorer Spectrum Core Grid</a:t>
            </a:r>
          </a:p>
        </p:txBody>
      </p:sp>
      <p:sp>
        <p:nvSpPr>
          <p:cNvPr id="24" name="Process 23"/>
          <p:cNvSpPr/>
          <p:nvPr/>
        </p:nvSpPr>
        <p:spPr>
          <a:xfrm>
            <a:off x="2249892" y="1526281"/>
            <a:ext cx="330417" cy="1519737"/>
          </a:xfrm>
          <a:prstGeom prst="flowChartProcess">
            <a:avLst/>
          </a:prstGeom>
          <a:solidFill>
            <a:srgbClr val="9F9A55"/>
          </a:solidFill>
          <a:ln w="16070">
            <a:solidFill>
              <a:srgbClr val="956E4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isplay 24"/>
          <p:cNvSpPr/>
          <p:nvPr/>
        </p:nvSpPr>
        <p:spPr>
          <a:xfrm>
            <a:off x="5610442" y="3595833"/>
            <a:ext cx="2101059" cy="514495"/>
          </a:xfrm>
          <a:prstGeom prst="flowChartDisplay">
            <a:avLst/>
          </a:prstGeom>
          <a:solidFill>
            <a:srgbClr val="1C2754"/>
          </a:solidFill>
          <a:ln w="7868">
            <a:solidFill>
              <a:srgbClr val="249D7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04819" y="1713263"/>
            <a:ext cx="1031752" cy="1253916"/>
          </a:xfrm>
          <a:prstGeom prst="rect">
            <a:avLst/>
          </a:prstGeom>
          <a:solidFill>
            <a:srgbClr val="4F54D8"/>
          </a:solidFill>
        </p:spPr>
        <p:txBody>
          <a:bodyPr wrap="none" lIns="87519" tIns="87519" rIns="87519" bIns="87519">
            <a:spAutoFit/>
          </a:bodyPr>
          <a:lstStyle/>
          <a:p>
            <a:r>
              <a:rPr sz="1400" b="0" i="0" u="none">
                <a:solidFill>
                  <a:srgbClr val="38477A"/>
                </a:solidFill>
                <a:latin typeface="Aptos"/>
              </a:rPr>
              <a:t>Iteration Track</a:t>
            </a:r>
          </a:p>
        </p:txBody>
      </p:sp>
      <p:pic>
        <p:nvPicPr>
          <p:cNvPr id="28" name="Graphic 27">
            <a:extLst>
              <a:ext uri="{FF2B5EF4-FFF2-40B4-BE49-F238E27FC236}">
                <a16:creationId xmlns:a16="http://schemas.microsoft.com/office/drawing/2014/main" id="{B6CAE73C-4F09-53B9-FED5-D495A559BD9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60978" y="2925329"/>
            <a:ext cx="1243076" cy="2237011"/>
          </a:xfrm>
          <a:prstGeom prst="rect">
            <a:avLst/>
          </a:prstGeom>
        </p:spPr>
      </p:pic>
      <p:pic>
        <p:nvPicPr>
          <p:cNvPr id="30" name="Graphic 29">
            <a:extLst>
              <a:ext uri="{FF2B5EF4-FFF2-40B4-BE49-F238E27FC236}">
                <a16:creationId xmlns:a16="http://schemas.microsoft.com/office/drawing/2014/main" id="{EAB7A1C6-00C0-2F91-C3E0-8D0E8748F3C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527030" y="4665568"/>
            <a:ext cx="1334441" cy="104784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3143" t="19575" r="9264" b="2349"/>
          <a:stretch>
            <a:fillRect/>
          </a:stretch>
        </p:blipFill>
        <p:spPr>
          <a:xfrm>
            <a:off x="6570331" y="5534449"/>
            <a:ext cx="1780506" cy="1102964"/>
          </a:xfrm>
          <a:prstGeom prst="rect">
            <a:avLst/>
          </a:prstGeom>
        </p:spPr>
      </p:pic>
      <p:sp>
        <p:nvSpPr>
          <p:cNvPr id="3" name="Striped Right Arrow 2"/>
          <p:cNvSpPr/>
          <p:nvPr/>
        </p:nvSpPr>
        <p:spPr>
          <a:xfrm>
            <a:off x="7779849" y="5652304"/>
            <a:ext cx="2173776" cy="439214"/>
          </a:xfrm>
          <a:prstGeom prst="stripedRightArrow">
            <a:avLst/>
          </a:prstGeom>
          <a:solidFill>
            <a:srgbClr val="CB743E"/>
          </a:solidFill>
          <a:ln w="24842">
            <a:solidFill>
              <a:srgbClr val="D2A3C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_example_image.jpg"/>
          <p:cNvPicPr>
            <a:picLocks noChangeAspect="1"/>
          </p:cNvPicPr>
          <p:nvPr/>
        </p:nvPicPr>
        <p:blipFill>
          <a:blip r:embed="rId2"/>
          <a:srcRect/>
          <a:stretch>
            <a:fillRect/>
          </a:stretch>
        </p:blipFill>
        <p:spPr>
          <a:xfrm>
            <a:off x="7941195" y="5828947"/>
            <a:ext cx="1133893" cy="856790"/>
          </a:xfrm>
          <a:prstGeom prst="rect">
            <a:avLst/>
          </a:prstGeom>
        </p:spPr>
      </p:pic>
      <p:sp>
        <p:nvSpPr>
          <p:cNvPr id="5" name="Predefined Process 4"/>
          <p:cNvSpPr/>
          <p:nvPr/>
        </p:nvSpPr>
        <p:spPr>
          <a:xfrm>
            <a:off x="2535423" y="562846"/>
            <a:ext cx="1722553" cy="570466"/>
          </a:xfrm>
          <a:prstGeom prst="flowChartPredefinedProcess">
            <a:avLst/>
          </a:prstGeom>
          <a:solidFill>
            <a:srgbClr val="BE5820"/>
          </a:solidFill>
          <a:ln w="16639">
            <a:solidFill>
              <a:srgbClr val="C87A5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261241" y="655754"/>
          <a:ext cx="2359763" cy="2438199"/>
        </p:xfrm>
        <a:graphic>
          <a:graphicData uri="http://schemas.openxmlformats.org/drawingml/2006/table">
            <a:tbl>
              <a:tblPr firstRow="1" bandRow="1">
                <a:tableStyleId>{5C22544A-7EE6-4342-B048-85BDC9FD1C3A}</a:tableStyleId>
              </a:tblPr>
              <a:tblGrid>
                <a:gridCol w="1179881">
                  <a:extLst>
                    <a:ext uri="{9D8B030D-6E8A-4147-A177-3AD203B41FA5}">
                      <a16:colId xmlns:a16="http://schemas.microsoft.com/office/drawing/2014/main" val="20000"/>
                    </a:ext>
                  </a:extLst>
                </a:gridCol>
                <a:gridCol w="1179882">
                  <a:extLst>
                    <a:ext uri="{9D8B030D-6E8A-4147-A177-3AD203B41FA5}">
                      <a16:colId xmlns:a16="http://schemas.microsoft.com/office/drawing/2014/main" val="20001"/>
                    </a:ext>
                  </a:extLst>
                </a:gridCol>
              </a:tblGrid>
              <a:tr h="348314">
                <a:tc>
                  <a:txBody>
                    <a:bodyPr/>
                    <a:lstStyle/>
                    <a:p>
                      <a:r>
                        <a:rPr sz="1100" b="0">
                          <a:solidFill>
                            <a:srgbClr val="327E98"/>
                          </a:solidFill>
                        </a:rPr>
                        <a:t>Scale Column</a:t>
                      </a:r>
                    </a:p>
                  </a:txBody>
                  <a:tcPr>
                    <a:solidFill>
                      <a:srgbClr val="F2EFE9"/>
                    </a:solidFill>
                  </a:tcPr>
                </a:tc>
                <a:tc>
                  <a:txBody>
                    <a:bodyPr/>
                    <a:lstStyle/>
                    <a:p>
                      <a:r>
                        <a:rPr sz="1100" b="0">
                          <a:solidFill>
                            <a:srgbClr val="327E98"/>
                          </a:solidFill>
                        </a:rPr>
                        <a:t>Workflow</a:t>
                      </a:r>
                    </a:p>
                  </a:txBody>
                  <a:tcPr>
                    <a:solidFill>
                      <a:srgbClr val="F2EFE9"/>
                    </a:solidFill>
                  </a:tcPr>
                </a:tc>
                <a:extLst>
                  <a:ext uri="{0D108BD9-81ED-4DB2-BD59-A6C34878D82A}">
                    <a16:rowId xmlns:a16="http://schemas.microsoft.com/office/drawing/2014/main" val="10000"/>
                  </a:ext>
                </a:extLst>
              </a:tr>
              <a:tr h="348314">
                <a:tc>
                  <a:txBody>
                    <a:bodyPr/>
                    <a:lstStyle/>
                    <a:p>
                      <a:r>
                        <a:rPr sz="1100" b="0">
                          <a:solidFill>
                            <a:srgbClr val="327E98"/>
                          </a:solidFill>
                        </a:rPr>
                        <a:t>Switch</a:t>
                      </a:r>
                    </a:p>
                  </a:txBody>
                  <a:tcPr>
                    <a:solidFill>
                      <a:srgbClr val="F2EFE9"/>
                    </a:solidFill>
                  </a:tcPr>
                </a:tc>
                <a:tc>
                  <a:txBody>
                    <a:bodyPr/>
                    <a:lstStyle/>
                    <a:p>
                      <a:r>
                        <a:rPr sz="1100" b="0">
                          <a:solidFill>
                            <a:srgbClr val="327E98"/>
                          </a:solidFill>
                        </a:rPr>
                        <a:t>Thread</a:t>
                      </a:r>
                    </a:p>
                  </a:txBody>
                  <a:tcPr>
                    <a:solidFill>
                      <a:srgbClr val="F2EFE9"/>
                    </a:solidFill>
                  </a:tcPr>
                </a:tc>
                <a:extLst>
                  <a:ext uri="{0D108BD9-81ED-4DB2-BD59-A6C34878D82A}">
                    <a16:rowId xmlns:a16="http://schemas.microsoft.com/office/drawing/2014/main" val="10001"/>
                  </a:ext>
                </a:extLst>
              </a:tr>
              <a:tr h="348314">
                <a:tc>
                  <a:txBody>
                    <a:bodyPr/>
                    <a:lstStyle/>
                    <a:p>
                      <a:r>
                        <a:rPr sz="1100" b="0">
                          <a:solidFill>
                            <a:srgbClr val="327E98"/>
                          </a:solidFill>
                        </a:rPr>
                        <a:t>Impact</a:t>
                      </a:r>
                    </a:p>
                  </a:txBody>
                  <a:tcPr>
                    <a:solidFill>
                      <a:srgbClr val="F2EFE9"/>
                    </a:solidFill>
                  </a:tcPr>
                </a:tc>
                <a:tc>
                  <a:txBody>
                    <a:bodyPr/>
                    <a:lstStyle/>
                    <a:p>
                      <a:r>
                        <a:rPr sz="1100" b="0">
                          <a:solidFill>
                            <a:srgbClr val="327E98"/>
                          </a:solidFill>
                        </a:rPr>
                        <a:t>Atlas Track</a:t>
                      </a:r>
                    </a:p>
                  </a:txBody>
                  <a:tcPr>
                    <a:solidFill>
                      <a:srgbClr val="F2EFE9"/>
                    </a:solidFill>
                  </a:tcPr>
                </a:tc>
                <a:extLst>
                  <a:ext uri="{0D108BD9-81ED-4DB2-BD59-A6C34878D82A}">
                    <a16:rowId xmlns:a16="http://schemas.microsoft.com/office/drawing/2014/main" val="10002"/>
                  </a:ext>
                </a:extLst>
              </a:tr>
              <a:tr h="348314">
                <a:tc>
                  <a:txBody>
                    <a:bodyPr/>
                    <a:lstStyle/>
                    <a:p>
                      <a:r>
                        <a:rPr sz="1100" b="0">
                          <a:solidFill>
                            <a:srgbClr val="327E98"/>
                          </a:solidFill>
                        </a:rPr>
                        <a:t>Exchange Stack</a:t>
                      </a:r>
                    </a:p>
                  </a:txBody>
                  <a:tcPr>
                    <a:solidFill>
                      <a:srgbClr val="F2EFE9"/>
                    </a:solidFill>
                  </a:tcPr>
                </a:tc>
                <a:tc>
                  <a:txBody>
                    <a:bodyPr/>
                    <a:lstStyle/>
                    <a:p>
                      <a:r>
                        <a:rPr sz="1100" b="0">
                          <a:solidFill>
                            <a:srgbClr val="327E98"/>
                          </a:solidFill>
                        </a:rPr>
                        <a:t>Schema</a:t>
                      </a:r>
                    </a:p>
                  </a:txBody>
                  <a:tcPr>
                    <a:solidFill>
                      <a:srgbClr val="F2EFE9"/>
                    </a:solidFill>
                  </a:tcPr>
                </a:tc>
                <a:extLst>
                  <a:ext uri="{0D108BD9-81ED-4DB2-BD59-A6C34878D82A}">
                    <a16:rowId xmlns:a16="http://schemas.microsoft.com/office/drawing/2014/main" val="10003"/>
                  </a:ext>
                </a:extLst>
              </a:tr>
              <a:tr h="348314">
                <a:tc>
                  <a:txBody>
                    <a:bodyPr/>
                    <a:lstStyle/>
                    <a:p>
                      <a:r>
                        <a:rPr sz="1100" b="0">
                          <a:solidFill>
                            <a:srgbClr val="327E98"/>
                          </a:solidFill>
                        </a:rPr>
                        <a:t>Gradient</a:t>
                      </a:r>
                    </a:p>
                  </a:txBody>
                  <a:tcPr>
                    <a:solidFill>
                      <a:srgbClr val="F2EFE9"/>
                    </a:solidFill>
                  </a:tcPr>
                </a:tc>
                <a:tc>
                  <a:txBody>
                    <a:bodyPr/>
                    <a:lstStyle/>
                    <a:p>
                      <a:r>
                        <a:rPr sz="1100" b="0">
                          <a:solidFill>
                            <a:srgbClr val="327E98"/>
                          </a:solidFill>
                        </a:rPr>
                        <a:t>Anchor</a:t>
                      </a:r>
                    </a:p>
                  </a:txBody>
                  <a:tcPr>
                    <a:solidFill>
                      <a:srgbClr val="F2EFE9"/>
                    </a:solidFill>
                  </a:tcPr>
                </a:tc>
                <a:extLst>
                  <a:ext uri="{0D108BD9-81ED-4DB2-BD59-A6C34878D82A}">
                    <a16:rowId xmlns:a16="http://schemas.microsoft.com/office/drawing/2014/main" val="10004"/>
                  </a:ext>
                </a:extLst>
              </a:tr>
              <a:tr h="348314">
                <a:tc>
                  <a:txBody>
                    <a:bodyPr/>
                    <a:lstStyle/>
                    <a:p>
                      <a:r>
                        <a:rPr sz="1100" b="0">
                          <a:solidFill>
                            <a:srgbClr val="327E98"/>
                          </a:solidFill>
                        </a:rPr>
                        <a:t>Reserve</a:t>
                      </a:r>
                    </a:p>
                  </a:txBody>
                  <a:tcPr>
                    <a:solidFill>
                      <a:srgbClr val="F2EFE9"/>
                    </a:solidFill>
                  </a:tcPr>
                </a:tc>
                <a:tc>
                  <a:txBody>
                    <a:bodyPr/>
                    <a:lstStyle/>
                    <a:p>
                      <a:r>
                        <a:rPr sz="1100" b="0">
                          <a:solidFill>
                            <a:srgbClr val="327E98"/>
                          </a:solidFill>
                        </a:rPr>
                        <a:t>Sync Detail</a:t>
                      </a:r>
                    </a:p>
                  </a:txBody>
                  <a:tcPr>
                    <a:solidFill>
                      <a:srgbClr val="F2EFE9"/>
                    </a:solidFill>
                  </a:tcPr>
                </a:tc>
                <a:extLst>
                  <a:ext uri="{0D108BD9-81ED-4DB2-BD59-A6C34878D82A}">
                    <a16:rowId xmlns:a16="http://schemas.microsoft.com/office/drawing/2014/main" val="10005"/>
                  </a:ext>
                </a:extLst>
              </a:tr>
              <a:tr h="348315">
                <a:tc>
                  <a:txBody>
                    <a:bodyPr/>
                    <a:lstStyle/>
                    <a:p>
                      <a:r>
                        <a:rPr sz="1100" b="0">
                          <a:solidFill>
                            <a:srgbClr val="327E98"/>
                          </a:solidFill>
                        </a:rPr>
                        <a:t>Summary</a:t>
                      </a:r>
                    </a:p>
                  </a:txBody>
                  <a:tcPr>
                    <a:solidFill>
                      <a:srgbClr val="F2EFE9"/>
                    </a:solidFill>
                  </a:tcPr>
                </a:tc>
                <a:tc>
                  <a:txBody>
                    <a:bodyPr/>
                    <a:lstStyle/>
                    <a:p>
                      <a:r>
                        <a:rPr sz="1100" b="0">
                          <a:solidFill>
                            <a:srgbClr val="327E98"/>
                          </a:solidFill>
                        </a:rPr>
                        <a:t>Discovery</a:t>
                      </a:r>
                    </a:p>
                  </a:txBody>
                  <a:tcPr>
                    <a:solidFill>
                      <a:srgbClr val="F2EFE9"/>
                    </a:solidFill>
                  </a:tcPr>
                </a:tc>
                <a:extLst>
                  <a:ext uri="{0D108BD9-81ED-4DB2-BD59-A6C34878D82A}">
                    <a16:rowId xmlns:a16="http://schemas.microsoft.com/office/drawing/2014/main" val="10006"/>
                  </a:ext>
                </a:extLst>
              </a:tr>
            </a:tbl>
          </a:graphicData>
        </a:graphic>
      </p:graphicFrame>
      <p:cxnSp>
        <p:nvCxnSpPr>
          <p:cNvPr id="7" name="Connector 6"/>
          <p:cNvCxnSpPr/>
          <p:nvPr/>
        </p:nvCxnSpPr>
        <p:spPr>
          <a:xfrm>
            <a:off x="3452763" y="5303670"/>
            <a:ext cx="858340" cy="1080561"/>
          </a:xfrm>
          <a:prstGeom prst="bentConnector3">
            <a:avLst/>
          </a:prstGeom>
          <a:ln w="34843">
            <a:solidFill>
              <a:srgbClr val="D1426A"/>
            </a:solidFill>
            <a:prstDash val="dashDot"/>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057032" y="765399"/>
            <a:ext cx="611849" cy="1984127"/>
          </a:xfrm>
          <a:prstGeom prst="rect">
            <a:avLst/>
          </a:prstGeom>
          <a:noFill/>
        </p:spPr>
        <p:txBody>
          <a:bodyPr wrap="none" lIns="42901" tIns="42901" rIns="42901" bIns="42901">
            <a:spAutoFit/>
          </a:bodyPr>
          <a:lstStyle/>
          <a:p>
            <a:r>
              <a:rPr sz="900" b="0" i="0" u="none">
                <a:solidFill>
                  <a:srgbClr val="7D7540"/>
                </a:solidFill>
                <a:latin typeface="Calibri"/>
              </a:rPr>
              <a:t>Duration</a:t>
            </a:r>
          </a:p>
        </p:txBody>
      </p:sp>
      <p:sp>
        <p:nvSpPr>
          <p:cNvPr id="9" name="Not Equal 8"/>
          <p:cNvSpPr/>
          <p:nvPr/>
        </p:nvSpPr>
        <p:spPr>
          <a:xfrm>
            <a:off x="5682186" y="3098813"/>
            <a:ext cx="2099456" cy="1981499"/>
          </a:xfrm>
          <a:prstGeom prst="mathNotEqual">
            <a:avLst/>
          </a:prstGeom>
          <a:solidFill>
            <a:srgbClr val="72A95A"/>
          </a:solidFill>
          <a:ln w="17041">
            <a:solidFill>
              <a:srgbClr val="81BC9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iamond 9"/>
          <p:cNvSpPr/>
          <p:nvPr/>
        </p:nvSpPr>
        <p:spPr>
          <a:xfrm>
            <a:off x="9448699" y="2159256"/>
            <a:ext cx="2184867" cy="861335"/>
          </a:xfrm>
          <a:prstGeom prst="diamond">
            <a:avLst/>
          </a:prstGeom>
          <a:solidFill>
            <a:srgbClr val="AD9F47"/>
          </a:solidFill>
          <a:ln w="24818">
            <a:solidFill>
              <a:srgbClr val="B4C224"/>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Chart 10"/>
          <p:cNvGraphicFramePr>
            <a:graphicFrameLocks noGrp="1"/>
          </p:cNvGraphicFramePr>
          <p:nvPr/>
        </p:nvGraphicFramePr>
        <p:xfrm>
          <a:off x="2492723" y="4687953"/>
          <a:ext cx="2034774" cy="1501472"/>
        </p:xfrm>
        <a:graphic>
          <a:graphicData uri="http://schemas.openxmlformats.org/drawingml/2006/chart">
            <c:chart xmlns:c="http://schemas.openxmlformats.org/drawingml/2006/chart" xmlns:r="http://schemas.openxmlformats.org/officeDocument/2006/relationships" r:id="rId3"/>
          </a:graphicData>
        </a:graphic>
      </p:graphicFrame>
      <p:sp>
        <p:nvSpPr>
          <p:cNvPr id="12" name="Freeform 11"/>
          <p:cNvSpPr/>
          <p:nvPr/>
        </p:nvSpPr>
        <p:spPr>
          <a:xfrm>
            <a:off x="4484988" y="3215962"/>
            <a:ext cx="723003" cy="848726"/>
          </a:xfrm>
          <a:custGeom>
            <a:avLst/>
            <a:gdLst/>
            <a:ahLst/>
            <a:cxnLst/>
            <a:rect l="l" t="t" r="r" b="b"/>
            <a:pathLst>
              <a:path w="723003" h="848726">
                <a:moveTo>
                  <a:pt x="77743" y="144464"/>
                </a:moveTo>
                <a:lnTo>
                  <a:pt x="256550" y="0"/>
                </a:lnTo>
                <a:lnTo>
                  <a:pt x="528647" y="72232"/>
                </a:lnTo>
                <a:lnTo>
                  <a:pt x="723003" y="343102"/>
                </a:lnTo>
                <a:lnTo>
                  <a:pt x="621938" y="704262"/>
                </a:lnTo>
                <a:lnTo>
                  <a:pt x="334292" y="848726"/>
                </a:lnTo>
                <a:lnTo>
                  <a:pt x="46646" y="613972"/>
                </a:lnTo>
                <a:lnTo>
                  <a:pt x="0" y="306986"/>
                </a:lnTo>
                <a:close/>
              </a:path>
            </a:pathLst>
          </a:custGeom>
          <a:solidFill>
            <a:srgbClr val="376A2C"/>
          </a:solidFill>
          <a:ln w="25964">
            <a:solidFill>
              <a:srgbClr val="60B0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ocument 12"/>
          <p:cNvSpPr/>
          <p:nvPr/>
        </p:nvSpPr>
        <p:spPr>
          <a:xfrm>
            <a:off x="1535800" y="1801146"/>
            <a:ext cx="2670283" cy="353569"/>
          </a:xfrm>
          <a:prstGeom prst="flowChartDocument">
            <a:avLst/>
          </a:prstGeom>
          <a:noFill/>
          <a:ln w="10473">
            <a:solidFill>
              <a:srgbClr val="42708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7953620" y="483722"/>
          <a:ext cx="3871535" cy="1524214"/>
        </p:xfrm>
        <a:graphic>
          <a:graphicData uri="http://schemas.openxmlformats.org/drawingml/2006/table">
            <a:tbl>
              <a:tblPr firstRow="1" bandRow="1">
                <a:tableStyleId>{5C22544A-7EE6-4342-B048-85BDC9FD1C3A}</a:tableStyleId>
              </a:tblPr>
              <a:tblGrid>
                <a:gridCol w="645255">
                  <a:extLst>
                    <a:ext uri="{9D8B030D-6E8A-4147-A177-3AD203B41FA5}">
                      <a16:colId xmlns:a16="http://schemas.microsoft.com/office/drawing/2014/main" val="20000"/>
                    </a:ext>
                  </a:extLst>
                </a:gridCol>
                <a:gridCol w="645255">
                  <a:extLst>
                    <a:ext uri="{9D8B030D-6E8A-4147-A177-3AD203B41FA5}">
                      <a16:colId xmlns:a16="http://schemas.microsoft.com/office/drawing/2014/main" val="20001"/>
                    </a:ext>
                  </a:extLst>
                </a:gridCol>
                <a:gridCol w="645255">
                  <a:extLst>
                    <a:ext uri="{9D8B030D-6E8A-4147-A177-3AD203B41FA5}">
                      <a16:colId xmlns:a16="http://schemas.microsoft.com/office/drawing/2014/main" val="20002"/>
                    </a:ext>
                  </a:extLst>
                </a:gridCol>
                <a:gridCol w="645255">
                  <a:extLst>
                    <a:ext uri="{9D8B030D-6E8A-4147-A177-3AD203B41FA5}">
                      <a16:colId xmlns:a16="http://schemas.microsoft.com/office/drawing/2014/main" val="20003"/>
                    </a:ext>
                  </a:extLst>
                </a:gridCol>
                <a:gridCol w="645255">
                  <a:extLst>
                    <a:ext uri="{9D8B030D-6E8A-4147-A177-3AD203B41FA5}">
                      <a16:colId xmlns:a16="http://schemas.microsoft.com/office/drawing/2014/main" val="20004"/>
                    </a:ext>
                  </a:extLst>
                </a:gridCol>
                <a:gridCol w="645260">
                  <a:extLst>
                    <a:ext uri="{9D8B030D-6E8A-4147-A177-3AD203B41FA5}">
                      <a16:colId xmlns:a16="http://schemas.microsoft.com/office/drawing/2014/main" val="20005"/>
                    </a:ext>
                  </a:extLst>
                </a:gridCol>
              </a:tblGrid>
              <a:tr h="381053">
                <a:tc>
                  <a:txBody>
                    <a:bodyPr/>
                    <a:lstStyle/>
                    <a:p>
                      <a:r>
                        <a:rPr sz="1000" b="0">
                          <a:solidFill>
                            <a:srgbClr val="385DB1"/>
                          </a:solidFill>
                        </a:rPr>
                        <a:t>Summary Stage</a:t>
                      </a:r>
                    </a:p>
                  </a:txBody>
                  <a:tcPr>
                    <a:solidFill>
                      <a:srgbClr val="FBF8F5"/>
                    </a:solidFill>
                  </a:tcPr>
                </a:tc>
                <a:tc>
                  <a:txBody>
                    <a:bodyPr/>
                    <a:lstStyle/>
                    <a:p>
                      <a:r>
                        <a:rPr sz="1000" b="0">
                          <a:solidFill>
                            <a:srgbClr val="385DB1"/>
                          </a:solidFill>
                        </a:rPr>
                        <a:t>Keyline</a:t>
                      </a:r>
                    </a:p>
                  </a:txBody>
                  <a:tcPr>
                    <a:solidFill>
                      <a:srgbClr val="F1E3D7"/>
                    </a:solidFill>
                  </a:tcPr>
                </a:tc>
                <a:tc>
                  <a:txBody>
                    <a:bodyPr/>
                    <a:lstStyle/>
                    <a:p>
                      <a:r>
                        <a:rPr sz="1000" b="0">
                          <a:solidFill>
                            <a:srgbClr val="385DB1"/>
                          </a:solidFill>
                        </a:rPr>
                        <a:t>Report</a:t>
                      </a:r>
                    </a:p>
                  </a:txBody>
                  <a:tcPr>
                    <a:solidFill>
                      <a:srgbClr val="FBF8F5"/>
                    </a:solidFill>
                  </a:tcPr>
                </a:tc>
                <a:tc>
                  <a:txBody>
                    <a:bodyPr/>
                    <a:lstStyle/>
                    <a:p>
                      <a:r>
                        <a:rPr sz="1000" b="0">
                          <a:solidFill>
                            <a:srgbClr val="385DB1"/>
                          </a:solidFill>
                        </a:rPr>
                        <a:t>Resource Route</a:t>
                      </a:r>
                    </a:p>
                  </a:txBody>
                  <a:tcPr>
                    <a:solidFill>
                      <a:srgbClr val="F1E3D7"/>
                    </a:solidFill>
                  </a:tcPr>
                </a:tc>
                <a:tc>
                  <a:txBody>
                    <a:bodyPr/>
                    <a:lstStyle/>
                    <a:p>
                      <a:r>
                        <a:rPr sz="1000" b="0">
                          <a:solidFill>
                            <a:srgbClr val="385DB1"/>
                          </a:solidFill>
                        </a:rPr>
                        <a:t>Kernel</a:t>
                      </a:r>
                    </a:p>
                  </a:txBody>
                  <a:tcPr>
                    <a:solidFill>
                      <a:srgbClr val="FBF8F5"/>
                    </a:solidFill>
                  </a:tcPr>
                </a:tc>
                <a:tc>
                  <a:txBody>
                    <a:bodyPr/>
                    <a:lstStyle/>
                    <a:p>
                      <a:r>
                        <a:rPr sz="1000" b="0">
                          <a:solidFill>
                            <a:srgbClr val="385DB1"/>
                          </a:solidFill>
                        </a:rPr>
                        <a:t>Slice</a:t>
                      </a:r>
                    </a:p>
                  </a:txBody>
                  <a:tcPr>
                    <a:solidFill>
                      <a:srgbClr val="F1E3D7"/>
                    </a:solidFill>
                  </a:tcPr>
                </a:tc>
                <a:extLst>
                  <a:ext uri="{0D108BD9-81ED-4DB2-BD59-A6C34878D82A}">
                    <a16:rowId xmlns:a16="http://schemas.microsoft.com/office/drawing/2014/main" val="10000"/>
                  </a:ext>
                </a:extLst>
              </a:tr>
              <a:tr h="381053">
                <a:tc>
                  <a:txBody>
                    <a:bodyPr/>
                    <a:lstStyle/>
                    <a:p>
                      <a:r>
                        <a:rPr sz="1000" b="0">
                          <a:solidFill>
                            <a:srgbClr val="385DB1"/>
                          </a:solidFill>
                        </a:rPr>
                        <a:t>Needle</a:t>
                      </a:r>
                    </a:p>
                  </a:txBody>
                  <a:tcPr>
                    <a:solidFill>
                      <a:srgbClr val="F1E3D7"/>
                    </a:solidFill>
                  </a:tcPr>
                </a:tc>
                <a:tc>
                  <a:txBody>
                    <a:bodyPr/>
                    <a:lstStyle/>
                    <a:p>
                      <a:r>
                        <a:rPr sz="1000" b="0">
                          <a:solidFill>
                            <a:srgbClr val="385DB1"/>
                          </a:solidFill>
                        </a:rPr>
                        <a:t>Bundle Cluster</a:t>
                      </a:r>
                    </a:p>
                  </a:txBody>
                  <a:tcPr>
                    <a:solidFill>
                      <a:srgbClr val="F1E3D7"/>
                    </a:solidFill>
                  </a:tcPr>
                </a:tc>
                <a:tc>
                  <a:txBody>
                    <a:bodyPr/>
                    <a:lstStyle/>
                    <a:p>
                      <a:r>
                        <a:rPr sz="1000" b="0">
                          <a:solidFill>
                            <a:srgbClr val="385DB1"/>
                          </a:solidFill>
                        </a:rPr>
                        <a:t>Forecast Indicator</a:t>
                      </a:r>
                    </a:p>
                  </a:txBody>
                  <a:tcPr>
                    <a:solidFill>
                      <a:srgbClr val="F1E3D7"/>
                    </a:solidFill>
                  </a:tcPr>
                </a:tc>
                <a:tc>
                  <a:txBody>
                    <a:bodyPr/>
                    <a:lstStyle/>
                    <a:p>
                      <a:r>
                        <a:rPr sz="1000" b="0">
                          <a:solidFill>
                            <a:srgbClr val="385DB1"/>
                          </a:solidFill>
                        </a:rPr>
                        <a:t>Alignment Target</a:t>
                      </a:r>
                    </a:p>
                  </a:txBody>
                  <a:tcPr>
                    <a:solidFill>
                      <a:srgbClr val="F1E3D7"/>
                    </a:solidFill>
                  </a:tcPr>
                </a:tc>
                <a:tc>
                  <a:txBody>
                    <a:bodyPr/>
                    <a:lstStyle/>
                    <a:p>
                      <a:r>
                        <a:rPr sz="1000" b="0">
                          <a:solidFill>
                            <a:srgbClr val="385DB1"/>
                          </a:solidFill>
                        </a:rPr>
                        <a:t>Circuit Pulse</a:t>
                      </a:r>
                    </a:p>
                  </a:txBody>
                  <a:tcPr>
                    <a:solidFill>
                      <a:srgbClr val="F1E3D7"/>
                    </a:solidFill>
                  </a:tcPr>
                </a:tc>
                <a:tc>
                  <a:txBody>
                    <a:bodyPr/>
                    <a:lstStyle/>
                    <a:p>
                      <a:r>
                        <a:rPr sz="1000" b="0">
                          <a:solidFill>
                            <a:srgbClr val="385DB1"/>
                          </a:solidFill>
                        </a:rPr>
                        <a:t>Cluster Lens</a:t>
                      </a:r>
                    </a:p>
                  </a:txBody>
                  <a:tcPr>
                    <a:solidFill>
                      <a:srgbClr val="F1E3D7"/>
                    </a:solidFill>
                  </a:tcPr>
                </a:tc>
                <a:extLst>
                  <a:ext uri="{0D108BD9-81ED-4DB2-BD59-A6C34878D82A}">
                    <a16:rowId xmlns:a16="http://schemas.microsoft.com/office/drawing/2014/main" val="10001"/>
                  </a:ext>
                </a:extLst>
              </a:tr>
              <a:tr h="381053">
                <a:tc>
                  <a:txBody>
                    <a:bodyPr/>
                    <a:lstStyle/>
                    <a:p>
                      <a:r>
                        <a:rPr sz="1000" b="0">
                          <a:solidFill>
                            <a:srgbClr val="385DB1"/>
                          </a:solidFill>
                        </a:rPr>
                        <a:t>Index</a:t>
                      </a:r>
                    </a:p>
                  </a:txBody>
                  <a:tcPr>
                    <a:solidFill>
                      <a:srgbClr val="FBF8F5"/>
                    </a:solidFill>
                  </a:tcPr>
                </a:tc>
                <a:tc>
                  <a:txBody>
                    <a:bodyPr/>
                    <a:lstStyle/>
                    <a:p>
                      <a:r>
                        <a:rPr sz="1000" b="0">
                          <a:solidFill>
                            <a:srgbClr val="385DB1"/>
                          </a:solidFill>
                        </a:rPr>
                        <a:t>Field</a:t>
                      </a:r>
                    </a:p>
                  </a:txBody>
                  <a:tcPr>
                    <a:solidFill>
                      <a:srgbClr val="F1E3D7"/>
                    </a:solidFill>
                  </a:tcPr>
                </a:tc>
                <a:tc>
                  <a:txBody>
                    <a:bodyPr/>
                    <a:lstStyle/>
                    <a:p>
                      <a:r>
                        <a:rPr sz="1000" b="0">
                          <a:solidFill>
                            <a:srgbClr val="385DB1"/>
                          </a:solidFill>
                        </a:rPr>
                        <a:t>Package Payload</a:t>
                      </a:r>
                    </a:p>
                  </a:txBody>
                  <a:tcPr>
                    <a:solidFill>
                      <a:srgbClr val="FBF8F5"/>
                    </a:solidFill>
                  </a:tcPr>
                </a:tc>
                <a:tc>
                  <a:txBody>
                    <a:bodyPr/>
                    <a:lstStyle/>
                    <a:p>
                      <a:r>
                        <a:rPr sz="1000" b="0">
                          <a:solidFill>
                            <a:srgbClr val="385DB1"/>
                          </a:solidFill>
                        </a:rPr>
                        <a:t>Layer Function</a:t>
                      </a:r>
                    </a:p>
                  </a:txBody>
                  <a:tcPr>
                    <a:solidFill>
                      <a:srgbClr val="F1E3D7"/>
                    </a:solidFill>
                  </a:tcPr>
                </a:tc>
                <a:tc>
                  <a:txBody>
                    <a:bodyPr/>
                    <a:lstStyle/>
                    <a:p>
                      <a:r>
                        <a:rPr sz="1000" b="0">
                          <a:solidFill>
                            <a:srgbClr val="385DB1"/>
                          </a:solidFill>
                        </a:rPr>
                        <a:t>Window Reference</a:t>
                      </a:r>
                    </a:p>
                  </a:txBody>
                  <a:tcPr>
                    <a:solidFill>
                      <a:srgbClr val="FBF8F5"/>
                    </a:solidFill>
                  </a:tcPr>
                </a:tc>
                <a:tc>
                  <a:txBody>
                    <a:bodyPr/>
                    <a:lstStyle/>
                    <a:p>
                      <a:r>
                        <a:rPr sz="1000" b="0">
                          <a:solidFill>
                            <a:srgbClr val="385DB1"/>
                          </a:solidFill>
                        </a:rPr>
                        <a:t>Stage</a:t>
                      </a:r>
                    </a:p>
                  </a:txBody>
                  <a:tcPr>
                    <a:solidFill>
                      <a:srgbClr val="F1E3D7"/>
                    </a:solidFill>
                  </a:tcPr>
                </a:tc>
                <a:extLst>
                  <a:ext uri="{0D108BD9-81ED-4DB2-BD59-A6C34878D82A}">
                    <a16:rowId xmlns:a16="http://schemas.microsoft.com/office/drawing/2014/main" val="10002"/>
                  </a:ext>
                </a:extLst>
              </a:tr>
              <a:tr h="381055">
                <a:tc>
                  <a:txBody>
                    <a:bodyPr/>
                    <a:lstStyle/>
                    <a:p>
                      <a:r>
                        <a:rPr sz="1000" b="0">
                          <a:solidFill>
                            <a:srgbClr val="385DB1"/>
                          </a:solidFill>
                        </a:rPr>
                        <a:t>Window</a:t>
                      </a:r>
                    </a:p>
                  </a:txBody>
                  <a:tcPr>
                    <a:solidFill>
                      <a:srgbClr val="F1E3D7"/>
                    </a:solidFill>
                  </a:tcPr>
                </a:tc>
                <a:tc>
                  <a:txBody>
                    <a:bodyPr/>
                    <a:lstStyle/>
                    <a:p>
                      <a:r>
                        <a:rPr sz="1000" b="0">
                          <a:solidFill>
                            <a:srgbClr val="385DB1"/>
                          </a:solidFill>
                        </a:rPr>
                        <a:t>Network Rhythm</a:t>
                      </a:r>
                    </a:p>
                  </a:txBody>
                  <a:tcPr>
                    <a:solidFill>
                      <a:srgbClr val="F1E3D7"/>
                    </a:solidFill>
                  </a:tcPr>
                </a:tc>
                <a:tc>
                  <a:txBody>
                    <a:bodyPr/>
                    <a:lstStyle/>
                    <a:p>
                      <a:r>
                        <a:rPr sz="1000" b="0">
                          <a:solidFill>
                            <a:srgbClr val="385DB1"/>
                          </a:solidFill>
                        </a:rPr>
                        <a:t>Metric</a:t>
                      </a:r>
                    </a:p>
                  </a:txBody>
                  <a:tcPr>
                    <a:solidFill>
                      <a:srgbClr val="F1E3D7"/>
                    </a:solidFill>
                  </a:tcPr>
                </a:tc>
                <a:tc>
                  <a:txBody>
                    <a:bodyPr/>
                    <a:lstStyle/>
                    <a:p>
                      <a:r>
                        <a:rPr sz="1000" b="0">
                          <a:solidFill>
                            <a:srgbClr val="385DB1"/>
                          </a:solidFill>
                        </a:rPr>
                        <a:t>Workflow</a:t>
                      </a:r>
                    </a:p>
                  </a:txBody>
                  <a:tcPr>
                    <a:solidFill>
                      <a:srgbClr val="F1E3D7"/>
                    </a:solidFill>
                  </a:tcPr>
                </a:tc>
                <a:tc>
                  <a:txBody>
                    <a:bodyPr/>
                    <a:lstStyle/>
                    <a:p>
                      <a:r>
                        <a:rPr sz="1000" b="0">
                          <a:solidFill>
                            <a:srgbClr val="385DB1"/>
                          </a:solidFill>
                        </a:rPr>
                        <a:t>Variant</a:t>
                      </a:r>
                    </a:p>
                  </a:txBody>
                  <a:tcPr>
                    <a:solidFill>
                      <a:srgbClr val="F1E3D7"/>
                    </a:solidFill>
                  </a:tcPr>
                </a:tc>
                <a:tc>
                  <a:txBody>
                    <a:bodyPr/>
                    <a:lstStyle/>
                    <a:p>
                      <a:r>
                        <a:rPr sz="1000" b="0">
                          <a:solidFill>
                            <a:srgbClr val="385DB1"/>
                          </a:solidFill>
                        </a:rPr>
                        <a:t>Capacity</a:t>
                      </a:r>
                    </a:p>
                  </a:txBody>
                  <a:tcPr>
                    <a:solidFill>
                      <a:srgbClr val="F1E3D7"/>
                    </a:solidFill>
                  </a:tcPr>
                </a:tc>
                <a:extLst>
                  <a:ext uri="{0D108BD9-81ED-4DB2-BD59-A6C34878D82A}">
                    <a16:rowId xmlns:a16="http://schemas.microsoft.com/office/drawing/2014/main" val="10003"/>
                  </a:ext>
                </a:extLst>
              </a:tr>
            </a:tbl>
          </a:graphicData>
        </a:graphic>
      </p:graphicFrame>
      <p:sp>
        <p:nvSpPr>
          <p:cNvPr id="15" name="TextBox 14"/>
          <p:cNvSpPr txBox="1"/>
          <p:nvPr/>
        </p:nvSpPr>
        <p:spPr>
          <a:xfrm>
            <a:off x="579404" y="2177250"/>
            <a:ext cx="2898350" cy="1719783"/>
          </a:xfrm>
          <a:prstGeom prst="rect">
            <a:avLst/>
          </a:prstGeom>
          <a:noFill/>
        </p:spPr>
        <p:txBody>
          <a:bodyPr wrap="none" lIns="37960" tIns="37960" rIns="37960" bIns="37960">
            <a:spAutoFit/>
          </a:bodyPr>
          <a:lstStyle/>
          <a:p>
            <a:r>
              <a:rPr sz="1700" b="0" i="0" u="none">
                <a:solidFill>
                  <a:srgbClr val="8A9E59"/>
                </a:solidFill>
                <a:latin typeface="Arial"/>
              </a:rPr>
              <a:t>Register Route Column Deployment Gradient Panel Thread Lens Register Version Keyline Snapshot Apex Frequency Transform Timeline Signal Cycle Source Pulse Case Status Friction Duration Summary Pulse Map Scale Canvas Request Catalog Function Logic</a:t>
            </a:r>
          </a:p>
        </p:txBody>
      </p:sp>
      <p:sp>
        <p:nvSpPr>
          <p:cNvPr id="16" name="TextBox 15"/>
          <p:cNvSpPr txBox="1"/>
          <p:nvPr/>
        </p:nvSpPr>
        <p:spPr>
          <a:xfrm>
            <a:off x="4723847" y="4224221"/>
            <a:ext cx="774609" cy="1334340"/>
          </a:xfrm>
          <a:prstGeom prst="rect">
            <a:avLst/>
          </a:prstGeom>
          <a:noFill/>
        </p:spPr>
        <p:txBody>
          <a:bodyPr wrap="none" lIns="54415" tIns="54415" rIns="54415" bIns="54415">
            <a:spAutoFit/>
          </a:bodyPr>
          <a:lstStyle/>
          <a:p>
            <a:r>
              <a:rPr sz="900" b="1" i="1" u="none">
                <a:solidFill>
                  <a:srgbClr val="C686B3"/>
                </a:solidFill>
                <a:latin typeface="Trebuchet MS"/>
              </a:rPr>
              <a:t>Module Control</a:t>
            </a:r>
          </a:p>
        </p:txBody>
      </p:sp>
      <p:sp>
        <p:nvSpPr>
          <p:cNvPr id="17" name="Oval Callout 16"/>
          <p:cNvSpPr/>
          <p:nvPr/>
        </p:nvSpPr>
        <p:spPr>
          <a:xfrm>
            <a:off x="483668" y="420271"/>
            <a:ext cx="1859786" cy="728641"/>
          </a:xfrm>
          <a:prstGeom prst="wedgeEllipseCallout">
            <a:avLst/>
          </a:prstGeom>
          <a:noFill/>
          <a:ln w="24202">
            <a:solidFill>
              <a:srgbClr val="DC274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5480442" y="3313544"/>
            <a:ext cx="731979" cy="407716"/>
          </a:xfrm>
          <a:prstGeom prst="line">
            <a:avLst/>
          </a:prstGeom>
          <a:ln w="40804">
            <a:solidFill>
              <a:srgbClr val="1F407F"/>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1081830" y="3518939"/>
            <a:ext cx="642433" cy="914058"/>
          </a:xfrm>
          <a:prstGeom prst="rect">
            <a:avLst/>
          </a:prstGeom>
          <a:noFill/>
        </p:spPr>
        <p:txBody>
          <a:bodyPr wrap="none" lIns="68110" tIns="68110" rIns="68110" bIns="68110">
            <a:spAutoFit/>
          </a:bodyPr>
          <a:lstStyle/>
          <a:p>
            <a:r>
              <a:rPr sz="3300" b="1" i="0" u="none">
                <a:solidFill>
                  <a:srgbClr val="A9E1D8"/>
                </a:solidFill>
                <a:latin typeface="Aptos"/>
              </a:rPr>
              <a:t>Transform Alpha Handle Orbit Balance Estimate</a:t>
            </a:r>
          </a:p>
        </p:txBody>
      </p:sp>
      <p:cxnSp>
        <p:nvCxnSpPr>
          <p:cNvPr id="20" name="Connector 19"/>
          <p:cNvCxnSpPr/>
          <p:nvPr/>
        </p:nvCxnSpPr>
        <p:spPr>
          <a:xfrm>
            <a:off x="10824408" y="4691363"/>
            <a:ext cx="1050838" cy="950144"/>
          </a:xfrm>
          <a:prstGeom prst="line">
            <a:avLst/>
          </a:prstGeom>
          <a:ln w="45598">
            <a:solidFill>
              <a:srgbClr val="79E285"/>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607330" y="4261939"/>
            <a:ext cx="807126" cy="963440"/>
          </a:xfrm>
          <a:prstGeom prst="rect">
            <a:avLst/>
          </a:prstGeom>
          <a:noFill/>
        </p:spPr>
        <p:txBody>
          <a:bodyPr wrap="none" lIns="90937" tIns="90937" rIns="90937" bIns="90937">
            <a:spAutoFit/>
          </a:bodyPr>
          <a:lstStyle/>
          <a:p>
            <a:r>
              <a:rPr sz="3000" b="1" i="0" u="none">
                <a:solidFill>
                  <a:srgbClr val="98A64A"/>
                </a:solidFill>
                <a:latin typeface="Arial"/>
              </a:rPr>
              <a:t>Switch Viewport Density</a:t>
            </a:r>
          </a:p>
        </p:txBody>
      </p:sp>
      <p:sp>
        <p:nvSpPr>
          <p:cNvPr id="22" name="Freeform 21"/>
          <p:cNvSpPr/>
          <p:nvPr/>
        </p:nvSpPr>
        <p:spPr>
          <a:xfrm>
            <a:off x="9504758" y="5443765"/>
            <a:ext cx="879807" cy="1163634"/>
          </a:xfrm>
          <a:custGeom>
            <a:avLst/>
            <a:gdLst/>
            <a:ahLst/>
            <a:cxnLst/>
            <a:rect l="l" t="t" r="r" b="b"/>
            <a:pathLst>
              <a:path w="879807" h="1163634">
                <a:moveTo>
                  <a:pt x="439903" y="0"/>
                </a:moveTo>
                <a:lnTo>
                  <a:pt x="549879" y="290909"/>
                </a:lnTo>
                <a:lnTo>
                  <a:pt x="824819" y="209454"/>
                </a:lnTo>
                <a:lnTo>
                  <a:pt x="669020" y="581817"/>
                </a:lnTo>
                <a:lnTo>
                  <a:pt x="879807" y="907635"/>
                </a:lnTo>
                <a:lnTo>
                  <a:pt x="549879" y="837817"/>
                </a:lnTo>
                <a:lnTo>
                  <a:pt x="439903" y="1163634"/>
                </a:lnTo>
                <a:lnTo>
                  <a:pt x="329927" y="837817"/>
                </a:lnTo>
                <a:lnTo>
                  <a:pt x="0" y="907635"/>
                </a:lnTo>
                <a:lnTo>
                  <a:pt x="210787" y="581817"/>
                </a:lnTo>
                <a:lnTo>
                  <a:pt x="54988" y="209454"/>
                </a:lnTo>
                <a:lnTo>
                  <a:pt x="329927" y="290909"/>
                </a:lnTo>
                <a:close/>
              </a:path>
            </a:pathLst>
          </a:custGeom>
          <a:solidFill>
            <a:srgbClr val="7A91DA"/>
          </a:solidFill>
          <a:ln w="18296">
            <a:solidFill>
              <a:srgbClr val="916A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70488" y="3167023"/>
            <a:ext cx="2703111" cy="1633965"/>
          </a:xfrm>
          <a:prstGeom prst="rect">
            <a:avLst/>
          </a:prstGeom>
          <a:noFill/>
        </p:spPr>
        <p:txBody>
          <a:bodyPr wrap="none" lIns="32473" tIns="32473" rIns="32473" bIns="32473">
            <a:spAutoFit/>
          </a:bodyPr>
          <a:lstStyle/>
          <a:p>
            <a:r>
              <a:rPr sz="800" b="0" i="0" u="none">
                <a:solidFill>
                  <a:srgbClr val="E2BA5B"/>
                </a:solidFill>
                <a:latin typeface="Aptos"/>
              </a:rPr>
              <a:t>Scope</a:t>
            </a:r>
          </a:p>
        </p:txBody>
      </p:sp>
      <p:pic>
        <p:nvPicPr>
          <p:cNvPr id="24" name="Picture 23" descr="_example_image.jpg"/>
          <p:cNvPicPr>
            <a:picLocks noChangeAspect="1"/>
          </p:cNvPicPr>
          <p:nvPr/>
        </p:nvPicPr>
        <p:blipFill>
          <a:blip r:embed="rId2"/>
          <a:srcRect/>
          <a:stretch>
            <a:fillRect/>
          </a:stretch>
        </p:blipFill>
        <p:spPr>
          <a:xfrm>
            <a:off x="592954" y="4057600"/>
            <a:ext cx="1088823" cy="1078188"/>
          </a:xfrm>
          <a:prstGeom prst="rect">
            <a:avLst/>
          </a:prstGeom>
        </p:spPr>
      </p:pic>
      <p:sp>
        <p:nvSpPr>
          <p:cNvPr id="25" name="Rounded Rectangle 24"/>
          <p:cNvSpPr/>
          <p:nvPr/>
        </p:nvSpPr>
        <p:spPr>
          <a:xfrm>
            <a:off x="592954" y="4057600"/>
            <a:ext cx="1088823" cy="1078188"/>
          </a:xfrm>
          <a:prstGeom prst="roundRect">
            <a:avLst/>
          </a:prstGeom>
          <a:noFill/>
          <a:ln w="15240">
            <a:solidFill>
              <a:srgbClr val="A35C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Chart 25"/>
          <p:cNvGraphicFramePr>
            <a:graphicFrameLocks noGrp="1"/>
          </p:cNvGraphicFramePr>
          <p:nvPr/>
        </p:nvGraphicFramePr>
        <p:xfrm>
          <a:off x="4583817" y="5169242"/>
          <a:ext cx="2388567" cy="1541947"/>
        </p:xfrm>
        <a:graphic>
          <a:graphicData uri="http://schemas.openxmlformats.org/drawingml/2006/chart">
            <c:chart xmlns:c="http://schemas.openxmlformats.org/drawingml/2006/chart" xmlns:r="http://schemas.openxmlformats.org/officeDocument/2006/relationships" r:id="rId4"/>
          </a:graphicData>
        </a:graphic>
      </p:graphicFrame>
      <p:sp>
        <p:nvSpPr>
          <p:cNvPr id="27" name="Explosion 26"/>
          <p:cNvSpPr/>
          <p:nvPr/>
        </p:nvSpPr>
        <p:spPr>
          <a:xfrm>
            <a:off x="3615461" y="2597863"/>
            <a:ext cx="435991" cy="1776118"/>
          </a:xfrm>
          <a:prstGeom prst="irregularSeal2">
            <a:avLst/>
          </a:prstGeom>
          <a:solidFill>
            <a:srgbClr val="C31957"/>
          </a:solidFill>
          <a:ln w="15718">
            <a:solidFill>
              <a:srgbClr val="3C7DD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E99222AC-F21C-6397-0C4C-8AAE821BE1C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184188" y="4844132"/>
            <a:ext cx="2160156" cy="784480"/>
          </a:xfrm>
          <a:prstGeom prst="rect">
            <a:avLst/>
          </a:prstGeom>
        </p:spPr>
      </p:pic>
      <p:pic>
        <p:nvPicPr>
          <p:cNvPr id="31" name="Graphic 30">
            <a:extLst>
              <a:ext uri="{FF2B5EF4-FFF2-40B4-BE49-F238E27FC236}">
                <a16:creationId xmlns:a16="http://schemas.microsoft.com/office/drawing/2014/main" id="{E718110B-1AF7-4254-A62D-51BF7AE9E217}"/>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774014" y="2948656"/>
            <a:ext cx="1245762" cy="113668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ad Arrow 1"/>
          <p:cNvSpPr/>
          <p:nvPr/>
        </p:nvSpPr>
        <p:spPr>
          <a:xfrm>
            <a:off x="1760323" y="2162351"/>
            <a:ext cx="1673582" cy="1885813"/>
          </a:xfrm>
          <a:prstGeom prst="quadArrow">
            <a:avLst/>
          </a:prstGeom>
          <a:solidFill>
            <a:srgbClr val="B1E06C"/>
          </a:solidFill>
          <a:ln w="22636">
            <a:solidFill>
              <a:srgbClr val="5661A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90180" y="556164"/>
            <a:ext cx="993214" cy="1389139"/>
          </a:xfrm>
          <a:prstGeom prst="rect">
            <a:avLst/>
          </a:prstGeom>
          <a:noFill/>
        </p:spPr>
        <p:txBody>
          <a:bodyPr wrap="none" lIns="41725" tIns="41725" rIns="41725" bIns="41725">
            <a:spAutoFit/>
          </a:bodyPr>
          <a:lstStyle/>
          <a:p>
            <a:r>
              <a:rPr sz="1200" b="1" i="0" u="none">
                <a:solidFill>
                  <a:srgbClr val="7ECD49"/>
                </a:solidFill>
                <a:latin typeface="Arial"/>
              </a:rPr>
              <a:t>Drive Forecast</a:t>
            </a:r>
          </a:p>
        </p:txBody>
      </p:sp>
      <p:sp>
        <p:nvSpPr>
          <p:cNvPr id="4" name="TextBox 3"/>
          <p:cNvSpPr txBox="1"/>
          <p:nvPr/>
        </p:nvSpPr>
        <p:spPr>
          <a:xfrm>
            <a:off x="5313455" y="1372404"/>
            <a:ext cx="3270264" cy="751260"/>
          </a:xfrm>
          <a:prstGeom prst="rect">
            <a:avLst/>
          </a:prstGeom>
          <a:noFill/>
        </p:spPr>
        <p:txBody>
          <a:bodyPr wrap="none" lIns="21531" tIns="21531" rIns="21531" bIns="21531">
            <a:spAutoFit/>
          </a:bodyPr>
          <a:lstStyle/>
          <a:p>
            <a:r>
              <a:rPr sz="5200" b="1" i="0" u="none">
                <a:solidFill>
                  <a:srgbClr val="363084"/>
                </a:solidFill>
                <a:latin typeface="Calibri"/>
              </a:rPr>
              <a:t>Marker Route</a:t>
            </a:r>
          </a:p>
        </p:txBody>
      </p:sp>
      <p:sp>
        <p:nvSpPr>
          <p:cNvPr id="5" name="Document 4"/>
          <p:cNvSpPr/>
          <p:nvPr/>
        </p:nvSpPr>
        <p:spPr>
          <a:xfrm>
            <a:off x="6882961" y="5071153"/>
            <a:ext cx="1131450" cy="977983"/>
          </a:xfrm>
          <a:prstGeom prst="flowChartDocument">
            <a:avLst/>
          </a:prstGeom>
          <a:noFill/>
          <a:ln w="13049">
            <a:solidFill>
              <a:srgbClr val="9AD5B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89955" y="2849818"/>
            <a:ext cx="599084" cy="1380584"/>
          </a:xfrm>
          <a:prstGeom prst="rect">
            <a:avLst/>
          </a:prstGeom>
          <a:solidFill>
            <a:srgbClr val="265896"/>
          </a:solidFill>
        </p:spPr>
        <p:txBody>
          <a:bodyPr wrap="none" lIns="71045" tIns="71045" rIns="71045" bIns="71045">
            <a:spAutoFit/>
          </a:bodyPr>
          <a:lstStyle/>
          <a:p>
            <a:r>
              <a:rPr sz="3900" b="1" i="0" u="none">
                <a:solidFill>
                  <a:srgbClr val="213CAD"/>
                </a:solidFill>
                <a:latin typeface="Trebuchet MS"/>
              </a:rPr>
              <a:t>Canvas Strategy Register Pulse</a:t>
            </a:r>
          </a:p>
        </p:txBody>
      </p:sp>
      <p:graphicFrame>
        <p:nvGraphicFramePr>
          <p:cNvPr id="7" name="Chart 6"/>
          <p:cNvGraphicFramePr>
            <a:graphicFrameLocks noGrp="1"/>
          </p:cNvGraphicFramePr>
          <p:nvPr/>
        </p:nvGraphicFramePr>
        <p:xfrm>
          <a:off x="764262" y="5048072"/>
          <a:ext cx="3793818" cy="1472035"/>
        </p:xfrm>
        <a:graphic>
          <a:graphicData uri="http://schemas.openxmlformats.org/drawingml/2006/chart">
            <c:chart xmlns:c="http://schemas.openxmlformats.org/drawingml/2006/chart" xmlns:r="http://schemas.openxmlformats.org/officeDocument/2006/relationships" r:id="rId2"/>
          </a:graphicData>
        </a:graphic>
      </p:graphicFrame>
      <p:pic>
        <p:nvPicPr>
          <p:cNvPr id="8" name="Picture 7" descr="_example_image.jpg"/>
          <p:cNvPicPr>
            <a:picLocks noChangeAspect="1"/>
          </p:cNvPicPr>
          <p:nvPr/>
        </p:nvPicPr>
        <p:blipFill>
          <a:blip r:embed="rId3"/>
          <a:srcRect l="3858" t="15125" r="5784" b="9691"/>
          <a:stretch>
            <a:fillRect/>
          </a:stretch>
        </p:blipFill>
        <p:spPr>
          <a:xfrm>
            <a:off x="9587566" y="4197722"/>
            <a:ext cx="1816556" cy="1353598"/>
          </a:xfrm>
          <a:prstGeom prst="rect">
            <a:avLst/>
          </a:prstGeom>
        </p:spPr>
      </p:pic>
      <p:sp>
        <p:nvSpPr>
          <p:cNvPr id="9" name="Freeform 8"/>
          <p:cNvSpPr/>
          <p:nvPr/>
        </p:nvSpPr>
        <p:spPr>
          <a:xfrm>
            <a:off x="3578534" y="291514"/>
            <a:ext cx="2403959" cy="564805"/>
          </a:xfrm>
          <a:custGeom>
            <a:avLst/>
            <a:gdLst/>
            <a:ahLst/>
            <a:cxnLst/>
            <a:rect l="l" t="t" r="r" b="b"/>
            <a:pathLst>
              <a:path w="2403959" h="564805">
                <a:moveTo>
                  <a:pt x="0" y="125512"/>
                </a:moveTo>
                <a:lnTo>
                  <a:pt x="516980" y="0"/>
                </a:lnTo>
                <a:lnTo>
                  <a:pt x="1033961" y="169441"/>
                </a:lnTo>
                <a:lnTo>
                  <a:pt x="1550941" y="18827"/>
                </a:lnTo>
                <a:lnTo>
                  <a:pt x="2403959" y="439293"/>
                </a:lnTo>
                <a:lnTo>
                  <a:pt x="1809432" y="564805"/>
                </a:lnTo>
                <a:lnTo>
                  <a:pt x="1240753" y="376537"/>
                </a:lnTo>
                <a:lnTo>
                  <a:pt x="594528" y="545978"/>
                </a:lnTo>
                <a:close/>
              </a:path>
            </a:pathLst>
          </a:custGeom>
          <a:solidFill>
            <a:srgbClr val="394A8C"/>
          </a:solidFill>
          <a:ln w="17286">
            <a:solidFill>
              <a:srgbClr val="A33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_example_image.jpg"/>
          <p:cNvPicPr>
            <a:picLocks noChangeAspect="1"/>
          </p:cNvPicPr>
          <p:nvPr/>
        </p:nvPicPr>
        <p:blipFill>
          <a:blip r:embed="rId3"/>
          <a:srcRect l="10210" t="13375" r="11827" b="14806"/>
          <a:stretch>
            <a:fillRect/>
          </a:stretch>
        </p:blipFill>
        <p:spPr>
          <a:xfrm>
            <a:off x="2076331" y="871113"/>
            <a:ext cx="1982663" cy="1181948"/>
          </a:xfrm>
          <a:prstGeom prst="rect">
            <a:avLst/>
          </a:prstGeom>
        </p:spPr>
      </p:pic>
      <p:sp>
        <p:nvSpPr>
          <p:cNvPr id="11" name="TextBox 10"/>
          <p:cNvSpPr txBox="1"/>
          <p:nvPr/>
        </p:nvSpPr>
        <p:spPr>
          <a:xfrm>
            <a:off x="3762636" y="2796720"/>
            <a:ext cx="3446366" cy="1923210"/>
          </a:xfrm>
          <a:prstGeom prst="rect">
            <a:avLst/>
          </a:prstGeom>
          <a:noFill/>
        </p:spPr>
        <p:txBody>
          <a:bodyPr wrap="none" lIns="83663" tIns="83663" rIns="83663" bIns="83663">
            <a:spAutoFit/>
          </a:bodyPr>
          <a:lstStyle/>
          <a:p>
            <a:r>
              <a:rPr sz="1500" b="0" i="0" u="none">
                <a:solidFill>
                  <a:srgbClr val="4822E0"/>
                </a:solidFill>
                <a:latin typeface="Arial"/>
              </a:rPr>
              <a:t>Case Scale Action Module Cell Design Profile Iteration Radius Packet Insight Option Kernel Analysis Velocity Node Briefing Group Signal Briefing Transform Feature State Exchange Frequency Benchmark Limit</a:t>
            </a:r>
          </a:p>
        </p:txBody>
      </p:sp>
      <p:sp>
        <p:nvSpPr>
          <p:cNvPr id="12" name="Circular Arrow 11"/>
          <p:cNvSpPr/>
          <p:nvPr/>
        </p:nvSpPr>
        <p:spPr>
          <a:xfrm>
            <a:off x="6458913" y="551432"/>
            <a:ext cx="1784258" cy="483912"/>
          </a:xfrm>
          <a:prstGeom prst="circularArrow">
            <a:avLst/>
          </a:prstGeom>
          <a:solidFill>
            <a:srgbClr val="2ACB72"/>
          </a:solidFill>
          <a:ln w="30629">
            <a:solidFill>
              <a:srgbClr val="946D6B"/>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140523" y="6160913"/>
            <a:ext cx="2417689" cy="262878"/>
          </a:xfrm>
          <a:prstGeom prst="ellipse">
            <a:avLst/>
          </a:prstGeom>
          <a:solidFill>
            <a:srgbClr val="951A7B"/>
          </a:solidFill>
          <a:ln w="17585">
            <a:solidFill>
              <a:srgbClr val="A5349C"/>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2950" y="1102111"/>
            <a:ext cx="1034065" cy="838307"/>
          </a:xfrm>
          <a:prstGeom prst="rect">
            <a:avLst/>
          </a:prstGeom>
          <a:noFill/>
        </p:spPr>
        <p:txBody>
          <a:bodyPr wrap="none" lIns="80975" tIns="80975" rIns="80975" bIns="80975">
            <a:spAutoFit/>
          </a:bodyPr>
          <a:lstStyle/>
          <a:p>
            <a:r>
              <a:rPr sz="3500" b="1" i="0" u="sng">
                <a:solidFill>
                  <a:srgbClr val="7AE3E6"/>
                </a:solidFill>
                <a:latin typeface="Calibri"/>
              </a:rPr>
              <a:t>Packet Proof</a:t>
            </a:r>
          </a:p>
        </p:txBody>
      </p:sp>
      <p:cxnSp>
        <p:nvCxnSpPr>
          <p:cNvPr id="15" name="Connector 14"/>
          <p:cNvCxnSpPr/>
          <p:nvPr/>
        </p:nvCxnSpPr>
        <p:spPr>
          <a:xfrm flipV="1">
            <a:off x="5520598" y="4754776"/>
            <a:ext cx="3065957" cy="407844"/>
          </a:xfrm>
          <a:prstGeom prst="bentConnector3">
            <a:avLst/>
          </a:prstGeom>
          <a:ln w="50120">
            <a:solidFill>
              <a:srgbClr val="235C29"/>
            </a:solidFill>
            <a:prstDash val="dash"/>
          </a:ln>
        </p:spPr>
        <p:style>
          <a:lnRef idx="2">
            <a:schemeClr val="accent1"/>
          </a:lnRef>
          <a:fillRef idx="0">
            <a:schemeClr val="accent1"/>
          </a:fillRef>
          <a:effectRef idx="1">
            <a:schemeClr val="accent1"/>
          </a:effectRef>
          <a:fontRef idx="minor">
            <a:schemeClr val="tx1"/>
          </a:fontRef>
        </p:style>
      </p:cxnSp>
      <p:sp>
        <p:nvSpPr>
          <p:cNvPr id="16" name="Gear 6 15"/>
          <p:cNvSpPr/>
          <p:nvPr/>
        </p:nvSpPr>
        <p:spPr>
          <a:xfrm>
            <a:off x="385290" y="4560888"/>
            <a:ext cx="2498433" cy="813742"/>
          </a:xfrm>
          <a:prstGeom prst="gear6">
            <a:avLst/>
          </a:prstGeom>
          <a:solidFill>
            <a:srgbClr val="309EB6"/>
          </a:solidFill>
          <a:ln w="16965">
            <a:solidFill>
              <a:srgbClr val="1D2E8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729008" y="2679205"/>
            <a:ext cx="884640" cy="923524"/>
          </a:xfrm>
          <a:custGeom>
            <a:avLst/>
            <a:gdLst/>
            <a:ahLst/>
            <a:cxnLst/>
            <a:rect l="l" t="t" r="r" b="b"/>
            <a:pathLst>
              <a:path w="884640" h="923524">
                <a:moveTo>
                  <a:pt x="0" y="205227"/>
                </a:moveTo>
                <a:lnTo>
                  <a:pt x="190245" y="0"/>
                </a:lnTo>
                <a:lnTo>
                  <a:pt x="380491" y="277057"/>
                </a:lnTo>
                <a:lnTo>
                  <a:pt x="570736" y="30784"/>
                </a:lnTo>
                <a:lnTo>
                  <a:pt x="884640" y="718296"/>
                </a:lnTo>
                <a:lnTo>
                  <a:pt x="665858" y="923524"/>
                </a:lnTo>
                <a:lnTo>
                  <a:pt x="456589" y="615682"/>
                </a:lnTo>
                <a:lnTo>
                  <a:pt x="218782" y="892740"/>
                </a:lnTo>
                <a:close/>
              </a:path>
            </a:pathLst>
          </a:custGeom>
          <a:solidFill>
            <a:srgbClr val="B34E23"/>
          </a:solidFill>
          <a:ln w="10195">
            <a:solidFill>
              <a:srgbClr val="9679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4-Point Star 17"/>
          <p:cNvSpPr/>
          <p:nvPr/>
        </p:nvSpPr>
        <p:spPr>
          <a:xfrm>
            <a:off x="8709150" y="1571457"/>
            <a:ext cx="1069725" cy="1558415"/>
          </a:xfrm>
          <a:prstGeom prst="star4">
            <a:avLst/>
          </a:prstGeom>
          <a:solidFill>
            <a:srgbClr val="AAB04B"/>
          </a:solidFill>
          <a:ln w="9849">
            <a:solidFill>
              <a:srgbClr val="D2B888"/>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flipV="1">
            <a:off x="5106102" y="5847580"/>
            <a:ext cx="812584" cy="749484"/>
          </a:xfrm>
          <a:prstGeom prst="line">
            <a:avLst/>
          </a:prstGeom>
          <a:ln w="17679">
            <a:solidFill>
              <a:srgbClr val="E16958"/>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20" name="Table 19"/>
          <p:cNvGraphicFramePr>
            <a:graphicFrameLocks noGrp="1"/>
          </p:cNvGraphicFramePr>
          <p:nvPr/>
        </p:nvGraphicFramePr>
        <p:xfrm>
          <a:off x="8465732" y="806876"/>
          <a:ext cx="2060047" cy="1026645"/>
        </p:xfrm>
        <a:graphic>
          <a:graphicData uri="http://schemas.openxmlformats.org/drawingml/2006/table">
            <a:tbl>
              <a:tblPr firstRow="1" bandRow="1">
                <a:tableStyleId>{5C22544A-7EE6-4342-B048-85BDC9FD1C3A}</a:tableStyleId>
              </a:tblPr>
              <a:tblGrid>
                <a:gridCol w="343341">
                  <a:extLst>
                    <a:ext uri="{9D8B030D-6E8A-4147-A177-3AD203B41FA5}">
                      <a16:colId xmlns:a16="http://schemas.microsoft.com/office/drawing/2014/main" val="20000"/>
                    </a:ext>
                  </a:extLst>
                </a:gridCol>
                <a:gridCol w="343341">
                  <a:extLst>
                    <a:ext uri="{9D8B030D-6E8A-4147-A177-3AD203B41FA5}">
                      <a16:colId xmlns:a16="http://schemas.microsoft.com/office/drawing/2014/main" val="20001"/>
                    </a:ext>
                  </a:extLst>
                </a:gridCol>
                <a:gridCol w="343341">
                  <a:extLst>
                    <a:ext uri="{9D8B030D-6E8A-4147-A177-3AD203B41FA5}">
                      <a16:colId xmlns:a16="http://schemas.microsoft.com/office/drawing/2014/main" val="20002"/>
                    </a:ext>
                  </a:extLst>
                </a:gridCol>
                <a:gridCol w="343341">
                  <a:extLst>
                    <a:ext uri="{9D8B030D-6E8A-4147-A177-3AD203B41FA5}">
                      <a16:colId xmlns:a16="http://schemas.microsoft.com/office/drawing/2014/main" val="20003"/>
                    </a:ext>
                  </a:extLst>
                </a:gridCol>
                <a:gridCol w="343341">
                  <a:extLst>
                    <a:ext uri="{9D8B030D-6E8A-4147-A177-3AD203B41FA5}">
                      <a16:colId xmlns:a16="http://schemas.microsoft.com/office/drawing/2014/main" val="20004"/>
                    </a:ext>
                  </a:extLst>
                </a:gridCol>
                <a:gridCol w="343342">
                  <a:extLst>
                    <a:ext uri="{9D8B030D-6E8A-4147-A177-3AD203B41FA5}">
                      <a16:colId xmlns:a16="http://schemas.microsoft.com/office/drawing/2014/main" val="20005"/>
                    </a:ext>
                  </a:extLst>
                </a:gridCol>
              </a:tblGrid>
              <a:tr h="205329">
                <a:tc>
                  <a:txBody>
                    <a:bodyPr/>
                    <a:lstStyle/>
                    <a:p>
                      <a:r>
                        <a:rPr sz="1300" b="0">
                          <a:solidFill>
                            <a:srgbClr val="BB2B33"/>
                          </a:solidFill>
                        </a:rPr>
                        <a:t>Frequency</a:t>
                      </a:r>
                    </a:p>
                  </a:txBody>
                  <a:tcPr>
                    <a:solidFill>
                      <a:srgbClr val="E4F9E5"/>
                    </a:solidFill>
                  </a:tcPr>
                </a:tc>
                <a:tc>
                  <a:txBody>
                    <a:bodyPr/>
                    <a:lstStyle/>
                    <a:p>
                      <a:r>
                        <a:rPr sz="1300" b="0">
                          <a:solidFill>
                            <a:srgbClr val="BB2B33"/>
                          </a:solidFill>
                        </a:rPr>
                        <a:t>Heading</a:t>
                      </a:r>
                    </a:p>
                  </a:txBody>
                  <a:tcPr>
                    <a:solidFill>
                      <a:srgbClr val="D3F5D3"/>
                    </a:solidFill>
                  </a:tcPr>
                </a:tc>
                <a:tc>
                  <a:txBody>
                    <a:bodyPr/>
                    <a:lstStyle/>
                    <a:p>
                      <a:r>
                        <a:rPr sz="1300" b="0">
                          <a:solidFill>
                            <a:srgbClr val="BB2B33"/>
                          </a:solidFill>
                        </a:rPr>
                        <a:t>Cycle Deck</a:t>
                      </a:r>
                    </a:p>
                  </a:txBody>
                  <a:tcPr>
                    <a:solidFill>
                      <a:srgbClr val="E4F9E5"/>
                    </a:solidFill>
                  </a:tcPr>
                </a:tc>
                <a:tc>
                  <a:txBody>
                    <a:bodyPr/>
                    <a:lstStyle/>
                    <a:p>
                      <a:r>
                        <a:rPr sz="1300" b="0">
                          <a:solidFill>
                            <a:srgbClr val="BB2B33"/>
                          </a:solidFill>
                        </a:rPr>
                        <a:t>Dispatch</a:t>
                      </a:r>
                    </a:p>
                  </a:txBody>
                  <a:tcPr>
                    <a:solidFill>
                      <a:srgbClr val="D3F5D3"/>
                    </a:solidFill>
                  </a:tcPr>
                </a:tc>
                <a:tc>
                  <a:txBody>
                    <a:bodyPr/>
                    <a:lstStyle/>
                    <a:p>
                      <a:r>
                        <a:rPr sz="1300" b="0">
                          <a:solidFill>
                            <a:srgbClr val="BB2B33"/>
                          </a:solidFill>
                        </a:rPr>
                        <a:t>Trace Pipeline</a:t>
                      </a:r>
                    </a:p>
                  </a:txBody>
                  <a:tcPr>
                    <a:solidFill>
                      <a:srgbClr val="E4F9E5"/>
                    </a:solidFill>
                  </a:tcPr>
                </a:tc>
                <a:tc>
                  <a:txBody>
                    <a:bodyPr/>
                    <a:lstStyle/>
                    <a:p>
                      <a:r>
                        <a:rPr sz="1300" b="0">
                          <a:solidFill>
                            <a:srgbClr val="BB2B33"/>
                          </a:solidFill>
                        </a:rPr>
                        <a:t>Terminal</a:t>
                      </a:r>
                    </a:p>
                  </a:txBody>
                  <a:tcPr>
                    <a:solidFill>
                      <a:srgbClr val="D3F5D3"/>
                    </a:solidFill>
                  </a:tcPr>
                </a:tc>
                <a:extLst>
                  <a:ext uri="{0D108BD9-81ED-4DB2-BD59-A6C34878D82A}">
                    <a16:rowId xmlns:a16="http://schemas.microsoft.com/office/drawing/2014/main" val="10000"/>
                  </a:ext>
                </a:extLst>
              </a:tr>
              <a:tr h="205329">
                <a:tc>
                  <a:txBody>
                    <a:bodyPr/>
                    <a:lstStyle/>
                    <a:p>
                      <a:r>
                        <a:rPr sz="1300" b="0">
                          <a:solidFill>
                            <a:srgbClr val="BB2B33"/>
                          </a:solidFill>
                        </a:rPr>
                        <a:t>Memory</a:t>
                      </a:r>
                    </a:p>
                  </a:txBody>
                  <a:tcPr>
                    <a:solidFill>
                      <a:srgbClr val="D3F5D3"/>
                    </a:solidFill>
                  </a:tcPr>
                </a:tc>
                <a:tc>
                  <a:txBody>
                    <a:bodyPr/>
                    <a:lstStyle/>
                    <a:p>
                      <a:r>
                        <a:rPr sz="1300" b="0">
                          <a:solidFill>
                            <a:srgbClr val="BB2B33"/>
                          </a:solidFill>
                        </a:rPr>
                        <a:t>Grid</a:t>
                      </a:r>
                    </a:p>
                  </a:txBody>
                  <a:tcPr>
                    <a:solidFill>
                      <a:srgbClr val="D3F5D3"/>
                    </a:solidFill>
                  </a:tcPr>
                </a:tc>
                <a:tc>
                  <a:txBody>
                    <a:bodyPr/>
                    <a:lstStyle/>
                    <a:p>
                      <a:r>
                        <a:rPr sz="1300" b="0">
                          <a:solidFill>
                            <a:srgbClr val="BB2B33"/>
                          </a:solidFill>
                        </a:rPr>
                        <a:t>Drive Trace</a:t>
                      </a:r>
                    </a:p>
                  </a:txBody>
                  <a:tcPr>
                    <a:solidFill>
                      <a:srgbClr val="D3F5D3"/>
                    </a:solidFill>
                  </a:tcPr>
                </a:tc>
                <a:tc>
                  <a:txBody>
                    <a:bodyPr/>
                    <a:lstStyle/>
                    <a:p>
                      <a:r>
                        <a:rPr sz="1300" b="0">
                          <a:solidFill>
                            <a:srgbClr val="BB2B33"/>
                          </a:solidFill>
                        </a:rPr>
                        <a:t>Loop</a:t>
                      </a:r>
                    </a:p>
                  </a:txBody>
                  <a:tcPr>
                    <a:solidFill>
                      <a:srgbClr val="D3F5D3"/>
                    </a:solidFill>
                  </a:tcPr>
                </a:tc>
                <a:tc>
                  <a:txBody>
                    <a:bodyPr/>
                    <a:lstStyle/>
                    <a:p>
                      <a:r>
                        <a:rPr sz="1300" b="0">
                          <a:solidFill>
                            <a:srgbClr val="BB2B33"/>
                          </a:solidFill>
                        </a:rPr>
                        <a:t>Review Capacity</a:t>
                      </a:r>
                    </a:p>
                  </a:txBody>
                  <a:tcPr>
                    <a:solidFill>
                      <a:srgbClr val="D3F5D3"/>
                    </a:solidFill>
                  </a:tcPr>
                </a:tc>
                <a:tc>
                  <a:txBody>
                    <a:bodyPr/>
                    <a:lstStyle/>
                    <a:p>
                      <a:r>
                        <a:rPr sz="1300" b="0">
                          <a:solidFill>
                            <a:srgbClr val="BB2B33"/>
                          </a:solidFill>
                        </a:rPr>
                        <a:t>Trigger Element</a:t>
                      </a:r>
                    </a:p>
                  </a:txBody>
                  <a:tcPr>
                    <a:solidFill>
                      <a:srgbClr val="D3F5D3"/>
                    </a:solidFill>
                  </a:tcPr>
                </a:tc>
                <a:extLst>
                  <a:ext uri="{0D108BD9-81ED-4DB2-BD59-A6C34878D82A}">
                    <a16:rowId xmlns:a16="http://schemas.microsoft.com/office/drawing/2014/main" val="10001"/>
                  </a:ext>
                </a:extLst>
              </a:tr>
              <a:tr h="205329">
                <a:tc>
                  <a:txBody>
                    <a:bodyPr/>
                    <a:lstStyle/>
                    <a:p>
                      <a:r>
                        <a:rPr sz="1300" b="0">
                          <a:solidFill>
                            <a:srgbClr val="BB2B33"/>
                          </a:solidFill>
                        </a:rPr>
                        <a:t>Topology Mode</a:t>
                      </a:r>
                    </a:p>
                  </a:txBody>
                  <a:tcPr>
                    <a:solidFill>
                      <a:srgbClr val="E4F9E5"/>
                    </a:solidFill>
                  </a:tcPr>
                </a:tc>
                <a:tc>
                  <a:txBody>
                    <a:bodyPr/>
                    <a:lstStyle/>
                    <a:p>
                      <a:r>
                        <a:rPr sz="1300" b="0">
                          <a:solidFill>
                            <a:srgbClr val="BB2B33"/>
                          </a:solidFill>
                        </a:rPr>
                        <a:t>Capacity</a:t>
                      </a:r>
                    </a:p>
                  </a:txBody>
                  <a:tcPr>
                    <a:solidFill>
                      <a:srgbClr val="D3F5D3"/>
                    </a:solidFill>
                  </a:tcPr>
                </a:tc>
                <a:tc>
                  <a:txBody>
                    <a:bodyPr/>
                    <a:lstStyle/>
                    <a:p>
                      <a:r>
                        <a:rPr sz="1300" b="0">
                          <a:solidFill>
                            <a:srgbClr val="BB2B33"/>
                          </a:solidFill>
                        </a:rPr>
                        <a:t>Marker</a:t>
                      </a:r>
                    </a:p>
                  </a:txBody>
                  <a:tcPr>
                    <a:solidFill>
                      <a:srgbClr val="E4F9E5"/>
                    </a:solidFill>
                  </a:tcPr>
                </a:tc>
                <a:tc>
                  <a:txBody>
                    <a:bodyPr/>
                    <a:lstStyle/>
                    <a:p>
                      <a:r>
                        <a:rPr sz="1300" b="0">
                          <a:solidFill>
                            <a:srgbClr val="BB2B33"/>
                          </a:solidFill>
                        </a:rPr>
                        <a:t>Payload</a:t>
                      </a:r>
                    </a:p>
                  </a:txBody>
                  <a:tcPr>
                    <a:solidFill>
                      <a:srgbClr val="D3F5D3"/>
                    </a:solidFill>
                  </a:tcPr>
                </a:tc>
                <a:tc>
                  <a:txBody>
                    <a:bodyPr/>
                    <a:lstStyle/>
                    <a:p>
                      <a:r>
                        <a:rPr sz="1300" b="0">
                          <a:solidFill>
                            <a:srgbClr val="BB2B33"/>
                          </a:solidFill>
                        </a:rPr>
                        <a:t>Tile Interface</a:t>
                      </a:r>
                    </a:p>
                  </a:txBody>
                  <a:tcPr>
                    <a:solidFill>
                      <a:srgbClr val="E4F9E5"/>
                    </a:solidFill>
                  </a:tcPr>
                </a:tc>
                <a:tc>
                  <a:txBody>
                    <a:bodyPr/>
                    <a:lstStyle/>
                    <a:p>
                      <a:r>
                        <a:rPr sz="1300" b="0">
                          <a:solidFill>
                            <a:srgbClr val="BB2B33"/>
                          </a:solidFill>
                        </a:rPr>
                        <a:t>Timeline Gradient</a:t>
                      </a:r>
                    </a:p>
                  </a:txBody>
                  <a:tcPr>
                    <a:solidFill>
                      <a:srgbClr val="D3F5D3"/>
                    </a:solidFill>
                  </a:tcPr>
                </a:tc>
                <a:extLst>
                  <a:ext uri="{0D108BD9-81ED-4DB2-BD59-A6C34878D82A}">
                    <a16:rowId xmlns:a16="http://schemas.microsoft.com/office/drawing/2014/main" val="10002"/>
                  </a:ext>
                </a:extLst>
              </a:tr>
              <a:tr h="205329">
                <a:tc>
                  <a:txBody>
                    <a:bodyPr/>
                    <a:lstStyle/>
                    <a:p>
                      <a:r>
                        <a:rPr sz="1300" b="0">
                          <a:solidFill>
                            <a:srgbClr val="BB2B33"/>
                          </a:solidFill>
                        </a:rPr>
                        <a:t>Function</a:t>
                      </a:r>
                    </a:p>
                  </a:txBody>
                  <a:tcPr>
                    <a:solidFill>
                      <a:srgbClr val="D3F5D3"/>
                    </a:solidFill>
                  </a:tcPr>
                </a:tc>
                <a:tc>
                  <a:txBody>
                    <a:bodyPr/>
                    <a:lstStyle/>
                    <a:p>
                      <a:r>
                        <a:rPr sz="1300" b="0">
                          <a:solidFill>
                            <a:srgbClr val="BB2B33"/>
                          </a:solidFill>
                        </a:rPr>
                        <a:t>Coverage Cell</a:t>
                      </a:r>
                    </a:p>
                  </a:txBody>
                  <a:tcPr>
                    <a:solidFill>
                      <a:srgbClr val="D3F5D3"/>
                    </a:solidFill>
                  </a:tcPr>
                </a:tc>
                <a:tc>
                  <a:txBody>
                    <a:bodyPr/>
                    <a:lstStyle/>
                    <a:p>
                      <a:r>
                        <a:rPr sz="1300" b="0">
                          <a:solidFill>
                            <a:srgbClr val="BB2B33"/>
                          </a:solidFill>
                        </a:rPr>
                        <a:t>Clarity</a:t>
                      </a:r>
                    </a:p>
                  </a:txBody>
                  <a:tcPr>
                    <a:solidFill>
                      <a:srgbClr val="D3F5D3"/>
                    </a:solidFill>
                  </a:tcPr>
                </a:tc>
                <a:tc>
                  <a:txBody>
                    <a:bodyPr/>
                    <a:lstStyle/>
                    <a:p>
                      <a:r>
                        <a:rPr sz="1300" b="0">
                          <a:solidFill>
                            <a:srgbClr val="BB2B33"/>
                          </a:solidFill>
                        </a:rPr>
                        <a:t>Engine Stream</a:t>
                      </a:r>
                    </a:p>
                  </a:txBody>
                  <a:tcPr>
                    <a:solidFill>
                      <a:srgbClr val="D3F5D3"/>
                    </a:solidFill>
                  </a:tcPr>
                </a:tc>
                <a:tc>
                  <a:txBody>
                    <a:bodyPr/>
                    <a:lstStyle/>
                    <a:p>
                      <a:r>
                        <a:rPr sz="1300" b="0">
                          <a:solidFill>
                            <a:srgbClr val="BB2B33"/>
                          </a:solidFill>
                        </a:rPr>
                        <a:t>Beta Craft</a:t>
                      </a:r>
                    </a:p>
                  </a:txBody>
                  <a:tcPr>
                    <a:solidFill>
                      <a:srgbClr val="D3F5D3"/>
                    </a:solidFill>
                  </a:tcPr>
                </a:tc>
                <a:tc>
                  <a:txBody>
                    <a:bodyPr/>
                    <a:lstStyle/>
                    <a:p>
                      <a:r>
                        <a:rPr sz="1300" b="0">
                          <a:solidFill>
                            <a:srgbClr val="BB2B33"/>
                          </a:solidFill>
                        </a:rPr>
                        <a:t>Gateway Mesh</a:t>
                      </a:r>
                    </a:p>
                  </a:txBody>
                  <a:tcPr>
                    <a:solidFill>
                      <a:srgbClr val="D3F5D3"/>
                    </a:solidFill>
                  </a:tcPr>
                </a:tc>
                <a:extLst>
                  <a:ext uri="{0D108BD9-81ED-4DB2-BD59-A6C34878D82A}">
                    <a16:rowId xmlns:a16="http://schemas.microsoft.com/office/drawing/2014/main" val="10003"/>
                  </a:ext>
                </a:extLst>
              </a:tr>
              <a:tr h="205329">
                <a:tc>
                  <a:txBody>
                    <a:bodyPr/>
                    <a:lstStyle/>
                    <a:p>
                      <a:r>
                        <a:rPr sz="1300" b="0">
                          <a:solidFill>
                            <a:srgbClr val="BB2B33"/>
                          </a:solidFill>
                        </a:rPr>
                        <a:t>Coverage Pulse</a:t>
                      </a:r>
                    </a:p>
                  </a:txBody>
                  <a:tcPr>
                    <a:solidFill>
                      <a:srgbClr val="E4F9E5"/>
                    </a:solidFill>
                  </a:tcPr>
                </a:tc>
                <a:tc>
                  <a:txBody>
                    <a:bodyPr/>
                    <a:lstStyle/>
                    <a:p>
                      <a:r>
                        <a:rPr sz="1300" b="0">
                          <a:solidFill>
                            <a:srgbClr val="BB2B33"/>
                          </a:solidFill>
                        </a:rPr>
                        <a:t>Sample</a:t>
                      </a:r>
                    </a:p>
                  </a:txBody>
                  <a:tcPr>
                    <a:solidFill>
                      <a:srgbClr val="D3F5D3"/>
                    </a:solidFill>
                  </a:tcPr>
                </a:tc>
                <a:tc>
                  <a:txBody>
                    <a:bodyPr/>
                    <a:lstStyle/>
                    <a:p>
                      <a:r>
                        <a:rPr sz="1300" b="0">
                          <a:solidFill>
                            <a:srgbClr val="BB2B33"/>
                          </a:solidFill>
                        </a:rPr>
                        <a:t>Signal</a:t>
                      </a:r>
                    </a:p>
                  </a:txBody>
                  <a:tcPr>
                    <a:solidFill>
                      <a:srgbClr val="E4F9E5"/>
                    </a:solidFill>
                  </a:tcPr>
                </a:tc>
                <a:tc>
                  <a:txBody>
                    <a:bodyPr/>
                    <a:lstStyle/>
                    <a:p>
                      <a:r>
                        <a:rPr sz="1300" b="0">
                          <a:solidFill>
                            <a:srgbClr val="BB2B33"/>
                          </a:solidFill>
                        </a:rPr>
                        <a:t>Region</a:t>
                      </a:r>
                    </a:p>
                  </a:txBody>
                  <a:tcPr>
                    <a:solidFill>
                      <a:srgbClr val="D3F5D3"/>
                    </a:solidFill>
                  </a:tcPr>
                </a:tc>
                <a:tc>
                  <a:txBody>
                    <a:bodyPr/>
                    <a:lstStyle/>
                    <a:p>
                      <a:r>
                        <a:rPr sz="1300" b="0">
                          <a:solidFill>
                            <a:srgbClr val="BB2B33"/>
                          </a:solidFill>
                        </a:rPr>
                        <a:t>Group Context</a:t>
                      </a:r>
                    </a:p>
                  </a:txBody>
                  <a:tcPr>
                    <a:solidFill>
                      <a:srgbClr val="E4F9E5"/>
                    </a:solidFill>
                  </a:tcPr>
                </a:tc>
                <a:tc>
                  <a:txBody>
                    <a:bodyPr/>
                    <a:lstStyle/>
                    <a:p>
                      <a:r>
                        <a:rPr sz="1300" b="0">
                          <a:solidFill>
                            <a:srgbClr val="BB2B33"/>
                          </a:solidFill>
                        </a:rPr>
                        <a:t>Plan</a:t>
                      </a:r>
                    </a:p>
                  </a:txBody>
                  <a:tcPr>
                    <a:solidFill>
                      <a:srgbClr val="D3F5D3"/>
                    </a:solidFill>
                  </a:tcPr>
                </a:tc>
                <a:extLst>
                  <a:ext uri="{0D108BD9-81ED-4DB2-BD59-A6C34878D82A}">
                    <a16:rowId xmlns:a16="http://schemas.microsoft.com/office/drawing/2014/main" val="10004"/>
                  </a:ext>
                </a:extLst>
              </a:tr>
            </a:tbl>
          </a:graphicData>
        </a:graphic>
      </p:graphicFrame>
      <p:sp>
        <p:nvSpPr>
          <p:cNvPr id="21" name="Trapezoid 20"/>
          <p:cNvSpPr/>
          <p:nvPr/>
        </p:nvSpPr>
        <p:spPr>
          <a:xfrm>
            <a:off x="4775440" y="850708"/>
            <a:ext cx="477457" cy="767173"/>
          </a:xfrm>
          <a:prstGeom prst="trapezoid">
            <a:avLst/>
          </a:prstGeom>
          <a:solidFill>
            <a:srgbClr val="4835C8"/>
          </a:solidFill>
          <a:ln w="24516">
            <a:solidFill>
              <a:srgbClr val="C7834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_example_image.jpg"/>
          <p:cNvPicPr>
            <a:picLocks noChangeAspect="1"/>
          </p:cNvPicPr>
          <p:nvPr/>
        </p:nvPicPr>
        <p:blipFill>
          <a:blip r:embed="rId3"/>
          <a:srcRect/>
          <a:stretch>
            <a:fillRect/>
          </a:stretch>
        </p:blipFill>
        <p:spPr>
          <a:xfrm>
            <a:off x="9890371" y="2246827"/>
            <a:ext cx="1419180" cy="1601861"/>
          </a:xfrm>
          <a:prstGeom prst="rect">
            <a:avLst/>
          </a:prstGeom>
        </p:spPr>
      </p:pic>
      <p:graphicFrame>
        <p:nvGraphicFramePr>
          <p:cNvPr id="23" name="Table 22"/>
          <p:cNvGraphicFramePr>
            <a:graphicFrameLocks noGrp="1"/>
          </p:cNvGraphicFramePr>
          <p:nvPr/>
        </p:nvGraphicFramePr>
        <p:xfrm>
          <a:off x="7209784" y="3017027"/>
          <a:ext cx="2190435" cy="1601443"/>
        </p:xfrm>
        <a:graphic>
          <a:graphicData uri="http://schemas.openxmlformats.org/drawingml/2006/table">
            <a:tbl>
              <a:tblPr firstRow="1" bandRow="1">
                <a:tableStyleId>{5C22544A-7EE6-4342-B048-85BDC9FD1C3A}</a:tableStyleId>
              </a:tblPr>
              <a:tblGrid>
                <a:gridCol w="547608">
                  <a:extLst>
                    <a:ext uri="{9D8B030D-6E8A-4147-A177-3AD203B41FA5}">
                      <a16:colId xmlns:a16="http://schemas.microsoft.com/office/drawing/2014/main" val="20000"/>
                    </a:ext>
                  </a:extLst>
                </a:gridCol>
                <a:gridCol w="547608">
                  <a:extLst>
                    <a:ext uri="{9D8B030D-6E8A-4147-A177-3AD203B41FA5}">
                      <a16:colId xmlns:a16="http://schemas.microsoft.com/office/drawing/2014/main" val="20001"/>
                    </a:ext>
                  </a:extLst>
                </a:gridCol>
                <a:gridCol w="547608">
                  <a:extLst>
                    <a:ext uri="{9D8B030D-6E8A-4147-A177-3AD203B41FA5}">
                      <a16:colId xmlns:a16="http://schemas.microsoft.com/office/drawing/2014/main" val="20002"/>
                    </a:ext>
                  </a:extLst>
                </a:gridCol>
                <a:gridCol w="547611">
                  <a:extLst>
                    <a:ext uri="{9D8B030D-6E8A-4147-A177-3AD203B41FA5}">
                      <a16:colId xmlns:a16="http://schemas.microsoft.com/office/drawing/2014/main" val="20003"/>
                    </a:ext>
                  </a:extLst>
                </a:gridCol>
              </a:tblGrid>
              <a:tr h="228777">
                <a:tc>
                  <a:txBody>
                    <a:bodyPr/>
                    <a:lstStyle/>
                    <a:p>
                      <a:r>
                        <a:rPr sz="1100" b="1">
                          <a:solidFill>
                            <a:srgbClr val="B98240"/>
                          </a:solidFill>
                        </a:rPr>
                        <a:t>Phase</a:t>
                      </a:r>
                    </a:p>
                  </a:txBody>
                  <a:tcPr>
                    <a:solidFill>
                      <a:srgbClr val="781D3F"/>
                    </a:solidFill>
                  </a:tcPr>
                </a:tc>
                <a:tc>
                  <a:txBody>
                    <a:bodyPr/>
                    <a:lstStyle/>
                    <a:p>
                      <a:r>
                        <a:rPr sz="1100" b="1">
                          <a:solidFill>
                            <a:srgbClr val="B98240"/>
                          </a:solidFill>
                        </a:rPr>
                        <a:t>Cadence Journey</a:t>
                      </a:r>
                    </a:p>
                  </a:txBody>
                  <a:tcPr>
                    <a:solidFill>
                      <a:srgbClr val="781D3F"/>
                    </a:solidFill>
                  </a:tcPr>
                </a:tc>
                <a:tc>
                  <a:txBody>
                    <a:bodyPr/>
                    <a:lstStyle/>
                    <a:p>
                      <a:r>
                        <a:rPr sz="1100" b="1">
                          <a:solidFill>
                            <a:srgbClr val="B98240"/>
                          </a:solidFill>
                        </a:rPr>
                        <a:t>Transform</a:t>
                      </a:r>
                    </a:p>
                  </a:txBody>
                  <a:tcPr>
                    <a:solidFill>
                      <a:srgbClr val="781D3F"/>
                    </a:solidFill>
                  </a:tcPr>
                </a:tc>
                <a:tc>
                  <a:txBody>
                    <a:bodyPr/>
                    <a:lstStyle/>
                    <a:p>
                      <a:r>
                        <a:rPr sz="1100" b="1">
                          <a:solidFill>
                            <a:srgbClr val="B98240"/>
                          </a:solidFill>
                        </a:rPr>
                        <a:t>Flow</a:t>
                      </a:r>
                    </a:p>
                  </a:txBody>
                  <a:tcPr>
                    <a:solidFill>
                      <a:srgbClr val="781D3F"/>
                    </a:solidFill>
                  </a:tcPr>
                </a:tc>
                <a:extLst>
                  <a:ext uri="{0D108BD9-81ED-4DB2-BD59-A6C34878D82A}">
                    <a16:rowId xmlns:a16="http://schemas.microsoft.com/office/drawing/2014/main" val="10000"/>
                  </a:ext>
                </a:extLst>
              </a:tr>
              <a:tr h="228777">
                <a:tc>
                  <a:txBody>
                    <a:bodyPr/>
                    <a:lstStyle/>
                    <a:p>
                      <a:r>
                        <a:rPr sz="1100" b="0">
                          <a:solidFill>
                            <a:srgbClr val="B98240"/>
                          </a:solidFill>
                        </a:rPr>
                        <a:t>Variant</a:t>
                      </a:r>
                    </a:p>
                  </a:txBody>
                  <a:tcPr>
                    <a:solidFill>
                      <a:srgbClr val="BAE0E8"/>
                    </a:solidFill>
                  </a:tcPr>
                </a:tc>
                <a:tc>
                  <a:txBody>
                    <a:bodyPr/>
                    <a:lstStyle/>
                    <a:p>
                      <a:r>
                        <a:rPr sz="1100" b="0">
                          <a:solidFill>
                            <a:srgbClr val="B98240"/>
                          </a:solidFill>
                        </a:rPr>
                        <a:t>Waypoint</a:t>
                      </a:r>
                    </a:p>
                  </a:txBody>
                  <a:tcPr>
                    <a:solidFill>
                      <a:srgbClr val="BAE0E8"/>
                    </a:solidFill>
                  </a:tcPr>
                </a:tc>
                <a:tc>
                  <a:txBody>
                    <a:bodyPr/>
                    <a:lstStyle/>
                    <a:p>
                      <a:r>
                        <a:rPr sz="1100" b="0">
                          <a:solidFill>
                            <a:srgbClr val="B98240"/>
                          </a:solidFill>
                        </a:rPr>
                        <a:t>Source</a:t>
                      </a:r>
                    </a:p>
                  </a:txBody>
                  <a:tcPr>
                    <a:solidFill>
                      <a:srgbClr val="BAE0E8"/>
                    </a:solidFill>
                  </a:tcPr>
                </a:tc>
                <a:tc>
                  <a:txBody>
                    <a:bodyPr/>
                    <a:lstStyle/>
                    <a:p>
                      <a:r>
                        <a:rPr sz="1100" b="0">
                          <a:solidFill>
                            <a:srgbClr val="B98240"/>
                          </a:solidFill>
                        </a:rPr>
                        <a:t>Blueprint</a:t>
                      </a:r>
                    </a:p>
                  </a:txBody>
                  <a:tcPr>
                    <a:solidFill>
                      <a:srgbClr val="BAE0E8"/>
                    </a:solidFill>
                  </a:tcPr>
                </a:tc>
                <a:extLst>
                  <a:ext uri="{0D108BD9-81ED-4DB2-BD59-A6C34878D82A}">
                    <a16:rowId xmlns:a16="http://schemas.microsoft.com/office/drawing/2014/main" val="10001"/>
                  </a:ext>
                </a:extLst>
              </a:tr>
              <a:tr h="228777">
                <a:tc>
                  <a:txBody>
                    <a:bodyPr/>
                    <a:lstStyle/>
                    <a:p>
                      <a:r>
                        <a:rPr sz="1100" b="0">
                          <a:solidFill>
                            <a:srgbClr val="B98240"/>
                          </a:solidFill>
                        </a:rPr>
                        <a:t>Engine Result</a:t>
                      </a:r>
                    </a:p>
                  </a:txBody>
                  <a:tcPr>
                    <a:solidFill>
                      <a:srgbClr val="E6F3F6"/>
                    </a:solidFill>
                  </a:tcPr>
                </a:tc>
                <a:tc>
                  <a:txBody>
                    <a:bodyPr/>
                    <a:lstStyle/>
                    <a:p>
                      <a:r>
                        <a:rPr sz="1100" b="0">
                          <a:solidFill>
                            <a:srgbClr val="B98240"/>
                          </a:solidFill>
                        </a:rPr>
                        <a:t>Alignment</a:t>
                      </a:r>
                    </a:p>
                  </a:txBody>
                  <a:tcPr>
                    <a:solidFill>
                      <a:srgbClr val="E6F3F6"/>
                    </a:solidFill>
                  </a:tcPr>
                </a:tc>
                <a:tc>
                  <a:txBody>
                    <a:bodyPr/>
                    <a:lstStyle/>
                    <a:p>
                      <a:r>
                        <a:rPr sz="1100" b="0">
                          <a:solidFill>
                            <a:srgbClr val="B98240"/>
                          </a:solidFill>
                        </a:rPr>
                        <a:t>Cell Briefing</a:t>
                      </a:r>
                    </a:p>
                  </a:txBody>
                  <a:tcPr>
                    <a:solidFill>
                      <a:srgbClr val="E6F3F6"/>
                    </a:solidFill>
                  </a:tcPr>
                </a:tc>
                <a:tc>
                  <a:txBody>
                    <a:bodyPr/>
                    <a:lstStyle/>
                    <a:p>
                      <a:r>
                        <a:rPr sz="1100" b="0">
                          <a:solidFill>
                            <a:srgbClr val="B98240"/>
                          </a:solidFill>
                        </a:rPr>
                        <a:t>Capacity</a:t>
                      </a:r>
                    </a:p>
                  </a:txBody>
                  <a:tcPr>
                    <a:solidFill>
                      <a:srgbClr val="E6F3F6"/>
                    </a:solidFill>
                  </a:tcPr>
                </a:tc>
                <a:extLst>
                  <a:ext uri="{0D108BD9-81ED-4DB2-BD59-A6C34878D82A}">
                    <a16:rowId xmlns:a16="http://schemas.microsoft.com/office/drawing/2014/main" val="10002"/>
                  </a:ext>
                </a:extLst>
              </a:tr>
              <a:tr h="228777">
                <a:tc>
                  <a:txBody>
                    <a:bodyPr/>
                    <a:lstStyle/>
                    <a:p>
                      <a:r>
                        <a:rPr sz="1100" b="0">
                          <a:solidFill>
                            <a:srgbClr val="B98240"/>
                          </a:solidFill>
                        </a:rPr>
                        <a:t>Transit Frame</a:t>
                      </a:r>
                    </a:p>
                  </a:txBody>
                  <a:tcPr>
                    <a:solidFill>
                      <a:srgbClr val="BAE0E8"/>
                    </a:solidFill>
                  </a:tcPr>
                </a:tc>
                <a:tc>
                  <a:txBody>
                    <a:bodyPr/>
                    <a:lstStyle/>
                    <a:p>
                      <a:r>
                        <a:rPr sz="1100" b="0">
                          <a:solidFill>
                            <a:srgbClr val="B98240"/>
                          </a:solidFill>
                        </a:rPr>
                        <a:t>Dashboard Segment</a:t>
                      </a:r>
                    </a:p>
                  </a:txBody>
                  <a:tcPr>
                    <a:solidFill>
                      <a:srgbClr val="BAE0E8"/>
                    </a:solidFill>
                  </a:tcPr>
                </a:tc>
                <a:tc>
                  <a:txBody>
                    <a:bodyPr/>
                    <a:lstStyle/>
                    <a:p>
                      <a:r>
                        <a:rPr sz="1100" b="0">
                          <a:solidFill>
                            <a:srgbClr val="B98240"/>
                          </a:solidFill>
                        </a:rPr>
                        <a:t>Datum Viewport</a:t>
                      </a:r>
                    </a:p>
                  </a:txBody>
                  <a:tcPr>
                    <a:solidFill>
                      <a:srgbClr val="BAE0E8"/>
                    </a:solidFill>
                  </a:tcPr>
                </a:tc>
                <a:tc>
                  <a:txBody>
                    <a:bodyPr/>
                    <a:lstStyle/>
                    <a:p>
                      <a:r>
                        <a:rPr sz="1100" b="0">
                          <a:solidFill>
                            <a:srgbClr val="B98240"/>
                          </a:solidFill>
                        </a:rPr>
                        <a:t>Duration Estimate</a:t>
                      </a:r>
                    </a:p>
                  </a:txBody>
                  <a:tcPr>
                    <a:solidFill>
                      <a:srgbClr val="BAE0E8"/>
                    </a:solidFill>
                  </a:tcPr>
                </a:tc>
                <a:extLst>
                  <a:ext uri="{0D108BD9-81ED-4DB2-BD59-A6C34878D82A}">
                    <a16:rowId xmlns:a16="http://schemas.microsoft.com/office/drawing/2014/main" val="10003"/>
                  </a:ext>
                </a:extLst>
              </a:tr>
              <a:tr h="228777">
                <a:tc>
                  <a:txBody>
                    <a:bodyPr/>
                    <a:lstStyle/>
                    <a:p>
                      <a:r>
                        <a:rPr sz="1100" b="0">
                          <a:solidFill>
                            <a:srgbClr val="B98240"/>
                          </a:solidFill>
                        </a:rPr>
                        <a:t>Narrative</a:t>
                      </a:r>
                    </a:p>
                  </a:txBody>
                  <a:tcPr>
                    <a:solidFill>
                      <a:srgbClr val="E6F3F6"/>
                    </a:solidFill>
                  </a:tcPr>
                </a:tc>
                <a:tc>
                  <a:txBody>
                    <a:bodyPr/>
                    <a:lstStyle/>
                    <a:p>
                      <a:r>
                        <a:rPr sz="1100" b="0">
                          <a:solidFill>
                            <a:srgbClr val="B98240"/>
                          </a:solidFill>
                        </a:rPr>
                        <a:t>Scope</a:t>
                      </a:r>
                    </a:p>
                  </a:txBody>
                  <a:tcPr>
                    <a:solidFill>
                      <a:srgbClr val="E6F3F6"/>
                    </a:solidFill>
                  </a:tcPr>
                </a:tc>
                <a:tc>
                  <a:txBody>
                    <a:bodyPr/>
                    <a:lstStyle/>
                    <a:p>
                      <a:r>
                        <a:rPr sz="1100" b="0">
                          <a:solidFill>
                            <a:srgbClr val="B98240"/>
                          </a:solidFill>
                        </a:rPr>
                        <a:t>Deployment</a:t>
                      </a:r>
                    </a:p>
                  </a:txBody>
                  <a:tcPr>
                    <a:solidFill>
                      <a:srgbClr val="E6F3F6"/>
                    </a:solidFill>
                  </a:tcPr>
                </a:tc>
                <a:tc>
                  <a:txBody>
                    <a:bodyPr/>
                    <a:lstStyle/>
                    <a:p>
                      <a:r>
                        <a:rPr sz="1100" b="0">
                          <a:solidFill>
                            <a:srgbClr val="B98240"/>
                          </a:solidFill>
                        </a:rPr>
                        <a:t>State Cortex</a:t>
                      </a:r>
                    </a:p>
                  </a:txBody>
                  <a:tcPr>
                    <a:solidFill>
                      <a:srgbClr val="E6F3F6"/>
                    </a:solidFill>
                  </a:tcPr>
                </a:tc>
                <a:extLst>
                  <a:ext uri="{0D108BD9-81ED-4DB2-BD59-A6C34878D82A}">
                    <a16:rowId xmlns:a16="http://schemas.microsoft.com/office/drawing/2014/main" val="10004"/>
                  </a:ext>
                </a:extLst>
              </a:tr>
              <a:tr h="228777">
                <a:tc>
                  <a:txBody>
                    <a:bodyPr/>
                    <a:lstStyle/>
                    <a:p>
                      <a:r>
                        <a:rPr sz="1100" b="0">
                          <a:solidFill>
                            <a:srgbClr val="B98240"/>
                          </a:solidFill>
                        </a:rPr>
                        <a:t>Archive Range</a:t>
                      </a:r>
                    </a:p>
                  </a:txBody>
                  <a:tcPr>
                    <a:solidFill>
                      <a:srgbClr val="BAE0E8"/>
                    </a:solidFill>
                  </a:tcPr>
                </a:tc>
                <a:tc>
                  <a:txBody>
                    <a:bodyPr/>
                    <a:lstStyle/>
                    <a:p>
                      <a:r>
                        <a:rPr sz="1100" b="0">
                          <a:solidFill>
                            <a:srgbClr val="B98240"/>
                          </a:solidFill>
                        </a:rPr>
                        <a:t>Release Narrative</a:t>
                      </a:r>
                    </a:p>
                  </a:txBody>
                  <a:tcPr>
                    <a:solidFill>
                      <a:srgbClr val="BAE0E8"/>
                    </a:solidFill>
                  </a:tcPr>
                </a:tc>
                <a:tc>
                  <a:txBody>
                    <a:bodyPr/>
                    <a:lstStyle/>
                    <a:p>
                      <a:r>
                        <a:rPr sz="1100" b="0">
                          <a:solidFill>
                            <a:srgbClr val="B98240"/>
                          </a:solidFill>
                        </a:rPr>
                        <a:t>Beta</a:t>
                      </a:r>
                    </a:p>
                  </a:txBody>
                  <a:tcPr>
                    <a:solidFill>
                      <a:srgbClr val="BAE0E8"/>
                    </a:solidFill>
                  </a:tcPr>
                </a:tc>
                <a:tc>
                  <a:txBody>
                    <a:bodyPr/>
                    <a:lstStyle/>
                    <a:p>
                      <a:r>
                        <a:rPr sz="1100" b="0">
                          <a:solidFill>
                            <a:srgbClr val="B98240"/>
                          </a:solidFill>
                        </a:rPr>
                        <a:t>Action Logic</a:t>
                      </a:r>
                    </a:p>
                  </a:txBody>
                  <a:tcPr>
                    <a:solidFill>
                      <a:srgbClr val="BAE0E8"/>
                    </a:solidFill>
                  </a:tcPr>
                </a:tc>
                <a:extLst>
                  <a:ext uri="{0D108BD9-81ED-4DB2-BD59-A6C34878D82A}">
                    <a16:rowId xmlns:a16="http://schemas.microsoft.com/office/drawing/2014/main" val="10005"/>
                  </a:ext>
                </a:extLst>
              </a:tr>
              <a:tr h="228781">
                <a:tc>
                  <a:txBody>
                    <a:bodyPr/>
                    <a:lstStyle/>
                    <a:p>
                      <a:r>
                        <a:rPr sz="1100" b="0">
                          <a:solidFill>
                            <a:srgbClr val="B98240"/>
                          </a:solidFill>
                        </a:rPr>
                        <a:t>Coverage Request</a:t>
                      </a:r>
                    </a:p>
                  </a:txBody>
                  <a:tcPr>
                    <a:solidFill>
                      <a:srgbClr val="E6F3F6"/>
                    </a:solidFill>
                  </a:tcPr>
                </a:tc>
                <a:tc>
                  <a:txBody>
                    <a:bodyPr/>
                    <a:lstStyle/>
                    <a:p>
                      <a:r>
                        <a:rPr sz="1100" b="0">
                          <a:solidFill>
                            <a:srgbClr val="B98240"/>
                          </a:solidFill>
                        </a:rPr>
                        <a:t>Gateway Blueprint</a:t>
                      </a:r>
                    </a:p>
                  </a:txBody>
                  <a:tcPr>
                    <a:solidFill>
                      <a:srgbClr val="E6F3F6"/>
                    </a:solidFill>
                  </a:tcPr>
                </a:tc>
                <a:tc>
                  <a:txBody>
                    <a:bodyPr/>
                    <a:lstStyle/>
                    <a:p>
                      <a:r>
                        <a:rPr sz="1100" b="0">
                          <a:solidFill>
                            <a:srgbClr val="B98240"/>
                          </a:solidFill>
                        </a:rPr>
                        <a:t>Core</a:t>
                      </a:r>
                    </a:p>
                  </a:txBody>
                  <a:tcPr>
                    <a:solidFill>
                      <a:srgbClr val="E6F3F6"/>
                    </a:solidFill>
                  </a:tcPr>
                </a:tc>
                <a:tc>
                  <a:txBody>
                    <a:bodyPr/>
                    <a:lstStyle/>
                    <a:p>
                      <a:r>
                        <a:rPr sz="1100" b="0">
                          <a:solidFill>
                            <a:srgbClr val="B98240"/>
                          </a:solidFill>
                        </a:rPr>
                        <a:t>Radius Case</a:t>
                      </a:r>
                    </a:p>
                  </a:txBody>
                  <a:tcPr>
                    <a:solidFill>
                      <a:srgbClr val="E6F3F6"/>
                    </a:solidFill>
                  </a:tcPr>
                </a:tc>
                <a:extLst>
                  <a:ext uri="{0D108BD9-81ED-4DB2-BD59-A6C34878D82A}">
                    <a16:rowId xmlns:a16="http://schemas.microsoft.com/office/drawing/2014/main" val="10006"/>
                  </a:ext>
                </a:extLst>
              </a:tr>
            </a:tbl>
          </a:graphicData>
        </a:graphic>
      </p:graphicFrame>
      <p:graphicFrame>
        <p:nvGraphicFramePr>
          <p:cNvPr id="24" name="Chart 23"/>
          <p:cNvGraphicFramePr>
            <a:graphicFrameLocks noGrp="1"/>
          </p:cNvGraphicFramePr>
          <p:nvPr/>
        </p:nvGraphicFramePr>
        <p:xfrm>
          <a:off x="3787521" y="1634228"/>
          <a:ext cx="3659111" cy="1488695"/>
        </p:xfrm>
        <a:graphic>
          <a:graphicData uri="http://schemas.openxmlformats.org/drawingml/2006/chart">
            <c:chart xmlns:c="http://schemas.openxmlformats.org/drawingml/2006/chart" xmlns:r="http://schemas.openxmlformats.org/officeDocument/2006/relationships" r:id="rId4"/>
          </a:graphicData>
        </a:graphic>
      </p:graphicFrame>
      <p:sp>
        <p:nvSpPr>
          <p:cNvPr id="25" name="TextBox 24"/>
          <p:cNvSpPr txBox="1"/>
          <p:nvPr/>
        </p:nvSpPr>
        <p:spPr>
          <a:xfrm>
            <a:off x="4123069" y="5445404"/>
            <a:ext cx="569843" cy="1124025"/>
          </a:xfrm>
          <a:prstGeom prst="rect">
            <a:avLst/>
          </a:prstGeom>
          <a:noFill/>
        </p:spPr>
        <p:txBody>
          <a:bodyPr wrap="none" lIns="76004" tIns="76004" rIns="76004" bIns="76004">
            <a:spAutoFit/>
          </a:bodyPr>
          <a:lstStyle/>
          <a:p>
            <a:r>
              <a:rPr sz="2500" b="1" i="1" u="none">
                <a:solidFill>
                  <a:srgbClr val="959F58"/>
                </a:solidFill>
                <a:latin typeface="Arial"/>
              </a:rPr>
              <a:t>Connector Beta Direction Lineage Envelope Logic</a:t>
            </a:r>
          </a:p>
        </p:txBody>
      </p:sp>
      <p:cxnSp>
        <p:nvCxnSpPr>
          <p:cNvPr id="26" name="Connector 25"/>
          <p:cNvCxnSpPr/>
          <p:nvPr/>
        </p:nvCxnSpPr>
        <p:spPr>
          <a:xfrm flipV="1">
            <a:off x="5751181" y="6020392"/>
            <a:ext cx="1771730" cy="466528"/>
          </a:xfrm>
          <a:prstGeom prst="curvedConnector3">
            <a:avLst/>
          </a:prstGeom>
          <a:ln w="7095">
            <a:solidFill>
              <a:srgbClr val="AEA9A6"/>
            </a:solidFill>
            <a:prstDash val="dash"/>
          </a:ln>
        </p:spPr>
        <p:style>
          <a:lnRef idx="2">
            <a:schemeClr val="accent1"/>
          </a:lnRef>
          <a:fillRef idx="0">
            <a:schemeClr val="accent1"/>
          </a:fillRef>
          <a:effectRef idx="1">
            <a:schemeClr val="accent1"/>
          </a:effectRef>
          <a:fontRef idx="minor">
            <a:schemeClr val="tx1"/>
          </a:fontRef>
        </p:style>
      </p:cxnSp>
      <p:pic>
        <p:nvPicPr>
          <p:cNvPr id="28" name="Graphic 27">
            <a:extLst>
              <a:ext uri="{FF2B5EF4-FFF2-40B4-BE49-F238E27FC236}">
                <a16:creationId xmlns:a16="http://schemas.microsoft.com/office/drawing/2014/main" id="{E2E7A5A4-A9B3-A111-2FB1-35FD3A2BDEF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533632" y="185128"/>
            <a:ext cx="1038120" cy="832021"/>
          </a:xfrm>
          <a:prstGeom prst="rect">
            <a:avLst/>
          </a:prstGeom>
        </p:spPr>
      </p:pic>
      <p:pic>
        <p:nvPicPr>
          <p:cNvPr id="30" name="Graphic 29">
            <a:extLst>
              <a:ext uri="{FF2B5EF4-FFF2-40B4-BE49-F238E27FC236}">
                <a16:creationId xmlns:a16="http://schemas.microsoft.com/office/drawing/2014/main" id="{5C882E21-CF0D-767E-900D-1319ACEF171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62519" y="3462343"/>
            <a:ext cx="1150780" cy="13817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47553" y="3090963"/>
            <a:ext cx="3089556" cy="2340606"/>
          </a:xfrm>
          <a:prstGeom prst="rect">
            <a:avLst/>
          </a:prstGeom>
          <a:noFill/>
        </p:spPr>
        <p:txBody>
          <a:bodyPr wrap="none" lIns="61055" tIns="61055" rIns="61055" bIns="61055">
            <a:spAutoFit/>
          </a:bodyPr>
          <a:lstStyle/>
          <a:p>
            <a:r>
              <a:rPr sz="1200" b="1" i="0" u="none">
                <a:solidFill>
                  <a:srgbClr val="66C25C"/>
                </a:solidFill>
                <a:latin typeface="Verdana"/>
              </a:rPr>
              <a:t>Scope Record Topology Review Origin Alignment Buffer Velocity Table</a:t>
            </a:r>
          </a:p>
        </p:txBody>
      </p:sp>
      <p:sp>
        <p:nvSpPr>
          <p:cNvPr id="3" name="Heart 2"/>
          <p:cNvSpPr/>
          <p:nvPr/>
        </p:nvSpPr>
        <p:spPr>
          <a:xfrm>
            <a:off x="2853233" y="5057786"/>
            <a:ext cx="1011713" cy="1396125"/>
          </a:xfrm>
          <a:prstGeom prst="heart">
            <a:avLst/>
          </a:prstGeom>
          <a:solidFill>
            <a:srgbClr val="606A3C"/>
          </a:solidFill>
          <a:ln w="13372">
            <a:solidFill>
              <a:srgbClr val="E4997C"/>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3576307" y="4863300"/>
            <a:ext cx="1401659" cy="868483"/>
          </a:xfrm>
          <a:custGeom>
            <a:avLst/>
            <a:gdLst/>
            <a:ahLst/>
            <a:cxnLst/>
            <a:rect l="l" t="t" r="r" b="b"/>
            <a:pathLst>
              <a:path w="1401659" h="868483">
                <a:moveTo>
                  <a:pt x="150716" y="147827"/>
                </a:moveTo>
                <a:lnTo>
                  <a:pt x="497363" y="0"/>
                </a:lnTo>
                <a:lnTo>
                  <a:pt x="1024869" y="73913"/>
                </a:lnTo>
                <a:lnTo>
                  <a:pt x="1401659" y="351089"/>
                </a:lnTo>
                <a:lnTo>
                  <a:pt x="1205729" y="720656"/>
                </a:lnTo>
                <a:lnTo>
                  <a:pt x="648079" y="868483"/>
                </a:lnTo>
                <a:lnTo>
                  <a:pt x="90430" y="628264"/>
                </a:lnTo>
                <a:lnTo>
                  <a:pt x="0" y="314132"/>
                </a:lnTo>
                <a:close/>
              </a:path>
            </a:pathLst>
          </a:custGeom>
          <a:solidFill>
            <a:srgbClr val="D42256"/>
          </a:solidFill>
          <a:ln w="16875">
            <a:solidFill>
              <a:srgbClr val="974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956410" y="3265355"/>
            <a:ext cx="1219372" cy="1614515"/>
          </a:xfrm>
          <a:prstGeom prst="rect">
            <a:avLst/>
          </a:prstGeom>
          <a:solidFill>
            <a:srgbClr val="8B9254"/>
          </a:solidFill>
        </p:spPr>
        <p:txBody>
          <a:bodyPr wrap="none" lIns="82329" tIns="82329" rIns="82329" bIns="82329">
            <a:spAutoFit/>
          </a:bodyPr>
          <a:lstStyle/>
          <a:p>
            <a:r>
              <a:rPr sz="1500" b="0" i="0" u="none">
                <a:solidFill>
                  <a:srgbClr val="506DCE"/>
                </a:solidFill>
                <a:latin typeface="Trebuchet MS"/>
              </a:rPr>
              <a:t>Window Detail Service Pipeline Filter Origin Factor Order Aspect Target Segment Reserve Apex Dashboard Loop Format Beta Capacity Expansion Instance Catalog Response Access Exchange Range Narrative Region Strategy Foundation Input Intent View Indicator Array Discovery Baseline Bundle</a:t>
            </a:r>
          </a:p>
        </p:txBody>
      </p:sp>
      <p:sp>
        <p:nvSpPr>
          <p:cNvPr id="6" name="Not Equal 5"/>
          <p:cNvSpPr/>
          <p:nvPr/>
        </p:nvSpPr>
        <p:spPr>
          <a:xfrm>
            <a:off x="327537" y="568571"/>
            <a:ext cx="387503" cy="1810773"/>
          </a:xfrm>
          <a:prstGeom prst="mathNotEqual">
            <a:avLst/>
          </a:prstGeom>
          <a:solidFill>
            <a:srgbClr val="7F6547"/>
          </a:solidFill>
          <a:ln w="24123">
            <a:solidFill>
              <a:srgbClr val="279A3A"/>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Callout 6"/>
          <p:cNvSpPr/>
          <p:nvPr/>
        </p:nvSpPr>
        <p:spPr>
          <a:xfrm>
            <a:off x="10938845" y="3448794"/>
            <a:ext cx="598988" cy="1883494"/>
          </a:xfrm>
          <a:prstGeom prst="wedgeEllipseCallout">
            <a:avLst/>
          </a:prstGeom>
          <a:noFill/>
          <a:ln w="11938">
            <a:solidFill>
              <a:srgbClr val="259C5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6837533" y="5569458"/>
          <a:ext cx="2026206" cy="1107812"/>
        </p:xfrm>
        <a:graphic>
          <a:graphicData uri="http://schemas.openxmlformats.org/drawingml/2006/table">
            <a:tbl>
              <a:tblPr firstRow="1" bandRow="1">
                <a:tableStyleId>{5C22544A-7EE6-4342-B048-85BDC9FD1C3A}</a:tableStyleId>
              </a:tblPr>
              <a:tblGrid>
                <a:gridCol w="1013103">
                  <a:extLst>
                    <a:ext uri="{9D8B030D-6E8A-4147-A177-3AD203B41FA5}">
                      <a16:colId xmlns:a16="http://schemas.microsoft.com/office/drawing/2014/main" val="20000"/>
                    </a:ext>
                  </a:extLst>
                </a:gridCol>
                <a:gridCol w="1013103">
                  <a:extLst>
                    <a:ext uri="{9D8B030D-6E8A-4147-A177-3AD203B41FA5}">
                      <a16:colId xmlns:a16="http://schemas.microsoft.com/office/drawing/2014/main" val="20001"/>
                    </a:ext>
                  </a:extLst>
                </a:gridCol>
              </a:tblGrid>
              <a:tr h="553906">
                <a:tc>
                  <a:txBody>
                    <a:bodyPr/>
                    <a:lstStyle/>
                    <a:p>
                      <a:r>
                        <a:rPr sz="600" b="1">
                          <a:solidFill>
                            <a:srgbClr val="E34434"/>
                          </a:solidFill>
                        </a:rPr>
                        <a:t>Beta Case</a:t>
                      </a:r>
                    </a:p>
                  </a:txBody>
                  <a:tcPr>
                    <a:solidFill>
                      <a:srgbClr val="454EC9"/>
                    </a:solidFill>
                  </a:tcPr>
                </a:tc>
                <a:tc>
                  <a:txBody>
                    <a:bodyPr/>
                    <a:lstStyle/>
                    <a:p>
                      <a:r>
                        <a:rPr sz="600" b="1">
                          <a:solidFill>
                            <a:srgbClr val="E34434"/>
                          </a:solidFill>
                        </a:rPr>
                        <a:t>Journey</a:t>
                      </a:r>
                    </a:p>
                  </a:txBody>
                  <a:tcPr>
                    <a:solidFill>
                      <a:srgbClr val="454EC9"/>
                    </a:solidFill>
                  </a:tcPr>
                </a:tc>
                <a:extLst>
                  <a:ext uri="{0D108BD9-81ED-4DB2-BD59-A6C34878D82A}">
                    <a16:rowId xmlns:a16="http://schemas.microsoft.com/office/drawing/2014/main" val="10000"/>
                  </a:ext>
                </a:extLst>
              </a:tr>
              <a:tr h="553906">
                <a:tc>
                  <a:txBody>
                    <a:bodyPr/>
                    <a:lstStyle/>
                    <a:p>
                      <a:r>
                        <a:rPr sz="600" b="0">
                          <a:solidFill>
                            <a:srgbClr val="E34434"/>
                          </a:solidFill>
                        </a:rPr>
                        <a:t>Access Energy</a:t>
                      </a:r>
                    </a:p>
                  </a:txBody>
                  <a:tcPr>
                    <a:solidFill>
                      <a:srgbClr val="D5DCD2"/>
                    </a:solidFill>
                  </a:tcPr>
                </a:tc>
                <a:tc>
                  <a:txBody>
                    <a:bodyPr/>
                    <a:lstStyle/>
                    <a:p>
                      <a:r>
                        <a:rPr sz="600" b="0">
                          <a:solidFill>
                            <a:srgbClr val="E34434"/>
                          </a:solidFill>
                        </a:rPr>
                        <a:t>Output Context</a:t>
                      </a:r>
                    </a:p>
                  </a:txBody>
                  <a:tcPr>
                    <a:solidFill>
                      <a:srgbClr val="D5DCD2"/>
                    </a:solidFill>
                  </a:tcPr>
                </a:tc>
                <a:extLst>
                  <a:ext uri="{0D108BD9-81ED-4DB2-BD59-A6C34878D82A}">
                    <a16:rowId xmlns:a16="http://schemas.microsoft.com/office/drawing/2014/main" val="10001"/>
                  </a:ext>
                </a:extLst>
              </a:tr>
            </a:tbl>
          </a:graphicData>
        </a:graphic>
      </p:graphicFrame>
      <p:sp>
        <p:nvSpPr>
          <p:cNvPr id="9" name="Freeform 8"/>
          <p:cNvSpPr/>
          <p:nvPr/>
        </p:nvSpPr>
        <p:spPr>
          <a:xfrm>
            <a:off x="1149485" y="1331549"/>
            <a:ext cx="703430" cy="634849"/>
          </a:xfrm>
          <a:custGeom>
            <a:avLst/>
            <a:gdLst/>
            <a:ahLst/>
            <a:cxnLst/>
            <a:rect l="l" t="t" r="r" b="b"/>
            <a:pathLst>
              <a:path w="703430" h="634849">
                <a:moveTo>
                  <a:pt x="0" y="141077"/>
                </a:moveTo>
                <a:lnTo>
                  <a:pt x="151275" y="0"/>
                </a:lnTo>
                <a:lnTo>
                  <a:pt x="302551" y="190454"/>
                </a:lnTo>
                <a:lnTo>
                  <a:pt x="453826" y="21161"/>
                </a:lnTo>
                <a:lnTo>
                  <a:pt x="703430" y="493771"/>
                </a:lnTo>
                <a:lnTo>
                  <a:pt x="529464" y="634849"/>
                </a:lnTo>
                <a:lnTo>
                  <a:pt x="363061" y="423232"/>
                </a:lnTo>
                <a:lnTo>
                  <a:pt x="173967" y="613687"/>
                </a:lnTo>
                <a:close/>
              </a:path>
            </a:pathLst>
          </a:custGeom>
          <a:solidFill>
            <a:srgbClr val="343A70"/>
          </a:solidFill>
          <a:ln w="20943">
            <a:solidFill>
              <a:srgbClr val="76D2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97084" y="969663"/>
            <a:ext cx="678321" cy="1686374"/>
          </a:xfrm>
          <a:prstGeom prst="rect">
            <a:avLst/>
          </a:prstGeom>
          <a:noFill/>
        </p:spPr>
        <p:txBody>
          <a:bodyPr wrap="none" lIns="53708" tIns="53708" rIns="53708" bIns="53708">
            <a:spAutoFit/>
          </a:bodyPr>
          <a:lstStyle/>
          <a:p>
            <a:r>
              <a:rPr sz="1000" b="0" i="1" u="none">
                <a:solidFill>
                  <a:srgbClr val="837C64"/>
                </a:solidFill>
                <a:latin typeface="Georgia"/>
              </a:rPr>
              <a:t>Layer Snapshot Thread Stack Narrative Duration Analysis Indicator Scope Impact Compass Element Command Method Circuit Forecast Resource Target Timeline Iteration Process Kernel Capacity Control Portal Benchmark Hub Grid Compass Direction Table Drive Segment</a:t>
            </a:r>
          </a:p>
        </p:txBody>
      </p:sp>
      <p:pic>
        <p:nvPicPr>
          <p:cNvPr id="11" name="Picture 10" descr="_example_image.jpg"/>
          <p:cNvPicPr>
            <a:picLocks noChangeAspect="1"/>
          </p:cNvPicPr>
          <p:nvPr/>
        </p:nvPicPr>
        <p:blipFill>
          <a:blip r:embed="rId2"/>
          <a:srcRect/>
          <a:stretch>
            <a:fillRect/>
          </a:stretch>
        </p:blipFill>
        <p:spPr>
          <a:xfrm>
            <a:off x="4890903" y="1680244"/>
            <a:ext cx="1307979" cy="1508468"/>
          </a:xfrm>
          <a:prstGeom prst="rect">
            <a:avLst/>
          </a:prstGeom>
        </p:spPr>
      </p:pic>
      <p:sp>
        <p:nvSpPr>
          <p:cNvPr id="12" name="Rounded Rectangle 11"/>
          <p:cNvSpPr/>
          <p:nvPr/>
        </p:nvSpPr>
        <p:spPr>
          <a:xfrm>
            <a:off x="4890903" y="1680244"/>
            <a:ext cx="1307979" cy="1508468"/>
          </a:xfrm>
          <a:prstGeom prst="roundRect">
            <a:avLst/>
          </a:prstGeom>
          <a:noFill/>
          <a:ln w="15240">
            <a:solidFill>
              <a:srgbClr val="DED8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V="1">
            <a:off x="1354122" y="264017"/>
            <a:ext cx="2555827" cy="410471"/>
          </a:xfrm>
          <a:prstGeom prst="line">
            <a:avLst/>
          </a:prstGeom>
          <a:ln w="42572">
            <a:solidFill>
              <a:srgbClr val="427F70"/>
            </a:solidFill>
            <a:prstDash val="soli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00540" y="709694"/>
            <a:ext cx="3946065" cy="918307"/>
          </a:xfrm>
          <a:prstGeom prst="rect">
            <a:avLst/>
          </a:prstGeom>
          <a:noFill/>
        </p:spPr>
        <p:txBody>
          <a:bodyPr wrap="none" lIns="84213" tIns="84213" rIns="84213" bIns="84213">
            <a:spAutoFit/>
          </a:bodyPr>
          <a:lstStyle/>
          <a:p>
            <a:r>
              <a:rPr sz="3800" b="1" i="0" u="none">
                <a:solidFill>
                  <a:srgbClr val="96BA1F"/>
                </a:solidFill>
                <a:latin typeface="Aptos"/>
              </a:rPr>
              <a:t>Sync View</a:t>
            </a:r>
          </a:p>
        </p:txBody>
      </p:sp>
      <p:graphicFrame>
        <p:nvGraphicFramePr>
          <p:cNvPr id="15" name="Chart 14"/>
          <p:cNvGraphicFramePr>
            <a:graphicFrameLocks noGrp="1"/>
          </p:cNvGraphicFramePr>
          <p:nvPr/>
        </p:nvGraphicFramePr>
        <p:xfrm>
          <a:off x="2473109" y="1090805"/>
          <a:ext cx="2452043" cy="1714266"/>
        </p:xfrm>
        <a:graphic>
          <a:graphicData uri="http://schemas.openxmlformats.org/drawingml/2006/chart">
            <c:chart xmlns:c="http://schemas.openxmlformats.org/drawingml/2006/chart" xmlns:r="http://schemas.openxmlformats.org/officeDocument/2006/relationships" r:id="rId3"/>
          </a:graphicData>
        </a:graphic>
      </p:graphicFrame>
      <p:cxnSp>
        <p:nvCxnSpPr>
          <p:cNvPr id="16" name="Connector 15"/>
          <p:cNvCxnSpPr/>
          <p:nvPr/>
        </p:nvCxnSpPr>
        <p:spPr>
          <a:xfrm flipV="1">
            <a:off x="7575285" y="1783423"/>
            <a:ext cx="924592" cy="577130"/>
          </a:xfrm>
          <a:prstGeom prst="curvedConnector3">
            <a:avLst/>
          </a:prstGeom>
          <a:ln w="26843">
            <a:solidFill>
              <a:srgbClr val="705F91"/>
            </a:solidFill>
            <a:prstDash val="dashDot"/>
          </a:ln>
        </p:spPr>
        <p:style>
          <a:lnRef idx="2">
            <a:schemeClr val="accent1"/>
          </a:lnRef>
          <a:fillRef idx="0">
            <a:schemeClr val="accent1"/>
          </a:fillRef>
          <a:effectRef idx="1">
            <a:schemeClr val="accent1"/>
          </a:effectRef>
          <a:fontRef idx="minor">
            <a:schemeClr val="tx1"/>
          </a:fontRef>
        </p:style>
      </p:cxnSp>
      <p:sp>
        <p:nvSpPr>
          <p:cNvPr id="17" name="8-Point Star 16"/>
          <p:cNvSpPr/>
          <p:nvPr/>
        </p:nvSpPr>
        <p:spPr>
          <a:xfrm>
            <a:off x="6441358" y="3749918"/>
            <a:ext cx="431057" cy="354436"/>
          </a:xfrm>
          <a:prstGeom prst="star8">
            <a:avLst/>
          </a:prstGeom>
          <a:solidFill>
            <a:srgbClr val="2A19E6"/>
          </a:solidFill>
          <a:ln w="8533">
            <a:solidFill>
              <a:srgbClr val="2D5D97"/>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30359" y="6174140"/>
            <a:ext cx="1898831" cy="399306"/>
          </a:xfrm>
          <a:prstGeom prst="ellipse">
            <a:avLst/>
          </a:prstGeom>
          <a:noFill/>
          <a:ln w="12042">
            <a:solidFill>
              <a:srgbClr val="57A2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459092" y="1752188"/>
            <a:ext cx="506565" cy="849950"/>
          </a:xfrm>
          <a:prstGeom prst="rect">
            <a:avLst/>
          </a:prstGeom>
          <a:solidFill>
            <a:srgbClr val="62905B"/>
          </a:solidFill>
        </p:spPr>
        <p:txBody>
          <a:bodyPr wrap="none" lIns="33771" tIns="33771" rIns="33771" bIns="33771">
            <a:spAutoFit/>
          </a:bodyPr>
          <a:lstStyle/>
          <a:p>
            <a:r>
              <a:rPr sz="1700" b="0" i="0" u="none">
                <a:solidFill>
                  <a:srgbClr val="5170BC"/>
                </a:solidFill>
                <a:latin typeface="Verdana"/>
              </a:rPr>
              <a:t>Span Timeline Diagram Intent Instance Device Record Narrative Resource Pattern Segment Path</a:t>
            </a:r>
          </a:p>
        </p:txBody>
      </p:sp>
      <p:cxnSp>
        <p:nvCxnSpPr>
          <p:cNvPr id="20" name="Connector 19"/>
          <p:cNvCxnSpPr/>
          <p:nvPr/>
        </p:nvCxnSpPr>
        <p:spPr>
          <a:xfrm>
            <a:off x="10895953" y="604865"/>
            <a:ext cx="1023995" cy="1892699"/>
          </a:xfrm>
          <a:prstGeom prst="line">
            <a:avLst/>
          </a:prstGeom>
          <a:ln w="36781">
            <a:solidFill>
              <a:srgbClr val="BF5DDF"/>
            </a:solidFill>
            <a:prstDash val="dash"/>
          </a:ln>
        </p:spPr>
        <p:style>
          <a:lnRef idx="2">
            <a:schemeClr val="accent1"/>
          </a:lnRef>
          <a:fillRef idx="0">
            <a:schemeClr val="accent1"/>
          </a:fillRef>
          <a:effectRef idx="1">
            <a:schemeClr val="accent1"/>
          </a:effectRef>
          <a:fontRef idx="minor">
            <a:schemeClr val="tx1"/>
          </a:fontRef>
        </p:style>
      </p:cxnSp>
      <p:pic>
        <p:nvPicPr>
          <p:cNvPr id="21" name="Picture 20" descr="_example_image.jpg"/>
          <p:cNvPicPr>
            <a:picLocks noChangeAspect="1"/>
          </p:cNvPicPr>
          <p:nvPr/>
        </p:nvPicPr>
        <p:blipFill>
          <a:blip r:embed="rId2"/>
          <a:srcRect l="8938" t="9193" r="17219" b="1293"/>
          <a:stretch>
            <a:fillRect/>
          </a:stretch>
        </p:blipFill>
        <p:spPr>
          <a:xfrm>
            <a:off x="1128688" y="1828015"/>
            <a:ext cx="1387275" cy="961947"/>
          </a:xfrm>
          <a:prstGeom prst="rect">
            <a:avLst/>
          </a:prstGeom>
        </p:spPr>
      </p:pic>
      <p:sp>
        <p:nvSpPr>
          <p:cNvPr id="22" name="Rounded Rectangle 21"/>
          <p:cNvSpPr/>
          <p:nvPr/>
        </p:nvSpPr>
        <p:spPr>
          <a:xfrm>
            <a:off x="1128688" y="1828015"/>
            <a:ext cx="1387275" cy="961947"/>
          </a:xfrm>
          <a:prstGeom prst="roundRect">
            <a:avLst/>
          </a:prstGeom>
          <a:noFill/>
          <a:ln w="15240">
            <a:solidFill>
              <a:srgbClr val="3720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6836" y="2985961"/>
            <a:ext cx="1181008" cy="2339191"/>
          </a:xfrm>
          <a:prstGeom prst="rect">
            <a:avLst/>
          </a:prstGeom>
          <a:noFill/>
        </p:spPr>
        <p:txBody>
          <a:bodyPr wrap="none" lIns="61839" tIns="61839" rIns="61839" bIns="61839">
            <a:spAutoFit/>
          </a:bodyPr>
          <a:lstStyle/>
          <a:p>
            <a:r>
              <a:rPr sz="5700" b="1" i="0" u="none">
                <a:solidFill>
                  <a:srgbClr val="AAB48F"/>
                </a:solidFill>
                <a:latin typeface="Aptos"/>
              </a:rPr>
              <a:t>Scope Depth</a:t>
            </a:r>
          </a:p>
        </p:txBody>
      </p:sp>
      <p:sp>
        <p:nvSpPr>
          <p:cNvPr id="24" name="Decision 23"/>
          <p:cNvSpPr/>
          <p:nvPr/>
        </p:nvSpPr>
        <p:spPr>
          <a:xfrm>
            <a:off x="2212723" y="908138"/>
            <a:ext cx="1773508" cy="305766"/>
          </a:xfrm>
          <a:prstGeom prst="flowChartDecision">
            <a:avLst/>
          </a:prstGeom>
          <a:solidFill>
            <a:srgbClr val="24346E"/>
          </a:solidFill>
          <a:ln w="19354">
            <a:solidFill>
              <a:srgbClr val="7BE5A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p:cNvGraphicFramePr>
            <a:graphicFrameLocks noGrp="1"/>
          </p:cNvGraphicFramePr>
          <p:nvPr/>
        </p:nvGraphicFramePr>
        <p:xfrm>
          <a:off x="5338644" y="3418013"/>
          <a:ext cx="2614081" cy="2335455"/>
        </p:xfrm>
        <a:graphic>
          <a:graphicData uri="http://schemas.openxmlformats.org/drawingml/2006/table">
            <a:tbl>
              <a:tblPr firstRow="1" bandRow="1">
                <a:tableStyleId>{5C22544A-7EE6-4342-B048-85BDC9FD1C3A}</a:tableStyleId>
              </a:tblPr>
              <a:tblGrid>
                <a:gridCol w="871360">
                  <a:extLst>
                    <a:ext uri="{9D8B030D-6E8A-4147-A177-3AD203B41FA5}">
                      <a16:colId xmlns:a16="http://schemas.microsoft.com/office/drawing/2014/main" val="20000"/>
                    </a:ext>
                  </a:extLst>
                </a:gridCol>
                <a:gridCol w="871360">
                  <a:extLst>
                    <a:ext uri="{9D8B030D-6E8A-4147-A177-3AD203B41FA5}">
                      <a16:colId xmlns:a16="http://schemas.microsoft.com/office/drawing/2014/main" val="20001"/>
                    </a:ext>
                  </a:extLst>
                </a:gridCol>
                <a:gridCol w="871361">
                  <a:extLst>
                    <a:ext uri="{9D8B030D-6E8A-4147-A177-3AD203B41FA5}">
                      <a16:colId xmlns:a16="http://schemas.microsoft.com/office/drawing/2014/main" val="20002"/>
                    </a:ext>
                  </a:extLst>
                </a:gridCol>
              </a:tblGrid>
              <a:tr h="333636">
                <a:tc>
                  <a:txBody>
                    <a:bodyPr/>
                    <a:lstStyle/>
                    <a:p>
                      <a:r>
                        <a:rPr sz="1300" b="0">
                          <a:solidFill>
                            <a:srgbClr val="72B833"/>
                          </a:solidFill>
                        </a:rPr>
                        <a:t>Bundle</a:t>
                      </a:r>
                    </a:p>
                  </a:txBody>
                  <a:tcPr>
                    <a:solidFill>
                      <a:srgbClr val="F8F6FA"/>
                    </a:solidFill>
                  </a:tcPr>
                </a:tc>
                <a:tc>
                  <a:txBody>
                    <a:bodyPr/>
                    <a:lstStyle/>
                    <a:p>
                      <a:r>
                        <a:rPr sz="1300" b="0">
                          <a:solidFill>
                            <a:srgbClr val="72B833"/>
                          </a:solidFill>
                        </a:rPr>
                        <a:t>Tile</a:t>
                      </a:r>
                    </a:p>
                  </a:txBody>
                  <a:tcPr>
                    <a:solidFill>
                      <a:srgbClr val="F8F6FA"/>
                    </a:solidFill>
                  </a:tcPr>
                </a:tc>
                <a:tc>
                  <a:txBody>
                    <a:bodyPr/>
                    <a:lstStyle/>
                    <a:p>
                      <a:r>
                        <a:rPr sz="1300" b="0">
                          <a:solidFill>
                            <a:srgbClr val="72B833"/>
                          </a:solidFill>
                        </a:rPr>
                        <a:t>Clarity</a:t>
                      </a:r>
                    </a:p>
                  </a:txBody>
                  <a:tcPr>
                    <a:solidFill>
                      <a:srgbClr val="F8F6FA"/>
                    </a:solidFill>
                  </a:tcPr>
                </a:tc>
                <a:extLst>
                  <a:ext uri="{0D108BD9-81ED-4DB2-BD59-A6C34878D82A}">
                    <a16:rowId xmlns:a16="http://schemas.microsoft.com/office/drawing/2014/main" val="10000"/>
                  </a:ext>
                </a:extLst>
              </a:tr>
              <a:tr h="333636">
                <a:tc>
                  <a:txBody>
                    <a:bodyPr/>
                    <a:lstStyle/>
                    <a:p>
                      <a:r>
                        <a:rPr sz="1300" b="0">
                          <a:solidFill>
                            <a:srgbClr val="72B833"/>
                          </a:solidFill>
                        </a:rPr>
                        <a:t>Gateway Baseline</a:t>
                      </a:r>
                    </a:p>
                  </a:txBody>
                  <a:tcPr>
                    <a:solidFill>
                      <a:srgbClr val="E4DCEC"/>
                    </a:solidFill>
                  </a:tcPr>
                </a:tc>
                <a:tc>
                  <a:txBody>
                    <a:bodyPr/>
                    <a:lstStyle/>
                    <a:p>
                      <a:r>
                        <a:rPr sz="1300" b="0">
                          <a:solidFill>
                            <a:srgbClr val="72B833"/>
                          </a:solidFill>
                        </a:rPr>
                        <a:t>Trend</a:t>
                      </a:r>
                    </a:p>
                  </a:txBody>
                  <a:tcPr>
                    <a:solidFill>
                      <a:srgbClr val="E4DCEC"/>
                    </a:solidFill>
                  </a:tcPr>
                </a:tc>
                <a:tc>
                  <a:txBody>
                    <a:bodyPr/>
                    <a:lstStyle/>
                    <a:p>
                      <a:r>
                        <a:rPr sz="1300" b="0">
                          <a:solidFill>
                            <a:srgbClr val="72B833"/>
                          </a:solidFill>
                        </a:rPr>
                        <a:t>Release</a:t>
                      </a:r>
                    </a:p>
                  </a:txBody>
                  <a:tcPr>
                    <a:solidFill>
                      <a:srgbClr val="E4DCEC"/>
                    </a:solidFill>
                  </a:tcPr>
                </a:tc>
                <a:extLst>
                  <a:ext uri="{0D108BD9-81ED-4DB2-BD59-A6C34878D82A}">
                    <a16:rowId xmlns:a16="http://schemas.microsoft.com/office/drawing/2014/main" val="10001"/>
                  </a:ext>
                </a:extLst>
              </a:tr>
              <a:tr h="333636">
                <a:tc>
                  <a:txBody>
                    <a:bodyPr/>
                    <a:lstStyle/>
                    <a:p>
                      <a:r>
                        <a:rPr sz="1300" b="0">
                          <a:solidFill>
                            <a:srgbClr val="72B833"/>
                          </a:solidFill>
                        </a:rPr>
                        <a:t>Wave</a:t>
                      </a:r>
                    </a:p>
                  </a:txBody>
                  <a:tcPr>
                    <a:solidFill>
                      <a:srgbClr val="F8F6FA"/>
                    </a:solidFill>
                  </a:tcPr>
                </a:tc>
                <a:tc>
                  <a:txBody>
                    <a:bodyPr/>
                    <a:lstStyle/>
                    <a:p>
                      <a:r>
                        <a:rPr sz="1300" b="0">
                          <a:solidFill>
                            <a:srgbClr val="72B833"/>
                          </a:solidFill>
                        </a:rPr>
                        <a:t>Radius Circuit</a:t>
                      </a:r>
                    </a:p>
                  </a:txBody>
                  <a:tcPr>
                    <a:solidFill>
                      <a:srgbClr val="F8F6FA"/>
                    </a:solidFill>
                  </a:tcPr>
                </a:tc>
                <a:tc>
                  <a:txBody>
                    <a:bodyPr/>
                    <a:lstStyle/>
                    <a:p>
                      <a:r>
                        <a:rPr sz="1300" b="0">
                          <a:solidFill>
                            <a:srgbClr val="72B833"/>
                          </a:solidFill>
                        </a:rPr>
                        <a:t>Connector Module</a:t>
                      </a:r>
                    </a:p>
                  </a:txBody>
                  <a:tcPr>
                    <a:solidFill>
                      <a:srgbClr val="F8F6FA"/>
                    </a:solidFill>
                  </a:tcPr>
                </a:tc>
                <a:extLst>
                  <a:ext uri="{0D108BD9-81ED-4DB2-BD59-A6C34878D82A}">
                    <a16:rowId xmlns:a16="http://schemas.microsoft.com/office/drawing/2014/main" val="10002"/>
                  </a:ext>
                </a:extLst>
              </a:tr>
              <a:tr h="333636">
                <a:tc>
                  <a:txBody>
                    <a:bodyPr/>
                    <a:lstStyle/>
                    <a:p>
                      <a:r>
                        <a:rPr sz="1300" b="0">
                          <a:solidFill>
                            <a:srgbClr val="72B833"/>
                          </a:solidFill>
                        </a:rPr>
                        <a:t>Path</a:t>
                      </a:r>
                    </a:p>
                  </a:txBody>
                  <a:tcPr>
                    <a:solidFill>
                      <a:srgbClr val="E4DCEC"/>
                    </a:solidFill>
                  </a:tcPr>
                </a:tc>
                <a:tc>
                  <a:txBody>
                    <a:bodyPr/>
                    <a:lstStyle/>
                    <a:p>
                      <a:r>
                        <a:rPr sz="1300" b="0">
                          <a:solidFill>
                            <a:srgbClr val="72B833"/>
                          </a:solidFill>
                        </a:rPr>
                        <a:t>Asset</a:t>
                      </a:r>
                    </a:p>
                  </a:txBody>
                  <a:tcPr>
                    <a:solidFill>
                      <a:srgbClr val="E4DCEC"/>
                    </a:solidFill>
                  </a:tcPr>
                </a:tc>
                <a:tc>
                  <a:txBody>
                    <a:bodyPr/>
                    <a:lstStyle/>
                    <a:p>
                      <a:r>
                        <a:rPr sz="1300" b="0">
                          <a:solidFill>
                            <a:srgbClr val="72B833"/>
                          </a:solidFill>
                        </a:rPr>
                        <a:t>Sequence</a:t>
                      </a:r>
                    </a:p>
                  </a:txBody>
                  <a:tcPr>
                    <a:solidFill>
                      <a:srgbClr val="E4DCEC"/>
                    </a:solidFill>
                  </a:tcPr>
                </a:tc>
                <a:extLst>
                  <a:ext uri="{0D108BD9-81ED-4DB2-BD59-A6C34878D82A}">
                    <a16:rowId xmlns:a16="http://schemas.microsoft.com/office/drawing/2014/main" val="10003"/>
                  </a:ext>
                </a:extLst>
              </a:tr>
              <a:tr h="333636">
                <a:tc>
                  <a:txBody>
                    <a:bodyPr/>
                    <a:lstStyle/>
                    <a:p>
                      <a:r>
                        <a:rPr sz="1300" b="0">
                          <a:solidFill>
                            <a:srgbClr val="72B833"/>
                          </a:solidFill>
                        </a:rPr>
                        <a:t>Grid Beta</a:t>
                      </a:r>
                    </a:p>
                  </a:txBody>
                  <a:tcPr>
                    <a:solidFill>
                      <a:srgbClr val="F8F6FA"/>
                    </a:solidFill>
                  </a:tcPr>
                </a:tc>
                <a:tc>
                  <a:txBody>
                    <a:bodyPr/>
                    <a:lstStyle/>
                    <a:p>
                      <a:r>
                        <a:rPr sz="1300" b="0">
                          <a:solidFill>
                            <a:srgbClr val="72B833"/>
                          </a:solidFill>
                        </a:rPr>
                        <a:t>Engine Segment</a:t>
                      </a:r>
                    </a:p>
                  </a:txBody>
                  <a:tcPr>
                    <a:solidFill>
                      <a:srgbClr val="F8F6FA"/>
                    </a:solidFill>
                  </a:tcPr>
                </a:tc>
                <a:tc>
                  <a:txBody>
                    <a:bodyPr/>
                    <a:lstStyle/>
                    <a:p>
                      <a:r>
                        <a:rPr sz="1300" b="0">
                          <a:solidFill>
                            <a:srgbClr val="72B833"/>
                          </a:solidFill>
                        </a:rPr>
                        <a:t>Pulse Sync</a:t>
                      </a:r>
                    </a:p>
                  </a:txBody>
                  <a:tcPr>
                    <a:solidFill>
                      <a:srgbClr val="F8F6FA"/>
                    </a:solidFill>
                  </a:tcPr>
                </a:tc>
                <a:extLst>
                  <a:ext uri="{0D108BD9-81ED-4DB2-BD59-A6C34878D82A}">
                    <a16:rowId xmlns:a16="http://schemas.microsoft.com/office/drawing/2014/main" val="10004"/>
                  </a:ext>
                </a:extLst>
              </a:tr>
              <a:tr h="333636">
                <a:tc>
                  <a:txBody>
                    <a:bodyPr/>
                    <a:lstStyle/>
                    <a:p>
                      <a:r>
                        <a:rPr sz="1300" b="0">
                          <a:solidFill>
                            <a:srgbClr val="72B833"/>
                          </a:solidFill>
                        </a:rPr>
                        <a:t>Timeline Discovery</a:t>
                      </a:r>
                    </a:p>
                  </a:txBody>
                  <a:tcPr>
                    <a:solidFill>
                      <a:srgbClr val="E4DCEC"/>
                    </a:solidFill>
                  </a:tcPr>
                </a:tc>
                <a:tc>
                  <a:txBody>
                    <a:bodyPr/>
                    <a:lstStyle/>
                    <a:p>
                      <a:r>
                        <a:rPr sz="1300" b="0">
                          <a:solidFill>
                            <a:srgbClr val="72B833"/>
                          </a:solidFill>
                        </a:rPr>
                        <a:t>Trigger</a:t>
                      </a:r>
                    </a:p>
                  </a:txBody>
                  <a:tcPr>
                    <a:solidFill>
                      <a:srgbClr val="E4DCEC"/>
                    </a:solidFill>
                  </a:tcPr>
                </a:tc>
                <a:tc>
                  <a:txBody>
                    <a:bodyPr/>
                    <a:lstStyle/>
                    <a:p>
                      <a:r>
                        <a:rPr sz="1300" b="0">
                          <a:solidFill>
                            <a:srgbClr val="72B833"/>
                          </a:solidFill>
                        </a:rPr>
                        <a:t>Horizon Path</a:t>
                      </a:r>
                    </a:p>
                  </a:txBody>
                  <a:tcPr>
                    <a:solidFill>
                      <a:srgbClr val="E4DCEC"/>
                    </a:solidFill>
                  </a:tcPr>
                </a:tc>
                <a:extLst>
                  <a:ext uri="{0D108BD9-81ED-4DB2-BD59-A6C34878D82A}">
                    <a16:rowId xmlns:a16="http://schemas.microsoft.com/office/drawing/2014/main" val="10005"/>
                  </a:ext>
                </a:extLst>
              </a:tr>
              <a:tr h="333639">
                <a:tc>
                  <a:txBody>
                    <a:bodyPr/>
                    <a:lstStyle/>
                    <a:p>
                      <a:r>
                        <a:rPr sz="1300" b="0">
                          <a:solidFill>
                            <a:srgbClr val="72B833"/>
                          </a:solidFill>
                        </a:rPr>
                        <a:t>Checkpoint Beacon</a:t>
                      </a:r>
                    </a:p>
                  </a:txBody>
                  <a:tcPr>
                    <a:solidFill>
                      <a:srgbClr val="F8F6FA"/>
                    </a:solidFill>
                  </a:tcPr>
                </a:tc>
                <a:tc>
                  <a:txBody>
                    <a:bodyPr/>
                    <a:lstStyle/>
                    <a:p>
                      <a:r>
                        <a:rPr sz="1300" b="0">
                          <a:solidFill>
                            <a:srgbClr val="72B833"/>
                          </a:solidFill>
                        </a:rPr>
                        <a:t>Sync Radius</a:t>
                      </a:r>
                    </a:p>
                  </a:txBody>
                  <a:tcPr>
                    <a:solidFill>
                      <a:srgbClr val="F8F6FA"/>
                    </a:solidFill>
                  </a:tcPr>
                </a:tc>
                <a:tc>
                  <a:txBody>
                    <a:bodyPr/>
                    <a:lstStyle/>
                    <a:p>
                      <a:r>
                        <a:rPr sz="1300" b="0">
                          <a:solidFill>
                            <a:srgbClr val="72B833"/>
                          </a:solidFill>
                        </a:rPr>
                        <a:t>Horizon Brief</a:t>
                      </a:r>
                    </a:p>
                  </a:txBody>
                  <a:tcPr>
                    <a:solidFill>
                      <a:srgbClr val="F8F6FA"/>
                    </a:solidFill>
                  </a:tcPr>
                </a:tc>
                <a:extLst>
                  <a:ext uri="{0D108BD9-81ED-4DB2-BD59-A6C34878D82A}">
                    <a16:rowId xmlns:a16="http://schemas.microsoft.com/office/drawing/2014/main" val="10006"/>
                  </a:ext>
                </a:extLst>
              </a:tr>
            </a:tbl>
          </a:graphicData>
        </a:graphic>
      </p:graphicFrame>
      <p:pic>
        <p:nvPicPr>
          <p:cNvPr id="26" name="Picture 25" descr="_example_image.jpg"/>
          <p:cNvPicPr>
            <a:picLocks noChangeAspect="1"/>
          </p:cNvPicPr>
          <p:nvPr/>
        </p:nvPicPr>
        <p:blipFill>
          <a:blip r:embed="rId2"/>
          <a:srcRect l="1604" t="16617" r="8183" b="9122"/>
          <a:stretch>
            <a:fillRect/>
          </a:stretch>
        </p:blipFill>
        <p:spPr>
          <a:xfrm>
            <a:off x="9721278" y="5251470"/>
            <a:ext cx="1655158" cy="1124777"/>
          </a:xfrm>
          <a:prstGeom prst="rect">
            <a:avLst/>
          </a:prstGeom>
        </p:spPr>
      </p:pic>
      <p:graphicFrame>
        <p:nvGraphicFramePr>
          <p:cNvPr id="27" name="Chart 26"/>
          <p:cNvGraphicFramePr>
            <a:graphicFrameLocks noGrp="1"/>
          </p:cNvGraphicFramePr>
          <p:nvPr/>
        </p:nvGraphicFramePr>
        <p:xfrm>
          <a:off x="1565312" y="3083635"/>
          <a:ext cx="2162684" cy="1805077"/>
        </p:xfrm>
        <a:graphic>
          <a:graphicData uri="http://schemas.openxmlformats.org/drawingml/2006/chart">
            <c:chart xmlns:c="http://schemas.openxmlformats.org/drawingml/2006/chart" xmlns:r="http://schemas.openxmlformats.org/officeDocument/2006/relationships" r:id="rId4"/>
          </a:graphicData>
        </a:graphic>
      </p:graphicFrame>
      <p:sp>
        <p:nvSpPr>
          <p:cNvPr id="28" name="Quad Arrow 27"/>
          <p:cNvSpPr/>
          <p:nvPr/>
        </p:nvSpPr>
        <p:spPr>
          <a:xfrm>
            <a:off x="7048255" y="2512917"/>
            <a:ext cx="2032767" cy="446094"/>
          </a:xfrm>
          <a:prstGeom prst="quadArrow">
            <a:avLst/>
          </a:prstGeom>
          <a:solidFill>
            <a:srgbClr val="768981"/>
          </a:solidFill>
          <a:ln w="21327">
            <a:solidFill>
              <a:srgbClr val="2F304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5166D858-F04F-000A-A10B-10E0B67848F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061925" y="2495590"/>
            <a:ext cx="1316077" cy="734280"/>
          </a:xfrm>
          <a:prstGeom prst="rect">
            <a:avLst/>
          </a:prstGeom>
        </p:spPr>
      </p:pic>
      <p:pic>
        <p:nvPicPr>
          <p:cNvPr id="32" name="Graphic 31">
            <a:extLst>
              <a:ext uri="{FF2B5EF4-FFF2-40B4-BE49-F238E27FC236}">
                <a16:creationId xmlns:a16="http://schemas.microsoft.com/office/drawing/2014/main" id="{313978BF-3E81-DEE9-21BF-EBA8C94F310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90049" y="5768975"/>
            <a:ext cx="1691237" cy="80812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354287" y="2541595"/>
            <a:ext cx="1723152" cy="1348102"/>
          </a:xfrm>
          <a:prstGeom prst="bentConnector3">
            <a:avLst/>
          </a:prstGeom>
          <a:ln w="12296">
            <a:solidFill>
              <a:srgbClr val="2356CD"/>
            </a:solidFill>
            <a:prstDash val="solid"/>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8634976" y="2137373"/>
            <a:ext cx="1233883" cy="863641"/>
          </a:xfrm>
          <a:prstGeom prst="rect">
            <a:avLst/>
          </a:prstGeom>
          <a:noFill/>
        </p:spPr>
        <p:txBody>
          <a:bodyPr wrap="none" lIns="89879" tIns="89879" rIns="89879" bIns="89879">
            <a:spAutoFit/>
          </a:bodyPr>
          <a:lstStyle/>
          <a:p>
            <a:r>
              <a:rPr sz="1600" b="0" i="1" u="sng">
                <a:solidFill>
                  <a:srgbClr val="4B6D93"/>
                </a:solidFill>
                <a:latin typeface="Calibri"/>
              </a:rPr>
              <a:t>Signal Summary Drift Scope Canvas Echo Path Drive Layer Request Panel Route Source</a:t>
            </a:r>
          </a:p>
        </p:txBody>
      </p:sp>
      <p:sp>
        <p:nvSpPr>
          <p:cNvPr id="4" name="TextBox 3"/>
          <p:cNvSpPr txBox="1"/>
          <p:nvPr/>
        </p:nvSpPr>
        <p:spPr>
          <a:xfrm>
            <a:off x="4595422" y="3578543"/>
            <a:ext cx="1071542" cy="1037360"/>
          </a:xfrm>
          <a:prstGeom prst="rect">
            <a:avLst/>
          </a:prstGeom>
          <a:noFill/>
        </p:spPr>
        <p:txBody>
          <a:bodyPr wrap="none" lIns="45625" tIns="45625" rIns="45625" bIns="45625">
            <a:spAutoFit/>
          </a:bodyPr>
          <a:lstStyle/>
          <a:p>
            <a:r>
              <a:rPr sz="1800" b="0" i="0" u="none">
                <a:solidFill>
                  <a:srgbClr val="B7E297"/>
                </a:solidFill>
                <a:latin typeface="Arial"/>
              </a:rPr>
              <a:t>Scale Case Friction Echo Pixel Library Pipeline Origin Strategy Register Threshold Sequence Entity</a:t>
            </a:r>
          </a:p>
        </p:txBody>
      </p:sp>
      <p:sp>
        <p:nvSpPr>
          <p:cNvPr id="5" name="Parallelogram 4"/>
          <p:cNvSpPr/>
          <p:nvPr/>
        </p:nvSpPr>
        <p:spPr>
          <a:xfrm>
            <a:off x="5051064" y="1809158"/>
            <a:ext cx="1351354" cy="1355830"/>
          </a:xfrm>
          <a:prstGeom prst="parallelogram">
            <a:avLst/>
          </a:prstGeom>
          <a:solidFill>
            <a:srgbClr val="B467C6"/>
          </a:solidFill>
          <a:ln w="11441">
            <a:solidFill>
              <a:srgbClr val="544BD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_example_image.jpg"/>
          <p:cNvPicPr>
            <a:picLocks noChangeAspect="1"/>
          </p:cNvPicPr>
          <p:nvPr/>
        </p:nvPicPr>
        <p:blipFill>
          <a:blip r:embed="rId2"/>
          <a:srcRect/>
          <a:stretch>
            <a:fillRect/>
          </a:stretch>
        </p:blipFill>
        <p:spPr>
          <a:xfrm>
            <a:off x="6396618" y="2334600"/>
            <a:ext cx="2119283" cy="1614375"/>
          </a:xfrm>
          <a:prstGeom prst="rect">
            <a:avLst/>
          </a:prstGeom>
        </p:spPr>
      </p:pic>
      <p:sp>
        <p:nvSpPr>
          <p:cNvPr id="7" name="TextBox 6"/>
          <p:cNvSpPr txBox="1"/>
          <p:nvPr/>
        </p:nvSpPr>
        <p:spPr>
          <a:xfrm>
            <a:off x="7874261" y="3698376"/>
            <a:ext cx="858576" cy="1903218"/>
          </a:xfrm>
          <a:prstGeom prst="rect">
            <a:avLst/>
          </a:prstGeom>
          <a:noFill/>
        </p:spPr>
        <p:txBody>
          <a:bodyPr wrap="none" lIns="20212" tIns="20212" rIns="20212" bIns="20212">
            <a:spAutoFit/>
          </a:bodyPr>
          <a:lstStyle/>
          <a:p>
            <a:r>
              <a:rPr sz="2300" b="0" i="0" u="none">
                <a:solidFill>
                  <a:srgbClr val="9FCDA1"/>
                </a:solidFill>
                <a:latin typeface="Verdana"/>
              </a:rPr>
              <a:t>Segment View Graph Queue Adaptive Profile Profile Option Cycle</a:t>
            </a:r>
          </a:p>
        </p:txBody>
      </p:sp>
      <p:sp>
        <p:nvSpPr>
          <p:cNvPr id="8" name="Freeform 7"/>
          <p:cNvSpPr/>
          <p:nvPr/>
        </p:nvSpPr>
        <p:spPr>
          <a:xfrm>
            <a:off x="1775490" y="4383263"/>
            <a:ext cx="822349" cy="427425"/>
          </a:xfrm>
          <a:custGeom>
            <a:avLst/>
            <a:gdLst/>
            <a:ahLst/>
            <a:cxnLst/>
            <a:rect l="l" t="t" r="r" b="b"/>
            <a:pathLst>
              <a:path w="822349" h="427425">
                <a:moveTo>
                  <a:pt x="0" y="207776"/>
                </a:moveTo>
                <a:lnTo>
                  <a:pt x="141480" y="0"/>
                </a:lnTo>
                <a:lnTo>
                  <a:pt x="291802" y="178094"/>
                </a:lnTo>
                <a:lnTo>
                  <a:pt x="442123" y="356188"/>
                </a:lnTo>
                <a:lnTo>
                  <a:pt x="601288" y="148412"/>
                </a:lnTo>
                <a:lnTo>
                  <a:pt x="822349" y="225586"/>
                </a:lnTo>
                <a:lnTo>
                  <a:pt x="822349" y="427425"/>
                </a:lnTo>
                <a:lnTo>
                  <a:pt x="0" y="427425"/>
                </a:lnTo>
                <a:close/>
              </a:path>
            </a:pathLst>
          </a:custGeom>
          <a:solidFill>
            <a:srgbClr val="3789AA"/>
          </a:solidFill>
          <a:ln w="14170">
            <a:solidFill>
              <a:srgbClr val="19DC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1981929" y="554777"/>
          <a:ext cx="3159982" cy="962803"/>
        </p:xfrm>
        <a:graphic>
          <a:graphicData uri="http://schemas.openxmlformats.org/drawingml/2006/table">
            <a:tbl>
              <a:tblPr firstRow="1" bandRow="1">
                <a:tableStyleId>{5C22544A-7EE6-4342-B048-85BDC9FD1C3A}</a:tableStyleId>
              </a:tblPr>
              <a:tblGrid>
                <a:gridCol w="789995">
                  <a:extLst>
                    <a:ext uri="{9D8B030D-6E8A-4147-A177-3AD203B41FA5}">
                      <a16:colId xmlns:a16="http://schemas.microsoft.com/office/drawing/2014/main" val="20000"/>
                    </a:ext>
                  </a:extLst>
                </a:gridCol>
                <a:gridCol w="789995">
                  <a:extLst>
                    <a:ext uri="{9D8B030D-6E8A-4147-A177-3AD203B41FA5}">
                      <a16:colId xmlns:a16="http://schemas.microsoft.com/office/drawing/2014/main" val="20001"/>
                    </a:ext>
                  </a:extLst>
                </a:gridCol>
                <a:gridCol w="789995">
                  <a:extLst>
                    <a:ext uri="{9D8B030D-6E8A-4147-A177-3AD203B41FA5}">
                      <a16:colId xmlns:a16="http://schemas.microsoft.com/office/drawing/2014/main" val="20002"/>
                    </a:ext>
                  </a:extLst>
                </a:gridCol>
                <a:gridCol w="789997">
                  <a:extLst>
                    <a:ext uri="{9D8B030D-6E8A-4147-A177-3AD203B41FA5}">
                      <a16:colId xmlns:a16="http://schemas.microsoft.com/office/drawing/2014/main" val="20003"/>
                    </a:ext>
                  </a:extLst>
                </a:gridCol>
              </a:tblGrid>
              <a:tr h="137543">
                <a:tc>
                  <a:txBody>
                    <a:bodyPr/>
                    <a:lstStyle/>
                    <a:p>
                      <a:r>
                        <a:rPr sz="1200" b="1">
                          <a:solidFill>
                            <a:srgbClr val="2B805D"/>
                          </a:solidFill>
                        </a:rPr>
                        <a:t>Circuit</a:t>
                      </a:r>
                    </a:p>
                  </a:txBody>
                  <a:tcPr>
                    <a:solidFill>
                      <a:srgbClr val="4BBAD5"/>
                    </a:solidFill>
                  </a:tcPr>
                </a:tc>
                <a:tc>
                  <a:txBody>
                    <a:bodyPr/>
                    <a:lstStyle/>
                    <a:p>
                      <a:r>
                        <a:rPr sz="1200" b="1">
                          <a:solidFill>
                            <a:srgbClr val="2B805D"/>
                          </a:solidFill>
                        </a:rPr>
                        <a:t>Option Scale</a:t>
                      </a:r>
                    </a:p>
                  </a:txBody>
                  <a:tcPr>
                    <a:solidFill>
                      <a:srgbClr val="4BBAD5"/>
                    </a:solidFill>
                  </a:tcPr>
                </a:tc>
                <a:tc>
                  <a:txBody>
                    <a:bodyPr/>
                    <a:lstStyle/>
                    <a:p>
                      <a:r>
                        <a:rPr sz="1200" b="1">
                          <a:solidFill>
                            <a:srgbClr val="2B805D"/>
                          </a:solidFill>
                        </a:rPr>
                        <a:t>Reference</a:t>
                      </a:r>
                    </a:p>
                  </a:txBody>
                  <a:tcPr>
                    <a:solidFill>
                      <a:srgbClr val="4BBAD5"/>
                    </a:solidFill>
                  </a:tcPr>
                </a:tc>
                <a:tc>
                  <a:txBody>
                    <a:bodyPr/>
                    <a:lstStyle/>
                    <a:p>
                      <a:r>
                        <a:rPr sz="1200" b="1">
                          <a:solidFill>
                            <a:srgbClr val="2B805D"/>
                          </a:solidFill>
                        </a:rPr>
                        <a:t>Radius Balance</a:t>
                      </a:r>
                    </a:p>
                  </a:txBody>
                  <a:tcPr>
                    <a:solidFill>
                      <a:srgbClr val="4BBAD5"/>
                    </a:solidFill>
                  </a:tcPr>
                </a:tc>
                <a:extLst>
                  <a:ext uri="{0D108BD9-81ED-4DB2-BD59-A6C34878D82A}">
                    <a16:rowId xmlns:a16="http://schemas.microsoft.com/office/drawing/2014/main" val="10000"/>
                  </a:ext>
                </a:extLst>
              </a:tr>
              <a:tr h="137543">
                <a:tc>
                  <a:txBody>
                    <a:bodyPr/>
                    <a:lstStyle/>
                    <a:p>
                      <a:r>
                        <a:rPr sz="1200" b="0">
                          <a:solidFill>
                            <a:srgbClr val="2B805D"/>
                          </a:solidFill>
                        </a:rPr>
                        <a:t>Graph Column</a:t>
                      </a:r>
                    </a:p>
                  </a:txBody>
                  <a:tcPr>
                    <a:solidFill>
                      <a:srgbClr val="EFE7F6"/>
                    </a:solidFill>
                  </a:tcPr>
                </a:tc>
                <a:tc>
                  <a:txBody>
                    <a:bodyPr/>
                    <a:lstStyle/>
                    <a:p>
                      <a:r>
                        <a:rPr sz="1200" b="0">
                          <a:solidFill>
                            <a:srgbClr val="2B805D"/>
                          </a:solidFill>
                        </a:rPr>
                        <a:t>Texture Sequence</a:t>
                      </a:r>
                    </a:p>
                  </a:txBody>
                  <a:tcPr>
                    <a:solidFill>
                      <a:srgbClr val="EFE7F6"/>
                    </a:solidFill>
                  </a:tcPr>
                </a:tc>
                <a:tc>
                  <a:txBody>
                    <a:bodyPr/>
                    <a:lstStyle/>
                    <a:p>
                      <a:r>
                        <a:rPr sz="1200" b="0">
                          <a:solidFill>
                            <a:srgbClr val="2B805D"/>
                          </a:solidFill>
                        </a:rPr>
                        <a:t>Library</a:t>
                      </a:r>
                    </a:p>
                  </a:txBody>
                  <a:tcPr>
                    <a:solidFill>
                      <a:srgbClr val="EFE7F6"/>
                    </a:solidFill>
                  </a:tcPr>
                </a:tc>
                <a:tc>
                  <a:txBody>
                    <a:bodyPr/>
                    <a:lstStyle/>
                    <a:p>
                      <a:r>
                        <a:rPr sz="1200" b="0">
                          <a:solidFill>
                            <a:srgbClr val="2B805D"/>
                          </a:solidFill>
                        </a:rPr>
                        <a:t>Access</a:t>
                      </a:r>
                    </a:p>
                  </a:txBody>
                  <a:tcPr>
                    <a:solidFill>
                      <a:srgbClr val="EFE7F6"/>
                    </a:solidFill>
                  </a:tcPr>
                </a:tc>
                <a:extLst>
                  <a:ext uri="{0D108BD9-81ED-4DB2-BD59-A6C34878D82A}">
                    <a16:rowId xmlns:a16="http://schemas.microsoft.com/office/drawing/2014/main" val="10001"/>
                  </a:ext>
                </a:extLst>
              </a:tr>
              <a:tr h="137543">
                <a:tc>
                  <a:txBody>
                    <a:bodyPr/>
                    <a:lstStyle/>
                    <a:p>
                      <a:r>
                        <a:rPr sz="1200" b="0">
                          <a:solidFill>
                            <a:srgbClr val="2B805D"/>
                          </a:solidFill>
                        </a:rPr>
                        <a:t>Adaptive Zone</a:t>
                      </a:r>
                    </a:p>
                  </a:txBody>
                  <a:tcPr>
                    <a:solidFill>
                      <a:srgbClr val="F2ECF8"/>
                    </a:solidFill>
                  </a:tcPr>
                </a:tc>
                <a:tc>
                  <a:txBody>
                    <a:bodyPr/>
                    <a:lstStyle/>
                    <a:p>
                      <a:r>
                        <a:rPr sz="1200" b="0">
                          <a:solidFill>
                            <a:srgbClr val="2B805D"/>
                          </a:solidFill>
                        </a:rPr>
                        <a:t>Cortex Vector</a:t>
                      </a:r>
                    </a:p>
                  </a:txBody>
                  <a:tcPr>
                    <a:solidFill>
                      <a:srgbClr val="F2ECF8"/>
                    </a:solidFill>
                  </a:tcPr>
                </a:tc>
                <a:tc>
                  <a:txBody>
                    <a:bodyPr/>
                    <a:lstStyle/>
                    <a:p>
                      <a:r>
                        <a:rPr sz="1200" b="0">
                          <a:solidFill>
                            <a:srgbClr val="2B805D"/>
                          </a:solidFill>
                        </a:rPr>
                        <a:t>Milestone</a:t>
                      </a:r>
                    </a:p>
                  </a:txBody>
                  <a:tcPr>
                    <a:solidFill>
                      <a:srgbClr val="F2ECF8"/>
                    </a:solidFill>
                  </a:tcPr>
                </a:tc>
                <a:tc>
                  <a:txBody>
                    <a:bodyPr/>
                    <a:lstStyle/>
                    <a:p>
                      <a:r>
                        <a:rPr sz="1200" b="0">
                          <a:solidFill>
                            <a:srgbClr val="2B805D"/>
                          </a:solidFill>
                        </a:rPr>
                        <a:t>Column</a:t>
                      </a:r>
                    </a:p>
                  </a:txBody>
                  <a:tcPr>
                    <a:solidFill>
                      <a:srgbClr val="F2ECF8"/>
                    </a:solidFill>
                  </a:tcPr>
                </a:tc>
                <a:extLst>
                  <a:ext uri="{0D108BD9-81ED-4DB2-BD59-A6C34878D82A}">
                    <a16:rowId xmlns:a16="http://schemas.microsoft.com/office/drawing/2014/main" val="10002"/>
                  </a:ext>
                </a:extLst>
              </a:tr>
              <a:tr h="137543">
                <a:tc>
                  <a:txBody>
                    <a:bodyPr/>
                    <a:lstStyle/>
                    <a:p>
                      <a:r>
                        <a:rPr sz="1200" b="0">
                          <a:solidFill>
                            <a:srgbClr val="2B805D"/>
                          </a:solidFill>
                        </a:rPr>
                        <a:t>Capacity</a:t>
                      </a:r>
                    </a:p>
                  </a:txBody>
                  <a:tcPr>
                    <a:solidFill>
                      <a:srgbClr val="EFE7F6"/>
                    </a:solidFill>
                  </a:tcPr>
                </a:tc>
                <a:tc>
                  <a:txBody>
                    <a:bodyPr/>
                    <a:lstStyle/>
                    <a:p>
                      <a:r>
                        <a:rPr sz="1200" b="0">
                          <a:solidFill>
                            <a:srgbClr val="2B805D"/>
                          </a:solidFill>
                        </a:rPr>
                        <a:t>Gateway Velocity</a:t>
                      </a:r>
                    </a:p>
                  </a:txBody>
                  <a:tcPr>
                    <a:solidFill>
                      <a:srgbClr val="EFE7F6"/>
                    </a:solidFill>
                  </a:tcPr>
                </a:tc>
                <a:tc>
                  <a:txBody>
                    <a:bodyPr/>
                    <a:lstStyle/>
                    <a:p>
                      <a:r>
                        <a:rPr sz="1200" b="0">
                          <a:solidFill>
                            <a:srgbClr val="2B805D"/>
                          </a:solidFill>
                        </a:rPr>
                        <a:t>Adaptive</a:t>
                      </a:r>
                    </a:p>
                  </a:txBody>
                  <a:tcPr>
                    <a:solidFill>
                      <a:srgbClr val="EFE7F6"/>
                    </a:solidFill>
                  </a:tcPr>
                </a:tc>
                <a:tc>
                  <a:txBody>
                    <a:bodyPr/>
                    <a:lstStyle/>
                    <a:p>
                      <a:r>
                        <a:rPr sz="1200" b="0">
                          <a:solidFill>
                            <a:srgbClr val="2B805D"/>
                          </a:solidFill>
                        </a:rPr>
                        <a:t>Asset Source</a:t>
                      </a:r>
                    </a:p>
                  </a:txBody>
                  <a:tcPr>
                    <a:solidFill>
                      <a:srgbClr val="EFE7F6"/>
                    </a:solidFill>
                  </a:tcPr>
                </a:tc>
                <a:extLst>
                  <a:ext uri="{0D108BD9-81ED-4DB2-BD59-A6C34878D82A}">
                    <a16:rowId xmlns:a16="http://schemas.microsoft.com/office/drawing/2014/main" val="10003"/>
                  </a:ext>
                </a:extLst>
              </a:tr>
              <a:tr h="137543">
                <a:tc>
                  <a:txBody>
                    <a:bodyPr/>
                    <a:lstStyle/>
                    <a:p>
                      <a:r>
                        <a:rPr sz="1200" b="0">
                          <a:solidFill>
                            <a:srgbClr val="2B805D"/>
                          </a:solidFill>
                        </a:rPr>
                        <a:t>Circuit Resource</a:t>
                      </a:r>
                    </a:p>
                  </a:txBody>
                  <a:tcPr>
                    <a:solidFill>
                      <a:srgbClr val="F2ECF8"/>
                    </a:solidFill>
                  </a:tcPr>
                </a:tc>
                <a:tc>
                  <a:txBody>
                    <a:bodyPr/>
                    <a:lstStyle/>
                    <a:p>
                      <a:r>
                        <a:rPr sz="1200" b="0">
                          <a:solidFill>
                            <a:srgbClr val="2B805D"/>
                          </a:solidFill>
                        </a:rPr>
                        <a:t>Interval</a:t>
                      </a:r>
                    </a:p>
                  </a:txBody>
                  <a:tcPr>
                    <a:solidFill>
                      <a:srgbClr val="F2ECF8"/>
                    </a:solidFill>
                  </a:tcPr>
                </a:tc>
                <a:tc>
                  <a:txBody>
                    <a:bodyPr/>
                    <a:lstStyle/>
                    <a:p>
                      <a:r>
                        <a:rPr sz="1200" b="0">
                          <a:solidFill>
                            <a:srgbClr val="2B805D"/>
                          </a:solidFill>
                        </a:rPr>
                        <a:t>Region Release</a:t>
                      </a:r>
                    </a:p>
                  </a:txBody>
                  <a:tcPr>
                    <a:solidFill>
                      <a:srgbClr val="F2ECF8"/>
                    </a:solidFill>
                  </a:tcPr>
                </a:tc>
                <a:tc>
                  <a:txBody>
                    <a:bodyPr/>
                    <a:lstStyle/>
                    <a:p>
                      <a:r>
                        <a:rPr sz="1200" b="0">
                          <a:solidFill>
                            <a:srgbClr val="2B805D"/>
                          </a:solidFill>
                        </a:rPr>
                        <a:t>Viewport Graph</a:t>
                      </a:r>
                    </a:p>
                  </a:txBody>
                  <a:tcPr>
                    <a:solidFill>
                      <a:srgbClr val="F2ECF8"/>
                    </a:solidFill>
                  </a:tcPr>
                </a:tc>
                <a:extLst>
                  <a:ext uri="{0D108BD9-81ED-4DB2-BD59-A6C34878D82A}">
                    <a16:rowId xmlns:a16="http://schemas.microsoft.com/office/drawing/2014/main" val="10004"/>
                  </a:ext>
                </a:extLst>
              </a:tr>
              <a:tr h="137543">
                <a:tc>
                  <a:txBody>
                    <a:bodyPr/>
                    <a:lstStyle/>
                    <a:p>
                      <a:r>
                        <a:rPr sz="1200" b="0">
                          <a:solidFill>
                            <a:srgbClr val="2B805D"/>
                          </a:solidFill>
                        </a:rPr>
                        <a:t>Network Vertex</a:t>
                      </a:r>
                    </a:p>
                  </a:txBody>
                  <a:tcPr>
                    <a:solidFill>
                      <a:srgbClr val="EFE7F6"/>
                    </a:solidFill>
                  </a:tcPr>
                </a:tc>
                <a:tc>
                  <a:txBody>
                    <a:bodyPr/>
                    <a:lstStyle/>
                    <a:p>
                      <a:r>
                        <a:rPr sz="1200" b="0">
                          <a:solidFill>
                            <a:srgbClr val="2B805D"/>
                          </a:solidFill>
                        </a:rPr>
                        <a:t>Anchor Sequence</a:t>
                      </a:r>
                    </a:p>
                  </a:txBody>
                  <a:tcPr>
                    <a:solidFill>
                      <a:srgbClr val="EFE7F6"/>
                    </a:solidFill>
                  </a:tcPr>
                </a:tc>
                <a:tc>
                  <a:txBody>
                    <a:bodyPr/>
                    <a:lstStyle/>
                    <a:p>
                      <a:r>
                        <a:rPr sz="1200" b="0">
                          <a:solidFill>
                            <a:srgbClr val="2B805D"/>
                          </a:solidFill>
                        </a:rPr>
                        <a:t>Grid Schema</a:t>
                      </a:r>
                    </a:p>
                  </a:txBody>
                  <a:tcPr>
                    <a:solidFill>
                      <a:srgbClr val="EFE7F6"/>
                    </a:solidFill>
                  </a:tcPr>
                </a:tc>
                <a:tc>
                  <a:txBody>
                    <a:bodyPr/>
                    <a:lstStyle/>
                    <a:p>
                      <a:r>
                        <a:rPr sz="1200" b="0">
                          <a:solidFill>
                            <a:srgbClr val="2B805D"/>
                          </a:solidFill>
                        </a:rPr>
                        <a:t>Relay</a:t>
                      </a:r>
                    </a:p>
                  </a:txBody>
                  <a:tcPr>
                    <a:solidFill>
                      <a:srgbClr val="EFE7F6"/>
                    </a:solidFill>
                  </a:tcPr>
                </a:tc>
                <a:extLst>
                  <a:ext uri="{0D108BD9-81ED-4DB2-BD59-A6C34878D82A}">
                    <a16:rowId xmlns:a16="http://schemas.microsoft.com/office/drawing/2014/main" val="10005"/>
                  </a:ext>
                </a:extLst>
              </a:tr>
              <a:tr h="137545">
                <a:tc>
                  <a:txBody>
                    <a:bodyPr/>
                    <a:lstStyle/>
                    <a:p>
                      <a:r>
                        <a:rPr sz="1200" b="0">
                          <a:solidFill>
                            <a:srgbClr val="2B805D"/>
                          </a:solidFill>
                        </a:rPr>
                        <a:t>Frequency</a:t>
                      </a:r>
                    </a:p>
                  </a:txBody>
                  <a:tcPr>
                    <a:solidFill>
                      <a:srgbClr val="F2ECF8"/>
                    </a:solidFill>
                  </a:tcPr>
                </a:tc>
                <a:tc>
                  <a:txBody>
                    <a:bodyPr/>
                    <a:lstStyle/>
                    <a:p>
                      <a:r>
                        <a:rPr sz="1200" b="0">
                          <a:solidFill>
                            <a:srgbClr val="2B805D"/>
                          </a:solidFill>
                        </a:rPr>
                        <a:t>Drive Matrix</a:t>
                      </a:r>
                    </a:p>
                  </a:txBody>
                  <a:tcPr>
                    <a:solidFill>
                      <a:srgbClr val="F2ECF8"/>
                    </a:solidFill>
                  </a:tcPr>
                </a:tc>
                <a:tc>
                  <a:txBody>
                    <a:bodyPr/>
                    <a:lstStyle/>
                    <a:p>
                      <a:r>
                        <a:rPr sz="1200" b="0">
                          <a:solidFill>
                            <a:srgbClr val="2B805D"/>
                          </a:solidFill>
                        </a:rPr>
                        <a:t>Marker Range</a:t>
                      </a:r>
                    </a:p>
                  </a:txBody>
                  <a:tcPr>
                    <a:solidFill>
                      <a:srgbClr val="F2ECF8"/>
                    </a:solidFill>
                  </a:tcPr>
                </a:tc>
                <a:tc>
                  <a:txBody>
                    <a:bodyPr/>
                    <a:lstStyle/>
                    <a:p>
                      <a:r>
                        <a:rPr sz="1200" b="0">
                          <a:solidFill>
                            <a:srgbClr val="2B805D"/>
                          </a:solidFill>
                        </a:rPr>
                        <a:t>Method Blueprint</a:t>
                      </a:r>
                    </a:p>
                  </a:txBody>
                  <a:tcPr>
                    <a:solidFill>
                      <a:srgbClr val="F2ECF8"/>
                    </a:solidFill>
                  </a:tcPr>
                </a:tc>
                <a:extLst>
                  <a:ext uri="{0D108BD9-81ED-4DB2-BD59-A6C34878D82A}">
                    <a16:rowId xmlns:a16="http://schemas.microsoft.com/office/drawing/2014/main" val="10006"/>
                  </a:ext>
                </a:extLst>
              </a:tr>
            </a:tbl>
          </a:graphicData>
        </a:graphic>
      </p:graphicFrame>
      <p:pic>
        <p:nvPicPr>
          <p:cNvPr id="10" name="Picture 9" descr="_example_image.jpg"/>
          <p:cNvPicPr>
            <a:picLocks noChangeAspect="1"/>
          </p:cNvPicPr>
          <p:nvPr/>
        </p:nvPicPr>
        <p:blipFill>
          <a:blip r:embed="rId2"/>
          <a:srcRect l="10595" t="15316" r="5983" b="9977"/>
          <a:stretch>
            <a:fillRect/>
          </a:stretch>
        </p:blipFill>
        <p:spPr>
          <a:xfrm>
            <a:off x="5886501" y="4660710"/>
            <a:ext cx="1176448" cy="1925269"/>
          </a:xfrm>
          <a:prstGeom prst="rect">
            <a:avLst/>
          </a:prstGeom>
        </p:spPr>
      </p:pic>
      <p:sp>
        <p:nvSpPr>
          <p:cNvPr id="11" name="Rounded Rectangle 10"/>
          <p:cNvSpPr/>
          <p:nvPr/>
        </p:nvSpPr>
        <p:spPr>
          <a:xfrm>
            <a:off x="5886501" y="4660710"/>
            <a:ext cx="1176448" cy="1925269"/>
          </a:xfrm>
          <a:prstGeom prst="roundRect">
            <a:avLst/>
          </a:prstGeom>
          <a:noFill/>
          <a:ln w="15240">
            <a:solidFill>
              <a:srgbClr val="285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Explosion 11"/>
          <p:cNvSpPr/>
          <p:nvPr/>
        </p:nvSpPr>
        <p:spPr>
          <a:xfrm>
            <a:off x="2412397" y="640840"/>
            <a:ext cx="1821043" cy="290278"/>
          </a:xfrm>
          <a:prstGeom prst="irregularSeal2">
            <a:avLst/>
          </a:prstGeom>
          <a:solidFill>
            <a:srgbClr val="DB402F"/>
          </a:solidFill>
          <a:ln w="12124">
            <a:solidFill>
              <a:srgbClr val="2D35B5"/>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urved Down Ribbon 12"/>
          <p:cNvSpPr/>
          <p:nvPr/>
        </p:nvSpPr>
        <p:spPr>
          <a:xfrm>
            <a:off x="3460442" y="1519398"/>
            <a:ext cx="1124514" cy="543131"/>
          </a:xfrm>
          <a:prstGeom prst="ellipseRibbon">
            <a:avLst/>
          </a:prstGeom>
          <a:noFill/>
          <a:ln w="21446">
            <a:solidFill>
              <a:srgbClr val="D48DC3"/>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Chart 13"/>
          <p:cNvGraphicFramePr>
            <a:graphicFrameLocks noGrp="1"/>
          </p:cNvGraphicFramePr>
          <p:nvPr/>
        </p:nvGraphicFramePr>
        <p:xfrm>
          <a:off x="3627912" y="5178615"/>
          <a:ext cx="2247916" cy="14168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p:cNvGraphicFramePr>
            <a:graphicFrameLocks noGrp="1"/>
          </p:cNvGraphicFramePr>
          <p:nvPr/>
        </p:nvGraphicFramePr>
        <p:xfrm>
          <a:off x="1853497" y="1760417"/>
          <a:ext cx="2635483" cy="159805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p:cNvSpPr txBox="1"/>
          <p:nvPr/>
        </p:nvSpPr>
        <p:spPr>
          <a:xfrm>
            <a:off x="1808386" y="5114687"/>
            <a:ext cx="3670995" cy="1404451"/>
          </a:xfrm>
          <a:prstGeom prst="rect">
            <a:avLst/>
          </a:prstGeom>
          <a:noFill/>
        </p:spPr>
        <p:txBody>
          <a:bodyPr wrap="none" lIns="49154" tIns="49154" rIns="49154" bIns="49154">
            <a:spAutoFit/>
          </a:bodyPr>
          <a:lstStyle/>
          <a:p>
            <a:r>
              <a:rPr sz="1500" b="1" i="0" u="none">
                <a:solidFill>
                  <a:srgbClr val="4E4CD9"/>
                </a:solidFill>
                <a:latin typeface="Aptos"/>
              </a:rPr>
              <a:t>System Workflow Grid Route Factor Stream Stream Waypoint Order Service Schema Array Craft Baseline Loop Slice Intent Profile Event Inventory Grid Sync Epoch Point Feature Detail Switch Sequence Logic Orbit Envelope Sync Library Option Template Direction Position</a:t>
            </a:r>
          </a:p>
        </p:txBody>
      </p:sp>
      <p:pic>
        <p:nvPicPr>
          <p:cNvPr id="17" name="Picture 16" descr="_example_image.jpg"/>
          <p:cNvPicPr>
            <a:picLocks noChangeAspect="1"/>
          </p:cNvPicPr>
          <p:nvPr/>
        </p:nvPicPr>
        <p:blipFill>
          <a:blip r:embed="rId2"/>
          <a:srcRect l="14050" t="13620" r="3187" b="6027"/>
          <a:stretch>
            <a:fillRect/>
          </a:stretch>
        </p:blipFill>
        <p:spPr>
          <a:xfrm>
            <a:off x="6524996" y="179622"/>
            <a:ext cx="1570189" cy="1111088"/>
          </a:xfrm>
          <a:prstGeom prst="rect">
            <a:avLst/>
          </a:prstGeom>
        </p:spPr>
      </p:pic>
      <p:sp>
        <p:nvSpPr>
          <p:cNvPr id="18" name="Up-Down Arrow 17"/>
          <p:cNvSpPr/>
          <p:nvPr/>
        </p:nvSpPr>
        <p:spPr>
          <a:xfrm>
            <a:off x="7021662" y="1422963"/>
            <a:ext cx="2280549" cy="680779"/>
          </a:xfrm>
          <a:prstGeom prst="upDownArrow">
            <a:avLst/>
          </a:prstGeom>
          <a:solidFill>
            <a:srgbClr val="6A4270"/>
          </a:solidFill>
          <a:ln w="25740">
            <a:solidFill>
              <a:srgbClr val="99429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418597" y="1399774"/>
            <a:ext cx="1533611" cy="1812478"/>
          </a:xfrm>
          <a:prstGeom prst="line">
            <a:avLst/>
          </a:prstGeom>
          <a:ln w="50733">
            <a:solidFill>
              <a:srgbClr val="6F7553"/>
            </a:solidFill>
            <a:prstDash val="dashDot"/>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070035" y="307183"/>
            <a:ext cx="1499211" cy="612567"/>
          </a:xfrm>
          <a:prstGeom prst="roundRect">
            <a:avLst/>
          </a:prstGeom>
          <a:solidFill>
            <a:srgbClr val="52AB70"/>
          </a:solidFill>
          <a:ln w="7109">
            <a:solidFill>
              <a:srgbClr val="9E3833"/>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4259154" y="4705108"/>
            <a:ext cx="1095252" cy="559434"/>
          </a:xfrm>
          <a:custGeom>
            <a:avLst/>
            <a:gdLst/>
            <a:ahLst/>
            <a:cxnLst/>
            <a:rect l="l" t="t" r="r" b="b"/>
            <a:pathLst>
              <a:path w="1095252" h="559434">
                <a:moveTo>
                  <a:pt x="547626" y="0"/>
                </a:moveTo>
                <a:lnTo>
                  <a:pt x="684532" y="139858"/>
                </a:lnTo>
                <a:lnTo>
                  <a:pt x="1026798" y="100698"/>
                </a:lnTo>
                <a:lnTo>
                  <a:pt x="832848" y="279717"/>
                </a:lnTo>
                <a:lnTo>
                  <a:pt x="1095252" y="436359"/>
                </a:lnTo>
                <a:lnTo>
                  <a:pt x="684532" y="402793"/>
                </a:lnTo>
                <a:lnTo>
                  <a:pt x="547626" y="559434"/>
                </a:lnTo>
                <a:lnTo>
                  <a:pt x="410719" y="402793"/>
                </a:lnTo>
                <a:lnTo>
                  <a:pt x="0" y="436359"/>
                </a:lnTo>
                <a:lnTo>
                  <a:pt x="262404" y="279717"/>
                </a:lnTo>
                <a:lnTo>
                  <a:pt x="68453" y="100698"/>
                </a:lnTo>
                <a:lnTo>
                  <a:pt x="410719" y="139858"/>
                </a:lnTo>
                <a:close/>
              </a:path>
            </a:pathLst>
          </a:custGeom>
          <a:solidFill>
            <a:srgbClr val="3584DE"/>
          </a:solidFill>
          <a:ln w="10359">
            <a:solidFill>
              <a:srgbClr val="1B9D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5978054" y="3916706"/>
            <a:ext cx="1225413" cy="743391"/>
          </a:xfrm>
          <a:prstGeom prst="line">
            <a:avLst/>
          </a:prstGeom>
          <a:ln w="15619">
            <a:solidFill>
              <a:srgbClr val="2897B4"/>
            </a:solidFill>
            <a:prstDash val="solid"/>
          </a:ln>
        </p:spPr>
        <p:style>
          <a:lnRef idx="2">
            <a:schemeClr val="accent1"/>
          </a:lnRef>
          <a:fillRef idx="0">
            <a:schemeClr val="accent1"/>
          </a:fillRef>
          <a:effectRef idx="1">
            <a:schemeClr val="accent1"/>
          </a:effectRef>
          <a:fontRef idx="minor">
            <a:schemeClr val="tx1"/>
          </a:fontRef>
        </p:style>
      </p:cxnSp>
      <p:sp>
        <p:nvSpPr>
          <p:cNvPr id="23" name="Left-Right Arrow 22"/>
          <p:cNvSpPr/>
          <p:nvPr/>
        </p:nvSpPr>
        <p:spPr>
          <a:xfrm>
            <a:off x="9462942" y="1190408"/>
            <a:ext cx="522667" cy="698076"/>
          </a:xfrm>
          <a:prstGeom prst="leftRightArrow">
            <a:avLst/>
          </a:prstGeom>
          <a:noFill/>
          <a:ln w="7666">
            <a:solidFill>
              <a:srgbClr val="B79C4B"/>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isplay 23"/>
          <p:cNvSpPr/>
          <p:nvPr/>
        </p:nvSpPr>
        <p:spPr>
          <a:xfrm>
            <a:off x="9694273" y="4473574"/>
            <a:ext cx="2132542" cy="1298390"/>
          </a:xfrm>
          <a:prstGeom prst="flowChartDisplay">
            <a:avLst/>
          </a:prstGeom>
          <a:solidFill>
            <a:srgbClr val="7F33A6"/>
          </a:solidFill>
          <a:ln w="8626">
            <a:solidFill>
              <a:srgbClr val="C0448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p:cNvGraphicFramePr>
            <a:graphicFrameLocks noGrp="1"/>
          </p:cNvGraphicFramePr>
          <p:nvPr/>
        </p:nvGraphicFramePr>
        <p:xfrm>
          <a:off x="7086748" y="5104534"/>
          <a:ext cx="2571997" cy="1410043"/>
        </p:xfrm>
        <a:graphic>
          <a:graphicData uri="http://schemas.openxmlformats.org/drawingml/2006/table">
            <a:tbl>
              <a:tblPr firstRow="1" bandRow="1">
                <a:tableStyleId>{5C22544A-7EE6-4342-B048-85BDC9FD1C3A}</a:tableStyleId>
              </a:tblPr>
              <a:tblGrid>
                <a:gridCol w="514399">
                  <a:extLst>
                    <a:ext uri="{9D8B030D-6E8A-4147-A177-3AD203B41FA5}">
                      <a16:colId xmlns:a16="http://schemas.microsoft.com/office/drawing/2014/main" val="20000"/>
                    </a:ext>
                  </a:extLst>
                </a:gridCol>
                <a:gridCol w="514399">
                  <a:extLst>
                    <a:ext uri="{9D8B030D-6E8A-4147-A177-3AD203B41FA5}">
                      <a16:colId xmlns:a16="http://schemas.microsoft.com/office/drawing/2014/main" val="20001"/>
                    </a:ext>
                  </a:extLst>
                </a:gridCol>
                <a:gridCol w="514399">
                  <a:extLst>
                    <a:ext uri="{9D8B030D-6E8A-4147-A177-3AD203B41FA5}">
                      <a16:colId xmlns:a16="http://schemas.microsoft.com/office/drawing/2014/main" val="20002"/>
                    </a:ext>
                  </a:extLst>
                </a:gridCol>
                <a:gridCol w="514399">
                  <a:extLst>
                    <a:ext uri="{9D8B030D-6E8A-4147-A177-3AD203B41FA5}">
                      <a16:colId xmlns:a16="http://schemas.microsoft.com/office/drawing/2014/main" val="20003"/>
                    </a:ext>
                  </a:extLst>
                </a:gridCol>
                <a:gridCol w="514401">
                  <a:extLst>
                    <a:ext uri="{9D8B030D-6E8A-4147-A177-3AD203B41FA5}">
                      <a16:colId xmlns:a16="http://schemas.microsoft.com/office/drawing/2014/main" val="20004"/>
                    </a:ext>
                  </a:extLst>
                </a:gridCol>
              </a:tblGrid>
              <a:tr h="705021">
                <a:tc>
                  <a:txBody>
                    <a:bodyPr/>
                    <a:lstStyle/>
                    <a:p>
                      <a:r>
                        <a:rPr sz="1000" b="1">
                          <a:solidFill>
                            <a:srgbClr val="DC3776"/>
                          </a:solidFill>
                        </a:rPr>
                        <a:t>Epoch</a:t>
                      </a:r>
                    </a:p>
                  </a:txBody>
                  <a:tcPr>
                    <a:solidFill>
                      <a:srgbClr val="774038"/>
                    </a:solidFill>
                  </a:tcPr>
                </a:tc>
                <a:tc>
                  <a:txBody>
                    <a:bodyPr/>
                    <a:lstStyle/>
                    <a:p>
                      <a:r>
                        <a:rPr sz="1000" b="1">
                          <a:solidFill>
                            <a:srgbClr val="DC3776"/>
                          </a:solidFill>
                        </a:rPr>
                        <a:t>Method</a:t>
                      </a:r>
                    </a:p>
                  </a:txBody>
                  <a:tcPr>
                    <a:solidFill>
                      <a:srgbClr val="774038"/>
                    </a:solidFill>
                  </a:tcPr>
                </a:tc>
                <a:tc>
                  <a:txBody>
                    <a:bodyPr/>
                    <a:lstStyle/>
                    <a:p>
                      <a:r>
                        <a:rPr sz="1000" b="1">
                          <a:solidFill>
                            <a:srgbClr val="DC3776"/>
                          </a:solidFill>
                        </a:rPr>
                        <a:t>Cadence Queue</a:t>
                      </a:r>
                    </a:p>
                  </a:txBody>
                  <a:tcPr>
                    <a:solidFill>
                      <a:srgbClr val="774038"/>
                    </a:solidFill>
                  </a:tcPr>
                </a:tc>
                <a:tc>
                  <a:txBody>
                    <a:bodyPr/>
                    <a:lstStyle/>
                    <a:p>
                      <a:r>
                        <a:rPr sz="1000" b="1">
                          <a:solidFill>
                            <a:srgbClr val="DC3776"/>
                          </a:solidFill>
                        </a:rPr>
                        <a:t>Beacon</a:t>
                      </a:r>
                    </a:p>
                  </a:txBody>
                  <a:tcPr>
                    <a:solidFill>
                      <a:srgbClr val="774038"/>
                    </a:solidFill>
                  </a:tcPr>
                </a:tc>
                <a:tc>
                  <a:txBody>
                    <a:bodyPr/>
                    <a:lstStyle/>
                    <a:p>
                      <a:r>
                        <a:rPr sz="1000" b="1">
                          <a:solidFill>
                            <a:srgbClr val="DC3776"/>
                          </a:solidFill>
                        </a:rPr>
                        <a:t>Analysis Harbor</a:t>
                      </a:r>
                    </a:p>
                  </a:txBody>
                  <a:tcPr>
                    <a:solidFill>
                      <a:srgbClr val="774038"/>
                    </a:solidFill>
                  </a:tcPr>
                </a:tc>
                <a:extLst>
                  <a:ext uri="{0D108BD9-81ED-4DB2-BD59-A6C34878D82A}">
                    <a16:rowId xmlns:a16="http://schemas.microsoft.com/office/drawing/2014/main" val="10000"/>
                  </a:ext>
                </a:extLst>
              </a:tr>
              <a:tr h="705022">
                <a:tc>
                  <a:txBody>
                    <a:bodyPr/>
                    <a:lstStyle/>
                    <a:p>
                      <a:r>
                        <a:rPr sz="1000" b="0">
                          <a:solidFill>
                            <a:srgbClr val="DC3776"/>
                          </a:solidFill>
                        </a:rPr>
                        <a:t>Apex</a:t>
                      </a:r>
                    </a:p>
                  </a:txBody>
                  <a:tcPr>
                    <a:solidFill>
                      <a:srgbClr val="E3B5D3"/>
                    </a:solidFill>
                  </a:tcPr>
                </a:tc>
                <a:tc>
                  <a:txBody>
                    <a:bodyPr/>
                    <a:lstStyle/>
                    <a:p>
                      <a:r>
                        <a:rPr sz="1000" b="0">
                          <a:solidFill>
                            <a:srgbClr val="DC3776"/>
                          </a:solidFill>
                        </a:rPr>
                        <a:t>Origin</a:t>
                      </a:r>
                    </a:p>
                  </a:txBody>
                  <a:tcPr>
                    <a:solidFill>
                      <a:srgbClr val="E3B5D3"/>
                    </a:solidFill>
                  </a:tcPr>
                </a:tc>
                <a:tc>
                  <a:txBody>
                    <a:bodyPr/>
                    <a:lstStyle/>
                    <a:p>
                      <a:r>
                        <a:rPr sz="1000" b="0">
                          <a:solidFill>
                            <a:srgbClr val="DC3776"/>
                          </a:solidFill>
                        </a:rPr>
                        <a:t>Schema Ledger</a:t>
                      </a:r>
                    </a:p>
                  </a:txBody>
                  <a:tcPr>
                    <a:solidFill>
                      <a:srgbClr val="E3B5D3"/>
                    </a:solidFill>
                  </a:tcPr>
                </a:tc>
                <a:tc>
                  <a:txBody>
                    <a:bodyPr/>
                    <a:lstStyle/>
                    <a:p>
                      <a:r>
                        <a:rPr sz="1000" b="0">
                          <a:solidFill>
                            <a:srgbClr val="DC3776"/>
                          </a:solidFill>
                        </a:rPr>
                        <a:t>Intent</a:t>
                      </a:r>
                    </a:p>
                  </a:txBody>
                  <a:tcPr>
                    <a:solidFill>
                      <a:srgbClr val="E3B5D3"/>
                    </a:solidFill>
                  </a:tcPr>
                </a:tc>
                <a:tc>
                  <a:txBody>
                    <a:bodyPr/>
                    <a:lstStyle/>
                    <a:p>
                      <a:r>
                        <a:rPr sz="1000" b="0">
                          <a:solidFill>
                            <a:srgbClr val="DC3776"/>
                          </a:solidFill>
                        </a:rPr>
                        <a:t>Gateway</a:t>
                      </a:r>
                    </a:p>
                  </a:txBody>
                  <a:tcPr>
                    <a:solidFill>
                      <a:srgbClr val="E3B5D3"/>
                    </a:solidFill>
                  </a:tcPr>
                </a:tc>
                <a:extLst>
                  <a:ext uri="{0D108BD9-81ED-4DB2-BD59-A6C34878D82A}">
                    <a16:rowId xmlns:a16="http://schemas.microsoft.com/office/drawing/2014/main" val="10001"/>
                  </a:ext>
                </a:extLst>
              </a:tr>
            </a:tbl>
          </a:graphicData>
        </a:graphic>
      </p:graphicFrame>
      <p:sp>
        <p:nvSpPr>
          <p:cNvPr id="26" name="TextBox 25"/>
          <p:cNvSpPr txBox="1"/>
          <p:nvPr/>
        </p:nvSpPr>
        <p:spPr>
          <a:xfrm>
            <a:off x="1941389" y="2529990"/>
            <a:ext cx="1378443" cy="2467129"/>
          </a:xfrm>
          <a:prstGeom prst="rect">
            <a:avLst/>
          </a:prstGeom>
          <a:solidFill>
            <a:srgbClr val="551C1B"/>
          </a:solidFill>
        </p:spPr>
        <p:txBody>
          <a:bodyPr wrap="none" lIns="39631" tIns="39631" rIns="39631" bIns="39631">
            <a:spAutoFit/>
          </a:bodyPr>
          <a:lstStyle/>
          <a:p>
            <a:r>
              <a:rPr sz="3300" b="1" i="0" u="none">
                <a:solidFill>
                  <a:srgbClr val="47A324"/>
                </a:solidFill>
                <a:latin typeface="Calibri"/>
              </a:rPr>
              <a:t>Drive Brief Zone Domain Viewport Focus</a:t>
            </a:r>
          </a:p>
        </p:txBody>
      </p:sp>
      <p:sp>
        <p:nvSpPr>
          <p:cNvPr id="27" name="TextBox 26"/>
          <p:cNvSpPr txBox="1"/>
          <p:nvPr/>
        </p:nvSpPr>
        <p:spPr>
          <a:xfrm>
            <a:off x="10284905" y="1566500"/>
            <a:ext cx="919233" cy="2174256"/>
          </a:xfrm>
          <a:prstGeom prst="rect">
            <a:avLst/>
          </a:prstGeom>
          <a:noFill/>
        </p:spPr>
        <p:txBody>
          <a:bodyPr wrap="none" lIns="62815" tIns="62815" rIns="62815" bIns="62815">
            <a:spAutoFit/>
          </a:bodyPr>
          <a:lstStyle/>
          <a:p>
            <a:r>
              <a:rPr sz="1000" b="0" i="0" u="none">
                <a:solidFill>
                  <a:srgbClr val="43CC95"/>
                </a:solidFill>
                <a:latin typeface="Arial"/>
              </a:rPr>
              <a:t>Data Channel Reference Gateway Baseline Loop Ledger Center Process Case Explorer</a:t>
            </a:r>
          </a:p>
        </p:txBody>
      </p:sp>
      <p:pic>
        <p:nvPicPr>
          <p:cNvPr id="29" name="Graphic 28">
            <a:extLst>
              <a:ext uri="{FF2B5EF4-FFF2-40B4-BE49-F238E27FC236}">
                <a16:creationId xmlns:a16="http://schemas.microsoft.com/office/drawing/2014/main" id="{08B63991-AB13-12EF-648F-CB33EE97968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839854" y="3056134"/>
            <a:ext cx="1064247" cy="1614790"/>
          </a:xfrm>
          <a:prstGeom prst="rect">
            <a:avLst/>
          </a:prstGeom>
        </p:spPr>
      </p:pic>
      <p:pic>
        <p:nvPicPr>
          <p:cNvPr id="31" name="Graphic 30">
            <a:extLst>
              <a:ext uri="{FF2B5EF4-FFF2-40B4-BE49-F238E27FC236}">
                <a16:creationId xmlns:a16="http://schemas.microsoft.com/office/drawing/2014/main" id="{C439128F-F8EC-0FF2-2FD9-AB69E0DC53A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984222" y="3018496"/>
            <a:ext cx="2351500" cy="106008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15567" y="5307237"/>
            <a:ext cx="3276309" cy="665507"/>
          </a:xfrm>
          <a:prstGeom prst="rect">
            <a:avLst/>
          </a:prstGeom>
          <a:noFill/>
        </p:spPr>
        <p:txBody>
          <a:bodyPr wrap="none" lIns="28353" tIns="28353" rIns="28353" bIns="28353">
            <a:spAutoFit/>
          </a:bodyPr>
          <a:lstStyle/>
          <a:p>
            <a:r>
              <a:rPr sz="900" b="0" i="0" u="none">
                <a:solidFill>
                  <a:srgbClr val="DAA987"/>
                </a:solidFill>
                <a:latin typeface="Aptos"/>
              </a:rPr>
              <a:t>Graph</a:t>
            </a:r>
          </a:p>
        </p:txBody>
      </p:sp>
      <p:cxnSp>
        <p:nvCxnSpPr>
          <p:cNvPr id="3" name="Connector 2"/>
          <p:cNvCxnSpPr/>
          <p:nvPr/>
        </p:nvCxnSpPr>
        <p:spPr>
          <a:xfrm flipV="1">
            <a:off x="2882438" y="5378765"/>
            <a:ext cx="1525265" cy="894601"/>
          </a:xfrm>
          <a:prstGeom prst="line">
            <a:avLst/>
          </a:prstGeom>
          <a:ln w="23724">
            <a:solidFill>
              <a:srgbClr val="729D9B"/>
            </a:solidFill>
            <a:prstDash val="dashDot"/>
          </a:ln>
        </p:spPr>
        <p:style>
          <a:lnRef idx="2">
            <a:schemeClr val="accent1"/>
          </a:lnRef>
          <a:fillRef idx="0">
            <a:schemeClr val="accent1"/>
          </a:fillRef>
          <a:effectRef idx="1">
            <a:schemeClr val="accent1"/>
          </a:effectRef>
          <a:fontRef idx="minor">
            <a:schemeClr val="tx1"/>
          </a:fontRef>
        </p:style>
      </p:cxnSp>
      <p:sp>
        <p:nvSpPr>
          <p:cNvPr id="4" name="Oval Callout 3"/>
          <p:cNvSpPr/>
          <p:nvPr/>
        </p:nvSpPr>
        <p:spPr>
          <a:xfrm>
            <a:off x="10841244" y="5290700"/>
            <a:ext cx="664030" cy="580617"/>
          </a:xfrm>
          <a:prstGeom prst="wedgeEllipseCallout">
            <a:avLst/>
          </a:prstGeom>
          <a:solidFill>
            <a:srgbClr val="696A34"/>
          </a:solidFill>
          <a:ln w="21791">
            <a:solidFill>
              <a:srgbClr val="A633C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Left Arrow 4"/>
          <p:cNvSpPr/>
          <p:nvPr/>
        </p:nvSpPr>
        <p:spPr>
          <a:xfrm>
            <a:off x="2121074" y="1522339"/>
            <a:ext cx="2253018" cy="326240"/>
          </a:xfrm>
          <a:prstGeom prst="leftArrow">
            <a:avLst/>
          </a:prstGeom>
          <a:solidFill>
            <a:srgbClr val="D99355"/>
          </a:solidFill>
          <a:ln w="20769">
            <a:solidFill>
              <a:srgbClr val="DF977E"/>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Explosion 5"/>
          <p:cNvSpPr/>
          <p:nvPr/>
        </p:nvSpPr>
        <p:spPr>
          <a:xfrm>
            <a:off x="1109245" y="2202337"/>
            <a:ext cx="756429" cy="343000"/>
          </a:xfrm>
          <a:prstGeom prst="irregularSeal2">
            <a:avLst/>
          </a:prstGeom>
          <a:solidFill>
            <a:srgbClr val="4B6354"/>
          </a:solidFill>
          <a:ln w="28860">
            <a:solidFill>
              <a:srgbClr val="A97E4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1273" y="642991"/>
            <a:ext cx="660111" cy="1370864"/>
          </a:xfrm>
          <a:prstGeom prst="rect">
            <a:avLst/>
          </a:prstGeom>
          <a:noFill/>
        </p:spPr>
        <p:txBody>
          <a:bodyPr wrap="none" lIns="46268" tIns="46268" rIns="46268" bIns="46268">
            <a:spAutoFit/>
          </a:bodyPr>
          <a:lstStyle/>
          <a:p>
            <a:r>
              <a:rPr sz="1100" b="0" i="0" u="none">
                <a:solidFill>
                  <a:srgbClr val="B99E46"/>
                </a:solidFill>
                <a:latin typeface="Georgia"/>
              </a:rPr>
              <a:t>Mode Access Column Thread Threshold Pixel</a:t>
            </a:r>
          </a:p>
        </p:txBody>
      </p:sp>
      <p:pic>
        <p:nvPicPr>
          <p:cNvPr id="8" name="Picture 7" descr="_example_image.jpg"/>
          <p:cNvPicPr>
            <a:picLocks noChangeAspect="1"/>
          </p:cNvPicPr>
          <p:nvPr/>
        </p:nvPicPr>
        <p:blipFill>
          <a:blip r:embed="rId2"/>
          <a:srcRect l="13084" t="12166" r="5448" b="5715"/>
          <a:stretch>
            <a:fillRect/>
          </a:stretch>
        </p:blipFill>
        <p:spPr>
          <a:xfrm>
            <a:off x="6103185" y="4116461"/>
            <a:ext cx="1421757" cy="899212"/>
          </a:xfrm>
          <a:prstGeom prst="rect">
            <a:avLst/>
          </a:prstGeom>
        </p:spPr>
      </p:pic>
      <p:sp>
        <p:nvSpPr>
          <p:cNvPr id="9" name="Rounded Rectangle 8"/>
          <p:cNvSpPr/>
          <p:nvPr/>
        </p:nvSpPr>
        <p:spPr>
          <a:xfrm>
            <a:off x="6103185" y="4116461"/>
            <a:ext cx="1421757" cy="899212"/>
          </a:xfrm>
          <a:prstGeom prst="roundRect">
            <a:avLst/>
          </a:prstGeom>
          <a:noFill/>
          <a:ln w="15240">
            <a:solidFill>
              <a:srgbClr val="6AC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xagon 9"/>
          <p:cNvSpPr/>
          <p:nvPr/>
        </p:nvSpPr>
        <p:spPr>
          <a:xfrm>
            <a:off x="9735394" y="1893787"/>
            <a:ext cx="324925" cy="914975"/>
          </a:xfrm>
          <a:prstGeom prst="hexagon">
            <a:avLst/>
          </a:prstGeom>
          <a:solidFill>
            <a:srgbClr val="D7979C"/>
          </a:solidFill>
          <a:ln w="16538">
            <a:solidFill>
              <a:srgbClr val="7877B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Up Ribbon 10"/>
          <p:cNvSpPr/>
          <p:nvPr/>
        </p:nvSpPr>
        <p:spPr>
          <a:xfrm>
            <a:off x="2190356" y="2293851"/>
            <a:ext cx="795057" cy="768906"/>
          </a:xfrm>
          <a:prstGeom prst="ribbon2">
            <a:avLst/>
          </a:prstGeom>
          <a:solidFill>
            <a:srgbClr val="4BC176"/>
          </a:solidFill>
          <a:ln w="30594">
            <a:solidFill>
              <a:srgbClr val="DA3B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1565337" y="5815511"/>
            <a:ext cx="1143794" cy="598510"/>
          </a:xfrm>
          <a:custGeom>
            <a:avLst/>
            <a:gdLst/>
            <a:ahLst/>
            <a:cxnLst/>
            <a:rect l="l" t="t" r="r" b="b"/>
            <a:pathLst>
              <a:path w="1143794" h="598510">
                <a:moveTo>
                  <a:pt x="571897" y="0"/>
                </a:moveTo>
                <a:lnTo>
                  <a:pt x="714871" y="149628"/>
                </a:lnTo>
                <a:lnTo>
                  <a:pt x="1072306" y="107732"/>
                </a:lnTo>
                <a:lnTo>
                  <a:pt x="869760" y="299255"/>
                </a:lnTo>
                <a:lnTo>
                  <a:pt x="1143794" y="466838"/>
                </a:lnTo>
                <a:lnTo>
                  <a:pt x="714871" y="430927"/>
                </a:lnTo>
                <a:lnTo>
                  <a:pt x="571897" y="598510"/>
                </a:lnTo>
                <a:lnTo>
                  <a:pt x="428922" y="430927"/>
                </a:lnTo>
                <a:lnTo>
                  <a:pt x="0" y="466838"/>
                </a:lnTo>
                <a:lnTo>
                  <a:pt x="274034" y="299255"/>
                </a:lnTo>
                <a:lnTo>
                  <a:pt x="71487" y="107732"/>
                </a:lnTo>
                <a:lnTo>
                  <a:pt x="428922" y="149628"/>
                </a:lnTo>
                <a:close/>
              </a:path>
            </a:pathLst>
          </a:custGeom>
          <a:solidFill>
            <a:srgbClr val="5D24A0"/>
          </a:solidFill>
          <a:ln w="11811">
            <a:solidFill>
              <a:srgbClr val="9636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76717" y="3567565"/>
            <a:ext cx="2817362" cy="1179622"/>
          </a:xfrm>
          <a:prstGeom prst="rect">
            <a:avLst/>
          </a:prstGeom>
          <a:noFill/>
        </p:spPr>
        <p:txBody>
          <a:bodyPr wrap="none" lIns="37897" tIns="37897" rIns="37897" bIns="37897">
            <a:spAutoFit/>
          </a:bodyPr>
          <a:lstStyle/>
          <a:p>
            <a:r>
              <a:rPr sz="1300" b="0" i="1" u="none">
                <a:solidFill>
                  <a:srgbClr val="59D22D"/>
                </a:solidFill>
                <a:latin typeface="Arial"/>
              </a:rPr>
              <a:t>Channel Milestone Signal Schema Panel Marker Signal Program Ledger Report Goal Goal Chart Ledger Input Timeline Packet Vertex Logic Workflow Motion Guide</a:t>
            </a:r>
          </a:p>
        </p:txBody>
      </p:sp>
      <p:sp>
        <p:nvSpPr>
          <p:cNvPr id="14" name="Right Arrow 13"/>
          <p:cNvSpPr/>
          <p:nvPr/>
        </p:nvSpPr>
        <p:spPr>
          <a:xfrm>
            <a:off x="980907" y="2593569"/>
            <a:ext cx="1039241" cy="750603"/>
          </a:xfrm>
          <a:prstGeom prst="rightArrow">
            <a:avLst/>
          </a:prstGeom>
          <a:solidFill>
            <a:srgbClr val="2B47AE"/>
          </a:solidFill>
          <a:ln w="6779">
            <a:solidFill>
              <a:srgbClr val="DDCDA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Chart 14"/>
          <p:cNvGraphicFramePr>
            <a:graphicFrameLocks noGrp="1"/>
          </p:cNvGraphicFramePr>
          <p:nvPr/>
        </p:nvGraphicFramePr>
        <p:xfrm>
          <a:off x="3136550" y="428591"/>
          <a:ext cx="2325963" cy="190100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15"/>
          <p:cNvGraphicFramePr>
            <a:graphicFrameLocks noGrp="1"/>
          </p:cNvGraphicFramePr>
          <p:nvPr/>
        </p:nvGraphicFramePr>
        <p:xfrm>
          <a:off x="7814558" y="5005864"/>
          <a:ext cx="2635239" cy="1614377"/>
        </p:xfrm>
        <a:graphic>
          <a:graphicData uri="http://schemas.openxmlformats.org/drawingml/2006/table">
            <a:tbl>
              <a:tblPr firstRow="1" bandRow="1">
                <a:tableStyleId>{5C22544A-7EE6-4342-B048-85BDC9FD1C3A}</a:tableStyleId>
              </a:tblPr>
              <a:tblGrid>
                <a:gridCol w="1317619">
                  <a:extLst>
                    <a:ext uri="{9D8B030D-6E8A-4147-A177-3AD203B41FA5}">
                      <a16:colId xmlns:a16="http://schemas.microsoft.com/office/drawing/2014/main" val="20000"/>
                    </a:ext>
                  </a:extLst>
                </a:gridCol>
                <a:gridCol w="1317620">
                  <a:extLst>
                    <a:ext uri="{9D8B030D-6E8A-4147-A177-3AD203B41FA5}">
                      <a16:colId xmlns:a16="http://schemas.microsoft.com/office/drawing/2014/main" val="20001"/>
                    </a:ext>
                  </a:extLst>
                </a:gridCol>
              </a:tblGrid>
              <a:tr h="322875">
                <a:tc>
                  <a:txBody>
                    <a:bodyPr/>
                    <a:lstStyle/>
                    <a:p>
                      <a:r>
                        <a:rPr sz="1000" b="1">
                          <a:solidFill>
                            <a:srgbClr val="2D915E"/>
                          </a:solidFill>
                        </a:rPr>
                        <a:t>Reference</a:t>
                      </a:r>
                    </a:p>
                  </a:txBody>
                  <a:tcPr>
                    <a:solidFill>
                      <a:srgbClr val="4CCD6C"/>
                    </a:solidFill>
                  </a:tcPr>
                </a:tc>
                <a:tc>
                  <a:txBody>
                    <a:bodyPr/>
                    <a:lstStyle/>
                    <a:p>
                      <a:r>
                        <a:rPr sz="1000" b="1">
                          <a:solidFill>
                            <a:srgbClr val="2D915E"/>
                          </a:solidFill>
                        </a:rPr>
                        <a:t>Entity Request</a:t>
                      </a:r>
                    </a:p>
                  </a:txBody>
                  <a:tcPr>
                    <a:solidFill>
                      <a:srgbClr val="4CCD6C"/>
                    </a:solidFill>
                  </a:tcPr>
                </a:tc>
                <a:extLst>
                  <a:ext uri="{0D108BD9-81ED-4DB2-BD59-A6C34878D82A}">
                    <a16:rowId xmlns:a16="http://schemas.microsoft.com/office/drawing/2014/main" val="10000"/>
                  </a:ext>
                </a:extLst>
              </a:tr>
              <a:tr h="322875">
                <a:tc>
                  <a:txBody>
                    <a:bodyPr/>
                    <a:lstStyle/>
                    <a:p>
                      <a:r>
                        <a:rPr sz="1000" b="0">
                          <a:solidFill>
                            <a:srgbClr val="2D915E"/>
                          </a:solidFill>
                        </a:rPr>
                        <a:t>Journey Concept</a:t>
                      </a:r>
                    </a:p>
                  </a:txBody>
                  <a:tcPr>
                    <a:solidFill>
                      <a:srgbClr val="E9E4CE"/>
                    </a:solidFill>
                  </a:tcPr>
                </a:tc>
                <a:tc>
                  <a:txBody>
                    <a:bodyPr/>
                    <a:lstStyle/>
                    <a:p>
                      <a:r>
                        <a:rPr sz="1000" b="0">
                          <a:solidFill>
                            <a:srgbClr val="2D915E"/>
                          </a:solidFill>
                        </a:rPr>
                        <a:t>Impact Workflow</a:t>
                      </a:r>
                    </a:p>
                  </a:txBody>
                  <a:tcPr>
                    <a:solidFill>
                      <a:srgbClr val="E9E4CE"/>
                    </a:solidFill>
                  </a:tcPr>
                </a:tc>
                <a:extLst>
                  <a:ext uri="{0D108BD9-81ED-4DB2-BD59-A6C34878D82A}">
                    <a16:rowId xmlns:a16="http://schemas.microsoft.com/office/drawing/2014/main" val="10001"/>
                  </a:ext>
                </a:extLst>
              </a:tr>
              <a:tr h="322875">
                <a:tc>
                  <a:txBody>
                    <a:bodyPr/>
                    <a:lstStyle/>
                    <a:p>
                      <a:r>
                        <a:rPr sz="1000" b="0">
                          <a:solidFill>
                            <a:srgbClr val="2D915E"/>
                          </a:solidFill>
                        </a:rPr>
                        <a:t>Archive</a:t>
                      </a:r>
                    </a:p>
                  </a:txBody>
                  <a:tcPr>
                    <a:solidFill>
                      <a:srgbClr val="F9F7F1"/>
                    </a:solidFill>
                  </a:tcPr>
                </a:tc>
                <a:tc>
                  <a:txBody>
                    <a:bodyPr/>
                    <a:lstStyle/>
                    <a:p>
                      <a:r>
                        <a:rPr sz="1000" b="0">
                          <a:solidFill>
                            <a:srgbClr val="2D915E"/>
                          </a:solidFill>
                        </a:rPr>
                        <a:t>Method Register</a:t>
                      </a:r>
                    </a:p>
                  </a:txBody>
                  <a:tcPr>
                    <a:solidFill>
                      <a:srgbClr val="F9F7F1"/>
                    </a:solidFill>
                  </a:tcPr>
                </a:tc>
                <a:extLst>
                  <a:ext uri="{0D108BD9-81ED-4DB2-BD59-A6C34878D82A}">
                    <a16:rowId xmlns:a16="http://schemas.microsoft.com/office/drawing/2014/main" val="10002"/>
                  </a:ext>
                </a:extLst>
              </a:tr>
              <a:tr h="322875">
                <a:tc>
                  <a:txBody>
                    <a:bodyPr/>
                    <a:lstStyle/>
                    <a:p>
                      <a:r>
                        <a:rPr sz="1000" b="0">
                          <a:solidFill>
                            <a:srgbClr val="2D915E"/>
                          </a:solidFill>
                        </a:rPr>
                        <a:t>Position Program</a:t>
                      </a:r>
                    </a:p>
                  </a:txBody>
                  <a:tcPr>
                    <a:solidFill>
                      <a:srgbClr val="E9E4CE"/>
                    </a:solidFill>
                  </a:tcPr>
                </a:tc>
                <a:tc>
                  <a:txBody>
                    <a:bodyPr/>
                    <a:lstStyle/>
                    <a:p>
                      <a:r>
                        <a:rPr sz="1000" b="0">
                          <a:solidFill>
                            <a:srgbClr val="2D915E"/>
                          </a:solidFill>
                        </a:rPr>
                        <a:t>Limit Variant</a:t>
                      </a:r>
                    </a:p>
                  </a:txBody>
                  <a:tcPr>
                    <a:solidFill>
                      <a:srgbClr val="E9E4CE"/>
                    </a:solidFill>
                  </a:tcPr>
                </a:tc>
                <a:extLst>
                  <a:ext uri="{0D108BD9-81ED-4DB2-BD59-A6C34878D82A}">
                    <a16:rowId xmlns:a16="http://schemas.microsoft.com/office/drawing/2014/main" val="10003"/>
                  </a:ext>
                </a:extLst>
              </a:tr>
              <a:tr h="322877">
                <a:tc>
                  <a:txBody>
                    <a:bodyPr/>
                    <a:lstStyle/>
                    <a:p>
                      <a:r>
                        <a:rPr sz="1000" b="0">
                          <a:solidFill>
                            <a:srgbClr val="2D915E"/>
                          </a:solidFill>
                        </a:rPr>
                        <a:t>Model</a:t>
                      </a:r>
                    </a:p>
                  </a:txBody>
                  <a:tcPr>
                    <a:solidFill>
                      <a:srgbClr val="F9F7F1"/>
                    </a:solidFill>
                  </a:tcPr>
                </a:tc>
                <a:tc>
                  <a:txBody>
                    <a:bodyPr/>
                    <a:lstStyle/>
                    <a:p>
                      <a:r>
                        <a:rPr sz="1000" b="0">
                          <a:solidFill>
                            <a:srgbClr val="2D915E"/>
                          </a:solidFill>
                        </a:rPr>
                        <a:t>Track Cell</a:t>
                      </a:r>
                    </a:p>
                  </a:txBody>
                  <a:tcPr>
                    <a:solidFill>
                      <a:srgbClr val="F9F7F1"/>
                    </a:solidFill>
                  </a:tcPr>
                </a:tc>
                <a:extLst>
                  <a:ext uri="{0D108BD9-81ED-4DB2-BD59-A6C34878D82A}">
                    <a16:rowId xmlns:a16="http://schemas.microsoft.com/office/drawing/2014/main" val="10004"/>
                  </a:ext>
                </a:extLst>
              </a:tr>
            </a:tbl>
          </a:graphicData>
        </a:graphic>
      </p:graphicFrame>
      <p:graphicFrame>
        <p:nvGraphicFramePr>
          <p:cNvPr id="17" name="Chart 16"/>
          <p:cNvGraphicFramePr>
            <a:graphicFrameLocks noGrp="1"/>
          </p:cNvGraphicFramePr>
          <p:nvPr/>
        </p:nvGraphicFramePr>
        <p:xfrm>
          <a:off x="153014" y="735169"/>
          <a:ext cx="2306668" cy="2431259"/>
        </p:xfrm>
        <a:graphic>
          <a:graphicData uri="http://schemas.openxmlformats.org/drawingml/2006/chart">
            <c:chart xmlns:c="http://schemas.openxmlformats.org/drawingml/2006/chart" xmlns:r="http://schemas.openxmlformats.org/officeDocument/2006/relationships" r:id="rId4"/>
          </a:graphicData>
        </a:graphic>
      </p:graphicFrame>
      <p:pic>
        <p:nvPicPr>
          <p:cNvPr id="18" name="Picture 17" descr="_example_image.jpg"/>
          <p:cNvPicPr>
            <a:picLocks noChangeAspect="1"/>
          </p:cNvPicPr>
          <p:nvPr/>
        </p:nvPicPr>
        <p:blipFill>
          <a:blip r:embed="rId2"/>
          <a:srcRect/>
          <a:stretch>
            <a:fillRect/>
          </a:stretch>
        </p:blipFill>
        <p:spPr>
          <a:xfrm>
            <a:off x="2053385" y="2606249"/>
            <a:ext cx="1978326" cy="954124"/>
          </a:xfrm>
          <a:prstGeom prst="rect">
            <a:avLst/>
          </a:prstGeom>
        </p:spPr>
      </p:pic>
      <p:sp>
        <p:nvSpPr>
          <p:cNvPr id="19" name="Rounded Rectangle 18"/>
          <p:cNvSpPr/>
          <p:nvPr/>
        </p:nvSpPr>
        <p:spPr>
          <a:xfrm>
            <a:off x="2053385" y="2606249"/>
            <a:ext cx="1978326" cy="954124"/>
          </a:xfrm>
          <a:prstGeom prst="roundRect">
            <a:avLst/>
          </a:prstGeom>
          <a:noFill/>
          <a:ln w="15240">
            <a:solidFill>
              <a:srgbClr val="8075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Bent Arrow 19"/>
          <p:cNvSpPr/>
          <p:nvPr/>
        </p:nvSpPr>
        <p:spPr>
          <a:xfrm>
            <a:off x="3596364" y="386011"/>
            <a:ext cx="570518" cy="1074941"/>
          </a:xfrm>
          <a:prstGeom prst="bentArrow">
            <a:avLst/>
          </a:prstGeom>
          <a:solidFill>
            <a:srgbClr val="63C0BC"/>
          </a:solidFill>
          <a:ln w="24481">
            <a:solidFill>
              <a:srgbClr val="2080A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29224" y="2388716"/>
            <a:ext cx="436023" cy="1616457"/>
          </a:xfrm>
          <a:prstGeom prst="rect">
            <a:avLst/>
          </a:prstGeom>
          <a:noFill/>
        </p:spPr>
        <p:txBody>
          <a:bodyPr wrap="none" lIns="41094" tIns="41094" rIns="41094" bIns="41094">
            <a:spAutoFit/>
          </a:bodyPr>
          <a:lstStyle/>
          <a:p>
            <a:r>
              <a:rPr sz="6300" b="1" i="0" u="none">
                <a:solidFill>
                  <a:srgbClr val="829C54"/>
                </a:solidFill>
                <a:latin typeface="Georgia"/>
              </a:rPr>
              <a:t>Origin Deployment Metric Record Function</a:t>
            </a:r>
          </a:p>
        </p:txBody>
      </p:sp>
      <p:cxnSp>
        <p:nvCxnSpPr>
          <p:cNvPr id="22" name="Connector 21"/>
          <p:cNvCxnSpPr/>
          <p:nvPr/>
        </p:nvCxnSpPr>
        <p:spPr>
          <a:xfrm>
            <a:off x="3409787" y="4275771"/>
            <a:ext cx="2788396" cy="709364"/>
          </a:xfrm>
          <a:prstGeom prst="curvedConnector3">
            <a:avLst/>
          </a:prstGeom>
          <a:ln w="16474">
            <a:solidFill>
              <a:srgbClr val="D29D29"/>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39028" y="1702427"/>
            <a:ext cx="1144277" cy="1901009"/>
          </a:xfrm>
          <a:prstGeom prst="curvedConnector3">
            <a:avLst/>
          </a:prstGeom>
          <a:ln w="17473">
            <a:solidFill>
              <a:srgbClr val="93CCA9"/>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24" name="Table 23"/>
          <p:cNvGraphicFramePr>
            <a:graphicFrameLocks noGrp="1"/>
          </p:cNvGraphicFramePr>
          <p:nvPr/>
        </p:nvGraphicFramePr>
        <p:xfrm>
          <a:off x="5743028" y="182699"/>
          <a:ext cx="4963843" cy="1444775"/>
        </p:xfrm>
        <a:graphic>
          <a:graphicData uri="http://schemas.openxmlformats.org/drawingml/2006/table">
            <a:tbl>
              <a:tblPr firstRow="1" bandRow="1">
                <a:tableStyleId>{5C22544A-7EE6-4342-B048-85BDC9FD1C3A}</a:tableStyleId>
              </a:tblPr>
              <a:tblGrid>
                <a:gridCol w="2481921">
                  <a:extLst>
                    <a:ext uri="{9D8B030D-6E8A-4147-A177-3AD203B41FA5}">
                      <a16:colId xmlns:a16="http://schemas.microsoft.com/office/drawing/2014/main" val="20000"/>
                    </a:ext>
                  </a:extLst>
                </a:gridCol>
                <a:gridCol w="2481922">
                  <a:extLst>
                    <a:ext uri="{9D8B030D-6E8A-4147-A177-3AD203B41FA5}">
                      <a16:colId xmlns:a16="http://schemas.microsoft.com/office/drawing/2014/main" val="20001"/>
                    </a:ext>
                  </a:extLst>
                </a:gridCol>
              </a:tblGrid>
              <a:tr h="722387">
                <a:tc>
                  <a:txBody>
                    <a:bodyPr/>
                    <a:lstStyle/>
                    <a:p>
                      <a:r>
                        <a:rPr sz="1300" b="1">
                          <a:solidFill>
                            <a:srgbClr val="9B54BD"/>
                          </a:solidFill>
                        </a:rPr>
                        <a:t>Narrative</a:t>
                      </a:r>
                    </a:p>
                  </a:txBody>
                  <a:tcPr>
                    <a:solidFill>
                      <a:srgbClr val="CCE22C"/>
                    </a:solidFill>
                  </a:tcPr>
                </a:tc>
                <a:tc>
                  <a:txBody>
                    <a:bodyPr/>
                    <a:lstStyle/>
                    <a:p>
                      <a:r>
                        <a:rPr sz="1300" b="1">
                          <a:solidFill>
                            <a:srgbClr val="9B54BD"/>
                          </a:solidFill>
                        </a:rPr>
                        <a:t>Library</a:t>
                      </a:r>
                    </a:p>
                  </a:txBody>
                  <a:tcPr>
                    <a:solidFill>
                      <a:srgbClr val="CCE22C"/>
                    </a:solidFill>
                  </a:tcPr>
                </a:tc>
                <a:extLst>
                  <a:ext uri="{0D108BD9-81ED-4DB2-BD59-A6C34878D82A}">
                    <a16:rowId xmlns:a16="http://schemas.microsoft.com/office/drawing/2014/main" val="10000"/>
                  </a:ext>
                </a:extLst>
              </a:tr>
              <a:tr h="722388">
                <a:tc>
                  <a:txBody>
                    <a:bodyPr/>
                    <a:lstStyle/>
                    <a:p>
                      <a:r>
                        <a:rPr sz="1300" b="0">
                          <a:solidFill>
                            <a:srgbClr val="9B54BD"/>
                          </a:solidFill>
                        </a:rPr>
                        <a:t>Entity Focus</a:t>
                      </a:r>
                    </a:p>
                  </a:txBody>
                  <a:tcPr>
                    <a:solidFill>
                      <a:srgbClr val="E7F2EA"/>
                    </a:solidFill>
                  </a:tcPr>
                </a:tc>
                <a:tc>
                  <a:txBody>
                    <a:bodyPr/>
                    <a:lstStyle/>
                    <a:p>
                      <a:r>
                        <a:rPr sz="1300" b="0">
                          <a:solidFill>
                            <a:srgbClr val="9B54BD"/>
                          </a:solidFill>
                        </a:rPr>
                        <a:t>Zone</a:t>
                      </a:r>
                    </a:p>
                  </a:txBody>
                  <a:tcPr>
                    <a:solidFill>
                      <a:srgbClr val="E7F2EA"/>
                    </a:solidFill>
                  </a:tcPr>
                </a:tc>
                <a:extLst>
                  <a:ext uri="{0D108BD9-81ED-4DB2-BD59-A6C34878D82A}">
                    <a16:rowId xmlns:a16="http://schemas.microsoft.com/office/drawing/2014/main" val="10001"/>
                  </a:ext>
                </a:extLst>
              </a:tr>
            </a:tbl>
          </a:graphicData>
        </a:graphic>
      </p:graphicFrame>
      <p:pic>
        <p:nvPicPr>
          <p:cNvPr id="25" name="Picture 24" descr="_example_image.jpg"/>
          <p:cNvPicPr>
            <a:picLocks noChangeAspect="1"/>
          </p:cNvPicPr>
          <p:nvPr/>
        </p:nvPicPr>
        <p:blipFill>
          <a:blip r:embed="rId2"/>
          <a:srcRect l="4440" t="19467" r="7696" b="11697"/>
          <a:stretch>
            <a:fillRect/>
          </a:stretch>
        </p:blipFill>
        <p:spPr>
          <a:xfrm>
            <a:off x="9957202" y="2354507"/>
            <a:ext cx="1215419" cy="1152705"/>
          </a:xfrm>
          <a:prstGeom prst="rect">
            <a:avLst/>
          </a:prstGeom>
        </p:spPr>
      </p:pic>
      <p:sp>
        <p:nvSpPr>
          <p:cNvPr id="26" name="TextBox 25"/>
          <p:cNvSpPr txBox="1"/>
          <p:nvPr/>
        </p:nvSpPr>
        <p:spPr>
          <a:xfrm>
            <a:off x="291586" y="3729404"/>
            <a:ext cx="2936970" cy="1867527"/>
          </a:xfrm>
          <a:prstGeom prst="rect">
            <a:avLst/>
          </a:prstGeom>
          <a:noFill/>
        </p:spPr>
        <p:txBody>
          <a:bodyPr wrap="none" lIns="41411" tIns="41411" rIns="41411" bIns="41411">
            <a:spAutoFit/>
          </a:bodyPr>
          <a:lstStyle/>
          <a:p>
            <a:r>
              <a:rPr sz="1700" b="0" i="0" u="none">
                <a:solidFill>
                  <a:srgbClr val="CAC5C1"/>
                </a:solidFill>
                <a:latin typeface="Aptos"/>
              </a:rPr>
              <a:t>Tile Benchmark Craft Variant Discovery Queue Trigger Cluster Balance Range Interface Report Edge Concept Program Flow Level Profile Mode Process Duration Pulse Moment</a:t>
            </a:r>
          </a:p>
        </p:txBody>
      </p:sp>
      <p:sp>
        <p:nvSpPr>
          <p:cNvPr id="27" name="Freeform 26"/>
          <p:cNvSpPr/>
          <p:nvPr/>
        </p:nvSpPr>
        <p:spPr>
          <a:xfrm>
            <a:off x="10072822" y="5789491"/>
            <a:ext cx="1846153" cy="440585"/>
          </a:xfrm>
          <a:custGeom>
            <a:avLst/>
            <a:gdLst/>
            <a:ahLst/>
            <a:cxnLst/>
            <a:rect l="l" t="t" r="r" b="b"/>
            <a:pathLst>
              <a:path w="1846153" h="440585">
                <a:moveTo>
                  <a:pt x="0" y="214174"/>
                </a:moveTo>
                <a:lnTo>
                  <a:pt x="317617" y="0"/>
                </a:lnTo>
                <a:lnTo>
                  <a:pt x="655086" y="183578"/>
                </a:lnTo>
                <a:lnTo>
                  <a:pt x="992555" y="367155"/>
                </a:lnTo>
                <a:lnTo>
                  <a:pt x="1349875" y="152981"/>
                </a:lnTo>
                <a:lnTo>
                  <a:pt x="1846153" y="232531"/>
                </a:lnTo>
                <a:lnTo>
                  <a:pt x="1846153" y="440585"/>
                </a:lnTo>
                <a:lnTo>
                  <a:pt x="0" y="440585"/>
                </a:lnTo>
                <a:close/>
              </a:path>
            </a:pathLst>
          </a:custGeom>
          <a:solidFill>
            <a:srgbClr val="D66B53"/>
          </a:solidFill>
          <a:ln w="10048">
            <a:solidFill>
              <a:srgbClr val="782B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91673" y="1583523"/>
            <a:ext cx="3259056" cy="2274149"/>
          </a:xfrm>
          <a:prstGeom prst="rect">
            <a:avLst/>
          </a:prstGeom>
          <a:noFill/>
        </p:spPr>
        <p:txBody>
          <a:bodyPr wrap="none" lIns="39888" tIns="39888" rIns="39888" bIns="39888">
            <a:spAutoFit/>
          </a:bodyPr>
          <a:lstStyle/>
          <a:p>
            <a:r>
              <a:rPr sz="3000" b="1" i="0" u="none">
                <a:solidFill>
                  <a:srgbClr val="48259A"/>
                </a:solidFill>
                <a:latin typeface="Trebuchet MS"/>
              </a:rPr>
              <a:t>Sample Deployment Element Library Coverage Data Anchor Echo Stage Account Explorer Track Point Impact</a:t>
            </a:r>
          </a:p>
        </p:txBody>
      </p:sp>
      <p:pic>
        <p:nvPicPr>
          <p:cNvPr id="30" name="Graphic 29">
            <a:extLst>
              <a:ext uri="{FF2B5EF4-FFF2-40B4-BE49-F238E27FC236}">
                <a16:creationId xmlns:a16="http://schemas.microsoft.com/office/drawing/2014/main" id="{2B8A82F5-15FA-05F4-0A1C-6DCA79490D5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811852" y="5222485"/>
            <a:ext cx="1037608" cy="1485997"/>
          </a:xfrm>
          <a:prstGeom prst="rect">
            <a:avLst/>
          </a:prstGeom>
        </p:spPr>
      </p:pic>
      <p:pic>
        <p:nvPicPr>
          <p:cNvPr id="32" name="Graphic 31">
            <a:extLst>
              <a:ext uri="{FF2B5EF4-FFF2-40B4-BE49-F238E27FC236}">
                <a16:creationId xmlns:a16="http://schemas.microsoft.com/office/drawing/2014/main" id="{0E43807F-256E-47D1-4D07-10898DBA5CC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258797" y="2047204"/>
            <a:ext cx="934333" cy="91941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21268" y="5782692"/>
            <a:ext cx="2706383" cy="738861"/>
          </a:xfrm>
          <a:prstGeom prst="rect">
            <a:avLst/>
          </a:prstGeom>
          <a:noFill/>
        </p:spPr>
        <p:txBody>
          <a:bodyPr wrap="none" lIns="44944" tIns="44944" rIns="44944" bIns="44944">
            <a:spAutoFit/>
          </a:bodyPr>
          <a:lstStyle/>
          <a:p>
            <a:r>
              <a:rPr sz="1400" b="0" i="0" u="none">
                <a:solidFill>
                  <a:srgbClr val="9566B4"/>
                </a:solidFill>
                <a:latin typeface="Verdana"/>
              </a:rPr>
              <a:t>Threshold Circuit Grid</a:t>
            </a:r>
          </a:p>
        </p:txBody>
      </p:sp>
      <p:sp>
        <p:nvSpPr>
          <p:cNvPr id="3" name="Freeform 2"/>
          <p:cNvSpPr/>
          <p:nvPr/>
        </p:nvSpPr>
        <p:spPr>
          <a:xfrm>
            <a:off x="6420168" y="5321217"/>
            <a:ext cx="1052865" cy="721418"/>
          </a:xfrm>
          <a:custGeom>
            <a:avLst/>
            <a:gdLst/>
            <a:ahLst/>
            <a:cxnLst/>
            <a:rect l="l" t="t" r="r" b="b"/>
            <a:pathLst>
              <a:path w="1052865" h="721418">
                <a:moveTo>
                  <a:pt x="526432" y="0"/>
                </a:moveTo>
                <a:lnTo>
                  <a:pt x="658041" y="180355"/>
                </a:lnTo>
                <a:lnTo>
                  <a:pt x="987061" y="129855"/>
                </a:lnTo>
                <a:lnTo>
                  <a:pt x="800616" y="360709"/>
                </a:lnTo>
                <a:lnTo>
                  <a:pt x="1052865" y="562706"/>
                </a:lnTo>
                <a:lnTo>
                  <a:pt x="658041" y="519421"/>
                </a:lnTo>
                <a:lnTo>
                  <a:pt x="526432" y="721418"/>
                </a:lnTo>
                <a:lnTo>
                  <a:pt x="394824" y="519421"/>
                </a:lnTo>
                <a:lnTo>
                  <a:pt x="0" y="562706"/>
                </a:lnTo>
                <a:lnTo>
                  <a:pt x="252249" y="360709"/>
                </a:lnTo>
                <a:lnTo>
                  <a:pt x="65804" y="129855"/>
                </a:lnTo>
                <a:lnTo>
                  <a:pt x="394824" y="180355"/>
                </a:lnTo>
                <a:close/>
              </a:path>
            </a:pathLst>
          </a:custGeom>
          <a:solidFill>
            <a:srgbClr val="61576B"/>
          </a:solidFill>
          <a:ln w="31370">
            <a:solidFill>
              <a:srgbClr val="CF5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_example_image.jpg"/>
          <p:cNvPicPr>
            <a:picLocks noChangeAspect="1"/>
          </p:cNvPicPr>
          <p:nvPr/>
        </p:nvPicPr>
        <p:blipFill>
          <a:blip r:embed="rId2"/>
          <a:srcRect l="10369" t="9465" r="4042" b="1644"/>
          <a:stretch>
            <a:fillRect/>
          </a:stretch>
        </p:blipFill>
        <p:spPr>
          <a:xfrm>
            <a:off x="3312564" y="3563972"/>
            <a:ext cx="1531141" cy="1301897"/>
          </a:xfrm>
          <a:prstGeom prst="rect">
            <a:avLst/>
          </a:prstGeom>
        </p:spPr>
      </p:pic>
      <p:sp>
        <p:nvSpPr>
          <p:cNvPr id="5" name="16-Point Star 4"/>
          <p:cNvSpPr/>
          <p:nvPr/>
        </p:nvSpPr>
        <p:spPr>
          <a:xfrm>
            <a:off x="1501224" y="300452"/>
            <a:ext cx="2489661" cy="253696"/>
          </a:xfrm>
          <a:prstGeom prst="star16">
            <a:avLst/>
          </a:prstGeom>
          <a:solidFill>
            <a:srgbClr val="45485B"/>
          </a:solidFill>
          <a:ln w="7052">
            <a:solidFill>
              <a:srgbClr val="3451A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86131" y="1128099"/>
            <a:ext cx="723455" cy="955227"/>
          </a:xfrm>
          <a:prstGeom prst="rect">
            <a:avLst/>
          </a:prstGeom>
          <a:noFill/>
        </p:spPr>
        <p:txBody>
          <a:bodyPr wrap="none" lIns="83036" tIns="83036" rIns="83036" bIns="83036">
            <a:spAutoFit/>
          </a:bodyPr>
          <a:lstStyle/>
          <a:p>
            <a:r>
              <a:rPr sz="1900" b="1" i="0" u="none">
                <a:solidFill>
                  <a:srgbClr val="905B82"/>
                </a:solidFill>
                <a:latin typeface="Verdana"/>
              </a:rPr>
              <a:t>Focus Interface Design Atlas Window Program Query Library Filter Group</a:t>
            </a:r>
          </a:p>
        </p:txBody>
      </p:sp>
      <p:sp>
        <p:nvSpPr>
          <p:cNvPr id="7" name="Diamond 6"/>
          <p:cNvSpPr/>
          <p:nvPr/>
        </p:nvSpPr>
        <p:spPr>
          <a:xfrm>
            <a:off x="6107685" y="559501"/>
            <a:ext cx="2175747" cy="575159"/>
          </a:xfrm>
          <a:prstGeom prst="diamond">
            <a:avLst/>
          </a:prstGeom>
          <a:solidFill>
            <a:srgbClr val="758B4D"/>
          </a:solidFill>
          <a:ln w="15512">
            <a:solidFill>
              <a:srgbClr val="3D7BB9"/>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7"/>
          <p:cNvCxnSpPr/>
          <p:nvPr/>
        </p:nvCxnSpPr>
        <p:spPr>
          <a:xfrm>
            <a:off x="1722064" y="3893140"/>
            <a:ext cx="1782535" cy="436794"/>
          </a:xfrm>
          <a:prstGeom prst="bentConnector3">
            <a:avLst/>
          </a:prstGeom>
          <a:ln w="16261">
            <a:solidFill>
              <a:srgbClr val="C1A778"/>
            </a:solidFill>
            <a:prstDash val="soli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998715" y="661766"/>
            <a:ext cx="831557" cy="794186"/>
          </a:xfrm>
          <a:prstGeom prst="curvedConnector3">
            <a:avLst/>
          </a:prstGeom>
          <a:ln w="9845">
            <a:solidFill>
              <a:srgbClr val="6DD254"/>
            </a:solidFill>
            <a:prstDash val="dashDot"/>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10472080" y="3028074"/>
            <a:ext cx="878943" cy="736618"/>
          </a:xfrm>
          <a:custGeom>
            <a:avLst/>
            <a:gdLst/>
            <a:ahLst/>
            <a:cxnLst/>
            <a:rect l="l" t="t" r="r" b="b"/>
            <a:pathLst>
              <a:path w="878943" h="736618">
                <a:moveTo>
                  <a:pt x="94510" y="125381"/>
                </a:moveTo>
                <a:lnTo>
                  <a:pt x="311883" y="0"/>
                </a:lnTo>
                <a:lnTo>
                  <a:pt x="642668" y="62690"/>
                </a:lnTo>
                <a:lnTo>
                  <a:pt x="878943" y="297781"/>
                </a:lnTo>
                <a:lnTo>
                  <a:pt x="756080" y="611236"/>
                </a:lnTo>
                <a:lnTo>
                  <a:pt x="406393" y="736618"/>
                </a:lnTo>
                <a:lnTo>
                  <a:pt x="56706" y="532872"/>
                </a:lnTo>
                <a:lnTo>
                  <a:pt x="0" y="266436"/>
                </a:lnTo>
                <a:close/>
              </a:path>
            </a:pathLst>
          </a:custGeom>
          <a:solidFill>
            <a:srgbClr val="3A855E"/>
          </a:solidFill>
          <a:ln w="34329">
            <a:solidFill>
              <a:srgbClr val="A96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entagon 10"/>
          <p:cNvSpPr/>
          <p:nvPr/>
        </p:nvSpPr>
        <p:spPr>
          <a:xfrm>
            <a:off x="980347" y="1909157"/>
            <a:ext cx="456421" cy="1885456"/>
          </a:xfrm>
          <a:prstGeom prst="homePlate">
            <a:avLst/>
          </a:prstGeom>
          <a:solidFill>
            <a:srgbClr val="2EE1DC"/>
          </a:solidFill>
          <a:ln w="7471">
            <a:solidFill>
              <a:srgbClr val="4B5679"/>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 11"/>
          <p:cNvGraphicFramePr>
            <a:graphicFrameLocks noGrp="1"/>
          </p:cNvGraphicFramePr>
          <p:nvPr/>
        </p:nvGraphicFramePr>
        <p:xfrm>
          <a:off x="2868142" y="2592041"/>
          <a:ext cx="2527693" cy="1807920"/>
        </p:xfrm>
        <a:graphic>
          <a:graphicData uri="http://schemas.openxmlformats.org/drawingml/2006/chart">
            <c:chart xmlns:c="http://schemas.openxmlformats.org/drawingml/2006/chart" xmlns:r="http://schemas.openxmlformats.org/officeDocument/2006/relationships" r:id="rId3"/>
          </a:graphicData>
        </a:graphic>
      </p:graphicFrame>
      <p:sp>
        <p:nvSpPr>
          <p:cNvPr id="13" name="Notched Right Arrow 12"/>
          <p:cNvSpPr/>
          <p:nvPr/>
        </p:nvSpPr>
        <p:spPr>
          <a:xfrm>
            <a:off x="10226910" y="4401006"/>
            <a:ext cx="1402110" cy="1068812"/>
          </a:xfrm>
          <a:prstGeom prst="notchedRightArrow">
            <a:avLst/>
          </a:prstGeom>
          <a:noFill/>
          <a:ln w="25843">
            <a:solidFill>
              <a:srgbClr val="CA50B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15166" y="2459679"/>
            <a:ext cx="763259" cy="1723315"/>
          </a:xfrm>
          <a:prstGeom prst="rect">
            <a:avLst/>
          </a:prstGeom>
          <a:noFill/>
        </p:spPr>
        <p:txBody>
          <a:bodyPr wrap="none" lIns="36051" tIns="36051" rIns="36051" bIns="36051">
            <a:spAutoFit/>
          </a:bodyPr>
          <a:lstStyle/>
          <a:p>
            <a:r>
              <a:rPr sz="2800" b="0" i="1" u="none">
                <a:solidFill>
                  <a:srgbClr val="914E7E"/>
                </a:solidFill>
                <a:latin typeface="Arial"/>
              </a:rPr>
              <a:t>Table Array Depth Focus Anchor Zone Alignment Baseline Beta</a:t>
            </a:r>
          </a:p>
        </p:txBody>
      </p:sp>
      <p:graphicFrame>
        <p:nvGraphicFramePr>
          <p:cNvPr id="15" name="Table 14"/>
          <p:cNvGraphicFramePr>
            <a:graphicFrameLocks noGrp="1"/>
          </p:cNvGraphicFramePr>
          <p:nvPr/>
        </p:nvGraphicFramePr>
        <p:xfrm>
          <a:off x="661435" y="5356348"/>
          <a:ext cx="2229611" cy="979777"/>
        </p:xfrm>
        <a:graphic>
          <a:graphicData uri="http://schemas.openxmlformats.org/drawingml/2006/table">
            <a:tbl>
              <a:tblPr firstRow="1" bandRow="1">
                <a:tableStyleId>{5C22544A-7EE6-4342-B048-85BDC9FD1C3A}</a:tableStyleId>
              </a:tblPr>
              <a:tblGrid>
                <a:gridCol w="557402">
                  <a:extLst>
                    <a:ext uri="{9D8B030D-6E8A-4147-A177-3AD203B41FA5}">
                      <a16:colId xmlns:a16="http://schemas.microsoft.com/office/drawing/2014/main" val="20000"/>
                    </a:ext>
                  </a:extLst>
                </a:gridCol>
                <a:gridCol w="557402">
                  <a:extLst>
                    <a:ext uri="{9D8B030D-6E8A-4147-A177-3AD203B41FA5}">
                      <a16:colId xmlns:a16="http://schemas.microsoft.com/office/drawing/2014/main" val="20001"/>
                    </a:ext>
                  </a:extLst>
                </a:gridCol>
                <a:gridCol w="557402">
                  <a:extLst>
                    <a:ext uri="{9D8B030D-6E8A-4147-A177-3AD203B41FA5}">
                      <a16:colId xmlns:a16="http://schemas.microsoft.com/office/drawing/2014/main" val="20002"/>
                    </a:ext>
                  </a:extLst>
                </a:gridCol>
                <a:gridCol w="557405">
                  <a:extLst>
                    <a:ext uri="{9D8B030D-6E8A-4147-A177-3AD203B41FA5}">
                      <a16:colId xmlns:a16="http://schemas.microsoft.com/office/drawing/2014/main" val="20003"/>
                    </a:ext>
                  </a:extLst>
                </a:gridCol>
              </a:tblGrid>
              <a:tr h="244944">
                <a:tc>
                  <a:txBody>
                    <a:bodyPr/>
                    <a:lstStyle/>
                    <a:p>
                      <a:r>
                        <a:rPr sz="1100" b="1">
                          <a:solidFill>
                            <a:srgbClr val="AECD36"/>
                          </a:solidFill>
                        </a:rPr>
                        <a:t>Surface</a:t>
                      </a:r>
                    </a:p>
                  </a:txBody>
                  <a:tcPr>
                    <a:solidFill>
                      <a:srgbClr val="1A9030"/>
                    </a:solidFill>
                  </a:tcPr>
                </a:tc>
                <a:tc>
                  <a:txBody>
                    <a:bodyPr/>
                    <a:lstStyle/>
                    <a:p>
                      <a:r>
                        <a:rPr sz="1100" b="1">
                          <a:solidFill>
                            <a:srgbClr val="AECD36"/>
                          </a:solidFill>
                        </a:rPr>
                        <a:t>Level Index</a:t>
                      </a:r>
                    </a:p>
                  </a:txBody>
                  <a:tcPr>
                    <a:solidFill>
                      <a:srgbClr val="1A9030"/>
                    </a:solidFill>
                  </a:tcPr>
                </a:tc>
                <a:tc>
                  <a:txBody>
                    <a:bodyPr/>
                    <a:lstStyle/>
                    <a:p>
                      <a:r>
                        <a:rPr sz="1100" b="1">
                          <a:solidFill>
                            <a:srgbClr val="AECD36"/>
                          </a:solidFill>
                        </a:rPr>
                        <a:t>Event Clarity</a:t>
                      </a:r>
                    </a:p>
                  </a:txBody>
                  <a:tcPr>
                    <a:solidFill>
                      <a:srgbClr val="1A9030"/>
                    </a:solidFill>
                  </a:tcPr>
                </a:tc>
                <a:tc>
                  <a:txBody>
                    <a:bodyPr/>
                    <a:lstStyle/>
                    <a:p>
                      <a:r>
                        <a:rPr sz="1100" b="1">
                          <a:solidFill>
                            <a:srgbClr val="AECD36"/>
                          </a:solidFill>
                        </a:rPr>
                        <a:t>Metric Rhythm</a:t>
                      </a:r>
                    </a:p>
                  </a:txBody>
                  <a:tcPr>
                    <a:solidFill>
                      <a:srgbClr val="1A9030"/>
                    </a:solidFill>
                  </a:tcPr>
                </a:tc>
                <a:extLst>
                  <a:ext uri="{0D108BD9-81ED-4DB2-BD59-A6C34878D82A}">
                    <a16:rowId xmlns:a16="http://schemas.microsoft.com/office/drawing/2014/main" val="10000"/>
                  </a:ext>
                </a:extLst>
              </a:tr>
              <a:tr h="244944">
                <a:tc>
                  <a:txBody>
                    <a:bodyPr/>
                    <a:lstStyle/>
                    <a:p>
                      <a:r>
                        <a:rPr sz="1100" b="0">
                          <a:solidFill>
                            <a:srgbClr val="AECD36"/>
                          </a:solidFill>
                        </a:rPr>
                        <a:t>Lineage</a:t>
                      </a:r>
                    </a:p>
                  </a:txBody>
                  <a:tcPr>
                    <a:solidFill>
                      <a:srgbClr val="F1F6EA"/>
                    </a:solidFill>
                  </a:tcPr>
                </a:tc>
                <a:tc>
                  <a:txBody>
                    <a:bodyPr/>
                    <a:lstStyle/>
                    <a:p>
                      <a:r>
                        <a:rPr sz="1100" b="0">
                          <a:solidFill>
                            <a:srgbClr val="AECD36"/>
                          </a:solidFill>
                        </a:rPr>
                        <a:t>Template Table</a:t>
                      </a:r>
                    </a:p>
                  </a:txBody>
                  <a:tcPr>
                    <a:solidFill>
                      <a:srgbClr val="E6F0DA"/>
                    </a:solidFill>
                  </a:tcPr>
                </a:tc>
                <a:tc>
                  <a:txBody>
                    <a:bodyPr/>
                    <a:lstStyle/>
                    <a:p>
                      <a:r>
                        <a:rPr sz="1100" b="0">
                          <a:solidFill>
                            <a:srgbClr val="AECD36"/>
                          </a:solidFill>
                        </a:rPr>
                        <a:t>Route Canvas</a:t>
                      </a:r>
                    </a:p>
                  </a:txBody>
                  <a:tcPr>
                    <a:solidFill>
                      <a:srgbClr val="F1F6EA"/>
                    </a:solidFill>
                  </a:tcPr>
                </a:tc>
                <a:tc>
                  <a:txBody>
                    <a:bodyPr/>
                    <a:lstStyle/>
                    <a:p>
                      <a:r>
                        <a:rPr sz="1100" b="0">
                          <a:solidFill>
                            <a:srgbClr val="AECD36"/>
                          </a:solidFill>
                        </a:rPr>
                        <a:t>Inventory Frequency</a:t>
                      </a:r>
                    </a:p>
                  </a:txBody>
                  <a:tcPr>
                    <a:solidFill>
                      <a:srgbClr val="E6F0DA"/>
                    </a:solidFill>
                  </a:tcPr>
                </a:tc>
                <a:extLst>
                  <a:ext uri="{0D108BD9-81ED-4DB2-BD59-A6C34878D82A}">
                    <a16:rowId xmlns:a16="http://schemas.microsoft.com/office/drawing/2014/main" val="10001"/>
                  </a:ext>
                </a:extLst>
              </a:tr>
              <a:tr h="244944">
                <a:tc>
                  <a:txBody>
                    <a:bodyPr/>
                    <a:lstStyle/>
                    <a:p>
                      <a:r>
                        <a:rPr sz="1100" b="0">
                          <a:solidFill>
                            <a:srgbClr val="AECD36"/>
                          </a:solidFill>
                        </a:rPr>
                        <a:t>Connector Payload</a:t>
                      </a:r>
                    </a:p>
                  </a:txBody>
                  <a:tcPr>
                    <a:solidFill>
                      <a:srgbClr val="F1F6EA"/>
                    </a:solidFill>
                  </a:tcPr>
                </a:tc>
                <a:tc>
                  <a:txBody>
                    <a:bodyPr/>
                    <a:lstStyle/>
                    <a:p>
                      <a:r>
                        <a:rPr sz="1100" b="0">
                          <a:solidFill>
                            <a:srgbClr val="AECD36"/>
                          </a:solidFill>
                        </a:rPr>
                        <a:t>Goal</a:t>
                      </a:r>
                    </a:p>
                  </a:txBody>
                  <a:tcPr>
                    <a:solidFill>
                      <a:srgbClr val="E6F0DA"/>
                    </a:solidFill>
                  </a:tcPr>
                </a:tc>
                <a:tc>
                  <a:txBody>
                    <a:bodyPr/>
                    <a:lstStyle/>
                    <a:p>
                      <a:r>
                        <a:rPr sz="1100" b="0">
                          <a:solidFill>
                            <a:srgbClr val="AECD36"/>
                          </a:solidFill>
                        </a:rPr>
                        <a:t>Case Map</a:t>
                      </a:r>
                    </a:p>
                  </a:txBody>
                  <a:tcPr>
                    <a:solidFill>
                      <a:srgbClr val="F1F6EA"/>
                    </a:solidFill>
                  </a:tcPr>
                </a:tc>
                <a:tc>
                  <a:txBody>
                    <a:bodyPr/>
                    <a:lstStyle/>
                    <a:p>
                      <a:r>
                        <a:rPr sz="1100" b="0">
                          <a:solidFill>
                            <a:srgbClr val="AECD36"/>
                          </a:solidFill>
                        </a:rPr>
                        <a:t>Coverage Report</a:t>
                      </a:r>
                    </a:p>
                  </a:txBody>
                  <a:tcPr>
                    <a:solidFill>
                      <a:srgbClr val="E6F0DA"/>
                    </a:solidFill>
                  </a:tcPr>
                </a:tc>
                <a:extLst>
                  <a:ext uri="{0D108BD9-81ED-4DB2-BD59-A6C34878D82A}">
                    <a16:rowId xmlns:a16="http://schemas.microsoft.com/office/drawing/2014/main" val="10002"/>
                  </a:ext>
                </a:extLst>
              </a:tr>
              <a:tr h="244945">
                <a:tc>
                  <a:txBody>
                    <a:bodyPr/>
                    <a:lstStyle/>
                    <a:p>
                      <a:r>
                        <a:rPr sz="1100" b="0">
                          <a:solidFill>
                            <a:srgbClr val="AECD36"/>
                          </a:solidFill>
                        </a:rPr>
                        <a:t>Bridge</a:t>
                      </a:r>
                    </a:p>
                  </a:txBody>
                  <a:tcPr>
                    <a:solidFill>
                      <a:srgbClr val="F1F6EA"/>
                    </a:solidFill>
                  </a:tcPr>
                </a:tc>
                <a:tc>
                  <a:txBody>
                    <a:bodyPr/>
                    <a:lstStyle/>
                    <a:p>
                      <a:r>
                        <a:rPr sz="1100" b="0">
                          <a:solidFill>
                            <a:srgbClr val="AECD36"/>
                          </a:solidFill>
                        </a:rPr>
                        <a:t>Logic Format</a:t>
                      </a:r>
                    </a:p>
                  </a:txBody>
                  <a:tcPr>
                    <a:solidFill>
                      <a:srgbClr val="E6F0DA"/>
                    </a:solidFill>
                  </a:tcPr>
                </a:tc>
                <a:tc>
                  <a:txBody>
                    <a:bodyPr/>
                    <a:lstStyle/>
                    <a:p>
                      <a:r>
                        <a:rPr sz="1100" b="0">
                          <a:solidFill>
                            <a:srgbClr val="AECD36"/>
                          </a:solidFill>
                        </a:rPr>
                        <a:t>Threshold Inventory</a:t>
                      </a:r>
                    </a:p>
                  </a:txBody>
                  <a:tcPr>
                    <a:solidFill>
                      <a:srgbClr val="F1F6EA"/>
                    </a:solidFill>
                  </a:tcPr>
                </a:tc>
                <a:tc>
                  <a:txBody>
                    <a:bodyPr/>
                    <a:lstStyle/>
                    <a:p>
                      <a:r>
                        <a:rPr sz="1100" b="0">
                          <a:solidFill>
                            <a:srgbClr val="AECD36"/>
                          </a:solidFill>
                        </a:rPr>
                        <a:t>Waypoint Marker</a:t>
                      </a:r>
                    </a:p>
                  </a:txBody>
                  <a:tcPr>
                    <a:solidFill>
                      <a:srgbClr val="E6F0DA"/>
                    </a:solidFill>
                  </a:tcPr>
                </a:tc>
                <a:extLst>
                  <a:ext uri="{0D108BD9-81ED-4DB2-BD59-A6C34878D82A}">
                    <a16:rowId xmlns:a16="http://schemas.microsoft.com/office/drawing/2014/main" val="10003"/>
                  </a:ext>
                </a:extLst>
              </a:tr>
            </a:tbl>
          </a:graphicData>
        </a:graphic>
      </p:graphicFrame>
      <p:sp>
        <p:nvSpPr>
          <p:cNvPr id="16" name="Isosceles Triangle 15"/>
          <p:cNvSpPr/>
          <p:nvPr/>
        </p:nvSpPr>
        <p:spPr>
          <a:xfrm>
            <a:off x="3826828" y="2240647"/>
            <a:ext cx="1684589" cy="568821"/>
          </a:xfrm>
          <a:prstGeom prst="triangle">
            <a:avLst/>
          </a:prstGeom>
          <a:solidFill>
            <a:srgbClr val="253F7E"/>
          </a:solidFill>
          <a:ln w="25796">
            <a:solidFill>
              <a:srgbClr val="C9E22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21412" y="5200125"/>
            <a:ext cx="3049664" cy="1248725"/>
          </a:xfrm>
          <a:prstGeom prst="rect">
            <a:avLst/>
          </a:prstGeom>
          <a:noFill/>
        </p:spPr>
        <p:txBody>
          <a:bodyPr wrap="none" lIns="55160" tIns="55160" rIns="55160" bIns="55160">
            <a:spAutoFit/>
          </a:bodyPr>
          <a:lstStyle/>
          <a:p>
            <a:r>
              <a:rPr sz="2100" b="0" i="0" u="none">
                <a:solidFill>
                  <a:srgbClr val="4F6348"/>
                </a:solidFill>
                <a:latin typeface="Arial"/>
              </a:rPr>
              <a:t>Gateway Response Envelope Balance Switch</a:t>
            </a:r>
          </a:p>
        </p:txBody>
      </p:sp>
      <p:sp>
        <p:nvSpPr>
          <p:cNvPr id="18" name="TextBox 17"/>
          <p:cNvSpPr txBox="1"/>
          <p:nvPr/>
        </p:nvSpPr>
        <p:spPr>
          <a:xfrm>
            <a:off x="9526026" y="1911892"/>
            <a:ext cx="925416" cy="2488075"/>
          </a:xfrm>
          <a:prstGeom prst="rect">
            <a:avLst/>
          </a:prstGeom>
          <a:noFill/>
        </p:spPr>
        <p:txBody>
          <a:bodyPr wrap="none" lIns="33951" tIns="33951" rIns="33951" bIns="33951">
            <a:spAutoFit/>
          </a:bodyPr>
          <a:lstStyle/>
          <a:p>
            <a:r>
              <a:rPr sz="1600" b="0" i="0" u="none">
                <a:solidFill>
                  <a:srgbClr val="B85998"/>
                </a:solidFill>
                <a:latin typeface="Calibri"/>
              </a:rPr>
              <a:t>Span Buffer Gateway Catalog Output Frame Pixel Narrative Level View Balance Dimension Loop Region Iteration Memory Packet Craft Core Token Profile Access Transit Cell Result View Briefing System</a:t>
            </a:r>
          </a:p>
        </p:txBody>
      </p:sp>
      <p:pic>
        <p:nvPicPr>
          <p:cNvPr id="19" name="Picture 18" descr="_example_image.jpg"/>
          <p:cNvPicPr>
            <a:picLocks noChangeAspect="1"/>
          </p:cNvPicPr>
          <p:nvPr/>
        </p:nvPicPr>
        <p:blipFill>
          <a:blip r:embed="rId2"/>
          <a:srcRect l="17686" t="11220" r="3658" b="4900"/>
          <a:stretch>
            <a:fillRect/>
          </a:stretch>
        </p:blipFill>
        <p:spPr>
          <a:xfrm>
            <a:off x="5430061" y="1017289"/>
            <a:ext cx="1132216" cy="853772"/>
          </a:xfrm>
          <a:prstGeom prst="rect">
            <a:avLst/>
          </a:prstGeom>
        </p:spPr>
      </p:pic>
      <p:sp>
        <p:nvSpPr>
          <p:cNvPr id="20" name="Rounded Rectangle 19"/>
          <p:cNvSpPr/>
          <p:nvPr/>
        </p:nvSpPr>
        <p:spPr>
          <a:xfrm>
            <a:off x="5430061" y="1017289"/>
            <a:ext cx="1132216" cy="853772"/>
          </a:xfrm>
          <a:prstGeom prst="roundRect">
            <a:avLst/>
          </a:prstGeom>
          <a:noFill/>
          <a:ln w="15240">
            <a:solidFill>
              <a:srgbClr val="A07F3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Left-Right Arrow Callout 20"/>
          <p:cNvSpPr/>
          <p:nvPr/>
        </p:nvSpPr>
        <p:spPr>
          <a:xfrm>
            <a:off x="4266090" y="1061030"/>
            <a:ext cx="1525546" cy="987147"/>
          </a:xfrm>
          <a:prstGeom prst="leftRightArrowCallout">
            <a:avLst/>
          </a:prstGeom>
          <a:solidFill>
            <a:srgbClr val="3427A3"/>
          </a:solidFill>
          <a:ln w="15559">
            <a:solidFill>
              <a:srgbClr val="4C6BC5"/>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980626" y="3029894"/>
            <a:ext cx="3497746" cy="1930732"/>
          </a:xfrm>
          <a:prstGeom prst="rect">
            <a:avLst/>
          </a:prstGeom>
          <a:noFill/>
        </p:spPr>
        <p:txBody>
          <a:bodyPr wrap="none" lIns="29310" tIns="29310" rIns="29310" bIns="29310">
            <a:spAutoFit/>
          </a:bodyPr>
          <a:lstStyle/>
          <a:p>
            <a:r>
              <a:rPr sz="5300" b="1" i="0" u="none">
                <a:solidFill>
                  <a:srgbClr val="B9ABCD"/>
                </a:solidFill>
                <a:latin typeface="Verdana"/>
              </a:rPr>
              <a:t>Spectrum Index Edge Precision</a:t>
            </a:r>
          </a:p>
        </p:txBody>
      </p:sp>
      <p:sp>
        <p:nvSpPr>
          <p:cNvPr id="23" name="Swoosh Arrow 22"/>
          <p:cNvSpPr/>
          <p:nvPr/>
        </p:nvSpPr>
        <p:spPr>
          <a:xfrm>
            <a:off x="10478507" y="981714"/>
            <a:ext cx="867315" cy="1736983"/>
          </a:xfrm>
          <a:prstGeom prst="swooshArrow">
            <a:avLst/>
          </a:prstGeom>
          <a:solidFill>
            <a:srgbClr val="637897"/>
          </a:solidFill>
          <a:ln w="31525">
            <a:solidFill>
              <a:srgbClr val="E08F9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Chart 23"/>
          <p:cNvGraphicFramePr>
            <a:graphicFrameLocks noGrp="1"/>
          </p:cNvGraphicFramePr>
          <p:nvPr/>
        </p:nvGraphicFramePr>
        <p:xfrm>
          <a:off x="1463932" y="138534"/>
          <a:ext cx="3138127" cy="1446853"/>
        </p:xfrm>
        <a:graphic>
          <a:graphicData uri="http://schemas.openxmlformats.org/drawingml/2006/chart">
            <c:chart xmlns:c="http://schemas.openxmlformats.org/drawingml/2006/chart" xmlns:r="http://schemas.openxmlformats.org/officeDocument/2006/relationships" r:id="rId4"/>
          </a:graphicData>
        </a:graphic>
      </p:graphicFrame>
      <p:cxnSp>
        <p:nvCxnSpPr>
          <p:cNvPr id="25" name="Connector 24"/>
          <p:cNvCxnSpPr/>
          <p:nvPr/>
        </p:nvCxnSpPr>
        <p:spPr>
          <a:xfrm>
            <a:off x="873181" y="4528707"/>
            <a:ext cx="1708789" cy="763412"/>
          </a:xfrm>
          <a:prstGeom prst="curvedConnector3">
            <a:avLst/>
          </a:prstGeom>
          <a:ln w="10420">
            <a:solidFill>
              <a:srgbClr val="696956"/>
            </a:solidFill>
            <a:prstDash val="dot"/>
          </a:ln>
        </p:spPr>
        <p:style>
          <a:lnRef idx="2">
            <a:schemeClr val="accent1"/>
          </a:lnRef>
          <a:fillRef idx="0">
            <a:schemeClr val="accent1"/>
          </a:fillRef>
          <a:effectRef idx="1">
            <a:schemeClr val="accent1"/>
          </a:effectRef>
          <a:fontRef idx="minor">
            <a:schemeClr val="tx1"/>
          </a:fontRef>
        </p:style>
      </p:cxnSp>
      <p:pic>
        <p:nvPicPr>
          <p:cNvPr id="26" name="Picture 25" descr="_example_image.jpg"/>
          <p:cNvPicPr>
            <a:picLocks noChangeAspect="1"/>
          </p:cNvPicPr>
          <p:nvPr/>
        </p:nvPicPr>
        <p:blipFill>
          <a:blip r:embed="rId2"/>
          <a:srcRect/>
          <a:stretch>
            <a:fillRect/>
          </a:stretch>
        </p:blipFill>
        <p:spPr>
          <a:xfrm>
            <a:off x="8193778" y="3936928"/>
            <a:ext cx="1288952" cy="1946042"/>
          </a:xfrm>
          <a:prstGeom prst="rect">
            <a:avLst/>
          </a:prstGeom>
        </p:spPr>
      </p:pic>
      <p:graphicFrame>
        <p:nvGraphicFramePr>
          <p:cNvPr id="27" name="Table 26"/>
          <p:cNvGraphicFramePr>
            <a:graphicFrameLocks noGrp="1"/>
          </p:cNvGraphicFramePr>
          <p:nvPr/>
        </p:nvGraphicFramePr>
        <p:xfrm>
          <a:off x="6445200" y="1601201"/>
          <a:ext cx="3154116" cy="1307706"/>
        </p:xfrm>
        <a:graphic>
          <a:graphicData uri="http://schemas.openxmlformats.org/drawingml/2006/table">
            <a:tbl>
              <a:tblPr firstRow="1" bandRow="1">
                <a:tableStyleId>{5C22544A-7EE6-4342-B048-85BDC9FD1C3A}</a:tableStyleId>
              </a:tblPr>
              <a:tblGrid>
                <a:gridCol w="630823">
                  <a:extLst>
                    <a:ext uri="{9D8B030D-6E8A-4147-A177-3AD203B41FA5}">
                      <a16:colId xmlns:a16="http://schemas.microsoft.com/office/drawing/2014/main" val="20000"/>
                    </a:ext>
                  </a:extLst>
                </a:gridCol>
                <a:gridCol w="630823">
                  <a:extLst>
                    <a:ext uri="{9D8B030D-6E8A-4147-A177-3AD203B41FA5}">
                      <a16:colId xmlns:a16="http://schemas.microsoft.com/office/drawing/2014/main" val="20001"/>
                    </a:ext>
                  </a:extLst>
                </a:gridCol>
                <a:gridCol w="630823">
                  <a:extLst>
                    <a:ext uri="{9D8B030D-6E8A-4147-A177-3AD203B41FA5}">
                      <a16:colId xmlns:a16="http://schemas.microsoft.com/office/drawing/2014/main" val="20002"/>
                    </a:ext>
                  </a:extLst>
                </a:gridCol>
                <a:gridCol w="630823">
                  <a:extLst>
                    <a:ext uri="{9D8B030D-6E8A-4147-A177-3AD203B41FA5}">
                      <a16:colId xmlns:a16="http://schemas.microsoft.com/office/drawing/2014/main" val="20003"/>
                    </a:ext>
                  </a:extLst>
                </a:gridCol>
                <a:gridCol w="630824">
                  <a:extLst>
                    <a:ext uri="{9D8B030D-6E8A-4147-A177-3AD203B41FA5}">
                      <a16:colId xmlns:a16="http://schemas.microsoft.com/office/drawing/2014/main" val="20004"/>
                    </a:ext>
                  </a:extLst>
                </a:gridCol>
              </a:tblGrid>
              <a:tr h="653853">
                <a:tc>
                  <a:txBody>
                    <a:bodyPr/>
                    <a:lstStyle/>
                    <a:p>
                      <a:r>
                        <a:rPr sz="700" b="1">
                          <a:solidFill>
                            <a:srgbClr val="998AC3"/>
                          </a:solidFill>
                        </a:rPr>
                        <a:t>Drive</a:t>
                      </a:r>
                    </a:p>
                  </a:txBody>
                  <a:tcPr>
                    <a:solidFill>
                      <a:srgbClr val="C2CD23"/>
                    </a:solidFill>
                  </a:tcPr>
                </a:tc>
                <a:tc>
                  <a:txBody>
                    <a:bodyPr/>
                    <a:lstStyle/>
                    <a:p>
                      <a:r>
                        <a:rPr sz="700" b="1">
                          <a:solidFill>
                            <a:srgbClr val="998AC3"/>
                          </a:solidFill>
                        </a:rPr>
                        <a:t>Panel System</a:t>
                      </a:r>
                    </a:p>
                  </a:txBody>
                  <a:tcPr>
                    <a:solidFill>
                      <a:srgbClr val="C2CD23"/>
                    </a:solidFill>
                  </a:tcPr>
                </a:tc>
                <a:tc>
                  <a:txBody>
                    <a:bodyPr/>
                    <a:lstStyle/>
                    <a:p>
                      <a:r>
                        <a:rPr sz="700" b="1">
                          <a:solidFill>
                            <a:srgbClr val="998AC3"/>
                          </a:solidFill>
                        </a:rPr>
                        <a:t>Entity</a:t>
                      </a:r>
                    </a:p>
                  </a:txBody>
                  <a:tcPr>
                    <a:solidFill>
                      <a:srgbClr val="C2CD23"/>
                    </a:solidFill>
                  </a:tcPr>
                </a:tc>
                <a:tc>
                  <a:txBody>
                    <a:bodyPr/>
                    <a:lstStyle/>
                    <a:p>
                      <a:r>
                        <a:rPr sz="700" b="1">
                          <a:solidFill>
                            <a:srgbClr val="998AC3"/>
                          </a:solidFill>
                        </a:rPr>
                        <a:t>Loop</a:t>
                      </a:r>
                    </a:p>
                  </a:txBody>
                  <a:tcPr>
                    <a:solidFill>
                      <a:srgbClr val="C2CD23"/>
                    </a:solidFill>
                  </a:tcPr>
                </a:tc>
                <a:tc>
                  <a:txBody>
                    <a:bodyPr/>
                    <a:lstStyle/>
                    <a:p>
                      <a:r>
                        <a:rPr sz="700" b="1">
                          <a:solidFill>
                            <a:srgbClr val="998AC3"/>
                          </a:solidFill>
                        </a:rPr>
                        <a:t>Audit</a:t>
                      </a:r>
                    </a:p>
                  </a:txBody>
                  <a:tcPr>
                    <a:solidFill>
                      <a:srgbClr val="C2CD23"/>
                    </a:solidFill>
                  </a:tcPr>
                </a:tc>
                <a:extLst>
                  <a:ext uri="{0D108BD9-81ED-4DB2-BD59-A6C34878D82A}">
                    <a16:rowId xmlns:a16="http://schemas.microsoft.com/office/drawing/2014/main" val="10000"/>
                  </a:ext>
                </a:extLst>
              </a:tr>
              <a:tr h="653853">
                <a:tc>
                  <a:txBody>
                    <a:bodyPr/>
                    <a:lstStyle/>
                    <a:p>
                      <a:r>
                        <a:rPr sz="700" b="0">
                          <a:solidFill>
                            <a:srgbClr val="998AC3"/>
                          </a:solidFill>
                        </a:rPr>
                        <a:t>Insight Action</a:t>
                      </a:r>
                    </a:p>
                  </a:txBody>
                  <a:tcPr>
                    <a:solidFill>
                      <a:srgbClr val="F3EDF5"/>
                    </a:solidFill>
                  </a:tcPr>
                </a:tc>
                <a:tc>
                  <a:txBody>
                    <a:bodyPr/>
                    <a:lstStyle/>
                    <a:p>
                      <a:r>
                        <a:rPr sz="700" b="0">
                          <a:solidFill>
                            <a:srgbClr val="998AC3"/>
                          </a:solidFill>
                        </a:rPr>
                        <a:t>Cadence</a:t>
                      </a:r>
                    </a:p>
                  </a:txBody>
                  <a:tcPr>
                    <a:solidFill>
                      <a:srgbClr val="F3EDF5"/>
                    </a:solidFill>
                  </a:tcPr>
                </a:tc>
                <a:tc>
                  <a:txBody>
                    <a:bodyPr/>
                    <a:lstStyle/>
                    <a:p>
                      <a:r>
                        <a:rPr sz="700" b="0">
                          <a:solidFill>
                            <a:srgbClr val="998AC3"/>
                          </a:solidFill>
                        </a:rPr>
                        <a:t>Circuit Proof</a:t>
                      </a:r>
                    </a:p>
                  </a:txBody>
                  <a:tcPr>
                    <a:solidFill>
                      <a:srgbClr val="F3EDF5"/>
                    </a:solidFill>
                  </a:tcPr>
                </a:tc>
                <a:tc>
                  <a:txBody>
                    <a:bodyPr/>
                    <a:lstStyle/>
                    <a:p>
                      <a:r>
                        <a:rPr sz="700" b="0">
                          <a:solidFill>
                            <a:srgbClr val="998AC3"/>
                          </a:solidFill>
                        </a:rPr>
                        <a:t>Design Layer</a:t>
                      </a:r>
                    </a:p>
                  </a:txBody>
                  <a:tcPr>
                    <a:solidFill>
                      <a:srgbClr val="F3EDF5"/>
                    </a:solidFill>
                  </a:tcPr>
                </a:tc>
                <a:tc>
                  <a:txBody>
                    <a:bodyPr/>
                    <a:lstStyle/>
                    <a:p>
                      <a:r>
                        <a:rPr sz="700" b="0">
                          <a:solidFill>
                            <a:srgbClr val="998AC3"/>
                          </a:solidFill>
                        </a:rPr>
                        <a:t>Template</a:t>
                      </a:r>
                    </a:p>
                  </a:txBody>
                  <a:tcPr>
                    <a:solidFill>
                      <a:srgbClr val="F3EDF5"/>
                    </a:solidFill>
                  </a:tcPr>
                </a:tc>
                <a:extLst>
                  <a:ext uri="{0D108BD9-81ED-4DB2-BD59-A6C34878D82A}">
                    <a16:rowId xmlns:a16="http://schemas.microsoft.com/office/drawing/2014/main" val="10001"/>
                  </a:ext>
                </a:extLst>
              </a:tr>
            </a:tbl>
          </a:graphicData>
        </a:graphic>
      </p:graphicFrame>
      <p:pic>
        <p:nvPicPr>
          <p:cNvPr id="29" name="Graphic 28">
            <a:extLst>
              <a:ext uri="{FF2B5EF4-FFF2-40B4-BE49-F238E27FC236}">
                <a16:creationId xmlns:a16="http://schemas.microsoft.com/office/drawing/2014/main" id="{AA9A76EE-0814-017A-3F93-D377260C34A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718948" y="1731202"/>
            <a:ext cx="1147238" cy="1118373"/>
          </a:xfrm>
          <a:prstGeom prst="rect">
            <a:avLst/>
          </a:prstGeom>
        </p:spPr>
      </p:pic>
      <p:pic>
        <p:nvPicPr>
          <p:cNvPr id="31" name="Graphic 30">
            <a:extLst>
              <a:ext uri="{FF2B5EF4-FFF2-40B4-BE49-F238E27FC236}">
                <a16:creationId xmlns:a16="http://schemas.microsoft.com/office/drawing/2014/main" id="{A1B76FCF-9597-1B7B-6863-B5FEE85F9B5B}"/>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037952" y="499525"/>
            <a:ext cx="980707" cy="74507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nnel 1"/>
          <p:cNvSpPr/>
          <p:nvPr/>
        </p:nvSpPr>
        <p:spPr>
          <a:xfrm>
            <a:off x="2747618" y="1088648"/>
            <a:ext cx="1112447" cy="1237925"/>
          </a:xfrm>
          <a:prstGeom prst="funnel">
            <a:avLst/>
          </a:prstGeom>
          <a:solidFill>
            <a:srgbClr val="A189DA"/>
          </a:solidFill>
          <a:ln w="12728">
            <a:solidFill>
              <a:srgbClr val="1EC02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338584" y="3976931"/>
            <a:ext cx="2001437" cy="433999"/>
          </a:xfrm>
          <a:prstGeom prst="line">
            <a:avLst/>
          </a:prstGeom>
          <a:ln w="49528">
            <a:solidFill>
              <a:srgbClr val="746833"/>
            </a:solidFill>
            <a:prstDash val="lgDash"/>
          </a:ln>
        </p:spPr>
        <p:style>
          <a:lnRef idx="2">
            <a:schemeClr val="accent1"/>
          </a:lnRef>
          <a:fillRef idx="0">
            <a:schemeClr val="accent1"/>
          </a:fillRef>
          <a:effectRef idx="1">
            <a:schemeClr val="accent1"/>
          </a:effectRef>
          <a:fontRef idx="minor">
            <a:schemeClr val="tx1"/>
          </a:fontRef>
        </p:style>
      </p:cxnSp>
      <p:sp>
        <p:nvSpPr>
          <p:cNvPr id="4" name="Explosion 3"/>
          <p:cNvSpPr/>
          <p:nvPr/>
        </p:nvSpPr>
        <p:spPr>
          <a:xfrm>
            <a:off x="6308649" y="4708371"/>
            <a:ext cx="978844" cy="1005427"/>
          </a:xfrm>
          <a:prstGeom prst="irregularSeal1">
            <a:avLst/>
          </a:prstGeom>
          <a:solidFill>
            <a:srgbClr val="DB332C"/>
          </a:solidFill>
          <a:ln w="6755">
            <a:solidFill>
              <a:srgbClr val="6E421D"/>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urved Right Arrow 4"/>
          <p:cNvSpPr/>
          <p:nvPr/>
        </p:nvSpPr>
        <p:spPr>
          <a:xfrm>
            <a:off x="4985878" y="532349"/>
            <a:ext cx="1683171" cy="1567883"/>
          </a:xfrm>
          <a:prstGeom prst="curvedRightArrow">
            <a:avLst/>
          </a:prstGeom>
          <a:solidFill>
            <a:srgbClr val="195D74"/>
          </a:solidFill>
          <a:ln w="29320">
            <a:solidFill>
              <a:srgbClr val="C3AA6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59901" y="2960586"/>
            <a:ext cx="1056455" cy="1063395"/>
          </a:xfrm>
          <a:prstGeom prst="rect">
            <a:avLst/>
          </a:prstGeom>
          <a:noFill/>
        </p:spPr>
        <p:txBody>
          <a:bodyPr wrap="none" lIns="36893" tIns="36893" rIns="36893" bIns="36893">
            <a:spAutoFit/>
          </a:bodyPr>
          <a:lstStyle/>
          <a:p>
            <a:r>
              <a:rPr sz="2700" b="1" i="0" u="none">
                <a:solidFill>
                  <a:srgbClr val="52CC6B"/>
                </a:solidFill>
                <a:latin typeface="Arial"/>
              </a:rPr>
              <a:t>Compass Payload Table Expansion Explorer Craft Pattern Route Direction Terminal Channel Circuit Apex</a:t>
            </a:r>
          </a:p>
        </p:txBody>
      </p:sp>
      <p:graphicFrame>
        <p:nvGraphicFramePr>
          <p:cNvPr id="7" name="Chart 6"/>
          <p:cNvGraphicFramePr>
            <a:graphicFrameLocks noGrp="1"/>
          </p:cNvGraphicFramePr>
          <p:nvPr/>
        </p:nvGraphicFramePr>
        <p:xfrm>
          <a:off x="4307616" y="4199624"/>
          <a:ext cx="2278293" cy="1774571"/>
        </p:xfrm>
        <a:graphic>
          <a:graphicData uri="http://schemas.openxmlformats.org/drawingml/2006/chart">
            <c:chart xmlns:c="http://schemas.openxmlformats.org/drawingml/2006/chart" xmlns:r="http://schemas.openxmlformats.org/officeDocument/2006/relationships" r:id="rId2"/>
          </a:graphicData>
        </a:graphic>
      </p:graphicFrame>
      <p:sp>
        <p:nvSpPr>
          <p:cNvPr id="8" name="Freeform 7"/>
          <p:cNvSpPr/>
          <p:nvPr/>
        </p:nvSpPr>
        <p:spPr>
          <a:xfrm>
            <a:off x="683701" y="5781807"/>
            <a:ext cx="1088049" cy="671387"/>
          </a:xfrm>
          <a:custGeom>
            <a:avLst/>
            <a:gdLst/>
            <a:ahLst/>
            <a:cxnLst/>
            <a:rect l="l" t="t" r="r" b="b"/>
            <a:pathLst>
              <a:path w="1088049" h="671387">
                <a:moveTo>
                  <a:pt x="0" y="326369"/>
                </a:moveTo>
                <a:lnTo>
                  <a:pt x="187191" y="0"/>
                </a:lnTo>
                <a:lnTo>
                  <a:pt x="386082" y="279745"/>
                </a:lnTo>
                <a:lnTo>
                  <a:pt x="584972" y="559489"/>
                </a:lnTo>
                <a:lnTo>
                  <a:pt x="795563" y="233121"/>
                </a:lnTo>
                <a:lnTo>
                  <a:pt x="1088049" y="354343"/>
                </a:lnTo>
                <a:lnTo>
                  <a:pt x="1088049" y="671387"/>
                </a:lnTo>
                <a:lnTo>
                  <a:pt x="0" y="671387"/>
                </a:lnTo>
                <a:close/>
              </a:path>
            </a:pathLst>
          </a:custGeom>
          <a:solidFill>
            <a:srgbClr val="9ABAE5"/>
          </a:solidFill>
          <a:ln w="27910">
            <a:solidFill>
              <a:srgbClr val="DAA5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90225" y="4807003"/>
            <a:ext cx="890063" cy="1177149"/>
          </a:xfrm>
          <a:prstGeom prst="rect">
            <a:avLst/>
          </a:prstGeom>
          <a:solidFill>
            <a:srgbClr val="A121A4"/>
          </a:solidFill>
        </p:spPr>
        <p:txBody>
          <a:bodyPr wrap="none" lIns="43824" tIns="43824" rIns="43824" bIns="43824">
            <a:spAutoFit/>
          </a:bodyPr>
          <a:lstStyle/>
          <a:p>
            <a:r>
              <a:rPr sz="1800" b="0" i="0" u="none">
                <a:solidFill>
                  <a:srgbClr val="928194"/>
                </a:solidFill>
                <a:latin typeface="Aptos"/>
              </a:rPr>
              <a:t>Scale Review Signal Vector Segment Topology Data Timeline Epoch Version Circuit Journey Response Reserve State Radius Discovery Direction Level Package Frame Edge Data Handle Lineage</a:t>
            </a:r>
          </a:p>
        </p:txBody>
      </p:sp>
      <p:sp>
        <p:nvSpPr>
          <p:cNvPr id="10" name="Predefined Process 9"/>
          <p:cNvSpPr/>
          <p:nvPr/>
        </p:nvSpPr>
        <p:spPr>
          <a:xfrm>
            <a:off x="1352491" y="5076822"/>
            <a:ext cx="2536681" cy="1045918"/>
          </a:xfrm>
          <a:prstGeom prst="flowChartPredefinedProcess">
            <a:avLst/>
          </a:prstGeom>
          <a:solidFill>
            <a:srgbClr val="99E45E"/>
          </a:solidFill>
          <a:ln w="22138">
            <a:solidFill>
              <a:srgbClr val="5E9C34"/>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ivision 10"/>
          <p:cNvSpPr/>
          <p:nvPr/>
        </p:nvSpPr>
        <p:spPr>
          <a:xfrm>
            <a:off x="9282587" y="4216382"/>
            <a:ext cx="1267698" cy="1765405"/>
          </a:xfrm>
          <a:prstGeom prst="mathDivide">
            <a:avLst/>
          </a:prstGeom>
          <a:noFill/>
          <a:ln w="8885">
            <a:solidFill>
              <a:srgbClr val="A1CDC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708511" y="3950662"/>
            <a:ext cx="1617833" cy="460815"/>
          </a:xfrm>
          <a:prstGeom prst="rect">
            <a:avLst/>
          </a:prstGeom>
          <a:solidFill>
            <a:srgbClr val="71CF50"/>
          </a:solidFill>
        </p:spPr>
        <p:txBody>
          <a:bodyPr wrap="none" lIns="29789" tIns="29789" rIns="29789" bIns="29789">
            <a:spAutoFit/>
          </a:bodyPr>
          <a:lstStyle/>
          <a:p>
            <a:r>
              <a:rPr sz="1000" b="0" i="1" u="sng">
                <a:solidFill>
                  <a:srgbClr val="BA9C98"/>
                </a:solidFill>
                <a:latin typeface="Georgia"/>
              </a:rPr>
              <a:t>Link Scope Station Anchor Bridge Orbit Event Status Command Dashboard Keyline Kernel Vertex Harbor North Craft Frequency Milestone</a:t>
            </a:r>
          </a:p>
        </p:txBody>
      </p:sp>
      <p:cxnSp>
        <p:nvCxnSpPr>
          <p:cNvPr id="13" name="Connector 12"/>
          <p:cNvCxnSpPr/>
          <p:nvPr/>
        </p:nvCxnSpPr>
        <p:spPr>
          <a:xfrm>
            <a:off x="458131" y="1898291"/>
            <a:ext cx="797254" cy="1659913"/>
          </a:xfrm>
          <a:prstGeom prst="line">
            <a:avLst/>
          </a:prstGeom>
          <a:ln w="32187">
            <a:solidFill>
              <a:srgbClr val="6681C1"/>
            </a:solidFill>
            <a:prstDash val="dash"/>
          </a:ln>
        </p:spPr>
        <p:style>
          <a:lnRef idx="2">
            <a:schemeClr val="accent1"/>
          </a:lnRef>
          <a:fillRef idx="0">
            <a:schemeClr val="accent1"/>
          </a:fillRef>
          <a:effectRef idx="1">
            <a:schemeClr val="accent1"/>
          </a:effectRef>
          <a:fontRef idx="minor">
            <a:schemeClr val="tx1"/>
          </a:fontRef>
        </p:style>
      </p:cxnSp>
      <p:pic>
        <p:nvPicPr>
          <p:cNvPr id="14" name="Picture 13" descr="_example_image.jpg"/>
          <p:cNvPicPr>
            <a:picLocks noChangeAspect="1"/>
          </p:cNvPicPr>
          <p:nvPr/>
        </p:nvPicPr>
        <p:blipFill>
          <a:blip r:embed="rId3"/>
          <a:srcRect l="8467" t="18631" r="11199" b="14983"/>
          <a:stretch>
            <a:fillRect/>
          </a:stretch>
        </p:blipFill>
        <p:spPr>
          <a:xfrm>
            <a:off x="2315934" y="665466"/>
            <a:ext cx="1106973" cy="831545"/>
          </a:xfrm>
          <a:prstGeom prst="rect">
            <a:avLst/>
          </a:prstGeom>
        </p:spPr>
      </p:pic>
      <p:pic>
        <p:nvPicPr>
          <p:cNvPr id="15" name="Picture 14" descr="_example_image.jpg"/>
          <p:cNvPicPr>
            <a:picLocks noChangeAspect="1"/>
          </p:cNvPicPr>
          <p:nvPr/>
        </p:nvPicPr>
        <p:blipFill>
          <a:blip r:embed="rId3"/>
          <a:srcRect/>
          <a:stretch>
            <a:fillRect/>
          </a:stretch>
        </p:blipFill>
        <p:spPr>
          <a:xfrm>
            <a:off x="7764962" y="4862903"/>
            <a:ext cx="1462099" cy="1774491"/>
          </a:xfrm>
          <a:prstGeom prst="rect">
            <a:avLst/>
          </a:prstGeom>
        </p:spPr>
      </p:pic>
      <p:sp>
        <p:nvSpPr>
          <p:cNvPr id="16" name="TextBox 15"/>
          <p:cNvSpPr txBox="1"/>
          <p:nvPr/>
        </p:nvSpPr>
        <p:spPr>
          <a:xfrm>
            <a:off x="6884378" y="2504534"/>
            <a:ext cx="1148182" cy="1820358"/>
          </a:xfrm>
          <a:prstGeom prst="rect">
            <a:avLst/>
          </a:prstGeom>
          <a:noFill/>
        </p:spPr>
        <p:txBody>
          <a:bodyPr wrap="none" lIns="26527" tIns="26527" rIns="26527" bIns="26527">
            <a:spAutoFit/>
          </a:bodyPr>
          <a:lstStyle/>
          <a:p>
            <a:r>
              <a:rPr sz="1700" b="0" i="0" u="none">
                <a:solidFill>
                  <a:srgbClr val="89BF6E"/>
                </a:solidFill>
                <a:latin typeface="Georgia"/>
              </a:rPr>
              <a:t>Structure Energy Resource Pulse Pipeline Group</a:t>
            </a:r>
          </a:p>
        </p:txBody>
      </p:sp>
      <p:graphicFrame>
        <p:nvGraphicFramePr>
          <p:cNvPr id="17" name="Table 16"/>
          <p:cNvGraphicFramePr>
            <a:graphicFrameLocks noGrp="1"/>
          </p:cNvGraphicFramePr>
          <p:nvPr/>
        </p:nvGraphicFramePr>
        <p:xfrm>
          <a:off x="7264294" y="1251923"/>
          <a:ext cx="3703645" cy="1113828"/>
        </p:xfrm>
        <a:graphic>
          <a:graphicData uri="http://schemas.openxmlformats.org/drawingml/2006/table">
            <a:tbl>
              <a:tblPr firstRow="1" bandRow="1">
                <a:tableStyleId>{5C22544A-7EE6-4342-B048-85BDC9FD1C3A}</a:tableStyleId>
              </a:tblPr>
              <a:tblGrid>
                <a:gridCol w="925911">
                  <a:extLst>
                    <a:ext uri="{9D8B030D-6E8A-4147-A177-3AD203B41FA5}">
                      <a16:colId xmlns:a16="http://schemas.microsoft.com/office/drawing/2014/main" val="20000"/>
                    </a:ext>
                  </a:extLst>
                </a:gridCol>
                <a:gridCol w="925911">
                  <a:extLst>
                    <a:ext uri="{9D8B030D-6E8A-4147-A177-3AD203B41FA5}">
                      <a16:colId xmlns:a16="http://schemas.microsoft.com/office/drawing/2014/main" val="20001"/>
                    </a:ext>
                  </a:extLst>
                </a:gridCol>
                <a:gridCol w="925911">
                  <a:extLst>
                    <a:ext uri="{9D8B030D-6E8A-4147-A177-3AD203B41FA5}">
                      <a16:colId xmlns:a16="http://schemas.microsoft.com/office/drawing/2014/main" val="20002"/>
                    </a:ext>
                  </a:extLst>
                </a:gridCol>
                <a:gridCol w="925912">
                  <a:extLst>
                    <a:ext uri="{9D8B030D-6E8A-4147-A177-3AD203B41FA5}">
                      <a16:colId xmlns:a16="http://schemas.microsoft.com/office/drawing/2014/main" val="20003"/>
                    </a:ext>
                  </a:extLst>
                </a:gridCol>
              </a:tblGrid>
              <a:tr h="222765">
                <a:tc>
                  <a:txBody>
                    <a:bodyPr/>
                    <a:lstStyle/>
                    <a:p>
                      <a:r>
                        <a:rPr sz="1000" b="1">
                          <a:solidFill>
                            <a:srgbClr val="D058B6"/>
                          </a:solidFill>
                        </a:rPr>
                        <a:t>Engine Portal</a:t>
                      </a:r>
                    </a:p>
                  </a:txBody>
                  <a:tcPr>
                    <a:solidFill>
                      <a:srgbClr val="4A69BE"/>
                    </a:solidFill>
                  </a:tcPr>
                </a:tc>
                <a:tc>
                  <a:txBody>
                    <a:bodyPr/>
                    <a:lstStyle/>
                    <a:p>
                      <a:r>
                        <a:rPr sz="1000" b="1">
                          <a:solidFill>
                            <a:srgbClr val="D058B6"/>
                          </a:solidFill>
                        </a:rPr>
                        <a:t>Spectrum</a:t>
                      </a:r>
                    </a:p>
                  </a:txBody>
                  <a:tcPr>
                    <a:solidFill>
                      <a:srgbClr val="4A69BE"/>
                    </a:solidFill>
                  </a:tcPr>
                </a:tc>
                <a:tc>
                  <a:txBody>
                    <a:bodyPr/>
                    <a:lstStyle/>
                    <a:p>
                      <a:r>
                        <a:rPr sz="1000" b="1">
                          <a:solidFill>
                            <a:srgbClr val="D058B6"/>
                          </a:solidFill>
                        </a:rPr>
                        <a:t>Report</a:t>
                      </a:r>
                    </a:p>
                  </a:txBody>
                  <a:tcPr>
                    <a:solidFill>
                      <a:srgbClr val="4A69BE"/>
                    </a:solidFill>
                  </a:tcPr>
                </a:tc>
                <a:tc>
                  <a:txBody>
                    <a:bodyPr/>
                    <a:lstStyle/>
                    <a:p>
                      <a:r>
                        <a:rPr sz="1000" b="1">
                          <a:solidFill>
                            <a:srgbClr val="D058B6"/>
                          </a:solidFill>
                        </a:rPr>
                        <a:t>Flow Trend</a:t>
                      </a:r>
                    </a:p>
                  </a:txBody>
                  <a:tcPr>
                    <a:solidFill>
                      <a:srgbClr val="4A69BE"/>
                    </a:solidFill>
                  </a:tcPr>
                </a:tc>
                <a:extLst>
                  <a:ext uri="{0D108BD9-81ED-4DB2-BD59-A6C34878D82A}">
                    <a16:rowId xmlns:a16="http://schemas.microsoft.com/office/drawing/2014/main" val="10000"/>
                  </a:ext>
                </a:extLst>
              </a:tr>
              <a:tr h="222765">
                <a:tc>
                  <a:txBody>
                    <a:bodyPr/>
                    <a:lstStyle/>
                    <a:p>
                      <a:r>
                        <a:rPr sz="1000" b="0">
                          <a:solidFill>
                            <a:srgbClr val="D058B6"/>
                          </a:solidFill>
                        </a:rPr>
                        <a:t>Scale</a:t>
                      </a:r>
                    </a:p>
                  </a:txBody>
                  <a:tcPr>
                    <a:solidFill>
                      <a:srgbClr val="B5E7CF"/>
                    </a:solidFill>
                  </a:tcPr>
                </a:tc>
                <a:tc>
                  <a:txBody>
                    <a:bodyPr/>
                    <a:lstStyle/>
                    <a:p>
                      <a:r>
                        <a:rPr sz="1000" b="0">
                          <a:solidFill>
                            <a:srgbClr val="D058B6"/>
                          </a:solidFill>
                        </a:rPr>
                        <a:t>Process</a:t>
                      </a:r>
                    </a:p>
                  </a:txBody>
                  <a:tcPr>
                    <a:solidFill>
                      <a:srgbClr val="B5E7CF"/>
                    </a:solidFill>
                  </a:tcPr>
                </a:tc>
                <a:tc>
                  <a:txBody>
                    <a:bodyPr/>
                    <a:lstStyle/>
                    <a:p>
                      <a:r>
                        <a:rPr sz="1000" b="0">
                          <a:solidFill>
                            <a:srgbClr val="D058B6"/>
                          </a:solidFill>
                        </a:rPr>
                        <a:t>Flow Pulse</a:t>
                      </a:r>
                    </a:p>
                  </a:txBody>
                  <a:tcPr>
                    <a:solidFill>
                      <a:srgbClr val="B5E7CF"/>
                    </a:solidFill>
                  </a:tcPr>
                </a:tc>
                <a:tc>
                  <a:txBody>
                    <a:bodyPr/>
                    <a:lstStyle/>
                    <a:p>
                      <a:r>
                        <a:rPr sz="1000" b="0">
                          <a:solidFill>
                            <a:srgbClr val="D058B6"/>
                          </a:solidFill>
                        </a:rPr>
                        <a:t>Canvas Stack</a:t>
                      </a:r>
                    </a:p>
                  </a:txBody>
                  <a:tcPr>
                    <a:solidFill>
                      <a:srgbClr val="B5E7CF"/>
                    </a:solidFill>
                  </a:tcPr>
                </a:tc>
                <a:extLst>
                  <a:ext uri="{0D108BD9-81ED-4DB2-BD59-A6C34878D82A}">
                    <a16:rowId xmlns:a16="http://schemas.microsoft.com/office/drawing/2014/main" val="10001"/>
                  </a:ext>
                </a:extLst>
              </a:tr>
              <a:tr h="222765">
                <a:tc>
                  <a:txBody>
                    <a:bodyPr/>
                    <a:lstStyle/>
                    <a:p>
                      <a:r>
                        <a:rPr sz="1000" b="0">
                          <a:solidFill>
                            <a:srgbClr val="D058B6"/>
                          </a:solidFill>
                        </a:rPr>
                        <a:t>Register</a:t>
                      </a:r>
                    </a:p>
                  </a:txBody>
                  <a:tcPr>
                    <a:solidFill>
                      <a:srgbClr val="E0F5EB"/>
                    </a:solidFill>
                  </a:tcPr>
                </a:tc>
                <a:tc>
                  <a:txBody>
                    <a:bodyPr/>
                    <a:lstStyle/>
                    <a:p>
                      <a:r>
                        <a:rPr sz="1000" b="0">
                          <a:solidFill>
                            <a:srgbClr val="D058B6"/>
                          </a:solidFill>
                        </a:rPr>
                        <a:t>Package Signal</a:t>
                      </a:r>
                    </a:p>
                  </a:txBody>
                  <a:tcPr>
                    <a:solidFill>
                      <a:srgbClr val="B5E7CF"/>
                    </a:solidFill>
                  </a:tcPr>
                </a:tc>
                <a:tc>
                  <a:txBody>
                    <a:bodyPr/>
                    <a:lstStyle/>
                    <a:p>
                      <a:r>
                        <a:rPr sz="1000" b="0">
                          <a:solidFill>
                            <a:srgbClr val="D058B6"/>
                          </a:solidFill>
                        </a:rPr>
                        <a:t>Indicator Sync</a:t>
                      </a:r>
                    </a:p>
                  </a:txBody>
                  <a:tcPr>
                    <a:solidFill>
                      <a:srgbClr val="E0F5EB"/>
                    </a:solidFill>
                  </a:tcPr>
                </a:tc>
                <a:tc>
                  <a:txBody>
                    <a:bodyPr/>
                    <a:lstStyle/>
                    <a:p>
                      <a:r>
                        <a:rPr sz="1000" b="0">
                          <a:solidFill>
                            <a:srgbClr val="D058B6"/>
                          </a:solidFill>
                        </a:rPr>
                        <a:t>Queue Command</a:t>
                      </a:r>
                    </a:p>
                  </a:txBody>
                  <a:tcPr>
                    <a:solidFill>
                      <a:srgbClr val="B5E7CF"/>
                    </a:solidFill>
                  </a:tcPr>
                </a:tc>
                <a:extLst>
                  <a:ext uri="{0D108BD9-81ED-4DB2-BD59-A6C34878D82A}">
                    <a16:rowId xmlns:a16="http://schemas.microsoft.com/office/drawing/2014/main" val="10002"/>
                  </a:ext>
                </a:extLst>
              </a:tr>
              <a:tr h="222765">
                <a:tc>
                  <a:txBody>
                    <a:bodyPr/>
                    <a:lstStyle/>
                    <a:p>
                      <a:r>
                        <a:rPr sz="1000" b="0">
                          <a:solidFill>
                            <a:srgbClr val="D058B6"/>
                          </a:solidFill>
                        </a:rPr>
                        <a:t>Panel Structure</a:t>
                      </a:r>
                    </a:p>
                  </a:txBody>
                  <a:tcPr>
                    <a:solidFill>
                      <a:srgbClr val="B5E7CF"/>
                    </a:solidFill>
                  </a:tcPr>
                </a:tc>
                <a:tc>
                  <a:txBody>
                    <a:bodyPr/>
                    <a:lstStyle/>
                    <a:p>
                      <a:r>
                        <a:rPr sz="1000" b="0">
                          <a:solidFill>
                            <a:srgbClr val="D058B6"/>
                          </a:solidFill>
                        </a:rPr>
                        <a:t>Loop Input</a:t>
                      </a:r>
                    </a:p>
                  </a:txBody>
                  <a:tcPr>
                    <a:solidFill>
                      <a:srgbClr val="B5E7CF"/>
                    </a:solidFill>
                  </a:tcPr>
                </a:tc>
                <a:tc>
                  <a:txBody>
                    <a:bodyPr/>
                    <a:lstStyle/>
                    <a:p>
                      <a:r>
                        <a:rPr sz="1000" b="0">
                          <a:solidFill>
                            <a:srgbClr val="D058B6"/>
                          </a:solidFill>
                        </a:rPr>
                        <a:t>Timeline</a:t>
                      </a:r>
                    </a:p>
                  </a:txBody>
                  <a:tcPr>
                    <a:solidFill>
                      <a:srgbClr val="B5E7CF"/>
                    </a:solidFill>
                  </a:tcPr>
                </a:tc>
                <a:tc>
                  <a:txBody>
                    <a:bodyPr/>
                    <a:lstStyle/>
                    <a:p>
                      <a:r>
                        <a:rPr sz="1000" b="0">
                          <a:solidFill>
                            <a:srgbClr val="D058B6"/>
                          </a:solidFill>
                        </a:rPr>
                        <a:t>Cell Context</a:t>
                      </a:r>
                    </a:p>
                  </a:txBody>
                  <a:tcPr>
                    <a:solidFill>
                      <a:srgbClr val="B5E7CF"/>
                    </a:solidFill>
                  </a:tcPr>
                </a:tc>
                <a:extLst>
                  <a:ext uri="{0D108BD9-81ED-4DB2-BD59-A6C34878D82A}">
                    <a16:rowId xmlns:a16="http://schemas.microsoft.com/office/drawing/2014/main" val="10003"/>
                  </a:ext>
                </a:extLst>
              </a:tr>
              <a:tr h="222768">
                <a:tc>
                  <a:txBody>
                    <a:bodyPr/>
                    <a:lstStyle/>
                    <a:p>
                      <a:r>
                        <a:rPr sz="1000" b="0">
                          <a:solidFill>
                            <a:srgbClr val="D058B6"/>
                          </a:solidFill>
                        </a:rPr>
                        <a:t>Rhythm</a:t>
                      </a:r>
                    </a:p>
                  </a:txBody>
                  <a:tcPr>
                    <a:solidFill>
                      <a:srgbClr val="E0F5EB"/>
                    </a:solidFill>
                  </a:tcPr>
                </a:tc>
                <a:tc>
                  <a:txBody>
                    <a:bodyPr/>
                    <a:lstStyle/>
                    <a:p>
                      <a:r>
                        <a:rPr sz="1000" b="0">
                          <a:solidFill>
                            <a:srgbClr val="D058B6"/>
                          </a:solidFill>
                        </a:rPr>
                        <a:t>Timeline Coverage</a:t>
                      </a:r>
                    </a:p>
                  </a:txBody>
                  <a:tcPr>
                    <a:solidFill>
                      <a:srgbClr val="B5E7CF"/>
                    </a:solidFill>
                  </a:tcPr>
                </a:tc>
                <a:tc>
                  <a:txBody>
                    <a:bodyPr/>
                    <a:lstStyle/>
                    <a:p>
                      <a:r>
                        <a:rPr sz="1000" b="0">
                          <a:solidFill>
                            <a:srgbClr val="D058B6"/>
                          </a:solidFill>
                        </a:rPr>
                        <a:t>Plan Interval</a:t>
                      </a:r>
                    </a:p>
                  </a:txBody>
                  <a:tcPr>
                    <a:solidFill>
                      <a:srgbClr val="E0F5EB"/>
                    </a:solidFill>
                  </a:tcPr>
                </a:tc>
                <a:tc>
                  <a:txBody>
                    <a:bodyPr/>
                    <a:lstStyle/>
                    <a:p>
                      <a:r>
                        <a:rPr sz="1000" b="0">
                          <a:solidFill>
                            <a:srgbClr val="D058B6"/>
                          </a:solidFill>
                        </a:rPr>
                        <a:t>Sync Canvas</a:t>
                      </a:r>
                    </a:p>
                  </a:txBody>
                  <a:tcPr>
                    <a:solidFill>
                      <a:srgbClr val="B5E7CF"/>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1720079" y="2063812"/>
            <a:ext cx="1001970" cy="1309313"/>
          </a:xfrm>
          <a:prstGeom prst="rect">
            <a:avLst/>
          </a:prstGeom>
          <a:noFill/>
        </p:spPr>
        <p:txBody>
          <a:bodyPr wrap="none" lIns="30681" tIns="30681" rIns="30681" bIns="30681">
            <a:spAutoFit/>
          </a:bodyPr>
          <a:lstStyle/>
          <a:p>
            <a:r>
              <a:rPr sz="1200" b="0" i="0" u="none">
                <a:solidFill>
                  <a:srgbClr val="CA3DB8"/>
                </a:solidFill>
                <a:latin typeface="Georgia"/>
              </a:rPr>
              <a:t>Gradient Source</a:t>
            </a:r>
          </a:p>
        </p:txBody>
      </p:sp>
      <p:cxnSp>
        <p:nvCxnSpPr>
          <p:cNvPr id="19" name="Connector 18"/>
          <p:cNvCxnSpPr/>
          <p:nvPr/>
        </p:nvCxnSpPr>
        <p:spPr>
          <a:xfrm flipV="1">
            <a:off x="797094" y="262234"/>
            <a:ext cx="754803" cy="1049581"/>
          </a:xfrm>
          <a:prstGeom prst="curvedConnector3">
            <a:avLst/>
          </a:prstGeom>
          <a:ln w="31101">
            <a:solidFill>
              <a:srgbClr val="90A177"/>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20" name="Table 19"/>
          <p:cNvGraphicFramePr>
            <a:graphicFrameLocks noGrp="1"/>
          </p:cNvGraphicFramePr>
          <p:nvPr/>
        </p:nvGraphicFramePr>
        <p:xfrm>
          <a:off x="8372047" y="2574201"/>
          <a:ext cx="2252654" cy="1045599"/>
        </p:xfrm>
        <a:graphic>
          <a:graphicData uri="http://schemas.openxmlformats.org/drawingml/2006/table">
            <a:tbl>
              <a:tblPr firstRow="1" bandRow="1">
                <a:tableStyleId>{5C22544A-7EE6-4342-B048-85BDC9FD1C3A}</a:tableStyleId>
              </a:tblPr>
              <a:tblGrid>
                <a:gridCol w="750884">
                  <a:extLst>
                    <a:ext uri="{9D8B030D-6E8A-4147-A177-3AD203B41FA5}">
                      <a16:colId xmlns:a16="http://schemas.microsoft.com/office/drawing/2014/main" val="20000"/>
                    </a:ext>
                  </a:extLst>
                </a:gridCol>
                <a:gridCol w="750884">
                  <a:extLst>
                    <a:ext uri="{9D8B030D-6E8A-4147-A177-3AD203B41FA5}">
                      <a16:colId xmlns:a16="http://schemas.microsoft.com/office/drawing/2014/main" val="20001"/>
                    </a:ext>
                  </a:extLst>
                </a:gridCol>
                <a:gridCol w="750886">
                  <a:extLst>
                    <a:ext uri="{9D8B030D-6E8A-4147-A177-3AD203B41FA5}">
                      <a16:colId xmlns:a16="http://schemas.microsoft.com/office/drawing/2014/main" val="20002"/>
                    </a:ext>
                  </a:extLst>
                </a:gridCol>
              </a:tblGrid>
              <a:tr h="348533">
                <a:tc>
                  <a:txBody>
                    <a:bodyPr/>
                    <a:lstStyle/>
                    <a:p>
                      <a:r>
                        <a:rPr sz="1100" b="1">
                          <a:solidFill>
                            <a:srgbClr val="5126C7"/>
                          </a:solidFill>
                        </a:rPr>
                        <a:t>Drive</a:t>
                      </a:r>
                    </a:p>
                  </a:txBody>
                  <a:tcPr>
                    <a:solidFill>
                      <a:srgbClr val="B84034"/>
                    </a:solidFill>
                  </a:tcPr>
                </a:tc>
                <a:tc>
                  <a:txBody>
                    <a:bodyPr/>
                    <a:lstStyle/>
                    <a:p>
                      <a:r>
                        <a:rPr sz="1100" b="1">
                          <a:solidFill>
                            <a:srgbClr val="5126C7"/>
                          </a:solidFill>
                        </a:rPr>
                        <a:t>Lineage Target</a:t>
                      </a:r>
                    </a:p>
                  </a:txBody>
                  <a:tcPr>
                    <a:solidFill>
                      <a:srgbClr val="B84034"/>
                    </a:solidFill>
                  </a:tcPr>
                </a:tc>
                <a:tc>
                  <a:txBody>
                    <a:bodyPr/>
                    <a:lstStyle/>
                    <a:p>
                      <a:r>
                        <a:rPr sz="1100" b="1">
                          <a:solidFill>
                            <a:srgbClr val="5126C7"/>
                          </a:solidFill>
                        </a:rPr>
                        <a:t>Position</a:t>
                      </a:r>
                    </a:p>
                  </a:txBody>
                  <a:tcPr>
                    <a:solidFill>
                      <a:srgbClr val="B84034"/>
                    </a:solidFill>
                  </a:tcPr>
                </a:tc>
                <a:extLst>
                  <a:ext uri="{0D108BD9-81ED-4DB2-BD59-A6C34878D82A}">
                    <a16:rowId xmlns:a16="http://schemas.microsoft.com/office/drawing/2014/main" val="10000"/>
                  </a:ext>
                </a:extLst>
              </a:tr>
              <a:tr h="348533">
                <a:tc>
                  <a:txBody>
                    <a:bodyPr/>
                    <a:lstStyle/>
                    <a:p>
                      <a:r>
                        <a:rPr sz="1100" b="0">
                          <a:solidFill>
                            <a:srgbClr val="5126C7"/>
                          </a:solidFill>
                        </a:rPr>
                        <a:t>Queueing</a:t>
                      </a:r>
                    </a:p>
                  </a:txBody>
                  <a:tcPr>
                    <a:solidFill>
                      <a:srgbClr val="F0F5F4"/>
                    </a:solidFill>
                  </a:tcPr>
                </a:tc>
                <a:tc>
                  <a:txBody>
                    <a:bodyPr/>
                    <a:lstStyle/>
                    <a:p>
                      <a:r>
                        <a:rPr sz="1100" b="0">
                          <a:solidFill>
                            <a:srgbClr val="5126C7"/>
                          </a:solidFill>
                        </a:rPr>
                        <a:t>Build Surface</a:t>
                      </a:r>
                    </a:p>
                  </a:txBody>
                  <a:tcPr>
                    <a:solidFill>
                      <a:srgbClr val="D1E0DE"/>
                    </a:solidFill>
                  </a:tcPr>
                </a:tc>
                <a:tc>
                  <a:txBody>
                    <a:bodyPr/>
                    <a:lstStyle/>
                    <a:p>
                      <a:r>
                        <a:rPr sz="1100" b="0">
                          <a:solidFill>
                            <a:srgbClr val="5126C7"/>
                          </a:solidFill>
                        </a:rPr>
                        <a:t>Chart North</a:t>
                      </a:r>
                    </a:p>
                  </a:txBody>
                  <a:tcPr>
                    <a:solidFill>
                      <a:srgbClr val="F0F5F4"/>
                    </a:solidFill>
                  </a:tcPr>
                </a:tc>
                <a:extLst>
                  <a:ext uri="{0D108BD9-81ED-4DB2-BD59-A6C34878D82A}">
                    <a16:rowId xmlns:a16="http://schemas.microsoft.com/office/drawing/2014/main" val="10001"/>
                  </a:ext>
                </a:extLst>
              </a:tr>
              <a:tr h="348533">
                <a:tc>
                  <a:txBody>
                    <a:bodyPr/>
                    <a:lstStyle/>
                    <a:p>
                      <a:r>
                        <a:rPr sz="1100" b="0">
                          <a:solidFill>
                            <a:srgbClr val="5126C7"/>
                          </a:solidFill>
                        </a:rPr>
                        <a:t>Drive Estimate</a:t>
                      </a:r>
                    </a:p>
                  </a:txBody>
                  <a:tcPr>
                    <a:solidFill>
                      <a:srgbClr val="F0F5F4"/>
                    </a:solidFill>
                  </a:tcPr>
                </a:tc>
                <a:tc>
                  <a:txBody>
                    <a:bodyPr/>
                    <a:lstStyle/>
                    <a:p>
                      <a:r>
                        <a:rPr sz="1100" b="0">
                          <a:solidFill>
                            <a:srgbClr val="5126C7"/>
                          </a:solidFill>
                        </a:rPr>
                        <a:t>Dashboard Compass</a:t>
                      </a:r>
                    </a:p>
                  </a:txBody>
                  <a:tcPr>
                    <a:solidFill>
                      <a:srgbClr val="D1E0DE"/>
                    </a:solidFill>
                  </a:tcPr>
                </a:tc>
                <a:tc>
                  <a:txBody>
                    <a:bodyPr/>
                    <a:lstStyle/>
                    <a:p>
                      <a:r>
                        <a:rPr sz="1100" b="0">
                          <a:solidFill>
                            <a:srgbClr val="5126C7"/>
                          </a:solidFill>
                        </a:rPr>
                        <a:t>Index Instance</a:t>
                      </a:r>
                    </a:p>
                  </a:txBody>
                  <a:tcPr>
                    <a:solidFill>
                      <a:srgbClr val="F0F5F4"/>
                    </a:solidFill>
                  </a:tcPr>
                </a:tc>
                <a:extLst>
                  <a:ext uri="{0D108BD9-81ED-4DB2-BD59-A6C34878D82A}">
                    <a16:rowId xmlns:a16="http://schemas.microsoft.com/office/drawing/2014/main" val="10002"/>
                  </a:ext>
                </a:extLst>
              </a:tr>
            </a:tbl>
          </a:graphicData>
        </a:graphic>
      </p:graphicFrame>
      <p:graphicFrame>
        <p:nvGraphicFramePr>
          <p:cNvPr id="21" name="Chart 20"/>
          <p:cNvGraphicFramePr>
            <a:graphicFrameLocks noGrp="1"/>
          </p:cNvGraphicFramePr>
          <p:nvPr/>
        </p:nvGraphicFramePr>
        <p:xfrm>
          <a:off x="5810823" y="2277312"/>
          <a:ext cx="2377299" cy="1702877"/>
        </p:xfrm>
        <a:graphic>
          <a:graphicData uri="http://schemas.openxmlformats.org/drawingml/2006/chart">
            <c:chart xmlns:c="http://schemas.openxmlformats.org/drawingml/2006/chart" xmlns:r="http://schemas.openxmlformats.org/officeDocument/2006/relationships" r:id="rId4"/>
          </a:graphicData>
        </a:graphic>
      </p:graphicFrame>
      <p:pic>
        <p:nvPicPr>
          <p:cNvPr id="22" name="Picture 21" descr="_example_image.jpg"/>
          <p:cNvPicPr>
            <a:picLocks noChangeAspect="1"/>
          </p:cNvPicPr>
          <p:nvPr/>
        </p:nvPicPr>
        <p:blipFill>
          <a:blip r:embed="rId3"/>
          <a:srcRect l="11054" t="10658" r="14887" b="6347"/>
          <a:stretch>
            <a:fillRect/>
          </a:stretch>
        </p:blipFill>
        <p:spPr>
          <a:xfrm>
            <a:off x="3089873" y="2517631"/>
            <a:ext cx="2254436" cy="949527"/>
          </a:xfrm>
          <a:prstGeom prst="rect">
            <a:avLst/>
          </a:prstGeom>
        </p:spPr>
      </p:pic>
      <p:sp>
        <p:nvSpPr>
          <p:cNvPr id="23" name="TextBox 22"/>
          <p:cNvSpPr txBox="1"/>
          <p:nvPr/>
        </p:nvSpPr>
        <p:spPr>
          <a:xfrm>
            <a:off x="4141913" y="4802791"/>
            <a:ext cx="1969685" cy="877076"/>
          </a:xfrm>
          <a:prstGeom prst="rect">
            <a:avLst/>
          </a:prstGeom>
          <a:noFill/>
        </p:spPr>
        <p:txBody>
          <a:bodyPr wrap="none" lIns="71158" tIns="71158" rIns="71158" bIns="71158">
            <a:spAutoFit/>
          </a:bodyPr>
          <a:lstStyle/>
          <a:p>
            <a:r>
              <a:rPr sz="1600" b="0" i="1" u="none">
                <a:solidFill>
                  <a:srgbClr val="A71FB0"/>
                </a:solidFill>
                <a:latin typeface="Calibri"/>
              </a:rPr>
              <a:t>Case Metric Service Review Format Milestone Event Texture Path Cortex Process Phase Metric Needle Snapshot Option Region Intent Service Alpha Group Query Domain Array Scale Account Epoch Snapshot Output Source Variant</a:t>
            </a:r>
          </a:p>
        </p:txBody>
      </p:sp>
      <p:sp>
        <p:nvSpPr>
          <p:cNvPr id="24" name="Division 23"/>
          <p:cNvSpPr/>
          <p:nvPr/>
        </p:nvSpPr>
        <p:spPr>
          <a:xfrm>
            <a:off x="393511" y="3640000"/>
            <a:ext cx="469643" cy="836079"/>
          </a:xfrm>
          <a:prstGeom prst="mathDivide">
            <a:avLst/>
          </a:prstGeom>
          <a:solidFill>
            <a:srgbClr val="25618D"/>
          </a:solidFill>
          <a:ln w="15506">
            <a:solidFill>
              <a:srgbClr val="39614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2698440" y="3899690"/>
            <a:ext cx="1140656" cy="725461"/>
          </a:xfrm>
          <a:custGeom>
            <a:avLst/>
            <a:gdLst/>
            <a:ahLst/>
            <a:cxnLst/>
            <a:rect l="l" t="t" r="r" b="b"/>
            <a:pathLst>
              <a:path w="1140656" h="725461">
                <a:moveTo>
                  <a:pt x="570328" y="0"/>
                </a:moveTo>
                <a:lnTo>
                  <a:pt x="712910" y="181365"/>
                </a:lnTo>
                <a:lnTo>
                  <a:pt x="1069365" y="130583"/>
                </a:lnTo>
                <a:lnTo>
                  <a:pt x="867374" y="362730"/>
                </a:lnTo>
                <a:lnTo>
                  <a:pt x="1140656" y="565859"/>
                </a:lnTo>
                <a:lnTo>
                  <a:pt x="712910" y="522332"/>
                </a:lnTo>
                <a:lnTo>
                  <a:pt x="570328" y="725461"/>
                </a:lnTo>
                <a:lnTo>
                  <a:pt x="427746" y="522332"/>
                </a:lnTo>
                <a:lnTo>
                  <a:pt x="0" y="565859"/>
                </a:lnTo>
                <a:lnTo>
                  <a:pt x="273282" y="362730"/>
                </a:lnTo>
                <a:lnTo>
                  <a:pt x="71291" y="130583"/>
                </a:lnTo>
                <a:lnTo>
                  <a:pt x="427746" y="181365"/>
                </a:lnTo>
                <a:close/>
              </a:path>
            </a:pathLst>
          </a:custGeom>
          <a:solidFill>
            <a:srgbClr val="C7BF1F"/>
          </a:solidFill>
          <a:ln w="28662">
            <a:solidFill>
              <a:srgbClr val="7D19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Up-Down Arrow 25"/>
          <p:cNvSpPr/>
          <p:nvPr/>
        </p:nvSpPr>
        <p:spPr>
          <a:xfrm>
            <a:off x="7900698" y="824645"/>
            <a:ext cx="1540051" cy="282651"/>
          </a:xfrm>
          <a:prstGeom prst="upDownArrow">
            <a:avLst/>
          </a:prstGeom>
          <a:noFill/>
          <a:ln w="15390">
            <a:solidFill>
              <a:srgbClr val="9D27A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BB74703C-183A-DEC6-2C58-D1590C7FACB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263084" y="217928"/>
            <a:ext cx="2245134" cy="910782"/>
          </a:xfrm>
          <a:prstGeom prst="rect">
            <a:avLst/>
          </a:prstGeom>
        </p:spPr>
      </p:pic>
      <p:pic>
        <p:nvPicPr>
          <p:cNvPr id="30" name="Graphic 29">
            <a:extLst>
              <a:ext uri="{FF2B5EF4-FFF2-40B4-BE49-F238E27FC236}">
                <a16:creationId xmlns:a16="http://schemas.microsoft.com/office/drawing/2014/main" id="{63F8ED34-AD4D-DBE8-ABD8-ED49B872CEE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600889" y="276715"/>
            <a:ext cx="948372" cy="119793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10990270" y="350133"/>
            <a:ext cx="961581" cy="1826557"/>
          </a:xfrm>
          <a:prstGeom prst="bentConnector3">
            <a:avLst/>
          </a:prstGeom>
          <a:ln w="31331">
            <a:solidFill>
              <a:srgbClr val="7B30C4"/>
            </a:solidFill>
            <a:prstDash val="lgDash"/>
          </a:ln>
        </p:spPr>
        <p:style>
          <a:lnRef idx="2">
            <a:schemeClr val="accent1"/>
          </a:lnRef>
          <a:fillRef idx="0">
            <a:schemeClr val="accent1"/>
          </a:fillRef>
          <a:effectRef idx="1">
            <a:schemeClr val="accent1"/>
          </a:effectRef>
          <a:fontRef idx="minor">
            <a:schemeClr val="tx1"/>
          </a:fontRef>
        </p:style>
      </p:cxnSp>
      <p:sp>
        <p:nvSpPr>
          <p:cNvPr id="3" name="Funnel 2"/>
          <p:cNvSpPr/>
          <p:nvPr/>
        </p:nvSpPr>
        <p:spPr>
          <a:xfrm>
            <a:off x="1999781" y="323299"/>
            <a:ext cx="1071390" cy="1024920"/>
          </a:xfrm>
          <a:prstGeom prst="funnel">
            <a:avLst/>
          </a:prstGeom>
          <a:solidFill>
            <a:srgbClr val="64BE7C"/>
          </a:solidFill>
          <a:ln w="6986">
            <a:solidFill>
              <a:srgbClr val="77804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75842" y="4072685"/>
            <a:ext cx="1798230" cy="1917364"/>
          </a:xfrm>
          <a:prstGeom prst="rect">
            <a:avLst/>
          </a:prstGeom>
          <a:noFill/>
        </p:spPr>
        <p:txBody>
          <a:bodyPr wrap="none" lIns="56156" tIns="56156" rIns="56156" bIns="56156">
            <a:spAutoFit/>
          </a:bodyPr>
          <a:lstStyle/>
          <a:p>
            <a:r>
              <a:rPr sz="3900" b="1" i="0" u="none">
                <a:solidFill>
                  <a:srgbClr val="627645"/>
                </a:solidFill>
                <a:latin typeface="Arial"/>
              </a:rPr>
              <a:t>Spectrum Method Report Order Surface Deck</a:t>
            </a:r>
          </a:p>
        </p:txBody>
      </p:sp>
      <p:sp>
        <p:nvSpPr>
          <p:cNvPr id="5" name="Document 4"/>
          <p:cNvSpPr/>
          <p:nvPr/>
        </p:nvSpPr>
        <p:spPr>
          <a:xfrm>
            <a:off x="526876" y="2185430"/>
            <a:ext cx="1171307" cy="1893828"/>
          </a:xfrm>
          <a:prstGeom prst="flowChartDocument">
            <a:avLst/>
          </a:prstGeom>
          <a:solidFill>
            <a:srgbClr val="6F9920"/>
          </a:solidFill>
          <a:ln w="26584">
            <a:solidFill>
              <a:srgbClr val="72B5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166320" y="853444"/>
          <a:ext cx="2700094" cy="1609041"/>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descr="_example_image.jpg"/>
          <p:cNvPicPr>
            <a:picLocks noChangeAspect="1"/>
          </p:cNvPicPr>
          <p:nvPr/>
        </p:nvPicPr>
        <p:blipFill>
          <a:blip r:embed="rId3"/>
          <a:srcRect l="4733" t="14541" r="11246" b="17624"/>
          <a:stretch>
            <a:fillRect/>
          </a:stretch>
        </p:blipFill>
        <p:spPr>
          <a:xfrm>
            <a:off x="4265760" y="278091"/>
            <a:ext cx="2493318" cy="1360650"/>
          </a:xfrm>
          <a:prstGeom prst="rect">
            <a:avLst/>
          </a:prstGeom>
        </p:spPr>
      </p:pic>
      <p:sp>
        <p:nvSpPr>
          <p:cNvPr id="8" name="Freeform 7"/>
          <p:cNvSpPr/>
          <p:nvPr/>
        </p:nvSpPr>
        <p:spPr>
          <a:xfrm>
            <a:off x="2685050" y="2033993"/>
            <a:ext cx="867806" cy="662022"/>
          </a:xfrm>
          <a:custGeom>
            <a:avLst/>
            <a:gdLst/>
            <a:ahLst/>
            <a:cxnLst/>
            <a:rect l="l" t="t" r="r" b="b"/>
            <a:pathLst>
              <a:path w="867806" h="662022">
                <a:moveTo>
                  <a:pt x="0" y="321816"/>
                </a:moveTo>
                <a:lnTo>
                  <a:pt x="149300" y="0"/>
                </a:lnTo>
                <a:lnTo>
                  <a:pt x="307932" y="275842"/>
                </a:lnTo>
                <a:lnTo>
                  <a:pt x="466563" y="551685"/>
                </a:lnTo>
                <a:lnTo>
                  <a:pt x="634525" y="229869"/>
                </a:lnTo>
                <a:lnTo>
                  <a:pt x="867806" y="349400"/>
                </a:lnTo>
                <a:lnTo>
                  <a:pt x="867806" y="662022"/>
                </a:lnTo>
                <a:lnTo>
                  <a:pt x="0" y="662022"/>
                </a:lnTo>
                <a:close/>
              </a:path>
            </a:pathLst>
          </a:custGeom>
          <a:solidFill>
            <a:srgbClr val="2BBC40"/>
          </a:solidFill>
          <a:ln w="25317">
            <a:solidFill>
              <a:srgbClr val="5345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2933823" y="4222290"/>
          <a:ext cx="2141252" cy="2445870"/>
        </p:xfrm>
        <a:graphic>
          <a:graphicData uri="http://schemas.openxmlformats.org/drawingml/2006/table">
            <a:tbl>
              <a:tblPr firstRow="1" bandRow="1">
                <a:tableStyleId>{5C22544A-7EE6-4342-B048-85BDC9FD1C3A}</a:tableStyleId>
              </a:tblPr>
              <a:tblGrid>
                <a:gridCol w="356875">
                  <a:extLst>
                    <a:ext uri="{9D8B030D-6E8A-4147-A177-3AD203B41FA5}">
                      <a16:colId xmlns:a16="http://schemas.microsoft.com/office/drawing/2014/main" val="20000"/>
                    </a:ext>
                  </a:extLst>
                </a:gridCol>
                <a:gridCol w="356875">
                  <a:extLst>
                    <a:ext uri="{9D8B030D-6E8A-4147-A177-3AD203B41FA5}">
                      <a16:colId xmlns:a16="http://schemas.microsoft.com/office/drawing/2014/main" val="20001"/>
                    </a:ext>
                  </a:extLst>
                </a:gridCol>
                <a:gridCol w="356875">
                  <a:extLst>
                    <a:ext uri="{9D8B030D-6E8A-4147-A177-3AD203B41FA5}">
                      <a16:colId xmlns:a16="http://schemas.microsoft.com/office/drawing/2014/main" val="20002"/>
                    </a:ext>
                  </a:extLst>
                </a:gridCol>
                <a:gridCol w="356875">
                  <a:extLst>
                    <a:ext uri="{9D8B030D-6E8A-4147-A177-3AD203B41FA5}">
                      <a16:colId xmlns:a16="http://schemas.microsoft.com/office/drawing/2014/main" val="20003"/>
                    </a:ext>
                  </a:extLst>
                </a:gridCol>
                <a:gridCol w="356875">
                  <a:extLst>
                    <a:ext uri="{9D8B030D-6E8A-4147-A177-3AD203B41FA5}">
                      <a16:colId xmlns:a16="http://schemas.microsoft.com/office/drawing/2014/main" val="20004"/>
                    </a:ext>
                  </a:extLst>
                </a:gridCol>
                <a:gridCol w="356877">
                  <a:extLst>
                    <a:ext uri="{9D8B030D-6E8A-4147-A177-3AD203B41FA5}">
                      <a16:colId xmlns:a16="http://schemas.microsoft.com/office/drawing/2014/main" val="20005"/>
                    </a:ext>
                  </a:extLst>
                </a:gridCol>
              </a:tblGrid>
              <a:tr h="1222935">
                <a:tc>
                  <a:txBody>
                    <a:bodyPr/>
                    <a:lstStyle/>
                    <a:p>
                      <a:r>
                        <a:rPr sz="1100" b="1">
                          <a:solidFill>
                            <a:srgbClr val="A02895"/>
                          </a:solidFill>
                        </a:rPr>
                        <a:t>Intent</a:t>
                      </a:r>
                    </a:p>
                  </a:txBody>
                  <a:tcPr>
                    <a:solidFill>
                      <a:srgbClr val="DDB020"/>
                    </a:solidFill>
                  </a:tcPr>
                </a:tc>
                <a:tc>
                  <a:txBody>
                    <a:bodyPr/>
                    <a:lstStyle/>
                    <a:p>
                      <a:r>
                        <a:rPr sz="1100" b="1">
                          <a:solidFill>
                            <a:srgbClr val="A02895"/>
                          </a:solidFill>
                        </a:rPr>
                        <a:t>Point Priority</a:t>
                      </a:r>
                    </a:p>
                  </a:txBody>
                  <a:tcPr>
                    <a:solidFill>
                      <a:srgbClr val="DDB020"/>
                    </a:solidFill>
                  </a:tcPr>
                </a:tc>
                <a:tc>
                  <a:txBody>
                    <a:bodyPr/>
                    <a:lstStyle/>
                    <a:p>
                      <a:r>
                        <a:rPr sz="1100" b="1">
                          <a:solidFill>
                            <a:srgbClr val="A02895"/>
                          </a:solidFill>
                        </a:rPr>
                        <a:t>Concept Node</a:t>
                      </a:r>
                    </a:p>
                  </a:txBody>
                  <a:tcPr>
                    <a:solidFill>
                      <a:srgbClr val="DDB020"/>
                    </a:solidFill>
                  </a:tcPr>
                </a:tc>
                <a:tc>
                  <a:txBody>
                    <a:bodyPr/>
                    <a:lstStyle/>
                    <a:p>
                      <a:r>
                        <a:rPr sz="1100" b="1">
                          <a:solidFill>
                            <a:srgbClr val="A02895"/>
                          </a:solidFill>
                        </a:rPr>
                        <a:t>Switch Blueprint</a:t>
                      </a:r>
                    </a:p>
                  </a:txBody>
                  <a:tcPr>
                    <a:solidFill>
                      <a:srgbClr val="DDB020"/>
                    </a:solidFill>
                  </a:tcPr>
                </a:tc>
                <a:tc>
                  <a:txBody>
                    <a:bodyPr/>
                    <a:lstStyle/>
                    <a:p>
                      <a:r>
                        <a:rPr sz="1100" b="1">
                          <a:solidFill>
                            <a:srgbClr val="A02895"/>
                          </a:solidFill>
                        </a:rPr>
                        <a:t>Metric Transit</a:t>
                      </a:r>
                    </a:p>
                  </a:txBody>
                  <a:tcPr>
                    <a:solidFill>
                      <a:srgbClr val="DDB020"/>
                    </a:solidFill>
                  </a:tcPr>
                </a:tc>
                <a:tc>
                  <a:txBody>
                    <a:bodyPr/>
                    <a:lstStyle/>
                    <a:p>
                      <a:r>
                        <a:rPr sz="1100" b="1">
                          <a:solidFill>
                            <a:srgbClr val="A02895"/>
                          </a:solidFill>
                        </a:rPr>
                        <a:t>Deck</a:t>
                      </a:r>
                    </a:p>
                  </a:txBody>
                  <a:tcPr>
                    <a:solidFill>
                      <a:srgbClr val="DDB020"/>
                    </a:solidFill>
                  </a:tcPr>
                </a:tc>
                <a:extLst>
                  <a:ext uri="{0D108BD9-81ED-4DB2-BD59-A6C34878D82A}">
                    <a16:rowId xmlns:a16="http://schemas.microsoft.com/office/drawing/2014/main" val="10000"/>
                  </a:ext>
                </a:extLst>
              </a:tr>
              <a:tr h="1222935">
                <a:tc>
                  <a:txBody>
                    <a:bodyPr/>
                    <a:lstStyle/>
                    <a:p>
                      <a:r>
                        <a:rPr sz="1100" b="0">
                          <a:solidFill>
                            <a:srgbClr val="A02895"/>
                          </a:solidFill>
                        </a:rPr>
                        <a:t>Collection</a:t>
                      </a:r>
                    </a:p>
                  </a:txBody>
                  <a:tcPr>
                    <a:solidFill>
                      <a:srgbClr val="F4EAF4"/>
                    </a:solidFill>
                  </a:tcPr>
                </a:tc>
                <a:tc>
                  <a:txBody>
                    <a:bodyPr/>
                    <a:lstStyle/>
                    <a:p>
                      <a:r>
                        <a:rPr sz="1100" b="0">
                          <a:solidFill>
                            <a:srgbClr val="A02895"/>
                          </a:solidFill>
                        </a:rPr>
                        <a:t>Runtime Craft</a:t>
                      </a:r>
                    </a:p>
                  </a:txBody>
                  <a:tcPr>
                    <a:solidFill>
                      <a:srgbClr val="F4EAF4"/>
                    </a:solidFill>
                  </a:tcPr>
                </a:tc>
                <a:tc>
                  <a:txBody>
                    <a:bodyPr/>
                    <a:lstStyle/>
                    <a:p>
                      <a:r>
                        <a:rPr sz="1100" b="0">
                          <a:solidFill>
                            <a:srgbClr val="A02895"/>
                          </a:solidFill>
                        </a:rPr>
                        <a:t>Buffer Briefing</a:t>
                      </a:r>
                    </a:p>
                  </a:txBody>
                  <a:tcPr>
                    <a:solidFill>
                      <a:srgbClr val="F4EAF4"/>
                    </a:solidFill>
                  </a:tcPr>
                </a:tc>
                <a:tc>
                  <a:txBody>
                    <a:bodyPr/>
                    <a:lstStyle/>
                    <a:p>
                      <a:r>
                        <a:rPr sz="1100" b="0">
                          <a:solidFill>
                            <a:srgbClr val="A02895"/>
                          </a:solidFill>
                        </a:rPr>
                        <a:t>Array Group</a:t>
                      </a:r>
                    </a:p>
                  </a:txBody>
                  <a:tcPr>
                    <a:solidFill>
                      <a:srgbClr val="F4EAF4"/>
                    </a:solidFill>
                  </a:tcPr>
                </a:tc>
                <a:tc>
                  <a:txBody>
                    <a:bodyPr/>
                    <a:lstStyle/>
                    <a:p>
                      <a:r>
                        <a:rPr sz="1100" b="0">
                          <a:solidFill>
                            <a:srgbClr val="A02895"/>
                          </a:solidFill>
                        </a:rPr>
                        <a:t>Status</a:t>
                      </a:r>
                    </a:p>
                  </a:txBody>
                  <a:tcPr>
                    <a:solidFill>
                      <a:srgbClr val="F4EAF4"/>
                    </a:solidFill>
                  </a:tcPr>
                </a:tc>
                <a:tc>
                  <a:txBody>
                    <a:bodyPr/>
                    <a:lstStyle/>
                    <a:p>
                      <a:r>
                        <a:rPr sz="1100" b="0">
                          <a:solidFill>
                            <a:srgbClr val="A02895"/>
                          </a:solidFill>
                        </a:rPr>
                        <a:t>Forecast</a:t>
                      </a:r>
                    </a:p>
                  </a:txBody>
                  <a:tcPr>
                    <a:solidFill>
                      <a:srgbClr val="F4EAF4"/>
                    </a:solidFill>
                  </a:tcPr>
                </a:tc>
                <a:extLst>
                  <a:ext uri="{0D108BD9-81ED-4DB2-BD59-A6C34878D82A}">
                    <a16:rowId xmlns:a16="http://schemas.microsoft.com/office/drawing/2014/main" val="10001"/>
                  </a:ext>
                </a:extLst>
              </a:tr>
            </a:tbl>
          </a:graphicData>
        </a:graphic>
      </p:graphicFrame>
      <p:sp>
        <p:nvSpPr>
          <p:cNvPr id="10" name="Decision 9"/>
          <p:cNvSpPr/>
          <p:nvPr/>
        </p:nvSpPr>
        <p:spPr>
          <a:xfrm>
            <a:off x="722528" y="4851770"/>
            <a:ext cx="1080406" cy="968463"/>
          </a:xfrm>
          <a:prstGeom prst="flowChartDecision">
            <a:avLst/>
          </a:prstGeom>
          <a:solidFill>
            <a:srgbClr val="9E4026"/>
          </a:solidFill>
          <a:ln w="16278">
            <a:solidFill>
              <a:srgbClr val="B752D5"/>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_example_image.jpg"/>
          <p:cNvPicPr>
            <a:picLocks noChangeAspect="1"/>
          </p:cNvPicPr>
          <p:nvPr/>
        </p:nvPicPr>
        <p:blipFill>
          <a:blip r:embed="rId3"/>
          <a:srcRect l="7481" t="11098" r="18872" b="15529"/>
          <a:stretch>
            <a:fillRect/>
          </a:stretch>
        </p:blipFill>
        <p:spPr>
          <a:xfrm>
            <a:off x="2873053" y="477725"/>
            <a:ext cx="1307630" cy="1079350"/>
          </a:xfrm>
          <a:prstGeom prst="rect">
            <a:avLst/>
          </a:prstGeom>
        </p:spPr>
      </p:pic>
      <p:sp>
        <p:nvSpPr>
          <p:cNvPr id="12" name="Rounded Rectangle 11"/>
          <p:cNvSpPr/>
          <p:nvPr/>
        </p:nvSpPr>
        <p:spPr>
          <a:xfrm>
            <a:off x="2873053" y="477725"/>
            <a:ext cx="1307630" cy="1079350"/>
          </a:xfrm>
          <a:prstGeom prst="roundRect">
            <a:avLst/>
          </a:prstGeom>
          <a:noFill/>
          <a:ln w="15240">
            <a:solidFill>
              <a:srgbClr val="AB41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003578" y="4040948"/>
            <a:ext cx="1170545" cy="1745762"/>
          </a:xfrm>
          <a:prstGeom prst="rect">
            <a:avLst/>
          </a:prstGeom>
          <a:noFill/>
        </p:spPr>
        <p:txBody>
          <a:bodyPr wrap="none" lIns="34092" tIns="34092" rIns="34092" bIns="34092">
            <a:spAutoFit/>
          </a:bodyPr>
          <a:lstStyle/>
          <a:p>
            <a:r>
              <a:rPr sz="6200" b="1" i="0" u="none">
                <a:solidFill>
                  <a:srgbClr val="3184D5"/>
                </a:solidFill>
                <a:latin typeface="Aptos"/>
              </a:rPr>
              <a:t>Expansion Epoch Core Filter Reserve</a:t>
            </a:r>
          </a:p>
        </p:txBody>
      </p:sp>
      <p:graphicFrame>
        <p:nvGraphicFramePr>
          <p:cNvPr id="14" name="Chart 13"/>
          <p:cNvGraphicFramePr>
            <a:graphicFrameLocks noGrp="1"/>
          </p:cNvGraphicFramePr>
          <p:nvPr/>
        </p:nvGraphicFramePr>
        <p:xfrm>
          <a:off x="9858403" y="4394217"/>
          <a:ext cx="2095278" cy="18894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Table 14"/>
          <p:cNvGraphicFramePr>
            <a:graphicFrameLocks noGrp="1"/>
          </p:cNvGraphicFramePr>
          <p:nvPr/>
        </p:nvGraphicFramePr>
        <p:xfrm>
          <a:off x="7977487" y="2470455"/>
          <a:ext cx="3939674" cy="1106156"/>
        </p:xfrm>
        <a:graphic>
          <a:graphicData uri="http://schemas.openxmlformats.org/drawingml/2006/table">
            <a:tbl>
              <a:tblPr firstRow="1" bandRow="1">
                <a:tableStyleId>{5C22544A-7EE6-4342-B048-85BDC9FD1C3A}</a:tableStyleId>
              </a:tblPr>
              <a:tblGrid>
                <a:gridCol w="656612">
                  <a:extLst>
                    <a:ext uri="{9D8B030D-6E8A-4147-A177-3AD203B41FA5}">
                      <a16:colId xmlns:a16="http://schemas.microsoft.com/office/drawing/2014/main" val="20000"/>
                    </a:ext>
                  </a:extLst>
                </a:gridCol>
                <a:gridCol w="656612">
                  <a:extLst>
                    <a:ext uri="{9D8B030D-6E8A-4147-A177-3AD203B41FA5}">
                      <a16:colId xmlns:a16="http://schemas.microsoft.com/office/drawing/2014/main" val="20001"/>
                    </a:ext>
                  </a:extLst>
                </a:gridCol>
                <a:gridCol w="656612">
                  <a:extLst>
                    <a:ext uri="{9D8B030D-6E8A-4147-A177-3AD203B41FA5}">
                      <a16:colId xmlns:a16="http://schemas.microsoft.com/office/drawing/2014/main" val="20002"/>
                    </a:ext>
                  </a:extLst>
                </a:gridCol>
                <a:gridCol w="656612">
                  <a:extLst>
                    <a:ext uri="{9D8B030D-6E8A-4147-A177-3AD203B41FA5}">
                      <a16:colId xmlns:a16="http://schemas.microsoft.com/office/drawing/2014/main" val="20003"/>
                    </a:ext>
                  </a:extLst>
                </a:gridCol>
                <a:gridCol w="656612">
                  <a:extLst>
                    <a:ext uri="{9D8B030D-6E8A-4147-A177-3AD203B41FA5}">
                      <a16:colId xmlns:a16="http://schemas.microsoft.com/office/drawing/2014/main" val="20004"/>
                    </a:ext>
                  </a:extLst>
                </a:gridCol>
                <a:gridCol w="656614">
                  <a:extLst>
                    <a:ext uri="{9D8B030D-6E8A-4147-A177-3AD203B41FA5}">
                      <a16:colId xmlns:a16="http://schemas.microsoft.com/office/drawing/2014/main" val="20005"/>
                    </a:ext>
                  </a:extLst>
                </a:gridCol>
              </a:tblGrid>
              <a:tr h="184359">
                <a:tc>
                  <a:txBody>
                    <a:bodyPr/>
                    <a:lstStyle/>
                    <a:p>
                      <a:r>
                        <a:rPr sz="700" b="1">
                          <a:solidFill>
                            <a:srgbClr val="241F47"/>
                          </a:solidFill>
                        </a:rPr>
                        <a:t>Hub</a:t>
                      </a:r>
                    </a:p>
                  </a:txBody>
                  <a:tcPr>
                    <a:solidFill>
                      <a:srgbClr val="75CAA0"/>
                    </a:solidFill>
                  </a:tcPr>
                </a:tc>
                <a:tc>
                  <a:txBody>
                    <a:bodyPr/>
                    <a:lstStyle/>
                    <a:p>
                      <a:r>
                        <a:rPr sz="700" b="1">
                          <a:solidFill>
                            <a:srgbClr val="241F47"/>
                          </a:solidFill>
                        </a:rPr>
                        <a:t>Kernel Reserve</a:t>
                      </a:r>
                    </a:p>
                  </a:txBody>
                  <a:tcPr>
                    <a:solidFill>
                      <a:srgbClr val="75CAA0"/>
                    </a:solidFill>
                  </a:tcPr>
                </a:tc>
                <a:tc>
                  <a:txBody>
                    <a:bodyPr/>
                    <a:lstStyle/>
                    <a:p>
                      <a:r>
                        <a:rPr sz="700" b="1">
                          <a:solidFill>
                            <a:srgbClr val="241F47"/>
                          </a:solidFill>
                        </a:rPr>
                        <a:t>Register Queue</a:t>
                      </a:r>
                    </a:p>
                  </a:txBody>
                  <a:tcPr>
                    <a:solidFill>
                      <a:srgbClr val="75CAA0"/>
                    </a:solidFill>
                  </a:tcPr>
                </a:tc>
                <a:tc>
                  <a:txBody>
                    <a:bodyPr/>
                    <a:lstStyle/>
                    <a:p>
                      <a:r>
                        <a:rPr sz="700" b="1">
                          <a:solidFill>
                            <a:srgbClr val="241F47"/>
                          </a:solidFill>
                        </a:rPr>
                        <a:t>Dashboard Milestone</a:t>
                      </a:r>
                    </a:p>
                  </a:txBody>
                  <a:tcPr>
                    <a:solidFill>
                      <a:srgbClr val="75CAA0"/>
                    </a:solidFill>
                  </a:tcPr>
                </a:tc>
                <a:tc>
                  <a:txBody>
                    <a:bodyPr/>
                    <a:lstStyle/>
                    <a:p>
                      <a:r>
                        <a:rPr sz="700" b="1">
                          <a:solidFill>
                            <a:srgbClr val="241F47"/>
                          </a:solidFill>
                        </a:rPr>
                        <a:t>Array</a:t>
                      </a:r>
                    </a:p>
                  </a:txBody>
                  <a:tcPr>
                    <a:solidFill>
                      <a:srgbClr val="75CAA0"/>
                    </a:solidFill>
                  </a:tcPr>
                </a:tc>
                <a:tc>
                  <a:txBody>
                    <a:bodyPr/>
                    <a:lstStyle/>
                    <a:p>
                      <a:r>
                        <a:rPr sz="700" b="1">
                          <a:solidFill>
                            <a:srgbClr val="241F47"/>
                          </a:solidFill>
                        </a:rPr>
                        <a:t>Pattern Program</a:t>
                      </a:r>
                    </a:p>
                  </a:txBody>
                  <a:tcPr>
                    <a:solidFill>
                      <a:srgbClr val="75CAA0"/>
                    </a:solidFill>
                  </a:tcPr>
                </a:tc>
                <a:extLst>
                  <a:ext uri="{0D108BD9-81ED-4DB2-BD59-A6C34878D82A}">
                    <a16:rowId xmlns:a16="http://schemas.microsoft.com/office/drawing/2014/main" val="10000"/>
                  </a:ext>
                </a:extLst>
              </a:tr>
              <a:tr h="184359">
                <a:tc>
                  <a:txBody>
                    <a:bodyPr/>
                    <a:lstStyle/>
                    <a:p>
                      <a:r>
                        <a:rPr sz="700" b="0">
                          <a:solidFill>
                            <a:srgbClr val="241F47"/>
                          </a:solidFill>
                        </a:rPr>
                        <a:t>Needle Resource</a:t>
                      </a:r>
                    </a:p>
                  </a:txBody>
                  <a:tcPr>
                    <a:solidFill>
                      <a:srgbClr val="F6EBEF"/>
                    </a:solidFill>
                  </a:tcPr>
                </a:tc>
                <a:tc>
                  <a:txBody>
                    <a:bodyPr/>
                    <a:lstStyle/>
                    <a:p>
                      <a:r>
                        <a:rPr sz="700" b="0">
                          <a:solidFill>
                            <a:srgbClr val="241F47"/>
                          </a:solidFill>
                        </a:rPr>
                        <a:t>Orbit</a:t>
                      </a:r>
                    </a:p>
                  </a:txBody>
                  <a:tcPr>
                    <a:solidFill>
                      <a:srgbClr val="F6EBEF"/>
                    </a:solidFill>
                  </a:tcPr>
                </a:tc>
                <a:tc>
                  <a:txBody>
                    <a:bodyPr/>
                    <a:lstStyle/>
                    <a:p>
                      <a:r>
                        <a:rPr sz="700" b="0">
                          <a:solidFill>
                            <a:srgbClr val="241F47"/>
                          </a:solidFill>
                        </a:rPr>
                        <a:t>Gateway</a:t>
                      </a:r>
                    </a:p>
                  </a:txBody>
                  <a:tcPr>
                    <a:solidFill>
                      <a:srgbClr val="F6EBEF"/>
                    </a:solidFill>
                  </a:tcPr>
                </a:tc>
                <a:tc>
                  <a:txBody>
                    <a:bodyPr/>
                    <a:lstStyle/>
                    <a:p>
                      <a:r>
                        <a:rPr sz="700" b="0">
                          <a:solidFill>
                            <a:srgbClr val="241F47"/>
                          </a:solidFill>
                        </a:rPr>
                        <a:t>Output</a:t>
                      </a:r>
                    </a:p>
                  </a:txBody>
                  <a:tcPr>
                    <a:solidFill>
                      <a:srgbClr val="F6EBEF"/>
                    </a:solidFill>
                  </a:tcPr>
                </a:tc>
                <a:tc>
                  <a:txBody>
                    <a:bodyPr/>
                    <a:lstStyle/>
                    <a:p>
                      <a:r>
                        <a:rPr sz="700" b="0">
                          <a:solidFill>
                            <a:srgbClr val="241F47"/>
                          </a:solidFill>
                        </a:rPr>
                        <a:t>Template Output</a:t>
                      </a:r>
                    </a:p>
                  </a:txBody>
                  <a:tcPr>
                    <a:solidFill>
                      <a:srgbClr val="F6EBEF"/>
                    </a:solidFill>
                  </a:tcPr>
                </a:tc>
                <a:tc>
                  <a:txBody>
                    <a:bodyPr/>
                    <a:lstStyle/>
                    <a:p>
                      <a:r>
                        <a:rPr sz="700" b="0">
                          <a:solidFill>
                            <a:srgbClr val="241F47"/>
                          </a:solidFill>
                        </a:rPr>
                        <a:t>Milestone</a:t>
                      </a:r>
                    </a:p>
                  </a:txBody>
                  <a:tcPr>
                    <a:solidFill>
                      <a:srgbClr val="F6EBEF"/>
                    </a:solidFill>
                  </a:tcPr>
                </a:tc>
                <a:extLst>
                  <a:ext uri="{0D108BD9-81ED-4DB2-BD59-A6C34878D82A}">
                    <a16:rowId xmlns:a16="http://schemas.microsoft.com/office/drawing/2014/main" val="10001"/>
                  </a:ext>
                </a:extLst>
              </a:tr>
              <a:tr h="184359">
                <a:tc>
                  <a:txBody>
                    <a:bodyPr/>
                    <a:lstStyle/>
                    <a:p>
                      <a:r>
                        <a:rPr sz="700" b="0">
                          <a:solidFill>
                            <a:srgbClr val="241F47"/>
                          </a:solidFill>
                        </a:rPr>
                        <a:t>Window</a:t>
                      </a:r>
                    </a:p>
                  </a:txBody>
                  <a:tcPr>
                    <a:solidFill>
                      <a:srgbClr val="F6EBEF"/>
                    </a:solidFill>
                  </a:tcPr>
                </a:tc>
                <a:tc>
                  <a:txBody>
                    <a:bodyPr/>
                    <a:lstStyle/>
                    <a:p>
                      <a:r>
                        <a:rPr sz="700" b="0">
                          <a:solidFill>
                            <a:srgbClr val="241F47"/>
                          </a:solidFill>
                        </a:rPr>
                        <a:t>Gateway</a:t>
                      </a:r>
                    </a:p>
                  </a:txBody>
                  <a:tcPr>
                    <a:solidFill>
                      <a:srgbClr val="F6EBEF"/>
                    </a:solidFill>
                  </a:tcPr>
                </a:tc>
                <a:tc>
                  <a:txBody>
                    <a:bodyPr/>
                    <a:lstStyle/>
                    <a:p>
                      <a:r>
                        <a:rPr sz="700" b="0">
                          <a:solidFill>
                            <a:srgbClr val="241F47"/>
                          </a:solidFill>
                        </a:rPr>
                        <a:t>Draft</a:t>
                      </a:r>
                    </a:p>
                  </a:txBody>
                  <a:tcPr>
                    <a:solidFill>
                      <a:srgbClr val="F6EBEF"/>
                    </a:solidFill>
                  </a:tcPr>
                </a:tc>
                <a:tc>
                  <a:txBody>
                    <a:bodyPr/>
                    <a:lstStyle/>
                    <a:p>
                      <a:r>
                        <a:rPr sz="700" b="0">
                          <a:solidFill>
                            <a:srgbClr val="241F47"/>
                          </a:solidFill>
                        </a:rPr>
                        <a:t>Diagram Package</a:t>
                      </a:r>
                    </a:p>
                  </a:txBody>
                  <a:tcPr>
                    <a:solidFill>
                      <a:srgbClr val="F6EBEF"/>
                    </a:solidFill>
                  </a:tcPr>
                </a:tc>
                <a:tc>
                  <a:txBody>
                    <a:bodyPr/>
                    <a:lstStyle/>
                    <a:p>
                      <a:r>
                        <a:rPr sz="700" b="0">
                          <a:solidFill>
                            <a:srgbClr val="241F47"/>
                          </a:solidFill>
                        </a:rPr>
                        <a:t>Variant</a:t>
                      </a:r>
                    </a:p>
                  </a:txBody>
                  <a:tcPr>
                    <a:solidFill>
                      <a:srgbClr val="F6EBEF"/>
                    </a:solidFill>
                  </a:tcPr>
                </a:tc>
                <a:tc>
                  <a:txBody>
                    <a:bodyPr/>
                    <a:lstStyle/>
                    <a:p>
                      <a:r>
                        <a:rPr sz="700" b="0">
                          <a:solidFill>
                            <a:srgbClr val="241F47"/>
                          </a:solidFill>
                        </a:rPr>
                        <a:t>Sync</a:t>
                      </a:r>
                    </a:p>
                  </a:txBody>
                  <a:tcPr>
                    <a:solidFill>
                      <a:srgbClr val="F6EBEF"/>
                    </a:solidFill>
                  </a:tcPr>
                </a:tc>
                <a:extLst>
                  <a:ext uri="{0D108BD9-81ED-4DB2-BD59-A6C34878D82A}">
                    <a16:rowId xmlns:a16="http://schemas.microsoft.com/office/drawing/2014/main" val="10002"/>
                  </a:ext>
                </a:extLst>
              </a:tr>
              <a:tr h="184359">
                <a:tc>
                  <a:txBody>
                    <a:bodyPr/>
                    <a:lstStyle/>
                    <a:p>
                      <a:r>
                        <a:rPr sz="700" b="0">
                          <a:solidFill>
                            <a:srgbClr val="241F47"/>
                          </a:solidFill>
                        </a:rPr>
                        <a:t>Trigger</a:t>
                      </a:r>
                    </a:p>
                  </a:txBody>
                  <a:tcPr>
                    <a:solidFill>
                      <a:srgbClr val="F6EBEF"/>
                    </a:solidFill>
                  </a:tcPr>
                </a:tc>
                <a:tc>
                  <a:txBody>
                    <a:bodyPr/>
                    <a:lstStyle/>
                    <a:p>
                      <a:r>
                        <a:rPr sz="700" b="0">
                          <a:solidFill>
                            <a:srgbClr val="241F47"/>
                          </a:solidFill>
                        </a:rPr>
                        <a:t>Input</a:t>
                      </a:r>
                    </a:p>
                  </a:txBody>
                  <a:tcPr>
                    <a:solidFill>
                      <a:srgbClr val="F6EBEF"/>
                    </a:solidFill>
                  </a:tcPr>
                </a:tc>
                <a:tc>
                  <a:txBody>
                    <a:bodyPr/>
                    <a:lstStyle/>
                    <a:p>
                      <a:r>
                        <a:rPr sz="700" b="0">
                          <a:solidFill>
                            <a:srgbClr val="241F47"/>
                          </a:solidFill>
                        </a:rPr>
                        <a:t>Inventory Pipeline</a:t>
                      </a:r>
                    </a:p>
                  </a:txBody>
                  <a:tcPr>
                    <a:solidFill>
                      <a:srgbClr val="F6EBEF"/>
                    </a:solidFill>
                  </a:tcPr>
                </a:tc>
                <a:tc>
                  <a:txBody>
                    <a:bodyPr/>
                    <a:lstStyle/>
                    <a:p>
                      <a:r>
                        <a:rPr sz="700" b="0">
                          <a:solidFill>
                            <a:srgbClr val="241F47"/>
                          </a:solidFill>
                        </a:rPr>
                        <a:t>Cadence</a:t>
                      </a:r>
                    </a:p>
                  </a:txBody>
                  <a:tcPr>
                    <a:solidFill>
                      <a:srgbClr val="F6EBEF"/>
                    </a:solidFill>
                  </a:tcPr>
                </a:tc>
                <a:tc>
                  <a:txBody>
                    <a:bodyPr/>
                    <a:lstStyle/>
                    <a:p>
                      <a:r>
                        <a:rPr sz="700" b="0">
                          <a:solidFill>
                            <a:srgbClr val="241F47"/>
                          </a:solidFill>
                        </a:rPr>
                        <a:t>Concept</a:t>
                      </a:r>
                    </a:p>
                  </a:txBody>
                  <a:tcPr>
                    <a:solidFill>
                      <a:srgbClr val="F6EBEF"/>
                    </a:solidFill>
                  </a:tcPr>
                </a:tc>
                <a:tc>
                  <a:txBody>
                    <a:bodyPr/>
                    <a:lstStyle/>
                    <a:p>
                      <a:r>
                        <a:rPr sz="700" b="0">
                          <a:solidFill>
                            <a:srgbClr val="241F47"/>
                          </a:solidFill>
                        </a:rPr>
                        <a:t>Dimension Source</a:t>
                      </a:r>
                    </a:p>
                  </a:txBody>
                  <a:tcPr>
                    <a:solidFill>
                      <a:srgbClr val="F6EBEF"/>
                    </a:solidFill>
                  </a:tcPr>
                </a:tc>
                <a:extLst>
                  <a:ext uri="{0D108BD9-81ED-4DB2-BD59-A6C34878D82A}">
                    <a16:rowId xmlns:a16="http://schemas.microsoft.com/office/drawing/2014/main" val="10003"/>
                  </a:ext>
                </a:extLst>
              </a:tr>
              <a:tr h="184359">
                <a:tc>
                  <a:txBody>
                    <a:bodyPr/>
                    <a:lstStyle/>
                    <a:p>
                      <a:r>
                        <a:rPr sz="700" b="0">
                          <a:solidFill>
                            <a:srgbClr val="241F47"/>
                          </a:solidFill>
                        </a:rPr>
                        <a:t>Impact</a:t>
                      </a:r>
                    </a:p>
                  </a:txBody>
                  <a:tcPr>
                    <a:solidFill>
                      <a:srgbClr val="F6EBEF"/>
                    </a:solidFill>
                  </a:tcPr>
                </a:tc>
                <a:tc>
                  <a:txBody>
                    <a:bodyPr/>
                    <a:lstStyle/>
                    <a:p>
                      <a:r>
                        <a:rPr sz="700" b="0">
                          <a:solidFill>
                            <a:srgbClr val="241F47"/>
                          </a:solidFill>
                        </a:rPr>
                        <a:t>Event Story</a:t>
                      </a:r>
                    </a:p>
                  </a:txBody>
                  <a:tcPr>
                    <a:solidFill>
                      <a:srgbClr val="F6EBEF"/>
                    </a:solidFill>
                  </a:tcPr>
                </a:tc>
                <a:tc>
                  <a:txBody>
                    <a:bodyPr/>
                    <a:lstStyle/>
                    <a:p>
                      <a:r>
                        <a:rPr sz="700" b="0">
                          <a:solidFill>
                            <a:srgbClr val="241F47"/>
                          </a:solidFill>
                        </a:rPr>
                        <a:t>Route Frequency</a:t>
                      </a:r>
                    </a:p>
                  </a:txBody>
                  <a:tcPr>
                    <a:solidFill>
                      <a:srgbClr val="F6EBEF"/>
                    </a:solidFill>
                  </a:tcPr>
                </a:tc>
                <a:tc>
                  <a:txBody>
                    <a:bodyPr/>
                    <a:lstStyle/>
                    <a:p>
                      <a:r>
                        <a:rPr sz="700" b="0">
                          <a:solidFill>
                            <a:srgbClr val="241F47"/>
                          </a:solidFill>
                        </a:rPr>
                        <a:t>Benchmark</a:t>
                      </a:r>
                    </a:p>
                  </a:txBody>
                  <a:tcPr>
                    <a:solidFill>
                      <a:srgbClr val="F6EBEF"/>
                    </a:solidFill>
                  </a:tcPr>
                </a:tc>
                <a:tc>
                  <a:txBody>
                    <a:bodyPr/>
                    <a:lstStyle/>
                    <a:p>
                      <a:r>
                        <a:rPr sz="700" b="0">
                          <a:solidFill>
                            <a:srgbClr val="241F47"/>
                          </a:solidFill>
                        </a:rPr>
                        <a:t>Rhythm</a:t>
                      </a:r>
                    </a:p>
                  </a:txBody>
                  <a:tcPr>
                    <a:solidFill>
                      <a:srgbClr val="F6EBEF"/>
                    </a:solidFill>
                  </a:tcPr>
                </a:tc>
                <a:tc>
                  <a:txBody>
                    <a:bodyPr/>
                    <a:lstStyle/>
                    <a:p>
                      <a:r>
                        <a:rPr sz="700" b="0">
                          <a:solidFill>
                            <a:srgbClr val="241F47"/>
                          </a:solidFill>
                        </a:rPr>
                        <a:t>Brief Entity</a:t>
                      </a:r>
                    </a:p>
                  </a:txBody>
                  <a:tcPr>
                    <a:solidFill>
                      <a:srgbClr val="F6EBEF"/>
                    </a:solidFill>
                  </a:tcPr>
                </a:tc>
                <a:extLst>
                  <a:ext uri="{0D108BD9-81ED-4DB2-BD59-A6C34878D82A}">
                    <a16:rowId xmlns:a16="http://schemas.microsoft.com/office/drawing/2014/main" val="10004"/>
                  </a:ext>
                </a:extLst>
              </a:tr>
              <a:tr h="184361">
                <a:tc>
                  <a:txBody>
                    <a:bodyPr/>
                    <a:lstStyle/>
                    <a:p>
                      <a:r>
                        <a:rPr sz="700" b="0">
                          <a:solidFill>
                            <a:srgbClr val="241F47"/>
                          </a:solidFill>
                        </a:rPr>
                        <a:t>Device Direction</a:t>
                      </a:r>
                    </a:p>
                  </a:txBody>
                  <a:tcPr>
                    <a:solidFill>
                      <a:srgbClr val="F6EBEF"/>
                    </a:solidFill>
                  </a:tcPr>
                </a:tc>
                <a:tc>
                  <a:txBody>
                    <a:bodyPr/>
                    <a:lstStyle/>
                    <a:p>
                      <a:r>
                        <a:rPr sz="700" b="0">
                          <a:solidFill>
                            <a:srgbClr val="241F47"/>
                          </a:solidFill>
                        </a:rPr>
                        <a:t>View</a:t>
                      </a:r>
                    </a:p>
                  </a:txBody>
                  <a:tcPr>
                    <a:solidFill>
                      <a:srgbClr val="F6EBEF"/>
                    </a:solidFill>
                  </a:tcPr>
                </a:tc>
                <a:tc>
                  <a:txBody>
                    <a:bodyPr/>
                    <a:lstStyle/>
                    <a:p>
                      <a:r>
                        <a:rPr sz="700" b="0">
                          <a:solidFill>
                            <a:srgbClr val="241F47"/>
                          </a:solidFill>
                        </a:rPr>
                        <a:t>Brief</a:t>
                      </a:r>
                    </a:p>
                  </a:txBody>
                  <a:tcPr>
                    <a:solidFill>
                      <a:srgbClr val="F6EBEF"/>
                    </a:solidFill>
                  </a:tcPr>
                </a:tc>
                <a:tc>
                  <a:txBody>
                    <a:bodyPr/>
                    <a:lstStyle/>
                    <a:p>
                      <a:r>
                        <a:rPr sz="700" b="0">
                          <a:solidFill>
                            <a:srgbClr val="241F47"/>
                          </a:solidFill>
                        </a:rPr>
                        <a:t>Stream Source</a:t>
                      </a:r>
                    </a:p>
                  </a:txBody>
                  <a:tcPr>
                    <a:solidFill>
                      <a:srgbClr val="F6EBEF"/>
                    </a:solidFill>
                  </a:tcPr>
                </a:tc>
                <a:tc>
                  <a:txBody>
                    <a:bodyPr/>
                    <a:lstStyle/>
                    <a:p>
                      <a:r>
                        <a:rPr sz="700" b="0">
                          <a:solidFill>
                            <a:srgbClr val="241F47"/>
                          </a:solidFill>
                        </a:rPr>
                        <a:t>Resource Packet</a:t>
                      </a:r>
                    </a:p>
                  </a:txBody>
                  <a:tcPr>
                    <a:solidFill>
                      <a:srgbClr val="F6EBEF"/>
                    </a:solidFill>
                  </a:tcPr>
                </a:tc>
                <a:tc>
                  <a:txBody>
                    <a:bodyPr/>
                    <a:lstStyle/>
                    <a:p>
                      <a:r>
                        <a:rPr sz="700" b="0">
                          <a:solidFill>
                            <a:srgbClr val="241F47"/>
                          </a:solidFill>
                        </a:rPr>
                        <a:t>Horizon</a:t>
                      </a:r>
                    </a:p>
                  </a:txBody>
                  <a:tcPr>
                    <a:solidFill>
                      <a:srgbClr val="F6EBEF"/>
                    </a:solidFill>
                  </a:tcPr>
                </a:tc>
                <a:extLst>
                  <a:ext uri="{0D108BD9-81ED-4DB2-BD59-A6C34878D82A}">
                    <a16:rowId xmlns:a16="http://schemas.microsoft.com/office/drawing/2014/main" val="10005"/>
                  </a:ext>
                </a:extLst>
              </a:tr>
            </a:tbl>
          </a:graphicData>
        </a:graphic>
      </p:graphicFrame>
      <p:pic>
        <p:nvPicPr>
          <p:cNvPr id="16" name="Picture 15" descr="_example_image.jpg"/>
          <p:cNvPicPr>
            <a:picLocks noChangeAspect="1"/>
          </p:cNvPicPr>
          <p:nvPr/>
        </p:nvPicPr>
        <p:blipFill>
          <a:blip r:embed="rId3"/>
          <a:srcRect l="20876" t="18936" r="2465" b="4902"/>
          <a:stretch>
            <a:fillRect/>
          </a:stretch>
        </p:blipFill>
        <p:spPr>
          <a:xfrm>
            <a:off x="6683378" y="1132374"/>
            <a:ext cx="3124661" cy="1061279"/>
          </a:xfrm>
          <a:prstGeom prst="rect">
            <a:avLst/>
          </a:prstGeom>
        </p:spPr>
      </p:pic>
      <p:sp>
        <p:nvSpPr>
          <p:cNvPr id="17" name="Diamond 16"/>
          <p:cNvSpPr/>
          <p:nvPr/>
        </p:nvSpPr>
        <p:spPr>
          <a:xfrm>
            <a:off x="5279900" y="1582548"/>
            <a:ext cx="1441604" cy="353907"/>
          </a:xfrm>
          <a:prstGeom prst="diamond">
            <a:avLst/>
          </a:prstGeom>
          <a:solidFill>
            <a:srgbClr val="AF2C90"/>
          </a:solidFill>
          <a:ln w="9104">
            <a:solidFill>
              <a:srgbClr val="A7D8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6390274" y="4157261"/>
            <a:ext cx="1046855" cy="547039"/>
          </a:xfrm>
          <a:prstGeom prst="bentConnector3">
            <a:avLst/>
          </a:prstGeom>
          <a:ln w="33195">
            <a:solidFill>
              <a:srgbClr val="69192D"/>
            </a:solidFill>
            <a:prstDash val="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098030" y="2722318"/>
            <a:ext cx="1075550" cy="1937835"/>
          </a:xfrm>
          <a:prstGeom prst="rect">
            <a:avLst/>
          </a:prstGeom>
          <a:noFill/>
        </p:spPr>
        <p:txBody>
          <a:bodyPr wrap="none" lIns="55438" tIns="55438" rIns="55438" bIns="55438">
            <a:spAutoFit/>
          </a:bodyPr>
          <a:lstStyle/>
          <a:p>
            <a:r>
              <a:rPr sz="1200" b="0" i="0" u="none">
                <a:solidFill>
                  <a:srgbClr val="6C8E88"/>
                </a:solidFill>
                <a:latin typeface="Calibri"/>
              </a:rPr>
              <a:t>Measure Table Drift Coverage Trigger Design Snapshot Harbor Instance Circuit Array Sample Device Profile Trend Method View Library Layer Gradient Cortex Schema Estimate Buffer Terminal Spectrum Route Data Interval Collection Radius</a:t>
            </a:r>
          </a:p>
        </p:txBody>
      </p:sp>
      <p:sp>
        <p:nvSpPr>
          <p:cNvPr id="20" name="Notched Right Arrow 19"/>
          <p:cNvSpPr/>
          <p:nvPr/>
        </p:nvSpPr>
        <p:spPr>
          <a:xfrm>
            <a:off x="7189749" y="308519"/>
            <a:ext cx="1769483" cy="336016"/>
          </a:xfrm>
          <a:prstGeom prst="notchedRightArrow">
            <a:avLst/>
          </a:prstGeom>
          <a:solidFill>
            <a:srgbClr val="46CB9D"/>
          </a:solidFill>
          <a:ln w="20204">
            <a:solidFill>
              <a:srgbClr val="D5399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36959" y="1999483"/>
            <a:ext cx="2094454" cy="862184"/>
          </a:xfrm>
          <a:prstGeom prst="rect">
            <a:avLst/>
          </a:prstGeom>
          <a:noFill/>
        </p:spPr>
        <p:txBody>
          <a:bodyPr wrap="none" lIns="41361" tIns="41361" rIns="41361" bIns="41361">
            <a:spAutoFit/>
          </a:bodyPr>
          <a:lstStyle/>
          <a:p>
            <a:r>
              <a:rPr sz="2700" b="0" i="0" u="none">
                <a:solidFill>
                  <a:srgbClr val="203567"/>
                </a:solidFill>
                <a:latin typeface="Aptos"/>
              </a:rPr>
              <a:t>Bundle Version Craft Logic Collection Ledger Precision Foundation Chart Window Milestone</a:t>
            </a:r>
          </a:p>
        </p:txBody>
      </p:sp>
      <p:sp>
        <p:nvSpPr>
          <p:cNvPr id="22" name="Down Arrow 21"/>
          <p:cNvSpPr/>
          <p:nvPr/>
        </p:nvSpPr>
        <p:spPr>
          <a:xfrm>
            <a:off x="9927013" y="659991"/>
            <a:ext cx="1013039" cy="1784015"/>
          </a:xfrm>
          <a:prstGeom prst="downArrow">
            <a:avLst/>
          </a:prstGeom>
          <a:solidFill>
            <a:srgbClr val="484788"/>
          </a:solidFill>
          <a:ln w="7209">
            <a:solidFill>
              <a:srgbClr val="5AAC6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45459" y="1659227"/>
            <a:ext cx="1195423" cy="958335"/>
          </a:xfrm>
          <a:prstGeom prst="rect">
            <a:avLst/>
          </a:prstGeom>
          <a:noFill/>
        </p:spPr>
        <p:txBody>
          <a:bodyPr wrap="none" lIns="69387" tIns="69387" rIns="69387" bIns="69387">
            <a:spAutoFit/>
          </a:bodyPr>
          <a:lstStyle/>
          <a:p>
            <a:r>
              <a:rPr sz="1800" b="0" i="0" u="none">
                <a:solidFill>
                  <a:srgbClr val="CC4B1B"/>
                </a:solidFill>
                <a:latin typeface="Verdana"/>
              </a:rPr>
              <a:t>Audit Variant Mesh Signal System Discovery Mesh Payload Position Ledger Audit Precision Epoch Draft Network Detail Inventory Gateway Catalog Service Velocity Brief Range Archive Concept Concept Node Sample Slice Velocity Packet Queue Case Array Wave Design Analysis Benchmark</a:t>
            </a:r>
          </a:p>
        </p:txBody>
      </p:sp>
      <p:sp>
        <p:nvSpPr>
          <p:cNvPr id="24" name="Cube 23"/>
          <p:cNvSpPr/>
          <p:nvPr/>
        </p:nvSpPr>
        <p:spPr>
          <a:xfrm>
            <a:off x="8974308" y="3346022"/>
            <a:ext cx="1843358" cy="611632"/>
          </a:xfrm>
          <a:prstGeom prst="cube">
            <a:avLst/>
          </a:prstGeom>
          <a:solidFill>
            <a:srgbClr val="5A8E1B"/>
          </a:solidFill>
          <a:ln w="11304">
            <a:solidFill>
              <a:srgbClr val="8EC67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V="1">
            <a:off x="1585613" y="3888896"/>
            <a:ext cx="1237704" cy="1056307"/>
          </a:xfrm>
          <a:prstGeom prst="line">
            <a:avLst/>
          </a:prstGeom>
          <a:ln w="15584">
            <a:solidFill>
              <a:srgbClr val="B6268F"/>
            </a:solidFill>
            <a:prstDash val="dashDot"/>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4393296" y="3084339"/>
            <a:ext cx="1802200" cy="595116"/>
          </a:xfrm>
          <a:custGeom>
            <a:avLst/>
            <a:gdLst/>
            <a:ahLst/>
            <a:cxnLst/>
            <a:rect l="l" t="t" r="r" b="b"/>
            <a:pathLst>
              <a:path w="1802200" h="595116">
                <a:moveTo>
                  <a:pt x="0" y="289292"/>
                </a:moveTo>
                <a:lnTo>
                  <a:pt x="310056" y="0"/>
                </a:lnTo>
                <a:lnTo>
                  <a:pt x="639490" y="247965"/>
                </a:lnTo>
                <a:lnTo>
                  <a:pt x="968924" y="495930"/>
                </a:lnTo>
                <a:lnTo>
                  <a:pt x="1317737" y="206637"/>
                </a:lnTo>
                <a:lnTo>
                  <a:pt x="1802200" y="314089"/>
                </a:lnTo>
                <a:lnTo>
                  <a:pt x="1802200" y="595116"/>
                </a:lnTo>
                <a:lnTo>
                  <a:pt x="0" y="595116"/>
                </a:lnTo>
                <a:close/>
              </a:path>
            </a:pathLst>
          </a:custGeom>
          <a:solidFill>
            <a:srgbClr val="55E683"/>
          </a:solidFill>
          <a:ln w="22681">
            <a:solidFill>
              <a:srgbClr val="BF35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86738" y="3665508"/>
            <a:ext cx="873139" cy="1587608"/>
          </a:xfrm>
          <a:prstGeom prst="rect">
            <a:avLst/>
          </a:prstGeom>
          <a:noFill/>
        </p:spPr>
        <p:txBody>
          <a:bodyPr wrap="none" lIns="34208" tIns="34208" rIns="34208" bIns="34208">
            <a:spAutoFit/>
          </a:bodyPr>
          <a:lstStyle/>
          <a:p>
            <a:r>
              <a:rPr sz="3100" b="1" i="0" u="sng">
                <a:solidFill>
                  <a:srgbClr val="BD9EAF"/>
                </a:solidFill>
                <a:latin typeface="Arial"/>
              </a:rPr>
              <a:t>Reserve Register Topology Handle Depth Blueprint Switch</a:t>
            </a:r>
          </a:p>
        </p:txBody>
      </p:sp>
      <p:pic>
        <p:nvPicPr>
          <p:cNvPr id="29" name="Graphic 28">
            <a:extLst>
              <a:ext uri="{FF2B5EF4-FFF2-40B4-BE49-F238E27FC236}">
                <a16:creationId xmlns:a16="http://schemas.microsoft.com/office/drawing/2014/main" id="{746B79DB-EBFF-7E71-A184-9C48E643BA3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203793" y="5875848"/>
            <a:ext cx="3037508" cy="809238"/>
          </a:xfrm>
          <a:prstGeom prst="rect">
            <a:avLst/>
          </a:prstGeom>
        </p:spPr>
      </p:pic>
      <p:pic>
        <p:nvPicPr>
          <p:cNvPr id="31" name="Graphic 30">
            <a:extLst>
              <a:ext uri="{FF2B5EF4-FFF2-40B4-BE49-F238E27FC236}">
                <a16:creationId xmlns:a16="http://schemas.microsoft.com/office/drawing/2014/main" id="{682937DA-E177-0051-DFE6-4BD3D82BAEA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33393" y="171523"/>
            <a:ext cx="1282281" cy="90702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98721" y="2811824"/>
            <a:ext cx="1371330" cy="709431"/>
          </a:xfrm>
          <a:prstGeom prst="rect">
            <a:avLst/>
          </a:prstGeom>
          <a:noFill/>
        </p:spPr>
        <p:txBody>
          <a:bodyPr wrap="none" lIns="45250" tIns="45250" rIns="45250" bIns="45250">
            <a:spAutoFit/>
          </a:bodyPr>
          <a:lstStyle/>
          <a:p>
            <a:r>
              <a:rPr sz="700" b="1" i="0" u="none">
                <a:solidFill>
                  <a:srgbClr val="496BAA"/>
                </a:solidFill>
                <a:latin typeface="Calibri"/>
              </a:rPr>
              <a:t>Guide Stage Report Kernel Link Lens</a:t>
            </a:r>
          </a:p>
        </p:txBody>
      </p:sp>
      <p:cxnSp>
        <p:nvCxnSpPr>
          <p:cNvPr id="3" name="Connector 2"/>
          <p:cNvCxnSpPr/>
          <p:nvPr/>
        </p:nvCxnSpPr>
        <p:spPr>
          <a:xfrm>
            <a:off x="7611531" y="385599"/>
            <a:ext cx="1415488" cy="687936"/>
          </a:xfrm>
          <a:prstGeom prst="bentConnector3">
            <a:avLst/>
          </a:prstGeom>
          <a:ln w="16614">
            <a:solidFill>
              <a:srgbClr val="939ECD"/>
            </a:solidFill>
            <a:prstDash val="lgDash"/>
          </a:ln>
        </p:spPr>
        <p:style>
          <a:lnRef idx="2">
            <a:schemeClr val="accent1"/>
          </a:lnRef>
          <a:fillRef idx="0">
            <a:schemeClr val="accent1"/>
          </a:fillRef>
          <a:effectRef idx="1">
            <a:schemeClr val="accent1"/>
          </a:effectRef>
          <a:fontRef idx="minor">
            <a:schemeClr val="tx1"/>
          </a:fontRef>
        </p:style>
      </p:cxnSp>
      <p:sp>
        <p:nvSpPr>
          <p:cNvPr id="4" name="Freeform 3"/>
          <p:cNvSpPr/>
          <p:nvPr/>
        </p:nvSpPr>
        <p:spPr>
          <a:xfrm>
            <a:off x="775988" y="3332703"/>
            <a:ext cx="1196546" cy="1041414"/>
          </a:xfrm>
          <a:custGeom>
            <a:avLst/>
            <a:gdLst/>
            <a:ahLst/>
            <a:cxnLst/>
            <a:rect l="l" t="t" r="r" b="b"/>
            <a:pathLst>
              <a:path w="1196546" h="1041414">
                <a:moveTo>
                  <a:pt x="0" y="506243"/>
                </a:moveTo>
                <a:lnTo>
                  <a:pt x="205857" y="0"/>
                </a:lnTo>
                <a:lnTo>
                  <a:pt x="424581" y="433922"/>
                </a:lnTo>
                <a:lnTo>
                  <a:pt x="643304" y="867845"/>
                </a:lnTo>
                <a:lnTo>
                  <a:pt x="874894" y="361602"/>
                </a:lnTo>
                <a:lnTo>
                  <a:pt x="1196546" y="549635"/>
                </a:lnTo>
                <a:lnTo>
                  <a:pt x="1196546" y="1041414"/>
                </a:lnTo>
                <a:lnTo>
                  <a:pt x="0" y="1041414"/>
                </a:lnTo>
                <a:close/>
              </a:path>
            </a:pathLst>
          </a:custGeom>
          <a:solidFill>
            <a:srgbClr val="567355"/>
          </a:solidFill>
          <a:ln w="26728">
            <a:solidFill>
              <a:srgbClr val="1C9A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flipV="1">
            <a:off x="9644137" y="1781176"/>
            <a:ext cx="1173133" cy="456876"/>
          </a:xfrm>
          <a:prstGeom prst="curvedConnector3">
            <a:avLst/>
          </a:prstGeom>
          <a:ln w="36339">
            <a:solidFill>
              <a:srgbClr val="DC26A0"/>
            </a:solidFill>
            <a:prstDash val="dot"/>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9435246" y="2893924"/>
            <a:ext cx="687880" cy="726289"/>
          </a:xfrm>
          <a:custGeom>
            <a:avLst/>
            <a:gdLst/>
            <a:ahLst/>
            <a:cxnLst/>
            <a:rect l="l" t="t" r="r" b="b"/>
            <a:pathLst>
              <a:path w="687880" h="726289">
                <a:moveTo>
                  <a:pt x="0" y="161397"/>
                </a:moveTo>
                <a:lnTo>
                  <a:pt x="147931" y="0"/>
                </a:lnTo>
                <a:lnTo>
                  <a:pt x="295862" y="217887"/>
                </a:lnTo>
                <a:lnTo>
                  <a:pt x="443793" y="24210"/>
                </a:lnTo>
                <a:lnTo>
                  <a:pt x="687880" y="564891"/>
                </a:lnTo>
                <a:lnTo>
                  <a:pt x="517759" y="726289"/>
                </a:lnTo>
                <a:lnTo>
                  <a:pt x="355035" y="484193"/>
                </a:lnTo>
                <a:lnTo>
                  <a:pt x="170121" y="702079"/>
                </a:lnTo>
                <a:close/>
              </a:path>
            </a:pathLst>
          </a:custGeom>
          <a:solidFill>
            <a:srgbClr val="9FB7D0"/>
          </a:solidFill>
          <a:ln w="26806">
            <a:solidFill>
              <a:srgbClr val="9784B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93641" y="5015454"/>
            <a:ext cx="536208" cy="922083"/>
          </a:xfrm>
          <a:prstGeom prst="rect">
            <a:avLst/>
          </a:prstGeom>
          <a:noFill/>
        </p:spPr>
        <p:txBody>
          <a:bodyPr wrap="none" lIns="18324" tIns="18324" rIns="18324" bIns="18324">
            <a:spAutoFit/>
          </a:bodyPr>
          <a:lstStyle/>
          <a:p>
            <a:r>
              <a:rPr sz="1100" b="1" i="0" u="sng">
                <a:solidFill>
                  <a:srgbClr val="477EA0"/>
                </a:solidFill>
                <a:latin typeface="Trebuchet MS"/>
              </a:rPr>
              <a:t>Bundle Register Timeline Radius Terminal Journey Grid Signal Span Grid Guide Chart Interval Packet Concept Beacon Harbor Signal Ratio Metric State Dispatch Token Scale Precision Queueing Access Collection Transit Target Archive Library Route Zone Direction Buffer Structure Factor Marker Coverage Case Memory Library Measure</a:t>
            </a:r>
          </a:p>
        </p:txBody>
      </p:sp>
      <p:sp>
        <p:nvSpPr>
          <p:cNvPr id="8" name="Rounded Rectangular Callout 7"/>
          <p:cNvSpPr/>
          <p:nvPr/>
        </p:nvSpPr>
        <p:spPr>
          <a:xfrm>
            <a:off x="7386676" y="1352058"/>
            <a:ext cx="1295661" cy="819109"/>
          </a:xfrm>
          <a:prstGeom prst="wedgeRoundRectCallout">
            <a:avLst/>
          </a:prstGeom>
          <a:noFill/>
          <a:ln w="11170">
            <a:solidFill>
              <a:srgbClr val="6A8C9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rapezoid 8"/>
          <p:cNvSpPr/>
          <p:nvPr/>
        </p:nvSpPr>
        <p:spPr>
          <a:xfrm>
            <a:off x="2252791" y="4113877"/>
            <a:ext cx="521999" cy="373269"/>
          </a:xfrm>
          <a:prstGeom prst="trapezoid">
            <a:avLst/>
          </a:prstGeom>
          <a:noFill/>
          <a:ln w="16521">
            <a:solidFill>
              <a:srgbClr val="736A8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rapezoid 9"/>
          <p:cNvSpPr/>
          <p:nvPr/>
        </p:nvSpPr>
        <p:spPr>
          <a:xfrm>
            <a:off x="418262" y="3303601"/>
            <a:ext cx="625201" cy="672852"/>
          </a:xfrm>
          <a:prstGeom prst="trapezoid">
            <a:avLst/>
          </a:prstGeom>
          <a:solidFill>
            <a:srgbClr val="B94776"/>
          </a:solidFill>
          <a:ln w="10028">
            <a:solidFill>
              <a:srgbClr val="5E535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44911" y="4285162"/>
            <a:ext cx="726489" cy="1970191"/>
          </a:xfrm>
          <a:prstGeom prst="rect">
            <a:avLst/>
          </a:prstGeom>
          <a:noFill/>
        </p:spPr>
        <p:txBody>
          <a:bodyPr wrap="none" lIns="49966" tIns="49966" rIns="49966" bIns="49966">
            <a:spAutoFit/>
          </a:bodyPr>
          <a:lstStyle/>
          <a:p>
            <a:r>
              <a:rPr sz="5300" b="1" i="0" u="none">
                <a:solidFill>
                  <a:srgbClr val="68852E"/>
                </a:solidFill>
                <a:latin typeface="Aptos"/>
              </a:rPr>
              <a:t>Adaptive Report</a:t>
            </a:r>
          </a:p>
        </p:txBody>
      </p:sp>
      <p:cxnSp>
        <p:nvCxnSpPr>
          <p:cNvPr id="12" name="Connector 11"/>
          <p:cNvCxnSpPr/>
          <p:nvPr/>
        </p:nvCxnSpPr>
        <p:spPr>
          <a:xfrm>
            <a:off x="3477436" y="1785768"/>
            <a:ext cx="1147735" cy="514970"/>
          </a:xfrm>
          <a:prstGeom prst="bentConnector3">
            <a:avLst/>
          </a:prstGeom>
          <a:ln w="15203">
            <a:solidFill>
              <a:srgbClr val="AB5477"/>
            </a:solidFill>
            <a:prstDash val="dot"/>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3705992" y="5188435"/>
          <a:ext cx="2188024" cy="1105858"/>
        </p:xfrm>
        <a:graphic>
          <a:graphicData uri="http://schemas.openxmlformats.org/drawingml/2006/table">
            <a:tbl>
              <a:tblPr firstRow="1" bandRow="1">
                <a:tableStyleId>{5C22544A-7EE6-4342-B048-85BDC9FD1C3A}</a:tableStyleId>
              </a:tblPr>
              <a:tblGrid>
                <a:gridCol w="437604">
                  <a:extLst>
                    <a:ext uri="{9D8B030D-6E8A-4147-A177-3AD203B41FA5}">
                      <a16:colId xmlns:a16="http://schemas.microsoft.com/office/drawing/2014/main" val="20000"/>
                    </a:ext>
                  </a:extLst>
                </a:gridCol>
                <a:gridCol w="437604">
                  <a:extLst>
                    <a:ext uri="{9D8B030D-6E8A-4147-A177-3AD203B41FA5}">
                      <a16:colId xmlns:a16="http://schemas.microsoft.com/office/drawing/2014/main" val="20001"/>
                    </a:ext>
                  </a:extLst>
                </a:gridCol>
                <a:gridCol w="437604">
                  <a:extLst>
                    <a:ext uri="{9D8B030D-6E8A-4147-A177-3AD203B41FA5}">
                      <a16:colId xmlns:a16="http://schemas.microsoft.com/office/drawing/2014/main" val="20002"/>
                    </a:ext>
                  </a:extLst>
                </a:gridCol>
                <a:gridCol w="437604">
                  <a:extLst>
                    <a:ext uri="{9D8B030D-6E8A-4147-A177-3AD203B41FA5}">
                      <a16:colId xmlns:a16="http://schemas.microsoft.com/office/drawing/2014/main" val="20003"/>
                    </a:ext>
                  </a:extLst>
                </a:gridCol>
                <a:gridCol w="437608">
                  <a:extLst>
                    <a:ext uri="{9D8B030D-6E8A-4147-A177-3AD203B41FA5}">
                      <a16:colId xmlns:a16="http://schemas.microsoft.com/office/drawing/2014/main" val="20004"/>
                    </a:ext>
                  </a:extLst>
                </a:gridCol>
              </a:tblGrid>
              <a:tr h="184309">
                <a:tc>
                  <a:txBody>
                    <a:bodyPr/>
                    <a:lstStyle/>
                    <a:p>
                      <a:r>
                        <a:rPr sz="1300" b="1">
                          <a:solidFill>
                            <a:srgbClr val="84DD65"/>
                          </a:solidFill>
                        </a:rPr>
                        <a:t>Engine</a:t>
                      </a:r>
                    </a:p>
                  </a:txBody>
                  <a:tcPr>
                    <a:solidFill>
                      <a:srgbClr val="D0573C"/>
                    </a:solidFill>
                  </a:tcPr>
                </a:tc>
                <a:tc>
                  <a:txBody>
                    <a:bodyPr/>
                    <a:lstStyle/>
                    <a:p>
                      <a:r>
                        <a:rPr sz="1300" b="1">
                          <a:solidFill>
                            <a:srgbClr val="84DD65"/>
                          </a:solidFill>
                        </a:rPr>
                        <a:t>Request</a:t>
                      </a:r>
                    </a:p>
                  </a:txBody>
                  <a:tcPr>
                    <a:solidFill>
                      <a:srgbClr val="D0573C"/>
                    </a:solidFill>
                  </a:tcPr>
                </a:tc>
                <a:tc>
                  <a:txBody>
                    <a:bodyPr/>
                    <a:lstStyle/>
                    <a:p>
                      <a:r>
                        <a:rPr sz="1300" b="1">
                          <a:solidFill>
                            <a:srgbClr val="84DD65"/>
                          </a:solidFill>
                        </a:rPr>
                        <a:t>Template Design</a:t>
                      </a:r>
                    </a:p>
                  </a:txBody>
                  <a:tcPr>
                    <a:solidFill>
                      <a:srgbClr val="D0573C"/>
                    </a:solidFill>
                  </a:tcPr>
                </a:tc>
                <a:tc>
                  <a:txBody>
                    <a:bodyPr/>
                    <a:lstStyle/>
                    <a:p>
                      <a:r>
                        <a:rPr sz="1300" b="1">
                          <a:solidFill>
                            <a:srgbClr val="84DD65"/>
                          </a:solidFill>
                        </a:rPr>
                        <a:t>Beta</a:t>
                      </a:r>
                    </a:p>
                  </a:txBody>
                  <a:tcPr>
                    <a:solidFill>
                      <a:srgbClr val="D0573C"/>
                    </a:solidFill>
                  </a:tcPr>
                </a:tc>
                <a:tc>
                  <a:txBody>
                    <a:bodyPr/>
                    <a:lstStyle/>
                    <a:p>
                      <a:r>
                        <a:rPr sz="1300" b="1">
                          <a:solidFill>
                            <a:srgbClr val="84DD65"/>
                          </a:solidFill>
                        </a:rPr>
                        <a:t>Depth Signal</a:t>
                      </a:r>
                    </a:p>
                  </a:txBody>
                  <a:tcPr>
                    <a:solidFill>
                      <a:srgbClr val="D0573C"/>
                    </a:solidFill>
                  </a:tcPr>
                </a:tc>
                <a:extLst>
                  <a:ext uri="{0D108BD9-81ED-4DB2-BD59-A6C34878D82A}">
                    <a16:rowId xmlns:a16="http://schemas.microsoft.com/office/drawing/2014/main" val="10000"/>
                  </a:ext>
                </a:extLst>
              </a:tr>
              <a:tr h="184309">
                <a:tc>
                  <a:txBody>
                    <a:bodyPr/>
                    <a:lstStyle/>
                    <a:p>
                      <a:r>
                        <a:rPr sz="1300" b="0">
                          <a:solidFill>
                            <a:srgbClr val="84DD65"/>
                          </a:solidFill>
                        </a:rPr>
                        <a:t>Status</a:t>
                      </a:r>
                    </a:p>
                  </a:txBody>
                  <a:tcPr>
                    <a:solidFill>
                      <a:srgbClr val="E9CBF4"/>
                    </a:solidFill>
                  </a:tcPr>
                </a:tc>
                <a:tc>
                  <a:txBody>
                    <a:bodyPr/>
                    <a:lstStyle/>
                    <a:p>
                      <a:r>
                        <a:rPr sz="1300" b="0">
                          <a:solidFill>
                            <a:srgbClr val="84DD65"/>
                          </a:solidFill>
                        </a:rPr>
                        <a:t>Exchange Agenda</a:t>
                      </a:r>
                    </a:p>
                  </a:txBody>
                  <a:tcPr>
                    <a:solidFill>
                      <a:srgbClr val="E9CBF4"/>
                    </a:solidFill>
                  </a:tcPr>
                </a:tc>
                <a:tc>
                  <a:txBody>
                    <a:bodyPr/>
                    <a:lstStyle/>
                    <a:p>
                      <a:r>
                        <a:rPr sz="1300" b="0">
                          <a:solidFill>
                            <a:srgbClr val="84DD65"/>
                          </a:solidFill>
                        </a:rPr>
                        <a:t>Feature</a:t>
                      </a:r>
                    </a:p>
                  </a:txBody>
                  <a:tcPr>
                    <a:solidFill>
                      <a:srgbClr val="E9CBF4"/>
                    </a:solidFill>
                  </a:tcPr>
                </a:tc>
                <a:tc>
                  <a:txBody>
                    <a:bodyPr/>
                    <a:lstStyle/>
                    <a:p>
                      <a:r>
                        <a:rPr sz="1300" b="0">
                          <a:solidFill>
                            <a:srgbClr val="84DD65"/>
                          </a:solidFill>
                        </a:rPr>
                        <a:t>Story</a:t>
                      </a:r>
                    </a:p>
                  </a:txBody>
                  <a:tcPr>
                    <a:solidFill>
                      <a:srgbClr val="E9CBF4"/>
                    </a:solidFill>
                  </a:tcPr>
                </a:tc>
                <a:tc>
                  <a:txBody>
                    <a:bodyPr/>
                    <a:lstStyle/>
                    <a:p>
                      <a:r>
                        <a:rPr sz="1300" b="0">
                          <a:solidFill>
                            <a:srgbClr val="84DD65"/>
                          </a:solidFill>
                        </a:rPr>
                        <a:t>Canvas</a:t>
                      </a:r>
                    </a:p>
                  </a:txBody>
                  <a:tcPr>
                    <a:solidFill>
                      <a:srgbClr val="E9CBF4"/>
                    </a:solidFill>
                  </a:tcPr>
                </a:tc>
                <a:extLst>
                  <a:ext uri="{0D108BD9-81ED-4DB2-BD59-A6C34878D82A}">
                    <a16:rowId xmlns:a16="http://schemas.microsoft.com/office/drawing/2014/main" val="10001"/>
                  </a:ext>
                </a:extLst>
              </a:tr>
              <a:tr h="184309">
                <a:tc>
                  <a:txBody>
                    <a:bodyPr/>
                    <a:lstStyle/>
                    <a:p>
                      <a:r>
                        <a:rPr sz="1300" b="0">
                          <a:solidFill>
                            <a:srgbClr val="84DD65"/>
                          </a:solidFill>
                        </a:rPr>
                        <a:t>Source</a:t>
                      </a:r>
                    </a:p>
                  </a:txBody>
                  <a:tcPr>
                    <a:solidFill>
                      <a:srgbClr val="EED7F6"/>
                    </a:solidFill>
                  </a:tcPr>
                </a:tc>
                <a:tc>
                  <a:txBody>
                    <a:bodyPr/>
                    <a:lstStyle/>
                    <a:p>
                      <a:r>
                        <a:rPr sz="1300" b="0">
                          <a:solidFill>
                            <a:srgbClr val="84DD65"/>
                          </a:solidFill>
                        </a:rPr>
                        <a:t>Echo</a:t>
                      </a:r>
                    </a:p>
                  </a:txBody>
                  <a:tcPr>
                    <a:solidFill>
                      <a:srgbClr val="EED7F6"/>
                    </a:solidFill>
                  </a:tcPr>
                </a:tc>
                <a:tc>
                  <a:txBody>
                    <a:bodyPr/>
                    <a:lstStyle/>
                    <a:p>
                      <a:r>
                        <a:rPr sz="1300" b="0">
                          <a:solidFill>
                            <a:srgbClr val="84DD65"/>
                          </a:solidFill>
                        </a:rPr>
                        <a:t>Package</a:t>
                      </a:r>
                    </a:p>
                  </a:txBody>
                  <a:tcPr>
                    <a:solidFill>
                      <a:srgbClr val="EED7F6"/>
                    </a:solidFill>
                  </a:tcPr>
                </a:tc>
                <a:tc>
                  <a:txBody>
                    <a:bodyPr/>
                    <a:lstStyle/>
                    <a:p>
                      <a:r>
                        <a:rPr sz="1300" b="0">
                          <a:solidFill>
                            <a:srgbClr val="84DD65"/>
                          </a:solidFill>
                        </a:rPr>
                        <a:t>Energy</a:t>
                      </a:r>
                    </a:p>
                  </a:txBody>
                  <a:tcPr>
                    <a:solidFill>
                      <a:srgbClr val="EED7F6"/>
                    </a:solidFill>
                  </a:tcPr>
                </a:tc>
                <a:tc>
                  <a:txBody>
                    <a:bodyPr/>
                    <a:lstStyle/>
                    <a:p>
                      <a:r>
                        <a:rPr sz="1300" b="0">
                          <a:solidFill>
                            <a:srgbClr val="84DD65"/>
                          </a:solidFill>
                        </a:rPr>
                        <a:t>Request Cycle</a:t>
                      </a:r>
                    </a:p>
                  </a:txBody>
                  <a:tcPr>
                    <a:solidFill>
                      <a:srgbClr val="EED7F6"/>
                    </a:solidFill>
                  </a:tcPr>
                </a:tc>
                <a:extLst>
                  <a:ext uri="{0D108BD9-81ED-4DB2-BD59-A6C34878D82A}">
                    <a16:rowId xmlns:a16="http://schemas.microsoft.com/office/drawing/2014/main" val="10002"/>
                  </a:ext>
                </a:extLst>
              </a:tr>
              <a:tr h="184309">
                <a:tc>
                  <a:txBody>
                    <a:bodyPr/>
                    <a:lstStyle/>
                    <a:p>
                      <a:r>
                        <a:rPr sz="1300" b="0">
                          <a:solidFill>
                            <a:srgbClr val="84DD65"/>
                          </a:solidFill>
                        </a:rPr>
                        <a:t>Package</a:t>
                      </a:r>
                    </a:p>
                  </a:txBody>
                  <a:tcPr>
                    <a:solidFill>
                      <a:srgbClr val="E9CBF4"/>
                    </a:solidFill>
                  </a:tcPr>
                </a:tc>
                <a:tc>
                  <a:txBody>
                    <a:bodyPr/>
                    <a:lstStyle/>
                    <a:p>
                      <a:r>
                        <a:rPr sz="1300" b="0">
                          <a:solidFill>
                            <a:srgbClr val="84DD65"/>
                          </a:solidFill>
                        </a:rPr>
                        <a:t>Route</a:t>
                      </a:r>
                    </a:p>
                  </a:txBody>
                  <a:tcPr>
                    <a:solidFill>
                      <a:srgbClr val="E9CBF4"/>
                    </a:solidFill>
                  </a:tcPr>
                </a:tc>
                <a:tc>
                  <a:txBody>
                    <a:bodyPr/>
                    <a:lstStyle/>
                    <a:p>
                      <a:r>
                        <a:rPr sz="1300" b="0">
                          <a:solidFill>
                            <a:srgbClr val="84DD65"/>
                          </a:solidFill>
                        </a:rPr>
                        <a:t>Control</a:t>
                      </a:r>
                    </a:p>
                  </a:txBody>
                  <a:tcPr>
                    <a:solidFill>
                      <a:srgbClr val="E9CBF4"/>
                    </a:solidFill>
                  </a:tcPr>
                </a:tc>
                <a:tc>
                  <a:txBody>
                    <a:bodyPr/>
                    <a:lstStyle/>
                    <a:p>
                      <a:r>
                        <a:rPr sz="1300" b="0">
                          <a:solidFill>
                            <a:srgbClr val="84DD65"/>
                          </a:solidFill>
                        </a:rPr>
                        <a:t>Result Source</a:t>
                      </a:r>
                    </a:p>
                  </a:txBody>
                  <a:tcPr>
                    <a:solidFill>
                      <a:srgbClr val="E9CBF4"/>
                    </a:solidFill>
                  </a:tcPr>
                </a:tc>
                <a:tc>
                  <a:txBody>
                    <a:bodyPr/>
                    <a:lstStyle/>
                    <a:p>
                      <a:r>
                        <a:rPr sz="1300" b="0">
                          <a:solidFill>
                            <a:srgbClr val="84DD65"/>
                          </a:solidFill>
                        </a:rPr>
                        <a:t>Rhythm Radius</a:t>
                      </a:r>
                    </a:p>
                  </a:txBody>
                  <a:tcPr>
                    <a:solidFill>
                      <a:srgbClr val="E9CBF4"/>
                    </a:solidFill>
                  </a:tcPr>
                </a:tc>
                <a:extLst>
                  <a:ext uri="{0D108BD9-81ED-4DB2-BD59-A6C34878D82A}">
                    <a16:rowId xmlns:a16="http://schemas.microsoft.com/office/drawing/2014/main" val="10003"/>
                  </a:ext>
                </a:extLst>
              </a:tr>
              <a:tr h="184309">
                <a:tc>
                  <a:txBody>
                    <a:bodyPr/>
                    <a:lstStyle/>
                    <a:p>
                      <a:r>
                        <a:rPr sz="1300" b="0">
                          <a:solidFill>
                            <a:srgbClr val="84DD65"/>
                          </a:solidFill>
                        </a:rPr>
                        <a:t>Friction Alpha</a:t>
                      </a:r>
                    </a:p>
                  </a:txBody>
                  <a:tcPr>
                    <a:solidFill>
                      <a:srgbClr val="EED7F6"/>
                    </a:solidFill>
                  </a:tcPr>
                </a:tc>
                <a:tc>
                  <a:txBody>
                    <a:bodyPr/>
                    <a:lstStyle/>
                    <a:p>
                      <a:r>
                        <a:rPr sz="1300" b="0">
                          <a:solidFill>
                            <a:srgbClr val="84DD65"/>
                          </a:solidFill>
                        </a:rPr>
                        <a:t>Kernel</a:t>
                      </a:r>
                    </a:p>
                  </a:txBody>
                  <a:tcPr>
                    <a:solidFill>
                      <a:srgbClr val="EED7F6"/>
                    </a:solidFill>
                  </a:tcPr>
                </a:tc>
                <a:tc>
                  <a:txBody>
                    <a:bodyPr/>
                    <a:lstStyle/>
                    <a:p>
                      <a:r>
                        <a:rPr sz="1300" b="0">
                          <a:solidFill>
                            <a:srgbClr val="84DD65"/>
                          </a:solidFill>
                        </a:rPr>
                        <a:t>Iteration</a:t>
                      </a:r>
                    </a:p>
                  </a:txBody>
                  <a:tcPr>
                    <a:solidFill>
                      <a:srgbClr val="EED7F6"/>
                    </a:solidFill>
                  </a:tcPr>
                </a:tc>
                <a:tc>
                  <a:txBody>
                    <a:bodyPr/>
                    <a:lstStyle/>
                    <a:p>
                      <a:r>
                        <a:rPr sz="1300" b="0">
                          <a:solidFill>
                            <a:srgbClr val="84DD65"/>
                          </a:solidFill>
                        </a:rPr>
                        <a:t>Control Group</a:t>
                      </a:r>
                    </a:p>
                  </a:txBody>
                  <a:tcPr>
                    <a:solidFill>
                      <a:srgbClr val="EED7F6"/>
                    </a:solidFill>
                  </a:tcPr>
                </a:tc>
                <a:tc>
                  <a:txBody>
                    <a:bodyPr/>
                    <a:lstStyle/>
                    <a:p>
                      <a:r>
                        <a:rPr sz="1300" b="0">
                          <a:solidFill>
                            <a:srgbClr val="84DD65"/>
                          </a:solidFill>
                        </a:rPr>
                        <a:t>Threshold</a:t>
                      </a:r>
                    </a:p>
                  </a:txBody>
                  <a:tcPr>
                    <a:solidFill>
                      <a:srgbClr val="EED7F6"/>
                    </a:solidFill>
                  </a:tcPr>
                </a:tc>
                <a:extLst>
                  <a:ext uri="{0D108BD9-81ED-4DB2-BD59-A6C34878D82A}">
                    <a16:rowId xmlns:a16="http://schemas.microsoft.com/office/drawing/2014/main" val="10004"/>
                  </a:ext>
                </a:extLst>
              </a:tr>
              <a:tr h="184313">
                <a:tc>
                  <a:txBody>
                    <a:bodyPr/>
                    <a:lstStyle/>
                    <a:p>
                      <a:r>
                        <a:rPr sz="1300" b="0">
                          <a:solidFill>
                            <a:srgbClr val="84DD65"/>
                          </a:solidFill>
                        </a:rPr>
                        <a:t>Cortex Scope</a:t>
                      </a:r>
                    </a:p>
                  </a:txBody>
                  <a:tcPr>
                    <a:solidFill>
                      <a:srgbClr val="E9CBF4"/>
                    </a:solidFill>
                  </a:tcPr>
                </a:tc>
                <a:tc>
                  <a:txBody>
                    <a:bodyPr/>
                    <a:lstStyle/>
                    <a:p>
                      <a:r>
                        <a:rPr sz="1300" b="0">
                          <a:solidFill>
                            <a:srgbClr val="84DD65"/>
                          </a:solidFill>
                        </a:rPr>
                        <a:t>Edge</a:t>
                      </a:r>
                    </a:p>
                  </a:txBody>
                  <a:tcPr>
                    <a:solidFill>
                      <a:srgbClr val="E9CBF4"/>
                    </a:solidFill>
                  </a:tcPr>
                </a:tc>
                <a:tc>
                  <a:txBody>
                    <a:bodyPr/>
                    <a:lstStyle/>
                    <a:p>
                      <a:r>
                        <a:rPr sz="1300" b="0">
                          <a:solidFill>
                            <a:srgbClr val="84DD65"/>
                          </a:solidFill>
                        </a:rPr>
                        <a:t>Apex Request</a:t>
                      </a:r>
                    </a:p>
                  </a:txBody>
                  <a:tcPr>
                    <a:solidFill>
                      <a:srgbClr val="E9CBF4"/>
                    </a:solidFill>
                  </a:tcPr>
                </a:tc>
                <a:tc>
                  <a:txBody>
                    <a:bodyPr/>
                    <a:lstStyle/>
                    <a:p>
                      <a:r>
                        <a:rPr sz="1300" b="0">
                          <a:solidFill>
                            <a:srgbClr val="84DD65"/>
                          </a:solidFill>
                        </a:rPr>
                        <a:t>Signal Command</a:t>
                      </a:r>
                    </a:p>
                  </a:txBody>
                  <a:tcPr>
                    <a:solidFill>
                      <a:srgbClr val="E9CBF4"/>
                    </a:solidFill>
                  </a:tcPr>
                </a:tc>
                <a:tc>
                  <a:txBody>
                    <a:bodyPr/>
                    <a:lstStyle/>
                    <a:p>
                      <a:r>
                        <a:rPr sz="1300" b="0">
                          <a:solidFill>
                            <a:srgbClr val="84DD65"/>
                          </a:solidFill>
                        </a:rPr>
                        <a:t>Expansion Delta</a:t>
                      </a:r>
                    </a:p>
                  </a:txBody>
                  <a:tcPr>
                    <a:solidFill>
                      <a:srgbClr val="E9CBF4"/>
                    </a:solidFill>
                  </a:tcPr>
                </a:tc>
                <a:extLst>
                  <a:ext uri="{0D108BD9-81ED-4DB2-BD59-A6C34878D82A}">
                    <a16:rowId xmlns:a16="http://schemas.microsoft.com/office/drawing/2014/main" val="10005"/>
                  </a:ext>
                </a:extLst>
              </a:tr>
            </a:tbl>
          </a:graphicData>
        </a:graphic>
      </p:graphicFrame>
      <p:graphicFrame>
        <p:nvGraphicFramePr>
          <p:cNvPr id="14" name="Chart 13"/>
          <p:cNvGraphicFramePr>
            <a:graphicFrameLocks noGrp="1"/>
          </p:cNvGraphicFramePr>
          <p:nvPr/>
        </p:nvGraphicFramePr>
        <p:xfrm>
          <a:off x="8710519" y="4508640"/>
          <a:ext cx="3160026" cy="1447530"/>
        </p:xfrm>
        <a:graphic>
          <a:graphicData uri="http://schemas.openxmlformats.org/drawingml/2006/chart">
            <c:chart xmlns:c="http://schemas.openxmlformats.org/drawingml/2006/chart" xmlns:r="http://schemas.openxmlformats.org/officeDocument/2006/relationships" r:id="rId2"/>
          </a:graphicData>
        </a:graphic>
      </p:graphicFrame>
      <p:sp>
        <p:nvSpPr>
          <p:cNvPr id="15" name="Explosion 14"/>
          <p:cNvSpPr/>
          <p:nvPr/>
        </p:nvSpPr>
        <p:spPr>
          <a:xfrm>
            <a:off x="7640537" y="2293300"/>
            <a:ext cx="2062933" cy="631655"/>
          </a:xfrm>
          <a:prstGeom prst="irregularSeal2">
            <a:avLst/>
          </a:prstGeom>
          <a:solidFill>
            <a:srgbClr val="5E3DC9"/>
          </a:solidFill>
          <a:ln w="8841">
            <a:solidFill>
              <a:srgbClr val="46A4C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ctagon 15"/>
          <p:cNvSpPr/>
          <p:nvPr/>
        </p:nvSpPr>
        <p:spPr>
          <a:xfrm>
            <a:off x="5870063" y="4225957"/>
            <a:ext cx="1808607" cy="1973643"/>
          </a:xfrm>
          <a:prstGeom prst="octagon">
            <a:avLst/>
          </a:prstGeom>
          <a:solidFill>
            <a:srgbClr val="315C47"/>
          </a:solidFill>
          <a:ln w="18897">
            <a:solidFill>
              <a:srgbClr val="BFC92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756498" y="4919586"/>
            <a:ext cx="509554" cy="892472"/>
          </a:xfrm>
          <a:prstGeom prst="rect">
            <a:avLst/>
          </a:prstGeom>
          <a:noFill/>
        </p:spPr>
        <p:txBody>
          <a:bodyPr wrap="none" lIns="67061" tIns="67061" rIns="67061" bIns="67061">
            <a:spAutoFit/>
          </a:bodyPr>
          <a:lstStyle/>
          <a:p>
            <a:r>
              <a:rPr sz="1000" b="0" i="0" u="sng">
                <a:solidFill>
                  <a:srgbClr val="50A7C4"/>
                </a:solidFill>
                <a:latin typeface="Georgia"/>
              </a:rPr>
              <a:t>Record Duration Event Density Deck Drive Format Drift State</a:t>
            </a:r>
          </a:p>
        </p:txBody>
      </p:sp>
      <p:pic>
        <p:nvPicPr>
          <p:cNvPr id="18" name="Picture 17" descr="_example_image.jpg"/>
          <p:cNvPicPr>
            <a:picLocks noChangeAspect="1"/>
          </p:cNvPicPr>
          <p:nvPr/>
        </p:nvPicPr>
        <p:blipFill>
          <a:blip r:embed="rId3"/>
          <a:srcRect l="10823" t="17693" r="5212" b="20443"/>
          <a:stretch>
            <a:fillRect/>
          </a:stretch>
        </p:blipFill>
        <p:spPr>
          <a:xfrm>
            <a:off x="3384986" y="646183"/>
            <a:ext cx="1083743" cy="971816"/>
          </a:xfrm>
          <a:prstGeom prst="rect">
            <a:avLst/>
          </a:prstGeom>
        </p:spPr>
      </p:pic>
      <p:sp>
        <p:nvSpPr>
          <p:cNvPr id="19" name="Rounded Rectangle 18"/>
          <p:cNvSpPr/>
          <p:nvPr/>
        </p:nvSpPr>
        <p:spPr>
          <a:xfrm>
            <a:off x="3384986" y="646183"/>
            <a:ext cx="1083743" cy="971816"/>
          </a:xfrm>
          <a:prstGeom prst="roundRect">
            <a:avLst/>
          </a:prstGeom>
          <a:noFill/>
          <a:ln w="15240">
            <a:solidFill>
              <a:srgbClr val="BF199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loud Callout 19"/>
          <p:cNvSpPr/>
          <p:nvPr/>
        </p:nvSpPr>
        <p:spPr>
          <a:xfrm>
            <a:off x="2634799" y="4823525"/>
            <a:ext cx="1369108" cy="513435"/>
          </a:xfrm>
          <a:prstGeom prst="cloudCallout">
            <a:avLst/>
          </a:prstGeom>
          <a:solidFill>
            <a:srgbClr val="51C743"/>
          </a:solidFill>
          <a:ln w="15419">
            <a:solidFill>
              <a:srgbClr val="8A1FD7"/>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7895136" y="3763600"/>
          <a:ext cx="2146978" cy="937774"/>
        </p:xfrm>
        <a:graphic>
          <a:graphicData uri="http://schemas.openxmlformats.org/drawingml/2006/table">
            <a:tbl>
              <a:tblPr firstRow="1" bandRow="1">
                <a:tableStyleId>{5C22544A-7EE6-4342-B048-85BDC9FD1C3A}</a:tableStyleId>
              </a:tblPr>
              <a:tblGrid>
                <a:gridCol w="357829">
                  <a:extLst>
                    <a:ext uri="{9D8B030D-6E8A-4147-A177-3AD203B41FA5}">
                      <a16:colId xmlns:a16="http://schemas.microsoft.com/office/drawing/2014/main" val="20000"/>
                    </a:ext>
                  </a:extLst>
                </a:gridCol>
                <a:gridCol w="357829">
                  <a:extLst>
                    <a:ext uri="{9D8B030D-6E8A-4147-A177-3AD203B41FA5}">
                      <a16:colId xmlns:a16="http://schemas.microsoft.com/office/drawing/2014/main" val="20001"/>
                    </a:ext>
                  </a:extLst>
                </a:gridCol>
                <a:gridCol w="357829">
                  <a:extLst>
                    <a:ext uri="{9D8B030D-6E8A-4147-A177-3AD203B41FA5}">
                      <a16:colId xmlns:a16="http://schemas.microsoft.com/office/drawing/2014/main" val="20002"/>
                    </a:ext>
                  </a:extLst>
                </a:gridCol>
                <a:gridCol w="357829">
                  <a:extLst>
                    <a:ext uri="{9D8B030D-6E8A-4147-A177-3AD203B41FA5}">
                      <a16:colId xmlns:a16="http://schemas.microsoft.com/office/drawing/2014/main" val="20003"/>
                    </a:ext>
                  </a:extLst>
                </a:gridCol>
                <a:gridCol w="357829">
                  <a:extLst>
                    <a:ext uri="{9D8B030D-6E8A-4147-A177-3AD203B41FA5}">
                      <a16:colId xmlns:a16="http://schemas.microsoft.com/office/drawing/2014/main" val="20004"/>
                    </a:ext>
                  </a:extLst>
                </a:gridCol>
                <a:gridCol w="357833">
                  <a:extLst>
                    <a:ext uri="{9D8B030D-6E8A-4147-A177-3AD203B41FA5}">
                      <a16:colId xmlns:a16="http://schemas.microsoft.com/office/drawing/2014/main" val="20005"/>
                    </a:ext>
                  </a:extLst>
                </a:gridCol>
              </a:tblGrid>
              <a:tr h="187554">
                <a:tc>
                  <a:txBody>
                    <a:bodyPr/>
                    <a:lstStyle/>
                    <a:p>
                      <a:r>
                        <a:rPr sz="1300" b="1">
                          <a:solidFill>
                            <a:srgbClr val="65CA87"/>
                          </a:solidFill>
                        </a:rPr>
                        <a:t>Keyline Range</a:t>
                      </a:r>
                    </a:p>
                  </a:txBody>
                  <a:tcPr>
                    <a:solidFill>
                      <a:srgbClr val="5E6C69"/>
                    </a:solidFill>
                  </a:tcPr>
                </a:tc>
                <a:tc>
                  <a:txBody>
                    <a:bodyPr/>
                    <a:lstStyle/>
                    <a:p>
                      <a:r>
                        <a:rPr sz="1300" b="1">
                          <a:solidFill>
                            <a:srgbClr val="65CA87"/>
                          </a:solidFill>
                        </a:rPr>
                        <a:t>Cell Core</a:t>
                      </a:r>
                    </a:p>
                  </a:txBody>
                  <a:tcPr>
                    <a:solidFill>
                      <a:srgbClr val="5E6C69"/>
                    </a:solidFill>
                  </a:tcPr>
                </a:tc>
                <a:tc>
                  <a:txBody>
                    <a:bodyPr/>
                    <a:lstStyle/>
                    <a:p>
                      <a:r>
                        <a:rPr sz="1300" b="1">
                          <a:solidFill>
                            <a:srgbClr val="65CA87"/>
                          </a:solidFill>
                        </a:rPr>
                        <a:t>Control</a:t>
                      </a:r>
                    </a:p>
                  </a:txBody>
                  <a:tcPr>
                    <a:solidFill>
                      <a:srgbClr val="5E6C69"/>
                    </a:solidFill>
                  </a:tcPr>
                </a:tc>
                <a:tc>
                  <a:txBody>
                    <a:bodyPr/>
                    <a:lstStyle/>
                    <a:p>
                      <a:r>
                        <a:rPr sz="1300" b="1">
                          <a:solidFill>
                            <a:srgbClr val="65CA87"/>
                          </a:solidFill>
                        </a:rPr>
                        <a:t>Entity</a:t>
                      </a:r>
                    </a:p>
                  </a:txBody>
                  <a:tcPr>
                    <a:solidFill>
                      <a:srgbClr val="5E6C69"/>
                    </a:solidFill>
                  </a:tcPr>
                </a:tc>
                <a:tc>
                  <a:txBody>
                    <a:bodyPr/>
                    <a:lstStyle/>
                    <a:p>
                      <a:r>
                        <a:rPr sz="1300" b="1">
                          <a:solidFill>
                            <a:srgbClr val="65CA87"/>
                          </a:solidFill>
                        </a:rPr>
                        <a:t>Mesh Transform</a:t>
                      </a:r>
                    </a:p>
                  </a:txBody>
                  <a:tcPr>
                    <a:solidFill>
                      <a:srgbClr val="5E6C69"/>
                    </a:solidFill>
                  </a:tcPr>
                </a:tc>
                <a:tc>
                  <a:txBody>
                    <a:bodyPr/>
                    <a:lstStyle/>
                    <a:p>
                      <a:r>
                        <a:rPr sz="1300" b="1">
                          <a:solidFill>
                            <a:srgbClr val="65CA87"/>
                          </a:solidFill>
                        </a:rPr>
                        <a:t>Edge</a:t>
                      </a:r>
                    </a:p>
                  </a:txBody>
                  <a:tcPr>
                    <a:solidFill>
                      <a:srgbClr val="5E6C69"/>
                    </a:solidFill>
                  </a:tcPr>
                </a:tc>
                <a:extLst>
                  <a:ext uri="{0D108BD9-81ED-4DB2-BD59-A6C34878D82A}">
                    <a16:rowId xmlns:a16="http://schemas.microsoft.com/office/drawing/2014/main" val="10000"/>
                  </a:ext>
                </a:extLst>
              </a:tr>
              <a:tr h="187554">
                <a:tc>
                  <a:txBody>
                    <a:bodyPr/>
                    <a:lstStyle/>
                    <a:p>
                      <a:r>
                        <a:rPr sz="1300" b="0">
                          <a:solidFill>
                            <a:srgbClr val="65CA87"/>
                          </a:solidFill>
                        </a:rPr>
                        <a:t>Scale Estimate</a:t>
                      </a:r>
                    </a:p>
                  </a:txBody>
                  <a:tcPr>
                    <a:solidFill>
                      <a:srgbClr val="C9BEC5"/>
                    </a:solidFill>
                  </a:tcPr>
                </a:tc>
                <a:tc>
                  <a:txBody>
                    <a:bodyPr/>
                    <a:lstStyle/>
                    <a:p>
                      <a:r>
                        <a:rPr sz="1300" b="0">
                          <a:solidFill>
                            <a:srgbClr val="65CA87"/>
                          </a:solidFill>
                        </a:rPr>
                        <a:t>Transit Summary</a:t>
                      </a:r>
                    </a:p>
                  </a:txBody>
                  <a:tcPr>
                    <a:solidFill>
                      <a:srgbClr val="C9BEC5"/>
                    </a:solidFill>
                  </a:tcPr>
                </a:tc>
                <a:tc>
                  <a:txBody>
                    <a:bodyPr/>
                    <a:lstStyle/>
                    <a:p>
                      <a:r>
                        <a:rPr sz="1300" b="0">
                          <a:solidFill>
                            <a:srgbClr val="65CA87"/>
                          </a:solidFill>
                        </a:rPr>
                        <a:t>Position Slice</a:t>
                      </a:r>
                    </a:p>
                  </a:txBody>
                  <a:tcPr>
                    <a:solidFill>
                      <a:srgbClr val="C9BEC5"/>
                    </a:solidFill>
                  </a:tcPr>
                </a:tc>
                <a:tc>
                  <a:txBody>
                    <a:bodyPr/>
                    <a:lstStyle/>
                    <a:p>
                      <a:r>
                        <a:rPr sz="1300" b="0">
                          <a:solidFill>
                            <a:srgbClr val="65CA87"/>
                          </a:solidFill>
                        </a:rPr>
                        <a:t>Surface</a:t>
                      </a:r>
                    </a:p>
                  </a:txBody>
                  <a:tcPr>
                    <a:solidFill>
                      <a:srgbClr val="C9BEC5"/>
                    </a:solidFill>
                  </a:tcPr>
                </a:tc>
                <a:tc>
                  <a:txBody>
                    <a:bodyPr/>
                    <a:lstStyle/>
                    <a:p>
                      <a:r>
                        <a:rPr sz="1300" b="0">
                          <a:solidFill>
                            <a:srgbClr val="65CA87"/>
                          </a:solidFill>
                        </a:rPr>
                        <a:t>Energy Snapshot</a:t>
                      </a:r>
                    </a:p>
                  </a:txBody>
                  <a:tcPr>
                    <a:solidFill>
                      <a:srgbClr val="C9BEC5"/>
                    </a:solidFill>
                  </a:tcPr>
                </a:tc>
                <a:tc>
                  <a:txBody>
                    <a:bodyPr/>
                    <a:lstStyle/>
                    <a:p>
                      <a:r>
                        <a:rPr sz="1300" b="0">
                          <a:solidFill>
                            <a:srgbClr val="65CA87"/>
                          </a:solidFill>
                        </a:rPr>
                        <a:t>Layer</a:t>
                      </a:r>
                    </a:p>
                  </a:txBody>
                  <a:tcPr>
                    <a:solidFill>
                      <a:srgbClr val="C9BEC5"/>
                    </a:solidFill>
                  </a:tcPr>
                </a:tc>
                <a:extLst>
                  <a:ext uri="{0D108BD9-81ED-4DB2-BD59-A6C34878D82A}">
                    <a16:rowId xmlns:a16="http://schemas.microsoft.com/office/drawing/2014/main" val="10001"/>
                  </a:ext>
                </a:extLst>
              </a:tr>
              <a:tr h="187554">
                <a:tc>
                  <a:txBody>
                    <a:bodyPr/>
                    <a:lstStyle/>
                    <a:p>
                      <a:r>
                        <a:rPr sz="1300" b="0">
                          <a:solidFill>
                            <a:srgbClr val="65CA87"/>
                          </a:solidFill>
                        </a:rPr>
                        <a:t>Array</a:t>
                      </a:r>
                    </a:p>
                  </a:txBody>
                  <a:tcPr>
                    <a:solidFill>
                      <a:srgbClr val="E0D9DD"/>
                    </a:solidFill>
                  </a:tcPr>
                </a:tc>
                <a:tc>
                  <a:txBody>
                    <a:bodyPr/>
                    <a:lstStyle/>
                    <a:p>
                      <a:r>
                        <a:rPr sz="1300" b="0">
                          <a:solidFill>
                            <a:srgbClr val="65CA87"/>
                          </a:solidFill>
                        </a:rPr>
                        <a:t>Sync Origin</a:t>
                      </a:r>
                    </a:p>
                  </a:txBody>
                  <a:tcPr>
                    <a:solidFill>
                      <a:srgbClr val="C9BEC5"/>
                    </a:solidFill>
                  </a:tcPr>
                </a:tc>
                <a:tc>
                  <a:txBody>
                    <a:bodyPr/>
                    <a:lstStyle/>
                    <a:p>
                      <a:r>
                        <a:rPr sz="1300" b="0">
                          <a:solidFill>
                            <a:srgbClr val="65CA87"/>
                          </a:solidFill>
                        </a:rPr>
                        <a:t>Forecast</a:t>
                      </a:r>
                    </a:p>
                  </a:txBody>
                  <a:tcPr>
                    <a:solidFill>
                      <a:srgbClr val="E0D9DD"/>
                    </a:solidFill>
                  </a:tcPr>
                </a:tc>
                <a:tc>
                  <a:txBody>
                    <a:bodyPr/>
                    <a:lstStyle/>
                    <a:p>
                      <a:r>
                        <a:rPr sz="1300" b="0">
                          <a:solidFill>
                            <a:srgbClr val="65CA87"/>
                          </a:solidFill>
                        </a:rPr>
                        <a:t>Object Stream</a:t>
                      </a:r>
                    </a:p>
                  </a:txBody>
                  <a:tcPr>
                    <a:solidFill>
                      <a:srgbClr val="C9BEC5"/>
                    </a:solidFill>
                  </a:tcPr>
                </a:tc>
                <a:tc>
                  <a:txBody>
                    <a:bodyPr/>
                    <a:lstStyle/>
                    <a:p>
                      <a:r>
                        <a:rPr sz="1300" b="0">
                          <a:solidFill>
                            <a:srgbClr val="65CA87"/>
                          </a:solidFill>
                        </a:rPr>
                        <a:t>Viewport Resource</a:t>
                      </a:r>
                    </a:p>
                  </a:txBody>
                  <a:tcPr>
                    <a:solidFill>
                      <a:srgbClr val="E0D9DD"/>
                    </a:solidFill>
                  </a:tcPr>
                </a:tc>
                <a:tc>
                  <a:txBody>
                    <a:bodyPr/>
                    <a:lstStyle/>
                    <a:p>
                      <a:r>
                        <a:rPr sz="1300" b="0">
                          <a:solidFill>
                            <a:srgbClr val="65CA87"/>
                          </a:solidFill>
                        </a:rPr>
                        <a:t>Table Center</a:t>
                      </a:r>
                    </a:p>
                  </a:txBody>
                  <a:tcPr>
                    <a:solidFill>
                      <a:srgbClr val="C9BEC5"/>
                    </a:solidFill>
                  </a:tcPr>
                </a:tc>
                <a:extLst>
                  <a:ext uri="{0D108BD9-81ED-4DB2-BD59-A6C34878D82A}">
                    <a16:rowId xmlns:a16="http://schemas.microsoft.com/office/drawing/2014/main" val="10002"/>
                  </a:ext>
                </a:extLst>
              </a:tr>
              <a:tr h="187554">
                <a:tc>
                  <a:txBody>
                    <a:bodyPr/>
                    <a:lstStyle/>
                    <a:p>
                      <a:r>
                        <a:rPr sz="1300" b="0">
                          <a:solidFill>
                            <a:srgbClr val="65CA87"/>
                          </a:solidFill>
                        </a:rPr>
                        <a:t>Echo</a:t>
                      </a:r>
                    </a:p>
                  </a:txBody>
                  <a:tcPr>
                    <a:solidFill>
                      <a:srgbClr val="C9BEC5"/>
                    </a:solidFill>
                  </a:tcPr>
                </a:tc>
                <a:tc>
                  <a:txBody>
                    <a:bodyPr/>
                    <a:lstStyle/>
                    <a:p>
                      <a:r>
                        <a:rPr sz="1300" b="0">
                          <a:solidFill>
                            <a:srgbClr val="65CA87"/>
                          </a:solidFill>
                        </a:rPr>
                        <a:t>Buffer Cadence</a:t>
                      </a:r>
                    </a:p>
                  </a:txBody>
                  <a:tcPr>
                    <a:solidFill>
                      <a:srgbClr val="C9BEC5"/>
                    </a:solidFill>
                  </a:tcPr>
                </a:tc>
                <a:tc>
                  <a:txBody>
                    <a:bodyPr/>
                    <a:lstStyle/>
                    <a:p>
                      <a:r>
                        <a:rPr sz="1300" b="0">
                          <a:solidFill>
                            <a:srgbClr val="65CA87"/>
                          </a:solidFill>
                        </a:rPr>
                        <a:t>Source Mode</a:t>
                      </a:r>
                    </a:p>
                  </a:txBody>
                  <a:tcPr>
                    <a:solidFill>
                      <a:srgbClr val="C9BEC5"/>
                    </a:solidFill>
                  </a:tcPr>
                </a:tc>
                <a:tc>
                  <a:txBody>
                    <a:bodyPr/>
                    <a:lstStyle/>
                    <a:p>
                      <a:r>
                        <a:rPr sz="1300" b="0">
                          <a:solidFill>
                            <a:srgbClr val="65CA87"/>
                          </a:solidFill>
                        </a:rPr>
                        <a:t>Canvas Brief</a:t>
                      </a:r>
                    </a:p>
                  </a:txBody>
                  <a:tcPr>
                    <a:solidFill>
                      <a:srgbClr val="C9BEC5"/>
                    </a:solidFill>
                  </a:tcPr>
                </a:tc>
                <a:tc>
                  <a:txBody>
                    <a:bodyPr/>
                    <a:lstStyle/>
                    <a:p>
                      <a:r>
                        <a:rPr sz="1300" b="0">
                          <a:solidFill>
                            <a:srgbClr val="65CA87"/>
                          </a:solidFill>
                        </a:rPr>
                        <a:t>Guide Segment</a:t>
                      </a:r>
                    </a:p>
                  </a:txBody>
                  <a:tcPr>
                    <a:solidFill>
                      <a:srgbClr val="C9BEC5"/>
                    </a:solidFill>
                  </a:tcPr>
                </a:tc>
                <a:tc>
                  <a:txBody>
                    <a:bodyPr/>
                    <a:lstStyle/>
                    <a:p>
                      <a:r>
                        <a:rPr sz="1300" b="0">
                          <a:solidFill>
                            <a:srgbClr val="65CA87"/>
                          </a:solidFill>
                        </a:rPr>
                        <a:t>Map</a:t>
                      </a:r>
                    </a:p>
                  </a:txBody>
                  <a:tcPr>
                    <a:solidFill>
                      <a:srgbClr val="C9BEC5"/>
                    </a:solidFill>
                  </a:tcPr>
                </a:tc>
                <a:extLst>
                  <a:ext uri="{0D108BD9-81ED-4DB2-BD59-A6C34878D82A}">
                    <a16:rowId xmlns:a16="http://schemas.microsoft.com/office/drawing/2014/main" val="10003"/>
                  </a:ext>
                </a:extLst>
              </a:tr>
              <a:tr h="187558">
                <a:tc>
                  <a:txBody>
                    <a:bodyPr/>
                    <a:lstStyle/>
                    <a:p>
                      <a:r>
                        <a:rPr sz="1300" b="0">
                          <a:solidFill>
                            <a:srgbClr val="65CA87"/>
                          </a:solidFill>
                        </a:rPr>
                        <a:t>Graph Alignment</a:t>
                      </a:r>
                    </a:p>
                  </a:txBody>
                  <a:tcPr>
                    <a:solidFill>
                      <a:srgbClr val="E0D9DD"/>
                    </a:solidFill>
                  </a:tcPr>
                </a:tc>
                <a:tc>
                  <a:txBody>
                    <a:bodyPr/>
                    <a:lstStyle/>
                    <a:p>
                      <a:r>
                        <a:rPr sz="1300" b="0">
                          <a:solidFill>
                            <a:srgbClr val="65CA87"/>
                          </a:solidFill>
                        </a:rPr>
                        <a:t>Source</a:t>
                      </a:r>
                    </a:p>
                  </a:txBody>
                  <a:tcPr>
                    <a:solidFill>
                      <a:srgbClr val="C9BEC5"/>
                    </a:solidFill>
                  </a:tcPr>
                </a:tc>
                <a:tc>
                  <a:txBody>
                    <a:bodyPr/>
                    <a:lstStyle/>
                    <a:p>
                      <a:r>
                        <a:rPr sz="1300" b="0">
                          <a:solidFill>
                            <a:srgbClr val="65CA87"/>
                          </a:solidFill>
                        </a:rPr>
                        <a:t>Collection Station</a:t>
                      </a:r>
                    </a:p>
                  </a:txBody>
                  <a:tcPr>
                    <a:solidFill>
                      <a:srgbClr val="E0D9DD"/>
                    </a:solidFill>
                  </a:tcPr>
                </a:tc>
                <a:tc>
                  <a:txBody>
                    <a:bodyPr/>
                    <a:lstStyle/>
                    <a:p>
                      <a:r>
                        <a:rPr sz="1300" b="0">
                          <a:solidFill>
                            <a:srgbClr val="65CA87"/>
                          </a:solidFill>
                        </a:rPr>
                        <a:t>Reserve Source</a:t>
                      </a:r>
                    </a:p>
                  </a:txBody>
                  <a:tcPr>
                    <a:solidFill>
                      <a:srgbClr val="C9BEC5"/>
                    </a:solidFill>
                  </a:tcPr>
                </a:tc>
                <a:tc>
                  <a:txBody>
                    <a:bodyPr/>
                    <a:lstStyle/>
                    <a:p>
                      <a:r>
                        <a:rPr sz="1300" b="0">
                          <a:solidFill>
                            <a:srgbClr val="65CA87"/>
                          </a:solidFill>
                        </a:rPr>
                        <a:t>Handle Network</a:t>
                      </a:r>
                    </a:p>
                  </a:txBody>
                  <a:tcPr>
                    <a:solidFill>
                      <a:srgbClr val="E0D9DD"/>
                    </a:solidFill>
                  </a:tcPr>
                </a:tc>
                <a:tc>
                  <a:txBody>
                    <a:bodyPr/>
                    <a:lstStyle/>
                    <a:p>
                      <a:r>
                        <a:rPr sz="1300" b="0">
                          <a:solidFill>
                            <a:srgbClr val="65CA87"/>
                          </a:solidFill>
                        </a:rPr>
                        <a:t>Pipeline Energy</a:t>
                      </a:r>
                    </a:p>
                  </a:txBody>
                  <a:tcPr>
                    <a:solidFill>
                      <a:srgbClr val="C9BEC5"/>
                    </a:solidFill>
                  </a:tcPr>
                </a:tc>
                <a:extLst>
                  <a:ext uri="{0D108BD9-81ED-4DB2-BD59-A6C34878D82A}">
                    <a16:rowId xmlns:a16="http://schemas.microsoft.com/office/drawing/2014/main" val="10004"/>
                  </a:ext>
                </a:extLst>
              </a:tr>
            </a:tbl>
          </a:graphicData>
        </a:graphic>
      </p:graphicFrame>
      <p:pic>
        <p:nvPicPr>
          <p:cNvPr id="22" name="Picture 21" descr="_example_image.jpg"/>
          <p:cNvPicPr>
            <a:picLocks noChangeAspect="1"/>
          </p:cNvPicPr>
          <p:nvPr/>
        </p:nvPicPr>
        <p:blipFill>
          <a:blip r:embed="rId3"/>
          <a:srcRect l="16867" t="2205" r="9013" b="16903"/>
          <a:stretch>
            <a:fillRect/>
          </a:stretch>
        </p:blipFill>
        <p:spPr>
          <a:xfrm>
            <a:off x="782507" y="1104712"/>
            <a:ext cx="1070897" cy="1298127"/>
          </a:xfrm>
          <a:prstGeom prst="rect">
            <a:avLst/>
          </a:prstGeom>
        </p:spPr>
      </p:pic>
      <p:pic>
        <p:nvPicPr>
          <p:cNvPr id="23" name="Picture 22" descr="_example_image.jpg"/>
          <p:cNvPicPr>
            <a:picLocks noChangeAspect="1"/>
          </p:cNvPicPr>
          <p:nvPr/>
        </p:nvPicPr>
        <p:blipFill>
          <a:blip r:embed="rId3"/>
          <a:srcRect/>
          <a:stretch>
            <a:fillRect/>
          </a:stretch>
        </p:blipFill>
        <p:spPr>
          <a:xfrm>
            <a:off x="4155180" y="1139915"/>
            <a:ext cx="1908703" cy="1001267"/>
          </a:xfrm>
          <a:prstGeom prst="rect">
            <a:avLst/>
          </a:prstGeom>
        </p:spPr>
      </p:pic>
      <p:sp>
        <p:nvSpPr>
          <p:cNvPr id="24" name="TextBox 23"/>
          <p:cNvSpPr txBox="1"/>
          <p:nvPr/>
        </p:nvSpPr>
        <p:spPr>
          <a:xfrm>
            <a:off x="4145181" y="2223657"/>
            <a:ext cx="3459332" cy="1753145"/>
          </a:xfrm>
          <a:prstGeom prst="rect">
            <a:avLst/>
          </a:prstGeom>
          <a:noFill/>
        </p:spPr>
        <p:txBody>
          <a:bodyPr wrap="none" lIns="27816" tIns="27816" rIns="27816" bIns="27816">
            <a:spAutoFit/>
          </a:bodyPr>
          <a:lstStyle/>
          <a:p>
            <a:r>
              <a:rPr sz="1400" b="0" i="0" u="none">
                <a:solidFill>
                  <a:srgbClr val="75A5A7"/>
                </a:solidFill>
                <a:latin typeface="Trebuchet MS"/>
              </a:rPr>
              <a:t>Surface Deck</a:t>
            </a:r>
          </a:p>
        </p:txBody>
      </p:sp>
      <p:sp>
        <p:nvSpPr>
          <p:cNvPr id="25" name="Left Right Ribbon 24"/>
          <p:cNvSpPr/>
          <p:nvPr/>
        </p:nvSpPr>
        <p:spPr>
          <a:xfrm>
            <a:off x="9506198" y="568789"/>
            <a:ext cx="1763941" cy="902371"/>
          </a:xfrm>
          <a:prstGeom prst="leftRightRibbon">
            <a:avLst/>
          </a:prstGeom>
          <a:noFill/>
          <a:ln w="31021">
            <a:solidFill>
              <a:srgbClr val="D2D2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244302" y="464136"/>
            <a:ext cx="1079416" cy="2104297"/>
          </a:xfrm>
          <a:prstGeom prst="rect">
            <a:avLst/>
          </a:prstGeom>
          <a:noFill/>
        </p:spPr>
        <p:txBody>
          <a:bodyPr wrap="none" lIns="68286" tIns="68286" rIns="68286" bIns="68286">
            <a:spAutoFit/>
          </a:bodyPr>
          <a:lstStyle/>
          <a:p>
            <a:r>
              <a:rPr sz="3200" b="1" i="0" u="none">
                <a:solidFill>
                  <a:srgbClr val="B14791"/>
                </a:solidFill>
                <a:latin typeface="Georgia"/>
              </a:rPr>
              <a:t>Tile Record Library</a:t>
            </a:r>
          </a:p>
        </p:txBody>
      </p:sp>
      <p:graphicFrame>
        <p:nvGraphicFramePr>
          <p:cNvPr id="27" name="Chart 26"/>
          <p:cNvGraphicFramePr>
            <a:graphicFrameLocks noGrp="1"/>
          </p:cNvGraphicFramePr>
          <p:nvPr/>
        </p:nvGraphicFramePr>
        <p:xfrm>
          <a:off x="1781539" y="4315715"/>
          <a:ext cx="2489434" cy="1606524"/>
        </p:xfrm>
        <a:graphic>
          <a:graphicData uri="http://schemas.openxmlformats.org/drawingml/2006/chart">
            <c:chart xmlns:c="http://schemas.openxmlformats.org/drawingml/2006/chart" xmlns:r="http://schemas.openxmlformats.org/officeDocument/2006/relationships" r:id="rId4"/>
          </a:graphicData>
        </a:graphic>
      </p:graphicFrame>
      <p:pic>
        <p:nvPicPr>
          <p:cNvPr id="29" name="Graphic 28">
            <a:extLst>
              <a:ext uri="{FF2B5EF4-FFF2-40B4-BE49-F238E27FC236}">
                <a16:creationId xmlns:a16="http://schemas.microsoft.com/office/drawing/2014/main" id="{6A87C5B7-700F-1F2F-6658-FBF8631129B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363949" y="4854904"/>
            <a:ext cx="940634" cy="1144723"/>
          </a:xfrm>
          <a:prstGeom prst="rect">
            <a:avLst/>
          </a:prstGeom>
        </p:spPr>
      </p:pic>
      <p:pic>
        <p:nvPicPr>
          <p:cNvPr id="31" name="Graphic 30">
            <a:extLst>
              <a:ext uri="{FF2B5EF4-FFF2-40B4-BE49-F238E27FC236}">
                <a16:creationId xmlns:a16="http://schemas.microsoft.com/office/drawing/2014/main" id="{F11577F6-7EC2-23EF-E581-EA00B29D503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819744" y="2278828"/>
            <a:ext cx="1204470" cy="125888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21475" y="4936103"/>
            <a:ext cx="3250983" cy="1109469"/>
          </a:xfrm>
          <a:prstGeom prst="rect">
            <a:avLst/>
          </a:prstGeom>
          <a:noFill/>
        </p:spPr>
        <p:txBody>
          <a:bodyPr wrap="none" lIns="42984" tIns="42984" rIns="42984" bIns="42984">
            <a:spAutoFit/>
          </a:bodyPr>
          <a:lstStyle/>
          <a:p>
            <a:r>
              <a:rPr sz="1100" b="0" i="0" u="none">
                <a:solidFill>
                  <a:srgbClr val="911C50"/>
                </a:solidFill>
                <a:latin typeface="Arial"/>
              </a:rPr>
              <a:t>Frequency Phase Access Control Mode Lineage</a:t>
            </a:r>
          </a:p>
        </p:txBody>
      </p:sp>
      <p:cxnSp>
        <p:nvCxnSpPr>
          <p:cNvPr id="3" name="Connector 2"/>
          <p:cNvCxnSpPr/>
          <p:nvPr/>
        </p:nvCxnSpPr>
        <p:spPr>
          <a:xfrm flipV="1">
            <a:off x="6197353" y="4017072"/>
            <a:ext cx="1391744" cy="739213"/>
          </a:xfrm>
          <a:prstGeom prst="line">
            <a:avLst/>
          </a:prstGeom>
          <a:ln w="23219">
            <a:solidFill>
              <a:srgbClr val="D7CA3E"/>
            </a:solidFill>
            <a:prstDash val="dash"/>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41236" y="469027"/>
            <a:ext cx="552110" cy="1195593"/>
          </a:xfrm>
          <a:prstGeom prst="rect">
            <a:avLst/>
          </a:prstGeom>
          <a:noFill/>
        </p:spPr>
        <p:txBody>
          <a:bodyPr wrap="none" lIns="49942" tIns="49942" rIns="49942" bIns="49942">
            <a:spAutoFit/>
          </a:bodyPr>
          <a:lstStyle/>
          <a:p>
            <a:r>
              <a:rPr sz="1000" b="1" i="0" u="none">
                <a:solidFill>
                  <a:srgbClr val="7C1E5D"/>
                </a:solidFill>
                <a:latin typeface="Calibri"/>
              </a:rPr>
              <a:t>Density Ratio</a:t>
            </a:r>
          </a:p>
        </p:txBody>
      </p:sp>
      <p:sp>
        <p:nvSpPr>
          <p:cNvPr id="5" name="Line Callout 2 4"/>
          <p:cNvSpPr/>
          <p:nvPr/>
        </p:nvSpPr>
        <p:spPr>
          <a:xfrm>
            <a:off x="4702898" y="5401992"/>
            <a:ext cx="1229770" cy="872819"/>
          </a:xfrm>
          <a:prstGeom prst="borderCallout2">
            <a:avLst/>
          </a:prstGeom>
          <a:solidFill>
            <a:srgbClr val="C69597"/>
          </a:solidFill>
          <a:ln w="10286">
            <a:solidFill>
              <a:srgbClr val="7BB8A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42357" y="3312295"/>
            <a:ext cx="4018671" cy="390392"/>
          </a:xfrm>
          <a:prstGeom prst="rect">
            <a:avLst/>
          </a:prstGeom>
          <a:noFill/>
        </p:spPr>
        <p:txBody>
          <a:bodyPr wrap="none" lIns="67663" tIns="67663" rIns="67663" bIns="67663">
            <a:spAutoFit/>
          </a:bodyPr>
          <a:lstStyle/>
          <a:p>
            <a:r>
              <a:rPr sz="4300" b="1" i="0" u="none">
                <a:solidFill>
                  <a:srgbClr val="2784CA"/>
                </a:solidFill>
                <a:latin typeface="Calibri"/>
              </a:rPr>
              <a:t>Design Cadence Interface</a:t>
            </a:r>
          </a:p>
        </p:txBody>
      </p:sp>
      <p:sp>
        <p:nvSpPr>
          <p:cNvPr id="7" name="Up-Down Arrow 6"/>
          <p:cNvSpPr/>
          <p:nvPr/>
        </p:nvSpPr>
        <p:spPr>
          <a:xfrm>
            <a:off x="3658749" y="511736"/>
            <a:ext cx="1465156" cy="1210254"/>
          </a:xfrm>
          <a:prstGeom prst="upDownArrow">
            <a:avLst/>
          </a:prstGeom>
          <a:solidFill>
            <a:srgbClr val="4B77AE"/>
          </a:solidFill>
          <a:ln w="18579">
            <a:solidFill>
              <a:srgbClr val="73514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656560" y="2108713"/>
          <a:ext cx="3882812" cy="1116931"/>
        </p:xfrm>
        <a:graphic>
          <a:graphicData uri="http://schemas.openxmlformats.org/drawingml/2006/table">
            <a:tbl>
              <a:tblPr firstRow="1" bandRow="1">
                <a:tableStyleId>{5C22544A-7EE6-4342-B048-85BDC9FD1C3A}</a:tableStyleId>
              </a:tblPr>
              <a:tblGrid>
                <a:gridCol w="1941406">
                  <a:extLst>
                    <a:ext uri="{9D8B030D-6E8A-4147-A177-3AD203B41FA5}">
                      <a16:colId xmlns:a16="http://schemas.microsoft.com/office/drawing/2014/main" val="20000"/>
                    </a:ext>
                  </a:extLst>
                </a:gridCol>
                <a:gridCol w="1941406">
                  <a:extLst>
                    <a:ext uri="{9D8B030D-6E8A-4147-A177-3AD203B41FA5}">
                      <a16:colId xmlns:a16="http://schemas.microsoft.com/office/drawing/2014/main" val="20001"/>
                    </a:ext>
                  </a:extLst>
                </a:gridCol>
              </a:tblGrid>
              <a:tr h="558465">
                <a:tc>
                  <a:txBody>
                    <a:bodyPr/>
                    <a:lstStyle/>
                    <a:p>
                      <a:r>
                        <a:rPr sz="800" b="0">
                          <a:solidFill>
                            <a:srgbClr val="4081C7"/>
                          </a:solidFill>
                        </a:rPr>
                        <a:t>Intent Measure</a:t>
                      </a:r>
                    </a:p>
                  </a:txBody>
                  <a:tcPr>
                    <a:solidFill>
                      <a:srgbClr val="EDDEF5"/>
                    </a:solidFill>
                  </a:tcPr>
                </a:tc>
                <a:tc>
                  <a:txBody>
                    <a:bodyPr/>
                    <a:lstStyle/>
                    <a:p>
                      <a:r>
                        <a:rPr sz="800" b="0">
                          <a:solidFill>
                            <a:srgbClr val="4081C7"/>
                          </a:solidFill>
                        </a:rPr>
                        <a:t>Resource Adaptive</a:t>
                      </a:r>
                    </a:p>
                  </a:txBody>
                  <a:tcPr>
                    <a:solidFill>
                      <a:srgbClr val="EDDEF5"/>
                    </a:solidFill>
                  </a:tcPr>
                </a:tc>
                <a:extLst>
                  <a:ext uri="{0D108BD9-81ED-4DB2-BD59-A6C34878D82A}">
                    <a16:rowId xmlns:a16="http://schemas.microsoft.com/office/drawing/2014/main" val="10000"/>
                  </a:ext>
                </a:extLst>
              </a:tr>
              <a:tr h="558466">
                <a:tc>
                  <a:txBody>
                    <a:bodyPr/>
                    <a:lstStyle/>
                    <a:p>
                      <a:r>
                        <a:rPr sz="800" b="0">
                          <a:solidFill>
                            <a:srgbClr val="4081C7"/>
                          </a:solidFill>
                        </a:rPr>
                        <a:t>Command</a:t>
                      </a:r>
                    </a:p>
                  </a:txBody>
                  <a:tcPr>
                    <a:solidFill>
                      <a:srgbClr val="DDBFED"/>
                    </a:solidFill>
                  </a:tcPr>
                </a:tc>
                <a:tc>
                  <a:txBody>
                    <a:bodyPr/>
                    <a:lstStyle/>
                    <a:p>
                      <a:r>
                        <a:rPr sz="800" b="0">
                          <a:solidFill>
                            <a:srgbClr val="4081C7"/>
                          </a:solidFill>
                        </a:rPr>
                        <a:t>Account Service</a:t>
                      </a:r>
                    </a:p>
                  </a:txBody>
                  <a:tcPr>
                    <a:solidFill>
                      <a:srgbClr val="DDBFED"/>
                    </a:solidFill>
                  </a:tcPr>
                </a:tc>
                <a:extLst>
                  <a:ext uri="{0D108BD9-81ED-4DB2-BD59-A6C34878D82A}">
                    <a16:rowId xmlns:a16="http://schemas.microsoft.com/office/drawing/2014/main" val="10001"/>
                  </a:ext>
                </a:extLst>
              </a:tr>
            </a:tbl>
          </a:graphicData>
        </a:graphic>
      </p:graphicFrame>
      <p:cxnSp>
        <p:nvCxnSpPr>
          <p:cNvPr id="9" name="Connector 8"/>
          <p:cNvCxnSpPr/>
          <p:nvPr/>
        </p:nvCxnSpPr>
        <p:spPr>
          <a:xfrm>
            <a:off x="6819505" y="346584"/>
            <a:ext cx="2223937" cy="423804"/>
          </a:xfrm>
          <a:prstGeom prst="line">
            <a:avLst/>
          </a:prstGeom>
          <a:ln w="26364">
            <a:solidFill>
              <a:srgbClr val="3E92AF"/>
            </a:solidFill>
            <a:prstDash val="dot"/>
          </a:ln>
        </p:spPr>
        <p:style>
          <a:lnRef idx="2">
            <a:schemeClr val="accent1"/>
          </a:lnRef>
          <a:fillRef idx="0">
            <a:schemeClr val="accent1"/>
          </a:fillRef>
          <a:effectRef idx="1">
            <a:schemeClr val="accent1"/>
          </a:effectRef>
          <a:fontRef idx="minor">
            <a:schemeClr val="tx1"/>
          </a:fontRef>
        </p:style>
      </p:cxnSp>
      <p:sp>
        <p:nvSpPr>
          <p:cNvPr id="10" name="Curved Right Arrow 9"/>
          <p:cNvSpPr/>
          <p:nvPr/>
        </p:nvSpPr>
        <p:spPr>
          <a:xfrm>
            <a:off x="2775841" y="4793259"/>
            <a:ext cx="1293935" cy="931076"/>
          </a:xfrm>
          <a:prstGeom prst="curvedRightArrow">
            <a:avLst/>
          </a:prstGeom>
          <a:solidFill>
            <a:srgbClr val="D8E38F"/>
          </a:solidFill>
          <a:ln w="23128">
            <a:solidFill>
              <a:srgbClr val="41E0AD"/>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5702514" y="3389867"/>
            <a:ext cx="832305" cy="1651003"/>
          </a:xfrm>
          <a:custGeom>
            <a:avLst/>
            <a:gdLst/>
            <a:ahLst/>
            <a:cxnLst/>
            <a:rect l="l" t="t" r="r" b="b"/>
            <a:pathLst>
              <a:path w="832305" h="1651003">
                <a:moveTo>
                  <a:pt x="0" y="366890"/>
                </a:moveTo>
                <a:lnTo>
                  <a:pt x="178990" y="0"/>
                </a:lnTo>
                <a:lnTo>
                  <a:pt x="357981" y="495301"/>
                </a:lnTo>
                <a:lnTo>
                  <a:pt x="536971" y="55034"/>
                </a:lnTo>
                <a:lnTo>
                  <a:pt x="832305" y="1284113"/>
                </a:lnTo>
                <a:lnTo>
                  <a:pt x="626466" y="1651003"/>
                </a:lnTo>
                <a:lnTo>
                  <a:pt x="429577" y="1100669"/>
                </a:lnTo>
                <a:lnTo>
                  <a:pt x="205839" y="1595969"/>
                </a:lnTo>
                <a:close/>
              </a:path>
            </a:pathLst>
          </a:custGeom>
          <a:solidFill>
            <a:srgbClr val="3829A7"/>
          </a:solidFill>
          <a:ln w="18391">
            <a:solidFill>
              <a:srgbClr val="A431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 11"/>
          <p:cNvGraphicFramePr>
            <a:graphicFrameLocks noGrp="1"/>
          </p:cNvGraphicFramePr>
          <p:nvPr/>
        </p:nvGraphicFramePr>
        <p:xfrm>
          <a:off x="9850675" y="1755592"/>
          <a:ext cx="2073040" cy="1945244"/>
        </p:xfrm>
        <a:graphic>
          <a:graphicData uri="http://schemas.openxmlformats.org/drawingml/2006/chart">
            <c:chart xmlns:c="http://schemas.openxmlformats.org/drawingml/2006/chart" xmlns:r="http://schemas.openxmlformats.org/officeDocument/2006/relationships" r:id="rId2"/>
          </a:graphicData>
        </a:graphic>
      </p:graphicFrame>
      <p:cxnSp>
        <p:nvCxnSpPr>
          <p:cNvPr id="13" name="Connector 12"/>
          <p:cNvCxnSpPr/>
          <p:nvPr/>
        </p:nvCxnSpPr>
        <p:spPr>
          <a:xfrm>
            <a:off x="9203449" y="3645436"/>
            <a:ext cx="2178153" cy="374763"/>
          </a:xfrm>
          <a:prstGeom prst="bentConnector3">
            <a:avLst/>
          </a:prstGeom>
          <a:ln w="47022">
            <a:solidFill>
              <a:srgbClr val="2F77CC"/>
            </a:solidFill>
            <a:prstDash val="dashDot"/>
          </a:ln>
        </p:spPr>
        <p:style>
          <a:lnRef idx="2">
            <a:schemeClr val="accent1"/>
          </a:lnRef>
          <a:fillRef idx="0">
            <a:schemeClr val="accent1"/>
          </a:fillRef>
          <a:effectRef idx="1">
            <a:schemeClr val="accent1"/>
          </a:effectRef>
          <a:fontRef idx="minor">
            <a:schemeClr val="tx1"/>
          </a:fontRef>
        </p:style>
      </p:cxnSp>
      <p:sp>
        <p:nvSpPr>
          <p:cNvPr id="14" name="Document 13"/>
          <p:cNvSpPr/>
          <p:nvPr/>
        </p:nvSpPr>
        <p:spPr>
          <a:xfrm>
            <a:off x="11037926" y="4138857"/>
            <a:ext cx="670185" cy="640792"/>
          </a:xfrm>
          <a:prstGeom prst="flowChartDocument">
            <a:avLst/>
          </a:prstGeom>
          <a:solidFill>
            <a:srgbClr val="E565E5"/>
          </a:solidFill>
          <a:ln w="12269">
            <a:solidFill>
              <a:srgbClr val="257F3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Triangle 14"/>
          <p:cNvSpPr/>
          <p:nvPr/>
        </p:nvSpPr>
        <p:spPr>
          <a:xfrm>
            <a:off x="9681515" y="1553168"/>
            <a:ext cx="641277" cy="1431578"/>
          </a:xfrm>
          <a:prstGeom prst="rtTriangle">
            <a:avLst/>
          </a:prstGeom>
          <a:solidFill>
            <a:srgbClr val="BF88C9"/>
          </a:solidFill>
          <a:ln w="10213">
            <a:solidFill>
              <a:srgbClr val="A3D24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quot;No&quot; Symbol 15"/>
          <p:cNvSpPr/>
          <p:nvPr/>
        </p:nvSpPr>
        <p:spPr>
          <a:xfrm>
            <a:off x="7404743" y="854869"/>
            <a:ext cx="2196459" cy="1296910"/>
          </a:xfrm>
          <a:prstGeom prst="noSmoking">
            <a:avLst/>
          </a:prstGeom>
          <a:solidFill>
            <a:srgbClr val="37D4CD"/>
          </a:solidFill>
          <a:ln w="13462">
            <a:solidFill>
              <a:srgbClr val="6BA467"/>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85025" y="2978945"/>
            <a:ext cx="1359580" cy="1617782"/>
          </a:xfrm>
          <a:prstGeom prst="rect">
            <a:avLst/>
          </a:prstGeom>
          <a:noFill/>
        </p:spPr>
        <p:txBody>
          <a:bodyPr wrap="none" lIns="52592" tIns="52592" rIns="52592" bIns="52592">
            <a:spAutoFit/>
          </a:bodyPr>
          <a:lstStyle/>
          <a:p>
            <a:r>
              <a:rPr sz="2100" b="0" i="1" u="sng">
                <a:solidFill>
                  <a:srgbClr val="C3C4BC"/>
                </a:solidFill>
                <a:latin typeface="Arial"/>
              </a:rPr>
              <a:t>Detail Viewport Channel Output System Beta Horizon Thread Context Vertex Forecast Friction</a:t>
            </a:r>
          </a:p>
        </p:txBody>
      </p:sp>
      <p:pic>
        <p:nvPicPr>
          <p:cNvPr id="18" name="Picture 17" descr="_example_image.jpg"/>
          <p:cNvPicPr>
            <a:picLocks noChangeAspect="1"/>
          </p:cNvPicPr>
          <p:nvPr/>
        </p:nvPicPr>
        <p:blipFill>
          <a:blip r:embed="rId3"/>
          <a:srcRect l="6744" t="5122" r="873" b="9252"/>
          <a:stretch>
            <a:fillRect/>
          </a:stretch>
        </p:blipFill>
        <p:spPr>
          <a:xfrm>
            <a:off x="1056831" y="4995487"/>
            <a:ext cx="1518879" cy="1252686"/>
          </a:xfrm>
          <a:prstGeom prst="rect">
            <a:avLst/>
          </a:prstGeom>
        </p:spPr>
      </p:pic>
      <p:graphicFrame>
        <p:nvGraphicFramePr>
          <p:cNvPr id="19" name="Chart 18"/>
          <p:cNvGraphicFramePr>
            <a:graphicFrameLocks noGrp="1"/>
          </p:cNvGraphicFramePr>
          <p:nvPr/>
        </p:nvGraphicFramePr>
        <p:xfrm>
          <a:off x="7259855" y="1909412"/>
          <a:ext cx="2937541" cy="1855899"/>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2233661" y="1035691"/>
            <a:ext cx="1370525" cy="992369"/>
          </a:xfrm>
          <a:prstGeom prst="rect">
            <a:avLst/>
          </a:prstGeom>
          <a:noFill/>
        </p:spPr>
        <p:txBody>
          <a:bodyPr wrap="none" lIns="87386" tIns="87386" rIns="87386" bIns="87386">
            <a:spAutoFit/>
          </a:bodyPr>
          <a:lstStyle/>
          <a:p>
            <a:r>
              <a:rPr sz="900" b="1" i="0" u="none">
                <a:solidFill>
                  <a:srgbClr val="E57893"/>
                </a:solidFill>
                <a:latin typeface="Georgia"/>
              </a:rPr>
              <a:t>Intent Mode Trigger Stage Plan</a:t>
            </a:r>
          </a:p>
        </p:txBody>
      </p:sp>
      <p:sp>
        <p:nvSpPr>
          <p:cNvPr id="21" name="Freeform 20"/>
          <p:cNvSpPr/>
          <p:nvPr/>
        </p:nvSpPr>
        <p:spPr>
          <a:xfrm>
            <a:off x="9350104" y="164744"/>
            <a:ext cx="2220828" cy="1183323"/>
          </a:xfrm>
          <a:custGeom>
            <a:avLst/>
            <a:gdLst/>
            <a:ahLst/>
            <a:cxnLst/>
            <a:rect l="l" t="t" r="r" b="b"/>
            <a:pathLst>
              <a:path w="2220828" h="1183323">
                <a:moveTo>
                  <a:pt x="1110414" y="0"/>
                </a:moveTo>
                <a:lnTo>
                  <a:pt x="1388017" y="295831"/>
                </a:lnTo>
                <a:lnTo>
                  <a:pt x="2082026" y="212998"/>
                </a:lnTo>
                <a:lnTo>
                  <a:pt x="1688755" y="591661"/>
                </a:lnTo>
                <a:lnTo>
                  <a:pt x="2220828" y="922992"/>
                </a:lnTo>
                <a:lnTo>
                  <a:pt x="1388017" y="851993"/>
                </a:lnTo>
                <a:lnTo>
                  <a:pt x="1110414" y="1183323"/>
                </a:lnTo>
                <a:lnTo>
                  <a:pt x="832810" y="851993"/>
                </a:lnTo>
                <a:lnTo>
                  <a:pt x="0" y="922992"/>
                </a:lnTo>
                <a:lnTo>
                  <a:pt x="532073" y="591661"/>
                </a:lnTo>
                <a:lnTo>
                  <a:pt x="138801" y="212998"/>
                </a:lnTo>
                <a:lnTo>
                  <a:pt x="832810" y="295831"/>
                </a:lnTo>
                <a:close/>
              </a:path>
            </a:pathLst>
          </a:custGeom>
          <a:solidFill>
            <a:srgbClr val="AB6F27"/>
          </a:solidFill>
          <a:ln w="13398">
            <a:solidFill>
              <a:srgbClr val="2ACB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unnel 21"/>
          <p:cNvSpPr/>
          <p:nvPr/>
        </p:nvSpPr>
        <p:spPr>
          <a:xfrm>
            <a:off x="7672013" y="3838531"/>
            <a:ext cx="704811" cy="1013285"/>
          </a:xfrm>
          <a:prstGeom prst="funnel">
            <a:avLst/>
          </a:prstGeom>
          <a:solidFill>
            <a:srgbClr val="6A49A4"/>
          </a:solidFill>
          <a:ln w="26578">
            <a:solidFill>
              <a:srgbClr val="9D34C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52498" y="1090234"/>
            <a:ext cx="849697" cy="2212432"/>
          </a:xfrm>
          <a:prstGeom prst="rect">
            <a:avLst/>
          </a:prstGeom>
          <a:noFill/>
        </p:spPr>
        <p:txBody>
          <a:bodyPr wrap="none" lIns="55378" tIns="55378" rIns="55378" bIns="55378">
            <a:spAutoFit/>
          </a:bodyPr>
          <a:lstStyle/>
          <a:p>
            <a:r>
              <a:rPr sz="2400" b="1" i="0" u="none">
                <a:solidFill>
                  <a:srgbClr val="32BB3A"/>
                </a:solidFill>
                <a:latin typeface="Aptos"/>
              </a:rPr>
              <a:t>Intent Direction Duration Priority Release Story Radius Queue Signal View Diagram Goal Vector</a:t>
            </a:r>
          </a:p>
        </p:txBody>
      </p:sp>
      <p:pic>
        <p:nvPicPr>
          <p:cNvPr id="24" name="Picture 23" descr="_example_image.jpg"/>
          <p:cNvPicPr>
            <a:picLocks noChangeAspect="1"/>
          </p:cNvPicPr>
          <p:nvPr/>
        </p:nvPicPr>
        <p:blipFill>
          <a:blip r:embed="rId3"/>
          <a:srcRect/>
          <a:stretch>
            <a:fillRect/>
          </a:stretch>
        </p:blipFill>
        <p:spPr>
          <a:xfrm>
            <a:off x="143515" y="366008"/>
            <a:ext cx="1129745" cy="1730296"/>
          </a:xfrm>
          <a:prstGeom prst="rect">
            <a:avLst/>
          </a:prstGeom>
        </p:spPr>
      </p:pic>
      <p:graphicFrame>
        <p:nvGraphicFramePr>
          <p:cNvPr id="25" name="Table 24"/>
          <p:cNvGraphicFramePr>
            <a:graphicFrameLocks noGrp="1"/>
          </p:cNvGraphicFramePr>
          <p:nvPr/>
        </p:nvGraphicFramePr>
        <p:xfrm>
          <a:off x="567496" y="3083825"/>
          <a:ext cx="3259496" cy="1579916"/>
        </p:xfrm>
        <a:graphic>
          <a:graphicData uri="http://schemas.openxmlformats.org/drawingml/2006/table">
            <a:tbl>
              <a:tblPr firstRow="1" bandRow="1">
                <a:tableStyleId>{5C22544A-7EE6-4342-B048-85BDC9FD1C3A}</a:tableStyleId>
              </a:tblPr>
              <a:tblGrid>
                <a:gridCol w="1086498">
                  <a:extLst>
                    <a:ext uri="{9D8B030D-6E8A-4147-A177-3AD203B41FA5}">
                      <a16:colId xmlns:a16="http://schemas.microsoft.com/office/drawing/2014/main" val="20000"/>
                    </a:ext>
                  </a:extLst>
                </a:gridCol>
                <a:gridCol w="1086498">
                  <a:extLst>
                    <a:ext uri="{9D8B030D-6E8A-4147-A177-3AD203B41FA5}">
                      <a16:colId xmlns:a16="http://schemas.microsoft.com/office/drawing/2014/main" val="20001"/>
                    </a:ext>
                  </a:extLst>
                </a:gridCol>
                <a:gridCol w="1086500">
                  <a:extLst>
                    <a:ext uri="{9D8B030D-6E8A-4147-A177-3AD203B41FA5}">
                      <a16:colId xmlns:a16="http://schemas.microsoft.com/office/drawing/2014/main" val="20002"/>
                    </a:ext>
                  </a:extLst>
                </a:gridCol>
              </a:tblGrid>
              <a:tr h="315983">
                <a:tc>
                  <a:txBody>
                    <a:bodyPr/>
                    <a:lstStyle/>
                    <a:p>
                      <a:r>
                        <a:rPr sz="1300" b="1">
                          <a:solidFill>
                            <a:srgbClr val="D174D9"/>
                          </a:solidFill>
                        </a:rPr>
                        <a:t>Report Interface</a:t>
                      </a:r>
                    </a:p>
                  </a:txBody>
                  <a:tcPr>
                    <a:solidFill>
                      <a:srgbClr val="2B8039"/>
                    </a:solidFill>
                  </a:tcPr>
                </a:tc>
                <a:tc>
                  <a:txBody>
                    <a:bodyPr/>
                    <a:lstStyle/>
                    <a:p>
                      <a:r>
                        <a:rPr sz="1300" b="1">
                          <a:solidFill>
                            <a:srgbClr val="D174D9"/>
                          </a:solidFill>
                        </a:rPr>
                        <a:t>Explorer Benchmark</a:t>
                      </a:r>
                    </a:p>
                  </a:txBody>
                  <a:tcPr>
                    <a:solidFill>
                      <a:srgbClr val="2B8039"/>
                    </a:solidFill>
                  </a:tcPr>
                </a:tc>
                <a:tc>
                  <a:txBody>
                    <a:bodyPr/>
                    <a:lstStyle/>
                    <a:p>
                      <a:r>
                        <a:rPr sz="1300" b="1">
                          <a:solidFill>
                            <a:srgbClr val="D174D9"/>
                          </a:solidFill>
                        </a:rPr>
                        <a:t>Feature Format</a:t>
                      </a:r>
                    </a:p>
                  </a:txBody>
                  <a:tcPr>
                    <a:solidFill>
                      <a:srgbClr val="2B8039"/>
                    </a:solidFill>
                  </a:tcPr>
                </a:tc>
                <a:extLst>
                  <a:ext uri="{0D108BD9-81ED-4DB2-BD59-A6C34878D82A}">
                    <a16:rowId xmlns:a16="http://schemas.microsoft.com/office/drawing/2014/main" val="10000"/>
                  </a:ext>
                </a:extLst>
              </a:tr>
              <a:tr h="315983">
                <a:tc>
                  <a:txBody>
                    <a:bodyPr/>
                    <a:lstStyle/>
                    <a:p>
                      <a:r>
                        <a:rPr sz="1300" b="0">
                          <a:solidFill>
                            <a:srgbClr val="D174D9"/>
                          </a:solidFill>
                        </a:rPr>
                        <a:t>Token</a:t>
                      </a:r>
                    </a:p>
                  </a:txBody>
                  <a:tcPr>
                    <a:solidFill>
                      <a:srgbClr val="D9DDD2"/>
                    </a:solidFill>
                  </a:tcPr>
                </a:tc>
                <a:tc>
                  <a:txBody>
                    <a:bodyPr/>
                    <a:lstStyle/>
                    <a:p>
                      <a:r>
                        <a:rPr sz="1300" b="0">
                          <a:solidFill>
                            <a:srgbClr val="D174D9"/>
                          </a:solidFill>
                        </a:rPr>
                        <a:t>Range Brief</a:t>
                      </a:r>
                    </a:p>
                  </a:txBody>
                  <a:tcPr>
                    <a:solidFill>
                      <a:srgbClr val="D9DDD2"/>
                    </a:solidFill>
                  </a:tcPr>
                </a:tc>
                <a:tc>
                  <a:txBody>
                    <a:bodyPr/>
                    <a:lstStyle/>
                    <a:p>
                      <a:r>
                        <a:rPr sz="1300" b="0">
                          <a:solidFill>
                            <a:srgbClr val="D174D9"/>
                          </a:solidFill>
                        </a:rPr>
                        <a:t>Template</a:t>
                      </a:r>
                    </a:p>
                  </a:txBody>
                  <a:tcPr>
                    <a:solidFill>
                      <a:srgbClr val="D9DDD2"/>
                    </a:solidFill>
                  </a:tcPr>
                </a:tc>
                <a:extLst>
                  <a:ext uri="{0D108BD9-81ED-4DB2-BD59-A6C34878D82A}">
                    <a16:rowId xmlns:a16="http://schemas.microsoft.com/office/drawing/2014/main" val="10001"/>
                  </a:ext>
                </a:extLst>
              </a:tr>
              <a:tr h="315983">
                <a:tc>
                  <a:txBody>
                    <a:bodyPr/>
                    <a:lstStyle/>
                    <a:p>
                      <a:r>
                        <a:rPr sz="1300" b="0">
                          <a:solidFill>
                            <a:srgbClr val="D174D9"/>
                          </a:solidFill>
                        </a:rPr>
                        <a:t>Impact Index</a:t>
                      </a:r>
                    </a:p>
                  </a:txBody>
                  <a:tcPr>
                    <a:solidFill>
                      <a:srgbClr val="F6F7F4"/>
                    </a:solidFill>
                  </a:tcPr>
                </a:tc>
                <a:tc>
                  <a:txBody>
                    <a:bodyPr/>
                    <a:lstStyle/>
                    <a:p>
                      <a:r>
                        <a:rPr sz="1300" b="0">
                          <a:solidFill>
                            <a:srgbClr val="D174D9"/>
                          </a:solidFill>
                        </a:rPr>
                        <a:t>Dashboard Collection</a:t>
                      </a:r>
                    </a:p>
                  </a:txBody>
                  <a:tcPr>
                    <a:solidFill>
                      <a:srgbClr val="F6F7F4"/>
                    </a:solidFill>
                  </a:tcPr>
                </a:tc>
                <a:tc>
                  <a:txBody>
                    <a:bodyPr/>
                    <a:lstStyle/>
                    <a:p>
                      <a:r>
                        <a:rPr sz="1300" b="0">
                          <a:solidFill>
                            <a:srgbClr val="D174D9"/>
                          </a:solidFill>
                        </a:rPr>
                        <a:t>Handle</a:t>
                      </a:r>
                    </a:p>
                  </a:txBody>
                  <a:tcPr>
                    <a:solidFill>
                      <a:srgbClr val="F6F7F4"/>
                    </a:solidFill>
                  </a:tcPr>
                </a:tc>
                <a:extLst>
                  <a:ext uri="{0D108BD9-81ED-4DB2-BD59-A6C34878D82A}">
                    <a16:rowId xmlns:a16="http://schemas.microsoft.com/office/drawing/2014/main" val="10002"/>
                  </a:ext>
                </a:extLst>
              </a:tr>
              <a:tr h="315983">
                <a:tc>
                  <a:txBody>
                    <a:bodyPr/>
                    <a:lstStyle/>
                    <a:p>
                      <a:r>
                        <a:rPr sz="1300" b="0">
                          <a:solidFill>
                            <a:srgbClr val="D174D9"/>
                          </a:solidFill>
                        </a:rPr>
                        <a:t>Volume Panel</a:t>
                      </a:r>
                    </a:p>
                  </a:txBody>
                  <a:tcPr>
                    <a:solidFill>
                      <a:srgbClr val="D9DDD2"/>
                    </a:solidFill>
                  </a:tcPr>
                </a:tc>
                <a:tc>
                  <a:txBody>
                    <a:bodyPr/>
                    <a:lstStyle/>
                    <a:p>
                      <a:r>
                        <a:rPr sz="1300" b="0">
                          <a:solidFill>
                            <a:srgbClr val="D174D9"/>
                          </a:solidFill>
                        </a:rPr>
                        <a:t>Data</a:t>
                      </a:r>
                    </a:p>
                  </a:txBody>
                  <a:tcPr>
                    <a:solidFill>
                      <a:srgbClr val="D9DDD2"/>
                    </a:solidFill>
                  </a:tcPr>
                </a:tc>
                <a:tc>
                  <a:txBody>
                    <a:bodyPr/>
                    <a:lstStyle/>
                    <a:p>
                      <a:r>
                        <a:rPr sz="1300" b="0">
                          <a:solidFill>
                            <a:srgbClr val="D174D9"/>
                          </a:solidFill>
                        </a:rPr>
                        <a:t>Request Package</a:t>
                      </a:r>
                    </a:p>
                  </a:txBody>
                  <a:tcPr>
                    <a:solidFill>
                      <a:srgbClr val="D9DDD2"/>
                    </a:solidFill>
                  </a:tcPr>
                </a:tc>
                <a:extLst>
                  <a:ext uri="{0D108BD9-81ED-4DB2-BD59-A6C34878D82A}">
                    <a16:rowId xmlns:a16="http://schemas.microsoft.com/office/drawing/2014/main" val="10003"/>
                  </a:ext>
                </a:extLst>
              </a:tr>
              <a:tr h="315984">
                <a:tc>
                  <a:txBody>
                    <a:bodyPr/>
                    <a:lstStyle/>
                    <a:p>
                      <a:r>
                        <a:rPr sz="1300" b="0">
                          <a:solidFill>
                            <a:srgbClr val="D174D9"/>
                          </a:solidFill>
                        </a:rPr>
                        <a:t>Filter Frequency</a:t>
                      </a:r>
                    </a:p>
                  </a:txBody>
                  <a:tcPr>
                    <a:solidFill>
                      <a:srgbClr val="F6F7F4"/>
                    </a:solidFill>
                  </a:tcPr>
                </a:tc>
                <a:tc>
                  <a:txBody>
                    <a:bodyPr/>
                    <a:lstStyle/>
                    <a:p>
                      <a:r>
                        <a:rPr sz="1300" b="0">
                          <a:solidFill>
                            <a:srgbClr val="D174D9"/>
                          </a:solidFill>
                        </a:rPr>
                        <a:t>Flow Radius</a:t>
                      </a:r>
                    </a:p>
                  </a:txBody>
                  <a:tcPr>
                    <a:solidFill>
                      <a:srgbClr val="F6F7F4"/>
                    </a:solidFill>
                  </a:tcPr>
                </a:tc>
                <a:tc>
                  <a:txBody>
                    <a:bodyPr/>
                    <a:lstStyle/>
                    <a:p>
                      <a:r>
                        <a:rPr sz="1300" b="0">
                          <a:solidFill>
                            <a:srgbClr val="D174D9"/>
                          </a:solidFill>
                        </a:rPr>
                        <a:t>Region</a:t>
                      </a:r>
                    </a:p>
                  </a:txBody>
                  <a:tcPr>
                    <a:solidFill>
                      <a:srgbClr val="F6F7F4"/>
                    </a:solidFill>
                  </a:tcPr>
                </a:tc>
                <a:extLst>
                  <a:ext uri="{0D108BD9-81ED-4DB2-BD59-A6C34878D82A}">
                    <a16:rowId xmlns:a16="http://schemas.microsoft.com/office/drawing/2014/main" val="10004"/>
                  </a:ext>
                </a:extLst>
              </a:tr>
            </a:tbl>
          </a:graphicData>
        </a:graphic>
      </p:graphicFrame>
      <p:pic>
        <p:nvPicPr>
          <p:cNvPr id="26" name="Picture 25" descr="_example_image.jpg"/>
          <p:cNvPicPr>
            <a:picLocks noChangeAspect="1"/>
          </p:cNvPicPr>
          <p:nvPr/>
        </p:nvPicPr>
        <p:blipFill>
          <a:blip r:embed="rId3"/>
          <a:srcRect/>
          <a:stretch>
            <a:fillRect/>
          </a:stretch>
        </p:blipFill>
        <p:spPr>
          <a:xfrm>
            <a:off x="9811392" y="4496013"/>
            <a:ext cx="1729580" cy="2108394"/>
          </a:xfrm>
          <a:prstGeom prst="rect">
            <a:avLst/>
          </a:prstGeom>
        </p:spPr>
      </p:pic>
      <p:pic>
        <p:nvPicPr>
          <p:cNvPr id="28" name="Graphic 27">
            <a:extLst>
              <a:ext uri="{FF2B5EF4-FFF2-40B4-BE49-F238E27FC236}">
                <a16:creationId xmlns:a16="http://schemas.microsoft.com/office/drawing/2014/main" id="{3EB84D23-501D-1B2E-2A36-B8A82D2283A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527280" y="5367295"/>
            <a:ext cx="1028501" cy="1045983"/>
          </a:xfrm>
          <a:prstGeom prst="rect">
            <a:avLst/>
          </a:prstGeom>
        </p:spPr>
      </p:pic>
      <p:pic>
        <p:nvPicPr>
          <p:cNvPr id="30" name="Graphic 29">
            <a:extLst>
              <a:ext uri="{FF2B5EF4-FFF2-40B4-BE49-F238E27FC236}">
                <a16:creationId xmlns:a16="http://schemas.microsoft.com/office/drawing/2014/main" id="{233ED55D-7732-DAE5-64A9-D7BE65CD70E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17343" y="5470843"/>
            <a:ext cx="1160960" cy="10260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0885" y="2578233"/>
            <a:ext cx="1240523" cy="1904499"/>
          </a:xfrm>
          <a:prstGeom prst="rect">
            <a:avLst/>
          </a:prstGeom>
          <a:solidFill>
            <a:srgbClr val="4152A0"/>
          </a:solidFill>
          <a:ln w="14198">
            <a:solidFill>
              <a:srgbClr val="65CB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Quad Arrow 2"/>
          <p:cNvSpPr/>
          <p:nvPr/>
        </p:nvSpPr>
        <p:spPr>
          <a:xfrm>
            <a:off x="2044410" y="3718704"/>
            <a:ext cx="2317290" cy="352283"/>
          </a:xfrm>
          <a:prstGeom prst="quadArrow">
            <a:avLst/>
          </a:prstGeom>
          <a:solidFill>
            <a:srgbClr val="AEBA96"/>
          </a:solidFill>
          <a:ln w="25086">
            <a:solidFill>
              <a:srgbClr val="2BCBA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rminator 3"/>
          <p:cNvSpPr/>
          <p:nvPr/>
        </p:nvSpPr>
        <p:spPr>
          <a:xfrm>
            <a:off x="4393555" y="323747"/>
            <a:ext cx="2557156" cy="926298"/>
          </a:xfrm>
          <a:prstGeom prst="flowChartTerminator">
            <a:avLst/>
          </a:prstGeom>
          <a:solidFill>
            <a:srgbClr val="8589E2"/>
          </a:solidFill>
          <a:ln w="27369">
            <a:solidFill>
              <a:srgbClr val="3C65B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2411141" y="869518"/>
          <a:ext cx="3168786" cy="1386317"/>
        </p:xfrm>
        <a:graphic>
          <a:graphicData uri="http://schemas.openxmlformats.org/drawingml/2006/chart">
            <c:chart xmlns:c="http://schemas.openxmlformats.org/drawingml/2006/chart" xmlns:r="http://schemas.openxmlformats.org/officeDocument/2006/relationships" r:id="rId2"/>
          </a:graphicData>
        </a:graphic>
      </p:graphicFrame>
      <p:sp>
        <p:nvSpPr>
          <p:cNvPr id="6" name="Not Equal 5"/>
          <p:cNvSpPr/>
          <p:nvPr/>
        </p:nvSpPr>
        <p:spPr>
          <a:xfrm>
            <a:off x="1207403" y="824608"/>
            <a:ext cx="1555389" cy="504655"/>
          </a:xfrm>
          <a:prstGeom prst="mathNotEqual">
            <a:avLst/>
          </a:prstGeom>
          <a:solidFill>
            <a:srgbClr val="C65EA1"/>
          </a:solidFill>
          <a:ln w="28431">
            <a:solidFill>
              <a:srgbClr val="A7607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1780" y="4853018"/>
            <a:ext cx="2002905" cy="1433545"/>
          </a:xfrm>
          <a:prstGeom prst="rect">
            <a:avLst/>
          </a:prstGeom>
          <a:noFill/>
        </p:spPr>
        <p:txBody>
          <a:bodyPr wrap="none" lIns="24783" tIns="24783" rIns="24783" bIns="24783">
            <a:spAutoFit/>
          </a:bodyPr>
          <a:lstStyle/>
          <a:p>
            <a:r>
              <a:rPr sz="1100" b="0" i="0" u="none">
                <a:solidFill>
                  <a:srgbClr val="7662D4"/>
                </a:solidFill>
                <a:latin typeface="Trebuchet MS"/>
              </a:rPr>
              <a:t>Build Version Focus Command Status Draft Handle Friction Bridge Estimate Segment Model Handle Balance Center Aspect Vertex Echo Relay Blueprint Matrix Token Response Design Limit State Rhythm Forecast Matrix Priority Hub Wave Indicator</a:t>
            </a:r>
          </a:p>
        </p:txBody>
      </p:sp>
      <p:sp>
        <p:nvSpPr>
          <p:cNvPr id="8" name="Block Arc 7"/>
          <p:cNvSpPr/>
          <p:nvPr/>
        </p:nvSpPr>
        <p:spPr>
          <a:xfrm>
            <a:off x="8713077" y="5251586"/>
            <a:ext cx="1222323" cy="813217"/>
          </a:xfrm>
          <a:prstGeom prst="blockArc">
            <a:avLst/>
          </a:prstGeom>
          <a:noFill/>
          <a:ln w="6979">
            <a:solidFill>
              <a:srgbClr val="9D213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Explosion 8"/>
          <p:cNvSpPr/>
          <p:nvPr/>
        </p:nvSpPr>
        <p:spPr>
          <a:xfrm>
            <a:off x="7146384" y="1126082"/>
            <a:ext cx="1365651" cy="289099"/>
          </a:xfrm>
          <a:prstGeom prst="irregularSeal1">
            <a:avLst/>
          </a:prstGeom>
          <a:noFill/>
          <a:ln w="16094">
            <a:solidFill>
              <a:srgbClr val="7E7BA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49527" y="2084536"/>
            <a:ext cx="516060" cy="2058630"/>
          </a:xfrm>
          <a:prstGeom prst="rect">
            <a:avLst/>
          </a:prstGeom>
          <a:noFill/>
        </p:spPr>
        <p:txBody>
          <a:bodyPr wrap="none" lIns="68130" tIns="68130" rIns="68130" bIns="68130">
            <a:spAutoFit/>
          </a:bodyPr>
          <a:lstStyle/>
          <a:p>
            <a:r>
              <a:rPr sz="1100" b="0" i="0" u="none">
                <a:solidFill>
                  <a:srgbClr val="697154"/>
                </a:solidFill>
                <a:latin typeface="Calibri"/>
              </a:rPr>
              <a:t>Pixel</a:t>
            </a:r>
          </a:p>
        </p:txBody>
      </p:sp>
      <p:graphicFrame>
        <p:nvGraphicFramePr>
          <p:cNvPr id="11" name="Chart 10"/>
          <p:cNvGraphicFramePr>
            <a:graphicFrameLocks noGrp="1"/>
          </p:cNvGraphicFramePr>
          <p:nvPr/>
        </p:nvGraphicFramePr>
        <p:xfrm>
          <a:off x="7340548" y="4531555"/>
          <a:ext cx="2192332" cy="1796011"/>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descr="_example_image.jpg"/>
          <p:cNvPicPr>
            <a:picLocks noChangeAspect="1"/>
          </p:cNvPicPr>
          <p:nvPr/>
        </p:nvPicPr>
        <p:blipFill>
          <a:blip r:embed="rId4"/>
          <a:srcRect l="19830" t="1529" r="11662" b="2379"/>
          <a:stretch>
            <a:fillRect/>
          </a:stretch>
        </p:blipFill>
        <p:spPr>
          <a:xfrm>
            <a:off x="427532" y="1382600"/>
            <a:ext cx="1848218" cy="896177"/>
          </a:xfrm>
          <a:prstGeom prst="rect">
            <a:avLst/>
          </a:prstGeom>
        </p:spPr>
      </p:pic>
      <p:sp>
        <p:nvSpPr>
          <p:cNvPr id="13" name="Cloud Callout 12"/>
          <p:cNvSpPr/>
          <p:nvPr/>
        </p:nvSpPr>
        <p:spPr>
          <a:xfrm>
            <a:off x="9739807" y="436283"/>
            <a:ext cx="995677" cy="925605"/>
          </a:xfrm>
          <a:prstGeom prst="cloudCallout">
            <a:avLst/>
          </a:prstGeom>
          <a:solidFill>
            <a:srgbClr val="2B4345"/>
          </a:solidFill>
          <a:ln w="6670">
            <a:solidFill>
              <a:srgbClr val="78CD43"/>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37779" y="4309100"/>
            <a:ext cx="3665648" cy="624446"/>
          </a:xfrm>
          <a:prstGeom prst="rect">
            <a:avLst/>
          </a:prstGeom>
          <a:noFill/>
        </p:spPr>
        <p:txBody>
          <a:bodyPr wrap="none" lIns="75127" tIns="75127" rIns="75127" bIns="75127">
            <a:spAutoFit/>
          </a:bodyPr>
          <a:lstStyle/>
          <a:p>
            <a:r>
              <a:rPr sz="1300" b="0" i="0" u="none">
                <a:solidFill>
                  <a:srgbClr val="B4D4A4"/>
                </a:solidFill>
                <a:latin typeface="Verdana"/>
              </a:rPr>
              <a:t>Command Entity</a:t>
            </a:r>
          </a:p>
        </p:txBody>
      </p:sp>
      <p:sp>
        <p:nvSpPr>
          <p:cNvPr id="15" name="Freeform 14"/>
          <p:cNvSpPr/>
          <p:nvPr/>
        </p:nvSpPr>
        <p:spPr>
          <a:xfrm>
            <a:off x="9022483" y="2004099"/>
            <a:ext cx="1928027" cy="494877"/>
          </a:xfrm>
          <a:custGeom>
            <a:avLst/>
            <a:gdLst/>
            <a:ahLst/>
            <a:cxnLst/>
            <a:rect l="l" t="t" r="r" b="b"/>
            <a:pathLst>
              <a:path w="1928027" h="494877">
                <a:moveTo>
                  <a:pt x="0" y="240565"/>
                </a:moveTo>
                <a:lnTo>
                  <a:pt x="331703" y="0"/>
                </a:lnTo>
                <a:lnTo>
                  <a:pt x="684139" y="206199"/>
                </a:lnTo>
                <a:lnTo>
                  <a:pt x="1036574" y="412398"/>
                </a:lnTo>
                <a:lnTo>
                  <a:pt x="1409740" y="171833"/>
                </a:lnTo>
                <a:lnTo>
                  <a:pt x="1928027" y="261185"/>
                </a:lnTo>
                <a:lnTo>
                  <a:pt x="1928027" y="494877"/>
                </a:lnTo>
                <a:lnTo>
                  <a:pt x="0" y="494877"/>
                </a:lnTo>
                <a:close/>
              </a:path>
            </a:pathLst>
          </a:custGeom>
          <a:solidFill>
            <a:srgbClr val="67E0E2"/>
          </a:solidFill>
          <a:ln w="15582">
            <a:solidFill>
              <a:srgbClr val="C3A1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9011941" y="2563571"/>
          <a:ext cx="2300700" cy="2379663"/>
        </p:xfrm>
        <a:graphic>
          <a:graphicData uri="http://schemas.openxmlformats.org/drawingml/2006/table">
            <a:tbl>
              <a:tblPr firstRow="1" bandRow="1">
                <a:tableStyleId>{5C22544A-7EE6-4342-B048-85BDC9FD1C3A}</a:tableStyleId>
              </a:tblPr>
              <a:tblGrid>
                <a:gridCol w="460140">
                  <a:extLst>
                    <a:ext uri="{9D8B030D-6E8A-4147-A177-3AD203B41FA5}">
                      <a16:colId xmlns:a16="http://schemas.microsoft.com/office/drawing/2014/main" val="20000"/>
                    </a:ext>
                  </a:extLst>
                </a:gridCol>
                <a:gridCol w="460140">
                  <a:extLst>
                    <a:ext uri="{9D8B030D-6E8A-4147-A177-3AD203B41FA5}">
                      <a16:colId xmlns:a16="http://schemas.microsoft.com/office/drawing/2014/main" val="20001"/>
                    </a:ext>
                  </a:extLst>
                </a:gridCol>
                <a:gridCol w="460140">
                  <a:extLst>
                    <a:ext uri="{9D8B030D-6E8A-4147-A177-3AD203B41FA5}">
                      <a16:colId xmlns:a16="http://schemas.microsoft.com/office/drawing/2014/main" val="20002"/>
                    </a:ext>
                  </a:extLst>
                </a:gridCol>
                <a:gridCol w="460140">
                  <a:extLst>
                    <a:ext uri="{9D8B030D-6E8A-4147-A177-3AD203B41FA5}">
                      <a16:colId xmlns:a16="http://schemas.microsoft.com/office/drawing/2014/main" val="20003"/>
                    </a:ext>
                  </a:extLst>
                </a:gridCol>
                <a:gridCol w="460140">
                  <a:extLst>
                    <a:ext uri="{9D8B030D-6E8A-4147-A177-3AD203B41FA5}">
                      <a16:colId xmlns:a16="http://schemas.microsoft.com/office/drawing/2014/main" val="20004"/>
                    </a:ext>
                  </a:extLst>
                </a:gridCol>
              </a:tblGrid>
              <a:tr h="1189831">
                <a:tc>
                  <a:txBody>
                    <a:bodyPr/>
                    <a:lstStyle/>
                    <a:p>
                      <a:r>
                        <a:rPr sz="1000" b="1">
                          <a:solidFill>
                            <a:srgbClr val="36895B"/>
                          </a:solidFill>
                        </a:rPr>
                        <a:t>Edge Build</a:t>
                      </a:r>
                    </a:p>
                  </a:txBody>
                  <a:tcPr>
                    <a:solidFill>
                      <a:srgbClr val="1FE4AB"/>
                    </a:solidFill>
                  </a:tcPr>
                </a:tc>
                <a:tc>
                  <a:txBody>
                    <a:bodyPr/>
                    <a:lstStyle/>
                    <a:p>
                      <a:r>
                        <a:rPr sz="1000" b="1">
                          <a:solidFill>
                            <a:srgbClr val="36895B"/>
                          </a:solidFill>
                        </a:rPr>
                        <a:t>Target Template</a:t>
                      </a:r>
                    </a:p>
                  </a:txBody>
                  <a:tcPr>
                    <a:solidFill>
                      <a:srgbClr val="1FE4AB"/>
                    </a:solidFill>
                  </a:tcPr>
                </a:tc>
                <a:tc>
                  <a:txBody>
                    <a:bodyPr/>
                    <a:lstStyle/>
                    <a:p>
                      <a:r>
                        <a:rPr sz="1000" b="1">
                          <a:solidFill>
                            <a:srgbClr val="36895B"/>
                          </a:solidFill>
                        </a:rPr>
                        <a:t>Epoch</a:t>
                      </a:r>
                    </a:p>
                  </a:txBody>
                  <a:tcPr>
                    <a:solidFill>
                      <a:srgbClr val="1FE4AB"/>
                    </a:solidFill>
                  </a:tcPr>
                </a:tc>
                <a:tc>
                  <a:txBody>
                    <a:bodyPr/>
                    <a:lstStyle/>
                    <a:p>
                      <a:r>
                        <a:rPr sz="1000" b="1">
                          <a:solidFill>
                            <a:srgbClr val="36895B"/>
                          </a:solidFill>
                        </a:rPr>
                        <a:t>Reserve</a:t>
                      </a:r>
                    </a:p>
                  </a:txBody>
                  <a:tcPr>
                    <a:solidFill>
                      <a:srgbClr val="1FE4AB"/>
                    </a:solidFill>
                  </a:tcPr>
                </a:tc>
                <a:tc>
                  <a:txBody>
                    <a:bodyPr/>
                    <a:lstStyle/>
                    <a:p>
                      <a:r>
                        <a:rPr sz="1000" b="1">
                          <a:solidFill>
                            <a:srgbClr val="36895B"/>
                          </a:solidFill>
                        </a:rPr>
                        <a:t>Stream</a:t>
                      </a:r>
                    </a:p>
                  </a:txBody>
                  <a:tcPr>
                    <a:solidFill>
                      <a:srgbClr val="1FE4AB"/>
                    </a:solidFill>
                  </a:tcPr>
                </a:tc>
                <a:extLst>
                  <a:ext uri="{0D108BD9-81ED-4DB2-BD59-A6C34878D82A}">
                    <a16:rowId xmlns:a16="http://schemas.microsoft.com/office/drawing/2014/main" val="10000"/>
                  </a:ext>
                </a:extLst>
              </a:tr>
              <a:tr h="1189832">
                <a:tc>
                  <a:txBody>
                    <a:bodyPr/>
                    <a:lstStyle/>
                    <a:p>
                      <a:r>
                        <a:rPr sz="1000" b="0">
                          <a:solidFill>
                            <a:srgbClr val="36895B"/>
                          </a:solidFill>
                        </a:rPr>
                        <a:t>Lens Canvas</a:t>
                      </a:r>
                    </a:p>
                  </a:txBody>
                  <a:tcPr>
                    <a:solidFill>
                      <a:srgbClr val="B7ECAD"/>
                    </a:solidFill>
                  </a:tcPr>
                </a:tc>
                <a:tc>
                  <a:txBody>
                    <a:bodyPr/>
                    <a:lstStyle/>
                    <a:p>
                      <a:r>
                        <a:rPr sz="1000" b="0">
                          <a:solidFill>
                            <a:srgbClr val="36895B"/>
                          </a:solidFill>
                        </a:rPr>
                        <a:t>Position</a:t>
                      </a:r>
                    </a:p>
                  </a:txBody>
                  <a:tcPr>
                    <a:solidFill>
                      <a:srgbClr val="B7ECAD"/>
                    </a:solidFill>
                  </a:tcPr>
                </a:tc>
                <a:tc>
                  <a:txBody>
                    <a:bodyPr/>
                    <a:lstStyle/>
                    <a:p>
                      <a:r>
                        <a:rPr sz="1000" b="0">
                          <a:solidFill>
                            <a:srgbClr val="36895B"/>
                          </a:solidFill>
                        </a:rPr>
                        <a:t>Explorer</a:t>
                      </a:r>
                    </a:p>
                  </a:txBody>
                  <a:tcPr>
                    <a:solidFill>
                      <a:srgbClr val="B7ECAD"/>
                    </a:solidFill>
                  </a:tcPr>
                </a:tc>
                <a:tc>
                  <a:txBody>
                    <a:bodyPr/>
                    <a:lstStyle/>
                    <a:p>
                      <a:r>
                        <a:rPr sz="1000" b="0">
                          <a:solidFill>
                            <a:srgbClr val="36895B"/>
                          </a:solidFill>
                        </a:rPr>
                        <a:t>Relay Estimate</a:t>
                      </a:r>
                    </a:p>
                  </a:txBody>
                  <a:tcPr>
                    <a:solidFill>
                      <a:srgbClr val="B7ECAD"/>
                    </a:solidFill>
                  </a:tcPr>
                </a:tc>
                <a:tc>
                  <a:txBody>
                    <a:bodyPr/>
                    <a:lstStyle/>
                    <a:p>
                      <a:r>
                        <a:rPr sz="1000" b="0">
                          <a:solidFill>
                            <a:srgbClr val="36895B"/>
                          </a:solidFill>
                        </a:rPr>
                        <a:t>Keyline</a:t>
                      </a:r>
                    </a:p>
                  </a:txBody>
                  <a:tcPr>
                    <a:solidFill>
                      <a:srgbClr val="B7ECAD"/>
                    </a:solidFill>
                  </a:tcPr>
                </a:tc>
                <a:extLst>
                  <a:ext uri="{0D108BD9-81ED-4DB2-BD59-A6C34878D82A}">
                    <a16:rowId xmlns:a16="http://schemas.microsoft.com/office/drawing/2014/main" val="10001"/>
                  </a:ext>
                </a:extLst>
              </a:tr>
            </a:tbl>
          </a:graphicData>
        </a:graphic>
      </p:graphicFrame>
      <p:cxnSp>
        <p:nvCxnSpPr>
          <p:cNvPr id="17" name="Connector 16"/>
          <p:cNvCxnSpPr/>
          <p:nvPr/>
        </p:nvCxnSpPr>
        <p:spPr>
          <a:xfrm>
            <a:off x="6567400" y="3431772"/>
            <a:ext cx="973441" cy="445083"/>
          </a:xfrm>
          <a:prstGeom prst="bentConnector3">
            <a:avLst/>
          </a:prstGeom>
          <a:ln w="45170">
            <a:solidFill>
              <a:srgbClr val="275956"/>
            </a:solidFill>
            <a:prstDash val="dashDot"/>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722208" y="1329949"/>
            <a:ext cx="2678503" cy="465695"/>
          </a:xfrm>
          <a:prstGeom prst="curvedConnector3">
            <a:avLst/>
          </a:prstGeom>
          <a:ln w="9556">
            <a:solidFill>
              <a:srgbClr val="74A119"/>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19" name="Table 18"/>
          <p:cNvGraphicFramePr>
            <a:graphicFrameLocks noGrp="1"/>
          </p:cNvGraphicFramePr>
          <p:nvPr/>
        </p:nvGraphicFramePr>
        <p:xfrm>
          <a:off x="4919251" y="5336978"/>
          <a:ext cx="2325895" cy="968846"/>
        </p:xfrm>
        <a:graphic>
          <a:graphicData uri="http://schemas.openxmlformats.org/drawingml/2006/table">
            <a:tbl>
              <a:tblPr firstRow="1" bandRow="1">
                <a:tableStyleId>{5C22544A-7EE6-4342-B048-85BDC9FD1C3A}</a:tableStyleId>
              </a:tblPr>
              <a:tblGrid>
                <a:gridCol w="387649">
                  <a:extLst>
                    <a:ext uri="{9D8B030D-6E8A-4147-A177-3AD203B41FA5}">
                      <a16:colId xmlns:a16="http://schemas.microsoft.com/office/drawing/2014/main" val="20000"/>
                    </a:ext>
                  </a:extLst>
                </a:gridCol>
                <a:gridCol w="387649">
                  <a:extLst>
                    <a:ext uri="{9D8B030D-6E8A-4147-A177-3AD203B41FA5}">
                      <a16:colId xmlns:a16="http://schemas.microsoft.com/office/drawing/2014/main" val="20001"/>
                    </a:ext>
                  </a:extLst>
                </a:gridCol>
                <a:gridCol w="387649">
                  <a:extLst>
                    <a:ext uri="{9D8B030D-6E8A-4147-A177-3AD203B41FA5}">
                      <a16:colId xmlns:a16="http://schemas.microsoft.com/office/drawing/2014/main" val="20002"/>
                    </a:ext>
                  </a:extLst>
                </a:gridCol>
                <a:gridCol w="387649">
                  <a:extLst>
                    <a:ext uri="{9D8B030D-6E8A-4147-A177-3AD203B41FA5}">
                      <a16:colId xmlns:a16="http://schemas.microsoft.com/office/drawing/2014/main" val="20003"/>
                    </a:ext>
                  </a:extLst>
                </a:gridCol>
                <a:gridCol w="387649">
                  <a:extLst>
                    <a:ext uri="{9D8B030D-6E8A-4147-A177-3AD203B41FA5}">
                      <a16:colId xmlns:a16="http://schemas.microsoft.com/office/drawing/2014/main" val="20004"/>
                    </a:ext>
                  </a:extLst>
                </a:gridCol>
                <a:gridCol w="387650">
                  <a:extLst>
                    <a:ext uri="{9D8B030D-6E8A-4147-A177-3AD203B41FA5}">
                      <a16:colId xmlns:a16="http://schemas.microsoft.com/office/drawing/2014/main" val="20005"/>
                    </a:ext>
                  </a:extLst>
                </a:gridCol>
              </a:tblGrid>
              <a:tr h="161474">
                <a:tc>
                  <a:txBody>
                    <a:bodyPr/>
                    <a:lstStyle/>
                    <a:p>
                      <a:r>
                        <a:rPr sz="600" b="1">
                          <a:solidFill>
                            <a:srgbClr val="7A7EE2"/>
                          </a:solidFill>
                        </a:rPr>
                        <a:t>Story Handle</a:t>
                      </a:r>
                    </a:p>
                  </a:txBody>
                  <a:tcPr>
                    <a:solidFill>
                      <a:srgbClr val="C029C9"/>
                    </a:solidFill>
                  </a:tcPr>
                </a:tc>
                <a:tc>
                  <a:txBody>
                    <a:bodyPr/>
                    <a:lstStyle/>
                    <a:p>
                      <a:r>
                        <a:rPr sz="600" b="1">
                          <a:solidFill>
                            <a:srgbClr val="7A7EE2"/>
                          </a:solidFill>
                        </a:rPr>
                        <a:t>Route</a:t>
                      </a:r>
                    </a:p>
                  </a:txBody>
                  <a:tcPr>
                    <a:solidFill>
                      <a:srgbClr val="C029C9"/>
                    </a:solidFill>
                  </a:tcPr>
                </a:tc>
                <a:tc>
                  <a:txBody>
                    <a:bodyPr/>
                    <a:lstStyle/>
                    <a:p>
                      <a:r>
                        <a:rPr sz="600" b="1">
                          <a:solidFill>
                            <a:srgbClr val="7A7EE2"/>
                          </a:solidFill>
                        </a:rPr>
                        <a:t>Clarity</a:t>
                      </a:r>
                    </a:p>
                  </a:txBody>
                  <a:tcPr>
                    <a:solidFill>
                      <a:srgbClr val="C029C9"/>
                    </a:solidFill>
                  </a:tcPr>
                </a:tc>
                <a:tc>
                  <a:txBody>
                    <a:bodyPr/>
                    <a:lstStyle/>
                    <a:p>
                      <a:r>
                        <a:rPr sz="600" b="1">
                          <a:solidFill>
                            <a:srgbClr val="7A7EE2"/>
                          </a:solidFill>
                        </a:rPr>
                        <a:t>Adaptive</a:t>
                      </a:r>
                    </a:p>
                  </a:txBody>
                  <a:tcPr>
                    <a:solidFill>
                      <a:srgbClr val="C029C9"/>
                    </a:solidFill>
                  </a:tcPr>
                </a:tc>
                <a:tc>
                  <a:txBody>
                    <a:bodyPr/>
                    <a:lstStyle/>
                    <a:p>
                      <a:r>
                        <a:rPr sz="600" b="1">
                          <a:solidFill>
                            <a:srgbClr val="7A7EE2"/>
                          </a:solidFill>
                        </a:rPr>
                        <a:t>Pixel Sync</a:t>
                      </a:r>
                    </a:p>
                  </a:txBody>
                  <a:tcPr>
                    <a:solidFill>
                      <a:srgbClr val="C029C9"/>
                    </a:solidFill>
                  </a:tcPr>
                </a:tc>
                <a:tc>
                  <a:txBody>
                    <a:bodyPr/>
                    <a:lstStyle/>
                    <a:p>
                      <a:r>
                        <a:rPr sz="600" b="1">
                          <a:solidFill>
                            <a:srgbClr val="7A7EE2"/>
                          </a:solidFill>
                        </a:rPr>
                        <a:t>Bridge Deployment</a:t>
                      </a:r>
                    </a:p>
                  </a:txBody>
                  <a:tcPr>
                    <a:solidFill>
                      <a:srgbClr val="C029C9"/>
                    </a:solidFill>
                  </a:tcPr>
                </a:tc>
                <a:extLst>
                  <a:ext uri="{0D108BD9-81ED-4DB2-BD59-A6C34878D82A}">
                    <a16:rowId xmlns:a16="http://schemas.microsoft.com/office/drawing/2014/main" val="10000"/>
                  </a:ext>
                </a:extLst>
              </a:tr>
              <a:tr h="161474">
                <a:tc>
                  <a:txBody>
                    <a:bodyPr/>
                    <a:lstStyle/>
                    <a:p>
                      <a:r>
                        <a:rPr sz="600" b="0">
                          <a:solidFill>
                            <a:srgbClr val="7A7EE2"/>
                          </a:solidFill>
                        </a:rPr>
                        <a:t>Matrix</a:t>
                      </a:r>
                    </a:p>
                  </a:txBody>
                  <a:tcPr>
                    <a:solidFill>
                      <a:srgbClr val="EFF0A2"/>
                    </a:solidFill>
                  </a:tcPr>
                </a:tc>
                <a:tc>
                  <a:txBody>
                    <a:bodyPr/>
                    <a:lstStyle/>
                    <a:p>
                      <a:r>
                        <a:rPr sz="600" b="0">
                          <a:solidFill>
                            <a:srgbClr val="7A7EE2"/>
                          </a:solidFill>
                        </a:rPr>
                        <a:t>System</a:t>
                      </a:r>
                    </a:p>
                  </a:txBody>
                  <a:tcPr>
                    <a:solidFill>
                      <a:srgbClr val="EFF0A2"/>
                    </a:solidFill>
                  </a:tcPr>
                </a:tc>
                <a:tc>
                  <a:txBody>
                    <a:bodyPr/>
                    <a:lstStyle/>
                    <a:p>
                      <a:r>
                        <a:rPr sz="600" b="0">
                          <a:solidFill>
                            <a:srgbClr val="7A7EE2"/>
                          </a:solidFill>
                        </a:rPr>
                        <a:t>Instance</a:t>
                      </a:r>
                    </a:p>
                  </a:txBody>
                  <a:tcPr>
                    <a:solidFill>
                      <a:srgbClr val="EFF0A2"/>
                    </a:solidFill>
                  </a:tcPr>
                </a:tc>
                <a:tc>
                  <a:txBody>
                    <a:bodyPr/>
                    <a:lstStyle/>
                    <a:p>
                      <a:r>
                        <a:rPr sz="600" b="0">
                          <a:solidFill>
                            <a:srgbClr val="7A7EE2"/>
                          </a:solidFill>
                        </a:rPr>
                        <a:t>Flow Circuit</a:t>
                      </a:r>
                    </a:p>
                  </a:txBody>
                  <a:tcPr>
                    <a:solidFill>
                      <a:srgbClr val="EFF0A2"/>
                    </a:solidFill>
                  </a:tcPr>
                </a:tc>
                <a:tc>
                  <a:txBody>
                    <a:bodyPr/>
                    <a:lstStyle/>
                    <a:p>
                      <a:r>
                        <a:rPr sz="600" b="0">
                          <a:solidFill>
                            <a:srgbClr val="7A7EE2"/>
                          </a:solidFill>
                        </a:rPr>
                        <a:t>Compass Release</a:t>
                      </a:r>
                    </a:p>
                  </a:txBody>
                  <a:tcPr>
                    <a:solidFill>
                      <a:srgbClr val="EFF0A2"/>
                    </a:solidFill>
                  </a:tcPr>
                </a:tc>
                <a:tc>
                  <a:txBody>
                    <a:bodyPr/>
                    <a:lstStyle/>
                    <a:p>
                      <a:r>
                        <a:rPr sz="600" b="0">
                          <a:solidFill>
                            <a:srgbClr val="7A7EE2"/>
                          </a:solidFill>
                        </a:rPr>
                        <a:t>Harbor</a:t>
                      </a:r>
                    </a:p>
                  </a:txBody>
                  <a:tcPr>
                    <a:solidFill>
                      <a:srgbClr val="EFF0A2"/>
                    </a:solidFill>
                  </a:tcPr>
                </a:tc>
                <a:extLst>
                  <a:ext uri="{0D108BD9-81ED-4DB2-BD59-A6C34878D82A}">
                    <a16:rowId xmlns:a16="http://schemas.microsoft.com/office/drawing/2014/main" val="10001"/>
                  </a:ext>
                </a:extLst>
              </a:tr>
              <a:tr h="161474">
                <a:tc>
                  <a:txBody>
                    <a:bodyPr/>
                    <a:lstStyle/>
                    <a:p>
                      <a:r>
                        <a:rPr sz="600" b="0">
                          <a:solidFill>
                            <a:srgbClr val="7A7EE2"/>
                          </a:solidFill>
                        </a:rPr>
                        <a:t>Harbor Explorer</a:t>
                      </a:r>
                    </a:p>
                  </a:txBody>
                  <a:tcPr>
                    <a:solidFill>
                      <a:srgbClr val="F9FAE0"/>
                    </a:solidFill>
                  </a:tcPr>
                </a:tc>
                <a:tc>
                  <a:txBody>
                    <a:bodyPr/>
                    <a:lstStyle/>
                    <a:p>
                      <a:r>
                        <a:rPr sz="600" b="0">
                          <a:solidFill>
                            <a:srgbClr val="7A7EE2"/>
                          </a:solidFill>
                        </a:rPr>
                        <a:t>Runtime</a:t>
                      </a:r>
                    </a:p>
                  </a:txBody>
                  <a:tcPr>
                    <a:solidFill>
                      <a:srgbClr val="F9FAE0"/>
                    </a:solidFill>
                  </a:tcPr>
                </a:tc>
                <a:tc>
                  <a:txBody>
                    <a:bodyPr/>
                    <a:lstStyle/>
                    <a:p>
                      <a:r>
                        <a:rPr sz="600" b="0">
                          <a:solidFill>
                            <a:srgbClr val="7A7EE2"/>
                          </a:solidFill>
                        </a:rPr>
                        <a:t>Target</a:t>
                      </a:r>
                    </a:p>
                  </a:txBody>
                  <a:tcPr>
                    <a:solidFill>
                      <a:srgbClr val="F9FAE0"/>
                    </a:solidFill>
                  </a:tcPr>
                </a:tc>
                <a:tc>
                  <a:txBody>
                    <a:bodyPr/>
                    <a:lstStyle/>
                    <a:p>
                      <a:r>
                        <a:rPr sz="600" b="0">
                          <a:solidFill>
                            <a:srgbClr val="7A7EE2"/>
                          </a:solidFill>
                        </a:rPr>
                        <a:t>Audit</a:t>
                      </a:r>
                    </a:p>
                  </a:txBody>
                  <a:tcPr>
                    <a:solidFill>
                      <a:srgbClr val="F9FAE0"/>
                    </a:solidFill>
                  </a:tcPr>
                </a:tc>
                <a:tc>
                  <a:txBody>
                    <a:bodyPr/>
                    <a:lstStyle/>
                    <a:p>
                      <a:r>
                        <a:rPr sz="600" b="0">
                          <a:solidFill>
                            <a:srgbClr val="7A7EE2"/>
                          </a:solidFill>
                        </a:rPr>
                        <a:t>Draft Depth</a:t>
                      </a:r>
                    </a:p>
                  </a:txBody>
                  <a:tcPr>
                    <a:solidFill>
                      <a:srgbClr val="F9FAE0"/>
                    </a:solidFill>
                  </a:tcPr>
                </a:tc>
                <a:tc>
                  <a:txBody>
                    <a:bodyPr/>
                    <a:lstStyle/>
                    <a:p>
                      <a:r>
                        <a:rPr sz="600" b="0">
                          <a:solidFill>
                            <a:srgbClr val="7A7EE2"/>
                          </a:solidFill>
                        </a:rPr>
                        <a:t>Gateway Link</a:t>
                      </a:r>
                    </a:p>
                  </a:txBody>
                  <a:tcPr>
                    <a:solidFill>
                      <a:srgbClr val="F9FAE0"/>
                    </a:solidFill>
                  </a:tcPr>
                </a:tc>
                <a:extLst>
                  <a:ext uri="{0D108BD9-81ED-4DB2-BD59-A6C34878D82A}">
                    <a16:rowId xmlns:a16="http://schemas.microsoft.com/office/drawing/2014/main" val="10002"/>
                  </a:ext>
                </a:extLst>
              </a:tr>
              <a:tr h="161474">
                <a:tc>
                  <a:txBody>
                    <a:bodyPr/>
                    <a:lstStyle/>
                    <a:p>
                      <a:r>
                        <a:rPr sz="600" b="0">
                          <a:solidFill>
                            <a:srgbClr val="7A7EE2"/>
                          </a:solidFill>
                        </a:rPr>
                        <a:t>Range Sample</a:t>
                      </a:r>
                    </a:p>
                  </a:txBody>
                  <a:tcPr>
                    <a:solidFill>
                      <a:srgbClr val="EFF0A2"/>
                    </a:solidFill>
                  </a:tcPr>
                </a:tc>
                <a:tc>
                  <a:txBody>
                    <a:bodyPr/>
                    <a:lstStyle/>
                    <a:p>
                      <a:r>
                        <a:rPr sz="600" b="0">
                          <a:solidFill>
                            <a:srgbClr val="7A7EE2"/>
                          </a:solidFill>
                        </a:rPr>
                        <a:t>Control Status</a:t>
                      </a:r>
                    </a:p>
                  </a:txBody>
                  <a:tcPr>
                    <a:solidFill>
                      <a:srgbClr val="EFF0A2"/>
                    </a:solidFill>
                  </a:tcPr>
                </a:tc>
                <a:tc>
                  <a:txBody>
                    <a:bodyPr/>
                    <a:lstStyle/>
                    <a:p>
                      <a:r>
                        <a:rPr sz="600" b="0">
                          <a:solidFill>
                            <a:srgbClr val="7A7EE2"/>
                          </a:solidFill>
                        </a:rPr>
                        <a:t>Link</a:t>
                      </a:r>
                    </a:p>
                  </a:txBody>
                  <a:tcPr>
                    <a:solidFill>
                      <a:srgbClr val="EFF0A2"/>
                    </a:solidFill>
                  </a:tcPr>
                </a:tc>
                <a:tc>
                  <a:txBody>
                    <a:bodyPr/>
                    <a:lstStyle/>
                    <a:p>
                      <a:r>
                        <a:rPr sz="600" b="0">
                          <a:solidFill>
                            <a:srgbClr val="7A7EE2"/>
                          </a:solidFill>
                        </a:rPr>
                        <a:t>Direction</a:t>
                      </a:r>
                    </a:p>
                  </a:txBody>
                  <a:tcPr>
                    <a:solidFill>
                      <a:srgbClr val="EFF0A2"/>
                    </a:solidFill>
                  </a:tcPr>
                </a:tc>
                <a:tc>
                  <a:txBody>
                    <a:bodyPr/>
                    <a:lstStyle/>
                    <a:p>
                      <a:r>
                        <a:rPr sz="600" b="0">
                          <a:solidFill>
                            <a:srgbClr val="7A7EE2"/>
                          </a:solidFill>
                        </a:rPr>
                        <a:t>Field</a:t>
                      </a:r>
                    </a:p>
                  </a:txBody>
                  <a:tcPr>
                    <a:solidFill>
                      <a:srgbClr val="EFF0A2"/>
                    </a:solidFill>
                  </a:tcPr>
                </a:tc>
                <a:tc>
                  <a:txBody>
                    <a:bodyPr/>
                    <a:lstStyle/>
                    <a:p>
                      <a:r>
                        <a:rPr sz="600" b="0">
                          <a:solidFill>
                            <a:srgbClr val="7A7EE2"/>
                          </a:solidFill>
                        </a:rPr>
                        <a:t>Factor Archive</a:t>
                      </a:r>
                    </a:p>
                  </a:txBody>
                  <a:tcPr>
                    <a:solidFill>
                      <a:srgbClr val="EFF0A2"/>
                    </a:solidFill>
                  </a:tcPr>
                </a:tc>
                <a:extLst>
                  <a:ext uri="{0D108BD9-81ED-4DB2-BD59-A6C34878D82A}">
                    <a16:rowId xmlns:a16="http://schemas.microsoft.com/office/drawing/2014/main" val="10003"/>
                  </a:ext>
                </a:extLst>
              </a:tr>
              <a:tr h="161474">
                <a:tc>
                  <a:txBody>
                    <a:bodyPr/>
                    <a:lstStyle/>
                    <a:p>
                      <a:r>
                        <a:rPr sz="600" b="0">
                          <a:solidFill>
                            <a:srgbClr val="7A7EE2"/>
                          </a:solidFill>
                        </a:rPr>
                        <a:t>System</a:t>
                      </a:r>
                    </a:p>
                  </a:txBody>
                  <a:tcPr>
                    <a:solidFill>
                      <a:srgbClr val="F9FAE0"/>
                    </a:solidFill>
                  </a:tcPr>
                </a:tc>
                <a:tc>
                  <a:txBody>
                    <a:bodyPr/>
                    <a:lstStyle/>
                    <a:p>
                      <a:r>
                        <a:rPr sz="600" b="0">
                          <a:solidFill>
                            <a:srgbClr val="7A7EE2"/>
                          </a:solidFill>
                        </a:rPr>
                        <a:t>Pattern Scale</a:t>
                      </a:r>
                    </a:p>
                  </a:txBody>
                  <a:tcPr>
                    <a:solidFill>
                      <a:srgbClr val="F9FAE0"/>
                    </a:solidFill>
                  </a:tcPr>
                </a:tc>
                <a:tc>
                  <a:txBody>
                    <a:bodyPr/>
                    <a:lstStyle/>
                    <a:p>
                      <a:r>
                        <a:rPr sz="600" b="0">
                          <a:solidFill>
                            <a:srgbClr val="7A7EE2"/>
                          </a:solidFill>
                        </a:rPr>
                        <a:t>Briefing</a:t>
                      </a:r>
                    </a:p>
                  </a:txBody>
                  <a:tcPr>
                    <a:solidFill>
                      <a:srgbClr val="F9FAE0"/>
                    </a:solidFill>
                  </a:tcPr>
                </a:tc>
                <a:tc>
                  <a:txBody>
                    <a:bodyPr/>
                    <a:lstStyle/>
                    <a:p>
                      <a:r>
                        <a:rPr sz="600" b="0">
                          <a:solidFill>
                            <a:srgbClr val="7A7EE2"/>
                          </a:solidFill>
                        </a:rPr>
                        <a:t>Library Dimension</a:t>
                      </a:r>
                    </a:p>
                  </a:txBody>
                  <a:tcPr>
                    <a:solidFill>
                      <a:srgbClr val="F9FAE0"/>
                    </a:solidFill>
                  </a:tcPr>
                </a:tc>
                <a:tc>
                  <a:txBody>
                    <a:bodyPr/>
                    <a:lstStyle/>
                    <a:p>
                      <a:r>
                        <a:rPr sz="600" b="0">
                          <a:solidFill>
                            <a:srgbClr val="7A7EE2"/>
                          </a:solidFill>
                        </a:rPr>
                        <a:t>State Output</a:t>
                      </a:r>
                    </a:p>
                  </a:txBody>
                  <a:tcPr>
                    <a:solidFill>
                      <a:srgbClr val="F9FAE0"/>
                    </a:solidFill>
                  </a:tcPr>
                </a:tc>
                <a:tc>
                  <a:txBody>
                    <a:bodyPr/>
                    <a:lstStyle/>
                    <a:p>
                      <a:r>
                        <a:rPr sz="600" b="0">
                          <a:solidFill>
                            <a:srgbClr val="7A7EE2"/>
                          </a:solidFill>
                        </a:rPr>
                        <a:t>Keyline</a:t>
                      </a:r>
                    </a:p>
                  </a:txBody>
                  <a:tcPr>
                    <a:solidFill>
                      <a:srgbClr val="F9FAE0"/>
                    </a:solidFill>
                  </a:tcPr>
                </a:tc>
                <a:extLst>
                  <a:ext uri="{0D108BD9-81ED-4DB2-BD59-A6C34878D82A}">
                    <a16:rowId xmlns:a16="http://schemas.microsoft.com/office/drawing/2014/main" val="10004"/>
                  </a:ext>
                </a:extLst>
              </a:tr>
              <a:tr h="161476">
                <a:tc>
                  <a:txBody>
                    <a:bodyPr/>
                    <a:lstStyle/>
                    <a:p>
                      <a:r>
                        <a:rPr sz="600" b="0">
                          <a:solidFill>
                            <a:srgbClr val="7A7EE2"/>
                          </a:solidFill>
                        </a:rPr>
                        <a:t>Ratio</a:t>
                      </a:r>
                    </a:p>
                  </a:txBody>
                  <a:tcPr>
                    <a:solidFill>
                      <a:srgbClr val="EFF0A2"/>
                    </a:solidFill>
                  </a:tcPr>
                </a:tc>
                <a:tc>
                  <a:txBody>
                    <a:bodyPr/>
                    <a:lstStyle/>
                    <a:p>
                      <a:r>
                        <a:rPr sz="600" b="0">
                          <a:solidFill>
                            <a:srgbClr val="7A7EE2"/>
                          </a:solidFill>
                        </a:rPr>
                        <a:t>Function</a:t>
                      </a:r>
                    </a:p>
                  </a:txBody>
                  <a:tcPr>
                    <a:solidFill>
                      <a:srgbClr val="EFF0A2"/>
                    </a:solidFill>
                  </a:tcPr>
                </a:tc>
                <a:tc>
                  <a:txBody>
                    <a:bodyPr/>
                    <a:lstStyle/>
                    <a:p>
                      <a:r>
                        <a:rPr sz="600" b="0">
                          <a:solidFill>
                            <a:srgbClr val="7A7EE2"/>
                          </a:solidFill>
                        </a:rPr>
                        <a:t>Baseline</a:t>
                      </a:r>
                    </a:p>
                  </a:txBody>
                  <a:tcPr>
                    <a:solidFill>
                      <a:srgbClr val="EFF0A2"/>
                    </a:solidFill>
                  </a:tcPr>
                </a:tc>
                <a:tc>
                  <a:txBody>
                    <a:bodyPr/>
                    <a:lstStyle/>
                    <a:p>
                      <a:r>
                        <a:rPr sz="600" b="0">
                          <a:solidFill>
                            <a:srgbClr val="7A7EE2"/>
                          </a:solidFill>
                        </a:rPr>
                        <a:t>Terminal</a:t>
                      </a:r>
                    </a:p>
                  </a:txBody>
                  <a:tcPr>
                    <a:solidFill>
                      <a:srgbClr val="EFF0A2"/>
                    </a:solidFill>
                  </a:tcPr>
                </a:tc>
                <a:tc>
                  <a:txBody>
                    <a:bodyPr/>
                    <a:lstStyle/>
                    <a:p>
                      <a:r>
                        <a:rPr sz="600" b="0">
                          <a:solidFill>
                            <a:srgbClr val="7A7EE2"/>
                          </a:solidFill>
                        </a:rPr>
                        <a:t>Core</a:t>
                      </a:r>
                    </a:p>
                  </a:txBody>
                  <a:tcPr>
                    <a:solidFill>
                      <a:srgbClr val="EFF0A2"/>
                    </a:solidFill>
                  </a:tcPr>
                </a:tc>
                <a:tc>
                  <a:txBody>
                    <a:bodyPr/>
                    <a:lstStyle/>
                    <a:p>
                      <a:r>
                        <a:rPr sz="600" b="0">
                          <a:solidFill>
                            <a:srgbClr val="7A7EE2"/>
                          </a:solidFill>
                        </a:rPr>
                        <a:t>Atlas Stage</a:t>
                      </a:r>
                    </a:p>
                  </a:txBody>
                  <a:tcPr>
                    <a:solidFill>
                      <a:srgbClr val="EFF0A2"/>
                    </a:solidFill>
                  </a:tcPr>
                </a:tc>
                <a:extLst>
                  <a:ext uri="{0D108BD9-81ED-4DB2-BD59-A6C34878D82A}">
                    <a16:rowId xmlns:a16="http://schemas.microsoft.com/office/drawing/2014/main" val="10005"/>
                  </a:ext>
                </a:extLst>
              </a:tr>
            </a:tbl>
          </a:graphicData>
        </a:graphic>
      </p:graphicFrame>
      <p:pic>
        <p:nvPicPr>
          <p:cNvPr id="20" name="Picture 19" descr="_example_image.jpg"/>
          <p:cNvPicPr>
            <a:picLocks noChangeAspect="1"/>
          </p:cNvPicPr>
          <p:nvPr/>
        </p:nvPicPr>
        <p:blipFill>
          <a:blip r:embed="rId4"/>
          <a:srcRect l="3603" t="6561" r="3005" b="686"/>
          <a:stretch>
            <a:fillRect/>
          </a:stretch>
        </p:blipFill>
        <p:spPr>
          <a:xfrm>
            <a:off x="2530512" y="1801506"/>
            <a:ext cx="1286867" cy="1370684"/>
          </a:xfrm>
          <a:prstGeom prst="rect">
            <a:avLst/>
          </a:prstGeom>
        </p:spPr>
      </p:pic>
      <p:sp>
        <p:nvSpPr>
          <p:cNvPr id="21" name="Freeform 20"/>
          <p:cNvSpPr/>
          <p:nvPr/>
        </p:nvSpPr>
        <p:spPr>
          <a:xfrm>
            <a:off x="1839798" y="4227619"/>
            <a:ext cx="1426225" cy="539197"/>
          </a:xfrm>
          <a:custGeom>
            <a:avLst/>
            <a:gdLst/>
            <a:ahLst/>
            <a:cxnLst/>
            <a:rect l="l" t="t" r="r" b="b"/>
            <a:pathLst>
              <a:path w="1426225" h="539197">
                <a:moveTo>
                  <a:pt x="0" y="262109"/>
                </a:moveTo>
                <a:lnTo>
                  <a:pt x="245372" y="0"/>
                </a:lnTo>
                <a:lnTo>
                  <a:pt x="506080" y="224665"/>
                </a:lnTo>
                <a:lnTo>
                  <a:pt x="766788" y="449331"/>
                </a:lnTo>
                <a:lnTo>
                  <a:pt x="1042831" y="187221"/>
                </a:lnTo>
                <a:lnTo>
                  <a:pt x="1426225" y="284576"/>
                </a:lnTo>
                <a:lnTo>
                  <a:pt x="1426225" y="539197"/>
                </a:lnTo>
                <a:lnTo>
                  <a:pt x="0" y="539197"/>
                </a:lnTo>
                <a:close/>
              </a:path>
            </a:pathLst>
          </a:custGeom>
          <a:solidFill>
            <a:srgbClr val="C9421F"/>
          </a:solidFill>
          <a:ln w="16953">
            <a:solidFill>
              <a:srgbClr val="DD86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7892706" y="150646"/>
            <a:ext cx="1099059" cy="761011"/>
          </a:xfrm>
          <a:prstGeom prst="curvedConnector3">
            <a:avLst/>
          </a:prstGeom>
          <a:ln w="48632">
            <a:solidFill>
              <a:srgbClr val="C6D662"/>
            </a:solidFill>
            <a:prstDash val="lg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797690" y="2100425"/>
            <a:ext cx="840979" cy="1169726"/>
          </a:xfrm>
          <a:prstGeom prst="rect">
            <a:avLst/>
          </a:prstGeom>
          <a:solidFill>
            <a:srgbClr val="488885"/>
          </a:solidFill>
        </p:spPr>
        <p:txBody>
          <a:bodyPr wrap="none" lIns="28454" tIns="28454" rIns="28454" bIns="28454">
            <a:spAutoFit/>
          </a:bodyPr>
          <a:lstStyle/>
          <a:p>
            <a:r>
              <a:rPr sz="1200" b="0" i="1" u="none">
                <a:solidFill>
                  <a:srgbClr val="66A86F"/>
                </a:solidFill>
                <a:latin typeface="Trebuchet MS"/>
              </a:rPr>
              <a:t>Gateway Moment Heading Milestone Matrix Pipeline Target Benchmark Table Forecast Kernel Event</a:t>
            </a:r>
          </a:p>
        </p:txBody>
      </p:sp>
      <p:sp>
        <p:nvSpPr>
          <p:cNvPr id="24" name="TextBox 23"/>
          <p:cNvSpPr txBox="1"/>
          <p:nvPr/>
        </p:nvSpPr>
        <p:spPr>
          <a:xfrm>
            <a:off x="5879524" y="1728873"/>
            <a:ext cx="893210" cy="1194815"/>
          </a:xfrm>
          <a:prstGeom prst="rect">
            <a:avLst/>
          </a:prstGeom>
          <a:noFill/>
        </p:spPr>
        <p:txBody>
          <a:bodyPr wrap="none" lIns="37788" tIns="37788" rIns="37788" bIns="37788">
            <a:spAutoFit/>
          </a:bodyPr>
          <a:lstStyle/>
          <a:p>
            <a:r>
              <a:rPr sz="4700" b="1" i="0" u="none">
                <a:solidFill>
                  <a:srgbClr val="C5BCB9"/>
                </a:solidFill>
                <a:latin typeface="Trebuchet MS"/>
              </a:rPr>
              <a:t>Access Energy</a:t>
            </a:r>
          </a:p>
        </p:txBody>
      </p:sp>
      <p:sp>
        <p:nvSpPr>
          <p:cNvPr id="25" name="TextBox 24"/>
          <p:cNvSpPr txBox="1"/>
          <p:nvPr/>
        </p:nvSpPr>
        <p:spPr>
          <a:xfrm>
            <a:off x="11263752" y="909459"/>
            <a:ext cx="512884" cy="1901879"/>
          </a:xfrm>
          <a:prstGeom prst="rect">
            <a:avLst/>
          </a:prstGeom>
          <a:solidFill>
            <a:srgbClr val="CED05C"/>
          </a:solidFill>
        </p:spPr>
        <p:txBody>
          <a:bodyPr wrap="none" lIns="39563" tIns="39563" rIns="39563" bIns="39563">
            <a:spAutoFit/>
          </a:bodyPr>
          <a:lstStyle/>
          <a:p>
            <a:r>
              <a:rPr sz="700" b="0" i="0" u="none">
                <a:solidFill>
                  <a:srgbClr val="ACCECF"/>
                </a:solidFill>
                <a:latin typeface="Trebuchet MS"/>
              </a:rPr>
              <a:t>Graph Transform Kernel Origin Coverage Span Concept Volume Volume Status Discovery Topology</a:t>
            </a:r>
          </a:p>
        </p:txBody>
      </p:sp>
      <p:pic>
        <p:nvPicPr>
          <p:cNvPr id="26" name="Picture 25" descr="_example_image.jpg"/>
          <p:cNvPicPr>
            <a:picLocks noChangeAspect="1"/>
          </p:cNvPicPr>
          <p:nvPr/>
        </p:nvPicPr>
        <p:blipFill>
          <a:blip r:embed="rId4"/>
          <a:srcRect/>
          <a:stretch>
            <a:fillRect/>
          </a:stretch>
        </p:blipFill>
        <p:spPr>
          <a:xfrm>
            <a:off x="7160161" y="2073946"/>
            <a:ext cx="1122632" cy="1137260"/>
          </a:xfrm>
          <a:prstGeom prst="rect">
            <a:avLst/>
          </a:prstGeom>
        </p:spPr>
      </p:pic>
      <p:pic>
        <p:nvPicPr>
          <p:cNvPr id="28" name="Graphic 27">
            <a:extLst>
              <a:ext uri="{FF2B5EF4-FFF2-40B4-BE49-F238E27FC236}">
                <a16:creationId xmlns:a16="http://schemas.microsoft.com/office/drawing/2014/main" id="{6966E050-0B7B-7B35-C133-4020135F7EF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606322" y="4714306"/>
            <a:ext cx="999645" cy="1397252"/>
          </a:xfrm>
          <a:prstGeom prst="rect">
            <a:avLst/>
          </a:prstGeom>
        </p:spPr>
      </p:pic>
      <p:pic>
        <p:nvPicPr>
          <p:cNvPr id="30" name="Graphic 29">
            <a:extLst>
              <a:ext uri="{FF2B5EF4-FFF2-40B4-BE49-F238E27FC236}">
                <a16:creationId xmlns:a16="http://schemas.microsoft.com/office/drawing/2014/main" id="{2EF7D8DE-2C74-C77E-CF70-25F062EB3A0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049729" y="5121506"/>
            <a:ext cx="1679759" cy="8868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05872" y="1879577"/>
            <a:ext cx="726873" cy="1955549"/>
          </a:xfrm>
          <a:prstGeom prst="rect">
            <a:avLst/>
          </a:prstGeom>
          <a:noFill/>
        </p:spPr>
        <p:txBody>
          <a:bodyPr wrap="none" lIns="52872" tIns="52872" rIns="52872" bIns="52872">
            <a:spAutoFit/>
          </a:bodyPr>
          <a:lstStyle/>
          <a:p>
            <a:r>
              <a:rPr sz="5300" b="1" i="1" u="none">
                <a:solidFill>
                  <a:srgbClr val="DCBC2F"/>
                </a:solidFill>
                <a:latin typeface="Trebuchet MS"/>
              </a:rPr>
              <a:t>Variant Wave Cortex</a:t>
            </a:r>
          </a:p>
        </p:txBody>
      </p:sp>
      <p:sp>
        <p:nvSpPr>
          <p:cNvPr id="3" name="Diamond 2"/>
          <p:cNvSpPr/>
          <p:nvPr/>
        </p:nvSpPr>
        <p:spPr>
          <a:xfrm>
            <a:off x="5732183" y="3818995"/>
            <a:ext cx="1340635" cy="739556"/>
          </a:xfrm>
          <a:prstGeom prst="diamond">
            <a:avLst/>
          </a:prstGeom>
          <a:solidFill>
            <a:srgbClr val="277736"/>
          </a:solidFill>
          <a:ln w="7840">
            <a:solidFill>
              <a:srgbClr val="E6B08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10494448" y="2934135"/>
            <a:ext cx="1376614" cy="1441747"/>
          </a:xfrm>
          <a:custGeom>
            <a:avLst/>
            <a:gdLst/>
            <a:ahLst/>
            <a:cxnLst/>
            <a:rect l="l" t="t" r="r" b="b"/>
            <a:pathLst>
              <a:path w="1376614" h="1441747">
                <a:moveTo>
                  <a:pt x="0" y="700849"/>
                </a:moveTo>
                <a:lnTo>
                  <a:pt x="236837" y="0"/>
                </a:lnTo>
                <a:lnTo>
                  <a:pt x="488476" y="600728"/>
                </a:lnTo>
                <a:lnTo>
                  <a:pt x="740115" y="1201456"/>
                </a:lnTo>
                <a:lnTo>
                  <a:pt x="1006557" y="500607"/>
                </a:lnTo>
                <a:lnTo>
                  <a:pt x="1376614" y="760922"/>
                </a:lnTo>
                <a:lnTo>
                  <a:pt x="1376614" y="1441747"/>
                </a:lnTo>
                <a:lnTo>
                  <a:pt x="0" y="1441747"/>
                </a:lnTo>
                <a:close/>
              </a:path>
            </a:pathLst>
          </a:custGeom>
          <a:solidFill>
            <a:srgbClr val="D0912F"/>
          </a:solidFill>
          <a:ln w="18460">
            <a:solidFill>
              <a:srgbClr val="313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_example_image.jpg"/>
          <p:cNvPicPr>
            <a:picLocks noChangeAspect="1"/>
          </p:cNvPicPr>
          <p:nvPr/>
        </p:nvPicPr>
        <p:blipFill>
          <a:blip r:embed="rId2"/>
          <a:srcRect l="11193" t="7291" r="18397" b="2879"/>
          <a:stretch>
            <a:fillRect/>
          </a:stretch>
        </p:blipFill>
        <p:spPr>
          <a:xfrm>
            <a:off x="7233351" y="3861197"/>
            <a:ext cx="1564980" cy="746118"/>
          </a:xfrm>
          <a:prstGeom prst="rect">
            <a:avLst/>
          </a:prstGeom>
        </p:spPr>
      </p:pic>
      <p:sp>
        <p:nvSpPr>
          <p:cNvPr id="6" name="Decision 5"/>
          <p:cNvSpPr/>
          <p:nvPr/>
        </p:nvSpPr>
        <p:spPr>
          <a:xfrm>
            <a:off x="8341654" y="1082363"/>
            <a:ext cx="1047778" cy="768237"/>
          </a:xfrm>
          <a:prstGeom prst="flowChartDecision">
            <a:avLst/>
          </a:prstGeom>
          <a:solidFill>
            <a:srgbClr val="E3CC58"/>
          </a:solidFill>
          <a:ln w="14738">
            <a:solidFill>
              <a:srgbClr val="6DCE73"/>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6908337" y="3059739"/>
            <a:ext cx="1094058" cy="655964"/>
          </a:xfrm>
          <a:prstGeom prst="bentConnector3">
            <a:avLst/>
          </a:prstGeom>
          <a:ln w="28074">
            <a:solidFill>
              <a:srgbClr val="9C6BBC"/>
            </a:solidFill>
            <a:prstDash val="dashDot"/>
          </a:ln>
        </p:spPr>
        <p:style>
          <a:lnRef idx="2">
            <a:schemeClr val="accent1"/>
          </a:lnRef>
          <a:fillRef idx="0">
            <a:schemeClr val="accent1"/>
          </a:fillRef>
          <a:effectRef idx="1">
            <a:schemeClr val="accent1"/>
          </a:effectRef>
          <a:fontRef idx="minor">
            <a:schemeClr val="tx1"/>
          </a:fontRef>
        </p:style>
      </p:cxnSp>
      <p:sp>
        <p:nvSpPr>
          <p:cNvPr id="8" name="Right Arrow 7"/>
          <p:cNvSpPr/>
          <p:nvPr/>
        </p:nvSpPr>
        <p:spPr>
          <a:xfrm>
            <a:off x="5303741" y="2747040"/>
            <a:ext cx="1322932" cy="950904"/>
          </a:xfrm>
          <a:prstGeom prst="rightArrow">
            <a:avLst/>
          </a:prstGeom>
          <a:solidFill>
            <a:srgbClr val="7DDC3C"/>
          </a:solidFill>
          <a:ln w="18729">
            <a:solidFill>
              <a:srgbClr val="49E5D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08251" y="5109986"/>
            <a:ext cx="788680" cy="758722"/>
          </a:xfrm>
          <a:prstGeom prst="rect">
            <a:avLst/>
          </a:prstGeom>
          <a:noFill/>
        </p:spPr>
        <p:txBody>
          <a:bodyPr wrap="none" lIns="66630" tIns="66630" rIns="66630" bIns="66630">
            <a:spAutoFit/>
          </a:bodyPr>
          <a:lstStyle/>
          <a:p>
            <a:r>
              <a:rPr sz="3400" b="1" i="1" u="none">
                <a:solidFill>
                  <a:srgbClr val="E3C12E"/>
                </a:solidFill>
                <a:latin typeface="Aptos"/>
              </a:rPr>
              <a:t>Echo Keyline Switch Program Dashboard Output</a:t>
            </a:r>
          </a:p>
        </p:txBody>
      </p:sp>
      <p:sp>
        <p:nvSpPr>
          <p:cNvPr id="10" name="TextBox 9"/>
          <p:cNvSpPr txBox="1"/>
          <p:nvPr/>
        </p:nvSpPr>
        <p:spPr>
          <a:xfrm>
            <a:off x="1615759" y="4236059"/>
            <a:ext cx="595305" cy="1123181"/>
          </a:xfrm>
          <a:prstGeom prst="rect">
            <a:avLst/>
          </a:prstGeom>
          <a:noFill/>
        </p:spPr>
        <p:txBody>
          <a:bodyPr wrap="none" lIns="89519" tIns="89519" rIns="89519" bIns="89519">
            <a:spAutoFit/>
          </a:bodyPr>
          <a:lstStyle/>
          <a:p>
            <a:r>
              <a:rPr sz="900" b="0" i="1" u="none">
                <a:solidFill>
                  <a:srgbClr val="5C1B26"/>
                </a:solidFill>
                <a:latin typeface="Calibri"/>
              </a:rPr>
              <a:t>Origin Blueprint Trace Cycle Detail Detail Group Hub Focus Dispatch Strategy Waypoint Output Action Build Inventory Structure Domain Grid Vector Ratio Precision Factor Alpha Milestone Beacon Asset Transit Mesh Moment Aspect Chart Sample Lineage Bridge Query Terminal Segment Access Checkpoint</a:t>
            </a:r>
          </a:p>
        </p:txBody>
      </p:sp>
      <p:sp>
        <p:nvSpPr>
          <p:cNvPr id="11" name="Freeform 10"/>
          <p:cNvSpPr/>
          <p:nvPr/>
        </p:nvSpPr>
        <p:spPr>
          <a:xfrm>
            <a:off x="9001366" y="5660212"/>
            <a:ext cx="1385435" cy="594559"/>
          </a:xfrm>
          <a:custGeom>
            <a:avLst/>
            <a:gdLst/>
            <a:ahLst/>
            <a:cxnLst/>
            <a:rect l="l" t="t" r="r" b="b"/>
            <a:pathLst>
              <a:path w="1385435" h="594559">
                <a:moveTo>
                  <a:pt x="692718" y="0"/>
                </a:moveTo>
                <a:lnTo>
                  <a:pt x="865897" y="148640"/>
                </a:lnTo>
                <a:lnTo>
                  <a:pt x="1298845" y="107021"/>
                </a:lnTo>
                <a:lnTo>
                  <a:pt x="1053508" y="297280"/>
                </a:lnTo>
                <a:lnTo>
                  <a:pt x="1385435" y="463756"/>
                </a:lnTo>
                <a:lnTo>
                  <a:pt x="865897" y="428083"/>
                </a:lnTo>
                <a:lnTo>
                  <a:pt x="692718" y="594559"/>
                </a:lnTo>
                <a:lnTo>
                  <a:pt x="519538" y="428083"/>
                </a:lnTo>
                <a:lnTo>
                  <a:pt x="0" y="463756"/>
                </a:lnTo>
                <a:lnTo>
                  <a:pt x="331927" y="297280"/>
                </a:lnTo>
                <a:lnTo>
                  <a:pt x="86590" y="107021"/>
                </a:lnTo>
                <a:lnTo>
                  <a:pt x="519538" y="148640"/>
                </a:lnTo>
                <a:close/>
              </a:path>
            </a:pathLst>
          </a:custGeom>
          <a:solidFill>
            <a:srgbClr val="765B7B"/>
          </a:solidFill>
          <a:ln w="17283">
            <a:solidFill>
              <a:srgbClr val="8952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70737" y="3591677"/>
            <a:ext cx="1810565" cy="436759"/>
          </a:xfrm>
          <a:prstGeom prst="rect">
            <a:avLst/>
          </a:prstGeom>
          <a:solidFill>
            <a:srgbClr val="77D37A"/>
          </a:solidFill>
        </p:spPr>
        <p:txBody>
          <a:bodyPr wrap="none" lIns="47030" tIns="47030" rIns="47030" bIns="47030">
            <a:spAutoFit/>
          </a:bodyPr>
          <a:lstStyle/>
          <a:p>
            <a:r>
              <a:rPr sz="1800" b="0" i="0" u="none">
                <a:solidFill>
                  <a:srgbClr val="9AE1E6"/>
                </a:solidFill>
                <a:latin typeface="Aptos"/>
              </a:rPr>
              <a:t>Result Stack Interval Ledger State Channel Layer Track Dashboard Filter Control State Explorer Clarity</a:t>
            </a:r>
          </a:p>
        </p:txBody>
      </p:sp>
      <p:sp>
        <p:nvSpPr>
          <p:cNvPr id="13" name="U-Turn Arrow 12"/>
          <p:cNvSpPr/>
          <p:nvPr/>
        </p:nvSpPr>
        <p:spPr>
          <a:xfrm>
            <a:off x="983854" y="2656202"/>
            <a:ext cx="2460823" cy="776796"/>
          </a:xfrm>
          <a:prstGeom prst="uturnArrow">
            <a:avLst/>
          </a:prstGeom>
          <a:solidFill>
            <a:srgbClr val="7C8350"/>
          </a:solidFill>
          <a:ln w="14640">
            <a:solidFill>
              <a:srgbClr val="1D501B"/>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93618" y="3146155"/>
            <a:ext cx="1337579" cy="2510512"/>
          </a:xfrm>
          <a:prstGeom prst="rect">
            <a:avLst/>
          </a:prstGeom>
          <a:noFill/>
        </p:spPr>
        <p:txBody>
          <a:bodyPr wrap="none" lIns="86449" tIns="86449" rIns="86449" bIns="86449">
            <a:spAutoFit/>
          </a:bodyPr>
          <a:lstStyle/>
          <a:p>
            <a:r>
              <a:rPr sz="1500" b="0" i="1" u="none">
                <a:solidFill>
                  <a:srgbClr val="47D33F"/>
                </a:solidFill>
                <a:latin typeface="Calibri"/>
              </a:rPr>
              <a:t>Sample Resource Drift Sample Epoch Core Blueprint Lineage Record Report Diagram Schema Resource Sync Chart Story Program Apex Relay Deck Narrative Frame Echo Range Switch Trigger Pattern Energy Exchange Input Zone Thread Review Epoch Handle Epoch Epoch Output Tile Field Trend</a:t>
            </a:r>
          </a:p>
        </p:txBody>
      </p:sp>
      <p:graphicFrame>
        <p:nvGraphicFramePr>
          <p:cNvPr id="15" name="Chart 14"/>
          <p:cNvGraphicFramePr>
            <a:graphicFrameLocks noGrp="1"/>
          </p:cNvGraphicFramePr>
          <p:nvPr/>
        </p:nvGraphicFramePr>
        <p:xfrm>
          <a:off x="1955281" y="3331274"/>
          <a:ext cx="3766486" cy="139384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15"/>
          <p:cNvGraphicFramePr>
            <a:graphicFrameLocks noGrp="1"/>
          </p:cNvGraphicFramePr>
          <p:nvPr/>
        </p:nvGraphicFramePr>
        <p:xfrm>
          <a:off x="1248053" y="5263145"/>
          <a:ext cx="3208565" cy="1264508"/>
        </p:xfrm>
        <a:graphic>
          <a:graphicData uri="http://schemas.openxmlformats.org/drawingml/2006/table">
            <a:tbl>
              <a:tblPr firstRow="1" bandRow="1">
                <a:tableStyleId>{5C22544A-7EE6-4342-B048-85BDC9FD1C3A}</a:tableStyleId>
              </a:tblPr>
              <a:tblGrid>
                <a:gridCol w="534760">
                  <a:extLst>
                    <a:ext uri="{9D8B030D-6E8A-4147-A177-3AD203B41FA5}">
                      <a16:colId xmlns:a16="http://schemas.microsoft.com/office/drawing/2014/main" val="20000"/>
                    </a:ext>
                  </a:extLst>
                </a:gridCol>
                <a:gridCol w="534760">
                  <a:extLst>
                    <a:ext uri="{9D8B030D-6E8A-4147-A177-3AD203B41FA5}">
                      <a16:colId xmlns:a16="http://schemas.microsoft.com/office/drawing/2014/main" val="20001"/>
                    </a:ext>
                  </a:extLst>
                </a:gridCol>
                <a:gridCol w="534760">
                  <a:extLst>
                    <a:ext uri="{9D8B030D-6E8A-4147-A177-3AD203B41FA5}">
                      <a16:colId xmlns:a16="http://schemas.microsoft.com/office/drawing/2014/main" val="20002"/>
                    </a:ext>
                  </a:extLst>
                </a:gridCol>
                <a:gridCol w="534760">
                  <a:extLst>
                    <a:ext uri="{9D8B030D-6E8A-4147-A177-3AD203B41FA5}">
                      <a16:colId xmlns:a16="http://schemas.microsoft.com/office/drawing/2014/main" val="20003"/>
                    </a:ext>
                  </a:extLst>
                </a:gridCol>
                <a:gridCol w="534760">
                  <a:extLst>
                    <a:ext uri="{9D8B030D-6E8A-4147-A177-3AD203B41FA5}">
                      <a16:colId xmlns:a16="http://schemas.microsoft.com/office/drawing/2014/main" val="20004"/>
                    </a:ext>
                  </a:extLst>
                </a:gridCol>
                <a:gridCol w="534765">
                  <a:extLst>
                    <a:ext uri="{9D8B030D-6E8A-4147-A177-3AD203B41FA5}">
                      <a16:colId xmlns:a16="http://schemas.microsoft.com/office/drawing/2014/main" val="20005"/>
                    </a:ext>
                  </a:extLst>
                </a:gridCol>
              </a:tblGrid>
              <a:tr h="421502">
                <a:tc>
                  <a:txBody>
                    <a:bodyPr/>
                    <a:lstStyle/>
                    <a:p>
                      <a:r>
                        <a:rPr sz="600" b="1">
                          <a:solidFill>
                            <a:srgbClr val="22C7E4"/>
                          </a:solidFill>
                        </a:rPr>
                        <a:t>Response Aspect</a:t>
                      </a:r>
                    </a:p>
                  </a:txBody>
                  <a:tcPr>
                    <a:solidFill>
                      <a:srgbClr val="3F9F66"/>
                    </a:solidFill>
                  </a:tcPr>
                </a:tc>
                <a:tc>
                  <a:txBody>
                    <a:bodyPr/>
                    <a:lstStyle/>
                    <a:p>
                      <a:r>
                        <a:rPr sz="600" b="1">
                          <a:solidFill>
                            <a:srgbClr val="22C7E4"/>
                          </a:solidFill>
                        </a:rPr>
                        <a:t>Reserve Index</a:t>
                      </a:r>
                    </a:p>
                  </a:txBody>
                  <a:tcPr>
                    <a:solidFill>
                      <a:srgbClr val="3F9F66"/>
                    </a:solidFill>
                  </a:tcPr>
                </a:tc>
                <a:tc>
                  <a:txBody>
                    <a:bodyPr/>
                    <a:lstStyle/>
                    <a:p>
                      <a:r>
                        <a:rPr sz="600" b="1">
                          <a:solidFill>
                            <a:srgbClr val="22C7E4"/>
                          </a:solidFill>
                        </a:rPr>
                        <a:t>Hub Archive</a:t>
                      </a:r>
                    </a:p>
                  </a:txBody>
                  <a:tcPr>
                    <a:solidFill>
                      <a:srgbClr val="3F9F66"/>
                    </a:solidFill>
                  </a:tcPr>
                </a:tc>
                <a:tc>
                  <a:txBody>
                    <a:bodyPr/>
                    <a:lstStyle/>
                    <a:p>
                      <a:r>
                        <a:rPr sz="600" b="1">
                          <a:solidFill>
                            <a:srgbClr val="22C7E4"/>
                          </a:solidFill>
                        </a:rPr>
                        <a:t>Balance Queue</a:t>
                      </a:r>
                    </a:p>
                  </a:txBody>
                  <a:tcPr>
                    <a:solidFill>
                      <a:srgbClr val="3F9F66"/>
                    </a:solidFill>
                  </a:tcPr>
                </a:tc>
                <a:tc>
                  <a:txBody>
                    <a:bodyPr/>
                    <a:lstStyle/>
                    <a:p>
                      <a:r>
                        <a:rPr sz="600" b="1">
                          <a:solidFill>
                            <a:srgbClr val="22C7E4"/>
                          </a:solidFill>
                        </a:rPr>
                        <a:t>Map Access</a:t>
                      </a:r>
                    </a:p>
                  </a:txBody>
                  <a:tcPr>
                    <a:solidFill>
                      <a:srgbClr val="3F9F66"/>
                    </a:solidFill>
                  </a:tcPr>
                </a:tc>
                <a:tc>
                  <a:txBody>
                    <a:bodyPr/>
                    <a:lstStyle/>
                    <a:p>
                      <a:r>
                        <a:rPr sz="600" b="1">
                          <a:solidFill>
                            <a:srgbClr val="22C7E4"/>
                          </a:solidFill>
                        </a:rPr>
                        <a:t>Version</a:t>
                      </a:r>
                    </a:p>
                  </a:txBody>
                  <a:tcPr>
                    <a:solidFill>
                      <a:srgbClr val="3F9F66"/>
                    </a:solidFill>
                  </a:tcPr>
                </a:tc>
                <a:extLst>
                  <a:ext uri="{0D108BD9-81ED-4DB2-BD59-A6C34878D82A}">
                    <a16:rowId xmlns:a16="http://schemas.microsoft.com/office/drawing/2014/main" val="10000"/>
                  </a:ext>
                </a:extLst>
              </a:tr>
              <a:tr h="421502">
                <a:tc>
                  <a:txBody>
                    <a:bodyPr/>
                    <a:lstStyle/>
                    <a:p>
                      <a:r>
                        <a:rPr sz="600" b="0">
                          <a:solidFill>
                            <a:srgbClr val="22C7E4"/>
                          </a:solidFill>
                        </a:rPr>
                        <a:t>Stream</a:t>
                      </a:r>
                    </a:p>
                  </a:txBody>
                  <a:tcPr>
                    <a:solidFill>
                      <a:srgbClr val="D1DEED"/>
                    </a:solidFill>
                  </a:tcPr>
                </a:tc>
                <a:tc>
                  <a:txBody>
                    <a:bodyPr/>
                    <a:lstStyle/>
                    <a:p>
                      <a:r>
                        <a:rPr sz="600" b="0">
                          <a:solidFill>
                            <a:srgbClr val="22C7E4"/>
                          </a:solidFill>
                        </a:rPr>
                        <a:t>Window</a:t>
                      </a:r>
                    </a:p>
                  </a:txBody>
                  <a:tcPr>
                    <a:solidFill>
                      <a:srgbClr val="D1DEED"/>
                    </a:solidFill>
                  </a:tcPr>
                </a:tc>
                <a:tc>
                  <a:txBody>
                    <a:bodyPr/>
                    <a:lstStyle/>
                    <a:p>
                      <a:r>
                        <a:rPr sz="600" b="0">
                          <a:solidFill>
                            <a:srgbClr val="22C7E4"/>
                          </a:solidFill>
                        </a:rPr>
                        <a:t>Precision Moment</a:t>
                      </a:r>
                    </a:p>
                  </a:txBody>
                  <a:tcPr>
                    <a:solidFill>
                      <a:srgbClr val="D1DEED"/>
                    </a:solidFill>
                  </a:tcPr>
                </a:tc>
                <a:tc>
                  <a:txBody>
                    <a:bodyPr/>
                    <a:lstStyle/>
                    <a:p>
                      <a:r>
                        <a:rPr sz="600" b="0">
                          <a:solidFill>
                            <a:srgbClr val="22C7E4"/>
                          </a:solidFill>
                        </a:rPr>
                        <a:t>Frame State</a:t>
                      </a:r>
                    </a:p>
                  </a:txBody>
                  <a:tcPr>
                    <a:solidFill>
                      <a:srgbClr val="D1DEED"/>
                    </a:solidFill>
                  </a:tcPr>
                </a:tc>
                <a:tc>
                  <a:txBody>
                    <a:bodyPr/>
                    <a:lstStyle/>
                    <a:p>
                      <a:r>
                        <a:rPr sz="600" b="0">
                          <a:solidFill>
                            <a:srgbClr val="22C7E4"/>
                          </a:solidFill>
                        </a:rPr>
                        <a:t>Radius Vertex</a:t>
                      </a:r>
                    </a:p>
                  </a:txBody>
                  <a:tcPr>
                    <a:solidFill>
                      <a:srgbClr val="D1DEED"/>
                    </a:solidFill>
                  </a:tcPr>
                </a:tc>
                <a:tc>
                  <a:txBody>
                    <a:bodyPr/>
                    <a:lstStyle/>
                    <a:p>
                      <a:r>
                        <a:rPr sz="600" b="0">
                          <a:solidFill>
                            <a:srgbClr val="22C7E4"/>
                          </a:solidFill>
                        </a:rPr>
                        <a:t>Echo</a:t>
                      </a:r>
                    </a:p>
                  </a:txBody>
                  <a:tcPr>
                    <a:solidFill>
                      <a:srgbClr val="D1DEED"/>
                    </a:solidFill>
                  </a:tcPr>
                </a:tc>
                <a:extLst>
                  <a:ext uri="{0D108BD9-81ED-4DB2-BD59-A6C34878D82A}">
                    <a16:rowId xmlns:a16="http://schemas.microsoft.com/office/drawing/2014/main" val="10001"/>
                  </a:ext>
                </a:extLst>
              </a:tr>
              <a:tr h="421504">
                <a:tc>
                  <a:txBody>
                    <a:bodyPr/>
                    <a:lstStyle/>
                    <a:p>
                      <a:r>
                        <a:rPr sz="600" b="0">
                          <a:solidFill>
                            <a:srgbClr val="22C7E4"/>
                          </a:solidFill>
                        </a:rPr>
                        <a:t>Limit</a:t>
                      </a:r>
                    </a:p>
                  </a:txBody>
                  <a:tcPr>
                    <a:solidFill>
                      <a:srgbClr val="F1F5FA"/>
                    </a:solidFill>
                  </a:tcPr>
                </a:tc>
                <a:tc>
                  <a:txBody>
                    <a:bodyPr/>
                    <a:lstStyle/>
                    <a:p>
                      <a:r>
                        <a:rPr sz="600" b="0">
                          <a:solidFill>
                            <a:srgbClr val="22C7E4"/>
                          </a:solidFill>
                        </a:rPr>
                        <a:t>Surface</a:t>
                      </a:r>
                    </a:p>
                  </a:txBody>
                  <a:tcPr>
                    <a:solidFill>
                      <a:srgbClr val="F1F5FA"/>
                    </a:solidFill>
                  </a:tcPr>
                </a:tc>
                <a:tc>
                  <a:txBody>
                    <a:bodyPr/>
                    <a:lstStyle/>
                    <a:p>
                      <a:r>
                        <a:rPr sz="600" b="0">
                          <a:solidFill>
                            <a:srgbClr val="22C7E4"/>
                          </a:solidFill>
                        </a:rPr>
                        <a:t>Intent Response</a:t>
                      </a:r>
                    </a:p>
                  </a:txBody>
                  <a:tcPr>
                    <a:solidFill>
                      <a:srgbClr val="F1F5FA"/>
                    </a:solidFill>
                  </a:tcPr>
                </a:tc>
                <a:tc>
                  <a:txBody>
                    <a:bodyPr/>
                    <a:lstStyle/>
                    <a:p>
                      <a:r>
                        <a:rPr sz="600" b="0">
                          <a:solidFill>
                            <a:srgbClr val="22C7E4"/>
                          </a:solidFill>
                        </a:rPr>
                        <a:t>Route Pipeline</a:t>
                      </a:r>
                    </a:p>
                  </a:txBody>
                  <a:tcPr>
                    <a:solidFill>
                      <a:srgbClr val="F1F5FA"/>
                    </a:solidFill>
                  </a:tcPr>
                </a:tc>
                <a:tc>
                  <a:txBody>
                    <a:bodyPr/>
                    <a:lstStyle/>
                    <a:p>
                      <a:r>
                        <a:rPr sz="600" b="0">
                          <a:solidFill>
                            <a:srgbClr val="22C7E4"/>
                          </a:solidFill>
                        </a:rPr>
                        <a:t>Audit Layer</a:t>
                      </a:r>
                    </a:p>
                  </a:txBody>
                  <a:tcPr>
                    <a:solidFill>
                      <a:srgbClr val="F1F5FA"/>
                    </a:solidFill>
                  </a:tcPr>
                </a:tc>
                <a:tc>
                  <a:txBody>
                    <a:bodyPr/>
                    <a:lstStyle/>
                    <a:p>
                      <a:r>
                        <a:rPr sz="600" b="0">
                          <a:solidFill>
                            <a:srgbClr val="22C7E4"/>
                          </a:solidFill>
                        </a:rPr>
                        <a:t>Network Surface</a:t>
                      </a:r>
                    </a:p>
                  </a:txBody>
                  <a:tcPr>
                    <a:solidFill>
                      <a:srgbClr val="F1F5FA"/>
                    </a:solidFill>
                  </a:tcPr>
                </a:tc>
                <a:extLst>
                  <a:ext uri="{0D108BD9-81ED-4DB2-BD59-A6C34878D82A}">
                    <a16:rowId xmlns:a16="http://schemas.microsoft.com/office/drawing/2014/main" val="10002"/>
                  </a:ext>
                </a:extLst>
              </a:tr>
            </a:tbl>
          </a:graphicData>
        </a:graphic>
      </p:graphicFrame>
      <p:graphicFrame>
        <p:nvGraphicFramePr>
          <p:cNvPr id="17" name="Table 16"/>
          <p:cNvGraphicFramePr>
            <a:graphicFrameLocks noGrp="1"/>
          </p:cNvGraphicFramePr>
          <p:nvPr/>
        </p:nvGraphicFramePr>
        <p:xfrm>
          <a:off x="978326" y="619117"/>
          <a:ext cx="2191783" cy="1605638"/>
        </p:xfrm>
        <a:graphic>
          <a:graphicData uri="http://schemas.openxmlformats.org/drawingml/2006/table">
            <a:tbl>
              <a:tblPr firstRow="1" bandRow="1">
                <a:tableStyleId>{5C22544A-7EE6-4342-B048-85BDC9FD1C3A}</a:tableStyleId>
              </a:tblPr>
              <a:tblGrid>
                <a:gridCol w="730594">
                  <a:extLst>
                    <a:ext uri="{9D8B030D-6E8A-4147-A177-3AD203B41FA5}">
                      <a16:colId xmlns:a16="http://schemas.microsoft.com/office/drawing/2014/main" val="20000"/>
                    </a:ext>
                  </a:extLst>
                </a:gridCol>
                <a:gridCol w="730594">
                  <a:extLst>
                    <a:ext uri="{9D8B030D-6E8A-4147-A177-3AD203B41FA5}">
                      <a16:colId xmlns:a16="http://schemas.microsoft.com/office/drawing/2014/main" val="20001"/>
                    </a:ext>
                  </a:extLst>
                </a:gridCol>
                <a:gridCol w="730595">
                  <a:extLst>
                    <a:ext uri="{9D8B030D-6E8A-4147-A177-3AD203B41FA5}">
                      <a16:colId xmlns:a16="http://schemas.microsoft.com/office/drawing/2014/main" val="20002"/>
                    </a:ext>
                  </a:extLst>
                </a:gridCol>
              </a:tblGrid>
              <a:tr h="229376">
                <a:tc>
                  <a:txBody>
                    <a:bodyPr/>
                    <a:lstStyle/>
                    <a:p>
                      <a:r>
                        <a:rPr sz="900" b="1">
                          <a:solidFill>
                            <a:srgbClr val="AF833B"/>
                          </a:solidFill>
                        </a:rPr>
                        <a:t>Frame Explorer</a:t>
                      </a:r>
                    </a:p>
                  </a:txBody>
                  <a:tcPr>
                    <a:solidFill>
                      <a:srgbClr val="A4ACD2"/>
                    </a:solidFill>
                  </a:tcPr>
                </a:tc>
                <a:tc>
                  <a:txBody>
                    <a:bodyPr/>
                    <a:lstStyle/>
                    <a:p>
                      <a:r>
                        <a:rPr sz="900" b="1">
                          <a:solidFill>
                            <a:srgbClr val="AF833B"/>
                          </a:solidFill>
                        </a:rPr>
                        <a:t>Position</a:t>
                      </a:r>
                    </a:p>
                  </a:txBody>
                  <a:tcPr>
                    <a:solidFill>
                      <a:srgbClr val="A4ACD2"/>
                    </a:solidFill>
                  </a:tcPr>
                </a:tc>
                <a:tc>
                  <a:txBody>
                    <a:bodyPr/>
                    <a:lstStyle/>
                    <a:p>
                      <a:r>
                        <a:rPr sz="900" b="1">
                          <a:solidFill>
                            <a:srgbClr val="AF833B"/>
                          </a:solidFill>
                        </a:rPr>
                        <a:t>Handle</a:t>
                      </a:r>
                    </a:p>
                  </a:txBody>
                  <a:tcPr>
                    <a:solidFill>
                      <a:srgbClr val="A4ACD2"/>
                    </a:solidFill>
                  </a:tcPr>
                </a:tc>
                <a:extLst>
                  <a:ext uri="{0D108BD9-81ED-4DB2-BD59-A6C34878D82A}">
                    <a16:rowId xmlns:a16="http://schemas.microsoft.com/office/drawing/2014/main" val="10000"/>
                  </a:ext>
                </a:extLst>
              </a:tr>
              <a:tr h="229376">
                <a:tc>
                  <a:txBody>
                    <a:bodyPr/>
                    <a:lstStyle/>
                    <a:p>
                      <a:r>
                        <a:rPr sz="900" b="0">
                          <a:solidFill>
                            <a:srgbClr val="AF833B"/>
                          </a:solidFill>
                        </a:rPr>
                        <a:t>Tile</a:t>
                      </a:r>
                    </a:p>
                  </a:txBody>
                  <a:tcPr>
                    <a:solidFill>
                      <a:srgbClr val="EFF5F1"/>
                    </a:solidFill>
                  </a:tcPr>
                </a:tc>
                <a:tc>
                  <a:txBody>
                    <a:bodyPr/>
                    <a:lstStyle/>
                    <a:p>
                      <a:r>
                        <a:rPr sz="900" b="0">
                          <a:solidFill>
                            <a:srgbClr val="AF833B"/>
                          </a:solidFill>
                        </a:rPr>
                        <a:t>Dimension Feature</a:t>
                      </a:r>
                    </a:p>
                  </a:txBody>
                  <a:tcPr>
                    <a:solidFill>
                      <a:srgbClr val="C8DDCE"/>
                    </a:solidFill>
                  </a:tcPr>
                </a:tc>
                <a:tc>
                  <a:txBody>
                    <a:bodyPr/>
                    <a:lstStyle/>
                    <a:p>
                      <a:r>
                        <a:rPr sz="900" b="0">
                          <a:solidFill>
                            <a:srgbClr val="AF833B"/>
                          </a:solidFill>
                        </a:rPr>
                        <a:t>Channel Handle</a:t>
                      </a:r>
                    </a:p>
                  </a:txBody>
                  <a:tcPr>
                    <a:solidFill>
                      <a:srgbClr val="EFF5F1"/>
                    </a:solidFill>
                  </a:tcPr>
                </a:tc>
                <a:extLst>
                  <a:ext uri="{0D108BD9-81ED-4DB2-BD59-A6C34878D82A}">
                    <a16:rowId xmlns:a16="http://schemas.microsoft.com/office/drawing/2014/main" val="10001"/>
                  </a:ext>
                </a:extLst>
              </a:tr>
              <a:tr h="229376">
                <a:tc>
                  <a:txBody>
                    <a:bodyPr/>
                    <a:lstStyle/>
                    <a:p>
                      <a:r>
                        <a:rPr sz="900" b="0">
                          <a:solidFill>
                            <a:srgbClr val="AF833B"/>
                          </a:solidFill>
                        </a:rPr>
                        <a:t>Pulse</a:t>
                      </a:r>
                    </a:p>
                  </a:txBody>
                  <a:tcPr>
                    <a:solidFill>
                      <a:srgbClr val="EFF5F1"/>
                    </a:solidFill>
                  </a:tcPr>
                </a:tc>
                <a:tc>
                  <a:txBody>
                    <a:bodyPr/>
                    <a:lstStyle/>
                    <a:p>
                      <a:r>
                        <a:rPr sz="900" b="0">
                          <a:solidFill>
                            <a:srgbClr val="AF833B"/>
                          </a:solidFill>
                        </a:rPr>
                        <a:t>Collection</a:t>
                      </a:r>
                    </a:p>
                  </a:txBody>
                  <a:tcPr>
                    <a:solidFill>
                      <a:srgbClr val="C8DDCE"/>
                    </a:solidFill>
                  </a:tcPr>
                </a:tc>
                <a:tc>
                  <a:txBody>
                    <a:bodyPr/>
                    <a:lstStyle/>
                    <a:p>
                      <a:r>
                        <a:rPr sz="900" b="0">
                          <a:solidFill>
                            <a:srgbClr val="AF833B"/>
                          </a:solidFill>
                        </a:rPr>
                        <a:t>Channel Adaptive</a:t>
                      </a:r>
                    </a:p>
                  </a:txBody>
                  <a:tcPr>
                    <a:solidFill>
                      <a:srgbClr val="EFF5F1"/>
                    </a:solidFill>
                  </a:tcPr>
                </a:tc>
                <a:extLst>
                  <a:ext uri="{0D108BD9-81ED-4DB2-BD59-A6C34878D82A}">
                    <a16:rowId xmlns:a16="http://schemas.microsoft.com/office/drawing/2014/main" val="10002"/>
                  </a:ext>
                </a:extLst>
              </a:tr>
              <a:tr h="229376">
                <a:tc>
                  <a:txBody>
                    <a:bodyPr/>
                    <a:lstStyle/>
                    <a:p>
                      <a:r>
                        <a:rPr sz="900" b="0">
                          <a:solidFill>
                            <a:srgbClr val="AF833B"/>
                          </a:solidFill>
                        </a:rPr>
                        <a:t>Texture Delta</a:t>
                      </a:r>
                    </a:p>
                  </a:txBody>
                  <a:tcPr>
                    <a:solidFill>
                      <a:srgbClr val="EFF5F1"/>
                    </a:solidFill>
                  </a:tcPr>
                </a:tc>
                <a:tc>
                  <a:txBody>
                    <a:bodyPr/>
                    <a:lstStyle/>
                    <a:p>
                      <a:r>
                        <a:rPr sz="900" b="0">
                          <a:solidFill>
                            <a:srgbClr val="AF833B"/>
                          </a:solidFill>
                        </a:rPr>
                        <a:t>Benchmark</a:t>
                      </a:r>
                    </a:p>
                  </a:txBody>
                  <a:tcPr>
                    <a:solidFill>
                      <a:srgbClr val="C8DDCE"/>
                    </a:solidFill>
                  </a:tcPr>
                </a:tc>
                <a:tc>
                  <a:txBody>
                    <a:bodyPr/>
                    <a:lstStyle/>
                    <a:p>
                      <a:r>
                        <a:rPr sz="900" b="0">
                          <a:solidFill>
                            <a:srgbClr val="AF833B"/>
                          </a:solidFill>
                        </a:rPr>
                        <a:t>Audit</a:t>
                      </a:r>
                    </a:p>
                  </a:txBody>
                  <a:tcPr>
                    <a:solidFill>
                      <a:srgbClr val="EFF5F1"/>
                    </a:solidFill>
                  </a:tcPr>
                </a:tc>
                <a:extLst>
                  <a:ext uri="{0D108BD9-81ED-4DB2-BD59-A6C34878D82A}">
                    <a16:rowId xmlns:a16="http://schemas.microsoft.com/office/drawing/2014/main" val="10003"/>
                  </a:ext>
                </a:extLst>
              </a:tr>
              <a:tr h="229376">
                <a:tc>
                  <a:txBody>
                    <a:bodyPr/>
                    <a:lstStyle/>
                    <a:p>
                      <a:r>
                        <a:rPr sz="900" b="0">
                          <a:solidFill>
                            <a:srgbClr val="AF833B"/>
                          </a:solidFill>
                        </a:rPr>
                        <a:t>Network Ledger</a:t>
                      </a:r>
                    </a:p>
                  </a:txBody>
                  <a:tcPr>
                    <a:solidFill>
                      <a:srgbClr val="EFF5F1"/>
                    </a:solidFill>
                  </a:tcPr>
                </a:tc>
                <a:tc>
                  <a:txBody>
                    <a:bodyPr/>
                    <a:lstStyle/>
                    <a:p>
                      <a:r>
                        <a:rPr sz="900" b="0">
                          <a:solidFill>
                            <a:srgbClr val="AF833B"/>
                          </a:solidFill>
                        </a:rPr>
                        <a:t>Wave</a:t>
                      </a:r>
                    </a:p>
                  </a:txBody>
                  <a:tcPr>
                    <a:solidFill>
                      <a:srgbClr val="C8DDCE"/>
                    </a:solidFill>
                  </a:tcPr>
                </a:tc>
                <a:tc>
                  <a:txBody>
                    <a:bodyPr/>
                    <a:lstStyle/>
                    <a:p>
                      <a:r>
                        <a:rPr sz="900" b="0">
                          <a:solidFill>
                            <a:srgbClr val="AF833B"/>
                          </a:solidFill>
                        </a:rPr>
                        <a:t>Strategy</a:t>
                      </a:r>
                    </a:p>
                  </a:txBody>
                  <a:tcPr>
                    <a:solidFill>
                      <a:srgbClr val="EFF5F1"/>
                    </a:solidFill>
                  </a:tcPr>
                </a:tc>
                <a:extLst>
                  <a:ext uri="{0D108BD9-81ED-4DB2-BD59-A6C34878D82A}">
                    <a16:rowId xmlns:a16="http://schemas.microsoft.com/office/drawing/2014/main" val="10004"/>
                  </a:ext>
                </a:extLst>
              </a:tr>
              <a:tr h="229376">
                <a:tc>
                  <a:txBody>
                    <a:bodyPr/>
                    <a:lstStyle/>
                    <a:p>
                      <a:r>
                        <a:rPr sz="900" b="0">
                          <a:solidFill>
                            <a:srgbClr val="AF833B"/>
                          </a:solidFill>
                        </a:rPr>
                        <a:t>Origin Report</a:t>
                      </a:r>
                    </a:p>
                  </a:txBody>
                  <a:tcPr>
                    <a:solidFill>
                      <a:srgbClr val="EFF5F1"/>
                    </a:solidFill>
                  </a:tcPr>
                </a:tc>
                <a:tc>
                  <a:txBody>
                    <a:bodyPr/>
                    <a:lstStyle/>
                    <a:p>
                      <a:r>
                        <a:rPr sz="900" b="0">
                          <a:solidFill>
                            <a:srgbClr val="AF833B"/>
                          </a:solidFill>
                        </a:rPr>
                        <a:t>Command Array</a:t>
                      </a:r>
                    </a:p>
                  </a:txBody>
                  <a:tcPr>
                    <a:solidFill>
                      <a:srgbClr val="C8DDCE"/>
                    </a:solidFill>
                  </a:tcPr>
                </a:tc>
                <a:tc>
                  <a:txBody>
                    <a:bodyPr/>
                    <a:lstStyle/>
                    <a:p>
                      <a:r>
                        <a:rPr sz="900" b="0">
                          <a:solidFill>
                            <a:srgbClr val="AF833B"/>
                          </a:solidFill>
                        </a:rPr>
                        <a:t>Interval Moment</a:t>
                      </a:r>
                    </a:p>
                  </a:txBody>
                  <a:tcPr>
                    <a:solidFill>
                      <a:srgbClr val="EFF5F1"/>
                    </a:solidFill>
                  </a:tcPr>
                </a:tc>
                <a:extLst>
                  <a:ext uri="{0D108BD9-81ED-4DB2-BD59-A6C34878D82A}">
                    <a16:rowId xmlns:a16="http://schemas.microsoft.com/office/drawing/2014/main" val="10005"/>
                  </a:ext>
                </a:extLst>
              </a:tr>
              <a:tr h="229382">
                <a:tc>
                  <a:txBody>
                    <a:bodyPr/>
                    <a:lstStyle/>
                    <a:p>
                      <a:r>
                        <a:rPr sz="900" b="0">
                          <a:solidFill>
                            <a:srgbClr val="AF833B"/>
                          </a:solidFill>
                        </a:rPr>
                        <a:t>Token</a:t>
                      </a:r>
                    </a:p>
                  </a:txBody>
                  <a:tcPr>
                    <a:solidFill>
                      <a:srgbClr val="EFF5F1"/>
                    </a:solidFill>
                  </a:tcPr>
                </a:tc>
                <a:tc>
                  <a:txBody>
                    <a:bodyPr/>
                    <a:lstStyle/>
                    <a:p>
                      <a:r>
                        <a:rPr sz="900" b="0">
                          <a:solidFill>
                            <a:srgbClr val="AF833B"/>
                          </a:solidFill>
                        </a:rPr>
                        <a:t>Memory Portal</a:t>
                      </a:r>
                    </a:p>
                  </a:txBody>
                  <a:tcPr>
                    <a:solidFill>
                      <a:srgbClr val="C8DDCE"/>
                    </a:solidFill>
                  </a:tcPr>
                </a:tc>
                <a:tc>
                  <a:txBody>
                    <a:bodyPr/>
                    <a:lstStyle/>
                    <a:p>
                      <a:r>
                        <a:rPr sz="900" b="0">
                          <a:solidFill>
                            <a:srgbClr val="AF833B"/>
                          </a:solidFill>
                        </a:rPr>
                        <a:t>Factor</a:t>
                      </a:r>
                    </a:p>
                  </a:txBody>
                  <a:tcPr>
                    <a:solidFill>
                      <a:srgbClr val="EFF5F1"/>
                    </a:solidFill>
                  </a:tcPr>
                </a:tc>
                <a:extLst>
                  <a:ext uri="{0D108BD9-81ED-4DB2-BD59-A6C34878D82A}">
                    <a16:rowId xmlns:a16="http://schemas.microsoft.com/office/drawing/2014/main" val="10006"/>
                  </a:ext>
                </a:extLst>
              </a:tr>
            </a:tbl>
          </a:graphicData>
        </a:graphic>
      </p:graphicFrame>
      <p:sp>
        <p:nvSpPr>
          <p:cNvPr id="18" name="TextBox 17"/>
          <p:cNvSpPr txBox="1"/>
          <p:nvPr/>
        </p:nvSpPr>
        <p:spPr>
          <a:xfrm>
            <a:off x="9862535" y="1281243"/>
            <a:ext cx="796955" cy="1235603"/>
          </a:xfrm>
          <a:prstGeom prst="rect">
            <a:avLst/>
          </a:prstGeom>
          <a:noFill/>
        </p:spPr>
        <p:txBody>
          <a:bodyPr wrap="none" lIns="81251" tIns="81251" rIns="81251" bIns="81251">
            <a:spAutoFit/>
          </a:bodyPr>
          <a:lstStyle/>
          <a:p>
            <a:r>
              <a:rPr sz="1100" b="1" i="0" u="none">
                <a:solidFill>
                  <a:srgbClr val="9AABC4"/>
                </a:solidFill>
                <a:latin typeface="Verdana"/>
              </a:rPr>
              <a:t>Relay Source Waypoint Aspect Priority Analysis Register</a:t>
            </a:r>
          </a:p>
        </p:txBody>
      </p:sp>
      <p:sp>
        <p:nvSpPr>
          <p:cNvPr id="19" name="Display 18"/>
          <p:cNvSpPr/>
          <p:nvPr/>
        </p:nvSpPr>
        <p:spPr>
          <a:xfrm>
            <a:off x="6810513" y="1895783"/>
            <a:ext cx="506765" cy="1038623"/>
          </a:xfrm>
          <a:prstGeom prst="flowChartDisplay">
            <a:avLst/>
          </a:prstGeom>
          <a:solidFill>
            <a:srgbClr val="1AD4BF"/>
          </a:solidFill>
          <a:ln w="17058">
            <a:solidFill>
              <a:srgbClr val="651C6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Chart 19"/>
          <p:cNvGraphicFramePr>
            <a:graphicFrameLocks noGrp="1"/>
          </p:cNvGraphicFramePr>
          <p:nvPr/>
        </p:nvGraphicFramePr>
        <p:xfrm>
          <a:off x="4754303" y="4709077"/>
          <a:ext cx="3812276" cy="1930886"/>
        </p:xfrm>
        <a:graphic>
          <a:graphicData uri="http://schemas.openxmlformats.org/drawingml/2006/chart">
            <c:chart xmlns:c="http://schemas.openxmlformats.org/drawingml/2006/chart" xmlns:r="http://schemas.openxmlformats.org/officeDocument/2006/relationships" r:id="rId4"/>
          </a:graphicData>
        </a:graphic>
      </p:graphicFrame>
      <p:pic>
        <p:nvPicPr>
          <p:cNvPr id="21" name="Picture 20" descr="_example_image.jpg"/>
          <p:cNvPicPr>
            <a:picLocks noChangeAspect="1"/>
          </p:cNvPicPr>
          <p:nvPr/>
        </p:nvPicPr>
        <p:blipFill>
          <a:blip r:embed="rId2"/>
          <a:srcRect l="12614" t="15641" r="16064" b="12948"/>
          <a:stretch>
            <a:fillRect/>
          </a:stretch>
        </p:blipFill>
        <p:spPr>
          <a:xfrm>
            <a:off x="6966561" y="218829"/>
            <a:ext cx="2506250" cy="923480"/>
          </a:xfrm>
          <a:prstGeom prst="rect">
            <a:avLst/>
          </a:prstGeom>
        </p:spPr>
      </p:pic>
      <p:pic>
        <p:nvPicPr>
          <p:cNvPr id="22" name="Picture 21" descr="_example_image.jpg"/>
          <p:cNvPicPr>
            <a:picLocks noChangeAspect="1"/>
          </p:cNvPicPr>
          <p:nvPr/>
        </p:nvPicPr>
        <p:blipFill>
          <a:blip r:embed="rId2"/>
          <a:srcRect l="2877" t="18642" r="21488" b="1441"/>
          <a:stretch>
            <a:fillRect/>
          </a:stretch>
        </p:blipFill>
        <p:spPr>
          <a:xfrm>
            <a:off x="137188" y="3801646"/>
            <a:ext cx="1508246" cy="1608284"/>
          </a:xfrm>
          <a:prstGeom prst="rect">
            <a:avLst/>
          </a:prstGeom>
        </p:spPr>
      </p:pic>
      <p:cxnSp>
        <p:nvCxnSpPr>
          <p:cNvPr id="23" name="Connector 22"/>
          <p:cNvCxnSpPr/>
          <p:nvPr/>
        </p:nvCxnSpPr>
        <p:spPr>
          <a:xfrm flipV="1">
            <a:off x="3940397" y="2242894"/>
            <a:ext cx="2358554" cy="437003"/>
          </a:xfrm>
          <a:prstGeom prst="curvedConnector3">
            <a:avLst/>
          </a:prstGeom>
          <a:ln w="24801">
            <a:solidFill>
              <a:srgbClr val="D040BA"/>
            </a:solidFill>
            <a:prstDash val="dash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88306" y="4418466"/>
            <a:ext cx="923360" cy="568047"/>
          </a:xfrm>
          <a:prstGeom prst="bentConnector3">
            <a:avLst/>
          </a:prstGeom>
          <a:ln w="44678">
            <a:solidFill>
              <a:srgbClr val="55BF64"/>
            </a:solidFill>
            <a:prstDash val="dot"/>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815755" y="499156"/>
            <a:ext cx="2121695" cy="1321809"/>
          </a:xfrm>
          <a:prstGeom prst="roundRect">
            <a:avLst/>
          </a:prstGeom>
          <a:solidFill>
            <a:srgbClr val="A2DA59"/>
          </a:solidFill>
          <a:ln w="23115">
            <a:solidFill>
              <a:srgbClr val="204F53"/>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cument 25"/>
          <p:cNvSpPr/>
          <p:nvPr/>
        </p:nvSpPr>
        <p:spPr>
          <a:xfrm>
            <a:off x="7024627" y="4818751"/>
            <a:ext cx="1146135" cy="244158"/>
          </a:xfrm>
          <a:prstGeom prst="flowChartDocument">
            <a:avLst/>
          </a:prstGeom>
          <a:solidFill>
            <a:srgbClr val="6758E0"/>
          </a:solidFill>
          <a:ln w="8857">
            <a:solidFill>
              <a:srgbClr val="DFA5A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D0E53602-DA44-44C7-6420-2239681A44C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486117" y="4229516"/>
            <a:ext cx="1188906" cy="1045889"/>
          </a:xfrm>
          <a:prstGeom prst="rect">
            <a:avLst/>
          </a:prstGeom>
        </p:spPr>
      </p:pic>
      <p:pic>
        <p:nvPicPr>
          <p:cNvPr id="30" name="Graphic 29">
            <a:extLst>
              <a:ext uri="{FF2B5EF4-FFF2-40B4-BE49-F238E27FC236}">
                <a16:creationId xmlns:a16="http://schemas.microsoft.com/office/drawing/2014/main" id="{7C7DBF39-2DA3-CD8D-5B56-55711C55F2EC}"/>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219286" y="393445"/>
            <a:ext cx="1395928" cy="810151"/>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8480471" y="249769"/>
            <a:ext cx="2967424" cy="394640"/>
          </a:xfrm>
          <a:prstGeom prst="bentConnector3">
            <a:avLst/>
          </a:prstGeom>
          <a:ln w="25230">
            <a:solidFill>
              <a:srgbClr val="A844D7"/>
            </a:solidFill>
            <a:prstDash val="solid"/>
          </a:ln>
        </p:spPr>
        <p:style>
          <a:lnRef idx="2">
            <a:schemeClr val="accent1"/>
          </a:lnRef>
          <a:fillRef idx="0">
            <a:schemeClr val="accent1"/>
          </a:fillRef>
          <a:effectRef idx="1">
            <a:schemeClr val="accent1"/>
          </a:effectRef>
          <a:fontRef idx="minor">
            <a:schemeClr val="tx1"/>
          </a:fontRef>
        </p:style>
      </p:cxnSp>
      <p:sp>
        <p:nvSpPr>
          <p:cNvPr id="3" name="Bent Arrow 2"/>
          <p:cNvSpPr/>
          <p:nvPr/>
        </p:nvSpPr>
        <p:spPr>
          <a:xfrm>
            <a:off x="3196667" y="2507254"/>
            <a:ext cx="412378" cy="254186"/>
          </a:xfrm>
          <a:prstGeom prst="bentArrow">
            <a:avLst/>
          </a:prstGeom>
          <a:solidFill>
            <a:srgbClr val="7B5EAF"/>
          </a:solidFill>
          <a:ln w="12454">
            <a:solidFill>
              <a:srgbClr val="1A6E2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155900" y="1546130"/>
            <a:ext cx="3721339" cy="1414156"/>
          </a:xfrm>
          <a:prstGeom prst="rect">
            <a:avLst/>
          </a:prstGeom>
          <a:noFill/>
        </p:spPr>
        <p:txBody>
          <a:bodyPr wrap="none" lIns="66830" tIns="66830" rIns="66830" bIns="66830">
            <a:spAutoFit/>
          </a:bodyPr>
          <a:lstStyle/>
          <a:p>
            <a:r>
              <a:rPr sz="1000" b="1" i="0" u="none">
                <a:solidFill>
                  <a:srgbClr val="7ECB3C"/>
                </a:solidFill>
                <a:latin typeface="Georgia"/>
              </a:rPr>
              <a:t>Edge Drift Command</a:t>
            </a:r>
          </a:p>
        </p:txBody>
      </p:sp>
      <p:sp>
        <p:nvSpPr>
          <p:cNvPr id="5" name="U-Turn Arrow 4"/>
          <p:cNvSpPr/>
          <p:nvPr/>
        </p:nvSpPr>
        <p:spPr>
          <a:xfrm>
            <a:off x="10039166" y="3293083"/>
            <a:ext cx="643901" cy="627186"/>
          </a:xfrm>
          <a:prstGeom prst="uturnArrow">
            <a:avLst/>
          </a:prstGeom>
          <a:solidFill>
            <a:srgbClr val="DF8F3A"/>
          </a:solidFill>
          <a:ln w="20908">
            <a:solidFill>
              <a:srgbClr val="93B68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Heart 5"/>
          <p:cNvSpPr/>
          <p:nvPr/>
        </p:nvSpPr>
        <p:spPr>
          <a:xfrm>
            <a:off x="3565113" y="4929938"/>
            <a:ext cx="1999380" cy="1623114"/>
          </a:xfrm>
          <a:prstGeom prst="heart">
            <a:avLst/>
          </a:prstGeom>
          <a:solidFill>
            <a:srgbClr val="684683"/>
          </a:solidFill>
          <a:ln w="28699">
            <a:solidFill>
              <a:srgbClr val="3C957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3323310" y="3122481"/>
            <a:ext cx="768787" cy="1611909"/>
          </a:xfrm>
          <a:prstGeom prst="curvedConnector3">
            <a:avLst/>
          </a:prstGeom>
          <a:ln w="22126">
            <a:solidFill>
              <a:srgbClr val="542A8B"/>
            </a:solidFill>
            <a:prstDash val="dashDot"/>
          </a:ln>
        </p:spPr>
        <p:style>
          <a:lnRef idx="2">
            <a:schemeClr val="accent1"/>
          </a:lnRef>
          <a:fillRef idx="0">
            <a:schemeClr val="accent1"/>
          </a:fillRef>
          <a:effectRef idx="1">
            <a:schemeClr val="accent1"/>
          </a:effectRef>
          <a:fontRef idx="minor">
            <a:schemeClr val="tx1"/>
          </a:fontRef>
        </p:style>
      </p:cxnSp>
      <p:pic>
        <p:nvPicPr>
          <p:cNvPr id="8" name="Picture 7" descr="_example_image.jpg"/>
          <p:cNvPicPr>
            <a:picLocks noChangeAspect="1"/>
          </p:cNvPicPr>
          <p:nvPr/>
        </p:nvPicPr>
        <p:blipFill>
          <a:blip r:embed="rId2"/>
          <a:srcRect/>
          <a:stretch>
            <a:fillRect/>
          </a:stretch>
        </p:blipFill>
        <p:spPr>
          <a:xfrm>
            <a:off x="750899" y="373817"/>
            <a:ext cx="1760656" cy="914365"/>
          </a:xfrm>
          <a:prstGeom prst="rect">
            <a:avLst/>
          </a:prstGeom>
        </p:spPr>
      </p:pic>
      <p:sp>
        <p:nvSpPr>
          <p:cNvPr id="9" name="Rounded Rectangle 8"/>
          <p:cNvSpPr/>
          <p:nvPr/>
        </p:nvSpPr>
        <p:spPr>
          <a:xfrm>
            <a:off x="750899" y="373817"/>
            <a:ext cx="1760656" cy="914365"/>
          </a:xfrm>
          <a:prstGeom prst="roundRect">
            <a:avLst/>
          </a:prstGeom>
          <a:noFill/>
          <a:ln w="15240">
            <a:solidFill>
              <a:srgbClr val="42E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814722" y="897508"/>
            <a:ext cx="745379" cy="663529"/>
          </a:xfrm>
          <a:custGeom>
            <a:avLst/>
            <a:gdLst/>
            <a:ahLst/>
            <a:cxnLst/>
            <a:rect l="l" t="t" r="r" b="b"/>
            <a:pathLst>
              <a:path w="745379" h="663529">
                <a:moveTo>
                  <a:pt x="372690" y="0"/>
                </a:moveTo>
                <a:lnTo>
                  <a:pt x="465862" y="165882"/>
                </a:lnTo>
                <a:lnTo>
                  <a:pt x="698793" y="119435"/>
                </a:lnTo>
                <a:lnTo>
                  <a:pt x="566799" y="331764"/>
                </a:lnTo>
                <a:lnTo>
                  <a:pt x="745379" y="517552"/>
                </a:lnTo>
                <a:lnTo>
                  <a:pt x="465862" y="477741"/>
                </a:lnTo>
                <a:lnTo>
                  <a:pt x="372690" y="663529"/>
                </a:lnTo>
                <a:lnTo>
                  <a:pt x="279517" y="477741"/>
                </a:lnTo>
                <a:lnTo>
                  <a:pt x="0" y="517552"/>
                </a:lnTo>
                <a:lnTo>
                  <a:pt x="178580" y="331764"/>
                </a:lnTo>
                <a:lnTo>
                  <a:pt x="46586" y="119435"/>
                </a:lnTo>
                <a:lnTo>
                  <a:pt x="279517" y="165882"/>
                </a:lnTo>
                <a:close/>
              </a:path>
            </a:pathLst>
          </a:custGeom>
          <a:solidFill>
            <a:srgbClr val="A95CC0"/>
          </a:solidFill>
          <a:ln w="23565">
            <a:solidFill>
              <a:srgbClr val="2B6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Table 10"/>
          <p:cNvGraphicFramePr>
            <a:graphicFrameLocks noGrp="1"/>
          </p:cNvGraphicFramePr>
          <p:nvPr/>
        </p:nvGraphicFramePr>
        <p:xfrm>
          <a:off x="5410611" y="3596738"/>
          <a:ext cx="2654625" cy="1353141"/>
        </p:xfrm>
        <a:graphic>
          <a:graphicData uri="http://schemas.openxmlformats.org/drawingml/2006/table">
            <a:tbl>
              <a:tblPr firstRow="1" bandRow="1">
                <a:tableStyleId>{5C22544A-7EE6-4342-B048-85BDC9FD1C3A}</a:tableStyleId>
              </a:tblPr>
              <a:tblGrid>
                <a:gridCol w="1327312">
                  <a:extLst>
                    <a:ext uri="{9D8B030D-6E8A-4147-A177-3AD203B41FA5}">
                      <a16:colId xmlns:a16="http://schemas.microsoft.com/office/drawing/2014/main" val="20000"/>
                    </a:ext>
                  </a:extLst>
                </a:gridCol>
                <a:gridCol w="1327313">
                  <a:extLst>
                    <a:ext uri="{9D8B030D-6E8A-4147-A177-3AD203B41FA5}">
                      <a16:colId xmlns:a16="http://schemas.microsoft.com/office/drawing/2014/main" val="20001"/>
                    </a:ext>
                  </a:extLst>
                </a:gridCol>
              </a:tblGrid>
              <a:tr h="193305">
                <a:tc>
                  <a:txBody>
                    <a:bodyPr/>
                    <a:lstStyle/>
                    <a:p>
                      <a:r>
                        <a:rPr sz="800" b="0">
                          <a:solidFill>
                            <a:srgbClr val="242C7F"/>
                          </a:solidFill>
                        </a:rPr>
                        <a:t>Goal</a:t>
                      </a:r>
                    </a:p>
                  </a:txBody>
                  <a:tcPr>
                    <a:solidFill>
                      <a:srgbClr val="DFD3F4"/>
                    </a:solidFill>
                  </a:tcPr>
                </a:tc>
                <a:tc>
                  <a:txBody>
                    <a:bodyPr/>
                    <a:lstStyle/>
                    <a:p>
                      <a:r>
                        <a:rPr sz="800" b="0">
                          <a:solidFill>
                            <a:srgbClr val="242C7F"/>
                          </a:solidFill>
                        </a:rPr>
                        <a:t>Format Trend</a:t>
                      </a:r>
                    </a:p>
                  </a:txBody>
                  <a:tcPr>
                    <a:solidFill>
                      <a:srgbClr val="DFD3F4"/>
                    </a:solidFill>
                  </a:tcPr>
                </a:tc>
                <a:extLst>
                  <a:ext uri="{0D108BD9-81ED-4DB2-BD59-A6C34878D82A}">
                    <a16:rowId xmlns:a16="http://schemas.microsoft.com/office/drawing/2014/main" val="10000"/>
                  </a:ext>
                </a:extLst>
              </a:tr>
              <a:tr h="193305">
                <a:tc>
                  <a:txBody>
                    <a:bodyPr/>
                    <a:lstStyle/>
                    <a:p>
                      <a:r>
                        <a:rPr sz="800" b="0">
                          <a:solidFill>
                            <a:srgbClr val="242C7F"/>
                          </a:solidFill>
                        </a:rPr>
                        <a:t>Signal</a:t>
                      </a:r>
                    </a:p>
                  </a:txBody>
                  <a:tcPr>
                    <a:solidFill>
                      <a:srgbClr val="C2AAEB"/>
                    </a:solidFill>
                  </a:tcPr>
                </a:tc>
                <a:tc>
                  <a:txBody>
                    <a:bodyPr/>
                    <a:lstStyle/>
                    <a:p>
                      <a:r>
                        <a:rPr sz="800" b="0">
                          <a:solidFill>
                            <a:srgbClr val="242C7F"/>
                          </a:solidFill>
                        </a:rPr>
                        <a:t>Interval Transform</a:t>
                      </a:r>
                    </a:p>
                  </a:txBody>
                  <a:tcPr>
                    <a:solidFill>
                      <a:srgbClr val="C2AAEB"/>
                    </a:solidFill>
                  </a:tcPr>
                </a:tc>
                <a:extLst>
                  <a:ext uri="{0D108BD9-81ED-4DB2-BD59-A6C34878D82A}">
                    <a16:rowId xmlns:a16="http://schemas.microsoft.com/office/drawing/2014/main" val="10001"/>
                  </a:ext>
                </a:extLst>
              </a:tr>
              <a:tr h="193305">
                <a:tc>
                  <a:txBody>
                    <a:bodyPr/>
                    <a:lstStyle/>
                    <a:p>
                      <a:r>
                        <a:rPr sz="800" b="0">
                          <a:solidFill>
                            <a:srgbClr val="242C7F"/>
                          </a:solidFill>
                        </a:rPr>
                        <a:t>Payload Surface</a:t>
                      </a:r>
                    </a:p>
                  </a:txBody>
                  <a:tcPr>
                    <a:solidFill>
                      <a:srgbClr val="DFD3F4"/>
                    </a:solidFill>
                  </a:tcPr>
                </a:tc>
                <a:tc>
                  <a:txBody>
                    <a:bodyPr/>
                    <a:lstStyle/>
                    <a:p>
                      <a:r>
                        <a:rPr sz="800" b="0">
                          <a:solidFill>
                            <a:srgbClr val="242C7F"/>
                          </a:solidFill>
                        </a:rPr>
                        <a:t>Friction Process</a:t>
                      </a:r>
                    </a:p>
                  </a:txBody>
                  <a:tcPr>
                    <a:solidFill>
                      <a:srgbClr val="DFD3F4"/>
                    </a:solidFill>
                  </a:tcPr>
                </a:tc>
                <a:extLst>
                  <a:ext uri="{0D108BD9-81ED-4DB2-BD59-A6C34878D82A}">
                    <a16:rowId xmlns:a16="http://schemas.microsoft.com/office/drawing/2014/main" val="10002"/>
                  </a:ext>
                </a:extLst>
              </a:tr>
              <a:tr h="193305">
                <a:tc>
                  <a:txBody>
                    <a:bodyPr/>
                    <a:lstStyle/>
                    <a:p>
                      <a:r>
                        <a:rPr sz="800" b="0">
                          <a:solidFill>
                            <a:srgbClr val="242C7F"/>
                          </a:solidFill>
                        </a:rPr>
                        <a:t>Map</a:t>
                      </a:r>
                    </a:p>
                  </a:txBody>
                  <a:tcPr>
                    <a:solidFill>
                      <a:srgbClr val="C2AAEB"/>
                    </a:solidFill>
                  </a:tcPr>
                </a:tc>
                <a:tc>
                  <a:txBody>
                    <a:bodyPr/>
                    <a:lstStyle/>
                    <a:p>
                      <a:r>
                        <a:rPr sz="800" b="0">
                          <a:solidFill>
                            <a:srgbClr val="242C7F"/>
                          </a:solidFill>
                        </a:rPr>
                        <a:t>Sequence</a:t>
                      </a:r>
                    </a:p>
                  </a:txBody>
                  <a:tcPr>
                    <a:solidFill>
                      <a:srgbClr val="C2AAEB"/>
                    </a:solidFill>
                  </a:tcPr>
                </a:tc>
                <a:extLst>
                  <a:ext uri="{0D108BD9-81ED-4DB2-BD59-A6C34878D82A}">
                    <a16:rowId xmlns:a16="http://schemas.microsoft.com/office/drawing/2014/main" val="10003"/>
                  </a:ext>
                </a:extLst>
              </a:tr>
              <a:tr h="193305">
                <a:tc>
                  <a:txBody>
                    <a:bodyPr/>
                    <a:lstStyle/>
                    <a:p>
                      <a:r>
                        <a:rPr sz="800" b="0">
                          <a:solidFill>
                            <a:srgbClr val="242C7F"/>
                          </a:solidFill>
                        </a:rPr>
                        <a:t>Schema Horizon</a:t>
                      </a:r>
                    </a:p>
                  </a:txBody>
                  <a:tcPr>
                    <a:solidFill>
                      <a:srgbClr val="DFD3F4"/>
                    </a:solidFill>
                  </a:tcPr>
                </a:tc>
                <a:tc>
                  <a:txBody>
                    <a:bodyPr/>
                    <a:lstStyle/>
                    <a:p>
                      <a:r>
                        <a:rPr sz="800" b="0">
                          <a:solidFill>
                            <a:srgbClr val="242C7F"/>
                          </a:solidFill>
                        </a:rPr>
                        <a:t>Draft</a:t>
                      </a:r>
                    </a:p>
                  </a:txBody>
                  <a:tcPr>
                    <a:solidFill>
                      <a:srgbClr val="DFD3F4"/>
                    </a:solidFill>
                  </a:tcPr>
                </a:tc>
                <a:extLst>
                  <a:ext uri="{0D108BD9-81ED-4DB2-BD59-A6C34878D82A}">
                    <a16:rowId xmlns:a16="http://schemas.microsoft.com/office/drawing/2014/main" val="10004"/>
                  </a:ext>
                </a:extLst>
              </a:tr>
              <a:tr h="193305">
                <a:tc>
                  <a:txBody>
                    <a:bodyPr/>
                    <a:lstStyle/>
                    <a:p>
                      <a:r>
                        <a:rPr sz="800" b="0">
                          <a:solidFill>
                            <a:srgbClr val="242C7F"/>
                          </a:solidFill>
                        </a:rPr>
                        <a:t>Timeline</a:t>
                      </a:r>
                    </a:p>
                  </a:txBody>
                  <a:tcPr>
                    <a:solidFill>
                      <a:srgbClr val="C2AAEB"/>
                    </a:solidFill>
                  </a:tcPr>
                </a:tc>
                <a:tc>
                  <a:txBody>
                    <a:bodyPr/>
                    <a:lstStyle/>
                    <a:p>
                      <a:r>
                        <a:rPr sz="800" b="0">
                          <a:solidFill>
                            <a:srgbClr val="242C7F"/>
                          </a:solidFill>
                        </a:rPr>
                        <a:t>Radius Topology</a:t>
                      </a:r>
                    </a:p>
                  </a:txBody>
                  <a:tcPr>
                    <a:solidFill>
                      <a:srgbClr val="C2AAEB"/>
                    </a:solidFill>
                  </a:tcPr>
                </a:tc>
                <a:extLst>
                  <a:ext uri="{0D108BD9-81ED-4DB2-BD59-A6C34878D82A}">
                    <a16:rowId xmlns:a16="http://schemas.microsoft.com/office/drawing/2014/main" val="10005"/>
                  </a:ext>
                </a:extLst>
              </a:tr>
              <a:tr h="193311">
                <a:tc>
                  <a:txBody>
                    <a:bodyPr/>
                    <a:lstStyle/>
                    <a:p>
                      <a:r>
                        <a:rPr sz="800" b="0">
                          <a:solidFill>
                            <a:srgbClr val="242C7F"/>
                          </a:solidFill>
                        </a:rPr>
                        <a:t>Workflow Iteration</a:t>
                      </a:r>
                    </a:p>
                  </a:txBody>
                  <a:tcPr>
                    <a:solidFill>
                      <a:srgbClr val="DFD3F4"/>
                    </a:solidFill>
                  </a:tcPr>
                </a:tc>
                <a:tc>
                  <a:txBody>
                    <a:bodyPr/>
                    <a:lstStyle/>
                    <a:p>
                      <a:r>
                        <a:rPr sz="800" b="0">
                          <a:solidFill>
                            <a:srgbClr val="242C7F"/>
                          </a:solidFill>
                        </a:rPr>
                        <a:t>Output Layer</a:t>
                      </a:r>
                    </a:p>
                  </a:txBody>
                  <a:tcPr>
                    <a:solidFill>
                      <a:srgbClr val="DFD3F4"/>
                    </a:solidFill>
                  </a:tcPr>
                </a:tc>
                <a:extLst>
                  <a:ext uri="{0D108BD9-81ED-4DB2-BD59-A6C34878D82A}">
                    <a16:rowId xmlns:a16="http://schemas.microsoft.com/office/drawing/2014/main" val="10006"/>
                  </a:ext>
                </a:extLst>
              </a:tr>
            </a:tbl>
          </a:graphicData>
        </a:graphic>
      </p:graphicFrame>
      <p:sp>
        <p:nvSpPr>
          <p:cNvPr id="12" name="Display 11"/>
          <p:cNvSpPr/>
          <p:nvPr/>
        </p:nvSpPr>
        <p:spPr>
          <a:xfrm>
            <a:off x="7277856" y="3171106"/>
            <a:ext cx="2314748" cy="386357"/>
          </a:xfrm>
          <a:prstGeom prst="flowChartDisplay">
            <a:avLst/>
          </a:prstGeom>
          <a:solidFill>
            <a:srgbClr val="AC4551"/>
          </a:solidFill>
          <a:ln w="17658">
            <a:solidFill>
              <a:srgbClr val="508DE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2"/>
          <a:srcRect l="17657" t="719" r="3748" b="19501"/>
          <a:stretch>
            <a:fillRect/>
          </a:stretch>
        </p:blipFill>
        <p:spPr>
          <a:xfrm>
            <a:off x="5140729" y="760383"/>
            <a:ext cx="1589463" cy="1416334"/>
          </a:xfrm>
          <a:prstGeom prst="rect">
            <a:avLst/>
          </a:prstGeom>
        </p:spPr>
      </p:pic>
      <p:sp>
        <p:nvSpPr>
          <p:cNvPr id="14" name="Gear 6 13"/>
          <p:cNvSpPr/>
          <p:nvPr/>
        </p:nvSpPr>
        <p:spPr>
          <a:xfrm>
            <a:off x="1353534" y="2520216"/>
            <a:ext cx="1720394" cy="502686"/>
          </a:xfrm>
          <a:prstGeom prst="gear6">
            <a:avLst/>
          </a:prstGeom>
          <a:solidFill>
            <a:srgbClr val="749134"/>
          </a:solidFill>
          <a:ln w="10330">
            <a:solidFill>
              <a:srgbClr val="61311E"/>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795433" y="1846271"/>
            <a:ext cx="1465906" cy="898360"/>
          </a:xfrm>
          <a:custGeom>
            <a:avLst/>
            <a:gdLst/>
            <a:ahLst/>
            <a:cxnLst/>
            <a:rect l="l" t="t" r="r" b="b"/>
            <a:pathLst>
              <a:path w="1465906" h="898360">
                <a:moveTo>
                  <a:pt x="0" y="199636"/>
                </a:moveTo>
                <a:lnTo>
                  <a:pt x="315249" y="0"/>
                </a:lnTo>
                <a:lnTo>
                  <a:pt x="630498" y="269508"/>
                </a:lnTo>
                <a:lnTo>
                  <a:pt x="945746" y="29946"/>
                </a:lnTo>
                <a:lnTo>
                  <a:pt x="1465906" y="698724"/>
                </a:lnTo>
                <a:lnTo>
                  <a:pt x="1103370" y="898360"/>
                </a:lnTo>
                <a:lnTo>
                  <a:pt x="756597" y="598907"/>
                </a:lnTo>
                <a:lnTo>
                  <a:pt x="362536" y="868415"/>
                </a:lnTo>
                <a:close/>
              </a:path>
            </a:pathLst>
          </a:custGeom>
          <a:solidFill>
            <a:srgbClr val="49AC96"/>
          </a:solidFill>
          <a:ln w="27428">
            <a:solidFill>
              <a:srgbClr val="1CA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86190" y="969819"/>
            <a:ext cx="1613734" cy="1286199"/>
          </a:xfrm>
          <a:prstGeom prst="rect">
            <a:avLst/>
          </a:prstGeom>
          <a:noFill/>
        </p:spPr>
        <p:txBody>
          <a:bodyPr wrap="none" lIns="77734" tIns="77734" rIns="77734" bIns="77734">
            <a:spAutoFit/>
          </a:bodyPr>
          <a:lstStyle/>
          <a:p>
            <a:r>
              <a:rPr sz="900" b="0" i="1" u="none">
                <a:solidFill>
                  <a:srgbClr val="2965A2"/>
                </a:solidFill>
                <a:latin typeface="Aptos"/>
              </a:rPr>
              <a:t>Queue Domain Release Queueing Deck Harbor Topology Queue Package Indicator Harbor Narrative Indicator Core Friction Input Frame Sync Aspect Bundle Element Profile Signal Workflow Density Mesh Point</a:t>
            </a:r>
          </a:p>
        </p:txBody>
      </p:sp>
      <p:pic>
        <p:nvPicPr>
          <p:cNvPr id="17" name="Picture 16" descr="_example_image.jpg"/>
          <p:cNvPicPr>
            <a:picLocks noChangeAspect="1"/>
          </p:cNvPicPr>
          <p:nvPr/>
        </p:nvPicPr>
        <p:blipFill>
          <a:blip r:embed="rId2"/>
          <a:srcRect/>
          <a:stretch>
            <a:fillRect/>
          </a:stretch>
        </p:blipFill>
        <p:spPr>
          <a:xfrm>
            <a:off x="274207" y="4239664"/>
            <a:ext cx="1017941" cy="1750121"/>
          </a:xfrm>
          <a:prstGeom prst="rect">
            <a:avLst/>
          </a:prstGeom>
        </p:spPr>
      </p:pic>
      <p:sp>
        <p:nvSpPr>
          <p:cNvPr id="18" name="Rounded Rectangle 17"/>
          <p:cNvSpPr/>
          <p:nvPr/>
        </p:nvSpPr>
        <p:spPr>
          <a:xfrm>
            <a:off x="274207" y="4239664"/>
            <a:ext cx="1017941" cy="1750121"/>
          </a:xfrm>
          <a:prstGeom prst="roundRect">
            <a:avLst/>
          </a:prstGeom>
          <a:noFill/>
          <a:ln w="15240">
            <a:solidFill>
              <a:srgbClr val="D9E3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9" name="Chart 18"/>
          <p:cNvGraphicFramePr>
            <a:graphicFrameLocks noGrp="1"/>
          </p:cNvGraphicFramePr>
          <p:nvPr/>
        </p:nvGraphicFramePr>
        <p:xfrm>
          <a:off x="5550729" y="4610734"/>
          <a:ext cx="4890900" cy="17252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Table 19"/>
          <p:cNvGraphicFramePr>
            <a:graphicFrameLocks noGrp="1"/>
          </p:cNvGraphicFramePr>
          <p:nvPr/>
        </p:nvGraphicFramePr>
        <p:xfrm>
          <a:off x="6838838" y="658763"/>
          <a:ext cx="3902611" cy="925206"/>
        </p:xfrm>
        <a:graphic>
          <a:graphicData uri="http://schemas.openxmlformats.org/drawingml/2006/table">
            <a:tbl>
              <a:tblPr firstRow="1" bandRow="1">
                <a:tableStyleId>{5C22544A-7EE6-4342-B048-85BDC9FD1C3A}</a:tableStyleId>
              </a:tblPr>
              <a:tblGrid>
                <a:gridCol w="650435">
                  <a:extLst>
                    <a:ext uri="{9D8B030D-6E8A-4147-A177-3AD203B41FA5}">
                      <a16:colId xmlns:a16="http://schemas.microsoft.com/office/drawing/2014/main" val="20000"/>
                    </a:ext>
                  </a:extLst>
                </a:gridCol>
                <a:gridCol w="650435">
                  <a:extLst>
                    <a:ext uri="{9D8B030D-6E8A-4147-A177-3AD203B41FA5}">
                      <a16:colId xmlns:a16="http://schemas.microsoft.com/office/drawing/2014/main" val="20001"/>
                    </a:ext>
                  </a:extLst>
                </a:gridCol>
                <a:gridCol w="650435">
                  <a:extLst>
                    <a:ext uri="{9D8B030D-6E8A-4147-A177-3AD203B41FA5}">
                      <a16:colId xmlns:a16="http://schemas.microsoft.com/office/drawing/2014/main" val="20002"/>
                    </a:ext>
                  </a:extLst>
                </a:gridCol>
                <a:gridCol w="650435">
                  <a:extLst>
                    <a:ext uri="{9D8B030D-6E8A-4147-A177-3AD203B41FA5}">
                      <a16:colId xmlns:a16="http://schemas.microsoft.com/office/drawing/2014/main" val="20003"/>
                    </a:ext>
                  </a:extLst>
                </a:gridCol>
                <a:gridCol w="650435">
                  <a:extLst>
                    <a:ext uri="{9D8B030D-6E8A-4147-A177-3AD203B41FA5}">
                      <a16:colId xmlns:a16="http://schemas.microsoft.com/office/drawing/2014/main" val="20004"/>
                    </a:ext>
                  </a:extLst>
                </a:gridCol>
                <a:gridCol w="650436">
                  <a:extLst>
                    <a:ext uri="{9D8B030D-6E8A-4147-A177-3AD203B41FA5}">
                      <a16:colId xmlns:a16="http://schemas.microsoft.com/office/drawing/2014/main" val="20005"/>
                    </a:ext>
                  </a:extLst>
                </a:gridCol>
              </a:tblGrid>
              <a:tr h="308402">
                <a:tc>
                  <a:txBody>
                    <a:bodyPr/>
                    <a:lstStyle/>
                    <a:p>
                      <a:r>
                        <a:rPr sz="1100" b="1">
                          <a:solidFill>
                            <a:srgbClr val="A8B9A0"/>
                          </a:solidFill>
                        </a:rPr>
                        <a:t>Scale</a:t>
                      </a:r>
                    </a:p>
                  </a:txBody>
                  <a:tcPr>
                    <a:solidFill>
                      <a:srgbClr val="AE4DA6"/>
                    </a:solidFill>
                  </a:tcPr>
                </a:tc>
                <a:tc>
                  <a:txBody>
                    <a:bodyPr/>
                    <a:lstStyle/>
                    <a:p>
                      <a:r>
                        <a:rPr sz="1100" b="1">
                          <a:solidFill>
                            <a:srgbClr val="A8B9A0"/>
                          </a:solidFill>
                        </a:rPr>
                        <a:t>Coverage</a:t>
                      </a:r>
                    </a:p>
                  </a:txBody>
                  <a:tcPr>
                    <a:solidFill>
                      <a:srgbClr val="AE4DA6"/>
                    </a:solidFill>
                  </a:tcPr>
                </a:tc>
                <a:tc>
                  <a:txBody>
                    <a:bodyPr/>
                    <a:lstStyle/>
                    <a:p>
                      <a:r>
                        <a:rPr sz="1100" b="1">
                          <a:solidFill>
                            <a:srgbClr val="A8B9A0"/>
                          </a:solidFill>
                        </a:rPr>
                        <a:t>Array</a:t>
                      </a:r>
                    </a:p>
                  </a:txBody>
                  <a:tcPr>
                    <a:solidFill>
                      <a:srgbClr val="AE4DA6"/>
                    </a:solidFill>
                  </a:tcPr>
                </a:tc>
                <a:tc>
                  <a:txBody>
                    <a:bodyPr/>
                    <a:lstStyle/>
                    <a:p>
                      <a:r>
                        <a:rPr sz="1100" b="1">
                          <a:solidFill>
                            <a:srgbClr val="A8B9A0"/>
                          </a:solidFill>
                        </a:rPr>
                        <a:t>Bridge Vertex</a:t>
                      </a:r>
                    </a:p>
                  </a:txBody>
                  <a:tcPr>
                    <a:solidFill>
                      <a:srgbClr val="AE4DA6"/>
                    </a:solidFill>
                  </a:tcPr>
                </a:tc>
                <a:tc>
                  <a:txBody>
                    <a:bodyPr/>
                    <a:lstStyle/>
                    <a:p>
                      <a:r>
                        <a:rPr sz="1100" b="1">
                          <a:solidFill>
                            <a:srgbClr val="A8B9A0"/>
                          </a:solidFill>
                        </a:rPr>
                        <a:t>Beta Story</a:t>
                      </a:r>
                    </a:p>
                  </a:txBody>
                  <a:tcPr>
                    <a:solidFill>
                      <a:srgbClr val="AE4DA6"/>
                    </a:solidFill>
                  </a:tcPr>
                </a:tc>
                <a:tc>
                  <a:txBody>
                    <a:bodyPr/>
                    <a:lstStyle/>
                    <a:p>
                      <a:r>
                        <a:rPr sz="1100" b="1">
                          <a:solidFill>
                            <a:srgbClr val="A8B9A0"/>
                          </a:solidFill>
                        </a:rPr>
                        <a:t>Volume</a:t>
                      </a:r>
                    </a:p>
                  </a:txBody>
                  <a:tcPr>
                    <a:solidFill>
                      <a:srgbClr val="AE4DA6"/>
                    </a:solidFill>
                  </a:tcPr>
                </a:tc>
                <a:extLst>
                  <a:ext uri="{0D108BD9-81ED-4DB2-BD59-A6C34878D82A}">
                    <a16:rowId xmlns:a16="http://schemas.microsoft.com/office/drawing/2014/main" val="10000"/>
                  </a:ext>
                </a:extLst>
              </a:tr>
              <a:tr h="308402">
                <a:tc>
                  <a:txBody>
                    <a:bodyPr/>
                    <a:lstStyle/>
                    <a:p>
                      <a:r>
                        <a:rPr sz="1100" b="0">
                          <a:solidFill>
                            <a:srgbClr val="A8B9A0"/>
                          </a:solidFill>
                        </a:rPr>
                        <a:t>Compass</a:t>
                      </a:r>
                    </a:p>
                  </a:txBody>
                  <a:tcPr>
                    <a:solidFill>
                      <a:srgbClr val="F2F2F8"/>
                    </a:solidFill>
                  </a:tcPr>
                </a:tc>
                <a:tc>
                  <a:txBody>
                    <a:bodyPr/>
                    <a:lstStyle/>
                    <a:p>
                      <a:r>
                        <a:rPr sz="1100" b="0">
                          <a:solidFill>
                            <a:srgbClr val="A8B9A0"/>
                          </a:solidFill>
                        </a:rPr>
                        <a:t>Factor Memory</a:t>
                      </a:r>
                    </a:p>
                  </a:txBody>
                  <a:tcPr>
                    <a:solidFill>
                      <a:srgbClr val="F2F2F8"/>
                    </a:solidFill>
                  </a:tcPr>
                </a:tc>
                <a:tc>
                  <a:txBody>
                    <a:bodyPr/>
                    <a:lstStyle/>
                    <a:p>
                      <a:r>
                        <a:rPr sz="1100" b="0">
                          <a:solidFill>
                            <a:srgbClr val="A8B9A0"/>
                          </a:solidFill>
                        </a:rPr>
                        <a:t>Release North</a:t>
                      </a:r>
                    </a:p>
                  </a:txBody>
                  <a:tcPr>
                    <a:solidFill>
                      <a:srgbClr val="F2F2F8"/>
                    </a:solidFill>
                  </a:tcPr>
                </a:tc>
                <a:tc>
                  <a:txBody>
                    <a:bodyPr/>
                    <a:lstStyle/>
                    <a:p>
                      <a:r>
                        <a:rPr sz="1100" b="0">
                          <a:solidFill>
                            <a:srgbClr val="A8B9A0"/>
                          </a:solidFill>
                        </a:rPr>
                        <a:t>Output</a:t>
                      </a:r>
                    </a:p>
                  </a:txBody>
                  <a:tcPr>
                    <a:solidFill>
                      <a:srgbClr val="F2F2F8"/>
                    </a:solidFill>
                  </a:tcPr>
                </a:tc>
                <a:tc>
                  <a:txBody>
                    <a:bodyPr/>
                    <a:lstStyle/>
                    <a:p>
                      <a:r>
                        <a:rPr sz="1100" b="0">
                          <a:solidFill>
                            <a:srgbClr val="A8B9A0"/>
                          </a:solidFill>
                        </a:rPr>
                        <a:t>Access Transform</a:t>
                      </a:r>
                    </a:p>
                  </a:txBody>
                  <a:tcPr>
                    <a:solidFill>
                      <a:srgbClr val="F2F2F8"/>
                    </a:solidFill>
                  </a:tcPr>
                </a:tc>
                <a:tc>
                  <a:txBody>
                    <a:bodyPr/>
                    <a:lstStyle/>
                    <a:p>
                      <a:r>
                        <a:rPr sz="1100" b="0">
                          <a:solidFill>
                            <a:srgbClr val="A8B9A0"/>
                          </a:solidFill>
                        </a:rPr>
                        <a:t>Tile Stream</a:t>
                      </a:r>
                    </a:p>
                  </a:txBody>
                  <a:tcPr>
                    <a:solidFill>
                      <a:srgbClr val="F2F2F8"/>
                    </a:solidFill>
                  </a:tcPr>
                </a:tc>
                <a:extLst>
                  <a:ext uri="{0D108BD9-81ED-4DB2-BD59-A6C34878D82A}">
                    <a16:rowId xmlns:a16="http://schemas.microsoft.com/office/drawing/2014/main" val="10001"/>
                  </a:ext>
                </a:extLst>
              </a:tr>
              <a:tr h="308402">
                <a:tc>
                  <a:txBody>
                    <a:bodyPr/>
                    <a:lstStyle/>
                    <a:p>
                      <a:r>
                        <a:rPr sz="1100" b="0">
                          <a:solidFill>
                            <a:srgbClr val="A8B9A0"/>
                          </a:solidFill>
                        </a:rPr>
                        <a:t>Velocity Engine</a:t>
                      </a:r>
                    </a:p>
                  </a:txBody>
                  <a:tcPr>
                    <a:solidFill>
                      <a:srgbClr val="F2F2F8"/>
                    </a:solidFill>
                  </a:tcPr>
                </a:tc>
                <a:tc>
                  <a:txBody>
                    <a:bodyPr/>
                    <a:lstStyle/>
                    <a:p>
                      <a:r>
                        <a:rPr sz="1100" b="0">
                          <a:solidFill>
                            <a:srgbClr val="A8B9A0"/>
                          </a:solidFill>
                        </a:rPr>
                        <a:t>Exchange</a:t>
                      </a:r>
                    </a:p>
                  </a:txBody>
                  <a:tcPr>
                    <a:solidFill>
                      <a:srgbClr val="F2F2F8"/>
                    </a:solidFill>
                  </a:tcPr>
                </a:tc>
                <a:tc>
                  <a:txBody>
                    <a:bodyPr/>
                    <a:lstStyle/>
                    <a:p>
                      <a:r>
                        <a:rPr sz="1100" b="0">
                          <a:solidFill>
                            <a:srgbClr val="A8B9A0"/>
                          </a:solidFill>
                        </a:rPr>
                        <a:t>Memory Matrix</a:t>
                      </a:r>
                    </a:p>
                  </a:txBody>
                  <a:tcPr>
                    <a:solidFill>
                      <a:srgbClr val="F2F2F8"/>
                    </a:solidFill>
                  </a:tcPr>
                </a:tc>
                <a:tc>
                  <a:txBody>
                    <a:bodyPr/>
                    <a:lstStyle/>
                    <a:p>
                      <a:r>
                        <a:rPr sz="1100" b="0">
                          <a:solidFill>
                            <a:srgbClr val="A8B9A0"/>
                          </a:solidFill>
                        </a:rPr>
                        <a:t>Engine Module</a:t>
                      </a:r>
                    </a:p>
                  </a:txBody>
                  <a:tcPr>
                    <a:solidFill>
                      <a:srgbClr val="F2F2F8"/>
                    </a:solidFill>
                  </a:tcPr>
                </a:tc>
                <a:tc>
                  <a:txBody>
                    <a:bodyPr/>
                    <a:lstStyle/>
                    <a:p>
                      <a:r>
                        <a:rPr sz="1100" b="0">
                          <a:solidFill>
                            <a:srgbClr val="A8B9A0"/>
                          </a:solidFill>
                        </a:rPr>
                        <a:t>Design</a:t>
                      </a:r>
                    </a:p>
                  </a:txBody>
                  <a:tcPr>
                    <a:solidFill>
                      <a:srgbClr val="F2F2F8"/>
                    </a:solidFill>
                  </a:tcPr>
                </a:tc>
                <a:tc>
                  <a:txBody>
                    <a:bodyPr/>
                    <a:lstStyle/>
                    <a:p>
                      <a:r>
                        <a:rPr sz="1100" b="0">
                          <a:solidFill>
                            <a:srgbClr val="A8B9A0"/>
                          </a:solidFill>
                        </a:rPr>
                        <a:t>Terminal Core</a:t>
                      </a:r>
                    </a:p>
                  </a:txBody>
                  <a:tcPr>
                    <a:solidFill>
                      <a:srgbClr val="F2F2F8"/>
                    </a:solidFill>
                  </a:tcPr>
                </a:tc>
                <a:extLst>
                  <a:ext uri="{0D108BD9-81ED-4DB2-BD59-A6C34878D82A}">
                    <a16:rowId xmlns:a16="http://schemas.microsoft.com/office/drawing/2014/main" val="10002"/>
                  </a:ext>
                </a:extLst>
              </a:tr>
            </a:tbl>
          </a:graphicData>
        </a:graphic>
      </p:graphicFrame>
      <p:sp>
        <p:nvSpPr>
          <p:cNvPr id="21" name="TextBox 20"/>
          <p:cNvSpPr txBox="1"/>
          <p:nvPr/>
        </p:nvSpPr>
        <p:spPr>
          <a:xfrm>
            <a:off x="8931396" y="4430851"/>
            <a:ext cx="1060867" cy="487893"/>
          </a:xfrm>
          <a:prstGeom prst="rect">
            <a:avLst/>
          </a:prstGeom>
          <a:noFill/>
        </p:spPr>
        <p:txBody>
          <a:bodyPr wrap="none" lIns="74302" tIns="74302" rIns="74302" bIns="74302">
            <a:spAutoFit/>
          </a:bodyPr>
          <a:lstStyle/>
          <a:p>
            <a:r>
              <a:rPr sz="1200" b="0" i="0" u="sng">
                <a:solidFill>
                  <a:srgbClr val="D751CA"/>
                </a:solidFill>
                <a:latin typeface="Calibri"/>
              </a:rPr>
              <a:t>State Request Version Milestone Pattern Option Entity Cadence North Lens Trigger Milestone Reference Design Entity Atlas Link Portal Reference Cluster Mode Stream Signal Gradient North Insight Stage Action Iteration Design Apex Span Feature Lens Report Transit Result Template Archive Position Vertex</a:t>
            </a:r>
          </a:p>
        </p:txBody>
      </p:sp>
      <p:graphicFrame>
        <p:nvGraphicFramePr>
          <p:cNvPr id="22" name="Chart 21"/>
          <p:cNvGraphicFramePr>
            <a:graphicFrameLocks noGrp="1"/>
          </p:cNvGraphicFramePr>
          <p:nvPr/>
        </p:nvGraphicFramePr>
        <p:xfrm>
          <a:off x="7902470" y="2903175"/>
          <a:ext cx="4124077" cy="1456995"/>
        </p:xfrm>
        <a:graphic>
          <a:graphicData uri="http://schemas.openxmlformats.org/drawingml/2006/chart">
            <c:chart xmlns:c="http://schemas.openxmlformats.org/drawingml/2006/chart" xmlns:r="http://schemas.openxmlformats.org/officeDocument/2006/relationships" r:id="rId4"/>
          </a:graphicData>
        </a:graphic>
      </p:graphicFrame>
      <p:sp>
        <p:nvSpPr>
          <p:cNvPr id="23" name="TextBox 22"/>
          <p:cNvSpPr txBox="1"/>
          <p:nvPr/>
        </p:nvSpPr>
        <p:spPr>
          <a:xfrm>
            <a:off x="6026836" y="2293937"/>
            <a:ext cx="503851" cy="2155191"/>
          </a:xfrm>
          <a:prstGeom prst="rect">
            <a:avLst/>
          </a:prstGeom>
          <a:noFill/>
        </p:spPr>
        <p:txBody>
          <a:bodyPr wrap="none" lIns="21107" tIns="21107" rIns="21107" bIns="21107">
            <a:spAutoFit/>
          </a:bodyPr>
          <a:lstStyle/>
          <a:p>
            <a:r>
              <a:rPr sz="1700" b="1" i="1" u="none">
                <a:solidFill>
                  <a:srgbClr val="37E4D2"/>
                </a:solidFill>
                <a:latin typeface="Georgia"/>
              </a:rPr>
              <a:t>Path Bridge Packet Marker Duration Direction Lens</a:t>
            </a:r>
          </a:p>
        </p:txBody>
      </p:sp>
      <p:cxnSp>
        <p:nvCxnSpPr>
          <p:cNvPr id="24" name="Connector 23"/>
          <p:cNvCxnSpPr/>
          <p:nvPr/>
        </p:nvCxnSpPr>
        <p:spPr>
          <a:xfrm>
            <a:off x="1204178" y="4836716"/>
            <a:ext cx="1022353" cy="411459"/>
          </a:xfrm>
          <a:prstGeom prst="curvedConnector3">
            <a:avLst/>
          </a:prstGeom>
          <a:ln w="22720">
            <a:solidFill>
              <a:srgbClr val="B136D7"/>
            </a:solidFill>
            <a:prstDash val="lg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064003" y="4417439"/>
            <a:ext cx="676788" cy="1537480"/>
          </a:xfrm>
          <a:prstGeom prst="rect">
            <a:avLst/>
          </a:prstGeom>
          <a:noFill/>
        </p:spPr>
        <p:txBody>
          <a:bodyPr wrap="none" lIns="61136" tIns="61136" rIns="61136" bIns="61136">
            <a:spAutoFit/>
          </a:bodyPr>
          <a:lstStyle/>
          <a:p>
            <a:r>
              <a:rPr sz="1400" b="1" i="1" u="none">
                <a:solidFill>
                  <a:srgbClr val="67AC5A"/>
                </a:solidFill>
                <a:latin typeface="Georgia"/>
              </a:rPr>
              <a:t>Forecast Design Order</a:t>
            </a:r>
          </a:p>
        </p:txBody>
      </p:sp>
      <p:sp>
        <p:nvSpPr>
          <p:cNvPr id="26" name="Equal 25"/>
          <p:cNvSpPr/>
          <p:nvPr/>
        </p:nvSpPr>
        <p:spPr>
          <a:xfrm>
            <a:off x="4607885" y="1365753"/>
            <a:ext cx="557505" cy="1942057"/>
          </a:xfrm>
          <a:prstGeom prst="mathEqual">
            <a:avLst/>
          </a:prstGeom>
          <a:solidFill>
            <a:srgbClr val="564D6C"/>
          </a:solidFill>
          <a:ln w="27426">
            <a:solidFill>
              <a:srgbClr val="40AA5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Down Arrow 26"/>
          <p:cNvSpPr/>
          <p:nvPr/>
        </p:nvSpPr>
        <p:spPr>
          <a:xfrm>
            <a:off x="10325724" y="4670366"/>
            <a:ext cx="768273" cy="1098507"/>
          </a:xfrm>
          <a:prstGeom prst="upDownArrow">
            <a:avLst/>
          </a:prstGeom>
          <a:noFill/>
          <a:ln w="10654">
            <a:solidFill>
              <a:srgbClr val="B48FAF"/>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28575" y="3581971"/>
            <a:ext cx="1164401" cy="2333728"/>
          </a:xfrm>
          <a:prstGeom prst="rect">
            <a:avLst/>
          </a:prstGeom>
          <a:noFill/>
        </p:spPr>
        <p:txBody>
          <a:bodyPr wrap="none" lIns="38641" tIns="38641" rIns="38641" bIns="38641">
            <a:spAutoFit/>
          </a:bodyPr>
          <a:lstStyle/>
          <a:p>
            <a:r>
              <a:rPr sz="800" b="0" i="0" u="none">
                <a:solidFill>
                  <a:srgbClr val="33A87C"/>
                </a:solidFill>
                <a:latin typeface="Georgia"/>
              </a:rPr>
              <a:t>Track</a:t>
            </a:r>
          </a:p>
        </p:txBody>
      </p:sp>
      <p:pic>
        <p:nvPicPr>
          <p:cNvPr id="30" name="Graphic 29">
            <a:extLst>
              <a:ext uri="{FF2B5EF4-FFF2-40B4-BE49-F238E27FC236}">
                <a16:creationId xmlns:a16="http://schemas.microsoft.com/office/drawing/2014/main" id="{CB603AE6-FD1E-B709-2249-3498CC7E782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239560" y="639688"/>
            <a:ext cx="940088" cy="1527396"/>
          </a:xfrm>
          <a:prstGeom prst="rect">
            <a:avLst/>
          </a:prstGeom>
        </p:spPr>
      </p:pic>
      <p:pic>
        <p:nvPicPr>
          <p:cNvPr id="32" name="Graphic 31">
            <a:extLst>
              <a:ext uri="{FF2B5EF4-FFF2-40B4-BE49-F238E27FC236}">
                <a16:creationId xmlns:a16="http://schemas.microsoft.com/office/drawing/2014/main" id="{9DB1195B-1A6F-963C-279B-EBF8C9291A6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97047" y="2912481"/>
            <a:ext cx="1912490" cy="91020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9257" y="1059133"/>
            <a:ext cx="1789511" cy="2077584"/>
          </a:xfrm>
          <a:prstGeom prst="rect">
            <a:avLst/>
          </a:prstGeom>
          <a:noFill/>
        </p:spPr>
        <p:txBody>
          <a:bodyPr wrap="none" lIns="73855" tIns="73855" rIns="73855" bIns="73855">
            <a:spAutoFit/>
          </a:bodyPr>
          <a:lstStyle/>
          <a:p>
            <a:r>
              <a:rPr sz="900" b="0" i="0" u="none">
                <a:solidFill>
                  <a:srgbClr val="BE24BD"/>
                </a:solidFill>
                <a:latin typeface="Aptos"/>
              </a:rPr>
              <a:t>Array Briefing Narrative Interface</a:t>
            </a:r>
          </a:p>
        </p:txBody>
      </p:sp>
      <p:pic>
        <p:nvPicPr>
          <p:cNvPr id="3" name="Picture 2" descr="_example_image.jpg"/>
          <p:cNvPicPr>
            <a:picLocks noChangeAspect="1"/>
          </p:cNvPicPr>
          <p:nvPr/>
        </p:nvPicPr>
        <p:blipFill>
          <a:blip r:embed="rId2"/>
          <a:srcRect l="11223" t="8345" r="10660" b="8264"/>
          <a:stretch>
            <a:fillRect/>
          </a:stretch>
        </p:blipFill>
        <p:spPr>
          <a:xfrm>
            <a:off x="3480276" y="3283745"/>
            <a:ext cx="1941170" cy="757071"/>
          </a:xfrm>
          <a:prstGeom prst="rect">
            <a:avLst/>
          </a:prstGeom>
        </p:spPr>
      </p:pic>
      <p:sp>
        <p:nvSpPr>
          <p:cNvPr id="4" name="Rounded Rectangle 3"/>
          <p:cNvSpPr/>
          <p:nvPr/>
        </p:nvSpPr>
        <p:spPr>
          <a:xfrm>
            <a:off x="3480276" y="3283745"/>
            <a:ext cx="1941170" cy="757071"/>
          </a:xfrm>
          <a:prstGeom prst="roundRect">
            <a:avLst/>
          </a:prstGeom>
          <a:noFill/>
          <a:ln w="15240">
            <a:solidFill>
              <a:srgbClr val="AD2F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_example_image.jpg"/>
          <p:cNvPicPr>
            <a:picLocks noChangeAspect="1"/>
          </p:cNvPicPr>
          <p:nvPr/>
        </p:nvPicPr>
        <p:blipFill>
          <a:blip r:embed="rId2"/>
          <a:srcRect l="9968" t="11837" r="15500" b="15112"/>
          <a:stretch>
            <a:fillRect/>
          </a:stretch>
        </p:blipFill>
        <p:spPr>
          <a:xfrm>
            <a:off x="10455044" y="2745418"/>
            <a:ext cx="1569399" cy="1533347"/>
          </a:xfrm>
          <a:prstGeom prst="rect">
            <a:avLst/>
          </a:prstGeom>
        </p:spPr>
      </p:pic>
      <p:sp>
        <p:nvSpPr>
          <p:cNvPr id="6" name="Rounded Rectangle 5"/>
          <p:cNvSpPr/>
          <p:nvPr/>
        </p:nvSpPr>
        <p:spPr>
          <a:xfrm>
            <a:off x="10455044" y="2745418"/>
            <a:ext cx="1569399" cy="1533347"/>
          </a:xfrm>
          <a:prstGeom prst="roundRect">
            <a:avLst/>
          </a:prstGeom>
          <a:noFill/>
          <a:ln w="15240">
            <a:solidFill>
              <a:srgbClr val="8AD1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2308908" y="5808713"/>
            <a:ext cx="736972" cy="702035"/>
          </a:xfrm>
          <a:prstGeom prst="line">
            <a:avLst/>
          </a:prstGeom>
          <a:ln w="27392">
            <a:solidFill>
              <a:srgbClr val="DE6EDC"/>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8" name="Chart 7"/>
          <p:cNvGraphicFramePr>
            <a:graphicFrameLocks noGrp="1"/>
          </p:cNvGraphicFramePr>
          <p:nvPr/>
        </p:nvGraphicFramePr>
        <p:xfrm>
          <a:off x="9167021" y="3601240"/>
          <a:ext cx="2337188" cy="16913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1860925" y="3441522"/>
            <a:ext cx="983833" cy="1870878"/>
          </a:xfrm>
          <a:prstGeom prst="rect">
            <a:avLst/>
          </a:prstGeom>
          <a:noFill/>
        </p:spPr>
        <p:txBody>
          <a:bodyPr wrap="none" lIns="31455" tIns="31455" rIns="31455" bIns="31455">
            <a:spAutoFit/>
          </a:bodyPr>
          <a:lstStyle/>
          <a:p>
            <a:r>
              <a:rPr sz="800" b="0" i="0" u="none">
                <a:solidFill>
                  <a:srgbClr val="C541AE"/>
                </a:solidFill>
                <a:latin typeface="Trebuchet MS"/>
              </a:rPr>
              <a:t>Link Element Guide Guide</a:t>
            </a:r>
          </a:p>
        </p:txBody>
      </p:sp>
      <p:cxnSp>
        <p:nvCxnSpPr>
          <p:cNvPr id="10" name="Connector 9"/>
          <p:cNvCxnSpPr/>
          <p:nvPr/>
        </p:nvCxnSpPr>
        <p:spPr>
          <a:xfrm>
            <a:off x="583963" y="3480910"/>
            <a:ext cx="1483957" cy="1311460"/>
          </a:xfrm>
          <a:prstGeom prst="bentConnector3">
            <a:avLst/>
          </a:prstGeom>
          <a:ln w="19096">
            <a:solidFill>
              <a:srgbClr val="97E29A"/>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554806" y="3979476"/>
            <a:ext cx="2406132" cy="2032545"/>
          </a:xfrm>
          <a:prstGeom prst="rect">
            <a:avLst/>
          </a:prstGeom>
          <a:noFill/>
        </p:spPr>
        <p:txBody>
          <a:bodyPr wrap="none" lIns="47653" tIns="47653" rIns="47653" bIns="47653">
            <a:spAutoFit/>
          </a:bodyPr>
          <a:lstStyle/>
          <a:p>
            <a:r>
              <a:rPr sz="800" b="0" i="0" u="none">
                <a:solidFill>
                  <a:srgbClr val="199A8B"/>
                </a:solidFill>
                <a:latin typeface="Arial"/>
              </a:rPr>
              <a:t>Proof Version Scope Grid Stream Compass Span Asset Array</a:t>
            </a:r>
          </a:p>
        </p:txBody>
      </p:sp>
      <p:sp>
        <p:nvSpPr>
          <p:cNvPr id="12" name="TextBox 11"/>
          <p:cNvSpPr txBox="1"/>
          <p:nvPr/>
        </p:nvSpPr>
        <p:spPr>
          <a:xfrm>
            <a:off x="4949215" y="5580707"/>
            <a:ext cx="424813" cy="408020"/>
          </a:xfrm>
          <a:prstGeom prst="rect">
            <a:avLst/>
          </a:prstGeom>
          <a:noFill/>
        </p:spPr>
        <p:txBody>
          <a:bodyPr wrap="none" lIns="88573" tIns="88573" rIns="88573" bIns="88573">
            <a:spAutoFit/>
          </a:bodyPr>
          <a:lstStyle/>
          <a:p>
            <a:r>
              <a:rPr sz="900" b="1" i="0" u="none">
                <a:solidFill>
                  <a:srgbClr val="2D409D"/>
                </a:solidFill>
                <a:latin typeface="Verdana"/>
              </a:rPr>
              <a:t>Module Portal Table Method Group Record Logic Marker Order Feature Gradient Velocity Spectrum Datum Proof Feature Topology State Cell Point Resource Register Briefing Cadence Map Center Interval Process Transform Factor State Bundle</a:t>
            </a:r>
          </a:p>
        </p:txBody>
      </p:sp>
      <p:sp>
        <p:nvSpPr>
          <p:cNvPr id="13" name="Parallelogram 12"/>
          <p:cNvSpPr/>
          <p:nvPr/>
        </p:nvSpPr>
        <p:spPr>
          <a:xfrm>
            <a:off x="5689034" y="378719"/>
            <a:ext cx="551223" cy="323589"/>
          </a:xfrm>
          <a:prstGeom prst="parallelogram">
            <a:avLst/>
          </a:prstGeom>
          <a:noFill/>
          <a:ln w="18611">
            <a:solidFill>
              <a:srgbClr val="9BD49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Multiply 13"/>
          <p:cNvSpPr/>
          <p:nvPr/>
        </p:nvSpPr>
        <p:spPr>
          <a:xfrm>
            <a:off x="2911456" y="5571502"/>
            <a:ext cx="329475" cy="937886"/>
          </a:xfrm>
          <a:prstGeom prst="mathMultiply">
            <a:avLst/>
          </a:prstGeom>
          <a:solidFill>
            <a:srgbClr val="2D6DD9"/>
          </a:solidFill>
          <a:ln w="12848">
            <a:solidFill>
              <a:srgbClr val="7A9F55"/>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Chart 14"/>
          <p:cNvGraphicFramePr>
            <a:graphicFrameLocks noGrp="1"/>
          </p:cNvGraphicFramePr>
          <p:nvPr/>
        </p:nvGraphicFramePr>
        <p:xfrm>
          <a:off x="3610500" y="709358"/>
          <a:ext cx="2418770" cy="2086150"/>
        </p:xfrm>
        <a:graphic>
          <a:graphicData uri="http://schemas.openxmlformats.org/drawingml/2006/chart">
            <c:chart xmlns:c="http://schemas.openxmlformats.org/drawingml/2006/chart" xmlns:r="http://schemas.openxmlformats.org/officeDocument/2006/relationships" r:id="rId4"/>
          </a:graphicData>
        </a:graphic>
      </p:graphicFrame>
      <p:sp>
        <p:nvSpPr>
          <p:cNvPr id="16" name="Freeform 15"/>
          <p:cNvSpPr/>
          <p:nvPr/>
        </p:nvSpPr>
        <p:spPr>
          <a:xfrm>
            <a:off x="437922" y="5204581"/>
            <a:ext cx="1592760" cy="1192067"/>
          </a:xfrm>
          <a:custGeom>
            <a:avLst/>
            <a:gdLst/>
            <a:ahLst/>
            <a:cxnLst/>
            <a:rect l="l" t="t" r="r" b="b"/>
            <a:pathLst>
              <a:path w="1592760" h="1192067">
                <a:moveTo>
                  <a:pt x="796380" y="0"/>
                </a:moveTo>
                <a:lnTo>
                  <a:pt x="995475" y="298016"/>
                </a:lnTo>
                <a:lnTo>
                  <a:pt x="1493213" y="214572"/>
                </a:lnTo>
                <a:lnTo>
                  <a:pt x="1211162" y="596033"/>
                </a:lnTo>
                <a:lnTo>
                  <a:pt x="1592760" y="929812"/>
                </a:lnTo>
                <a:lnTo>
                  <a:pt x="995475" y="858288"/>
                </a:lnTo>
                <a:lnTo>
                  <a:pt x="796380" y="1192067"/>
                </a:lnTo>
                <a:lnTo>
                  <a:pt x="597285" y="858288"/>
                </a:lnTo>
                <a:lnTo>
                  <a:pt x="0" y="929812"/>
                </a:lnTo>
                <a:lnTo>
                  <a:pt x="381599" y="596033"/>
                </a:lnTo>
                <a:lnTo>
                  <a:pt x="99548" y="214572"/>
                </a:lnTo>
                <a:lnTo>
                  <a:pt x="597285" y="298016"/>
                </a:lnTo>
                <a:close/>
              </a:path>
            </a:pathLst>
          </a:custGeom>
          <a:solidFill>
            <a:srgbClr val="487A2A"/>
          </a:solidFill>
          <a:ln w="18013">
            <a:solidFill>
              <a:srgbClr val="485E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642902" y="4709024"/>
            <a:ext cx="2300800" cy="993495"/>
          </a:xfrm>
          <a:custGeom>
            <a:avLst/>
            <a:gdLst/>
            <a:ahLst/>
            <a:cxnLst/>
            <a:rect l="l" t="t" r="r" b="b"/>
            <a:pathLst>
              <a:path w="2300800" h="993495">
                <a:moveTo>
                  <a:pt x="247398" y="169106"/>
                </a:moveTo>
                <a:lnTo>
                  <a:pt x="816413" y="0"/>
                </a:lnTo>
                <a:lnTo>
                  <a:pt x="1682305" y="84553"/>
                </a:lnTo>
                <a:lnTo>
                  <a:pt x="2300800" y="401626"/>
                </a:lnTo>
                <a:lnTo>
                  <a:pt x="1979183" y="824390"/>
                </a:lnTo>
                <a:lnTo>
                  <a:pt x="1063811" y="993495"/>
                </a:lnTo>
                <a:lnTo>
                  <a:pt x="148439" y="718699"/>
                </a:lnTo>
                <a:lnTo>
                  <a:pt x="0" y="359349"/>
                </a:lnTo>
                <a:close/>
              </a:path>
            </a:pathLst>
          </a:custGeom>
          <a:solidFill>
            <a:srgbClr val="466A7E"/>
          </a:solidFill>
          <a:ln w="16805">
            <a:solidFill>
              <a:srgbClr val="5E52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2"/>
          <a:srcRect l="10249" t="18226" r="3149" b="2736"/>
          <a:stretch>
            <a:fillRect/>
          </a:stretch>
        </p:blipFill>
        <p:spPr>
          <a:xfrm>
            <a:off x="2740425" y="150021"/>
            <a:ext cx="3016135" cy="876633"/>
          </a:xfrm>
          <a:prstGeom prst="rect">
            <a:avLst/>
          </a:prstGeom>
        </p:spPr>
      </p:pic>
      <p:sp>
        <p:nvSpPr>
          <p:cNvPr id="19" name="Rounded Rectangle 18"/>
          <p:cNvSpPr/>
          <p:nvPr/>
        </p:nvSpPr>
        <p:spPr>
          <a:xfrm>
            <a:off x="2740425" y="150021"/>
            <a:ext cx="3016135" cy="876633"/>
          </a:xfrm>
          <a:prstGeom prst="roundRect">
            <a:avLst/>
          </a:prstGeom>
          <a:noFill/>
          <a:ln w="15240">
            <a:solidFill>
              <a:srgbClr val="3FB6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Table 19"/>
          <p:cNvGraphicFramePr>
            <a:graphicFrameLocks noGrp="1"/>
          </p:cNvGraphicFramePr>
          <p:nvPr/>
        </p:nvGraphicFramePr>
        <p:xfrm>
          <a:off x="8693628" y="5141141"/>
          <a:ext cx="2044918" cy="931713"/>
        </p:xfrm>
        <a:graphic>
          <a:graphicData uri="http://schemas.openxmlformats.org/drawingml/2006/table">
            <a:tbl>
              <a:tblPr firstRow="1" bandRow="1">
                <a:tableStyleId>{5C22544A-7EE6-4342-B048-85BDC9FD1C3A}</a:tableStyleId>
              </a:tblPr>
              <a:tblGrid>
                <a:gridCol w="511229">
                  <a:extLst>
                    <a:ext uri="{9D8B030D-6E8A-4147-A177-3AD203B41FA5}">
                      <a16:colId xmlns:a16="http://schemas.microsoft.com/office/drawing/2014/main" val="20000"/>
                    </a:ext>
                  </a:extLst>
                </a:gridCol>
                <a:gridCol w="511229">
                  <a:extLst>
                    <a:ext uri="{9D8B030D-6E8A-4147-A177-3AD203B41FA5}">
                      <a16:colId xmlns:a16="http://schemas.microsoft.com/office/drawing/2014/main" val="20001"/>
                    </a:ext>
                  </a:extLst>
                </a:gridCol>
                <a:gridCol w="511229">
                  <a:extLst>
                    <a:ext uri="{9D8B030D-6E8A-4147-A177-3AD203B41FA5}">
                      <a16:colId xmlns:a16="http://schemas.microsoft.com/office/drawing/2014/main" val="20002"/>
                    </a:ext>
                  </a:extLst>
                </a:gridCol>
                <a:gridCol w="511231">
                  <a:extLst>
                    <a:ext uri="{9D8B030D-6E8A-4147-A177-3AD203B41FA5}">
                      <a16:colId xmlns:a16="http://schemas.microsoft.com/office/drawing/2014/main" val="20003"/>
                    </a:ext>
                  </a:extLst>
                </a:gridCol>
              </a:tblGrid>
              <a:tr h="186342">
                <a:tc>
                  <a:txBody>
                    <a:bodyPr/>
                    <a:lstStyle/>
                    <a:p>
                      <a:r>
                        <a:rPr sz="600" b="1">
                          <a:solidFill>
                            <a:srgbClr val="7AA57C"/>
                          </a:solidFill>
                        </a:rPr>
                        <a:t>Moment Agenda</a:t>
                      </a:r>
                    </a:p>
                  </a:txBody>
                  <a:tcPr>
                    <a:solidFill>
                      <a:srgbClr val="E5E664"/>
                    </a:solidFill>
                  </a:tcPr>
                </a:tc>
                <a:tc>
                  <a:txBody>
                    <a:bodyPr/>
                    <a:lstStyle/>
                    <a:p>
                      <a:r>
                        <a:rPr sz="600" b="1">
                          <a:solidFill>
                            <a:srgbClr val="7AA57C"/>
                          </a:solidFill>
                        </a:rPr>
                        <a:t>Status</a:t>
                      </a:r>
                    </a:p>
                  </a:txBody>
                  <a:tcPr>
                    <a:solidFill>
                      <a:srgbClr val="E5E664"/>
                    </a:solidFill>
                  </a:tcPr>
                </a:tc>
                <a:tc>
                  <a:txBody>
                    <a:bodyPr/>
                    <a:lstStyle/>
                    <a:p>
                      <a:r>
                        <a:rPr sz="600" b="1">
                          <a:solidFill>
                            <a:srgbClr val="7AA57C"/>
                          </a:solidFill>
                        </a:rPr>
                        <a:t>Sequence Context</a:t>
                      </a:r>
                    </a:p>
                  </a:txBody>
                  <a:tcPr>
                    <a:solidFill>
                      <a:srgbClr val="E5E664"/>
                    </a:solidFill>
                  </a:tcPr>
                </a:tc>
                <a:tc>
                  <a:txBody>
                    <a:bodyPr/>
                    <a:lstStyle/>
                    <a:p>
                      <a:r>
                        <a:rPr sz="600" b="1">
                          <a:solidFill>
                            <a:srgbClr val="7AA57C"/>
                          </a:solidFill>
                        </a:rPr>
                        <a:t>Track Core</a:t>
                      </a:r>
                    </a:p>
                  </a:txBody>
                  <a:tcPr>
                    <a:solidFill>
                      <a:srgbClr val="E5E664"/>
                    </a:solidFill>
                  </a:tcPr>
                </a:tc>
                <a:extLst>
                  <a:ext uri="{0D108BD9-81ED-4DB2-BD59-A6C34878D82A}">
                    <a16:rowId xmlns:a16="http://schemas.microsoft.com/office/drawing/2014/main" val="10000"/>
                  </a:ext>
                </a:extLst>
              </a:tr>
              <a:tr h="186342">
                <a:tc>
                  <a:txBody>
                    <a:bodyPr/>
                    <a:lstStyle/>
                    <a:p>
                      <a:r>
                        <a:rPr sz="600" b="0">
                          <a:solidFill>
                            <a:srgbClr val="7AA57C"/>
                          </a:solidFill>
                        </a:rPr>
                        <a:t>Feature</a:t>
                      </a:r>
                    </a:p>
                  </a:txBody>
                  <a:tcPr>
                    <a:solidFill>
                      <a:srgbClr val="E5E5FA"/>
                    </a:solidFill>
                  </a:tcPr>
                </a:tc>
                <a:tc>
                  <a:txBody>
                    <a:bodyPr/>
                    <a:lstStyle/>
                    <a:p>
                      <a:r>
                        <a:rPr sz="600" b="0">
                          <a:solidFill>
                            <a:srgbClr val="7AA57C"/>
                          </a:solidFill>
                        </a:rPr>
                        <a:t>Archive Buffer</a:t>
                      </a:r>
                    </a:p>
                  </a:txBody>
                  <a:tcPr>
                    <a:solidFill>
                      <a:srgbClr val="E5E5FA"/>
                    </a:solidFill>
                  </a:tcPr>
                </a:tc>
                <a:tc>
                  <a:txBody>
                    <a:bodyPr/>
                    <a:lstStyle/>
                    <a:p>
                      <a:r>
                        <a:rPr sz="600" b="0">
                          <a:solidFill>
                            <a:srgbClr val="7AA57C"/>
                          </a:solidFill>
                        </a:rPr>
                        <a:t>Event</a:t>
                      </a:r>
                    </a:p>
                  </a:txBody>
                  <a:tcPr>
                    <a:solidFill>
                      <a:srgbClr val="E5E5FA"/>
                    </a:solidFill>
                  </a:tcPr>
                </a:tc>
                <a:tc>
                  <a:txBody>
                    <a:bodyPr/>
                    <a:lstStyle/>
                    <a:p>
                      <a:r>
                        <a:rPr sz="600" b="0">
                          <a:solidFill>
                            <a:srgbClr val="7AA57C"/>
                          </a:solidFill>
                        </a:rPr>
                        <a:t>Compass Interval</a:t>
                      </a:r>
                    </a:p>
                  </a:txBody>
                  <a:tcPr>
                    <a:solidFill>
                      <a:srgbClr val="E5E5FA"/>
                    </a:solidFill>
                  </a:tcPr>
                </a:tc>
                <a:extLst>
                  <a:ext uri="{0D108BD9-81ED-4DB2-BD59-A6C34878D82A}">
                    <a16:rowId xmlns:a16="http://schemas.microsoft.com/office/drawing/2014/main" val="10001"/>
                  </a:ext>
                </a:extLst>
              </a:tr>
              <a:tr h="186342">
                <a:tc>
                  <a:txBody>
                    <a:bodyPr/>
                    <a:lstStyle/>
                    <a:p>
                      <a:r>
                        <a:rPr sz="600" b="0">
                          <a:solidFill>
                            <a:srgbClr val="7AA57C"/>
                          </a:solidFill>
                        </a:rPr>
                        <a:t>Context Texture</a:t>
                      </a:r>
                    </a:p>
                  </a:txBody>
                  <a:tcPr>
                    <a:solidFill>
                      <a:srgbClr val="E5E5FA"/>
                    </a:solidFill>
                  </a:tcPr>
                </a:tc>
                <a:tc>
                  <a:txBody>
                    <a:bodyPr/>
                    <a:lstStyle/>
                    <a:p>
                      <a:r>
                        <a:rPr sz="600" b="0">
                          <a:solidFill>
                            <a:srgbClr val="7AA57C"/>
                          </a:solidFill>
                        </a:rPr>
                        <a:t>Position</a:t>
                      </a:r>
                    </a:p>
                  </a:txBody>
                  <a:tcPr>
                    <a:solidFill>
                      <a:srgbClr val="E5E5FA"/>
                    </a:solidFill>
                  </a:tcPr>
                </a:tc>
                <a:tc>
                  <a:txBody>
                    <a:bodyPr/>
                    <a:lstStyle/>
                    <a:p>
                      <a:r>
                        <a:rPr sz="600" b="0">
                          <a:solidFill>
                            <a:srgbClr val="7AA57C"/>
                          </a:solidFill>
                        </a:rPr>
                        <a:t>Pulse</a:t>
                      </a:r>
                    </a:p>
                  </a:txBody>
                  <a:tcPr>
                    <a:solidFill>
                      <a:srgbClr val="E5E5FA"/>
                    </a:solidFill>
                  </a:tcPr>
                </a:tc>
                <a:tc>
                  <a:txBody>
                    <a:bodyPr/>
                    <a:lstStyle/>
                    <a:p>
                      <a:r>
                        <a:rPr sz="600" b="0">
                          <a:solidFill>
                            <a:srgbClr val="7AA57C"/>
                          </a:solidFill>
                        </a:rPr>
                        <a:t>Result Action</a:t>
                      </a:r>
                    </a:p>
                  </a:txBody>
                  <a:tcPr>
                    <a:solidFill>
                      <a:srgbClr val="E5E5FA"/>
                    </a:solidFill>
                  </a:tcPr>
                </a:tc>
                <a:extLst>
                  <a:ext uri="{0D108BD9-81ED-4DB2-BD59-A6C34878D82A}">
                    <a16:rowId xmlns:a16="http://schemas.microsoft.com/office/drawing/2014/main" val="10002"/>
                  </a:ext>
                </a:extLst>
              </a:tr>
              <a:tr h="186342">
                <a:tc>
                  <a:txBody>
                    <a:bodyPr/>
                    <a:lstStyle/>
                    <a:p>
                      <a:r>
                        <a:rPr sz="600" b="0">
                          <a:solidFill>
                            <a:srgbClr val="7AA57C"/>
                          </a:solidFill>
                        </a:rPr>
                        <a:t>Analysis Relay</a:t>
                      </a:r>
                    </a:p>
                  </a:txBody>
                  <a:tcPr>
                    <a:solidFill>
                      <a:srgbClr val="E5E5FA"/>
                    </a:solidFill>
                  </a:tcPr>
                </a:tc>
                <a:tc>
                  <a:txBody>
                    <a:bodyPr/>
                    <a:lstStyle/>
                    <a:p>
                      <a:r>
                        <a:rPr sz="600" b="0">
                          <a:solidFill>
                            <a:srgbClr val="7AA57C"/>
                          </a:solidFill>
                        </a:rPr>
                        <a:t>Grid</a:t>
                      </a:r>
                    </a:p>
                  </a:txBody>
                  <a:tcPr>
                    <a:solidFill>
                      <a:srgbClr val="E5E5FA"/>
                    </a:solidFill>
                  </a:tcPr>
                </a:tc>
                <a:tc>
                  <a:txBody>
                    <a:bodyPr/>
                    <a:lstStyle/>
                    <a:p>
                      <a:r>
                        <a:rPr sz="600" b="0">
                          <a:solidFill>
                            <a:srgbClr val="7AA57C"/>
                          </a:solidFill>
                        </a:rPr>
                        <a:t>Dashboard Brief</a:t>
                      </a:r>
                    </a:p>
                  </a:txBody>
                  <a:tcPr>
                    <a:solidFill>
                      <a:srgbClr val="E5E5FA"/>
                    </a:solidFill>
                  </a:tcPr>
                </a:tc>
                <a:tc>
                  <a:txBody>
                    <a:bodyPr/>
                    <a:lstStyle/>
                    <a:p>
                      <a:r>
                        <a:rPr sz="600" b="0">
                          <a:solidFill>
                            <a:srgbClr val="7AA57C"/>
                          </a:solidFill>
                        </a:rPr>
                        <a:t>Envelope</a:t>
                      </a:r>
                    </a:p>
                  </a:txBody>
                  <a:tcPr>
                    <a:solidFill>
                      <a:srgbClr val="E5E5FA"/>
                    </a:solidFill>
                  </a:tcPr>
                </a:tc>
                <a:extLst>
                  <a:ext uri="{0D108BD9-81ED-4DB2-BD59-A6C34878D82A}">
                    <a16:rowId xmlns:a16="http://schemas.microsoft.com/office/drawing/2014/main" val="10003"/>
                  </a:ext>
                </a:extLst>
              </a:tr>
              <a:tr h="186345">
                <a:tc>
                  <a:txBody>
                    <a:bodyPr/>
                    <a:lstStyle/>
                    <a:p>
                      <a:r>
                        <a:rPr sz="600" b="0">
                          <a:solidFill>
                            <a:srgbClr val="7AA57C"/>
                          </a:solidFill>
                        </a:rPr>
                        <a:t>Release Guide</a:t>
                      </a:r>
                    </a:p>
                  </a:txBody>
                  <a:tcPr>
                    <a:solidFill>
                      <a:srgbClr val="E5E5FA"/>
                    </a:solidFill>
                  </a:tcPr>
                </a:tc>
                <a:tc>
                  <a:txBody>
                    <a:bodyPr/>
                    <a:lstStyle/>
                    <a:p>
                      <a:r>
                        <a:rPr sz="600" b="0">
                          <a:solidFill>
                            <a:srgbClr val="7AA57C"/>
                          </a:solidFill>
                        </a:rPr>
                        <a:t>Core Archive</a:t>
                      </a:r>
                    </a:p>
                  </a:txBody>
                  <a:tcPr>
                    <a:solidFill>
                      <a:srgbClr val="E5E5FA"/>
                    </a:solidFill>
                  </a:tcPr>
                </a:tc>
                <a:tc>
                  <a:txBody>
                    <a:bodyPr/>
                    <a:lstStyle/>
                    <a:p>
                      <a:r>
                        <a:rPr sz="600" b="0">
                          <a:solidFill>
                            <a:srgbClr val="7AA57C"/>
                          </a:solidFill>
                        </a:rPr>
                        <a:t>Alpha</a:t>
                      </a:r>
                    </a:p>
                  </a:txBody>
                  <a:tcPr>
                    <a:solidFill>
                      <a:srgbClr val="E5E5FA"/>
                    </a:solidFill>
                  </a:tcPr>
                </a:tc>
                <a:tc>
                  <a:txBody>
                    <a:bodyPr/>
                    <a:lstStyle/>
                    <a:p>
                      <a:r>
                        <a:rPr sz="600" b="0">
                          <a:solidFill>
                            <a:srgbClr val="7AA57C"/>
                          </a:solidFill>
                        </a:rPr>
                        <a:t>Catalog Cell</a:t>
                      </a:r>
                    </a:p>
                  </a:txBody>
                  <a:tcPr>
                    <a:solidFill>
                      <a:srgbClr val="E5E5FA"/>
                    </a:solidFill>
                  </a:tcPr>
                </a:tc>
                <a:extLst>
                  <a:ext uri="{0D108BD9-81ED-4DB2-BD59-A6C34878D82A}">
                    <a16:rowId xmlns:a16="http://schemas.microsoft.com/office/drawing/2014/main" val="10004"/>
                  </a:ext>
                </a:extLst>
              </a:tr>
            </a:tbl>
          </a:graphicData>
        </a:graphic>
      </p:graphicFrame>
      <p:sp>
        <p:nvSpPr>
          <p:cNvPr id="21" name="Process 20"/>
          <p:cNvSpPr/>
          <p:nvPr/>
        </p:nvSpPr>
        <p:spPr>
          <a:xfrm>
            <a:off x="4465763" y="1798318"/>
            <a:ext cx="447985" cy="1164828"/>
          </a:xfrm>
          <a:prstGeom prst="flowChartProcess">
            <a:avLst/>
          </a:prstGeom>
          <a:noFill/>
          <a:ln w="28678">
            <a:solidFill>
              <a:srgbClr val="AD328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021267" y="1072792"/>
            <a:ext cx="829996" cy="704637"/>
          </a:xfrm>
          <a:prstGeom prst="rect">
            <a:avLst/>
          </a:prstGeom>
          <a:noFill/>
        </p:spPr>
        <p:txBody>
          <a:bodyPr wrap="none" lIns="22033" tIns="22033" rIns="22033" bIns="22033">
            <a:spAutoFit/>
          </a:bodyPr>
          <a:lstStyle/>
          <a:p>
            <a:r>
              <a:rPr sz="1000" b="1" i="0" u="none">
                <a:solidFill>
                  <a:srgbClr val="5FB06B"/>
                </a:solidFill>
                <a:latin typeface="Aptos"/>
              </a:rPr>
              <a:t>Zone Wave Beacon Buffer Drive Cell Lens Group Package Case Grid Lineage Archive Switch Alignment Limit Queueing Horizon Draft Loop Kernel Orbit Mesh Reference Program Rhythm Drive Tile Phase Moment Cycle Index Summary Transit Story Heading Craft Trigger Relay Control</a:t>
            </a:r>
          </a:p>
        </p:txBody>
      </p:sp>
      <p:sp>
        <p:nvSpPr>
          <p:cNvPr id="23" name="Process 22"/>
          <p:cNvSpPr/>
          <p:nvPr/>
        </p:nvSpPr>
        <p:spPr>
          <a:xfrm>
            <a:off x="3391340" y="5504303"/>
            <a:ext cx="544624" cy="864620"/>
          </a:xfrm>
          <a:prstGeom prst="flowChartProcess">
            <a:avLst/>
          </a:prstGeom>
          <a:solidFill>
            <a:srgbClr val="A35FE3"/>
          </a:solidFill>
          <a:ln w="20141">
            <a:solidFill>
              <a:srgbClr val="A5DED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nvGraphicFramePr>
        <p:xfrm>
          <a:off x="8422624" y="507433"/>
          <a:ext cx="3157153" cy="1032988"/>
        </p:xfrm>
        <a:graphic>
          <a:graphicData uri="http://schemas.openxmlformats.org/drawingml/2006/table">
            <a:tbl>
              <a:tblPr firstRow="1" bandRow="1">
                <a:tableStyleId>{5C22544A-7EE6-4342-B048-85BDC9FD1C3A}</a:tableStyleId>
              </a:tblPr>
              <a:tblGrid>
                <a:gridCol w="526192">
                  <a:extLst>
                    <a:ext uri="{9D8B030D-6E8A-4147-A177-3AD203B41FA5}">
                      <a16:colId xmlns:a16="http://schemas.microsoft.com/office/drawing/2014/main" val="20000"/>
                    </a:ext>
                  </a:extLst>
                </a:gridCol>
                <a:gridCol w="526192">
                  <a:extLst>
                    <a:ext uri="{9D8B030D-6E8A-4147-A177-3AD203B41FA5}">
                      <a16:colId xmlns:a16="http://schemas.microsoft.com/office/drawing/2014/main" val="20001"/>
                    </a:ext>
                  </a:extLst>
                </a:gridCol>
                <a:gridCol w="526192">
                  <a:extLst>
                    <a:ext uri="{9D8B030D-6E8A-4147-A177-3AD203B41FA5}">
                      <a16:colId xmlns:a16="http://schemas.microsoft.com/office/drawing/2014/main" val="20002"/>
                    </a:ext>
                  </a:extLst>
                </a:gridCol>
                <a:gridCol w="526192">
                  <a:extLst>
                    <a:ext uri="{9D8B030D-6E8A-4147-A177-3AD203B41FA5}">
                      <a16:colId xmlns:a16="http://schemas.microsoft.com/office/drawing/2014/main" val="20003"/>
                    </a:ext>
                  </a:extLst>
                </a:gridCol>
                <a:gridCol w="526192">
                  <a:extLst>
                    <a:ext uri="{9D8B030D-6E8A-4147-A177-3AD203B41FA5}">
                      <a16:colId xmlns:a16="http://schemas.microsoft.com/office/drawing/2014/main" val="20004"/>
                    </a:ext>
                  </a:extLst>
                </a:gridCol>
                <a:gridCol w="526193">
                  <a:extLst>
                    <a:ext uri="{9D8B030D-6E8A-4147-A177-3AD203B41FA5}">
                      <a16:colId xmlns:a16="http://schemas.microsoft.com/office/drawing/2014/main" val="20005"/>
                    </a:ext>
                  </a:extLst>
                </a:gridCol>
              </a:tblGrid>
              <a:tr h="258247">
                <a:tc>
                  <a:txBody>
                    <a:bodyPr/>
                    <a:lstStyle/>
                    <a:p>
                      <a:r>
                        <a:rPr sz="900" b="1">
                          <a:solidFill>
                            <a:srgbClr val="606EB1"/>
                          </a:solidFill>
                        </a:rPr>
                        <a:t>Metric State</a:t>
                      </a:r>
                    </a:p>
                  </a:txBody>
                  <a:tcPr>
                    <a:solidFill>
                      <a:srgbClr val="636F87"/>
                    </a:solidFill>
                  </a:tcPr>
                </a:tc>
                <a:tc>
                  <a:txBody>
                    <a:bodyPr/>
                    <a:lstStyle/>
                    <a:p>
                      <a:r>
                        <a:rPr sz="900" b="1">
                          <a:solidFill>
                            <a:srgbClr val="606EB1"/>
                          </a:solidFill>
                        </a:rPr>
                        <a:t>Beacon</a:t>
                      </a:r>
                    </a:p>
                  </a:txBody>
                  <a:tcPr>
                    <a:solidFill>
                      <a:srgbClr val="636F87"/>
                    </a:solidFill>
                  </a:tcPr>
                </a:tc>
                <a:tc>
                  <a:txBody>
                    <a:bodyPr/>
                    <a:lstStyle/>
                    <a:p>
                      <a:r>
                        <a:rPr sz="900" b="1">
                          <a:solidFill>
                            <a:srgbClr val="606EB1"/>
                          </a:solidFill>
                        </a:rPr>
                        <a:t>Circuit Dimension</a:t>
                      </a:r>
                    </a:p>
                  </a:txBody>
                  <a:tcPr>
                    <a:solidFill>
                      <a:srgbClr val="636F87"/>
                    </a:solidFill>
                  </a:tcPr>
                </a:tc>
                <a:tc>
                  <a:txBody>
                    <a:bodyPr/>
                    <a:lstStyle/>
                    <a:p>
                      <a:r>
                        <a:rPr sz="900" b="1">
                          <a:solidFill>
                            <a:srgbClr val="606EB1"/>
                          </a:solidFill>
                        </a:rPr>
                        <a:t>Narrative Event</a:t>
                      </a:r>
                    </a:p>
                  </a:txBody>
                  <a:tcPr>
                    <a:solidFill>
                      <a:srgbClr val="636F87"/>
                    </a:solidFill>
                  </a:tcPr>
                </a:tc>
                <a:tc>
                  <a:txBody>
                    <a:bodyPr/>
                    <a:lstStyle/>
                    <a:p>
                      <a:r>
                        <a:rPr sz="900" b="1">
                          <a:solidFill>
                            <a:srgbClr val="606EB1"/>
                          </a:solidFill>
                        </a:rPr>
                        <a:t>Structure Bridge</a:t>
                      </a:r>
                    </a:p>
                  </a:txBody>
                  <a:tcPr>
                    <a:solidFill>
                      <a:srgbClr val="636F87"/>
                    </a:solidFill>
                  </a:tcPr>
                </a:tc>
                <a:tc>
                  <a:txBody>
                    <a:bodyPr/>
                    <a:lstStyle/>
                    <a:p>
                      <a:r>
                        <a:rPr sz="900" b="1">
                          <a:solidFill>
                            <a:srgbClr val="606EB1"/>
                          </a:solidFill>
                        </a:rPr>
                        <a:t>Level</a:t>
                      </a:r>
                    </a:p>
                  </a:txBody>
                  <a:tcPr>
                    <a:solidFill>
                      <a:srgbClr val="636F87"/>
                    </a:solidFill>
                  </a:tcPr>
                </a:tc>
                <a:extLst>
                  <a:ext uri="{0D108BD9-81ED-4DB2-BD59-A6C34878D82A}">
                    <a16:rowId xmlns:a16="http://schemas.microsoft.com/office/drawing/2014/main" val="10000"/>
                  </a:ext>
                </a:extLst>
              </a:tr>
              <a:tr h="258247">
                <a:tc>
                  <a:txBody>
                    <a:bodyPr/>
                    <a:lstStyle/>
                    <a:p>
                      <a:r>
                        <a:rPr sz="900" b="0">
                          <a:solidFill>
                            <a:srgbClr val="606EB1"/>
                          </a:solidFill>
                        </a:rPr>
                        <a:t>Estimate</a:t>
                      </a:r>
                    </a:p>
                  </a:txBody>
                  <a:tcPr>
                    <a:solidFill>
                      <a:srgbClr val="ECF3EC"/>
                    </a:solidFill>
                  </a:tcPr>
                </a:tc>
                <a:tc>
                  <a:txBody>
                    <a:bodyPr/>
                    <a:lstStyle/>
                    <a:p>
                      <a:r>
                        <a:rPr sz="900" b="0">
                          <a:solidFill>
                            <a:srgbClr val="606EB1"/>
                          </a:solidFill>
                        </a:rPr>
                        <a:t>Trend</a:t>
                      </a:r>
                    </a:p>
                  </a:txBody>
                  <a:tcPr>
                    <a:solidFill>
                      <a:srgbClr val="DEEADE"/>
                    </a:solidFill>
                  </a:tcPr>
                </a:tc>
                <a:tc>
                  <a:txBody>
                    <a:bodyPr/>
                    <a:lstStyle/>
                    <a:p>
                      <a:r>
                        <a:rPr sz="900" b="0">
                          <a:solidFill>
                            <a:srgbClr val="606EB1"/>
                          </a:solidFill>
                        </a:rPr>
                        <a:t>Point Query</a:t>
                      </a:r>
                    </a:p>
                  </a:txBody>
                  <a:tcPr>
                    <a:solidFill>
                      <a:srgbClr val="ECF3EC"/>
                    </a:solidFill>
                  </a:tcPr>
                </a:tc>
                <a:tc>
                  <a:txBody>
                    <a:bodyPr/>
                    <a:lstStyle/>
                    <a:p>
                      <a:r>
                        <a:rPr sz="900" b="0">
                          <a:solidFill>
                            <a:srgbClr val="606EB1"/>
                          </a:solidFill>
                        </a:rPr>
                        <a:t>Library Point</a:t>
                      </a:r>
                    </a:p>
                  </a:txBody>
                  <a:tcPr>
                    <a:solidFill>
                      <a:srgbClr val="DEEADE"/>
                    </a:solidFill>
                  </a:tcPr>
                </a:tc>
                <a:tc>
                  <a:txBody>
                    <a:bodyPr/>
                    <a:lstStyle/>
                    <a:p>
                      <a:r>
                        <a:rPr sz="900" b="0">
                          <a:solidFill>
                            <a:srgbClr val="606EB1"/>
                          </a:solidFill>
                        </a:rPr>
                        <a:t>Horizon</a:t>
                      </a:r>
                    </a:p>
                  </a:txBody>
                  <a:tcPr>
                    <a:solidFill>
                      <a:srgbClr val="ECF3EC"/>
                    </a:solidFill>
                  </a:tcPr>
                </a:tc>
                <a:tc>
                  <a:txBody>
                    <a:bodyPr/>
                    <a:lstStyle/>
                    <a:p>
                      <a:r>
                        <a:rPr sz="900" b="0">
                          <a:solidFill>
                            <a:srgbClr val="606EB1"/>
                          </a:solidFill>
                        </a:rPr>
                        <a:t>Harbor Impact</a:t>
                      </a:r>
                    </a:p>
                  </a:txBody>
                  <a:tcPr>
                    <a:solidFill>
                      <a:srgbClr val="DEEADE"/>
                    </a:solidFill>
                  </a:tcPr>
                </a:tc>
                <a:extLst>
                  <a:ext uri="{0D108BD9-81ED-4DB2-BD59-A6C34878D82A}">
                    <a16:rowId xmlns:a16="http://schemas.microsoft.com/office/drawing/2014/main" val="10001"/>
                  </a:ext>
                </a:extLst>
              </a:tr>
              <a:tr h="258247">
                <a:tc>
                  <a:txBody>
                    <a:bodyPr/>
                    <a:lstStyle/>
                    <a:p>
                      <a:r>
                        <a:rPr sz="900" b="0">
                          <a:solidFill>
                            <a:srgbClr val="606EB1"/>
                          </a:solidFill>
                        </a:rPr>
                        <a:t>Queueing</a:t>
                      </a:r>
                    </a:p>
                  </a:txBody>
                  <a:tcPr>
                    <a:solidFill>
                      <a:srgbClr val="ECF3EC"/>
                    </a:solidFill>
                  </a:tcPr>
                </a:tc>
                <a:tc>
                  <a:txBody>
                    <a:bodyPr/>
                    <a:lstStyle/>
                    <a:p>
                      <a:r>
                        <a:rPr sz="900" b="0">
                          <a:solidFill>
                            <a:srgbClr val="606EB1"/>
                          </a:solidFill>
                        </a:rPr>
                        <a:t>Option Cycle</a:t>
                      </a:r>
                    </a:p>
                  </a:txBody>
                  <a:tcPr>
                    <a:solidFill>
                      <a:srgbClr val="DEEADE"/>
                    </a:solidFill>
                  </a:tcPr>
                </a:tc>
                <a:tc>
                  <a:txBody>
                    <a:bodyPr/>
                    <a:lstStyle/>
                    <a:p>
                      <a:r>
                        <a:rPr sz="900" b="0">
                          <a:solidFill>
                            <a:srgbClr val="606EB1"/>
                          </a:solidFill>
                        </a:rPr>
                        <a:t>Result Report</a:t>
                      </a:r>
                    </a:p>
                  </a:txBody>
                  <a:tcPr>
                    <a:solidFill>
                      <a:srgbClr val="ECF3EC"/>
                    </a:solidFill>
                  </a:tcPr>
                </a:tc>
                <a:tc>
                  <a:txBody>
                    <a:bodyPr/>
                    <a:lstStyle/>
                    <a:p>
                      <a:r>
                        <a:rPr sz="900" b="0">
                          <a:solidFill>
                            <a:srgbClr val="606EB1"/>
                          </a:solidFill>
                        </a:rPr>
                        <a:t>Panel Needle</a:t>
                      </a:r>
                    </a:p>
                  </a:txBody>
                  <a:tcPr>
                    <a:solidFill>
                      <a:srgbClr val="DEEADE"/>
                    </a:solidFill>
                  </a:tcPr>
                </a:tc>
                <a:tc>
                  <a:txBody>
                    <a:bodyPr/>
                    <a:lstStyle/>
                    <a:p>
                      <a:r>
                        <a:rPr sz="900" b="0">
                          <a:solidFill>
                            <a:srgbClr val="606EB1"/>
                          </a:solidFill>
                        </a:rPr>
                        <a:t>Dimension</a:t>
                      </a:r>
                    </a:p>
                  </a:txBody>
                  <a:tcPr>
                    <a:solidFill>
                      <a:srgbClr val="ECF3EC"/>
                    </a:solidFill>
                  </a:tcPr>
                </a:tc>
                <a:tc>
                  <a:txBody>
                    <a:bodyPr/>
                    <a:lstStyle/>
                    <a:p>
                      <a:r>
                        <a:rPr sz="900" b="0">
                          <a:solidFill>
                            <a:srgbClr val="606EB1"/>
                          </a:solidFill>
                        </a:rPr>
                        <a:t>Path Packet</a:t>
                      </a:r>
                    </a:p>
                  </a:txBody>
                  <a:tcPr>
                    <a:solidFill>
                      <a:srgbClr val="DEEADE"/>
                    </a:solidFill>
                  </a:tcPr>
                </a:tc>
                <a:extLst>
                  <a:ext uri="{0D108BD9-81ED-4DB2-BD59-A6C34878D82A}">
                    <a16:rowId xmlns:a16="http://schemas.microsoft.com/office/drawing/2014/main" val="10002"/>
                  </a:ext>
                </a:extLst>
              </a:tr>
              <a:tr h="258247">
                <a:tc>
                  <a:txBody>
                    <a:bodyPr/>
                    <a:lstStyle/>
                    <a:p>
                      <a:r>
                        <a:rPr sz="900" b="0">
                          <a:solidFill>
                            <a:srgbClr val="606EB1"/>
                          </a:solidFill>
                        </a:rPr>
                        <a:t>Catalog</a:t>
                      </a:r>
                    </a:p>
                  </a:txBody>
                  <a:tcPr>
                    <a:solidFill>
                      <a:srgbClr val="ECF3EC"/>
                    </a:solidFill>
                  </a:tcPr>
                </a:tc>
                <a:tc>
                  <a:txBody>
                    <a:bodyPr/>
                    <a:lstStyle/>
                    <a:p>
                      <a:r>
                        <a:rPr sz="900" b="0">
                          <a:solidFill>
                            <a:srgbClr val="606EB1"/>
                          </a:solidFill>
                        </a:rPr>
                        <a:t>Feature Order</a:t>
                      </a:r>
                    </a:p>
                  </a:txBody>
                  <a:tcPr>
                    <a:solidFill>
                      <a:srgbClr val="DEEADE"/>
                    </a:solidFill>
                  </a:tcPr>
                </a:tc>
                <a:tc>
                  <a:txBody>
                    <a:bodyPr/>
                    <a:lstStyle/>
                    <a:p>
                      <a:r>
                        <a:rPr sz="900" b="0">
                          <a:solidFill>
                            <a:srgbClr val="606EB1"/>
                          </a:solidFill>
                        </a:rPr>
                        <a:t>Sync Stack</a:t>
                      </a:r>
                    </a:p>
                  </a:txBody>
                  <a:tcPr>
                    <a:solidFill>
                      <a:srgbClr val="ECF3EC"/>
                    </a:solidFill>
                  </a:tcPr>
                </a:tc>
                <a:tc>
                  <a:txBody>
                    <a:bodyPr/>
                    <a:lstStyle/>
                    <a:p>
                      <a:r>
                        <a:rPr sz="900" b="0">
                          <a:solidFill>
                            <a:srgbClr val="606EB1"/>
                          </a:solidFill>
                        </a:rPr>
                        <a:t>Logic</a:t>
                      </a:r>
                    </a:p>
                  </a:txBody>
                  <a:tcPr>
                    <a:solidFill>
                      <a:srgbClr val="DEEADE"/>
                    </a:solidFill>
                  </a:tcPr>
                </a:tc>
                <a:tc>
                  <a:txBody>
                    <a:bodyPr/>
                    <a:lstStyle/>
                    <a:p>
                      <a:r>
                        <a:rPr sz="900" b="0">
                          <a:solidFill>
                            <a:srgbClr val="606EB1"/>
                          </a:solidFill>
                        </a:rPr>
                        <a:t>Viewport</a:t>
                      </a:r>
                    </a:p>
                  </a:txBody>
                  <a:tcPr>
                    <a:solidFill>
                      <a:srgbClr val="ECF3EC"/>
                    </a:solidFill>
                  </a:tcPr>
                </a:tc>
                <a:tc>
                  <a:txBody>
                    <a:bodyPr/>
                    <a:lstStyle/>
                    <a:p>
                      <a:r>
                        <a:rPr sz="900" b="0">
                          <a:solidFill>
                            <a:srgbClr val="606EB1"/>
                          </a:solidFill>
                        </a:rPr>
                        <a:t>Analysis Keyline</a:t>
                      </a:r>
                    </a:p>
                  </a:txBody>
                  <a:tcPr>
                    <a:solidFill>
                      <a:srgbClr val="DEEADE"/>
                    </a:solidFill>
                  </a:tcPr>
                </a:tc>
                <a:extLst>
                  <a:ext uri="{0D108BD9-81ED-4DB2-BD59-A6C34878D82A}">
                    <a16:rowId xmlns:a16="http://schemas.microsoft.com/office/drawing/2014/main" val="10003"/>
                  </a:ext>
                </a:extLst>
              </a:tr>
            </a:tbl>
          </a:graphicData>
        </a:graphic>
      </p:graphicFrame>
      <p:sp>
        <p:nvSpPr>
          <p:cNvPr id="25" name="Document 24"/>
          <p:cNvSpPr/>
          <p:nvPr/>
        </p:nvSpPr>
        <p:spPr>
          <a:xfrm>
            <a:off x="1159238" y="1266478"/>
            <a:ext cx="627184" cy="1352488"/>
          </a:xfrm>
          <a:prstGeom prst="flowChartDocument">
            <a:avLst/>
          </a:prstGeom>
          <a:solidFill>
            <a:srgbClr val="65A980"/>
          </a:solidFill>
          <a:ln w="12837">
            <a:solidFill>
              <a:srgbClr val="55BAD2"/>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85418" y="1248334"/>
            <a:ext cx="3324697" cy="2448443"/>
          </a:xfrm>
          <a:prstGeom prst="rect">
            <a:avLst/>
          </a:prstGeom>
          <a:noFill/>
        </p:spPr>
        <p:txBody>
          <a:bodyPr wrap="none" lIns="66586" tIns="66586" rIns="66586" bIns="66586">
            <a:spAutoFit/>
          </a:bodyPr>
          <a:lstStyle/>
          <a:p>
            <a:r>
              <a:rPr sz="1600" b="0" i="0" u="sng">
                <a:solidFill>
                  <a:srgbClr val="964442"/>
                </a:solidFill>
                <a:latin typeface="Arial"/>
              </a:rPr>
              <a:t>Review Chart Target Service Velocity Layer Sequence Deployment Chart Adaptive Viewport Priority Dispatch Narrative Packet Node Center Register Asset Narrative Intent Topology Route Harbor Engine Wave Phase Transit Device Pulse Model Query Inventory Position Field Signal Level Position Pulse Cadence Build Vector Stream Packet Cycle</a:t>
            </a:r>
          </a:p>
        </p:txBody>
      </p:sp>
      <p:sp>
        <p:nvSpPr>
          <p:cNvPr id="27" name="Predefined Process 26"/>
          <p:cNvSpPr/>
          <p:nvPr/>
        </p:nvSpPr>
        <p:spPr>
          <a:xfrm>
            <a:off x="9801770" y="2565473"/>
            <a:ext cx="946558" cy="254552"/>
          </a:xfrm>
          <a:prstGeom prst="flowChartPredefinedProcess">
            <a:avLst/>
          </a:prstGeom>
          <a:solidFill>
            <a:srgbClr val="3933BB"/>
          </a:solidFill>
          <a:ln w="11799">
            <a:solidFill>
              <a:srgbClr val="324FC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V="1">
            <a:off x="7084945" y="5974385"/>
            <a:ext cx="931101" cy="709591"/>
          </a:xfrm>
          <a:prstGeom prst="curvedConnector3">
            <a:avLst/>
          </a:prstGeom>
          <a:ln w="36265">
            <a:solidFill>
              <a:srgbClr val="565FE2"/>
            </a:solidFill>
            <a:prstDash val="dash"/>
          </a:ln>
        </p:spPr>
        <p:style>
          <a:lnRef idx="2">
            <a:schemeClr val="accent1"/>
          </a:lnRef>
          <a:fillRef idx="0">
            <a:schemeClr val="accent1"/>
          </a:fillRef>
          <a:effectRef idx="1">
            <a:schemeClr val="accent1"/>
          </a:effectRef>
          <a:fontRef idx="minor">
            <a:schemeClr val="tx1"/>
          </a:fontRef>
        </p:style>
      </p:cxnSp>
      <p:sp>
        <p:nvSpPr>
          <p:cNvPr id="29" name="Trapezoid 28"/>
          <p:cNvSpPr/>
          <p:nvPr/>
        </p:nvSpPr>
        <p:spPr>
          <a:xfrm>
            <a:off x="9818924" y="4224454"/>
            <a:ext cx="810033" cy="885033"/>
          </a:xfrm>
          <a:prstGeom prst="trapezoid">
            <a:avLst/>
          </a:prstGeom>
          <a:solidFill>
            <a:srgbClr val="AB7F20"/>
          </a:solidFill>
          <a:ln w="29446">
            <a:solidFill>
              <a:srgbClr val="70603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Graphic 30">
            <a:extLst>
              <a:ext uri="{FF2B5EF4-FFF2-40B4-BE49-F238E27FC236}">
                <a16:creationId xmlns:a16="http://schemas.microsoft.com/office/drawing/2014/main" id="{510A6FDB-DE46-6BC5-69E2-31D1558A278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64327" y="138910"/>
            <a:ext cx="1365755" cy="930169"/>
          </a:xfrm>
          <a:prstGeom prst="rect">
            <a:avLst/>
          </a:prstGeom>
        </p:spPr>
      </p:pic>
      <p:pic>
        <p:nvPicPr>
          <p:cNvPr id="33" name="Graphic 32">
            <a:extLst>
              <a:ext uri="{FF2B5EF4-FFF2-40B4-BE49-F238E27FC236}">
                <a16:creationId xmlns:a16="http://schemas.microsoft.com/office/drawing/2014/main" id="{36B536D2-4A95-FACF-99C1-CF38CB74DFB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588703" y="4848335"/>
            <a:ext cx="1073332" cy="125836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3461108" y="338521"/>
            <a:ext cx="360878" cy="1543530"/>
          </a:xfrm>
          <a:prstGeom prst="wave">
            <a:avLst/>
          </a:prstGeom>
          <a:noFill/>
          <a:ln w="11355">
            <a:solidFill>
              <a:srgbClr val="4ADF7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82265" y="3324330"/>
            <a:ext cx="1076142" cy="2376867"/>
          </a:xfrm>
          <a:prstGeom prst="rect">
            <a:avLst/>
          </a:prstGeom>
          <a:noFill/>
        </p:spPr>
        <p:txBody>
          <a:bodyPr wrap="none" lIns="78885" tIns="78885" rIns="78885" bIns="78885">
            <a:spAutoFit/>
          </a:bodyPr>
          <a:lstStyle/>
          <a:p>
            <a:r>
              <a:rPr sz="1500" b="1" i="0" u="none">
                <a:solidFill>
                  <a:srgbClr val="7C7D9D"/>
                </a:solidFill>
                <a:latin typeface="Georgia"/>
              </a:rPr>
              <a:t>Filter Mode Queue Keyline Window Journey Memory Analysis Group Terminal Gateway Matrix Interface Surface Needle Dispatch Frequency Atlas Cycle Report Version Catalog Topology Aspect Process Intent Spectrum Queueing Workflow Precision Feature Velocity Deployment View Wave Brief Asset Scale</a:t>
            </a:r>
          </a:p>
        </p:txBody>
      </p:sp>
      <p:sp>
        <p:nvSpPr>
          <p:cNvPr id="4" name="Division 3"/>
          <p:cNvSpPr/>
          <p:nvPr/>
        </p:nvSpPr>
        <p:spPr>
          <a:xfrm>
            <a:off x="6212816" y="3390736"/>
            <a:ext cx="702808" cy="346307"/>
          </a:xfrm>
          <a:prstGeom prst="mathDivide">
            <a:avLst/>
          </a:prstGeom>
          <a:solidFill>
            <a:srgbClr val="57D2C7"/>
          </a:solidFill>
          <a:ln w="24616">
            <a:solidFill>
              <a:srgbClr val="632C3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_example_image.jpg"/>
          <p:cNvPicPr>
            <a:picLocks noChangeAspect="1"/>
          </p:cNvPicPr>
          <p:nvPr/>
        </p:nvPicPr>
        <p:blipFill>
          <a:blip r:embed="rId2"/>
          <a:srcRect/>
          <a:stretch>
            <a:fillRect/>
          </a:stretch>
        </p:blipFill>
        <p:spPr>
          <a:xfrm>
            <a:off x="4280918" y="4122657"/>
            <a:ext cx="1204765" cy="1502056"/>
          </a:xfrm>
          <a:prstGeom prst="rect">
            <a:avLst/>
          </a:prstGeom>
        </p:spPr>
      </p:pic>
      <p:cxnSp>
        <p:nvCxnSpPr>
          <p:cNvPr id="6" name="Connector 5"/>
          <p:cNvCxnSpPr/>
          <p:nvPr/>
        </p:nvCxnSpPr>
        <p:spPr>
          <a:xfrm>
            <a:off x="6145782" y="3844800"/>
            <a:ext cx="1598234" cy="437600"/>
          </a:xfrm>
          <a:prstGeom prst="bentConnector3">
            <a:avLst/>
          </a:prstGeom>
          <a:ln w="34589">
            <a:solidFill>
              <a:srgbClr val="6B47DC"/>
            </a:solidFill>
            <a:prstDash val="dash"/>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982647" y="4738466"/>
            <a:ext cx="1527879" cy="1704039"/>
          </a:xfrm>
          <a:prstGeom prst="rect">
            <a:avLst/>
          </a:prstGeom>
          <a:noFill/>
        </p:spPr>
        <p:txBody>
          <a:bodyPr wrap="none" lIns="61719" tIns="61719" rIns="61719" bIns="61719">
            <a:spAutoFit/>
          </a:bodyPr>
          <a:lstStyle/>
          <a:p>
            <a:r>
              <a:rPr sz="900" b="1" i="1" u="none">
                <a:solidFill>
                  <a:srgbClr val="A73033"/>
                </a:solidFill>
                <a:latin typeface="Arial"/>
              </a:rPr>
              <a:t>Map Surface Clarity Token Cortex Version Analysis Dimension Apex Data Case Pixel</a:t>
            </a:r>
          </a:p>
        </p:txBody>
      </p:sp>
      <p:sp>
        <p:nvSpPr>
          <p:cNvPr id="8" name="TextBox 7"/>
          <p:cNvSpPr txBox="1"/>
          <p:nvPr/>
        </p:nvSpPr>
        <p:spPr>
          <a:xfrm>
            <a:off x="3331445" y="1911689"/>
            <a:ext cx="2822615" cy="2144132"/>
          </a:xfrm>
          <a:prstGeom prst="rect">
            <a:avLst/>
          </a:prstGeom>
          <a:solidFill>
            <a:srgbClr val="4F7F83"/>
          </a:solidFill>
        </p:spPr>
        <p:txBody>
          <a:bodyPr wrap="none" lIns="20483" tIns="20483" rIns="20483" bIns="20483">
            <a:spAutoFit/>
          </a:bodyPr>
          <a:lstStyle/>
          <a:p>
            <a:r>
              <a:rPr sz="2500" b="0" i="0" u="none">
                <a:solidFill>
                  <a:srgbClr val="7F8AD9"/>
                </a:solidFill>
                <a:latin typeface="Aptos"/>
              </a:rPr>
              <a:t>Graph Interface Column Sequence Balance Canvas Account Ratio</a:t>
            </a:r>
          </a:p>
        </p:txBody>
      </p:sp>
      <p:cxnSp>
        <p:nvCxnSpPr>
          <p:cNvPr id="9" name="Connector 8"/>
          <p:cNvCxnSpPr/>
          <p:nvPr/>
        </p:nvCxnSpPr>
        <p:spPr>
          <a:xfrm flipV="1">
            <a:off x="5122217" y="5057639"/>
            <a:ext cx="2663147" cy="573097"/>
          </a:xfrm>
          <a:prstGeom prst="line">
            <a:avLst/>
          </a:prstGeom>
          <a:ln w="24025">
            <a:solidFill>
              <a:srgbClr val="BA21C5"/>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365188" y="1448889"/>
          <a:ext cx="2963347" cy="1258638"/>
        </p:xfrm>
        <a:graphic>
          <a:graphicData uri="http://schemas.openxmlformats.org/drawingml/2006/table">
            <a:tbl>
              <a:tblPr firstRow="1" bandRow="1">
                <a:tableStyleId>{5C22544A-7EE6-4342-B048-85BDC9FD1C3A}</a:tableStyleId>
              </a:tblPr>
              <a:tblGrid>
                <a:gridCol w="592669">
                  <a:extLst>
                    <a:ext uri="{9D8B030D-6E8A-4147-A177-3AD203B41FA5}">
                      <a16:colId xmlns:a16="http://schemas.microsoft.com/office/drawing/2014/main" val="20000"/>
                    </a:ext>
                  </a:extLst>
                </a:gridCol>
                <a:gridCol w="592669">
                  <a:extLst>
                    <a:ext uri="{9D8B030D-6E8A-4147-A177-3AD203B41FA5}">
                      <a16:colId xmlns:a16="http://schemas.microsoft.com/office/drawing/2014/main" val="20001"/>
                    </a:ext>
                  </a:extLst>
                </a:gridCol>
                <a:gridCol w="592669">
                  <a:extLst>
                    <a:ext uri="{9D8B030D-6E8A-4147-A177-3AD203B41FA5}">
                      <a16:colId xmlns:a16="http://schemas.microsoft.com/office/drawing/2014/main" val="20002"/>
                    </a:ext>
                  </a:extLst>
                </a:gridCol>
                <a:gridCol w="592669">
                  <a:extLst>
                    <a:ext uri="{9D8B030D-6E8A-4147-A177-3AD203B41FA5}">
                      <a16:colId xmlns:a16="http://schemas.microsoft.com/office/drawing/2014/main" val="20003"/>
                    </a:ext>
                  </a:extLst>
                </a:gridCol>
                <a:gridCol w="592671">
                  <a:extLst>
                    <a:ext uri="{9D8B030D-6E8A-4147-A177-3AD203B41FA5}">
                      <a16:colId xmlns:a16="http://schemas.microsoft.com/office/drawing/2014/main" val="20004"/>
                    </a:ext>
                  </a:extLst>
                </a:gridCol>
              </a:tblGrid>
              <a:tr h="209773">
                <a:tc>
                  <a:txBody>
                    <a:bodyPr/>
                    <a:lstStyle/>
                    <a:p>
                      <a:r>
                        <a:rPr sz="700" b="0">
                          <a:solidFill>
                            <a:srgbClr val="3519A5"/>
                          </a:solidFill>
                        </a:rPr>
                        <a:t>Variant Audit</a:t>
                      </a:r>
                    </a:p>
                  </a:txBody>
                  <a:tcPr>
                    <a:solidFill>
                      <a:srgbClr val="F1EEE8"/>
                    </a:solidFill>
                  </a:tcPr>
                </a:tc>
                <a:tc>
                  <a:txBody>
                    <a:bodyPr/>
                    <a:lstStyle/>
                    <a:p>
                      <a:r>
                        <a:rPr sz="700" b="0">
                          <a:solidFill>
                            <a:srgbClr val="3519A5"/>
                          </a:solidFill>
                        </a:rPr>
                        <a:t>Stage Context</a:t>
                      </a:r>
                    </a:p>
                  </a:txBody>
                  <a:tcPr>
                    <a:solidFill>
                      <a:srgbClr val="F1EEE8"/>
                    </a:solidFill>
                  </a:tcPr>
                </a:tc>
                <a:tc>
                  <a:txBody>
                    <a:bodyPr/>
                    <a:lstStyle/>
                    <a:p>
                      <a:r>
                        <a:rPr sz="700" b="0">
                          <a:solidFill>
                            <a:srgbClr val="3519A5"/>
                          </a:solidFill>
                        </a:rPr>
                        <a:t>Queueing</a:t>
                      </a:r>
                    </a:p>
                  </a:txBody>
                  <a:tcPr>
                    <a:solidFill>
                      <a:srgbClr val="F1EEE8"/>
                    </a:solidFill>
                  </a:tcPr>
                </a:tc>
                <a:tc>
                  <a:txBody>
                    <a:bodyPr/>
                    <a:lstStyle/>
                    <a:p>
                      <a:r>
                        <a:rPr sz="700" b="0">
                          <a:solidFill>
                            <a:srgbClr val="3519A5"/>
                          </a:solidFill>
                        </a:rPr>
                        <a:t>Response</a:t>
                      </a:r>
                    </a:p>
                  </a:txBody>
                  <a:tcPr>
                    <a:solidFill>
                      <a:srgbClr val="F1EEE8"/>
                    </a:solidFill>
                  </a:tcPr>
                </a:tc>
                <a:tc>
                  <a:txBody>
                    <a:bodyPr/>
                    <a:lstStyle/>
                    <a:p>
                      <a:r>
                        <a:rPr sz="700" b="0">
                          <a:solidFill>
                            <a:srgbClr val="3519A5"/>
                          </a:solidFill>
                        </a:rPr>
                        <a:t>Transit</a:t>
                      </a:r>
                    </a:p>
                  </a:txBody>
                  <a:tcPr>
                    <a:solidFill>
                      <a:srgbClr val="F1EEE8"/>
                    </a:solidFill>
                  </a:tcPr>
                </a:tc>
                <a:extLst>
                  <a:ext uri="{0D108BD9-81ED-4DB2-BD59-A6C34878D82A}">
                    <a16:rowId xmlns:a16="http://schemas.microsoft.com/office/drawing/2014/main" val="10000"/>
                  </a:ext>
                </a:extLst>
              </a:tr>
              <a:tr h="209773">
                <a:tc>
                  <a:txBody>
                    <a:bodyPr/>
                    <a:lstStyle/>
                    <a:p>
                      <a:r>
                        <a:rPr sz="700" b="0">
                          <a:solidFill>
                            <a:srgbClr val="3519A5"/>
                          </a:solidFill>
                        </a:rPr>
                        <a:t>Version Review</a:t>
                      </a:r>
                    </a:p>
                  </a:txBody>
                  <a:tcPr>
                    <a:solidFill>
                      <a:srgbClr val="F1EEE8"/>
                    </a:solidFill>
                  </a:tcPr>
                </a:tc>
                <a:tc>
                  <a:txBody>
                    <a:bodyPr/>
                    <a:lstStyle/>
                    <a:p>
                      <a:r>
                        <a:rPr sz="700" b="0">
                          <a:solidFill>
                            <a:srgbClr val="3519A5"/>
                          </a:solidFill>
                        </a:rPr>
                        <a:t>Dashboard Phase</a:t>
                      </a:r>
                    </a:p>
                  </a:txBody>
                  <a:tcPr>
                    <a:solidFill>
                      <a:srgbClr val="F1EEE8"/>
                    </a:solidFill>
                  </a:tcPr>
                </a:tc>
                <a:tc>
                  <a:txBody>
                    <a:bodyPr/>
                    <a:lstStyle/>
                    <a:p>
                      <a:r>
                        <a:rPr sz="700" b="0">
                          <a:solidFill>
                            <a:srgbClr val="3519A5"/>
                          </a:solidFill>
                        </a:rPr>
                        <a:t>Concept</a:t>
                      </a:r>
                    </a:p>
                  </a:txBody>
                  <a:tcPr>
                    <a:solidFill>
                      <a:srgbClr val="F1EEE8"/>
                    </a:solidFill>
                  </a:tcPr>
                </a:tc>
                <a:tc>
                  <a:txBody>
                    <a:bodyPr/>
                    <a:lstStyle/>
                    <a:p>
                      <a:r>
                        <a:rPr sz="700" b="0">
                          <a:solidFill>
                            <a:srgbClr val="3519A5"/>
                          </a:solidFill>
                        </a:rPr>
                        <a:t>Texture</a:t>
                      </a:r>
                    </a:p>
                  </a:txBody>
                  <a:tcPr>
                    <a:solidFill>
                      <a:srgbClr val="F1EEE8"/>
                    </a:solidFill>
                  </a:tcPr>
                </a:tc>
                <a:tc>
                  <a:txBody>
                    <a:bodyPr/>
                    <a:lstStyle/>
                    <a:p>
                      <a:r>
                        <a:rPr sz="700" b="0">
                          <a:solidFill>
                            <a:srgbClr val="3519A5"/>
                          </a:solidFill>
                        </a:rPr>
                        <a:t>Analysis Path</a:t>
                      </a:r>
                    </a:p>
                  </a:txBody>
                  <a:tcPr>
                    <a:solidFill>
                      <a:srgbClr val="F1EEE8"/>
                    </a:solidFill>
                  </a:tcPr>
                </a:tc>
                <a:extLst>
                  <a:ext uri="{0D108BD9-81ED-4DB2-BD59-A6C34878D82A}">
                    <a16:rowId xmlns:a16="http://schemas.microsoft.com/office/drawing/2014/main" val="10001"/>
                  </a:ext>
                </a:extLst>
              </a:tr>
              <a:tr h="209773">
                <a:tc>
                  <a:txBody>
                    <a:bodyPr/>
                    <a:lstStyle/>
                    <a:p>
                      <a:r>
                        <a:rPr sz="700" b="0">
                          <a:solidFill>
                            <a:srgbClr val="3519A5"/>
                          </a:solidFill>
                        </a:rPr>
                        <a:t>State Density</a:t>
                      </a:r>
                    </a:p>
                  </a:txBody>
                  <a:tcPr>
                    <a:solidFill>
                      <a:srgbClr val="F1EEE8"/>
                    </a:solidFill>
                  </a:tcPr>
                </a:tc>
                <a:tc>
                  <a:txBody>
                    <a:bodyPr/>
                    <a:lstStyle/>
                    <a:p>
                      <a:r>
                        <a:rPr sz="700" b="0">
                          <a:solidFill>
                            <a:srgbClr val="3519A5"/>
                          </a:solidFill>
                        </a:rPr>
                        <a:t>Command</a:t>
                      </a:r>
                    </a:p>
                  </a:txBody>
                  <a:tcPr>
                    <a:solidFill>
                      <a:srgbClr val="F1EEE8"/>
                    </a:solidFill>
                  </a:tcPr>
                </a:tc>
                <a:tc>
                  <a:txBody>
                    <a:bodyPr/>
                    <a:lstStyle/>
                    <a:p>
                      <a:r>
                        <a:rPr sz="700" b="0">
                          <a:solidFill>
                            <a:srgbClr val="3519A5"/>
                          </a:solidFill>
                        </a:rPr>
                        <a:t>Library Token</a:t>
                      </a:r>
                    </a:p>
                  </a:txBody>
                  <a:tcPr>
                    <a:solidFill>
                      <a:srgbClr val="F1EEE8"/>
                    </a:solidFill>
                  </a:tcPr>
                </a:tc>
                <a:tc>
                  <a:txBody>
                    <a:bodyPr/>
                    <a:lstStyle/>
                    <a:p>
                      <a:r>
                        <a:rPr sz="700" b="0">
                          <a:solidFill>
                            <a:srgbClr val="3519A5"/>
                          </a:solidFill>
                        </a:rPr>
                        <a:t>Story Ratio</a:t>
                      </a:r>
                    </a:p>
                  </a:txBody>
                  <a:tcPr>
                    <a:solidFill>
                      <a:srgbClr val="F1EEE8"/>
                    </a:solidFill>
                  </a:tcPr>
                </a:tc>
                <a:tc>
                  <a:txBody>
                    <a:bodyPr/>
                    <a:lstStyle/>
                    <a:p>
                      <a:r>
                        <a:rPr sz="700" b="0">
                          <a:solidFill>
                            <a:srgbClr val="3519A5"/>
                          </a:solidFill>
                        </a:rPr>
                        <a:t>Goal</a:t>
                      </a:r>
                    </a:p>
                  </a:txBody>
                  <a:tcPr>
                    <a:solidFill>
                      <a:srgbClr val="F1EEE8"/>
                    </a:solidFill>
                  </a:tcPr>
                </a:tc>
                <a:extLst>
                  <a:ext uri="{0D108BD9-81ED-4DB2-BD59-A6C34878D82A}">
                    <a16:rowId xmlns:a16="http://schemas.microsoft.com/office/drawing/2014/main" val="10002"/>
                  </a:ext>
                </a:extLst>
              </a:tr>
              <a:tr h="209773">
                <a:tc>
                  <a:txBody>
                    <a:bodyPr/>
                    <a:lstStyle/>
                    <a:p>
                      <a:r>
                        <a:rPr sz="700" b="0">
                          <a:solidFill>
                            <a:srgbClr val="3519A5"/>
                          </a:solidFill>
                        </a:rPr>
                        <a:t>Queueing Explorer</a:t>
                      </a:r>
                    </a:p>
                  </a:txBody>
                  <a:tcPr>
                    <a:solidFill>
                      <a:srgbClr val="F1EEE8"/>
                    </a:solidFill>
                  </a:tcPr>
                </a:tc>
                <a:tc>
                  <a:txBody>
                    <a:bodyPr/>
                    <a:lstStyle/>
                    <a:p>
                      <a:r>
                        <a:rPr sz="700" b="0">
                          <a:solidFill>
                            <a:srgbClr val="3519A5"/>
                          </a:solidFill>
                        </a:rPr>
                        <a:t>Forecast Sync</a:t>
                      </a:r>
                    </a:p>
                  </a:txBody>
                  <a:tcPr>
                    <a:solidFill>
                      <a:srgbClr val="F1EEE8"/>
                    </a:solidFill>
                  </a:tcPr>
                </a:tc>
                <a:tc>
                  <a:txBody>
                    <a:bodyPr/>
                    <a:lstStyle/>
                    <a:p>
                      <a:r>
                        <a:rPr sz="700" b="0">
                          <a:solidFill>
                            <a:srgbClr val="3519A5"/>
                          </a:solidFill>
                        </a:rPr>
                        <a:t>Capacity Explorer</a:t>
                      </a:r>
                    </a:p>
                  </a:txBody>
                  <a:tcPr>
                    <a:solidFill>
                      <a:srgbClr val="F1EEE8"/>
                    </a:solidFill>
                  </a:tcPr>
                </a:tc>
                <a:tc>
                  <a:txBody>
                    <a:bodyPr/>
                    <a:lstStyle/>
                    <a:p>
                      <a:r>
                        <a:rPr sz="700" b="0">
                          <a:solidFill>
                            <a:srgbClr val="3519A5"/>
                          </a:solidFill>
                        </a:rPr>
                        <a:t>Alignment</a:t>
                      </a:r>
                    </a:p>
                  </a:txBody>
                  <a:tcPr>
                    <a:solidFill>
                      <a:srgbClr val="F1EEE8"/>
                    </a:solidFill>
                  </a:tcPr>
                </a:tc>
                <a:tc>
                  <a:txBody>
                    <a:bodyPr/>
                    <a:lstStyle/>
                    <a:p>
                      <a:r>
                        <a:rPr sz="700" b="0">
                          <a:solidFill>
                            <a:srgbClr val="3519A5"/>
                          </a:solidFill>
                        </a:rPr>
                        <a:t>Collection Register</a:t>
                      </a:r>
                    </a:p>
                  </a:txBody>
                  <a:tcPr>
                    <a:solidFill>
                      <a:srgbClr val="F1EEE8"/>
                    </a:solidFill>
                  </a:tcPr>
                </a:tc>
                <a:extLst>
                  <a:ext uri="{0D108BD9-81ED-4DB2-BD59-A6C34878D82A}">
                    <a16:rowId xmlns:a16="http://schemas.microsoft.com/office/drawing/2014/main" val="10003"/>
                  </a:ext>
                </a:extLst>
              </a:tr>
              <a:tr h="209773">
                <a:tc>
                  <a:txBody>
                    <a:bodyPr/>
                    <a:lstStyle/>
                    <a:p>
                      <a:r>
                        <a:rPr sz="700" b="0">
                          <a:solidFill>
                            <a:srgbClr val="3519A5"/>
                          </a:solidFill>
                        </a:rPr>
                        <a:t>Interval Beacon</a:t>
                      </a:r>
                    </a:p>
                  </a:txBody>
                  <a:tcPr>
                    <a:solidFill>
                      <a:srgbClr val="F1EEE8"/>
                    </a:solidFill>
                  </a:tcPr>
                </a:tc>
                <a:tc>
                  <a:txBody>
                    <a:bodyPr/>
                    <a:lstStyle/>
                    <a:p>
                      <a:r>
                        <a:rPr sz="700" b="0">
                          <a:solidFill>
                            <a:srgbClr val="3519A5"/>
                          </a:solidFill>
                        </a:rPr>
                        <a:t>Grid Priority</a:t>
                      </a:r>
                    </a:p>
                  </a:txBody>
                  <a:tcPr>
                    <a:solidFill>
                      <a:srgbClr val="F1EEE8"/>
                    </a:solidFill>
                  </a:tcPr>
                </a:tc>
                <a:tc>
                  <a:txBody>
                    <a:bodyPr/>
                    <a:lstStyle/>
                    <a:p>
                      <a:r>
                        <a:rPr sz="700" b="0">
                          <a:solidFill>
                            <a:srgbClr val="3519A5"/>
                          </a:solidFill>
                        </a:rPr>
                        <a:t>Access Point</a:t>
                      </a:r>
                    </a:p>
                  </a:txBody>
                  <a:tcPr>
                    <a:solidFill>
                      <a:srgbClr val="F1EEE8"/>
                    </a:solidFill>
                  </a:tcPr>
                </a:tc>
                <a:tc>
                  <a:txBody>
                    <a:bodyPr/>
                    <a:lstStyle/>
                    <a:p>
                      <a:r>
                        <a:rPr sz="700" b="0">
                          <a:solidFill>
                            <a:srgbClr val="3519A5"/>
                          </a:solidFill>
                        </a:rPr>
                        <a:t>Position Interval</a:t>
                      </a:r>
                    </a:p>
                  </a:txBody>
                  <a:tcPr>
                    <a:solidFill>
                      <a:srgbClr val="F1EEE8"/>
                    </a:solidFill>
                  </a:tcPr>
                </a:tc>
                <a:tc>
                  <a:txBody>
                    <a:bodyPr/>
                    <a:lstStyle/>
                    <a:p>
                      <a:r>
                        <a:rPr sz="700" b="0">
                          <a:solidFill>
                            <a:srgbClr val="3519A5"/>
                          </a:solidFill>
                        </a:rPr>
                        <a:t>Needle Response</a:t>
                      </a:r>
                    </a:p>
                  </a:txBody>
                  <a:tcPr>
                    <a:solidFill>
                      <a:srgbClr val="F1EEE8"/>
                    </a:solidFill>
                  </a:tcPr>
                </a:tc>
                <a:extLst>
                  <a:ext uri="{0D108BD9-81ED-4DB2-BD59-A6C34878D82A}">
                    <a16:rowId xmlns:a16="http://schemas.microsoft.com/office/drawing/2014/main" val="10004"/>
                  </a:ext>
                </a:extLst>
              </a:tr>
              <a:tr h="209773">
                <a:tc>
                  <a:txBody>
                    <a:bodyPr/>
                    <a:lstStyle/>
                    <a:p>
                      <a:r>
                        <a:rPr sz="700" b="0">
                          <a:solidFill>
                            <a:srgbClr val="3519A5"/>
                          </a:solidFill>
                        </a:rPr>
                        <a:t>Path</a:t>
                      </a:r>
                    </a:p>
                  </a:txBody>
                  <a:tcPr>
                    <a:solidFill>
                      <a:srgbClr val="F1EEE8"/>
                    </a:solidFill>
                  </a:tcPr>
                </a:tc>
                <a:tc>
                  <a:txBody>
                    <a:bodyPr/>
                    <a:lstStyle/>
                    <a:p>
                      <a:r>
                        <a:rPr sz="700" b="0">
                          <a:solidFill>
                            <a:srgbClr val="3519A5"/>
                          </a:solidFill>
                        </a:rPr>
                        <a:t>Memory Slice</a:t>
                      </a:r>
                    </a:p>
                  </a:txBody>
                  <a:tcPr>
                    <a:solidFill>
                      <a:srgbClr val="F1EEE8"/>
                    </a:solidFill>
                  </a:tcPr>
                </a:tc>
                <a:tc>
                  <a:txBody>
                    <a:bodyPr/>
                    <a:lstStyle/>
                    <a:p>
                      <a:r>
                        <a:rPr sz="700" b="0">
                          <a:solidFill>
                            <a:srgbClr val="3519A5"/>
                          </a:solidFill>
                        </a:rPr>
                        <a:t>Slice</a:t>
                      </a:r>
                    </a:p>
                  </a:txBody>
                  <a:tcPr>
                    <a:solidFill>
                      <a:srgbClr val="F1EEE8"/>
                    </a:solidFill>
                  </a:tcPr>
                </a:tc>
                <a:tc>
                  <a:txBody>
                    <a:bodyPr/>
                    <a:lstStyle/>
                    <a:p>
                      <a:r>
                        <a:rPr sz="700" b="0">
                          <a:solidFill>
                            <a:srgbClr val="3519A5"/>
                          </a:solidFill>
                        </a:rPr>
                        <a:t>Vector</a:t>
                      </a:r>
                    </a:p>
                  </a:txBody>
                  <a:tcPr>
                    <a:solidFill>
                      <a:srgbClr val="F1EEE8"/>
                    </a:solidFill>
                  </a:tcPr>
                </a:tc>
                <a:tc>
                  <a:txBody>
                    <a:bodyPr/>
                    <a:lstStyle/>
                    <a:p>
                      <a:r>
                        <a:rPr sz="700" b="0">
                          <a:solidFill>
                            <a:srgbClr val="3519A5"/>
                          </a:solidFill>
                        </a:rPr>
                        <a:t>Slice Coverage</a:t>
                      </a:r>
                    </a:p>
                  </a:txBody>
                  <a:tcPr>
                    <a:solidFill>
                      <a:srgbClr val="F1EEE8"/>
                    </a:solidFill>
                  </a:tcPr>
                </a:tc>
                <a:extLst>
                  <a:ext uri="{0D108BD9-81ED-4DB2-BD59-A6C34878D82A}">
                    <a16:rowId xmlns:a16="http://schemas.microsoft.com/office/drawing/2014/main" val="10005"/>
                  </a:ext>
                </a:extLst>
              </a:tr>
            </a:tbl>
          </a:graphicData>
        </a:graphic>
      </p:graphicFrame>
      <p:sp>
        <p:nvSpPr>
          <p:cNvPr id="11" name="Freeform 10"/>
          <p:cNvSpPr/>
          <p:nvPr/>
        </p:nvSpPr>
        <p:spPr>
          <a:xfrm>
            <a:off x="9456714" y="2954333"/>
            <a:ext cx="963888" cy="1125146"/>
          </a:xfrm>
          <a:custGeom>
            <a:avLst/>
            <a:gdLst/>
            <a:ahLst/>
            <a:cxnLst/>
            <a:rect l="l" t="t" r="r" b="b"/>
            <a:pathLst>
              <a:path w="963888" h="1125146">
                <a:moveTo>
                  <a:pt x="103644" y="191514"/>
                </a:moveTo>
                <a:lnTo>
                  <a:pt x="342025" y="0"/>
                </a:lnTo>
                <a:lnTo>
                  <a:pt x="704778" y="95757"/>
                </a:lnTo>
                <a:lnTo>
                  <a:pt x="963888" y="454846"/>
                </a:lnTo>
                <a:lnTo>
                  <a:pt x="829151" y="933632"/>
                </a:lnTo>
                <a:lnTo>
                  <a:pt x="445669" y="1125146"/>
                </a:lnTo>
                <a:lnTo>
                  <a:pt x="62187" y="813935"/>
                </a:lnTo>
                <a:lnTo>
                  <a:pt x="0" y="406968"/>
                </a:lnTo>
                <a:close/>
              </a:path>
            </a:pathLst>
          </a:custGeom>
          <a:solidFill>
            <a:srgbClr val="C56E9B"/>
          </a:solidFill>
          <a:ln w="18557">
            <a:solidFill>
              <a:srgbClr val="B729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quot;No&quot; Symbol 11"/>
          <p:cNvSpPr/>
          <p:nvPr/>
        </p:nvSpPr>
        <p:spPr>
          <a:xfrm>
            <a:off x="9889435" y="2405406"/>
            <a:ext cx="1659949" cy="515950"/>
          </a:xfrm>
          <a:prstGeom prst="noSmoking">
            <a:avLst/>
          </a:prstGeom>
          <a:solidFill>
            <a:srgbClr val="324BC2"/>
          </a:solidFill>
          <a:ln w="13525">
            <a:solidFill>
              <a:srgbClr val="48923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31375" y="2921146"/>
            <a:ext cx="1619654" cy="1088496"/>
          </a:xfrm>
          <a:prstGeom prst="rect">
            <a:avLst/>
          </a:prstGeom>
          <a:noFill/>
        </p:spPr>
        <p:txBody>
          <a:bodyPr wrap="none" lIns="76895" tIns="76895" rIns="76895" bIns="76895">
            <a:spAutoFit/>
          </a:bodyPr>
          <a:lstStyle/>
          <a:p>
            <a:r>
              <a:rPr sz="3600" b="1" i="0" u="none">
                <a:solidFill>
                  <a:srgbClr val="7F5ACE"/>
                </a:solidFill>
                <a:latin typeface="Calibri"/>
              </a:rPr>
              <a:t>Reserve Direction Level Density Metric</a:t>
            </a:r>
          </a:p>
        </p:txBody>
      </p:sp>
      <p:sp>
        <p:nvSpPr>
          <p:cNvPr id="14" name="Equal 13"/>
          <p:cNvSpPr/>
          <p:nvPr/>
        </p:nvSpPr>
        <p:spPr>
          <a:xfrm>
            <a:off x="5901561" y="4323909"/>
            <a:ext cx="1533436" cy="654488"/>
          </a:xfrm>
          <a:prstGeom prst="mathEqual">
            <a:avLst/>
          </a:prstGeom>
          <a:solidFill>
            <a:srgbClr val="6460CB"/>
          </a:solidFill>
          <a:ln w="8559">
            <a:solidFill>
              <a:srgbClr val="E226B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Table 14"/>
          <p:cNvGraphicFramePr>
            <a:graphicFrameLocks noGrp="1"/>
          </p:cNvGraphicFramePr>
          <p:nvPr/>
        </p:nvGraphicFramePr>
        <p:xfrm>
          <a:off x="3276068" y="217156"/>
          <a:ext cx="3489245" cy="999592"/>
        </p:xfrm>
        <a:graphic>
          <a:graphicData uri="http://schemas.openxmlformats.org/drawingml/2006/table">
            <a:tbl>
              <a:tblPr firstRow="1" bandRow="1">
                <a:tableStyleId>{5C22544A-7EE6-4342-B048-85BDC9FD1C3A}</a:tableStyleId>
              </a:tblPr>
              <a:tblGrid>
                <a:gridCol w="581540">
                  <a:extLst>
                    <a:ext uri="{9D8B030D-6E8A-4147-A177-3AD203B41FA5}">
                      <a16:colId xmlns:a16="http://schemas.microsoft.com/office/drawing/2014/main" val="20000"/>
                    </a:ext>
                  </a:extLst>
                </a:gridCol>
                <a:gridCol w="581540">
                  <a:extLst>
                    <a:ext uri="{9D8B030D-6E8A-4147-A177-3AD203B41FA5}">
                      <a16:colId xmlns:a16="http://schemas.microsoft.com/office/drawing/2014/main" val="20001"/>
                    </a:ext>
                  </a:extLst>
                </a:gridCol>
                <a:gridCol w="581540">
                  <a:extLst>
                    <a:ext uri="{9D8B030D-6E8A-4147-A177-3AD203B41FA5}">
                      <a16:colId xmlns:a16="http://schemas.microsoft.com/office/drawing/2014/main" val="20002"/>
                    </a:ext>
                  </a:extLst>
                </a:gridCol>
                <a:gridCol w="581540">
                  <a:extLst>
                    <a:ext uri="{9D8B030D-6E8A-4147-A177-3AD203B41FA5}">
                      <a16:colId xmlns:a16="http://schemas.microsoft.com/office/drawing/2014/main" val="20003"/>
                    </a:ext>
                  </a:extLst>
                </a:gridCol>
                <a:gridCol w="581540">
                  <a:extLst>
                    <a:ext uri="{9D8B030D-6E8A-4147-A177-3AD203B41FA5}">
                      <a16:colId xmlns:a16="http://schemas.microsoft.com/office/drawing/2014/main" val="20004"/>
                    </a:ext>
                  </a:extLst>
                </a:gridCol>
                <a:gridCol w="581545">
                  <a:extLst>
                    <a:ext uri="{9D8B030D-6E8A-4147-A177-3AD203B41FA5}">
                      <a16:colId xmlns:a16="http://schemas.microsoft.com/office/drawing/2014/main" val="20005"/>
                    </a:ext>
                  </a:extLst>
                </a:gridCol>
              </a:tblGrid>
              <a:tr h="499796">
                <a:tc>
                  <a:txBody>
                    <a:bodyPr/>
                    <a:lstStyle/>
                    <a:p>
                      <a:r>
                        <a:rPr sz="1300" b="0">
                          <a:solidFill>
                            <a:srgbClr val="7DA6A5"/>
                          </a:solidFill>
                        </a:rPr>
                        <a:t>Connector Insight</a:t>
                      </a:r>
                    </a:p>
                  </a:txBody>
                  <a:tcPr>
                    <a:solidFill>
                      <a:srgbClr val="E7ECF8"/>
                    </a:solidFill>
                  </a:tcPr>
                </a:tc>
                <a:tc>
                  <a:txBody>
                    <a:bodyPr/>
                    <a:lstStyle/>
                    <a:p>
                      <a:r>
                        <a:rPr sz="1300" b="0">
                          <a:solidFill>
                            <a:srgbClr val="7DA6A5"/>
                          </a:solidFill>
                        </a:rPr>
                        <a:t>Build Entity</a:t>
                      </a:r>
                    </a:p>
                  </a:txBody>
                  <a:tcPr>
                    <a:solidFill>
                      <a:srgbClr val="E7ECF8"/>
                    </a:solidFill>
                  </a:tcPr>
                </a:tc>
                <a:tc>
                  <a:txBody>
                    <a:bodyPr/>
                    <a:lstStyle/>
                    <a:p>
                      <a:r>
                        <a:rPr sz="1300" b="0">
                          <a:solidFill>
                            <a:srgbClr val="7DA6A5"/>
                          </a:solidFill>
                        </a:rPr>
                        <a:t>Status Beacon</a:t>
                      </a:r>
                    </a:p>
                  </a:txBody>
                  <a:tcPr>
                    <a:solidFill>
                      <a:srgbClr val="E7ECF8"/>
                    </a:solidFill>
                  </a:tcPr>
                </a:tc>
                <a:tc>
                  <a:txBody>
                    <a:bodyPr/>
                    <a:lstStyle/>
                    <a:p>
                      <a:r>
                        <a:rPr sz="1300" b="0">
                          <a:solidFill>
                            <a:srgbClr val="7DA6A5"/>
                          </a:solidFill>
                        </a:rPr>
                        <a:t>Limit Object</a:t>
                      </a:r>
                    </a:p>
                  </a:txBody>
                  <a:tcPr>
                    <a:solidFill>
                      <a:srgbClr val="E7ECF8"/>
                    </a:solidFill>
                  </a:tcPr>
                </a:tc>
                <a:tc>
                  <a:txBody>
                    <a:bodyPr/>
                    <a:lstStyle/>
                    <a:p>
                      <a:r>
                        <a:rPr sz="1300" b="0">
                          <a:solidFill>
                            <a:srgbClr val="7DA6A5"/>
                          </a:solidFill>
                        </a:rPr>
                        <a:t>Scope Timeline</a:t>
                      </a:r>
                    </a:p>
                  </a:txBody>
                  <a:tcPr>
                    <a:solidFill>
                      <a:srgbClr val="E7ECF8"/>
                    </a:solidFill>
                  </a:tcPr>
                </a:tc>
                <a:tc>
                  <a:txBody>
                    <a:bodyPr/>
                    <a:lstStyle/>
                    <a:p>
                      <a:r>
                        <a:rPr sz="1300" b="0">
                          <a:solidFill>
                            <a:srgbClr val="7DA6A5"/>
                          </a:solidFill>
                        </a:rPr>
                        <a:t>Interface Concept</a:t>
                      </a:r>
                    </a:p>
                  </a:txBody>
                  <a:tcPr>
                    <a:solidFill>
                      <a:srgbClr val="E7ECF8"/>
                    </a:solidFill>
                  </a:tcPr>
                </a:tc>
                <a:extLst>
                  <a:ext uri="{0D108BD9-81ED-4DB2-BD59-A6C34878D82A}">
                    <a16:rowId xmlns:a16="http://schemas.microsoft.com/office/drawing/2014/main" val="10000"/>
                  </a:ext>
                </a:extLst>
              </a:tr>
              <a:tr h="499796">
                <a:tc>
                  <a:txBody>
                    <a:bodyPr/>
                    <a:lstStyle/>
                    <a:p>
                      <a:r>
                        <a:rPr sz="1300" b="0">
                          <a:solidFill>
                            <a:srgbClr val="7DA6A5"/>
                          </a:solidFill>
                        </a:rPr>
                        <a:t>Texture Indicator</a:t>
                      </a:r>
                    </a:p>
                  </a:txBody>
                  <a:tcPr>
                    <a:solidFill>
                      <a:srgbClr val="D7DFF4"/>
                    </a:solidFill>
                  </a:tcPr>
                </a:tc>
                <a:tc>
                  <a:txBody>
                    <a:bodyPr/>
                    <a:lstStyle/>
                    <a:p>
                      <a:r>
                        <a:rPr sz="1300" b="0">
                          <a:solidFill>
                            <a:srgbClr val="7DA6A5"/>
                          </a:solidFill>
                        </a:rPr>
                        <a:t>Signal Sequence</a:t>
                      </a:r>
                    </a:p>
                  </a:txBody>
                  <a:tcPr>
                    <a:solidFill>
                      <a:srgbClr val="D7DFF4"/>
                    </a:solidFill>
                  </a:tcPr>
                </a:tc>
                <a:tc>
                  <a:txBody>
                    <a:bodyPr/>
                    <a:lstStyle/>
                    <a:p>
                      <a:r>
                        <a:rPr sz="1300" b="0">
                          <a:solidFill>
                            <a:srgbClr val="7DA6A5"/>
                          </a:solidFill>
                        </a:rPr>
                        <a:t>Entity Iteration</a:t>
                      </a:r>
                    </a:p>
                  </a:txBody>
                  <a:tcPr>
                    <a:solidFill>
                      <a:srgbClr val="D7DFF4"/>
                    </a:solidFill>
                  </a:tcPr>
                </a:tc>
                <a:tc>
                  <a:txBody>
                    <a:bodyPr/>
                    <a:lstStyle/>
                    <a:p>
                      <a:r>
                        <a:rPr sz="1300" b="0">
                          <a:solidFill>
                            <a:srgbClr val="7DA6A5"/>
                          </a:solidFill>
                        </a:rPr>
                        <a:t>Sample Insight</a:t>
                      </a:r>
                    </a:p>
                  </a:txBody>
                  <a:tcPr>
                    <a:solidFill>
                      <a:srgbClr val="D7DFF4"/>
                    </a:solidFill>
                  </a:tcPr>
                </a:tc>
                <a:tc>
                  <a:txBody>
                    <a:bodyPr/>
                    <a:lstStyle/>
                    <a:p>
                      <a:r>
                        <a:rPr sz="1300" b="0">
                          <a:solidFill>
                            <a:srgbClr val="7DA6A5"/>
                          </a:solidFill>
                        </a:rPr>
                        <a:t>Beacon Cell</a:t>
                      </a:r>
                    </a:p>
                  </a:txBody>
                  <a:tcPr>
                    <a:solidFill>
                      <a:srgbClr val="D7DFF4"/>
                    </a:solidFill>
                  </a:tcPr>
                </a:tc>
                <a:tc>
                  <a:txBody>
                    <a:bodyPr/>
                    <a:lstStyle/>
                    <a:p>
                      <a:r>
                        <a:rPr sz="1300" b="0">
                          <a:solidFill>
                            <a:srgbClr val="7DA6A5"/>
                          </a:solidFill>
                        </a:rPr>
                        <a:t>Loop State</a:t>
                      </a:r>
                    </a:p>
                  </a:txBody>
                  <a:tcPr>
                    <a:solidFill>
                      <a:srgbClr val="D7DFF4"/>
                    </a:solidFill>
                  </a:tcPr>
                </a:tc>
                <a:extLst>
                  <a:ext uri="{0D108BD9-81ED-4DB2-BD59-A6C34878D82A}">
                    <a16:rowId xmlns:a16="http://schemas.microsoft.com/office/drawing/2014/main" val="10001"/>
                  </a:ext>
                </a:extLst>
              </a:tr>
            </a:tbl>
          </a:graphicData>
        </a:graphic>
      </p:graphicFrame>
      <p:sp>
        <p:nvSpPr>
          <p:cNvPr id="16" name="Trapezoid 15"/>
          <p:cNvSpPr/>
          <p:nvPr/>
        </p:nvSpPr>
        <p:spPr>
          <a:xfrm>
            <a:off x="6444582" y="865615"/>
            <a:ext cx="2261411" cy="1671054"/>
          </a:xfrm>
          <a:prstGeom prst="trapezoid">
            <a:avLst/>
          </a:prstGeom>
          <a:solidFill>
            <a:srgbClr val="A1DC58"/>
          </a:solidFill>
          <a:ln w="18293">
            <a:solidFill>
              <a:srgbClr val="7C705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8147083" y="457291"/>
          <a:ext cx="2718874" cy="1412209"/>
        </p:xfrm>
        <a:graphic>
          <a:graphicData uri="http://schemas.openxmlformats.org/drawingml/2006/chart">
            <c:chart xmlns:c="http://schemas.openxmlformats.org/drawingml/2006/chart" xmlns:r="http://schemas.openxmlformats.org/officeDocument/2006/relationships" r:id="rId3"/>
          </a:graphicData>
        </a:graphic>
      </p:graphicFrame>
      <p:cxnSp>
        <p:nvCxnSpPr>
          <p:cNvPr id="18" name="Connector 17"/>
          <p:cNvCxnSpPr/>
          <p:nvPr/>
        </p:nvCxnSpPr>
        <p:spPr>
          <a:xfrm flipV="1">
            <a:off x="887095" y="5439976"/>
            <a:ext cx="3103506" cy="664337"/>
          </a:xfrm>
          <a:prstGeom prst="curvedConnector3">
            <a:avLst/>
          </a:prstGeom>
          <a:ln w="18666">
            <a:solidFill>
              <a:srgbClr val="478BDA"/>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19" name="Chart 18"/>
          <p:cNvGraphicFramePr>
            <a:graphicFrameLocks noGrp="1"/>
          </p:cNvGraphicFramePr>
          <p:nvPr/>
        </p:nvGraphicFramePr>
        <p:xfrm>
          <a:off x="6268047" y="2777010"/>
          <a:ext cx="2216545" cy="2286197"/>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p:cNvSpPr txBox="1"/>
          <p:nvPr/>
        </p:nvSpPr>
        <p:spPr>
          <a:xfrm>
            <a:off x="1126834" y="1640317"/>
            <a:ext cx="416515" cy="1527793"/>
          </a:xfrm>
          <a:prstGeom prst="rect">
            <a:avLst/>
          </a:prstGeom>
          <a:solidFill>
            <a:srgbClr val="E6D9CA"/>
          </a:solidFill>
        </p:spPr>
        <p:txBody>
          <a:bodyPr wrap="none" lIns="47371" tIns="47371" rIns="47371" bIns="47371">
            <a:spAutoFit/>
          </a:bodyPr>
          <a:lstStyle/>
          <a:p>
            <a:r>
              <a:rPr sz="1300" b="0" i="0" u="none">
                <a:solidFill>
                  <a:srgbClr val="AE96B4"/>
                </a:solidFill>
                <a:latin typeface="Arial"/>
              </a:rPr>
              <a:t>Relay Span Epoch Summary Array Intent Pixel Archive Draft Alpha Center Briefing Sample Vector Structure Vertex Trigger Trend Filter Horizon Signal Request Keyline Bundle Brief Discovery Circuit State Echo North Baseline Tile Topology Source Span Zone Package</a:t>
            </a:r>
          </a:p>
        </p:txBody>
      </p:sp>
      <p:pic>
        <p:nvPicPr>
          <p:cNvPr id="21" name="Picture 20" descr="_example_image.jpg"/>
          <p:cNvPicPr>
            <a:picLocks noChangeAspect="1"/>
          </p:cNvPicPr>
          <p:nvPr/>
        </p:nvPicPr>
        <p:blipFill>
          <a:blip r:embed="rId2"/>
          <a:srcRect l="5577" t="15306" r="14278" b="21263"/>
          <a:stretch>
            <a:fillRect/>
          </a:stretch>
        </p:blipFill>
        <p:spPr>
          <a:xfrm>
            <a:off x="10491181" y="376539"/>
            <a:ext cx="1556494" cy="951165"/>
          </a:xfrm>
          <a:prstGeom prst="rect">
            <a:avLst/>
          </a:prstGeom>
        </p:spPr>
      </p:pic>
      <p:sp>
        <p:nvSpPr>
          <p:cNvPr id="22" name="Rounded Rectangular Callout 21"/>
          <p:cNvSpPr/>
          <p:nvPr/>
        </p:nvSpPr>
        <p:spPr>
          <a:xfrm>
            <a:off x="913344" y="3604011"/>
            <a:ext cx="1809596" cy="1639059"/>
          </a:xfrm>
          <a:prstGeom prst="wedgeRoundRectCallout">
            <a:avLst/>
          </a:prstGeom>
          <a:solidFill>
            <a:srgbClr val="E0D7D8"/>
          </a:solidFill>
          <a:ln w="8350">
            <a:solidFill>
              <a:srgbClr val="D899D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2"/>
          <a:srcRect l="14576" t="19261" r="4777" b="19661"/>
          <a:stretch>
            <a:fillRect/>
          </a:stretch>
        </p:blipFill>
        <p:spPr>
          <a:xfrm>
            <a:off x="10696721" y="1047968"/>
            <a:ext cx="1118608" cy="890955"/>
          </a:xfrm>
          <a:prstGeom prst="rect">
            <a:avLst/>
          </a:prstGeom>
        </p:spPr>
      </p:pic>
      <p:sp>
        <p:nvSpPr>
          <p:cNvPr id="24" name="TextBox 23"/>
          <p:cNvSpPr txBox="1"/>
          <p:nvPr/>
        </p:nvSpPr>
        <p:spPr>
          <a:xfrm>
            <a:off x="3998141" y="5596512"/>
            <a:ext cx="2241226" cy="788843"/>
          </a:xfrm>
          <a:prstGeom prst="rect">
            <a:avLst/>
          </a:prstGeom>
          <a:noFill/>
        </p:spPr>
        <p:txBody>
          <a:bodyPr wrap="none" lIns="24004" tIns="24004" rIns="24004" bIns="24004">
            <a:spAutoFit/>
          </a:bodyPr>
          <a:lstStyle/>
          <a:p>
            <a:r>
              <a:rPr sz="1400" b="0" i="1" u="sng">
                <a:solidFill>
                  <a:srgbClr val="8EE495"/>
                </a:solidFill>
                <a:latin typeface="Calibri"/>
              </a:rPr>
              <a:t>Analysis Echo Build Interval Plan Tile Switch Lineage Version Compass Guide Scope Method Draft Vertex Panel Package Review Envelope Case Transform Keyline Pixel Pulse Priority Mode Path Tile Entity Texture Response Timeline Window Thread Intent Design Segment Keyline Runtime Pattern</a:t>
            </a:r>
          </a:p>
        </p:txBody>
      </p:sp>
      <p:sp>
        <p:nvSpPr>
          <p:cNvPr id="25" name="Freeform 24"/>
          <p:cNvSpPr/>
          <p:nvPr/>
        </p:nvSpPr>
        <p:spPr>
          <a:xfrm>
            <a:off x="6246847" y="5853773"/>
            <a:ext cx="1159946" cy="558623"/>
          </a:xfrm>
          <a:custGeom>
            <a:avLst/>
            <a:gdLst/>
            <a:ahLst/>
            <a:cxnLst/>
            <a:rect l="l" t="t" r="r" b="b"/>
            <a:pathLst>
              <a:path w="1159946" h="558623">
                <a:moveTo>
                  <a:pt x="579973" y="0"/>
                </a:moveTo>
                <a:lnTo>
                  <a:pt x="724966" y="139655"/>
                </a:lnTo>
                <a:lnTo>
                  <a:pt x="1087449" y="100552"/>
                </a:lnTo>
                <a:lnTo>
                  <a:pt x="882042" y="279311"/>
                </a:lnTo>
                <a:lnTo>
                  <a:pt x="1159946" y="435726"/>
                </a:lnTo>
                <a:lnTo>
                  <a:pt x="724966" y="402208"/>
                </a:lnTo>
                <a:lnTo>
                  <a:pt x="579973" y="558623"/>
                </a:lnTo>
                <a:lnTo>
                  <a:pt x="434980" y="402208"/>
                </a:lnTo>
                <a:lnTo>
                  <a:pt x="0" y="435726"/>
                </a:lnTo>
                <a:lnTo>
                  <a:pt x="277903" y="279311"/>
                </a:lnTo>
                <a:lnTo>
                  <a:pt x="72496" y="100552"/>
                </a:lnTo>
                <a:lnTo>
                  <a:pt x="434980" y="139655"/>
                </a:lnTo>
                <a:close/>
              </a:path>
            </a:pathLst>
          </a:custGeom>
          <a:solidFill>
            <a:srgbClr val="C98A88"/>
          </a:solidFill>
          <a:ln w="17141">
            <a:solidFill>
              <a:srgbClr val="C98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unnel 25"/>
          <p:cNvSpPr/>
          <p:nvPr/>
        </p:nvSpPr>
        <p:spPr>
          <a:xfrm>
            <a:off x="9199741" y="1476998"/>
            <a:ext cx="744132" cy="905920"/>
          </a:xfrm>
          <a:prstGeom prst="funnel">
            <a:avLst/>
          </a:prstGeom>
          <a:solidFill>
            <a:srgbClr val="736B32"/>
          </a:solidFill>
          <a:ln w="22876">
            <a:solidFill>
              <a:srgbClr val="DA9FA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ADCA2772-6BB8-73CE-72C4-3FD6702D025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472151" y="426395"/>
            <a:ext cx="1504652" cy="798924"/>
          </a:xfrm>
          <a:prstGeom prst="rect">
            <a:avLst/>
          </a:prstGeom>
        </p:spPr>
      </p:pic>
      <p:pic>
        <p:nvPicPr>
          <p:cNvPr id="30" name="Graphic 29">
            <a:extLst>
              <a:ext uri="{FF2B5EF4-FFF2-40B4-BE49-F238E27FC236}">
                <a16:creationId xmlns:a16="http://schemas.microsoft.com/office/drawing/2014/main" id="{084ED6C1-65F8-0262-329D-22491DD9D47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762492" y="3468199"/>
            <a:ext cx="1065314" cy="1989979"/>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2637791" y="692532"/>
            <a:ext cx="974013" cy="1981222"/>
          </a:xfrm>
          <a:prstGeom prst="line">
            <a:avLst/>
          </a:prstGeom>
          <a:ln w="10589">
            <a:solidFill>
              <a:srgbClr val="C07AE3"/>
            </a:solidFill>
            <a:prstDash val="lgDash"/>
          </a:ln>
        </p:spPr>
        <p:style>
          <a:lnRef idx="2">
            <a:schemeClr val="accent1"/>
          </a:lnRef>
          <a:fillRef idx="0">
            <a:schemeClr val="accent1"/>
          </a:fillRef>
          <a:effectRef idx="1">
            <a:schemeClr val="accent1"/>
          </a:effectRef>
          <a:fontRef idx="minor">
            <a:schemeClr val="tx1"/>
          </a:fontRef>
        </p:style>
      </p:cxnSp>
      <p:pic>
        <p:nvPicPr>
          <p:cNvPr id="3" name="Picture 2" descr="_example_image.jpg"/>
          <p:cNvPicPr>
            <a:picLocks noChangeAspect="1"/>
          </p:cNvPicPr>
          <p:nvPr/>
        </p:nvPicPr>
        <p:blipFill>
          <a:blip r:embed="rId2"/>
          <a:srcRect/>
          <a:stretch>
            <a:fillRect/>
          </a:stretch>
        </p:blipFill>
        <p:spPr>
          <a:xfrm>
            <a:off x="299801" y="1398947"/>
            <a:ext cx="1646861" cy="1138576"/>
          </a:xfrm>
          <a:prstGeom prst="rect">
            <a:avLst/>
          </a:prstGeom>
        </p:spPr>
      </p:pic>
      <p:sp>
        <p:nvSpPr>
          <p:cNvPr id="4" name="Rounded Rectangle 3"/>
          <p:cNvSpPr/>
          <p:nvPr/>
        </p:nvSpPr>
        <p:spPr>
          <a:xfrm>
            <a:off x="299801" y="1398947"/>
            <a:ext cx="1646861" cy="1138576"/>
          </a:xfrm>
          <a:prstGeom prst="roundRect">
            <a:avLst/>
          </a:prstGeom>
          <a:noFill/>
          <a:ln w="15240">
            <a:solidFill>
              <a:srgbClr val="4F4F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581820" y="855839"/>
            <a:ext cx="781749" cy="2203691"/>
          </a:xfrm>
          <a:prstGeom prst="rect">
            <a:avLst/>
          </a:prstGeom>
          <a:noFill/>
        </p:spPr>
        <p:txBody>
          <a:bodyPr wrap="none" lIns="75406" tIns="75406" rIns="75406" bIns="75406">
            <a:spAutoFit/>
          </a:bodyPr>
          <a:lstStyle/>
          <a:p>
            <a:r>
              <a:rPr sz="900" b="0" i="0" u="none">
                <a:solidFill>
                  <a:srgbClr val="253DD5"/>
                </a:solidFill>
                <a:latin typeface="Arial"/>
              </a:rPr>
              <a:t>Volume Memory Loop Orbit Edge Layer Diagram Canvas Token Device Cycle Proof Motion Queue Vertex Map Route State Wave Vertex Region Node Catalog Harbor Velocity Token Range Gateway Group Element Sequence Design Benchmark Context Measure Lineage Payload</a:t>
            </a:r>
          </a:p>
        </p:txBody>
      </p:sp>
      <p:pic>
        <p:nvPicPr>
          <p:cNvPr id="6" name="Picture 5" descr="_example_image.jpg"/>
          <p:cNvPicPr>
            <a:picLocks noChangeAspect="1"/>
          </p:cNvPicPr>
          <p:nvPr/>
        </p:nvPicPr>
        <p:blipFill>
          <a:blip r:embed="rId2"/>
          <a:srcRect/>
          <a:stretch>
            <a:fillRect/>
          </a:stretch>
        </p:blipFill>
        <p:spPr>
          <a:xfrm>
            <a:off x="2803989" y="3594419"/>
            <a:ext cx="1102631" cy="2258278"/>
          </a:xfrm>
          <a:prstGeom prst="rect">
            <a:avLst/>
          </a:prstGeom>
        </p:spPr>
      </p:pic>
      <p:sp>
        <p:nvSpPr>
          <p:cNvPr id="7" name="Curved Down Ribbon 6"/>
          <p:cNvSpPr/>
          <p:nvPr/>
        </p:nvSpPr>
        <p:spPr>
          <a:xfrm>
            <a:off x="1738150" y="3218229"/>
            <a:ext cx="573184" cy="855020"/>
          </a:xfrm>
          <a:prstGeom prst="ellipseRibbon">
            <a:avLst/>
          </a:prstGeom>
          <a:solidFill>
            <a:srgbClr val="24B1A5"/>
          </a:solidFill>
          <a:ln w="25110">
            <a:solidFill>
              <a:srgbClr val="21B6C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Display 7"/>
          <p:cNvSpPr/>
          <p:nvPr/>
        </p:nvSpPr>
        <p:spPr>
          <a:xfrm>
            <a:off x="10370969" y="3029341"/>
            <a:ext cx="536227" cy="990105"/>
          </a:xfrm>
          <a:prstGeom prst="flowChartDisplay">
            <a:avLst/>
          </a:prstGeom>
          <a:noFill/>
          <a:ln w="11996">
            <a:solidFill>
              <a:srgbClr val="2DD1E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01543" y="3938567"/>
            <a:ext cx="837204" cy="2215904"/>
          </a:xfrm>
          <a:prstGeom prst="rect">
            <a:avLst/>
          </a:prstGeom>
          <a:noFill/>
        </p:spPr>
        <p:txBody>
          <a:bodyPr wrap="none" lIns="36589" tIns="36589" rIns="36589" bIns="36589">
            <a:spAutoFit/>
          </a:bodyPr>
          <a:lstStyle/>
          <a:p>
            <a:r>
              <a:rPr sz="1800" b="0" i="0" u="none">
                <a:solidFill>
                  <a:srgbClr val="A8AB2D"/>
                </a:solidFill>
                <a:latin typeface="Calibri"/>
              </a:rPr>
              <a:t>Package Grid Position Map Spectrum Benchmark Matrix Edge Blueprint Layer Window Group Point Collection Logic Payload Insight Measure Expansion Range Diagram Measure Order</a:t>
            </a:r>
          </a:p>
        </p:txBody>
      </p:sp>
      <p:graphicFrame>
        <p:nvGraphicFramePr>
          <p:cNvPr id="10" name="Table 9"/>
          <p:cNvGraphicFramePr>
            <a:graphicFrameLocks noGrp="1"/>
          </p:cNvGraphicFramePr>
          <p:nvPr/>
        </p:nvGraphicFramePr>
        <p:xfrm>
          <a:off x="4686570" y="4203284"/>
          <a:ext cx="2339102" cy="1111949"/>
        </p:xfrm>
        <a:graphic>
          <a:graphicData uri="http://schemas.openxmlformats.org/drawingml/2006/table">
            <a:tbl>
              <a:tblPr firstRow="1" bandRow="1">
                <a:tableStyleId>{5C22544A-7EE6-4342-B048-85BDC9FD1C3A}</a:tableStyleId>
              </a:tblPr>
              <a:tblGrid>
                <a:gridCol w="467820">
                  <a:extLst>
                    <a:ext uri="{9D8B030D-6E8A-4147-A177-3AD203B41FA5}">
                      <a16:colId xmlns:a16="http://schemas.microsoft.com/office/drawing/2014/main" val="20000"/>
                    </a:ext>
                  </a:extLst>
                </a:gridCol>
                <a:gridCol w="467820">
                  <a:extLst>
                    <a:ext uri="{9D8B030D-6E8A-4147-A177-3AD203B41FA5}">
                      <a16:colId xmlns:a16="http://schemas.microsoft.com/office/drawing/2014/main" val="20001"/>
                    </a:ext>
                  </a:extLst>
                </a:gridCol>
                <a:gridCol w="467820">
                  <a:extLst>
                    <a:ext uri="{9D8B030D-6E8A-4147-A177-3AD203B41FA5}">
                      <a16:colId xmlns:a16="http://schemas.microsoft.com/office/drawing/2014/main" val="20002"/>
                    </a:ext>
                  </a:extLst>
                </a:gridCol>
                <a:gridCol w="467820">
                  <a:extLst>
                    <a:ext uri="{9D8B030D-6E8A-4147-A177-3AD203B41FA5}">
                      <a16:colId xmlns:a16="http://schemas.microsoft.com/office/drawing/2014/main" val="20003"/>
                    </a:ext>
                  </a:extLst>
                </a:gridCol>
                <a:gridCol w="467822">
                  <a:extLst>
                    <a:ext uri="{9D8B030D-6E8A-4147-A177-3AD203B41FA5}">
                      <a16:colId xmlns:a16="http://schemas.microsoft.com/office/drawing/2014/main" val="20004"/>
                    </a:ext>
                  </a:extLst>
                </a:gridCol>
              </a:tblGrid>
              <a:tr h="555974">
                <a:tc>
                  <a:txBody>
                    <a:bodyPr/>
                    <a:lstStyle/>
                    <a:p>
                      <a:r>
                        <a:rPr sz="600" b="1">
                          <a:solidFill>
                            <a:srgbClr val="B88E33"/>
                          </a:solidFill>
                        </a:rPr>
                        <a:t>Craft</a:t>
                      </a:r>
                    </a:p>
                  </a:txBody>
                  <a:tcPr>
                    <a:solidFill>
                      <a:srgbClr val="329B70"/>
                    </a:solidFill>
                  </a:tcPr>
                </a:tc>
                <a:tc>
                  <a:txBody>
                    <a:bodyPr/>
                    <a:lstStyle/>
                    <a:p>
                      <a:r>
                        <a:rPr sz="600" b="1">
                          <a:solidFill>
                            <a:srgbClr val="B88E33"/>
                          </a:solidFill>
                        </a:rPr>
                        <a:t>Envelope Wave</a:t>
                      </a:r>
                    </a:p>
                  </a:txBody>
                  <a:tcPr>
                    <a:solidFill>
                      <a:srgbClr val="329B70"/>
                    </a:solidFill>
                  </a:tcPr>
                </a:tc>
                <a:tc>
                  <a:txBody>
                    <a:bodyPr/>
                    <a:lstStyle/>
                    <a:p>
                      <a:r>
                        <a:rPr sz="600" b="1">
                          <a:solidFill>
                            <a:srgbClr val="B88E33"/>
                          </a:solidFill>
                        </a:rPr>
                        <a:t>Aspect Cycle</a:t>
                      </a:r>
                    </a:p>
                  </a:txBody>
                  <a:tcPr>
                    <a:solidFill>
                      <a:srgbClr val="329B70"/>
                    </a:solidFill>
                  </a:tcPr>
                </a:tc>
                <a:tc>
                  <a:txBody>
                    <a:bodyPr/>
                    <a:lstStyle/>
                    <a:p>
                      <a:r>
                        <a:rPr sz="600" b="1">
                          <a:solidFill>
                            <a:srgbClr val="B88E33"/>
                          </a:solidFill>
                        </a:rPr>
                        <a:t>Request Horizon</a:t>
                      </a:r>
                    </a:p>
                  </a:txBody>
                  <a:tcPr>
                    <a:solidFill>
                      <a:srgbClr val="329B70"/>
                    </a:solidFill>
                  </a:tcPr>
                </a:tc>
                <a:tc>
                  <a:txBody>
                    <a:bodyPr/>
                    <a:lstStyle/>
                    <a:p>
                      <a:r>
                        <a:rPr sz="600" b="1">
                          <a:solidFill>
                            <a:srgbClr val="B88E33"/>
                          </a:solidFill>
                        </a:rPr>
                        <a:t>Focus</a:t>
                      </a:r>
                    </a:p>
                  </a:txBody>
                  <a:tcPr>
                    <a:solidFill>
                      <a:srgbClr val="329B70"/>
                    </a:solidFill>
                  </a:tcPr>
                </a:tc>
                <a:extLst>
                  <a:ext uri="{0D108BD9-81ED-4DB2-BD59-A6C34878D82A}">
                    <a16:rowId xmlns:a16="http://schemas.microsoft.com/office/drawing/2014/main" val="10000"/>
                  </a:ext>
                </a:extLst>
              </a:tr>
              <a:tr h="555975">
                <a:tc>
                  <a:txBody>
                    <a:bodyPr/>
                    <a:lstStyle/>
                    <a:p>
                      <a:r>
                        <a:rPr sz="600" b="0">
                          <a:solidFill>
                            <a:srgbClr val="B88E33"/>
                          </a:solidFill>
                        </a:rPr>
                        <a:t>Plan Stream</a:t>
                      </a:r>
                    </a:p>
                  </a:txBody>
                  <a:tcPr>
                    <a:solidFill>
                      <a:srgbClr val="F4FADF"/>
                    </a:solidFill>
                  </a:tcPr>
                </a:tc>
                <a:tc>
                  <a:txBody>
                    <a:bodyPr/>
                    <a:lstStyle/>
                    <a:p>
                      <a:r>
                        <a:rPr sz="600" b="0">
                          <a:solidFill>
                            <a:srgbClr val="B88E33"/>
                          </a:solidFill>
                        </a:rPr>
                        <a:t>Context Beta</a:t>
                      </a:r>
                    </a:p>
                  </a:txBody>
                  <a:tcPr>
                    <a:solidFill>
                      <a:srgbClr val="EBF6C3"/>
                    </a:solidFill>
                  </a:tcPr>
                </a:tc>
                <a:tc>
                  <a:txBody>
                    <a:bodyPr/>
                    <a:lstStyle/>
                    <a:p>
                      <a:r>
                        <a:rPr sz="600" b="0">
                          <a:solidFill>
                            <a:srgbClr val="B88E33"/>
                          </a:solidFill>
                        </a:rPr>
                        <a:t>Cell</a:t>
                      </a:r>
                    </a:p>
                  </a:txBody>
                  <a:tcPr>
                    <a:solidFill>
                      <a:srgbClr val="F4FADF"/>
                    </a:solidFill>
                  </a:tcPr>
                </a:tc>
                <a:tc>
                  <a:txBody>
                    <a:bodyPr/>
                    <a:lstStyle/>
                    <a:p>
                      <a:r>
                        <a:rPr sz="600" b="0">
                          <a:solidFill>
                            <a:srgbClr val="B88E33"/>
                          </a:solidFill>
                        </a:rPr>
                        <a:t>Service Cluster</a:t>
                      </a:r>
                    </a:p>
                  </a:txBody>
                  <a:tcPr>
                    <a:solidFill>
                      <a:srgbClr val="EBF6C3"/>
                    </a:solidFill>
                  </a:tcPr>
                </a:tc>
                <a:tc>
                  <a:txBody>
                    <a:bodyPr/>
                    <a:lstStyle/>
                    <a:p>
                      <a:r>
                        <a:rPr sz="600" b="0">
                          <a:solidFill>
                            <a:srgbClr val="B88E33"/>
                          </a:solidFill>
                        </a:rPr>
                        <a:t>Agenda Profile</a:t>
                      </a:r>
                    </a:p>
                  </a:txBody>
                  <a:tcPr>
                    <a:solidFill>
                      <a:srgbClr val="F4FADF"/>
                    </a:solidFill>
                  </a:tcPr>
                </a:tc>
                <a:extLst>
                  <a:ext uri="{0D108BD9-81ED-4DB2-BD59-A6C34878D82A}">
                    <a16:rowId xmlns:a16="http://schemas.microsoft.com/office/drawing/2014/main" val="10001"/>
                  </a:ext>
                </a:extLst>
              </a:tr>
            </a:tbl>
          </a:graphicData>
        </a:graphic>
      </p:graphicFrame>
      <p:sp>
        <p:nvSpPr>
          <p:cNvPr id="11" name="TextBox 10"/>
          <p:cNvSpPr txBox="1"/>
          <p:nvPr/>
        </p:nvSpPr>
        <p:spPr>
          <a:xfrm>
            <a:off x="6367444" y="2866990"/>
            <a:ext cx="1578783" cy="476620"/>
          </a:xfrm>
          <a:prstGeom prst="rect">
            <a:avLst/>
          </a:prstGeom>
          <a:noFill/>
        </p:spPr>
        <p:txBody>
          <a:bodyPr wrap="none" lIns="23222" tIns="23222" rIns="23222" bIns="23222">
            <a:spAutoFit/>
          </a:bodyPr>
          <a:lstStyle/>
          <a:p>
            <a:r>
              <a:rPr sz="1800" b="1" i="0" u="none">
                <a:solidFill>
                  <a:srgbClr val="BAD480"/>
                </a:solidFill>
                <a:latin typeface="Arial"/>
              </a:rPr>
              <a:t>Keyline Pixel Drive Iteration Package Radius Output Review Catalog Surface Slice Terminal Snapshot Table Surface Aspect Wave Rhythm Dashboard Sequence Loop Agenda Beacon Link Topology Plan Epoch Node Alignment Analysis Needle Iteration Heading Anchor Reference Element</a:t>
            </a:r>
          </a:p>
        </p:txBody>
      </p:sp>
      <p:cxnSp>
        <p:nvCxnSpPr>
          <p:cNvPr id="12" name="Connector 11"/>
          <p:cNvCxnSpPr/>
          <p:nvPr/>
        </p:nvCxnSpPr>
        <p:spPr>
          <a:xfrm flipV="1">
            <a:off x="2231098" y="2761935"/>
            <a:ext cx="1863209" cy="375690"/>
          </a:xfrm>
          <a:prstGeom prst="curvedConnector3">
            <a:avLst/>
          </a:prstGeom>
          <a:ln w="18164">
            <a:solidFill>
              <a:srgbClr val="99E377"/>
            </a:solidFill>
            <a:prstDash val="dot"/>
          </a:ln>
        </p:spPr>
        <p:style>
          <a:lnRef idx="2">
            <a:schemeClr val="accent1"/>
          </a:lnRef>
          <a:fillRef idx="0">
            <a:schemeClr val="accent1"/>
          </a:fillRef>
          <a:effectRef idx="1">
            <a:schemeClr val="accent1"/>
          </a:effectRef>
          <a:fontRef idx="minor">
            <a:schemeClr val="tx1"/>
          </a:fontRef>
        </p:style>
      </p:cxnSp>
      <p:sp>
        <p:nvSpPr>
          <p:cNvPr id="13" name="Rectangular Callout 12"/>
          <p:cNvSpPr/>
          <p:nvPr/>
        </p:nvSpPr>
        <p:spPr>
          <a:xfrm>
            <a:off x="6512495" y="4617433"/>
            <a:ext cx="1089178" cy="773811"/>
          </a:xfrm>
          <a:prstGeom prst="wedgeRectCallout">
            <a:avLst/>
          </a:prstGeom>
          <a:solidFill>
            <a:srgbClr val="DE727A"/>
          </a:solidFill>
          <a:ln w="7194">
            <a:solidFill>
              <a:srgbClr val="D8AE60"/>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312915" y="5584970"/>
            <a:ext cx="1382986" cy="680663"/>
          </a:xfrm>
          <a:custGeom>
            <a:avLst/>
            <a:gdLst/>
            <a:ahLst/>
            <a:cxnLst/>
            <a:rect l="l" t="t" r="r" b="b"/>
            <a:pathLst>
              <a:path w="1382986" h="680663">
                <a:moveTo>
                  <a:pt x="0" y="330878"/>
                </a:moveTo>
                <a:lnTo>
                  <a:pt x="237933" y="0"/>
                </a:lnTo>
                <a:lnTo>
                  <a:pt x="490737" y="283609"/>
                </a:lnTo>
                <a:lnTo>
                  <a:pt x="743541" y="567219"/>
                </a:lnTo>
                <a:lnTo>
                  <a:pt x="1011216" y="236341"/>
                </a:lnTo>
                <a:lnTo>
                  <a:pt x="1382986" y="359239"/>
                </a:lnTo>
                <a:lnTo>
                  <a:pt x="1382986" y="680663"/>
                </a:lnTo>
                <a:lnTo>
                  <a:pt x="0" y="680663"/>
                </a:lnTo>
                <a:close/>
              </a:path>
            </a:pathLst>
          </a:custGeom>
          <a:solidFill>
            <a:srgbClr val="3B7F46"/>
          </a:solidFill>
          <a:ln w="19382">
            <a:solidFill>
              <a:srgbClr val="DD1D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5" name="Chart 14"/>
          <p:cNvGraphicFramePr>
            <a:graphicFrameLocks noGrp="1"/>
          </p:cNvGraphicFramePr>
          <p:nvPr/>
        </p:nvGraphicFramePr>
        <p:xfrm>
          <a:off x="1487191" y="516432"/>
          <a:ext cx="3694599" cy="1436006"/>
        </p:xfrm>
        <a:graphic>
          <a:graphicData uri="http://schemas.openxmlformats.org/drawingml/2006/chart">
            <c:chart xmlns:c="http://schemas.openxmlformats.org/drawingml/2006/chart" xmlns:r="http://schemas.openxmlformats.org/officeDocument/2006/relationships" r:id="rId3"/>
          </a:graphicData>
        </a:graphic>
      </p:graphicFrame>
      <p:sp>
        <p:nvSpPr>
          <p:cNvPr id="16" name="Left Right Ribbon 15"/>
          <p:cNvSpPr/>
          <p:nvPr/>
        </p:nvSpPr>
        <p:spPr>
          <a:xfrm>
            <a:off x="8959076" y="1092873"/>
            <a:ext cx="364864" cy="1319699"/>
          </a:xfrm>
          <a:prstGeom prst="leftRightRibbon">
            <a:avLst/>
          </a:prstGeom>
          <a:solidFill>
            <a:srgbClr val="6141AE"/>
          </a:solidFill>
          <a:ln w="17506">
            <a:solidFill>
              <a:srgbClr val="2F83D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8440770" y="615121"/>
          <a:ext cx="2712749" cy="1575744"/>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Box 17"/>
          <p:cNvSpPr txBox="1"/>
          <p:nvPr/>
        </p:nvSpPr>
        <p:spPr>
          <a:xfrm>
            <a:off x="4100630" y="3733310"/>
            <a:ext cx="1307725" cy="2219320"/>
          </a:xfrm>
          <a:prstGeom prst="rect">
            <a:avLst/>
          </a:prstGeom>
          <a:solidFill>
            <a:srgbClr val="6DA948"/>
          </a:solidFill>
        </p:spPr>
        <p:txBody>
          <a:bodyPr wrap="none" lIns="51014" tIns="51014" rIns="51014" bIns="51014">
            <a:spAutoFit/>
          </a:bodyPr>
          <a:lstStyle/>
          <a:p>
            <a:r>
              <a:rPr sz="1800" b="0" i="0" u="none">
                <a:solidFill>
                  <a:srgbClr val="378924"/>
                </a:solidFill>
                <a:latin typeface="Calibri"/>
              </a:rPr>
              <a:t>Loop Drift Action Terminal Device Clarity Origin Vector Event Journey Runtime Rhythm Foundation Ratio Case Scale Metric Discovery Archive Compass Queue Region Network Blueprint Briefing Aspect Detail Interface Priority Depth Foundation Audit Design Stream Status Plan</a:t>
            </a:r>
          </a:p>
        </p:txBody>
      </p:sp>
      <p:cxnSp>
        <p:nvCxnSpPr>
          <p:cNvPr id="19" name="Connector 18"/>
          <p:cNvCxnSpPr/>
          <p:nvPr/>
        </p:nvCxnSpPr>
        <p:spPr>
          <a:xfrm>
            <a:off x="9580148" y="4774652"/>
            <a:ext cx="1264403" cy="544906"/>
          </a:xfrm>
          <a:prstGeom prst="line">
            <a:avLst/>
          </a:prstGeom>
          <a:ln w="34166">
            <a:solidFill>
              <a:srgbClr val="729DBC"/>
            </a:solidFill>
            <a:prstDash val="dashDot"/>
          </a:ln>
        </p:spPr>
        <p:style>
          <a:lnRef idx="2">
            <a:schemeClr val="accent1"/>
          </a:lnRef>
          <a:fillRef idx="0">
            <a:schemeClr val="accent1"/>
          </a:fillRef>
          <a:effectRef idx="1">
            <a:schemeClr val="accent1"/>
          </a:effectRef>
          <a:fontRef idx="minor">
            <a:schemeClr val="tx1"/>
          </a:fontRef>
        </p:style>
      </p:cxnSp>
      <p:sp>
        <p:nvSpPr>
          <p:cNvPr id="20" name="Striped Right Arrow 19"/>
          <p:cNvSpPr/>
          <p:nvPr/>
        </p:nvSpPr>
        <p:spPr>
          <a:xfrm>
            <a:off x="11129889" y="1979335"/>
            <a:ext cx="408357" cy="1903914"/>
          </a:xfrm>
          <a:prstGeom prst="stripedRightArrow">
            <a:avLst/>
          </a:prstGeom>
          <a:solidFill>
            <a:srgbClr val="214687"/>
          </a:solidFill>
          <a:ln w="28362">
            <a:solidFill>
              <a:srgbClr val="A79AC9"/>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7602893" y="2750922"/>
          <a:ext cx="2097710" cy="946368"/>
        </p:xfrm>
        <a:graphic>
          <a:graphicData uri="http://schemas.openxmlformats.org/drawingml/2006/table">
            <a:tbl>
              <a:tblPr firstRow="1" bandRow="1">
                <a:tableStyleId>{5C22544A-7EE6-4342-B048-85BDC9FD1C3A}</a:tableStyleId>
              </a:tblPr>
              <a:tblGrid>
                <a:gridCol w="1048855">
                  <a:extLst>
                    <a:ext uri="{9D8B030D-6E8A-4147-A177-3AD203B41FA5}">
                      <a16:colId xmlns:a16="http://schemas.microsoft.com/office/drawing/2014/main" val="20000"/>
                    </a:ext>
                  </a:extLst>
                </a:gridCol>
                <a:gridCol w="1048855">
                  <a:extLst>
                    <a:ext uri="{9D8B030D-6E8A-4147-A177-3AD203B41FA5}">
                      <a16:colId xmlns:a16="http://schemas.microsoft.com/office/drawing/2014/main" val="20001"/>
                    </a:ext>
                  </a:extLst>
                </a:gridCol>
              </a:tblGrid>
              <a:tr h="157728">
                <a:tc>
                  <a:txBody>
                    <a:bodyPr/>
                    <a:lstStyle/>
                    <a:p>
                      <a:r>
                        <a:rPr sz="800" b="1">
                          <a:solidFill>
                            <a:srgbClr val="B4B2D6"/>
                          </a:solidFill>
                        </a:rPr>
                        <a:t>Input</a:t>
                      </a:r>
                    </a:p>
                  </a:txBody>
                  <a:tcPr>
                    <a:solidFill>
                      <a:srgbClr val="D647A3"/>
                    </a:solidFill>
                  </a:tcPr>
                </a:tc>
                <a:tc>
                  <a:txBody>
                    <a:bodyPr/>
                    <a:lstStyle/>
                    <a:p>
                      <a:r>
                        <a:rPr sz="800" b="1">
                          <a:solidFill>
                            <a:srgbClr val="B4B2D6"/>
                          </a:solidFill>
                        </a:rPr>
                        <a:t>Baseline</a:t>
                      </a:r>
                    </a:p>
                  </a:txBody>
                  <a:tcPr>
                    <a:solidFill>
                      <a:srgbClr val="D647A3"/>
                    </a:solidFill>
                  </a:tcPr>
                </a:tc>
                <a:extLst>
                  <a:ext uri="{0D108BD9-81ED-4DB2-BD59-A6C34878D82A}">
                    <a16:rowId xmlns:a16="http://schemas.microsoft.com/office/drawing/2014/main" val="10000"/>
                  </a:ext>
                </a:extLst>
              </a:tr>
              <a:tr h="157728">
                <a:tc>
                  <a:txBody>
                    <a:bodyPr/>
                    <a:lstStyle/>
                    <a:p>
                      <a:r>
                        <a:rPr sz="800" b="0">
                          <a:solidFill>
                            <a:srgbClr val="B4B2D6"/>
                          </a:solidFill>
                        </a:rPr>
                        <a:t>Checkpoint</a:t>
                      </a:r>
                    </a:p>
                  </a:txBody>
                  <a:tcPr>
                    <a:solidFill>
                      <a:srgbClr val="CEF0C9"/>
                    </a:solidFill>
                  </a:tcPr>
                </a:tc>
                <a:tc>
                  <a:txBody>
                    <a:bodyPr/>
                    <a:lstStyle/>
                    <a:p>
                      <a:r>
                        <a:rPr sz="800" b="0">
                          <a:solidFill>
                            <a:srgbClr val="B4B2D6"/>
                          </a:solidFill>
                        </a:rPr>
                        <a:t>Canvas</a:t>
                      </a:r>
                    </a:p>
                  </a:txBody>
                  <a:tcPr>
                    <a:solidFill>
                      <a:srgbClr val="CEF0C9"/>
                    </a:solidFill>
                  </a:tcPr>
                </a:tc>
                <a:extLst>
                  <a:ext uri="{0D108BD9-81ED-4DB2-BD59-A6C34878D82A}">
                    <a16:rowId xmlns:a16="http://schemas.microsoft.com/office/drawing/2014/main" val="10001"/>
                  </a:ext>
                </a:extLst>
              </a:tr>
              <a:tr h="157728">
                <a:tc>
                  <a:txBody>
                    <a:bodyPr/>
                    <a:lstStyle/>
                    <a:p>
                      <a:r>
                        <a:rPr sz="800" b="0">
                          <a:solidFill>
                            <a:srgbClr val="B4B2D6"/>
                          </a:solidFill>
                        </a:rPr>
                        <a:t>Kernel</a:t>
                      </a:r>
                    </a:p>
                  </a:txBody>
                  <a:tcPr>
                    <a:solidFill>
                      <a:srgbClr val="F3FBF1"/>
                    </a:solidFill>
                  </a:tcPr>
                </a:tc>
                <a:tc>
                  <a:txBody>
                    <a:bodyPr/>
                    <a:lstStyle/>
                    <a:p>
                      <a:r>
                        <a:rPr sz="800" b="0">
                          <a:solidFill>
                            <a:srgbClr val="B4B2D6"/>
                          </a:solidFill>
                        </a:rPr>
                        <a:t>Snapshot Blueprint</a:t>
                      </a:r>
                    </a:p>
                  </a:txBody>
                  <a:tcPr>
                    <a:solidFill>
                      <a:srgbClr val="F3FBF1"/>
                    </a:solidFill>
                  </a:tcPr>
                </a:tc>
                <a:extLst>
                  <a:ext uri="{0D108BD9-81ED-4DB2-BD59-A6C34878D82A}">
                    <a16:rowId xmlns:a16="http://schemas.microsoft.com/office/drawing/2014/main" val="10002"/>
                  </a:ext>
                </a:extLst>
              </a:tr>
              <a:tr h="157728">
                <a:tc>
                  <a:txBody>
                    <a:bodyPr/>
                    <a:lstStyle/>
                    <a:p>
                      <a:r>
                        <a:rPr sz="800" b="0">
                          <a:solidFill>
                            <a:srgbClr val="B4B2D6"/>
                          </a:solidFill>
                        </a:rPr>
                        <a:t>Switch</a:t>
                      </a:r>
                    </a:p>
                  </a:txBody>
                  <a:tcPr>
                    <a:solidFill>
                      <a:srgbClr val="CEF0C9"/>
                    </a:solidFill>
                  </a:tcPr>
                </a:tc>
                <a:tc>
                  <a:txBody>
                    <a:bodyPr/>
                    <a:lstStyle/>
                    <a:p>
                      <a:r>
                        <a:rPr sz="800" b="0">
                          <a:solidFill>
                            <a:srgbClr val="B4B2D6"/>
                          </a:solidFill>
                        </a:rPr>
                        <a:t>Index</a:t>
                      </a:r>
                    </a:p>
                  </a:txBody>
                  <a:tcPr>
                    <a:solidFill>
                      <a:srgbClr val="CEF0C9"/>
                    </a:solidFill>
                  </a:tcPr>
                </a:tc>
                <a:extLst>
                  <a:ext uri="{0D108BD9-81ED-4DB2-BD59-A6C34878D82A}">
                    <a16:rowId xmlns:a16="http://schemas.microsoft.com/office/drawing/2014/main" val="10003"/>
                  </a:ext>
                </a:extLst>
              </a:tr>
              <a:tr h="157728">
                <a:tc>
                  <a:txBody>
                    <a:bodyPr/>
                    <a:lstStyle/>
                    <a:p>
                      <a:r>
                        <a:rPr sz="800" b="0">
                          <a:solidFill>
                            <a:srgbClr val="B4B2D6"/>
                          </a:solidFill>
                        </a:rPr>
                        <a:t>Instance Event</a:t>
                      </a:r>
                    </a:p>
                  </a:txBody>
                  <a:tcPr>
                    <a:solidFill>
                      <a:srgbClr val="F3FBF1"/>
                    </a:solidFill>
                  </a:tcPr>
                </a:tc>
                <a:tc>
                  <a:txBody>
                    <a:bodyPr/>
                    <a:lstStyle/>
                    <a:p>
                      <a:r>
                        <a:rPr sz="800" b="0">
                          <a:solidFill>
                            <a:srgbClr val="B4B2D6"/>
                          </a:solidFill>
                        </a:rPr>
                        <a:t>Marker</a:t>
                      </a:r>
                    </a:p>
                  </a:txBody>
                  <a:tcPr>
                    <a:solidFill>
                      <a:srgbClr val="F3FBF1"/>
                    </a:solidFill>
                  </a:tcPr>
                </a:tc>
                <a:extLst>
                  <a:ext uri="{0D108BD9-81ED-4DB2-BD59-A6C34878D82A}">
                    <a16:rowId xmlns:a16="http://schemas.microsoft.com/office/drawing/2014/main" val="10004"/>
                  </a:ext>
                </a:extLst>
              </a:tr>
              <a:tr h="157728">
                <a:tc>
                  <a:txBody>
                    <a:bodyPr/>
                    <a:lstStyle/>
                    <a:p>
                      <a:r>
                        <a:rPr sz="800" b="0">
                          <a:solidFill>
                            <a:srgbClr val="B4B2D6"/>
                          </a:solidFill>
                        </a:rPr>
                        <a:t>Catalog</a:t>
                      </a:r>
                    </a:p>
                  </a:txBody>
                  <a:tcPr>
                    <a:solidFill>
                      <a:srgbClr val="CEF0C9"/>
                    </a:solidFill>
                  </a:tcPr>
                </a:tc>
                <a:tc>
                  <a:txBody>
                    <a:bodyPr/>
                    <a:lstStyle/>
                    <a:p>
                      <a:r>
                        <a:rPr sz="800" b="0">
                          <a:solidFill>
                            <a:srgbClr val="B4B2D6"/>
                          </a:solidFill>
                        </a:rPr>
                        <a:t>Exchange Service</a:t>
                      </a:r>
                    </a:p>
                  </a:txBody>
                  <a:tcPr>
                    <a:solidFill>
                      <a:srgbClr val="CEF0C9"/>
                    </a:solidFill>
                  </a:tcPr>
                </a:tc>
                <a:extLst>
                  <a:ext uri="{0D108BD9-81ED-4DB2-BD59-A6C34878D82A}">
                    <a16:rowId xmlns:a16="http://schemas.microsoft.com/office/drawing/2014/main" val="10005"/>
                  </a:ext>
                </a:extLst>
              </a:tr>
            </a:tbl>
          </a:graphicData>
        </a:graphic>
      </p:graphicFrame>
      <p:sp>
        <p:nvSpPr>
          <p:cNvPr id="22" name="4-Point Star 21"/>
          <p:cNvSpPr/>
          <p:nvPr/>
        </p:nvSpPr>
        <p:spPr>
          <a:xfrm>
            <a:off x="9626526" y="2578334"/>
            <a:ext cx="503404" cy="1299019"/>
          </a:xfrm>
          <a:prstGeom prst="star4">
            <a:avLst/>
          </a:prstGeom>
          <a:solidFill>
            <a:srgbClr val="D88793"/>
          </a:solidFill>
          <a:ln w="28272">
            <a:solidFill>
              <a:srgbClr val="7850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4619971" y="2464403"/>
            <a:ext cx="1450635" cy="1034688"/>
          </a:xfrm>
          <a:custGeom>
            <a:avLst/>
            <a:gdLst/>
            <a:ahLst/>
            <a:cxnLst/>
            <a:rect l="l" t="t" r="r" b="b"/>
            <a:pathLst>
              <a:path w="1450635" h="1034688">
                <a:moveTo>
                  <a:pt x="725318" y="0"/>
                </a:moveTo>
                <a:lnTo>
                  <a:pt x="906647" y="258672"/>
                </a:lnTo>
                <a:lnTo>
                  <a:pt x="1359971" y="186244"/>
                </a:lnTo>
                <a:lnTo>
                  <a:pt x="1103087" y="517344"/>
                </a:lnTo>
                <a:lnTo>
                  <a:pt x="1450635" y="807056"/>
                </a:lnTo>
                <a:lnTo>
                  <a:pt x="906647" y="744975"/>
                </a:lnTo>
                <a:lnTo>
                  <a:pt x="725318" y="1034688"/>
                </a:lnTo>
                <a:lnTo>
                  <a:pt x="543988" y="744975"/>
                </a:lnTo>
                <a:lnTo>
                  <a:pt x="0" y="807056"/>
                </a:lnTo>
                <a:lnTo>
                  <a:pt x="347548" y="517344"/>
                </a:lnTo>
                <a:lnTo>
                  <a:pt x="90665" y="186244"/>
                </a:lnTo>
                <a:lnTo>
                  <a:pt x="543988" y="258672"/>
                </a:lnTo>
                <a:close/>
              </a:path>
            </a:pathLst>
          </a:custGeom>
          <a:solidFill>
            <a:srgbClr val="398898"/>
          </a:solidFill>
          <a:ln w="9206">
            <a:solidFill>
              <a:srgbClr val="B52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83996" y="742037"/>
            <a:ext cx="2530367" cy="2060979"/>
          </a:xfrm>
          <a:prstGeom prst="rect">
            <a:avLst/>
          </a:prstGeom>
          <a:noFill/>
        </p:spPr>
        <p:txBody>
          <a:bodyPr wrap="none" lIns="88784" tIns="88784" rIns="88784" bIns="88784">
            <a:spAutoFit/>
          </a:bodyPr>
          <a:lstStyle/>
          <a:p>
            <a:r>
              <a:rPr sz="1000" b="0" i="0" u="none">
                <a:solidFill>
                  <a:srgbClr val="37B46F"/>
                </a:solidFill>
                <a:latin typeface="Calibri"/>
              </a:rPr>
              <a:t>Surface Target Filter Function Topology Filter Stream Limit Intent Logic Canvas Dashboard Build Kernel Discovery Indicator Atlas Packet Vector Direction Vertex North Scope Reference Measure Direction Segment Horizon Terminal</a:t>
            </a:r>
          </a:p>
        </p:txBody>
      </p:sp>
      <p:sp>
        <p:nvSpPr>
          <p:cNvPr id="25" name="Trapezoid 24"/>
          <p:cNvSpPr/>
          <p:nvPr/>
        </p:nvSpPr>
        <p:spPr>
          <a:xfrm>
            <a:off x="10225431" y="5746340"/>
            <a:ext cx="1616277" cy="796690"/>
          </a:xfrm>
          <a:prstGeom prst="trapezoid">
            <a:avLst/>
          </a:prstGeom>
          <a:solidFill>
            <a:srgbClr val="7C37E4"/>
          </a:solidFill>
          <a:ln w="13061">
            <a:solidFill>
              <a:srgbClr val="CFCD7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40435" y="4135142"/>
            <a:ext cx="586974" cy="2387823"/>
          </a:xfrm>
          <a:prstGeom prst="rect">
            <a:avLst/>
          </a:prstGeom>
          <a:noFill/>
        </p:spPr>
        <p:txBody>
          <a:bodyPr wrap="none" lIns="74623" tIns="74623" rIns="74623" bIns="74623">
            <a:spAutoFit/>
          </a:bodyPr>
          <a:lstStyle/>
          <a:p>
            <a:r>
              <a:rPr sz="1200" b="1" i="0" u="none">
                <a:solidFill>
                  <a:srgbClr val="A07A19"/>
                </a:solidFill>
                <a:latin typeface="Calibri"/>
              </a:rPr>
              <a:t>Impact Feature Queue Process Cadence Matrix Beacon Report Package Domain Vector</a:t>
            </a:r>
          </a:p>
        </p:txBody>
      </p:sp>
      <p:pic>
        <p:nvPicPr>
          <p:cNvPr id="27" name="Picture 26" descr="_example_image.jpg"/>
          <p:cNvPicPr>
            <a:picLocks noChangeAspect="1"/>
          </p:cNvPicPr>
          <p:nvPr/>
        </p:nvPicPr>
        <p:blipFill>
          <a:blip r:embed="rId2"/>
          <a:srcRect l="10687" t="16734" r="16996" b="18697"/>
          <a:stretch>
            <a:fillRect/>
          </a:stretch>
        </p:blipFill>
        <p:spPr>
          <a:xfrm>
            <a:off x="8571900" y="4059412"/>
            <a:ext cx="1645249" cy="806768"/>
          </a:xfrm>
          <a:prstGeom prst="rect">
            <a:avLst/>
          </a:prstGeom>
        </p:spPr>
      </p:pic>
      <p:sp>
        <p:nvSpPr>
          <p:cNvPr id="28" name="Rounded Rectangle 27"/>
          <p:cNvSpPr/>
          <p:nvPr/>
        </p:nvSpPr>
        <p:spPr>
          <a:xfrm>
            <a:off x="8571900" y="4059412"/>
            <a:ext cx="1645249" cy="806768"/>
          </a:xfrm>
          <a:prstGeom prst="roundRect">
            <a:avLst/>
          </a:prstGeom>
          <a:noFill/>
          <a:ln w="15240">
            <a:solidFill>
              <a:srgbClr val="A2689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17B86C77-5000-4497-96F9-4D2A4496F3C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152245" y="5763011"/>
            <a:ext cx="1377995" cy="827063"/>
          </a:xfrm>
          <a:prstGeom prst="rect">
            <a:avLst/>
          </a:prstGeom>
        </p:spPr>
      </p:pic>
      <p:pic>
        <p:nvPicPr>
          <p:cNvPr id="32" name="Graphic 31">
            <a:extLst>
              <a:ext uri="{FF2B5EF4-FFF2-40B4-BE49-F238E27FC236}">
                <a16:creationId xmlns:a16="http://schemas.microsoft.com/office/drawing/2014/main" id="{1343FE72-7CBE-2B00-D213-BA7C574BB99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465148" y="4314299"/>
            <a:ext cx="1113887" cy="166649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452791" y="2410479"/>
            <a:ext cx="2793860" cy="1814972"/>
          </a:xfrm>
          <a:prstGeom prst="rect">
            <a:avLst/>
          </a:prstGeom>
          <a:noFill/>
        </p:spPr>
        <p:txBody>
          <a:bodyPr wrap="none" lIns="30012" tIns="30012" rIns="30012" bIns="30012">
            <a:spAutoFit/>
          </a:bodyPr>
          <a:lstStyle/>
          <a:p>
            <a:r>
              <a:rPr sz="1800" b="1" i="1" u="none">
                <a:solidFill>
                  <a:srgbClr val="DA5B82"/>
                </a:solidFill>
                <a:latin typeface="Georgia"/>
              </a:rPr>
              <a:t>Program Apex Node Energy Control</a:t>
            </a:r>
          </a:p>
        </p:txBody>
      </p:sp>
      <p:cxnSp>
        <p:nvCxnSpPr>
          <p:cNvPr id="3" name="Connector 2"/>
          <p:cNvCxnSpPr/>
          <p:nvPr/>
        </p:nvCxnSpPr>
        <p:spPr>
          <a:xfrm flipV="1">
            <a:off x="171131" y="5623531"/>
            <a:ext cx="755620" cy="505646"/>
          </a:xfrm>
          <a:prstGeom prst="bentConnector3">
            <a:avLst/>
          </a:prstGeom>
          <a:ln w="44449">
            <a:solidFill>
              <a:srgbClr val="7BB7DB"/>
            </a:solidFill>
            <a:prstDash val="dot"/>
          </a:ln>
        </p:spPr>
        <p:style>
          <a:lnRef idx="2">
            <a:schemeClr val="accent1"/>
          </a:lnRef>
          <a:fillRef idx="0">
            <a:schemeClr val="accent1"/>
          </a:fillRef>
          <a:effectRef idx="1">
            <a:schemeClr val="accent1"/>
          </a:effectRef>
          <a:fontRef idx="minor">
            <a:schemeClr val="tx1"/>
          </a:fontRef>
        </p:style>
      </p:cxnSp>
      <p:sp>
        <p:nvSpPr>
          <p:cNvPr id="4" name="Freeform 3"/>
          <p:cNvSpPr/>
          <p:nvPr/>
        </p:nvSpPr>
        <p:spPr>
          <a:xfrm>
            <a:off x="9982301" y="5765044"/>
            <a:ext cx="1442803" cy="528466"/>
          </a:xfrm>
          <a:custGeom>
            <a:avLst/>
            <a:gdLst/>
            <a:ahLst/>
            <a:cxnLst/>
            <a:rect l="l" t="t" r="r" b="b"/>
            <a:pathLst>
              <a:path w="1442803" h="528466">
                <a:moveTo>
                  <a:pt x="0" y="117437"/>
                </a:moveTo>
                <a:lnTo>
                  <a:pt x="310280" y="0"/>
                </a:lnTo>
                <a:lnTo>
                  <a:pt x="620560" y="158540"/>
                </a:lnTo>
                <a:lnTo>
                  <a:pt x="930841" y="17616"/>
                </a:lnTo>
                <a:lnTo>
                  <a:pt x="1442803" y="411029"/>
                </a:lnTo>
                <a:lnTo>
                  <a:pt x="1085981" y="528466"/>
                </a:lnTo>
                <a:lnTo>
                  <a:pt x="744672" y="352311"/>
                </a:lnTo>
                <a:lnTo>
                  <a:pt x="356822" y="510851"/>
                </a:lnTo>
                <a:close/>
              </a:path>
            </a:pathLst>
          </a:custGeom>
          <a:solidFill>
            <a:srgbClr val="BE45D6"/>
          </a:solidFill>
          <a:ln w="27346">
            <a:solidFill>
              <a:srgbClr val="7269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5212832" y="4808649"/>
          <a:ext cx="2699646" cy="1493972"/>
        </p:xfrm>
        <a:graphic>
          <a:graphicData uri="http://schemas.openxmlformats.org/drawingml/2006/chart">
            <c:chart xmlns:c="http://schemas.openxmlformats.org/drawingml/2006/chart" xmlns:r="http://schemas.openxmlformats.org/officeDocument/2006/relationships" r:id="rId2"/>
          </a:graphicData>
        </a:graphic>
      </p:graphicFrame>
      <p:sp>
        <p:nvSpPr>
          <p:cNvPr id="6" name="Predefined Process 5"/>
          <p:cNvSpPr/>
          <p:nvPr/>
        </p:nvSpPr>
        <p:spPr>
          <a:xfrm>
            <a:off x="978987" y="4100326"/>
            <a:ext cx="838037" cy="1091685"/>
          </a:xfrm>
          <a:prstGeom prst="flowChartPredefinedProcess">
            <a:avLst/>
          </a:prstGeom>
          <a:solidFill>
            <a:srgbClr val="DCAA8D"/>
          </a:solidFill>
          <a:ln w="25123">
            <a:solidFill>
              <a:srgbClr val="A377B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5-Point Star 6"/>
          <p:cNvSpPr/>
          <p:nvPr/>
        </p:nvSpPr>
        <p:spPr>
          <a:xfrm>
            <a:off x="5393689" y="398290"/>
            <a:ext cx="1088441" cy="399733"/>
          </a:xfrm>
          <a:prstGeom prst="star5">
            <a:avLst/>
          </a:prstGeom>
          <a:noFill/>
          <a:ln w="30101">
            <a:solidFill>
              <a:srgbClr val="76705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woosh Arrow 7"/>
          <p:cNvSpPr/>
          <p:nvPr/>
        </p:nvSpPr>
        <p:spPr>
          <a:xfrm>
            <a:off x="498167" y="1808186"/>
            <a:ext cx="1428778" cy="645065"/>
          </a:xfrm>
          <a:prstGeom prst="swooshArrow">
            <a:avLst/>
          </a:prstGeom>
          <a:solidFill>
            <a:srgbClr val="3645C1"/>
          </a:solidFill>
          <a:ln w="12354">
            <a:solidFill>
              <a:srgbClr val="3719D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30917" y="3383550"/>
            <a:ext cx="3490705" cy="1339949"/>
          </a:xfrm>
          <a:prstGeom prst="rect">
            <a:avLst/>
          </a:prstGeom>
          <a:noFill/>
        </p:spPr>
        <p:txBody>
          <a:bodyPr wrap="none" lIns="29229" tIns="29229" rIns="29229" bIns="29229">
            <a:spAutoFit/>
          </a:bodyPr>
          <a:lstStyle/>
          <a:p>
            <a:r>
              <a:rPr sz="900" b="0" i="0" u="none">
                <a:solidFill>
                  <a:srgbClr val="947E62"/>
                </a:solidFill>
                <a:latin typeface="Trebuchet MS"/>
              </a:rPr>
              <a:t>Moment Proof</a:t>
            </a:r>
          </a:p>
        </p:txBody>
      </p:sp>
      <p:sp>
        <p:nvSpPr>
          <p:cNvPr id="10" name="Pie 9"/>
          <p:cNvSpPr/>
          <p:nvPr/>
        </p:nvSpPr>
        <p:spPr>
          <a:xfrm>
            <a:off x="2319890" y="4755730"/>
            <a:ext cx="1695645" cy="743241"/>
          </a:xfrm>
          <a:prstGeom prst="pie">
            <a:avLst/>
          </a:prstGeom>
          <a:solidFill>
            <a:srgbClr val="2794E5"/>
          </a:solidFill>
          <a:ln w="12780">
            <a:solidFill>
              <a:srgbClr val="80527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795187" y="4285182"/>
            <a:ext cx="1292613" cy="1774517"/>
          </a:xfrm>
          <a:prstGeom prst="ellipse">
            <a:avLst/>
          </a:prstGeom>
          <a:solidFill>
            <a:srgbClr val="5599D7"/>
          </a:solidFill>
          <a:ln w="20841">
            <a:solidFill>
              <a:srgbClr val="2A837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an 11"/>
          <p:cNvSpPr/>
          <p:nvPr/>
        </p:nvSpPr>
        <p:spPr>
          <a:xfrm>
            <a:off x="6113973" y="5204502"/>
            <a:ext cx="1403875" cy="1005367"/>
          </a:xfrm>
          <a:prstGeom prst="can">
            <a:avLst/>
          </a:prstGeom>
          <a:noFill/>
          <a:ln w="30316">
            <a:solidFill>
              <a:srgbClr val="7B29A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9667439" y="495155"/>
            <a:ext cx="730145" cy="1234332"/>
          </a:xfrm>
          <a:custGeom>
            <a:avLst/>
            <a:gdLst/>
            <a:ahLst/>
            <a:cxnLst/>
            <a:rect l="l" t="t" r="r" b="b"/>
            <a:pathLst>
              <a:path w="730145" h="1234332">
                <a:moveTo>
                  <a:pt x="365072" y="0"/>
                </a:moveTo>
                <a:lnTo>
                  <a:pt x="456340" y="308583"/>
                </a:lnTo>
                <a:lnTo>
                  <a:pt x="684511" y="222180"/>
                </a:lnTo>
                <a:lnTo>
                  <a:pt x="555214" y="617166"/>
                </a:lnTo>
                <a:lnTo>
                  <a:pt x="730145" y="962779"/>
                </a:lnTo>
                <a:lnTo>
                  <a:pt x="456340" y="888719"/>
                </a:lnTo>
                <a:lnTo>
                  <a:pt x="365072" y="1234332"/>
                </a:lnTo>
                <a:lnTo>
                  <a:pt x="273804" y="888719"/>
                </a:lnTo>
                <a:lnTo>
                  <a:pt x="0" y="962779"/>
                </a:lnTo>
                <a:lnTo>
                  <a:pt x="174930" y="617166"/>
                </a:lnTo>
                <a:lnTo>
                  <a:pt x="45634" y="222180"/>
                </a:lnTo>
                <a:lnTo>
                  <a:pt x="273804" y="308583"/>
                </a:lnTo>
                <a:close/>
              </a:path>
            </a:pathLst>
          </a:custGeom>
          <a:solidFill>
            <a:srgbClr val="246B32"/>
          </a:solidFill>
          <a:ln w="27163">
            <a:solidFill>
              <a:srgbClr val="D552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1334" y="3168170"/>
            <a:ext cx="1308314" cy="286292"/>
          </a:xfrm>
          <a:prstGeom prst="rect">
            <a:avLst/>
          </a:prstGeom>
          <a:noFill/>
        </p:spPr>
        <p:txBody>
          <a:bodyPr wrap="none" lIns="36849" tIns="36849" rIns="36849" bIns="36849">
            <a:spAutoFit/>
          </a:bodyPr>
          <a:lstStyle/>
          <a:p>
            <a:r>
              <a:rPr sz="1100" b="0" i="0" u="none">
                <a:solidFill>
                  <a:srgbClr val="3346B1"/>
                </a:solidFill>
                <a:latin typeface="Verdana"/>
              </a:rPr>
              <a:t>Network Link Ratio Baseline Cluster Capacity Dimension Cell Request Package Reference Context</a:t>
            </a:r>
          </a:p>
        </p:txBody>
      </p:sp>
      <p:graphicFrame>
        <p:nvGraphicFramePr>
          <p:cNvPr id="15" name="Table 14"/>
          <p:cNvGraphicFramePr>
            <a:graphicFrameLocks noGrp="1"/>
          </p:cNvGraphicFramePr>
          <p:nvPr/>
        </p:nvGraphicFramePr>
        <p:xfrm>
          <a:off x="764791" y="5555420"/>
          <a:ext cx="2316488" cy="1053480"/>
        </p:xfrm>
        <a:graphic>
          <a:graphicData uri="http://schemas.openxmlformats.org/drawingml/2006/table">
            <a:tbl>
              <a:tblPr firstRow="1" bandRow="1">
                <a:tableStyleId>{5C22544A-7EE6-4342-B048-85BDC9FD1C3A}</a:tableStyleId>
              </a:tblPr>
              <a:tblGrid>
                <a:gridCol w="386081">
                  <a:extLst>
                    <a:ext uri="{9D8B030D-6E8A-4147-A177-3AD203B41FA5}">
                      <a16:colId xmlns:a16="http://schemas.microsoft.com/office/drawing/2014/main" val="20000"/>
                    </a:ext>
                  </a:extLst>
                </a:gridCol>
                <a:gridCol w="386081">
                  <a:extLst>
                    <a:ext uri="{9D8B030D-6E8A-4147-A177-3AD203B41FA5}">
                      <a16:colId xmlns:a16="http://schemas.microsoft.com/office/drawing/2014/main" val="20001"/>
                    </a:ext>
                  </a:extLst>
                </a:gridCol>
                <a:gridCol w="386081">
                  <a:extLst>
                    <a:ext uri="{9D8B030D-6E8A-4147-A177-3AD203B41FA5}">
                      <a16:colId xmlns:a16="http://schemas.microsoft.com/office/drawing/2014/main" val="20002"/>
                    </a:ext>
                  </a:extLst>
                </a:gridCol>
                <a:gridCol w="386081">
                  <a:extLst>
                    <a:ext uri="{9D8B030D-6E8A-4147-A177-3AD203B41FA5}">
                      <a16:colId xmlns:a16="http://schemas.microsoft.com/office/drawing/2014/main" val="20003"/>
                    </a:ext>
                  </a:extLst>
                </a:gridCol>
                <a:gridCol w="386081">
                  <a:extLst>
                    <a:ext uri="{9D8B030D-6E8A-4147-A177-3AD203B41FA5}">
                      <a16:colId xmlns:a16="http://schemas.microsoft.com/office/drawing/2014/main" val="20004"/>
                    </a:ext>
                  </a:extLst>
                </a:gridCol>
                <a:gridCol w="386083">
                  <a:extLst>
                    <a:ext uri="{9D8B030D-6E8A-4147-A177-3AD203B41FA5}">
                      <a16:colId xmlns:a16="http://schemas.microsoft.com/office/drawing/2014/main" val="20005"/>
                    </a:ext>
                  </a:extLst>
                </a:gridCol>
              </a:tblGrid>
              <a:tr h="175580">
                <a:tc>
                  <a:txBody>
                    <a:bodyPr/>
                    <a:lstStyle/>
                    <a:p>
                      <a:r>
                        <a:rPr sz="600" b="1">
                          <a:solidFill>
                            <a:srgbClr val="2A5BAE"/>
                          </a:solidFill>
                        </a:rPr>
                        <a:t>Viewport Baseline</a:t>
                      </a:r>
                    </a:p>
                  </a:txBody>
                  <a:tcPr>
                    <a:solidFill>
                      <a:srgbClr val="66D160"/>
                    </a:solidFill>
                  </a:tcPr>
                </a:tc>
                <a:tc>
                  <a:txBody>
                    <a:bodyPr/>
                    <a:lstStyle/>
                    <a:p>
                      <a:r>
                        <a:rPr sz="600" b="1">
                          <a:solidFill>
                            <a:srgbClr val="2A5BAE"/>
                          </a:solidFill>
                        </a:rPr>
                        <a:t>Schema Mode</a:t>
                      </a:r>
                    </a:p>
                  </a:txBody>
                  <a:tcPr>
                    <a:solidFill>
                      <a:srgbClr val="66D160"/>
                    </a:solidFill>
                  </a:tcPr>
                </a:tc>
                <a:tc>
                  <a:txBody>
                    <a:bodyPr/>
                    <a:lstStyle/>
                    <a:p>
                      <a:r>
                        <a:rPr sz="600" b="1">
                          <a:solidFill>
                            <a:srgbClr val="2A5BAE"/>
                          </a:solidFill>
                        </a:rPr>
                        <a:t>Snapshot</a:t>
                      </a:r>
                    </a:p>
                  </a:txBody>
                  <a:tcPr>
                    <a:solidFill>
                      <a:srgbClr val="66D160"/>
                    </a:solidFill>
                  </a:tcPr>
                </a:tc>
                <a:tc>
                  <a:txBody>
                    <a:bodyPr/>
                    <a:lstStyle/>
                    <a:p>
                      <a:r>
                        <a:rPr sz="600" b="1">
                          <a:solidFill>
                            <a:srgbClr val="2A5BAE"/>
                          </a:solidFill>
                        </a:rPr>
                        <a:t>Alpha</a:t>
                      </a:r>
                    </a:p>
                  </a:txBody>
                  <a:tcPr>
                    <a:solidFill>
                      <a:srgbClr val="66D160"/>
                    </a:solidFill>
                  </a:tcPr>
                </a:tc>
                <a:tc>
                  <a:txBody>
                    <a:bodyPr/>
                    <a:lstStyle/>
                    <a:p>
                      <a:r>
                        <a:rPr sz="600" b="1">
                          <a:solidFill>
                            <a:srgbClr val="2A5BAE"/>
                          </a:solidFill>
                        </a:rPr>
                        <a:t>Frame Proof</a:t>
                      </a:r>
                    </a:p>
                  </a:txBody>
                  <a:tcPr>
                    <a:solidFill>
                      <a:srgbClr val="66D160"/>
                    </a:solidFill>
                  </a:tcPr>
                </a:tc>
                <a:tc>
                  <a:txBody>
                    <a:bodyPr/>
                    <a:lstStyle/>
                    <a:p>
                      <a:r>
                        <a:rPr sz="600" b="1">
                          <a:solidFill>
                            <a:srgbClr val="2A5BAE"/>
                          </a:solidFill>
                        </a:rPr>
                        <a:t>Function</a:t>
                      </a:r>
                    </a:p>
                  </a:txBody>
                  <a:tcPr>
                    <a:solidFill>
                      <a:srgbClr val="66D160"/>
                    </a:solidFill>
                  </a:tcPr>
                </a:tc>
                <a:extLst>
                  <a:ext uri="{0D108BD9-81ED-4DB2-BD59-A6C34878D82A}">
                    <a16:rowId xmlns:a16="http://schemas.microsoft.com/office/drawing/2014/main" val="10000"/>
                  </a:ext>
                </a:extLst>
              </a:tr>
              <a:tr h="175580">
                <a:tc>
                  <a:txBody>
                    <a:bodyPr/>
                    <a:lstStyle/>
                    <a:p>
                      <a:r>
                        <a:rPr sz="600" b="0">
                          <a:solidFill>
                            <a:srgbClr val="2A5BAE"/>
                          </a:solidFill>
                        </a:rPr>
                        <a:t>Transit Vector</a:t>
                      </a:r>
                    </a:p>
                  </a:txBody>
                  <a:tcPr>
                    <a:solidFill>
                      <a:srgbClr val="F3F7FA"/>
                    </a:solidFill>
                  </a:tcPr>
                </a:tc>
                <a:tc>
                  <a:txBody>
                    <a:bodyPr/>
                    <a:lstStyle/>
                    <a:p>
                      <a:r>
                        <a:rPr sz="600" b="0">
                          <a:solidFill>
                            <a:srgbClr val="2A5BAE"/>
                          </a:solidFill>
                        </a:rPr>
                        <a:t>Cycle Moment</a:t>
                      </a:r>
                    </a:p>
                  </a:txBody>
                  <a:tcPr>
                    <a:solidFill>
                      <a:srgbClr val="DAE6F2"/>
                    </a:solidFill>
                  </a:tcPr>
                </a:tc>
                <a:tc>
                  <a:txBody>
                    <a:bodyPr/>
                    <a:lstStyle/>
                    <a:p>
                      <a:r>
                        <a:rPr sz="600" b="0">
                          <a:solidFill>
                            <a:srgbClr val="2A5BAE"/>
                          </a:solidFill>
                        </a:rPr>
                        <a:t>Result</a:t>
                      </a:r>
                    </a:p>
                  </a:txBody>
                  <a:tcPr>
                    <a:solidFill>
                      <a:srgbClr val="F3F7FA"/>
                    </a:solidFill>
                  </a:tcPr>
                </a:tc>
                <a:tc>
                  <a:txBody>
                    <a:bodyPr/>
                    <a:lstStyle/>
                    <a:p>
                      <a:r>
                        <a:rPr sz="600" b="0">
                          <a:solidFill>
                            <a:srgbClr val="2A5BAE"/>
                          </a:solidFill>
                        </a:rPr>
                        <a:t>Impact</a:t>
                      </a:r>
                    </a:p>
                  </a:txBody>
                  <a:tcPr>
                    <a:solidFill>
                      <a:srgbClr val="DAE6F2"/>
                    </a:solidFill>
                  </a:tcPr>
                </a:tc>
                <a:tc>
                  <a:txBody>
                    <a:bodyPr/>
                    <a:lstStyle/>
                    <a:p>
                      <a:r>
                        <a:rPr sz="600" b="0">
                          <a:solidFill>
                            <a:srgbClr val="2A5BAE"/>
                          </a:solidFill>
                        </a:rPr>
                        <a:t>Resource Library</a:t>
                      </a:r>
                    </a:p>
                  </a:txBody>
                  <a:tcPr>
                    <a:solidFill>
                      <a:srgbClr val="F3F7FA"/>
                    </a:solidFill>
                  </a:tcPr>
                </a:tc>
                <a:tc>
                  <a:txBody>
                    <a:bodyPr/>
                    <a:lstStyle/>
                    <a:p>
                      <a:r>
                        <a:rPr sz="600" b="0">
                          <a:solidFill>
                            <a:srgbClr val="2A5BAE"/>
                          </a:solidFill>
                        </a:rPr>
                        <a:t>Alpha</a:t>
                      </a:r>
                    </a:p>
                  </a:txBody>
                  <a:tcPr>
                    <a:solidFill>
                      <a:srgbClr val="DAE6F2"/>
                    </a:solidFill>
                  </a:tcPr>
                </a:tc>
                <a:extLst>
                  <a:ext uri="{0D108BD9-81ED-4DB2-BD59-A6C34878D82A}">
                    <a16:rowId xmlns:a16="http://schemas.microsoft.com/office/drawing/2014/main" val="10001"/>
                  </a:ext>
                </a:extLst>
              </a:tr>
              <a:tr h="175580">
                <a:tc>
                  <a:txBody>
                    <a:bodyPr/>
                    <a:lstStyle/>
                    <a:p>
                      <a:r>
                        <a:rPr sz="600" b="0">
                          <a:solidFill>
                            <a:srgbClr val="2A5BAE"/>
                          </a:solidFill>
                        </a:rPr>
                        <a:t>Program Pulse</a:t>
                      </a:r>
                    </a:p>
                  </a:txBody>
                  <a:tcPr>
                    <a:solidFill>
                      <a:srgbClr val="F3F7FA"/>
                    </a:solidFill>
                  </a:tcPr>
                </a:tc>
                <a:tc>
                  <a:txBody>
                    <a:bodyPr/>
                    <a:lstStyle/>
                    <a:p>
                      <a:r>
                        <a:rPr sz="600" b="0">
                          <a:solidFill>
                            <a:srgbClr val="2A5BAE"/>
                          </a:solidFill>
                        </a:rPr>
                        <a:t>Process Connector</a:t>
                      </a:r>
                    </a:p>
                  </a:txBody>
                  <a:tcPr>
                    <a:solidFill>
                      <a:srgbClr val="DAE6F2"/>
                    </a:solidFill>
                  </a:tcPr>
                </a:tc>
                <a:tc>
                  <a:txBody>
                    <a:bodyPr/>
                    <a:lstStyle/>
                    <a:p>
                      <a:r>
                        <a:rPr sz="600" b="0">
                          <a:solidFill>
                            <a:srgbClr val="2A5BAE"/>
                          </a:solidFill>
                        </a:rPr>
                        <a:t>Cycle Packet</a:t>
                      </a:r>
                    </a:p>
                  </a:txBody>
                  <a:tcPr>
                    <a:solidFill>
                      <a:srgbClr val="F3F7FA"/>
                    </a:solidFill>
                  </a:tcPr>
                </a:tc>
                <a:tc>
                  <a:txBody>
                    <a:bodyPr/>
                    <a:lstStyle/>
                    <a:p>
                      <a:r>
                        <a:rPr sz="600" b="0">
                          <a:solidFill>
                            <a:srgbClr val="2A5BAE"/>
                          </a:solidFill>
                        </a:rPr>
                        <a:t>Template</a:t>
                      </a:r>
                    </a:p>
                  </a:txBody>
                  <a:tcPr>
                    <a:solidFill>
                      <a:srgbClr val="DAE6F2"/>
                    </a:solidFill>
                  </a:tcPr>
                </a:tc>
                <a:tc>
                  <a:txBody>
                    <a:bodyPr/>
                    <a:lstStyle/>
                    <a:p>
                      <a:r>
                        <a:rPr sz="600" b="0">
                          <a:solidFill>
                            <a:srgbClr val="2A5BAE"/>
                          </a:solidFill>
                        </a:rPr>
                        <a:t>Sample</a:t>
                      </a:r>
                    </a:p>
                  </a:txBody>
                  <a:tcPr>
                    <a:solidFill>
                      <a:srgbClr val="F3F7FA"/>
                    </a:solidFill>
                  </a:tcPr>
                </a:tc>
                <a:tc>
                  <a:txBody>
                    <a:bodyPr/>
                    <a:lstStyle/>
                    <a:p>
                      <a:r>
                        <a:rPr sz="600" b="0">
                          <a:solidFill>
                            <a:srgbClr val="2A5BAE"/>
                          </a:solidFill>
                        </a:rPr>
                        <a:t>Goal</a:t>
                      </a:r>
                    </a:p>
                  </a:txBody>
                  <a:tcPr>
                    <a:solidFill>
                      <a:srgbClr val="DAE6F2"/>
                    </a:solidFill>
                  </a:tcPr>
                </a:tc>
                <a:extLst>
                  <a:ext uri="{0D108BD9-81ED-4DB2-BD59-A6C34878D82A}">
                    <a16:rowId xmlns:a16="http://schemas.microsoft.com/office/drawing/2014/main" val="10002"/>
                  </a:ext>
                </a:extLst>
              </a:tr>
              <a:tr h="175580">
                <a:tc>
                  <a:txBody>
                    <a:bodyPr/>
                    <a:lstStyle/>
                    <a:p>
                      <a:r>
                        <a:rPr sz="600" b="0">
                          <a:solidFill>
                            <a:srgbClr val="2A5BAE"/>
                          </a:solidFill>
                        </a:rPr>
                        <a:t>Measure</a:t>
                      </a:r>
                    </a:p>
                  </a:txBody>
                  <a:tcPr>
                    <a:solidFill>
                      <a:srgbClr val="F3F7FA"/>
                    </a:solidFill>
                  </a:tcPr>
                </a:tc>
                <a:tc>
                  <a:txBody>
                    <a:bodyPr/>
                    <a:lstStyle/>
                    <a:p>
                      <a:r>
                        <a:rPr sz="600" b="0">
                          <a:solidFill>
                            <a:srgbClr val="2A5BAE"/>
                          </a:solidFill>
                        </a:rPr>
                        <a:t>Needle Drive</a:t>
                      </a:r>
                    </a:p>
                  </a:txBody>
                  <a:tcPr>
                    <a:solidFill>
                      <a:srgbClr val="DAE6F2"/>
                    </a:solidFill>
                  </a:tcPr>
                </a:tc>
                <a:tc>
                  <a:txBody>
                    <a:bodyPr/>
                    <a:lstStyle/>
                    <a:p>
                      <a:r>
                        <a:rPr sz="600" b="0">
                          <a:solidFill>
                            <a:srgbClr val="2A5BAE"/>
                          </a:solidFill>
                        </a:rPr>
                        <a:t>Runtime Epoch</a:t>
                      </a:r>
                    </a:p>
                  </a:txBody>
                  <a:tcPr>
                    <a:solidFill>
                      <a:srgbClr val="F3F7FA"/>
                    </a:solidFill>
                  </a:tcPr>
                </a:tc>
                <a:tc>
                  <a:txBody>
                    <a:bodyPr/>
                    <a:lstStyle/>
                    <a:p>
                      <a:r>
                        <a:rPr sz="600" b="0">
                          <a:solidFill>
                            <a:srgbClr val="2A5BAE"/>
                          </a:solidFill>
                        </a:rPr>
                        <a:t>Hub Gradient</a:t>
                      </a:r>
                    </a:p>
                  </a:txBody>
                  <a:tcPr>
                    <a:solidFill>
                      <a:srgbClr val="DAE6F2"/>
                    </a:solidFill>
                  </a:tcPr>
                </a:tc>
                <a:tc>
                  <a:txBody>
                    <a:bodyPr/>
                    <a:lstStyle/>
                    <a:p>
                      <a:r>
                        <a:rPr sz="600" b="0">
                          <a:solidFill>
                            <a:srgbClr val="2A5BAE"/>
                          </a:solidFill>
                        </a:rPr>
                        <a:t>Exchange</a:t>
                      </a:r>
                    </a:p>
                  </a:txBody>
                  <a:tcPr>
                    <a:solidFill>
                      <a:srgbClr val="F3F7FA"/>
                    </a:solidFill>
                  </a:tcPr>
                </a:tc>
                <a:tc>
                  <a:txBody>
                    <a:bodyPr/>
                    <a:lstStyle/>
                    <a:p>
                      <a:r>
                        <a:rPr sz="600" b="0">
                          <a:solidFill>
                            <a:srgbClr val="2A5BAE"/>
                          </a:solidFill>
                        </a:rPr>
                        <a:t>Instance</a:t>
                      </a:r>
                    </a:p>
                  </a:txBody>
                  <a:tcPr>
                    <a:solidFill>
                      <a:srgbClr val="DAE6F2"/>
                    </a:solidFill>
                  </a:tcPr>
                </a:tc>
                <a:extLst>
                  <a:ext uri="{0D108BD9-81ED-4DB2-BD59-A6C34878D82A}">
                    <a16:rowId xmlns:a16="http://schemas.microsoft.com/office/drawing/2014/main" val="10003"/>
                  </a:ext>
                </a:extLst>
              </a:tr>
              <a:tr h="175580">
                <a:tc>
                  <a:txBody>
                    <a:bodyPr/>
                    <a:lstStyle/>
                    <a:p>
                      <a:r>
                        <a:rPr sz="600" b="0">
                          <a:solidFill>
                            <a:srgbClr val="2A5BAE"/>
                          </a:solidFill>
                        </a:rPr>
                        <a:t>Anchor Capacity</a:t>
                      </a:r>
                    </a:p>
                  </a:txBody>
                  <a:tcPr>
                    <a:solidFill>
                      <a:srgbClr val="F3F7FA"/>
                    </a:solidFill>
                  </a:tcPr>
                </a:tc>
                <a:tc>
                  <a:txBody>
                    <a:bodyPr/>
                    <a:lstStyle/>
                    <a:p>
                      <a:r>
                        <a:rPr sz="600" b="0">
                          <a:solidFill>
                            <a:srgbClr val="2A5BAE"/>
                          </a:solidFill>
                        </a:rPr>
                        <a:t>Pixel</a:t>
                      </a:r>
                    </a:p>
                  </a:txBody>
                  <a:tcPr>
                    <a:solidFill>
                      <a:srgbClr val="DAE6F2"/>
                    </a:solidFill>
                  </a:tcPr>
                </a:tc>
                <a:tc>
                  <a:txBody>
                    <a:bodyPr/>
                    <a:lstStyle/>
                    <a:p>
                      <a:r>
                        <a:rPr sz="600" b="0">
                          <a:solidFill>
                            <a:srgbClr val="2A5BAE"/>
                          </a:solidFill>
                        </a:rPr>
                        <a:t>Build Vertex</a:t>
                      </a:r>
                    </a:p>
                  </a:txBody>
                  <a:tcPr>
                    <a:solidFill>
                      <a:srgbClr val="F3F7FA"/>
                    </a:solidFill>
                  </a:tcPr>
                </a:tc>
                <a:tc>
                  <a:txBody>
                    <a:bodyPr/>
                    <a:lstStyle/>
                    <a:p>
                      <a:r>
                        <a:rPr sz="600" b="0">
                          <a:solidFill>
                            <a:srgbClr val="2A5BAE"/>
                          </a:solidFill>
                        </a:rPr>
                        <a:t>Interface Result</a:t>
                      </a:r>
                    </a:p>
                  </a:txBody>
                  <a:tcPr>
                    <a:solidFill>
                      <a:srgbClr val="DAE6F2"/>
                    </a:solidFill>
                  </a:tcPr>
                </a:tc>
                <a:tc>
                  <a:txBody>
                    <a:bodyPr/>
                    <a:lstStyle/>
                    <a:p>
                      <a:r>
                        <a:rPr sz="600" b="0">
                          <a:solidFill>
                            <a:srgbClr val="2A5BAE"/>
                          </a:solidFill>
                        </a:rPr>
                        <a:t>Map Model</a:t>
                      </a:r>
                    </a:p>
                  </a:txBody>
                  <a:tcPr>
                    <a:solidFill>
                      <a:srgbClr val="F3F7FA"/>
                    </a:solidFill>
                  </a:tcPr>
                </a:tc>
                <a:tc>
                  <a:txBody>
                    <a:bodyPr/>
                    <a:lstStyle/>
                    <a:p>
                      <a:r>
                        <a:rPr sz="600" b="0">
                          <a:solidFill>
                            <a:srgbClr val="2A5BAE"/>
                          </a:solidFill>
                        </a:rPr>
                        <a:t>Ledger Option</a:t>
                      </a:r>
                    </a:p>
                  </a:txBody>
                  <a:tcPr>
                    <a:solidFill>
                      <a:srgbClr val="DAE6F2"/>
                    </a:solidFill>
                  </a:tcPr>
                </a:tc>
                <a:extLst>
                  <a:ext uri="{0D108BD9-81ED-4DB2-BD59-A6C34878D82A}">
                    <a16:rowId xmlns:a16="http://schemas.microsoft.com/office/drawing/2014/main" val="10004"/>
                  </a:ext>
                </a:extLst>
              </a:tr>
              <a:tr h="175580">
                <a:tc>
                  <a:txBody>
                    <a:bodyPr/>
                    <a:lstStyle/>
                    <a:p>
                      <a:r>
                        <a:rPr sz="600" b="0">
                          <a:solidFill>
                            <a:srgbClr val="2A5BAE"/>
                          </a:solidFill>
                        </a:rPr>
                        <a:t>Engine Trigger</a:t>
                      </a:r>
                    </a:p>
                  </a:txBody>
                  <a:tcPr>
                    <a:solidFill>
                      <a:srgbClr val="F3F7FA"/>
                    </a:solidFill>
                  </a:tcPr>
                </a:tc>
                <a:tc>
                  <a:txBody>
                    <a:bodyPr/>
                    <a:lstStyle/>
                    <a:p>
                      <a:r>
                        <a:rPr sz="600" b="0">
                          <a:solidFill>
                            <a:srgbClr val="2A5BAE"/>
                          </a:solidFill>
                        </a:rPr>
                        <a:t>Queue Craft</a:t>
                      </a:r>
                    </a:p>
                  </a:txBody>
                  <a:tcPr>
                    <a:solidFill>
                      <a:srgbClr val="DAE6F2"/>
                    </a:solidFill>
                  </a:tcPr>
                </a:tc>
                <a:tc>
                  <a:txBody>
                    <a:bodyPr/>
                    <a:lstStyle/>
                    <a:p>
                      <a:r>
                        <a:rPr sz="600" b="0">
                          <a:solidFill>
                            <a:srgbClr val="2A5BAE"/>
                          </a:solidFill>
                        </a:rPr>
                        <a:t>Memory</a:t>
                      </a:r>
                    </a:p>
                  </a:txBody>
                  <a:tcPr>
                    <a:solidFill>
                      <a:srgbClr val="F3F7FA"/>
                    </a:solidFill>
                  </a:tcPr>
                </a:tc>
                <a:tc>
                  <a:txBody>
                    <a:bodyPr/>
                    <a:lstStyle/>
                    <a:p>
                      <a:r>
                        <a:rPr sz="600" b="0">
                          <a:solidFill>
                            <a:srgbClr val="2A5BAE"/>
                          </a:solidFill>
                        </a:rPr>
                        <a:t>Window</a:t>
                      </a:r>
                    </a:p>
                  </a:txBody>
                  <a:tcPr>
                    <a:solidFill>
                      <a:srgbClr val="DAE6F2"/>
                    </a:solidFill>
                  </a:tcPr>
                </a:tc>
                <a:tc>
                  <a:txBody>
                    <a:bodyPr/>
                    <a:lstStyle/>
                    <a:p>
                      <a:r>
                        <a:rPr sz="600" b="0">
                          <a:solidFill>
                            <a:srgbClr val="2A5BAE"/>
                          </a:solidFill>
                        </a:rPr>
                        <a:t>Result Process</a:t>
                      </a:r>
                    </a:p>
                  </a:txBody>
                  <a:tcPr>
                    <a:solidFill>
                      <a:srgbClr val="F3F7FA"/>
                    </a:solidFill>
                  </a:tcPr>
                </a:tc>
                <a:tc>
                  <a:txBody>
                    <a:bodyPr/>
                    <a:lstStyle/>
                    <a:p>
                      <a:r>
                        <a:rPr sz="600" b="0">
                          <a:solidFill>
                            <a:srgbClr val="2A5BAE"/>
                          </a:solidFill>
                        </a:rPr>
                        <a:t>Path</a:t>
                      </a:r>
                    </a:p>
                  </a:txBody>
                  <a:tcPr>
                    <a:solidFill>
                      <a:srgbClr val="DAE6F2"/>
                    </a:solidFill>
                  </a:tcPr>
                </a:tc>
                <a:extLst>
                  <a:ext uri="{0D108BD9-81ED-4DB2-BD59-A6C34878D82A}">
                    <a16:rowId xmlns:a16="http://schemas.microsoft.com/office/drawing/2014/main" val="10005"/>
                  </a:ext>
                </a:extLst>
              </a:tr>
            </a:tbl>
          </a:graphicData>
        </a:graphic>
      </p:graphicFrame>
      <p:cxnSp>
        <p:nvCxnSpPr>
          <p:cNvPr id="16" name="Connector 15"/>
          <p:cNvCxnSpPr/>
          <p:nvPr/>
        </p:nvCxnSpPr>
        <p:spPr>
          <a:xfrm>
            <a:off x="4293219" y="4513442"/>
            <a:ext cx="875935" cy="1172105"/>
          </a:xfrm>
          <a:prstGeom prst="line">
            <a:avLst/>
          </a:prstGeom>
          <a:ln w="7504">
            <a:solidFill>
              <a:srgbClr val="AB1CA4"/>
            </a:solidFill>
            <a:prstDash val="solid"/>
          </a:ln>
        </p:spPr>
        <p:style>
          <a:lnRef idx="2">
            <a:schemeClr val="accent1"/>
          </a:lnRef>
          <a:fillRef idx="0">
            <a:schemeClr val="accent1"/>
          </a:fillRef>
          <a:effectRef idx="1">
            <a:schemeClr val="accent1"/>
          </a:effectRef>
          <a:fontRef idx="minor">
            <a:schemeClr val="tx1"/>
          </a:fontRef>
        </p:style>
      </p:cxnSp>
      <p:sp>
        <p:nvSpPr>
          <p:cNvPr id="17" name="U-Turn Arrow 16"/>
          <p:cNvSpPr/>
          <p:nvPr/>
        </p:nvSpPr>
        <p:spPr>
          <a:xfrm>
            <a:off x="9672812" y="4230296"/>
            <a:ext cx="1103388" cy="1293966"/>
          </a:xfrm>
          <a:prstGeom prst="uturnArrow">
            <a:avLst/>
          </a:prstGeom>
          <a:solidFill>
            <a:srgbClr val="29C9AD"/>
          </a:solidFill>
          <a:ln w="11099">
            <a:solidFill>
              <a:srgbClr val="60A88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99937" y="1867600"/>
            <a:ext cx="2675119" cy="331129"/>
          </a:xfrm>
          <a:prstGeom prst="rect">
            <a:avLst/>
          </a:prstGeom>
          <a:noFill/>
        </p:spPr>
        <p:txBody>
          <a:bodyPr wrap="none" lIns="33624" tIns="33624" rIns="33624" bIns="33624">
            <a:spAutoFit/>
          </a:bodyPr>
          <a:lstStyle/>
          <a:p>
            <a:r>
              <a:rPr sz="900" b="0" i="1" u="none">
                <a:solidFill>
                  <a:srgbClr val="62D4DD"/>
                </a:solidFill>
                <a:latin typeface="Calibri"/>
              </a:rPr>
              <a:t>Snapshot Snapshot Register Reserve Keyline</a:t>
            </a:r>
          </a:p>
        </p:txBody>
      </p:sp>
      <p:sp>
        <p:nvSpPr>
          <p:cNvPr id="19" name="TextBox 18"/>
          <p:cNvSpPr txBox="1"/>
          <p:nvPr/>
        </p:nvSpPr>
        <p:spPr>
          <a:xfrm>
            <a:off x="2494910" y="3602354"/>
            <a:ext cx="732368" cy="1110084"/>
          </a:xfrm>
          <a:prstGeom prst="rect">
            <a:avLst/>
          </a:prstGeom>
          <a:noFill/>
        </p:spPr>
        <p:txBody>
          <a:bodyPr wrap="none" lIns="22589" tIns="22589" rIns="22589" bIns="22589">
            <a:spAutoFit/>
          </a:bodyPr>
          <a:lstStyle/>
          <a:p>
            <a:r>
              <a:rPr sz="1000" b="1" i="1" u="none">
                <a:solidFill>
                  <a:srgbClr val="32262B"/>
                </a:solidFill>
                <a:latin typeface="Arial"/>
              </a:rPr>
              <a:t>Region Trend Reference Topology Origin Report Wave Baseline Instance Stack Program Vertex Foundation Adaptive Filter Command Build Delta Pixel Depth Channel Window Target Delta Element Expansion Grid Array Window Control Loop Story</a:t>
            </a:r>
          </a:p>
        </p:txBody>
      </p:sp>
      <p:pic>
        <p:nvPicPr>
          <p:cNvPr id="20" name="Picture 19" descr="_example_image.jpg"/>
          <p:cNvPicPr>
            <a:picLocks noChangeAspect="1"/>
          </p:cNvPicPr>
          <p:nvPr/>
        </p:nvPicPr>
        <p:blipFill>
          <a:blip r:embed="rId3"/>
          <a:srcRect l="19868" t="10231" r="16877" b="7383"/>
          <a:stretch>
            <a:fillRect/>
          </a:stretch>
        </p:blipFill>
        <p:spPr>
          <a:xfrm>
            <a:off x="6660327" y="627414"/>
            <a:ext cx="2837293" cy="1096693"/>
          </a:xfrm>
          <a:prstGeom prst="rect">
            <a:avLst/>
          </a:prstGeom>
        </p:spPr>
      </p:pic>
      <p:sp>
        <p:nvSpPr>
          <p:cNvPr id="21" name="TextBox 20"/>
          <p:cNvSpPr txBox="1"/>
          <p:nvPr/>
        </p:nvSpPr>
        <p:spPr>
          <a:xfrm>
            <a:off x="3971585" y="2008450"/>
            <a:ext cx="2676862" cy="408888"/>
          </a:xfrm>
          <a:prstGeom prst="rect">
            <a:avLst/>
          </a:prstGeom>
          <a:noFill/>
        </p:spPr>
        <p:txBody>
          <a:bodyPr wrap="none" lIns="40857" tIns="40857" rIns="40857" bIns="40857">
            <a:spAutoFit/>
          </a:bodyPr>
          <a:lstStyle/>
          <a:p>
            <a:r>
              <a:rPr sz="6200" b="1" i="0" u="none">
                <a:solidFill>
                  <a:srgbClr val="4ACE7A"/>
                </a:solidFill>
                <a:latin typeface="Arial"/>
              </a:rPr>
              <a:t>View Radius</a:t>
            </a:r>
          </a:p>
        </p:txBody>
      </p:sp>
      <p:pic>
        <p:nvPicPr>
          <p:cNvPr id="22" name="Picture 21" descr="_example_image.jpg"/>
          <p:cNvPicPr>
            <a:picLocks noChangeAspect="1"/>
          </p:cNvPicPr>
          <p:nvPr/>
        </p:nvPicPr>
        <p:blipFill>
          <a:blip r:embed="rId3"/>
          <a:srcRect/>
          <a:stretch>
            <a:fillRect/>
          </a:stretch>
        </p:blipFill>
        <p:spPr>
          <a:xfrm>
            <a:off x="2409292" y="1427702"/>
            <a:ext cx="1826677" cy="1860154"/>
          </a:xfrm>
          <a:prstGeom prst="rect">
            <a:avLst/>
          </a:prstGeom>
        </p:spPr>
      </p:pic>
      <p:sp>
        <p:nvSpPr>
          <p:cNvPr id="23" name="Rounded Rectangle 22"/>
          <p:cNvSpPr/>
          <p:nvPr/>
        </p:nvSpPr>
        <p:spPr>
          <a:xfrm>
            <a:off x="2409292" y="1427702"/>
            <a:ext cx="1826677" cy="1860154"/>
          </a:xfrm>
          <a:prstGeom prst="roundRect">
            <a:avLst/>
          </a:prstGeom>
          <a:noFill/>
          <a:ln w="15240">
            <a:solidFill>
              <a:srgbClr val="7284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Chart 23"/>
          <p:cNvGraphicFramePr>
            <a:graphicFrameLocks noGrp="1"/>
          </p:cNvGraphicFramePr>
          <p:nvPr/>
        </p:nvGraphicFramePr>
        <p:xfrm>
          <a:off x="6476581" y="3225454"/>
          <a:ext cx="2160136" cy="1404240"/>
        </p:xfrm>
        <a:graphic>
          <a:graphicData uri="http://schemas.openxmlformats.org/drawingml/2006/chart">
            <c:chart xmlns:c="http://schemas.openxmlformats.org/drawingml/2006/chart" xmlns:r="http://schemas.openxmlformats.org/officeDocument/2006/relationships" r:id="rId4"/>
          </a:graphicData>
        </a:graphic>
      </p:graphicFrame>
      <p:pic>
        <p:nvPicPr>
          <p:cNvPr id="25" name="Picture 24" descr="_example_image.jpg"/>
          <p:cNvPicPr>
            <a:picLocks noChangeAspect="1"/>
          </p:cNvPicPr>
          <p:nvPr/>
        </p:nvPicPr>
        <p:blipFill>
          <a:blip r:embed="rId3"/>
          <a:srcRect l="14005" t="18408" r="11424" b="4529"/>
          <a:stretch>
            <a:fillRect/>
          </a:stretch>
        </p:blipFill>
        <p:spPr>
          <a:xfrm>
            <a:off x="10132048" y="1162559"/>
            <a:ext cx="1047621" cy="1368169"/>
          </a:xfrm>
          <a:prstGeom prst="rect">
            <a:avLst/>
          </a:prstGeom>
        </p:spPr>
      </p:pic>
      <p:sp>
        <p:nvSpPr>
          <p:cNvPr id="26" name="Rounded Rectangle 25"/>
          <p:cNvSpPr/>
          <p:nvPr/>
        </p:nvSpPr>
        <p:spPr>
          <a:xfrm>
            <a:off x="10132048" y="1162559"/>
            <a:ext cx="1047621" cy="1368169"/>
          </a:xfrm>
          <a:prstGeom prst="roundRect">
            <a:avLst/>
          </a:prstGeom>
          <a:noFill/>
          <a:ln w="15240">
            <a:solidFill>
              <a:srgbClr val="C7A1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4448635" y="1038851"/>
            <a:ext cx="1627881" cy="524821"/>
          </a:xfrm>
          <a:prstGeom prst="bentConnector3">
            <a:avLst/>
          </a:prstGeom>
          <a:ln w="11486">
            <a:solidFill>
              <a:srgbClr val="4EB667"/>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28" name="Table 27"/>
          <p:cNvGraphicFramePr>
            <a:graphicFrameLocks noGrp="1"/>
          </p:cNvGraphicFramePr>
          <p:nvPr/>
        </p:nvGraphicFramePr>
        <p:xfrm>
          <a:off x="1267958" y="221028"/>
          <a:ext cx="2666452" cy="1316852"/>
        </p:xfrm>
        <a:graphic>
          <a:graphicData uri="http://schemas.openxmlformats.org/drawingml/2006/table">
            <a:tbl>
              <a:tblPr firstRow="1" bandRow="1">
                <a:tableStyleId>{5C22544A-7EE6-4342-B048-85BDC9FD1C3A}</a:tableStyleId>
              </a:tblPr>
              <a:tblGrid>
                <a:gridCol w="533290">
                  <a:extLst>
                    <a:ext uri="{9D8B030D-6E8A-4147-A177-3AD203B41FA5}">
                      <a16:colId xmlns:a16="http://schemas.microsoft.com/office/drawing/2014/main" val="20000"/>
                    </a:ext>
                  </a:extLst>
                </a:gridCol>
                <a:gridCol w="533290">
                  <a:extLst>
                    <a:ext uri="{9D8B030D-6E8A-4147-A177-3AD203B41FA5}">
                      <a16:colId xmlns:a16="http://schemas.microsoft.com/office/drawing/2014/main" val="20001"/>
                    </a:ext>
                  </a:extLst>
                </a:gridCol>
                <a:gridCol w="533290">
                  <a:extLst>
                    <a:ext uri="{9D8B030D-6E8A-4147-A177-3AD203B41FA5}">
                      <a16:colId xmlns:a16="http://schemas.microsoft.com/office/drawing/2014/main" val="20002"/>
                    </a:ext>
                  </a:extLst>
                </a:gridCol>
                <a:gridCol w="533290">
                  <a:extLst>
                    <a:ext uri="{9D8B030D-6E8A-4147-A177-3AD203B41FA5}">
                      <a16:colId xmlns:a16="http://schemas.microsoft.com/office/drawing/2014/main" val="20003"/>
                    </a:ext>
                  </a:extLst>
                </a:gridCol>
                <a:gridCol w="533292">
                  <a:extLst>
                    <a:ext uri="{9D8B030D-6E8A-4147-A177-3AD203B41FA5}">
                      <a16:colId xmlns:a16="http://schemas.microsoft.com/office/drawing/2014/main" val="20004"/>
                    </a:ext>
                  </a:extLst>
                </a:gridCol>
              </a:tblGrid>
              <a:tr h="438950">
                <a:tc>
                  <a:txBody>
                    <a:bodyPr/>
                    <a:lstStyle/>
                    <a:p>
                      <a:r>
                        <a:rPr sz="1300" b="1">
                          <a:solidFill>
                            <a:srgbClr val="4E45DA"/>
                          </a:solidFill>
                        </a:rPr>
                        <a:t>Tile Briefing</a:t>
                      </a:r>
                    </a:p>
                  </a:txBody>
                  <a:tcPr>
                    <a:solidFill>
                      <a:srgbClr val="CF4C93"/>
                    </a:solidFill>
                  </a:tcPr>
                </a:tc>
                <a:tc>
                  <a:txBody>
                    <a:bodyPr/>
                    <a:lstStyle/>
                    <a:p>
                      <a:r>
                        <a:rPr sz="1300" b="1">
                          <a:solidFill>
                            <a:srgbClr val="4E45DA"/>
                          </a:solidFill>
                        </a:rPr>
                        <a:t>Strategy Craft</a:t>
                      </a:r>
                    </a:p>
                  </a:txBody>
                  <a:tcPr>
                    <a:solidFill>
                      <a:srgbClr val="CF4C93"/>
                    </a:solidFill>
                  </a:tcPr>
                </a:tc>
                <a:tc>
                  <a:txBody>
                    <a:bodyPr/>
                    <a:lstStyle/>
                    <a:p>
                      <a:r>
                        <a:rPr sz="1300" b="1">
                          <a:solidFill>
                            <a:srgbClr val="4E45DA"/>
                          </a:solidFill>
                        </a:rPr>
                        <a:t>Tile</a:t>
                      </a:r>
                    </a:p>
                  </a:txBody>
                  <a:tcPr>
                    <a:solidFill>
                      <a:srgbClr val="CF4C93"/>
                    </a:solidFill>
                  </a:tcPr>
                </a:tc>
                <a:tc>
                  <a:txBody>
                    <a:bodyPr/>
                    <a:lstStyle/>
                    <a:p>
                      <a:r>
                        <a:rPr sz="1300" b="1">
                          <a:solidFill>
                            <a:srgbClr val="4E45DA"/>
                          </a:solidFill>
                        </a:rPr>
                        <a:t>Packet Event</a:t>
                      </a:r>
                    </a:p>
                  </a:txBody>
                  <a:tcPr>
                    <a:solidFill>
                      <a:srgbClr val="CF4C93"/>
                    </a:solidFill>
                  </a:tcPr>
                </a:tc>
                <a:tc>
                  <a:txBody>
                    <a:bodyPr/>
                    <a:lstStyle/>
                    <a:p>
                      <a:r>
                        <a:rPr sz="1300" b="1">
                          <a:solidFill>
                            <a:srgbClr val="4E45DA"/>
                          </a:solidFill>
                        </a:rPr>
                        <a:t>Input Hub</a:t>
                      </a:r>
                    </a:p>
                  </a:txBody>
                  <a:tcPr>
                    <a:solidFill>
                      <a:srgbClr val="CF4C93"/>
                    </a:solidFill>
                  </a:tcPr>
                </a:tc>
                <a:extLst>
                  <a:ext uri="{0D108BD9-81ED-4DB2-BD59-A6C34878D82A}">
                    <a16:rowId xmlns:a16="http://schemas.microsoft.com/office/drawing/2014/main" val="10000"/>
                  </a:ext>
                </a:extLst>
              </a:tr>
              <a:tr h="438950">
                <a:tc>
                  <a:txBody>
                    <a:bodyPr/>
                    <a:lstStyle/>
                    <a:p>
                      <a:r>
                        <a:rPr sz="1300" b="0">
                          <a:solidFill>
                            <a:srgbClr val="4E45DA"/>
                          </a:solidFill>
                        </a:rPr>
                        <a:t>Format</a:t>
                      </a:r>
                    </a:p>
                  </a:txBody>
                  <a:tcPr>
                    <a:solidFill>
                      <a:srgbClr val="F9F5EE"/>
                    </a:solidFill>
                  </a:tcPr>
                </a:tc>
                <a:tc>
                  <a:txBody>
                    <a:bodyPr/>
                    <a:lstStyle/>
                    <a:p>
                      <a:r>
                        <a:rPr sz="1300" b="0">
                          <a:solidFill>
                            <a:srgbClr val="4E45DA"/>
                          </a:solidFill>
                        </a:rPr>
                        <a:t>Route</a:t>
                      </a:r>
                    </a:p>
                  </a:txBody>
                  <a:tcPr>
                    <a:solidFill>
                      <a:srgbClr val="F9F5EE"/>
                    </a:solidFill>
                  </a:tcPr>
                </a:tc>
                <a:tc>
                  <a:txBody>
                    <a:bodyPr/>
                    <a:lstStyle/>
                    <a:p>
                      <a:r>
                        <a:rPr sz="1300" b="0">
                          <a:solidFill>
                            <a:srgbClr val="4E45DA"/>
                          </a:solidFill>
                        </a:rPr>
                        <a:t>Access</a:t>
                      </a:r>
                    </a:p>
                  </a:txBody>
                  <a:tcPr>
                    <a:solidFill>
                      <a:srgbClr val="F9F5EE"/>
                    </a:solidFill>
                  </a:tcPr>
                </a:tc>
                <a:tc>
                  <a:txBody>
                    <a:bodyPr/>
                    <a:lstStyle/>
                    <a:p>
                      <a:r>
                        <a:rPr sz="1300" b="0">
                          <a:solidFill>
                            <a:srgbClr val="4E45DA"/>
                          </a:solidFill>
                        </a:rPr>
                        <a:t>Package</a:t>
                      </a:r>
                    </a:p>
                  </a:txBody>
                  <a:tcPr>
                    <a:solidFill>
                      <a:srgbClr val="F9F5EE"/>
                    </a:solidFill>
                  </a:tcPr>
                </a:tc>
                <a:tc>
                  <a:txBody>
                    <a:bodyPr/>
                    <a:lstStyle/>
                    <a:p>
                      <a:r>
                        <a:rPr sz="1300" b="0">
                          <a:solidFill>
                            <a:srgbClr val="4E45DA"/>
                          </a:solidFill>
                        </a:rPr>
                        <a:t>Detail Schema</a:t>
                      </a:r>
                    </a:p>
                  </a:txBody>
                  <a:tcPr>
                    <a:solidFill>
                      <a:srgbClr val="F9F5EE"/>
                    </a:solidFill>
                  </a:tcPr>
                </a:tc>
                <a:extLst>
                  <a:ext uri="{0D108BD9-81ED-4DB2-BD59-A6C34878D82A}">
                    <a16:rowId xmlns:a16="http://schemas.microsoft.com/office/drawing/2014/main" val="10001"/>
                  </a:ext>
                </a:extLst>
              </a:tr>
              <a:tr h="438952">
                <a:tc>
                  <a:txBody>
                    <a:bodyPr/>
                    <a:lstStyle/>
                    <a:p>
                      <a:r>
                        <a:rPr sz="1300" b="0">
                          <a:solidFill>
                            <a:srgbClr val="4E45DA"/>
                          </a:solidFill>
                        </a:rPr>
                        <a:t>Switch Limit</a:t>
                      </a:r>
                    </a:p>
                  </a:txBody>
                  <a:tcPr>
                    <a:solidFill>
                      <a:srgbClr val="F9F5EE"/>
                    </a:solidFill>
                  </a:tcPr>
                </a:tc>
                <a:tc>
                  <a:txBody>
                    <a:bodyPr/>
                    <a:lstStyle/>
                    <a:p>
                      <a:r>
                        <a:rPr sz="1300" b="0">
                          <a:solidFill>
                            <a:srgbClr val="4E45DA"/>
                          </a:solidFill>
                        </a:rPr>
                        <a:t>Cortex</a:t>
                      </a:r>
                    </a:p>
                  </a:txBody>
                  <a:tcPr>
                    <a:solidFill>
                      <a:srgbClr val="F9F5EE"/>
                    </a:solidFill>
                  </a:tcPr>
                </a:tc>
                <a:tc>
                  <a:txBody>
                    <a:bodyPr/>
                    <a:lstStyle/>
                    <a:p>
                      <a:r>
                        <a:rPr sz="1300" b="0">
                          <a:solidFill>
                            <a:srgbClr val="4E45DA"/>
                          </a:solidFill>
                        </a:rPr>
                        <a:t>Coverage Memory</a:t>
                      </a:r>
                    </a:p>
                  </a:txBody>
                  <a:tcPr>
                    <a:solidFill>
                      <a:srgbClr val="F9F5EE"/>
                    </a:solidFill>
                  </a:tcPr>
                </a:tc>
                <a:tc>
                  <a:txBody>
                    <a:bodyPr/>
                    <a:lstStyle/>
                    <a:p>
                      <a:r>
                        <a:rPr sz="1300" b="0">
                          <a:solidFill>
                            <a:srgbClr val="4E45DA"/>
                          </a:solidFill>
                        </a:rPr>
                        <a:t>Checkpoint</a:t>
                      </a:r>
                    </a:p>
                  </a:txBody>
                  <a:tcPr>
                    <a:solidFill>
                      <a:srgbClr val="F9F5EE"/>
                    </a:solidFill>
                  </a:tcPr>
                </a:tc>
                <a:tc>
                  <a:txBody>
                    <a:bodyPr/>
                    <a:lstStyle/>
                    <a:p>
                      <a:r>
                        <a:rPr sz="1300" b="0">
                          <a:solidFill>
                            <a:srgbClr val="4E45DA"/>
                          </a:solidFill>
                        </a:rPr>
                        <a:t>Energy</a:t>
                      </a:r>
                    </a:p>
                  </a:txBody>
                  <a:tcPr>
                    <a:solidFill>
                      <a:srgbClr val="F9F5EE"/>
                    </a:solidFill>
                  </a:tcPr>
                </a:tc>
                <a:extLst>
                  <a:ext uri="{0D108BD9-81ED-4DB2-BD59-A6C34878D82A}">
                    <a16:rowId xmlns:a16="http://schemas.microsoft.com/office/drawing/2014/main" val="10002"/>
                  </a:ext>
                </a:extLst>
              </a:tr>
            </a:tbl>
          </a:graphicData>
        </a:graphic>
      </p:graphicFrame>
      <p:pic>
        <p:nvPicPr>
          <p:cNvPr id="30" name="Graphic 29">
            <a:extLst>
              <a:ext uri="{FF2B5EF4-FFF2-40B4-BE49-F238E27FC236}">
                <a16:creationId xmlns:a16="http://schemas.microsoft.com/office/drawing/2014/main" id="{F9D10CFB-D088-2073-7289-A7C2BD78B62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547409" y="2340627"/>
            <a:ext cx="2188603" cy="1059955"/>
          </a:xfrm>
          <a:prstGeom prst="rect">
            <a:avLst/>
          </a:prstGeom>
        </p:spPr>
      </p:pic>
      <p:pic>
        <p:nvPicPr>
          <p:cNvPr id="32" name="Graphic 31">
            <a:extLst>
              <a:ext uri="{FF2B5EF4-FFF2-40B4-BE49-F238E27FC236}">
                <a16:creationId xmlns:a16="http://schemas.microsoft.com/office/drawing/2014/main" id="{7390F186-9164-6A46-9FD0-BDE29F862A7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599181" y="217270"/>
            <a:ext cx="2871118" cy="770288"/>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10964439" y="4590099"/>
            <a:ext cx="959343" cy="827177"/>
          </a:xfrm>
          <a:custGeom>
            <a:avLst/>
            <a:gdLst/>
            <a:ahLst/>
            <a:cxnLst/>
            <a:rect l="l" t="t" r="r" b="b"/>
            <a:pathLst>
              <a:path w="959343" h="827177">
                <a:moveTo>
                  <a:pt x="103155" y="140796"/>
                </a:moveTo>
                <a:lnTo>
                  <a:pt x="340412" y="0"/>
                </a:lnTo>
                <a:lnTo>
                  <a:pt x="701455" y="70398"/>
                </a:lnTo>
                <a:lnTo>
                  <a:pt x="959343" y="334390"/>
                </a:lnTo>
                <a:lnTo>
                  <a:pt x="825241" y="686381"/>
                </a:lnTo>
                <a:lnTo>
                  <a:pt x="443567" y="827177"/>
                </a:lnTo>
                <a:lnTo>
                  <a:pt x="61893" y="598383"/>
                </a:lnTo>
                <a:lnTo>
                  <a:pt x="0" y="299191"/>
                </a:lnTo>
                <a:close/>
              </a:path>
            </a:pathLst>
          </a:custGeom>
          <a:solidFill>
            <a:srgbClr val="AF2983"/>
          </a:solidFill>
          <a:ln w="22416">
            <a:solidFill>
              <a:srgbClr val="7744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cument 2"/>
          <p:cNvSpPr/>
          <p:nvPr/>
        </p:nvSpPr>
        <p:spPr>
          <a:xfrm>
            <a:off x="292708" y="5288153"/>
            <a:ext cx="1015078" cy="558531"/>
          </a:xfrm>
          <a:prstGeom prst="flowChartDocument">
            <a:avLst/>
          </a:prstGeom>
          <a:noFill/>
          <a:ln w="31018">
            <a:solidFill>
              <a:srgbClr val="86496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8088115" y="4187258"/>
          <a:ext cx="2800740" cy="1638957"/>
        </p:xfrm>
        <a:graphic>
          <a:graphicData uri="http://schemas.openxmlformats.org/drawingml/2006/table">
            <a:tbl>
              <a:tblPr firstRow="1" bandRow="1">
                <a:tableStyleId>{5C22544A-7EE6-4342-B048-85BDC9FD1C3A}</a:tableStyleId>
              </a:tblPr>
              <a:tblGrid>
                <a:gridCol w="560148">
                  <a:extLst>
                    <a:ext uri="{9D8B030D-6E8A-4147-A177-3AD203B41FA5}">
                      <a16:colId xmlns:a16="http://schemas.microsoft.com/office/drawing/2014/main" val="20000"/>
                    </a:ext>
                  </a:extLst>
                </a:gridCol>
                <a:gridCol w="560148">
                  <a:extLst>
                    <a:ext uri="{9D8B030D-6E8A-4147-A177-3AD203B41FA5}">
                      <a16:colId xmlns:a16="http://schemas.microsoft.com/office/drawing/2014/main" val="20001"/>
                    </a:ext>
                  </a:extLst>
                </a:gridCol>
                <a:gridCol w="560148">
                  <a:extLst>
                    <a:ext uri="{9D8B030D-6E8A-4147-A177-3AD203B41FA5}">
                      <a16:colId xmlns:a16="http://schemas.microsoft.com/office/drawing/2014/main" val="20002"/>
                    </a:ext>
                  </a:extLst>
                </a:gridCol>
                <a:gridCol w="560148">
                  <a:extLst>
                    <a:ext uri="{9D8B030D-6E8A-4147-A177-3AD203B41FA5}">
                      <a16:colId xmlns:a16="http://schemas.microsoft.com/office/drawing/2014/main" val="20003"/>
                    </a:ext>
                  </a:extLst>
                </a:gridCol>
                <a:gridCol w="560148">
                  <a:extLst>
                    <a:ext uri="{9D8B030D-6E8A-4147-A177-3AD203B41FA5}">
                      <a16:colId xmlns:a16="http://schemas.microsoft.com/office/drawing/2014/main" val="20004"/>
                    </a:ext>
                  </a:extLst>
                </a:gridCol>
              </a:tblGrid>
              <a:tr h="234136">
                <a:tc>
                  <a:txBody>
                    <a:bodyPr/>
                    <a:lstStyle/>
                    <a:p>
                      <a:r>
                        <a:rPr sz="800" b="0">
                          <a:solidFill>
                            <a:srgbClr val="CC997F"/>
                          </a:solidFill>
                        </a:rPr>
                        <a:t>Logic</a:t>
                      </a:r>
                    </a:p>
                  </a:txBody>
                  <a:tcPr>
                    <a:solidFill>
                      <a:srgbClr val="DFEADD"/>
                    </a:solidFill>
                  </a:tcPr>
                </a:tc>
                <a:tc>
                  <a:txBody>
                    <a:bodyPr/>
                    <a:lstStyle/>
                    <a:p>
                      <a:r>
                        <a:rPr sz="800" b="0">
                          <a:solidFill>
                            <a:srgbClr val="CC997F"/>
                          </a:solidFill>
                        </a:rPr>
                        <a:t>State Kernel</a:t>
                      </a:r>
                    </a:p>
                  </a:txBody>
                  <a:tcPr>
                    <a:solidFill>
                      <a:srgbClr val="BFD5BB"/>
                    </a:solidFill>
                  </a:tcPr>
                </a:tc>
                <a:tc>
                  <a:txBody>
                    <a:bodyPr/>
                    <a:lstStyle/>
                    <a:p>
                      <a:r>
                        <a:rPr sz="800" b="0">
                          <a:solidFill>
                            <a:srgbClr val="CC997F"/>
                          </a:solidFill>
                        </a:rPr>
                        <a:t>Portal Library</a:t>
                      </a:r>
                    </a:p>
                  </a:txBody>
                  <a:tcPr>
                    <a:solidFill>
                      <a:srgbClr val="DFEADD"/>
                    </a:solidFill>
                  </a:tcPr>
                </a:tc>
                <a:tc>
                  <a:txBody>
                    <a:bodyPr/>
                    <a:lstStyle/>
                    <a:p>
                      <a:r>
                        <a:rPr sz="800" b="0">
                          <a:solidFill>
                            <a:srgbClr val="CC997F"/>
                          </a:solidFill>
                        </a:rPr>
                        <a:t>Cell</a:t>
                      </a:r>
                    </a:p>
                  </a:txBody>
                  <a:tcPr>
                    <a:solidFill>
                      <a:srgbClr val="BFD5BB"/>
                    </a:solidFill>
                  </a:tcPr>
                </a:tc>
                <a:tc>
                  <a:txBody>
                    <a:bodyPr/>
                    <a:lstStyle/>
                    <a:p>
                      <a:r>
                        <a:rPr sz="800" b="0">
                          <a:solidFill>
                            <a:srgbClr val="CC997F"/>
                          </a:solidFill>
                        </a:rPr>
                        <a:t>Depth Dispatch</a:t>
                      </a:r>
                    </a:p>
                  </a:txBody>
                  <a:tcPr>
                    <a:solidFill>
                      <a:srgbClr val="DFEADD"/>
                    </a:solidFill>
                  </a:tcPr>
                </a:tc>
                <a:extLst>
                  <a:ext uri="{0D108BD9-81ED-4DB2-BD59-A6C34878D82A}">
                    <a16:rowId xmlns:a16="http://schemas.microsoft.com/office/drawing/2014/main" val="10000"/>
                  </a:ext>
                </a:extLst>
              </a:tr>
              <a:tr h="234136">
                <a:tc>
                  <a:txBody>
                    <a:bodyPr/>
                    <a:lstStyle/>
                    <a:p>
                      <a:r>
                        <a:rPr sz="800" b="0">
                          <a:solidFill>
                            <a:srgbClr val="CC997F"/>
                          </a:solidFill>
                        </a:rPr>
                        <a:t>Adaptive Level</a:t>
                      </a:r>
                    </a:p>
                  </a:txBody>
                  <a:tcPr>
                    <a:solidFill>
                      <a:srgbClr val="BFD5BB"/>
                    </a:solidFill>
                  </a:tcPr>
                </a:tc>
                <a:tc>
                  <a:txBody>
                    <a:bodyPr/>
                    <a:lstStyle/>
                    <a:p>
                      <a:r>
                        <a:rPr sz="800" b="0">
                          <a:solidFill>
                            <a:srgbClr val="CC997F"/>
                          </a:solidFill>
                        </a:rPr>
                        <a:t>Reserve</a:t>
                      </a:r>
                    </a:p>
                  </a:txBody>
                  <a:tcPr>
                    <a:solidFill>
                      <a:srgbClr val="BFD5BB"/>
                    </a:solidFill>
                  </a:tcPr>
                </a:tc>
                <a:tc>
                  <a:txBody>
                    <a:bodyPr/>
                    <a:lstStyle/>
                    <a:p>
                      <a:r>
                        <a:rPr sz="800" b="0">
                          <a:solidFill>
                            <a:srgbClr val="CC997F"/>
                          </a:solidFill>
                        </a:rPr>
                        <a:t>Dispatch Deployment</a:t>
                      </a:r>
                    </a:p>
                  </a:txBody>
                  <a:tcPr>
                    <a:solidFill>
                      <a:srgbClr val="BFD5BB"/>
                    </a:solidFill>
                  </a:tcPr>
                </a:tc>
                <a:tc>
                  <a:txBody>
                    <a:bodyPr/>
                    <a:lstStyle/>
                    <a:p>
                      <a:r>
                        <a:rPr sz="800" b="0">
                          <a:solidFill>
                            <a:srgbClr val="CC997F"/>
                          </a:solidFill>
                        </a:rPr>
                        <a:t>Version</a:t>
                      </a:r>
                    </a:p>
                  </a:txBody>
                  <a:tcPr>
                    <a:solidFill>
                      <a:srgbClr val="BFD5BB"/>
                    </a:solidFill>
                  </a:tcPr>
                </a:tc>
                <a:tc>
                  <a:txBody>
                    <a:bodyPr/>
                    <a:lstStyle/>
                    <a:p>
                      <a:r>
                        <a:rPr sz="800" b="0">
                          <a:solidFill>
                            <a:srgbClr val="CC997F"/>
                          </a:solidFill>
                        </a:rPr>
                        <a:t>Edge Snapshot</a:t>
                      </a:r>
                    </a:p>
                  </a:txBody>
                  <a:tcPr>
                    <a:solidFill>
                      <a:srgbClr val="BFD5BB"/>
                    </a:solidFill>
                  </a:tcPr>
                </a:tc>
                <a:extLst>
                  <a:ext uri="{0D108BD9-81ED-4DB2-BD59-A6C34878D82A}">
                    <a16:rowId xmlns:a16="http://schemas.microsoft.com/office/drawing/2014/main" val="10001"/>
                  </a:ext>
                </a:extLst>
              </a:tr>
              <a:tr h="234136">
                <a:tc>
                  <a:txBody>
                    <a:bodyPr/>
                    <a:lstStyle/>
                    <a:p>
                      <a:r>
                        <a:rPr sz="800" b="0">
                          <a:solidFill>
                            <a:srgbClr val="CC997F"/>
                          </a:solidFill>
                        </a:rPr>
                        <a:t>Cluster Table</a:t>
                      </a:r>
                    </a:p>
                  </a:txBody>
                  <a:tcPr>
                    <a:solidFill>
                      <a:srgbClr val="DFEADD"/>
                    </a:solidFill>
                  </a:tcPr>
                </a:tc>
                <a:tc>
                  <a:txBody>
                    <a:bodyPr/>
                    <a:lstStyle/>
                    <a:p>
                      <a:r>
                        <a:rPr sz="800" b="0">
                          <a:solidFill>
                            <a:srgbClr val="CC997F"/>
                          </a:solidFill>
                        </a:rPr>
                        <a:t>Aspect Station</a:t>
                      </a:r>
                    </a:p>
                  </a:txBody>
                  <a:tcPr>
                    <a:solidFill>
                      <a:srgbClr val="BFD5BB"/>
                    </a:solidFill>
                  </a:tcPr>
                </a:tc>
                <a:tc>
                  <a:txBody>
                    <a:bodyPr/>
                    <a:lstStyle/>
                    <a:p>
                      <a:r>
                        <a:rPr sz="800" b="0">
                          <a:solidFill>
                            <a:srgbClr val="CC997F"/>
                          </a:solidFill>
                        </a:rPr>
                        <a:t>Capacity Segment</a:t>
                      </a:r>
                    </a:p>
                  </a:txBody>
                  <a:tcPr>
                    <a:solidFill>
                      <a:srgbClr val="DFEADD"/>
                    </a:solidFill>
                  </a:tcPr>
                </a:tc>
                <a:tc>
                  <a:txBody>
                    <a:bodyPr/>
                    <a:lstStyle/>
                    <a:p>
                      <a:r>
                        <a:rPr sz="800" b="0">
                          <a:solidFill>
                            <a:srgbClr val="CC997F"/>
                          </a:solidFill>
                        </a:rPr>
                        <a:t>Spectrum</a:t>
                      </a:r>
                    </a:p>
                  </a:txBody>
                  <a:tcPr>
                    <a:solidFill>
                      <a:srgbClr val="BFD5BB"/>
                    </a:solidFill>
                  </a:tcPr>
                </a:tc>
                <a:tc>
                  <a:txBody>
                    <a:bodyPr/>
                    <a:lstStyle/>
                    <a:p>
                      <a:r>
                        <a:rPr sz="800" b="0">
                          <a:solidFill>
                            <a:srgbClr val="CC997F"/>
                          </a:solidFill>
                        </a:rPr>
                        <a:t>Method</a:t>
                      </a:r>
                    </a:p>
                  </a:txBody>
                  <a:tcPr>
                    <a:solidFill>
                      <a:srgbClr val="DFEADD"/>
                    </a:solidFill>
                  </a:tcPr>
                </a:tc>
                <a:extLst>
                  <a:ext uri="{0D108BD9-81ED-4DB2-BD59-A6C34878D82A}">
                    <a16:rowId xmlns:a16="http://schemas.microsoft.com/office/drawing/2014/main" val="10002"/>
                  </a:ext>
                </a:extLst>
              </a:tr>
              <a:tr h="234136">
                <a:tc>
                  <a:txBody>
                    <a:bodyPr/>
                    <a:lstStyle/>
                    <a:p>
                      <a:r>
                        <a:rPr sz="800" b="0">
                          <a:solidFill>
                            <a:srgbClr val="CC997F"/>
                          </a:solidFill>
                        </a:rPr>
                        <a:t>Core Iteration</a:t>
                      </a:r>
                    </a:p>
                  </a:txBody>
                  <a:tcPr>
                    <a:solidFill>
                      <a:srgbClr val="BFD5BB"/>
                    </a:solidFill>
                  </a:tcPr>
                </a:tc>
                <a:tc>
                  <a:txBody>
                    <a:bodyPr/>
                    <a:lstStyle/>
                    <a:p>
                      <a:r>
                        <a:rPr sz="800" b="0">
                          <a:solidFill>
                            <a:srgbClr val="CC997F"/>
                          </a:solidFill>
                        </a:rPr>
                        <a:t>Snapshot</a:t>
                      </a:r>
                    </a:p>
                  </a:txBody>
                  <a:tcPr>
                    <a:solidFill>
                      <a:srgbClr val="BFD5BB"/>
                    </a:solidFill>
                  </a:tcPr>
                </a:tc>
                <a:tc>
                  <a:txBody>
                    <a:bodyPr/>
                    <a:lstStyle/>
                    <a:p>
                      <a:r>
                        <a:rPr sz="800" b="0">
                          <a:solidFill>
                            <a:srgbClr val="CC997F"/>
                          </a:solidFill>
                        </a:rPr>
                        <a:t>Plan</a:t>
                      </a:r>
                    </a:p>
                  </a:txBody>
                  <a:tcPr>
                    <a:solidFill>
                      <a:srgbClr val="BFD5BB"/>
                    </a:solidFill>
                  </a:tcPr>
                </a:tc>
                <a:tc>
                  <a:txBody>
                    <a:bodyPr/>
                    <a:lstStyle/>
                    <a:p>
                      <a:r>
                        <a:rPr sz="800" b="0">
                          <a:solidFill>
                            <a:srgbClr val="CC997F"/>
                          </a:solidFill>
                        </a:rPr>
                        <a:t>Blueprint</a:t>
                      </a:r>
                    </a:p>
                  </a:txBody>
                  <a:tcPr>
                    <a:solidFill>
                      <a:srgbClr val="BFD5BB"/>
                    </a:solidFill>
                  </a:tcPr>
                </a:tc>
                <a:tc>
                  <a:txBody>
                    <a:bodyPr/>
                    <a:lstStyle/>
                    <a:p>
                      <a:r>
                        <a:rPr sz="800" b="0">
                          <a:solidFill>
                            <a:srgbClr val="CC997F"/>
                          </a:solidFill>
                        </a:rPr>
                        <a:t>Agenda Profile</a:t>
                      </a:r>
                    </a:p>
                  </a:txBody>
                  <a:tcPr>
                    <a:solidFill>
                      <a:srgbClr val="BFD5BB"/>
                    </a:solidFill>
                  </a:tcPr>
                </a:tc>
                <a:extLst>
                  <a:ext uri="{0D108BD9-81ED-4DB2-BD59-A6C34878D82A}">
                    <a16:rowId xmlns:a16="http://schemas.microsoft.com/office/drawing/2014/main" val="10003"/>
                  </a:ext>
                </a:extLst>
              </a:tr>
              <a:tr h="234136">
                <a:tc>
                  <a:txBody>
                    <a:bodyPr/>
                    <a:lstStyle/>
                    <a:p>
                      <a:r>
                        <a:rPr sz="800" b="0">
                          <a:solidFill>
                            <a:srgbClr val="CC997F"/>
                          </a:solidFill>
                        </a:rPr>
                        <a:t>Inventory Group</a:t>
                      </a:r>
                    </a:p>
                  </a:txBody>
                  <a:tcPr>
                    <a:solidFill>
                      <a:srgbClr val="DFEADD"/>
                    </a:solidFill>
                  </a:tcPr>
                </a:tc>
                <a:tc>
                  <a:txBody>
                    <a:bodyPr/>
                    <a:lstStyle/>
                    <a:p>
                      <a:r>
                        <a:rPr sz="800" b="0">
                          <a:solidFill>
                            <a:srgbClr val="CC997F"/>
                          </a:solidFill>
                        </a:rPr>
                        <a:t>Direction</a:t>
                      </a:r>
                    </a:p>
                  </a:txBody>
                  <a:tcPr>
                    <a:solidFill>
                      <a:srgbClr val="BFD5BB"/>
                    </a:solidFill>
                  </a:tcPr>
                </a:tc>
                <a:tc>
                  <a:txBody>
                    <a:bodyPr/>
                    <a:lstStyle/>
                    <a:p>
                      <a:r>
                        <a:rPr sz="800" b="0">
                          <a:solidFill>
                            <a:srgbClr val="CC997F"/>
                          </a:solidFill>
                        </a:rPr>
                        <a:t>Runtime</a:t>
                      </a:r>
                    </a:p>
                  </a:txBody>
                  <a:tcPr>
                    <a:solidFill>
                      <a:srgbClr val="DFEADD"/>
                    </a:solidFill>
                  </a:tcPr>
                </a:tc>
                <a:tc>
                  <a:txBody>
                    <a:bodyPr/>
                    <a:lstStyle/>
                    <a:p>
                      <a:r>
                        <a:rPr sz="800" b="0">
                          <a:solidFill>
                            <a:srgbClr val="CC997F"/>
                          </a:solidFill>
                        </a:rPr>
                        <a:t>Station Filter</a:t>
                      </a:r>
                    </a:p>
                  </a:txBody>
                  <a:tcPr>
                    <a:solidFill>
                      <a:srgbClr val="BFD5BB"/>
                    </a:solidFill>
                  </a:tcPr>
                </a:tc>
                <a:tc>
                  <a:txBody>
                    <a:bodyPr/>
                    <a:lstStyle/>
                    <a:p>
                      <a:r>
                        <a:rPr sz="800" b="0">
                          <a:solidFill>
                            <a:srgbClr val="CC997F"/>
                          </a:solidFill>
                        </a:rPr>
                        <a:t>Terminal</a:t>
                      </a:r>
                    </a:p>
                  </a:txBody>
                  <a:tcPr>
                    <a:solidFill>
                      <a:srgbClr val="DFEADD"/>
                    </a:solidFill>
                  </a:tcPr>
                </a:tc>
                <a:extLst>
                  <a:ext uri="{0D108BD9-81ED-4DB2-BD59-A6C34878D82A}">
                    <a16:rowId xmlns:a16="http://schemas.microsoft.com/office/drawing/2014/main" val="10004"/>
                  </a:ext>
                </a:extLst>
              </a:tr>
              <a:tr h="234136">
                <a:tc>
                  <a:txBody>
                    <a:bodyPr/>
                    <a:lstStyle/>
                    <a:p>
                      <a:r>
                        <a:rPr sz="800" b="0">
                          <a:solidFill>
                            <a:srgbClr val="CC997F"/>
                          </a:solidFill>
                        </a:rPr>
                        <a:t>Version</a:t>
                      </a:r>
                    </a:p>
                  </a:txBody>
                  <a:tcPr>
                    <a:solidFill>
                      <a:srgbClr val="BFD5BB"/>
                    </a:solidFill>
                  </a:tcPr>
                </a:tc>
                <a:tc>
                  <a:txBody>
                    <a:bodyPr/>
                    <a:lstStyle/>
                    <a:p>
                      <a:r>
                        <a:rPr sz="800" b="0">
                          <a:solidFill>
                            <a:srgbClr val="CC997F"/>
                          </a:solidFill>
                        </a:rPr>
                        <a:t>Summary Goal</a:t>
                      </a:r>
                    </a:p>
                  </a:txBody>
                  <a:tcPr>
                    <a:solidFill>
                      <a:srgbClr val="BFD5BB"/>
                    </a:solidFill>
                  </a:tcPr>
                </a:tc>
                <a:tc>
                  <a:txBody>
                    <a:bodyPr/>
                    <a:lstStyle/>
                    <a:p>
                      <a:r>
                        <a:rPr sz="800" b="0">
                          <a:solidFill>
                            <a:srgbClr val="CC997F"/>
                          </a:solidFill>
                        </a:rPr>
                        <a:t>Engine Request</a:t>
                      </a:r>
                    </a:p>
                  </a:txBody>
                  <a:tcPr>
                    <a:solidFill>
                      <a:srgbClr val="BFD5BB"/>
                    </a:solidFill>
                  </a:tcPr>
                </a:tc>
                <a:tc>
                  <a:txBody>
                    <a:bodyPr/>
                    <a:lstStyle/>
                    <a:p>
                      <a:r>
                        <a:rPr sz="800" b="0">
                          <a:solidFill>
                            <a:srgbClr val="CC997F"/>
                          </a:solidFill>
                        </a:rPr>
                        <a:t>Estimate Friction</a:t>
                      </a:r>
                    </a:p>
                  </a:txBody>
                  <a:tcPr>
                    <a:solidFill>
                      <a:srgbClr val="BFD5BB"/>
                    </a:solidFill>
                  </a:tcPr>
                </a:tc>
                <a:tc>
                  <a:txBody>
                    <a:bodyPr/>
                    <a:lstStyle/>
                    <a:p>
                      <a:r>
                        <a:rPr sz="800" b="0">
                          <a:solidFill>
                            <a:srgbClr val="CC997F"/>
                          </a:solidFill>
                        </a:rPr>
                        <a:t>Ratio</a:t>
                      </a:r>
                    </a:p>
                  </a:txBody>
                  <a:tcPr>
                    <a:solidFill>
                      <a:srgbClr val="BFD5BB"/>
                    </a:solidFill>
                  </a:tcPr>
                </a:tc>
                <a:extLst>
                  <a:ext uri="{0D108BD9-81ED-4DB2-BD59-A6C34878D82A}">
                    <a16:rowId xmlns:a16="http://schemas.microsoft.com/office/drawing/2014/main" val="10005"/>
                  </a:ext>
                </a:extLst>
              </a:tr>
              <a:tr h="234141">
                <a:tc>
                  <a:txBody>
                    <a:bodyPr/>
                    <a:lstStyle/>
                    <a:p>
                      <a:r>
                        <a:rPr sz="800" b="0">
                          <a:solidFill>
                            <a:srgbClr val="CC997F"/>
                          </a:solidFill>
                        </a:rPr>
                        <a:t>Direction Payload</a:t>
                      </a:r>
                    </a:p>
                  </a:txBody>
                  <a:tcPr>
                    <a:solidFill>
                      <a:srgbClr val="DFEADD"/>
                    </a:solidFill>
                  </a:tcPr>
                </a:tc>
                <a:tc>
                  <a:txBody>
                    <a:bodyPr/>
                    <a:lstStyle/>
                    <a:p>
                      <a:r>
                        <a:rPr sz="800" b="0">
                          <a:solidFill>
                            <a:srgbClr val="CC997F"/>
                          </a:solidFill>
                        </a:rPr>
                        <a:t>Frequency</a:t>
                      </a:r>
                    </a:p>
                  </a:txBody>
                  <a:tcPr>
                    <a:solidFill>
                      <a:srgbClr val="BFD5BB"/>
                    </a:solidFill>
                  </a:tcPr>
                </a:tc>
                <a:tc>
                  <a:txBody>
                    <a:bodyPr/>
                    <a:lstStyle/>
                    <a:p>
                      <a:r>
                        <a:rPr sz="800" b="0">
                          <a:solidFill>
                            <a:srgbClr val="CC997F"/>
                          </a:solidFill>
                        </a:rPr>
                        <a:t>Device</a:t>
                      </a:r>
                    </a:p>
                  </a:txBody>
                  <a:tcPr>
                    <a:solidFill>
                      <a:srgbClr val="DFEADD"/>
                    </a:solidFill>
                  </a:tcPr>
                </a:tc>
                <a:tc>
                  <a:txBody>
                    <a:bodyPr/>
                    <a:lstStyle/>
                    <a:p>
                      <a:r>
                        <a:rPr sz="800" b="0">
                          <a:solidFill>
                            <a:srgbClr val="CC997F"/>
                          </a:solidFill>
                        </a:rPr>
                        <a:t>Portal</a:t>
                      </a:r>
                    </a:p>
                  </a:txBody>
                  <a:tcPr>
                    <a:solidFill>
                      <a:srgbClr val="BFD5BB"/>
                    </a:solidFill>
                  </a:tcPr>
                </a:tc>
                <a:tc>
                  <a:txBody>
                    <a:bodyPr/>
                    <a:lstStyle/>
                    <a:p>
                      <a:r>
                        <a:rPr sz="800" b="0">
                          <a:solidFill>
                            <a:srgbClr val="CC997F"/>
                          </a:solidFill>
                        </a:rPr>
                        <a:t>Switch</a:t>
                      </a:r>
                    </a:p>
                  </a:txBody>
                  <a:tcPr>
                    <a:solidFill>
                      <a:srgbClr val="DFEADD"/>
                    </a:solidFill>
                  </a:tcPr>
                </a:tc>
                <a:extLst>
                  <a:ext uri="{0D108BD9-81ED-4DB2-BD59-A6C34878D82A}">
                    <a16:rowId xmlns:a16="http://schemas.microsoft.com/office/drawing/2014/main" val="10006"/>
                  </a:ext>
                </a:extLst>
              </a:tr>
            </a:tbl>
          </a:graphicData>
        </a:graphic>
      </p:graphicFrame>
      <p:sp>
        <p:nvSpPr>
          <p:cNvPr id="5" name="U-Turn Arrow 4"/>
          <p:cNvSpPr/>
          <p:nvPr/>
        </p:nvSpPr>
        <p:spPr>
          <a:xfrm>
            <a:off x="6668131" y="871889"/>
            <a:ext cx="633625" cy="317706"/>
          </a:xfrm>
          <a:prstGeom prst="uturnArrow">
            <a:avLst/>
          </a:prstGeom>
          <a:solidFill>
            <a:srgbClr val="9B6B78"/>
          </a:solidFill>
          <a:ln w="28789">
            <a:solidFill>
              <a:srgbClr val="82723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4845647" y="2070050"/>
          <a:ext cx="2173832" cy="1960469"/>
        </p:xfrm>
        <a:graphic>
          <a:graphicData uri="http://schemas.openxmlformats.org/drawingml/2006/chart">
            <c:chart xmlns:c="http://schemas.openxmlformats.org/drawingml/2006/chart" xmlns:r="http://schemas.openxmlformats.org/officeDocument/2006/relationships" r:id="rId2"/>
          </a:graphicData>
        </a:graphic>
      </p:graphicFrame>
      <p:cxnSp>
        <p:nvCxnSpPr>
          <p:cNvPr id="7" name="Connector 6"/>
          <p:cNvCxnSpPr/>
          <p:nvPr/>
        </p:nvCxnSpPr>
        <p:spPr>
          <a:xfrm>
            <a:off x="7324666" y="264759"/>
            <a:ext cx="1729576" cy="378248"/>
          </a:xfrm>
          <a:prstGeom prst="line">
            <a:avLst/>
          </a:prstGeom>
          <a:ln w="8562">
            <a:solidFill>
              <a:srgbClr val="36B7D5"/>
            </a:solidFill>
            <a:prstDash val="dash"/>
          </a:ln>
        </p:spPr>
        <p:style>
          <a:lnRef idx="2">
            <a:schemeClr val="accent1"/>
          </a:lnRef>
          <a:fillRef idx="0">
            <a:schemeClr val="accent1"/>
          </a:fillRef>
          <a:effectRef idx="1">
            <a:schemeClr val="accent1"/>
          </a:effectRef>
          <a:fontRef idx="minor">
            <a:schemeClr val="tx1"/>
          </a:fontRef>
        </p:style>
      </p:cxnSp>
      <p:sp>
        <p:nvSpPr>
          <p:cNvPr id="8" name="Pentagon 7"/>
          <p:cNvSpPr/>
          <p:nvPr/>
        </p:nvSpPr>
        <p:spPr>
          <a:xfrm>
            <a:off x="299075" y="3411607"/>
            <a:ext cx="484468" cy="1185724"/>
          </a:xfrm>
          <a:prstGeom prst="homePlate">
            <a:avLst/>
          </a:prstGeom>
          <a:solidFill>
            <a:srgbClr val="482B1A"/>
          </a:solidFill>
          <a:ln w="12870">
            <a:solidFill>
              <a:srgbClr val="34897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530109" y="4387921"/>
            <a:ext cx="544873" cy="273239"/>
          </a:xfrm>
          <a:prstGeom prst="ellipse">
            <a:avLst/>
          </a:prstGeom>
          <a:solidFill>
            <a:srgbClr val="CFC5B9"/>
          </a:solidFill>
          <a:ln w="23593">
            <a:solidFill>
              <a:srgbClr val="76337E"/>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71834" y="1321280"/>
            <a:ext cx="534797" cy="2100316"/>
          </a:xfrm>
          <a:prstGeom prst="rect">
            <a:avLst/>
          </a:prstGeom>
          <a:solidFill>
            <a:srgbClr val="A07F70"/>
          </a:solidFill>
        </p:spPr>
        <p:txBody>
          <a:bodyPr wrap="none" lIns="27004" tIns="27004" rIns="27004" bIns="27004">
            <a:spAutoFit/>
          </a:bodyPr>
          <a:lstStyle/>
          <a:p>
            <a:r>
              <a:rPr sz="2700" b="0" i="0" u="none">
                <a:solidFill>
                  <a:srgbClr val="A24A4A"/>
                </a:solidFill>
                <a:latin typeface="Aptos"/>
              </a:rPr>
              <a:t>Intent Drift Engine Cluster Energy</a:t>
            </a:r>
          </a:p>
        </p:txBody>
      </p:sp>
      <p:sp>
        <p:nvSpPr>
          <p:cNvPr id="11" name="Octagon 10"/>
          <p:cNvSpPr/>
          <p:nvPr/>
        </p:nvSpPr>
        <p:spPr>
          <a:xfrm>
            <a:off x="11482669" y="4461316"/>
            <a:ext cx="343726" cy="624716"/>
          </a:xfrm>
          <a:prstGeom prst="octagon">
            <a:avLst/>
          </a:prstGeom>
          <a:solidFill>
            <a:srgbClr val="B3B13B"/>
          </a:solidFill>
          <a:ln w="17080">
            <a:solidFill>
              <a:srgbClr val="952F9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Moon 11"/>
          <p:cNvSpPr/>
          <p:nvPr/>
        </p:nvSpPr>
        <p:spPr>
          <a:xfrm>
            <a:off x="9465355" y="5210787"/>
            <a:ext cx="525558" cy="450951"/>
          </a:xfrm>
          <a:prstGeom prst="moon">
            <a:avLst/>
          </a:prstGeom>
          <a:solidFill>
            <a:srgbClr val="B8A56B"/>
          </a:solidFill>
          <a:ln w="12450">
            <a:solidFill>
              <a:srgbClr val="D4B6A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V="1">
            <a:off x="7680239" y="6055798"/>
            <a:ext cx="3816517" cy="548666"/>
          </a:xfrm>
          <a:prstGeom prst="line">
            <a:avLst/>
          </a:prstGeom>
          <a:ln w="37568">
            <a:solidFill>
              <a:srgbClr val="31B34D"/>
            </a:solidFill>
            <a:prstDash val="dashDot"/>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18305" y="389297"/>
            <a:ext cx="1181511" cy="1717023"/>
          </a:xfrm>
          <a:prstGeom prst="rect">
            <a:avLst/>
          </a:prstGeom>
          <a:solidFill>
            <a:srgbClr val="6EC75D"/>
          </a:solidFill>
        </p:spPr>
        <p:txBody>
          <a:bodyPr wrap="none" lIns="75909" tIns="75909" rIns="75909" bIns="75909">
            <a:spAutoFit/>
          </a:bodyPr>
          <a:lstStyle/>
          <a:p>
            <a:r>
              <a:rPr sz="1100" b="0" i="0" u="none">
                <a:solidFill>
                  <a:srgbClr val="8C98BD"/>
                </a:solidFill>
                <a:latin typeface="Georgia"/>
              </a:rPr>
              <a:t>Status Transform Workflow Switch Canvas Layer Pattern Option Method Service Story Template Radius Vector Rhythm Network Story Plan Delta Diagram Chart</a:t>
            </a:r>
          </a:p>
        </p:txBody>
      </p:sp>
      <p:graphicFrame>
        <p:nvGraphicFramePr>
          <p:cNvPr id="15" name="Table 14"/>
          <p:cNvGraphicFramePr>
            <a:graphicFrameLocks noGrp="1"/>
          </p:cNvGraphicFramePr>
          <p:nvPr/>
        </p:nvGraphicFramePr>
        <p:xfrm>
          <a:off x="9930264" y="1444968"/>
          <a:ext cx="2124099" cy="1071279"/>
        </p:xfrm>
        <a:graphic>
          <a:graphicData uri="http://schemas.openxmlformats.org/drawingml/2006/table">
            <a:tbl>
              <a:tblPr firstRow="1" bandRow="1">
                <a:tableStyleId>{5C22544A-7EE6-4342-B048-85BDC9FD1C3A}</a:tableStyleId>
              </a:tblPr>
              <a:tblGrid>
                <a:gridCol w="354016">
                  <a:extLst>
                    <a:ext uri="{9D8B030D-6E8A-4147-A177-3AD203B41FA5}">
                      <a16:colId xmlns:a16="http://schemas.microsoft.com/office/drawing/2014/main" val="20000"/>
                    </a:ext>
                  </a:extLst>
                </a:gridCol>
                <a:gridCol w="354016">
                  <a:extLst>
                    <a:ext uri="{9D8B030D-6E8A-4147-A177-3AD203B41FA5}">
                      <a16:colId xmlns:a16="http://schemas.microsoft.com/office/drawing/2014/main" val="20001"/>
                    </a:ext>
                  </a:extLst>
                </a:gridCol>
                <a:gridCol w="354016">
                  <a:extLst>
                    <a:ext uri="{9D8B030D-6E8A-4147-A177-3AD203B41FA5}">
                      <a16:colId xmlns:a16="http://schemas.microsoft.com/office/drawing/2014/main" val="20002"/>
                    </a:ext>
                  </a:extLst>
                </a:gridCol>
                <a:gridCol w="354016">
                  <a:extLst>
                    <a:ext uri="{9D8B030D-6E8A-4147-A177-3AD203B41FA5}">
                      <a16:colId xmlns:a16="http://schemas.microsoft.com/office/drawing/2014/main" val="20003"/>
                    </a:ext>
                  </a:extLst>
                </a:gridCol>
                <a:gridCol w="354016">
                  <a:extLst>
                    <a:ext uri="{9D8B030D-6E8A-4147-A177-3AD203B41FA5}">
                      <a16:colId xmlns:a16="http://schemas.microsoft.com/office/drawing/2014/main" val="20004"/>
                    </a:ext>
                  </a:extLst>
                </a:gridCol>
                <a:gridCol w="354019">
                  <a:extLst>
                    <a:ext uri="{9D8B030D-6E8A-4147-A177-3AD203B41FA5}">
                      <a16:colId xmlns:a16="http://schemas.microsoft.com/office/drawing/2014/main" val="20005"/>
                    </a:ext>
                  </a:extLst>
                </a:gridCol>
              </a:tblGrid>
              <a:tr h="153039">
                <a:tc>
                  <a:txBody>
                    <a:bodyPr/>
                    <a:lstStyle/>
                    <a:p>
                      <a:r>
                        <a:rPr sz="700" b="0">
                          <a:solidFill>
                            <a:srgbClr val="5DC7AA"/>
                          </a:solidFill>
                        </a:rPr>
                        <a:t>Lineage Journey</a:t>
                      </a:r>
                    </a:p>
                  </a:txBody>
                  <a:tcPr>
                    <a:solidFill>
                      <a:srgbClr val="E7EEF1"/>
                    </a:solidFill>
                  </a:tcPr>
                </a:tc>
                <a:tc>
                  <a:txBody>
                    <a:bodyPr/>
                    <a:lstStyle/>
                    <a:p>
                      <a:r>
                        <a:rPr sz="700" b="0">
                          <a:solidFill>
                            <a:srgbClr val="5DC7AA"/>
                          </a:solidFill>
                        </a:rPr>
                        <a:t>Domain Radius</a:t>
                      </a:r>
                    </a:p>
                  </a:txBody>
                  <a:tcPr>
                    <a:solidFill>
                      <a:srgbClr val="E7EEF1"/>
                    </a:solidFill>
                  </a:tcPr>
                </a:tc>
                <a:tc>
                  <a:txBody>
                    <a:bodyPr/>
                    <a:lstStyle/>
                    <a:p>
                      <a:r>
                        <a:rPr sz="700" b="0">
                          <a:solidFill>
                            <a:srgbClr val="5DC7AA"/>
                          </a:solidFill>
                        </a:rPr>
                        <a:t>Kernel Workflow</a:t>
                      </a:r>
                    </a:p>
                  </a:txBody>
                  <a:tcPr>
                    <a:solidFill>
                      <a:srgbClr val="E7EEF1"/>
                    </a:solidFill>
                  </a:tcPr>
                </a:tc>
                <a:tc>
                  <a:txBody>
                    <a:bodyPr/>
                    <a:lstStyle/>
                    <a:p>
                      <a:r>
                        <a:rPr sz="700" b="0">
                          <a:solidFill>
                            <a:srgbClr val="5DC7AA"/>
                          </a:solidFill>
                        </a:rPr>
                        <a:t>Spectrum Window</a:t>
                      </a:r>
                    </a:p>
                  </a:txBody>
                  <a:tcPr>
                    <a:solidFill>
                      <a:srgbClr val="E7EEF1"/>
                    </a:solidFill>
                  </a:tcPr>
                </a:tc>
                <a:tc>
                  <a:txBody>
                    <a:bodyPr/>
                    <a:lstStyle/>
                    <a:p>
                      <a:r>
                        <a:rPr sz="700" b="0">
                          <a:solidFill>
                            <a:srgbClr val="5DC7AA"/>
                          </a:solidFill>
                        </a:rPr>
                        <a:t>Resource Library</a:t>
                      </a:r>
                    </a:p>
                  </a:txBody>
                  <a:tcPr>
                    <a:solidFill>
                      <a:srgbClr val="E7EEF1"/>
                    </a:solidFill>
                  </a:tcPr>
                </a:tc>
                <a:tc>
                  <a:txBody>
                    <a:bodyPr/>
                    <a:lstStyle/>
                    <a:p>
                      <a:r>
                        <a:rPr sz="700" b="0">
                          <a:solidFill>
                            <a:srgbClr val="5DC7AA"/>
                          </a:solidFill>
                        </a:rPr>
                        <a:t>Lens</a:t>
                      </a:r>
                    </a:p>
                  </a:txBody>
                  <a:tcPr>
                    <a:solidFill>
                      <a:srgbClr val="E7EEF1"/>
                    </a:solidFill>
                  </a:tcPr>
                </a:tc>
                <a:extLst>
                  <a:ext uri="{0D108BD9-81ED-4DB2-BD59-A6C34878D82A}">
                    <a16:rowId xmlns:a16="http://schemas.microsoft.com/office/drawing/2014/main" val="10000"/>
                  </a:ext>
                </a:extLst>
              </a:tr>
              <a:tr h="153039">
                <a:tc>
                  <a:txBody>
                    <a:bodyPr/>
                    <a:lstStyle/>
                    <a:p>
                      <a:r>
                        <a:rPr sz="700" b="0">
                          <a:solidFill>
                            <a:srgbClr val="5DC7AA"/>
                          </a:solidFill>
                        </a:rPr>
                        <a:t>Feature</a:t>
                      </a:r>
                    </a:p>
                  </a:txBody>
                  <a:tcPr>
                    <a:solidFill>
                      <a:srgbClr val="E7EEF1"/>
                    </a:solidFill>
                  </a:tcPr>
                </a:tc>
                <a:tc>
                  <a:txBody>
                    <a:bodyPr/>
                    <a:lstStyle/>
                    <a:p>
                      <a:r>
                        <a:rPr sz="700" b="0">
                          <a:solidFill>
                            <a:srgbClr val="5DC7AA"/>
                          </a:solidFill>
                        </a:rPr>
                        <a:t>Topology Table</a:t>
                      </a:r>
                    </a:p>
                  </a:txBody>
                  <a:tcPr>
                    <a:solidFill>
                      <a:srgbClr val="E7EEF1"/>
                    </a:solidFill>
                  </a:tcPr>
                </a:tc>
                <a:tc>
                  <a:txBody>
                    <a:bodyPr/>
                    <a:lstStyle/>
                    <a:p>
                      <a:r>
                        <a:rPr sz="700" b="0">
                          <a:solidFill>
                            <a:srgbClr val="5DC7AA"/>
                          </a:solidFill>
                        </a:rPr>
                        <a:t>Profile</a:t>
                      </a:r>
                    </a:p>
                  </a:txBody>
                  <a:tcPr>
                    <a:solidFill>
                      <a:srgbClr val="E7EEF1"/>
                    </a:solidFill>
                  </a:tcPr>
                </a:tc>
                <a:tc>
                  <a:txBody>
                    <a:bodyPr/>
                    <a:lstStyle/>
                    <a:p>
                      <a:r>
                        <a:rPr sz="700" b="0">
                          <a:solidFill>
                            <a:srgbClr val="5DC7AA"/>
                          </a:solidFill>
                        </a:rPr>
                        <a:t>Motion Audit</a:t>
                      </a:r>
                    </a:p>
                  </a:txBody>
                  <a:tcPr>
                    <a:solidFill>
                      <a:srgbClr val="E7EEF1"/>
                    </a:solidFill>
                  </a:tcPr>
                </a:tc>
                <a:tc>
                  <a:txBody>
                    <a:bodyPr/>
                    <a:lstStyle/>
                    <a:p>
                      <a:r>
                        <a:rPr sz="700" b="0">
                          <a:solidFill>
                            <a:srgbClr val="5DC7AA"/>
                          </a:solidFill>
                        </a:rPr>
                        <a:t>Scope</a:t>
                      </a:r>
                    </a:p>
                  </a:txBody>
                  <a:tcPr>
                    <a:solidFill>
                      <a:srgbClr val="E7EEF1"/>
                    </a:solidFill>
                  </a:tcPr>
                </a:tc>
                <a:tc>
                  <a:txBody>
                    <a:bodyPr/>
                    <a:lstStyle/>
                    <a:p>
                      <a:r>
                        <a:rPr sz="700" b="0">
                          <a:solidFill>
                            <a:srgbClr val="5DC7AA"/>
                          </a:solidFill>
                        </a:rPr>
                        <a:t>Limit</a:t>
                      </a:r>
                    </a:p>
                  </a:txBody>
                  <a:tcPr>
                    <a:solidFill>
                      <a:srgbClr val="E7EEF1"/>
                    </a:solidFill>
                  </a:tcPr>
                </a:tc>
                <a:extLst>
                  <a:ext uri="{0D108BD9-81ED-4DB2-BD59-A6C34878D82A}">
                    <a16:rowId xmlns:a16="http://schemas.microsoft.com/office/drawing/2014/main" val="10001"/>
                  </a:ext>
                </a:extLst>
              </a:tr>
              <a:tr h="153039">
                <a:tc>
                  <a:txBody>
                    <a:bodyPr/>
                    <a:lstStyle/>
                    <a:p>
                      <a:r>
                        <a:rPr sz="700" b="0">
                          <a:solidFill>
                            <a:srgbClr val="5DC7AA"/>
                          </a:solidFill>
                        </a:rPr>
                        <a:t>Element</a:t>
                      </a:r>
                    </a:p>
                  </a:txBody>
                  <a:tcPr>
                    <a:solidFill>
                      <a:srgbClr val="E7EEF1"/>
                    </a:solidFill>
                  </a:tcPr>
                </a:tc>
                <a:tc>
                  <a:txBody>
                    <a:bodyPr/>
                    <a:lstStyle/>
                    <a:p>
                      <a:r>
                        <a:rPr sz="700" b="0">
                          <a:solidFill>
                            <a:srgbClr val="5DC7AA"/>
                          </a:solidFill>
                        </a:rPr>
                        <a:t>Interface</a:t>
                      </a:r>
                    </a:p>
                  </a:txBody>
                  <a:tcPr>
                    <a:solidFill>
                      <a:srgbClr val="E7EEF1"/>
                    </a:solidFill>
                  </a:tcPr>
                </a:tc>
                <a:tc>
                  <a:txBody>
                    <a:bodyPr/>
                    <a:lstStyle/>
                    <a:p>
                      <a:r>
                        <a:rPr sz="700" b="0">
                          <a:solidFill>
                            <a:srgbClr val="5DC7AA"/>
                          </a:solidFill>
                        </a:rPr>
                        <a:t>Array</a:t>
                      </a:r>
                    </a:p>
                  </a:txBody>
                  <a:tcPr>
                    <a:solidFill>
                      <a:srgbClr val="E7EEF1"/>
                    </a:solidFill>
                  </a:tcPr>
                </a:tc>
                <a:tc>
                  <a:txBody>
                    <a:bodyPr/>
                    <a:lstStyle/>
                    <a:p>
                      <a:r>
                        <a:rPr sz="700" b="0">
                          <a:solidFill>
                            <a:srgbClr val="5DC7AA"/>
                          </a:solidFill>
                        </a:rPr>
                        <a:t>Relay Account</a:t>
                      </a:r>
                    </a:p>
                  </a:txBody>
                  <a:tcPr>
                    <a:solidFill>
                      <a:srgbClr val="E7EEF1"/>
                    </a:solidFill>
                  </a:tcPr>
                </a:tc>
                <a:tc>
                  <a:txBody>
                    <a:bodyPr/>
                    <a:lstStyle/>
                    <a:p>
                      <a:r>
                        <a:rPr sz="700" b="0">
                          <a:solidFill>
                            <a:srgbClr val="5DC7AA"/>
                          </a:solidFill>
                        </a:rPr>
                        <a:t>Access Hub</a:t>
                      </a:r>
                    </a:p>
                  </a:txBody>
                  <a:tcPr>
                    <a:solidFill>
                      <a:srgbClr val="E7EEF1"/>
                    </a:solidFill>
                  </a:tcPr>
                </a:tc>
                <a:tc>
                  <a:txBody>
                    <a:bodyPr/>
                    <a:lstStyle/>
                    <a:p>
                      <a:r>
                        <a:rPr sz="700" b="0">
                          <a:solidFill>
                            <a:srgbClr val="5DC7AA"/>
                          </a:solidFill>
                        </a:rPr>
                        <a:t>Timeline</a:t>
                      </a:r>
                    </a:p>
                  </a:txBody>
                  <a:tcPr>
                    <a:solidFill>
                      <a:srgbClr val="E7EEF1"/>
                    </a:solidFill>
                  </a:tcPr>
                </a:tc>
                <a:extLst>
                  <a:ext uri="{0D108BD9-81ED-4DB2-BD59-A6C34878D82A}">
                    <a16:rowId xmlns:a16="http://schemas.microsoft.com/office/drawing/2014/main" val="10002"/>
                  </a:ext>
                </a:extLst>
              </a:tr>
              <a:tr h="153039">
                <a:tc>
                  <a:txBody>
                    <a:bodyPr/>
                    <a:lstStyle/>
                    <a:p>
                      <a:r>
                        <a:rPr sz="700" b="0">
                          <a:solidFill>
                            <a:srgbClr val="5DC7AA"/>
                          </a:solidFill>
                        </a:rPr>
                        <a:t>Terminal</a:t>
                      </a:r>
                    </a:p>
                  </a:txBody>
                  <a:tcPr>
                    <a:solidFill>
                      <a:srgbClr val="E7EEF1"/>
                    </a:solidFill>
                  </a:tcPr>
                </a:tc>
                <a:tc>
                  <a:txBody>
                    <a:bodyPr/>
                    <a:lstStyle/>
                    <a:p>
                      <a:r>
                        <a:rPr sz="700" b="0">
                          <a:solidFill>
                            <a:srgbClr val="5DC7AA"/>
                          </a:solidFill>
                        </a:rPr>
                        <a:t>Request</a:t>
                      </a:r>
                    </a:p>
                  </a:txBody>
                  <a:tcPr>
                    <a:solidFill>
                      <a:srgbClr val="E7EEF1"/>
                    </a:solidFill>
                  </a:tcPr>
                </a:tc>
                <a:tc>
                  <a:txBody>
                    <a:bodyPr/>
                    <a:lstStyle/>
                    <a:p>
                      <a:r>
                        <a:rPr sz="700" b="0">
                          <a:solidFill>
                            <a:srgbClr val="5DC7AA"/>
                          </a:solidFill>
                        </a:rPr>
                        <a:t>Ledger Build</a:t>
                      </a:r>
                    </a:p>
                  </a:txBody>
                  <a:tcPr>
                    <a:solidFill>
                      <a:srgbClr val="E7EEF1"/>
                    </a:solidFill>
                  </a:tcPr>
                </a:tc>
                <a:tc>
                  <a:txBody>
                    <a:bodyPr/>
                    <a:lstStyle/>
                    <a:p>
                      <a:r>
                        <a:rPr sz="700" b="0">
                          <a:solidFill>
                            <a:srgbClr val="5DC7AA"/>
                          </a:solidFill>
                        </a:rPr>
                        <a:t>Element</a:t>
                      </a:r>
                    </a:p>
                  </a:txBody>
                  <a:tcPr>
                    <a:solidFill>
                      <a:srgbClr val="E7EEF1"/>
                    </a:solidFill>
                  </a:tcPr>
                </a:tc>
                <a:tc>
                  <a:txBody>
                    <a:bodyPr/>
                    <a:lstStyle/>
                    <a:p>
                      <a:r>
                        <a:rPr sz="700" b="0">
                          <a:solidFill>
                            <a:srgbClr val="5DC7AA"/>
                          </a:solidFill>
                        </a:rPr>
                        <a:t>Rhythm Variant</a:t>
                      </a:r>
                    </a:p>
                  </a:txBody>
                  <a:tcPr>
                    <a:solidFill>
                      <a:srgbClr val="E7EEF1"/>
                    </a:solidFill>
                  </a:tcPr>
                </a:tc>
                <a:tc>
                  <a:txBody>
                    <a:bodyPr/>
                    <a:lstStyle/>
                    <a:p>
                      <a:r>
                        <a:rPr sz="700" b="0">
                          <a:solidFill>
                            <a:srgbClr val="5DC7AA"/>
                          </a:solidFill>
                        </a:rPr>
                        <a:t>Pipeline</a:t>
                      </a:r>
                    </a:p>
                  </a:txBody>
                  <a:tcPr>
                    <a:solidFill>
                      <a:srgbClr val="E7EEF1"/>
                    </a:solidFill>
                  </a:tcPr>
                </a:tc>
                <a:extLst>
                  <a:ext uri="{0D108BD9-81ED-4DB2-BD59-A6C34878D82A}">
                    <a16:rowId xmlns:a16="http://schemas.microsoft.com/office/drawing/2014/main" val="10003"/>
                  </a:ext>
                </a:extLst>
              </a:tr>
              <a:tr h="153039">
                <a:tc>
                  <a:txBody>
                    <a:bodyPr/>
                    <a:lstStyle/>
                    <a:p>
                      <a:r>
                        <a:rPr sz="700" b="0">
                          <a:solidFill>
                            <a:srgbClr val="5DC7AA"/>
                          </a:solidFill>
                        </a:rPr>
                        <a:t>Source</a:t>
                      </a:r>
                    </a:p>
                  </a:txBody>
                  <a:tcPr>
                    <a:solidFill>
                      <a:srgbClr val="E7EEF1"/>
                    </a:solidFill>
                  </a:tcPr>
                </a:tc>
                <a:tc>
                  <a:txBody>
                    <a:bodyPr/>
                    <a:lstStyle/>
                    <a:p>
                      <a:r>
                        <a:rPr sz="700" b="0">
                          <a:solidFill>
                            <a:srgbClr val="5DC7AA"/>
                          </a:solidFill>
                        </a:rPr>
                        <a:t>Input</a:t>
                      </a:r>
                    </a:p>
                  </a:txBody>
                  <a:tcPr>
                    <a:solidFill>
                      <a:srgbClr val="E7EEF1"/>
                    </a:solidFill>
                  </a:tcPr>
                </a:tc>
                <a:tc>
                  <a:txBody>
                    <a:bodyPr/>
                    <a:lstStyle/>
                    <a:p>
                      <a:r>
                        <a:rPr sz="700" b="0">
                          <a:solidFill>
                            <a:srgbClr val="5DC7AA"/>
                          </a:solidFill>
                        </a:rPr>
                        <a:t>Mesh</a:t>
                      </a:r>
                    </a:p>
                  </a:txBody>
                  <a:tcPr>
                    <a:solidFill>
                      <a:srgbClr val="E7EEF1"/>
                    </a:solidFill>
                  </a:tcPr>
                </a:tc>
                <a:tc>
                  <a:txBody>
                    <a:bodyPr/>
                    <a:lstStyle/>
                    <a:p>
                      <a:r>
                        <a:rPr sz="700" b="0">
                          <a:solidFill>
                            <a:srgbClr val="5DC7AA"/>
                          </a:solidFill>
                        </a:rPr>
                        <a:t>Point Checkpoint</a:t>
                      </a:r>
                    </a:p>
                  </a:txBody>
                  <a:tcPr>
                    <a:solidFill>
                      <a:srgbClr val="E7EEF1"/>
                    </a:solidFill>
                  </a:tcPr>
                </a:tc>
                <a:tc>
                  <a:txBody>
                    <a:bodyPr/>
                    <a:lstStyle/>
                    <a:p>
                      <a:r>
                        <a:rPr sz="700" b="0">
                          <a:solidFill>
                            <a:srgbClr val="5DC7AA"/>
                          </a:solidFill>
                        </a:rPr>
                        <a:t>Memory</a:t>
                      </a:r>
                    </a:p>
                  </a:txBody>
                  <a:tcPr>
                    <a:solidFill>
                      <a:srgbClr val="E7EEF1"/>
                    </a:solidFill>
                  </a:tcPr>
                </a:tc>
                <a:tc>
                  <a:txBody>
                    <a:bodyPr/>
                    <a:lstStyle/>
                    <a:p>
                      <a:r>
                        <a:rPr sz="700" b="0">
                          <a:solidFill>
                            <a:srgbClr val="5DC7AA"/>
                          </a:solidFill>
                        </a:rPr>
                        <a:t>Frame</a:t>
                      </a:r>
                    </a:p>
                  </a:txBody>
                  <a:tcPr>
                    <a:solidFill>
                      <a:srgbClr val="E7EEF1"/>
                    </a:solidFill>
                  </a:tcPr>
                </a:tc>
                <a:extLst>
                  <a:ext uri="{0D108BD9-81ED-4DB2-BD59-A6C34878D82A}">
                    <a16:rowId xmlns:a16="http://schemas.microsoft.com/office/drawing/2014/main" val="10004"/>
                  </a:ext>
                </a:extLst>
              </a:tr>
              <a:tr h="153039">
                <a:tc>
                  <a:txBody>
                    <a:bodyPr/>
                    <a:lstStyle/>
                    <a:p>
                      <a:r>
                        <a:rPr sz="700" b="0">
                          <a:solidFill>
                            <a:srgbClr val="5DC7AA"/>
                          </a:solidFill>
                        </a:rPr>
                        <a:t>Archive Delta</a:t>
                      </a:r>
                    </a:p>
                  </a:txBody>
                  <a:tcPr>
                    <a:solidFill>
                      <a:srgbClr val="E7EEF1"/>
                    </a:solidFill>
                  </a:tcPr>
                </a:tc>
                <a:tc>
                  <a:txBody>
                    <a:bodyPr/>
                    <a:lstStyle/>
                    <a:p>
                      <a:r>
                        <a:rPr sz="700" b="0">
                          <a:solidFill>
                            <a:srgbClr val="5DC7AA"/>
                          </a:solidFill>
                        </a:rPr>
                        <a:t>Target</a:t>
                      </a:r>
                    </a:p>
                  </a:txBody>
                  <a:tcPr>
                    <a:solidFill>
                      <a:srgbClr val="E7EEF1"/>
                    </a:solidFill>
                  </a:tcPr>
                </a:tc>
                <a:tc>
                  <a:txBody>
                    <a:bodyPr/>
                    <a:lstStyle/>
                    <a:p>
                      <a:r>
                        <a:rPr sz="700" b="0">
                          <a:solidFill>
                            <a:srgbClr val="5DC7AA"/>
                          </a:solidFill>
                        </a:rPr>
                        <a:t>Gradient Texture</a:t>
                      </a:r>
                    </a:p>
                  </a:txBody>
                  <a:tcPr>
                    <a:solidFill>
                      <a:srgbClr val="E7EEF1"/>
                    </a:solidFill>
                  </a:tcPr>
                </a:tc>
                <a:tc>
                  <a:txBody>
                    <a:bodyPr/>
                    <a:lstStyle/>
                    <a:p>
                      <a:r>
                        <a:rPr sz="700" b="0">
                          <a:solidFill>
                            <a:srgbClr val="5DC7AA"/>
                          </a:solidFill>
                        </a:rPr>
                        <a:t>Keyline Runtime</a:t>
                      </a:r>
                    </a:p>
                  </a:txBody>
                  <a:tcPr>
                    <a:solidFill>
                      <a:srgbClr val="E7EEF1"/>
                    </a:solidFill>
                  </a:tcPr>
                </a:tc>
                <a:tc>
                  <a:txBody>
                    <a:bodyPr/>
                    <a:lstStyle/>
                    <a:p>
                      <a:r>
                        <a:rPr sz="700" b="0">
                          <a:solidFill>
                            <a:srgbClr val="5DC7AA"/>
                          </a:solidFill>
                        </a:rPr>
                        <a:t>Guide</a:t>
                      </a:r>
                    </a:p>
                  </a:txBody>
                  <a:tcPr>
                    <a:solidFill>
                      <a:srgbClr val="E7EEF1"/>
                    </a:solidFill>
                  </a:tcPr>
                </a:tc>
                <a:tc>
                  <a:txBody>
                    <a:bodyPr/>
                    <a:lstStyle/>
                    <a:p>
                      <a:r>
                        <a:rPr sz="700" b="0">
                          <a:solidFill>
                            <a:srgbClr val="5DC7AA"/>
                          </a:solidFill>
                        </a:rPr>
                        <a:t>Sync</a:t>
                      </a:r>
                    </a:p>
                  </a:txBody>
                  <a:tcPr>
                    <a:solidFill>
                      <a:srgbClr val="E7EEF1"/>
                    </a:solidFill>
                  </a:tcPr>
                </a:tc>
                <a:extLst>
                  <a:ext uri="{0D108BD9-81ED-4DB2-BD59-A6C34878D82A}">
                    <a16:rowId xmlns:a16="http://schemas.microsoft.com/office/drawing/2014/main" val="10005"/>
                  </a:ext>
                </a:extLst>
              </a:tr>
              <a:tr h="153045">
                <a:tc>
                  <a:txBody>
                    <a:bodyPr/>
                    <a:lstStyle/>
                    <a:p>
                      <a:r>
                        <a:rPr sz="700" b="0">
                          <a:solidFill>
                            <a:srgbClr val="5DC7AA"/>
                          </a:solidFill>
                        </a:rPr>
                        <a:t>Checkpoint</a:t>
                      </a:r>
                    </a:p>
                  </a:txBody>
                  <a:tcPr>
                    <a:solidFill>
                      <a:srgbClr val="E7EEF1"/>
                    </a:solidFill>
                  </a:tcPr>
                </a:tc>
                <a:tc>
                  <a:txBody>
                    <a:bodyPr/>
                    <a:lstStyle/>
                    <a:p>
                      <a:r>
                        <a:rPr sz="700" b="0">
                          <a:solidFill>
                            <a:srgbClr val="5DC7AA"/>
                          </a:solidFill>
                        </a:rPr>
                        <a:t>Chart Echo</a:t>
                      </a:r>
                    </a:p>
                  </a:txBody>
                  <a:tcPr>
                    <a:solidFill>
                      <a:srgbClr val="E7EEF1"/>
                    </a:solidFill>
                  </a:tcPr>
                </a:tc>
                <a:tc>
                  <a:txBody>
                    <a:bodyPr/>
                    <a:lstStyle/>
                    <a:p>
                      <a:r>
                        <a:rPr sz="700" b="0">
                          <a:solidFill>
                            <a:srgbClr val="5DC7AA"/>
                          </a:solidFill>
                        </a:rPr>
                        <a:t>Path Module</a:t>
                      </a:r>
                    </a:p>
                  </a:txBody>
                  <a:tcPr>
                    <a:solidFill>
                      <a:srgbClr val="E7EEF1"/>
                    </a:solidFill>
                  </a:tcPr>
                </a:tc>
                <a:tc>
                  <a:txBody>
                    <a:bodyPr/>
                    <a:lstStyle/>
                    <a:p>
                      <a:r>
                        <a:rPr sz="700" b="0">
                          <a:solidFill>
                            <a:srgbClr val="5DC7AA"/>
                          </a:solidFill>
                        </a:rPr>
                        <a:t>Threshold Frequency</a:t>
                      </a:r>
                    </a:p>
                  </a:txBody>
                  <a:tcPr>
                    <a:solidFill>
                      <a:srgbClr val="E7EEF1"/>
                    </a:solidFill>
                  </a:tcPr>
                </a:tc>
                <a:tc>
                  <a:txBody>
                    <a:bodyPr/>
                    <a:lstStyle/>
                    <a:p>
                      <a:r>
                        <a:rPr sz="700" b="0">
                          <a:solidFill>
                            <a:srgbClr val="5DC7AA"/>
                          </a:solidFill>
                        </a:rPr>
                        <a:t>State</a:t>
                      </a:r>
                    </a:p>
                  </a:txBody>
                  <a:tcPr>
                    <a:solidFill>
                      <a:srgbClr val="E7EEF1"/>
                    </a:solidFill>
                  </a:tcPr>
                </a:tc>
                <a:tc>
                  <a:txBody>
                    <a:bodyPr/>
                    <a:lstStyle/>
                    <a:p>
                      <a:r>
                        <a:rPr sz="700" b="0">
                          <a:solidFill>
                            <a:srgbClr val="5DC7AA"/>
                          </a:solidFill>
                        </a:rPr>
                        <a:t>Stream</a:t>
                      </a:r>
                    </a:p>
                  </a:txBody>
                  <a:tcPr>
                    <a:solidFill>
                      <a:srgbClr val="E7EEF1"/>
                    </a:solidFill>
                  </a:tcPr>
                </a:tc>
                <a:extLst>
                  <a:ext uri="{0D108BD9-81ED-4DB2-BD59-A6C34878D82A}">
                    <a16:rowId xmlns:a16="http://schemas.microsoft.com/office/drawing/2014/main" val="10006"/>
                  </a:ext>
                </a:extLst>
              </a:tr>
            </a:tbl>
          </a:graphicData>
        </a:graphic>
      </p:graphicFrame>
      <p:sp>
        <p:nvSpPr>
          <p:cNvPr id="16" name="TextBox 15"/>
          <p:cNvSpPr txBox="1"/>
          <p:nvPr/>
        </p:nvSpPr>
        <p:spPr>
          <a:xfrm>
            <a:off x="3419892" y="652876"/>
            <a:ext cx="3072076" cy="1766578"/>
          </a:xfrm>
          <a:prstGeom prst="rect">
            <a:avLst/>
          </a:prstGeom>
          <a:noFill/>
        </p:spPr>
        <p:txBody>
          <a:bodyPr wrap="none" lIns="76509" tIns="76509" rIns="76509" bIns="76509">
            <a:spAutoFit/>
          </a:bodyPr>
          <a:lstStyle/>
          <a:p>
            <a:r>
              <a:rPr sz="1800" b="1" i="0" u="none">
                <a:solidFill>
                  <a:srgbClr val="215A2A"/>
                </a:solidFill>
                <a:latin typeface="Arial"/>
              </a:rPr>
              <a:t>Function Beta Brief Entity Schema Switch Resource Canvas Register Thread Catalog Summary Threshold Data Interface Loop Blueprint Query</a:t>
            </a:r>
          </a:p>
        </p:txBody>
      </p:sp>
      <p:sp>
        <p:nvSpPr>
          <p:cNvPr id="17" name="TextBox 16"/>
          <p:cNvSpPr txBox="1"/>
          <p:nvPr/>
        </p:nvSpPr>
        <p:spPr>
          <a:xfrm>
            <a:off x="5176612" y="4131552"/>
            <a:ext cx="2379872" cy="2141399"/>
          </a:xfrm>
          <a:prstGeom prst="rect">
            <a:avLst/>
          </a:prstGeom>
          <a:noFill/>
        </p:spPr>
        <p:txBody>
          <a:bodyPr wrap="none" lIns="43042" tIns="43042" rIns="43042" bIns="43042">
            <a:spAutoFit/>
          </a:bodyPr>
          <a:lstStyle/>
          <a:p>
            <a:r>
              <a:rPr sz="3700" b="1" i="0" u="sng">
                <a:solidFill>
                  <a:srgbClr val="2A24C0"/>
                </a:solidFill>
                <a:latin typeface="Aptos"/>
              </a:rPr>
              <a:t>Dispatch Range Array Keyline Forecast</a:t>
            </a:r>
          </a:p>
        </p:txBody>
      </p:sp>
      <p:pic>
        <p:nvPicPr>
          <p:cNvPr id="18" name="Picture 17" descr="_example_image.jpg"/>
          <p:cNvPicPr>
            <a:picLocks noChangeAspect="1"/>
          </p:cNvPicPr>
          <p:nvPr/>
        </p:nvPicPr>
        <p:blipFill>
          <a:blip r:embed="rId3"/>
          <a:srcRect/>
          <a:stretch>
            <a:fillRect/>
          </a:stretch>
        </p:blipFill>
        <p:spPr>
          <a:xfrm>
            <a:off x="1009776" y="2186510"/>
            <a:ext cx="1772474" cy="985726"/>
          </a:xfrm>
          <a:prstGeom prst="rect">
            <a:avLst/>
          </a:prstGeom>
        </p:spPr>
      </p:pic>
      <p:sp>
        <p:nvSpPr>
          <p:cNvPr id="19" name="Rounded Rectangle 18"/>
          <p:cNvSpPr/>
          <p:nvPr/>
        </p:nvSpPr>
        <p:spPr>
          <a:xfrm>
            <a:off x="1009776" y="2186510"/>
            <a:ext cx="1772474" cy="985726"/>
          </a:xfrm>
          <a:prstGeom prst="roundRect">
            <a:avLst/>
          </a:prstGeom>
          <a:noFill/>
          <a:ln w="15240">
            <a:solidFill>
              <a:srgbClr val="55A7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62828" y="2997038"/>
            <a:ext cx="2535714" cy="1097593"/>
          </a:xfrm>
          <a:prstGeom prst="rect">
            <a:avLst/>
          </a:prstGeom>
          <a:noFill/>
        </p:spPr>
        <p:txBody>
          <a:bodyPr wrap="none" lIns="85974" tIns="85974" rIns="85974" bIns="85974">
            <a:spAutoFit/>
          </a:bodyPr>
          <a:lstStyle/>
          <a:p>
            <a:r>
              <a:rPr sz="2300" b="0" i="0" u="none">
                <a:solidFill>
                  <a:srgbClr val="933A41"/>
                </a:solidFill>
                <a:latin typeface="Arial"/>
              </a:rPr>
              <a:t>Request View Format Signal Case Token Concept Level Station Signal Function</a:t>
            </a:r>
          </a:p>
        </p:txBody>
      </p:sp>
      <p:graphicFrame>
        <p:nvGraphicFramePr>
          <p:cNvPr id="21" name="Chart 20"/>
          <p:cNvGraphicFramePr>
            <a:graphicFrameLocks noGrp="1"/>
          </p:cNvGraphicFramePr>
          <p:nvPr/>
        </p:nvGraphicFramePr>
        <p:xfrm>
          <a:off x="2157281" y="642606"/>
          <a:ext cx="2105477" cy="1813701"/>
        </p:xfrm>
        <a:graphic>
          <a:graphicData uri="http://schemas.openxmlformats.org/drawingml/2006/chart">
            <c:chart xmlns:c="http://schemas.openxmlformats.org/drawingml/2006/chart" xmlns:r="http://schemas.openxmlformats.org/officeDocument/2006/relationships" r:id="rId4"/>
          </a:graphicData>
        </a:graphic>
      </p:graphicFrame>
      <p:pic>
        <p:nvPicPr>
          <p:cNvPr id="22" name="Picture 21" descr="_example_image.jpg"/>
          <p:cNvPicPr>
            <a:picLocks noChangeAspect="1"/>
          </p:cNvPicPr>
          <p:nvPr/>
        </p:nvPicPr>
        <p:blipFill>
          <a:blip r:embed="rId3"/>
          <a:srcRect l="16438" t="7448" r="11400" b="16517"/>
          <a:stretch>
            <a:fillRect/>
          </a:stretch>
        </p:blipFill>
        <p:spPr>
          <a:xfrm>
            <a:off x="8707570" y="3277702"/>
            <a:ext cx="1055886" cy="1135277"/>
          </a:xfrm>
          <a:prstGeom prst="rect">
            <a:avLst/>
          </a:prstGeom>
        </p:spPr>
      </p:pic>
      <p:sp>
        <p:nvSpPr>
          <p:cNvPr id="23" name="Rounded Rectangle 22"/>
          <p:cNvSpPr/>
          <p:nvPr/>
        </p:nvSpPr>
        <p:spPr>
          <a:xfrm>
            <a:off x="8707570" y="3277702"/>
            <a:ext cx="1055886" cy="1135277"/>
          </a:xfrm>
          <a:prstGeom prst="roundRect">
            <a:avLst/>
          </a:prstGeom>
          <a:noFill/>
          <a:ln w="15240">
            <a:solidFill>
              <a:srgbClr val="C081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4317277" y="5422563"/>
            <a:ext cx="837683" cy="926216"/>
          </a:xfrm>
          <a:custGeom>
            <a:avLst/>
            <a:gdLst/>
            <a:ahLst/>
            <a:cxnLst/>
            <a:rect l="l" t="t" r="r" b="b"/>
            <a:pathLst>
              <a:path w="837683" h="926216">
                <a:moveTo>
                  <a:pt x="0" y="450244"/>
                </a:moveTo>
                <a:lnTo>
                  <a:pt x="144117" y="0"/>
                </a:lnTo>
                <a:lnTo>
                  <a:pt x="297242" y="385923"/>
                </a:lnTo>
                <a:lnTo>
                  <a:pt x="450367" y="771846"/>
                </a:lnTo>
                <a:lnTo>
                  <a:pt x="612499" y="321603"/>
                </a:lnTo>
                <a:lnTo>
                  <a:pt x="837683" y="488836"/>
                </a:lnTo>
                <a:lnTo>
                  <a:pt x="837683" y="926216"/>
                </a:lnTo>
                <a:lnTo>
                  <a:pt x="0" y="926216"/>
                </a:lnTo>
                <a:close/>
              </a:path>
            </a:pathLst>
          </a:custGeom>
          <a:solidFill>
            <a:srgbClr val="B1D05E"/>
          </a:solidFill>
          <a:ln w="13532">
            <a:solidFill>
              <a:srgbClr val="9975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V="1">
            <a:off x="9998230" y="562935"/>
            <a:ext cx="746688" cy="852463"/>
          </a:xfrm>
          <a:prstGeom prst="curvedConnector3">
            <a:avLst/>
          </a:prstGeom>
          <a:ln w="45297">
            <a:solidFill>
              <a:srgbClr val="3D7E8C"/>
            </a:solidFill>
            <a:prstDash val="lgDash"/>
          </a:ln>
        </p:spPr>
        <p:style>
          <a:lnRef idx="2">
            <a:schemeClr val="accent1"/>
          </a:lnRef>
          <a:fillRef idx="0">
            <a:schemeClr val="accent1"/>
          </a:fillRef>
          <a:effectRef idx="1">
            <a:schemeClr val="accent1"/>
          </a:effectRef>
          <a:fontRef idx="minor">
            <a:schemeClr val="tx1"/>
          </a:fontRef>
        </p:style>
      </p:cxnSp>
      <p:sp>
        <p:nvSpPr>
          <p:cNvPr id="26" name="U-Turn Arrow 25"/>
          <p:cNvSpPr/>
          <p:nvPr/>
        </p:nvSpPr>
        <p:spPr>
          <a:xfrm>
            <a:off x="8597083" y="708183"/>
            <a:ext cx="1164302" cy="1696528"/>
          </a:xfrm>
          <a:prstGeom prst="uturnArrow">
            <a:avLst/>
          </a:prstGeom>
          <a:noFill/>
          <a:ln w="15920">
            <a:solidFill>
              <a:srgbClr val="9775A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_example_image.jpg"/>
          <p:cNvPicPr>
            <a:picLocks noChangeAspect="1"/>
          </p:cNvPicPr>
          <p:nvPr/>
        </p:nvPicPr>
        <p:blipFill>
          <a:blip r:embed="rId3"/>
          <a:srcRect l="17948" t="1877" r="9772" b="16999"/>
          <a:stretch>
            <a:fillRect/>
          </a:stretch>
        </p:blipFill>
        <p:spPr>
          <a:xfrm>
            <a:off x="3457616" y="5640271"/>
            <a:ext cx="1021499" cy="1024531"/>
          </a:xfrm>
          <a:prstGeom prst="rect">
            <a:avLst/>
          </a:prstGeom>
        </p:spPr>
      </p:pic>
      <p:sp>
        <p:nvSpPr>
          <p:cNvPr id="28" name="TextBox 27"/>
          <p:cNvSpPr txBox="1"/>
          <p:nvPr/>
        </p:nvSpPr>
        <p:spPr>
          <a:xfrm>
            <a:off x="1509197" y="3416218"/>
            <a:ext cx="2821513" cy="1944917"/>
          </a:xfrm>
          <a:prstGeom prst="rect">
            <a:avLst/>
          </a:prstGeom>
          <a:noFill/>
        </p:spPr>
        <p:txBody>
          <a:bodyPr wrap="none" lIns="18582" tIns="18582" rIns="18582" bIns="18582">
            <a:spAutoFit/>
          </a:bodyPr>
          <a:lstStyle/>
          <a:p>
            <a:r>
              <a:rPr sz="1200" b="0" i="0" u="none">
                <a:solidFill>
                  <a:srgbClr val="BC4382"/>
                </a:solidFill>
                <a:latin typeface="Aptos"/>
              </a:rPr>
              <a:t>Function Queueing</a:t>
            </a:r>
          </a:p>
        </p:txBody>
      </p:sp>
      <p:pic>
        <p:nvPicPr>
          <p:cNvPr id="30" name="Graphic 29">
            <a:extLst>
              <a:ext uri="{FF2B5EF4-FFF2-40B4-BE49-F238E27FC236}">
                <a16:creationId xmlns:a16="http://schemas.microsoft.com/office/drawing/2014/main" id="{49B6CBCF-ECD7-13CF-EBE3-934E0E24925A}"/>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54974" y="3301796"/>
            <a:ext cx="1654937" cy="765867"/>
          </a:xfrm>
          <a:prstGeom prst="rect">
            <a:avLst/>
          </a:prstGeom>
        </p:spPr>
      </p:pic>
      <p:pic>
        <p:nvPicPr>
          <p:cNvPr id="32" name="Graphic 31">
            <a:extLst>
              <a:ext uri="{FF2B5EF4-FFF2-40B4-BE49-F238E27FC236}">
                <a16:creationId xmlns:a16="http://schemas.microsoft.com/office/drawing/2014/main" id="{BD05C359-1EAD-5856-6E48-86C442F15DC1}"/>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26575" y="3456234"/>
            <a:ext cx="1022649" cy="114819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00215" y="788749"/>
            <a:ext cx="998678" cy="2264157"/>
          </a:xfrm>
          <a:prstGeom prst="rect">
            <a:avLst/>
          </a:prstGeom>
          <a:noFill/>
        </p:spPr>
        <p:txBody>
          <a:bodyPr wrap="none" lIns="59714" tIns="59714" rIns="59714" bIns="59714">
            <a:spAutoFit/>
          </a:bodyPr>
          <a:lstStyle/>
          <a:p>
            <a:r>
              <a:rPr sz="1100" b="0" i="0" u="none">
                <a:solidFill>
                  <a:srgbClr val="545BBF"/>
                </a:solidFill>
                <a:latin typeface="Trebuchet MS"/>
              </a:rPr>
              <a:t>Memory Center Flow Deck Range Scope Iteration Discovery Rhythm Handle Friction Trace Narrative State Rhythm Entity Interval Map Anchor Needle Account Envelope Beta Discovery Circuit Grid Diagram Cycle Density Waypoint Needle Scope Action Path Trigger Terminal Access Layer Vertex Process Datum</a:t>
            </a:r>
          </a:p>
        </p:txBody>
      </p:sp>
      <p:sp>
        <p:nvSpPr>
          <p:cNvPr id="3" name="Multiply 2"/>
          <p:cNvSpPr/>
          <p:nvPr/>
        </p:nvSpPr>
        <p:spPr>
          <a:xfrm>
            <a:off x="10246923" y="1457489"/>
            <a:ext cx="657132" cy="271805"/>
          </a:xfrm>
          <a:prstGeom prst="mathMultiply">
            <a:avLst/>
          </a:prstGeom>
          <a:solidFill>
            <a:srgbClr val="C02E20"/>
          </a:solidFill>
          <a:ln w="13577">
            <a:solidFill>
              <a:srgbClr val="A457C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901777" y="1035396"/>
            <a:ext cx="751145" cy="1981037"/>
          </a:xfrm>
          <a:prstGeom prst="rect">
            <a:avLst/>
          </a:prstGeom>
          <a:noFill/>
        </p:spPr>
        <p:txBody>
          <a:bodyPr wrap="none" lIns="39840" tIns="39840" rIns="39840" bIns="39840">
            <a:spAutoFit/>
          </a:bodyPr>
          <a:lstStyle/>
          <a:p>
            <a:r>
              <a:rPr sz="2100" b="1" i="1" u="none">
                <a:solidFill>
                  <a:srgbClr val="DD2640"/>
                </a:solidFill>
                <a:latin typeface="Verdana"/>
              </a:rPr>
              <a:t>Terminal Event Topology Bundle Circuit Mode Journey</a:t>
            </a:r>
          </a:p>
        </p:txBody>
      </p:sp>
      <p:sp>
        <p:nvSpPr>
          <p:cNvPr id="5" name="TextBox 4"/>
          <p:cNvSpPr txBox="1"/>
          <p:nvPr/>
        </p:nvSpPr>
        <p:spPr>
          <a:xfrm>
            <a:off x="5771347" y="3440287"/>
            <a:ext cx="1408021" cy="981298"/>
          </a:xfrm>
          <a:prstGeom prst="rect">
            <a:avLst/>
          </a:prstGeom>
          <a:noFill/>
        </p:spPr>
        <p:txBody>
          <a:bodyPr wrap="none" lIns="18720" tIns="18720" rIns="18720" bIns="18720">
            <a:spAutoFit/>
          </a:bodyPr>
          <a:lstStyle/>
          <a:p>
            <a:r>
              <a:rPr sz="4900" b="1" i="0" u="none">
                <a:solidFill>
                  <a:srgbClr val="2B91CA"/>
                </a:solidFill>
                <a:latin typeface="Calibri"/>
              </a:rPr>
              <a:t>Velocity Epoch Relay Array Element</a:t>
            </a:r>
          </a:p>
        </p:txBody>
      </p:sp>
      <p:graphicFrame>
        <p:nvGraphicFramePr>
          <p:cNvPr id="6" name="Table 5"/>
          <p:cNvGraphicFramePr>
            <a:graphicFrameLocks noGrp="1"/>
          </p:cNvGraphicFramePr>
          <p:nvPr/>
        </p:nvGraphicFramePr>
        <p:xfrm>
          <a:off x="4166407" y="304606"/>
          <a:ext cx="2150201" cy="2156029"/>
        </p:xfrm>
        <a:graphic>
          <a:graphicData uri="http://schemas.openxmlformats.org/drawingml/2006/table">
            <a:tbl>
              <a:tblPr firstRow="1" bandRow="1">
                <a:tableStyleId>{5C22544A-7EE6-4342-B048-85BDC9FD1C3A}</a:tableStyleId>
              </a:tblPr>
              <a:tblGrid>
                <a:gridCol w="537550">
                  <a:extLst>
                    <a:ext uri="{9D8B030D-6E8A-4147-A177-3AD203B41FA5}">
                      <a16:colId xmlns:a16="http://schemas.microsoft.com/office/drawing/2014/main" val="20000"/>
                    </a:ext>
                  </a:extLst>
                </a:gridCol>
                <a:gridCol w="537550">
                  <a:extLst>
                    <a:ext uri="{9D8B030D-6E8A-4147-A177-3AD203B41FA5}">
                      <a16:colId xmlns:a16="http://schemas.microsoft.com/office/drawing/2014/main" val="20001"/>
                    </a:ext>
                  </a:extLst>
                </a:gridCol>
                <a:gridCol w="537550">
                  <a:extLst>
                    <a:ext uri="{9D8B030D-6E8A-4147-A177-3AD203B41FA5}">
                      <a16:colId xmlns:a16="http://schemas.microsoft.com/office/drawing/2014/main" val="20002"/>
                    </a:ext>
                  </a:extLst>
                </a:gridCol>
                <a:gridCol w="537551">
                  <a:extLst>
                    <a:ext uri="{9D8B030D-6E8A-4147-A177-3AD203B41FA5}">
                      <a16:colId xmlns:a16="http://schemas.microsoft.com/office/drawing/2014/main" val="20003"/>
                    </a:ext>
                  </a:extLst>
                </a:gridCol>
              </a:tblGrid>
              <a:tr h="539007">
                <a:tc>
                  <a:txBody>
                    <a:bodyPr/>
                    <a:lstStyle/>
                    <a:p>
                      <a:r>
                        <a:rPr sz="1200" b="0">
                          <a:solidFill>
                            <a:srgbClr val="B778A6"/>
                          </a:solidFill>
                        </a:rPr>
                        <a:t>Panel Map</a:t>
                      </a:r>
                    </a:p>
                  </a:txBody>
                  <a:tcPr>
                    <a:solidFill>
                      <a:srgbClr val="F9F6F6"/>
                    </a:solidFill>
                  </a:tcPr>
                </a:tc>
                <a:tc>
                  <a:txBody>
                    <a:bodyPr/>
                    <a:lstStyle/>
                    <a:p>
                      <a:r>
                        <a:rPr sz="1200" b="0">
                          <a:solidFill>
                            <a:srgbClr val="B778A6"/>
                          </a:solidFill>
                        </a:rPr>
                        <a:t>Workflow Cycle</a:t>
                      </a:r>
                    </a:p>
                  </a:txBody>
                  <a:tcPr>
                    <a:solidFill>
                      <a:srgbClr val="F9F6F6"/>
                    </a:solidFill>
                  </a:tcPr>
                </a:tc>
                <a:tc>
                  <a:txBody>
                    <a:bodyPr/>
                    <a:lstStyle/>
                    <a:p>
                      <a:r>
                        <a:rPr sz="1200" b="0">
                          <a:solidFill>
                            <a:srgbClr val="B778A6"/>
                          </a:solidFill>
                        </a:rPr>
                        <a:t>Envelope</a:t>
                      </a:r>
                    </a:p>
                  </a:txBody>
                  <a:tcPr>
                    <a:solidFill>
                      <a:srgbClr val="F9F6F6"/>
                    </a:solidFill>
                  </a:tcPr>
                </a:tc>
                <a:tc>
                  <a:txBody>
                    <a:bodyPr/>
                    <a:lstStyle/>
                    <a:p>
                      <a:r>
                        <a:rPr sz="1200" b="0">
                          <a:solidFill>
                            <a:srgbClr val="B778A6"/>
                          </a:solidFill>
                        </a:rPr>
                        <a:t>Cell Query</a:t>
                      </a:r>
                    </a:p>
                  </a:txBody>
                  <a:tcPr>
                    <a:solidFill>
                      <a:srgbClr val="F9F6F6"/>
                    </a:solidFill>
                  </a:tcPr>
                </a:tc>
                <a:extLst>
                  <a:ext uri="{0D108BD9-81ED-4DB2-BD59-A6C34878D82A}">
                    <a16:rowId xmlns:a16="http://schemas.microsoft.com/office/drawing/2014/main" val="10000"/>
                  </a:ext>
                </a:extLst>
              </a:tr>
              <a:tr h="539007">
                <a:tc>
                  <a:txBody>
                    <a:bodyPr/>
                    <a:lstStyle/>
                    <a:p>
                      <a:r>
                        <a:rPr sz="1200" b="0">
                          <a:solidFill>
                            <a:srgbClr val="B778A6"/>
                          </a:solidFill>
                        </a:rPr>
                        <a:t>Analysis</a:t>
                      </a:r>
                    </a:p>
                  </a:txBody>
                  <a:tcPr>
                    <a:solidFill>
                      <a:srgbClr val="F9F6F6"/>
                    </a:solidFill>
                  </a:tcPr>
                </a:tc>
                <a:tc>
                  <a:txBody>
                    <a:bodyPr/>
                    <a:lstStyle/>
                    <a:p>
                      <a:r>
                        <a:rPr sz="1200" b="0">
                          <a:solidFill>
                            <a:srgbClr val="B778A6"/>
                          </a:solidFill>
                        </a:rPr>
                        <a:t>Window</a:t>
                      </a:r>
                    </a:p>
                  </a:txBody>
                  <a:tcPr>
                    <a:solidFill>
                      <a:srgbClr val="F9F6F6"/>
                    </a:solidFill>
                  </a:tcPr>
                </a:tc>
                <a:tc>
                  <a:txBody>
                    <a:bodyPr/>
                    <a:lstStyle/>
                    <a:p>
                      <a:r>
                        <a:rPr sz="1200" b="0">
                          <a:solidFill>
                            <a:srgbClr val="B778A6"/>
                          </a:solidFill>
                        </a:rPr>
                        <a:t>Expansion</a:t>
                      </a:r>
                    </a:p>
                  </a:txBody>
                  <a:tcPr>
                    <a:solidFill>
                      <a:srgbClr val="F9F6F6"/>
                    </a:solidFill>
                  </a:tcPr>
                </a:tc>
                <a:tc>
                  <a:txBody>
                    <a:bodyPr/>
                    <a:lstStyle/>
                    <a:p>
                      <a:r>
                        <a:rPr sz="1200" b="0">
                          <a:solidFill>
                            <a:srgbClr val="B778A6"/>
                          </a:solidFill>
                        </a:rPr>
                        <a:t>Journey</a:t>
                      </a:r>
                    </a:p>
                  </a:txBody>
                  <a:tcPr>
                    <a:solidFill>
                      <a:srgbClr val="F9F6F6"/>
                    </a:solidFill>
                  </a:tcPr>
                </a:tc>
                <a:extLst>
                  <a:ext uri="{0D108BD9-81ED-4DB2-BD59-A6C34878D82A}">
                    <a16:rowId xmlns:a16="http://schemas.microsoft.com/office/drawing/2014/main" val="10001"/>
                  </a:ext>
                </a:extLst>
              </a:tr>
              <a:tr h="539007">
                <a:tc>
                  <a:txBody>
                    <a:bodyPr/>
                    <a:lstStyle/>
                    <a:p>
                      <a:r>
                        <a:rPr sz="1200" b="0">
                          <a:solidFill>
                            <a:srgbClr val="B778A6"/>
                          </a:solidFill>
                        </a:rPr>
                        <a:t>Command Factor</a:t>
                      </a:r>
                    </a:p>
                  </a:txBody>
                  <a:tcPr>
                    <a:solidFill>
                      <a:srgbClr val="F9F6F6"/>
                    </a:solidFill>
                  </a:tcPr>
                </a:tc>
                <a:tc>
                  <a:txBody>
                    <a:bodyPr/>
                    <a:lstStyle/>
                    <a:p>
                      <a:r>
                        <a:rPr sz="1200" b="0">
                          <a:solidFill>
                            <a:srgbClr val="B778A6"/>
                          </a:solidFill>
                        </a:rPr>
                        <a:t>Pipeline</a:t>
                      </a:r>
                    </a:p>
                  </a:txBody>
                  <a:tcPr>
                    <a:solidFill>
                      <a:srgbClr val="F9F6F6"/>
                    </a:solidFill>
                  </a:tcPr>
                </a:tc>
                <a:tc>
                  <a:txBody>
                    <a:bodyPr/>
                    <a:lstStyle/>
                    <a:p>
                      <a:r>
                        <a:rPr sz="1200" b="0">
                          <a:solidFill>
                            <a:srgbClr val="B778A6"/>
                          </a:solidFill>
                        </a:rPr>
                        <a:t>Cortex Rhythm</a:t>
                      </a:r>
                    </a:p>
                  </a:txBody>
                  <a:tcPr>
                    <a:solidFill>
                      <a:srgbClr val="F9F6F6"/>
                    </a:solidFill>
                  </a:tcPr>
                </a:tc>
                <a:tc>
                  <a:txBody>
                    <a:bodyPr/>
                    <a:lstStyle/>
                    <a:p>
                      <a:r>
                        <a:rPr sz="1200" b="0">
                          <a:solidFill>
                            <a:srgbClr val="B778A6"/>
                          </a:solidFill>
                        </a:rPr>
                        <a:t>Vertex Level</a:t>
                      </a:r>
                    </a:p>
                  </a:txBody>
                  <a:tcPr>
                    <a:solidFill>
                      <a:srgbClr val="F9F6F6"/>
                    </a:solidFill>
                  </a:tcPr>
                </a:tc>
                <a:extLst>
                  <a:ext uri="{0D108BD9-81ED-4DB2-BD59-A6C34878D82A}">
                    <a16:rowId xmlns:a16="http://schemas.microsoft.com/office/drawing/2014/main" val="10002"/>
                  </a:ext>
                </a:extLst>
              </a:tr>
              <a:tr h="539008">
                <a:tc>
                  <a:txBody>
                    <a:bodyPr/>
                    <a:lstStyle/>
                    <a:p>
                      <a:r>
                        <a:rPr sz="1200" b="0">
                          <a:solidFill>
                            <a:srgbClr val="B778A6"/>
                          </a:solidFill>
                        </a:rPr>
                        <a:t>Object</a:t>
                      </a:r>
                    </a:p>
                  </a:txBody>
                  <a:tcPr>
                    <a:solidFill>
                      <a:srgbClr val="F9F6F6"/>
                    </a:solidFill>
                  </a:tcPr>
                </a:tc>
                <a:tc>
                  <a:txBody>
                    <a:bodyPr/>
                    <a:lstStyle/>
                    <a:p>
                      <a:r>
                        <a:rPr sz="1200" b="0">
                          <a:solidFill>
                            <a:srgbClr val="B778A6"/>
                          </a:solidFill>
                        </a:rPr>
                        <a:t>Density Signal</a:t>
                      </a:r>
                    </a:p>
                  </a:txBody>
                  <a:tcPr>
                    <a:solidFill>
                      <a:srgbClr val="F9F6F6"/>
                    </a:solidFill>
                  </a:tcPr>
                </a:tc>
                <a:tc>
                  <a:txBody>
                    <a:bodyPr/>
                    <a:lstStyle/>
                    <a:p>
                      <a:r>
                        <a:rPr sz="1200" b="0">
                          <a:solidFill>
                            <a:srgbClr val="B778A6"/>
                          </a:solidFill>
                        </a:rPr>
                        <a:t>Portal</a:t>
                      </a:r>
                    </a:p>
                  </a:txBody>
                  <a:tcPr>
                    <a:solidFill>
                      <a:srgbClr val="F9F6F6"/>
                    </a:solidFill>
                  </a:tcPr>
                </a:tc>
                <a:tc>
                  <a:txBody>
                    <a:bodyPr/>
                    <a:lstStyle/>
                    <a:p>
                      <a:r>
                        <a:rPr sz="1200" b="0">
                          <a:solidFill>
                            <a:srgbClr val="B778A6"/>
                          </a:solidFill>
                        </a:rPr>
                        <a:t>Focus</a:t>
                      </a:r>
                    </a:p>
                  </a:txBody>
                  <a:tcPr>
                    <a:solidFill>
                      <a:srgbClr val="F9F6F6"/>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385714" y="1046166"/>
            <a:ext cx="698755" cy="2354266"/>
          </a:xfrm>
          <a:prstGeom prst="rect">
            <a:avLst/>
          </a:prstGeom>
          <a:solidFill>
            <a:srgbClr val="57D77F"/>
          </a:solidFill>
        </p:spPr>
        <p:txBody>
          <a:bodyPr wrap="none" lIns="41955" tIns="41955" rIns="41955" bIns="41955">
            <a:spAutoFit/>
          </a:bodyPr>
          <a:lstStyle/>
          <a:p>
            <a:r>
              <a:rPr sz="2400" b="1" i="0" u="none">
                <a:solidFill>
                  <a:srgbClr val="DD57B0"/>
                </a:solidFill>
                <a:latin typeface="Calibri"/>
              </a:rPr>
              <a:t>Story Handle Library Network Library Factor Path Device Signal Pixel</a:t>
            </a:r>
          </a:p>
        </p:txBody>
      </p:sp>
      <p:pic>
        <p:nvPicPr>
          <p:cNvPr id="8" name="Picture 7" descr="_example_image.jpg"/>
          <p:cNvPicPr>
            <a:picLocks noChangeAspect="1"/>
          </p:cNvPicPr>
          <p:nvPr/>
        </p:nvPicPr>
        <p:blipFill>
          <a:blip r:embed="rId2"/>
          <a:srcRect l="20162" t="10578" r="17956" b="6806"/>
          <a:stretch>
            <a:fillRect/>
          </a:stretch>
        </p:blipFill>
        <p:spPr>
          <a:xfrm>
            <a:off x="480914" y="1384964"/>
            <a:ext cx="1913282" cy="852089"/>
          </a:xfrm>
          <a:prstGeom prst="rect">
            <a:avLst/>
          </a:prstGeom>
        </p:spPr>
      </p:pic>
      <p:sp>
        <p:nvSpPr>
          <p:cNvPr id="9" name="TextBox 8"/>
          <p:cNvSpPr txBox="1"/>
          <p:nvPr/>
        </p:nvSpPr>
        <p:spPr>
          <a:xfrm>
            <a:off x="1747726" y="4027659"/>
            <a:ext cx="1185347" cy="2424964"/>
          </a:xfrm>
          <a:prstGeom prst="rect">
            <a:avLst/>
          </a:prstGeom>
          <a:noFill/>
        </p:spPr>
        <p:txBody>
          <a:bodyPr wrap="none" lIns="40566" tIns="40566" rIns="40566" bIns="40566">
            <a:spAutoFit/>
          </a:bodyPr>
          <a:lstStyle/>
          <a:p>
            <a:r>
              <a:rPr sz="2900" b="1" i="0" u="none">
                <a:solidFill>
                  <a:srgbClr val="424867"/>
                </a:solidFill>
                <a:latin typeface="Trebuchet MS"/>
              </a:rPr>
              <a:t>Lens Station Phase Lineage Packet Trend</a:t>
            </a:r>
          </a:p>
        </p:txBody>
      </p:sp>
      <p:sp>
        <p:nvSpPr>
          <p:cNvPr id="10" name="Not Equal 9"/>
          <p:cNvSpPr/>
          <p:nvPr/>
        </p:nvSpPr>
        <p:spPr>
          <a:xfrm>
            <a:off x="3845110" y="3499423"/>
            <a:ext cx="1771811" cy="1219699"/>
          </a:xfrm>
          <a:prstGeom prst="mathNotEqual">
            <a:avLst/>
          </a:prstGeom>
          <a:solidFill>
            <a:srgbClr val="A5DE27"/>
          </a:solidFill>
          <a:ln w="30788">
            <a:solidFill>
              <a:srgbClr val="506876"/>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riped Right Arrow 10"/>
          <p:cNvSpPr/>
          <p:nvPr/>
        </p:nvSpPr>
        <p:spPr>
          <a:xfrm>
            <a:off x="7610836" y="4258064"/>
            <a:ext cx="350114" cy="468562"/>
          </a:xfrm>
          <a:prstGeom prst="stripedRightArrow">
            <a:avLst/>
          </a:prstGeom>
          <a:solidFill>
            <a:srgbClr val="5E608B"/>
          </a:solidFill>
          <a:ln w="11806">
            <a:solidFill>
              <a:srgbClr val="60A2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ube 11"/>
          <p:cNvSpPr/>
          <p:nvPr/>
        </p:nvSpPr>
        <p:spPr>
          <a:xfrm>
            <a:off x="6010743" y="5251367"/>
            <a:ext cx="1603576" cy="285845"/>
          </a:xfrm>
          <a:prstGeom prst="cube">
            <a:avLst/>
          </a:prstGeom>
          <a:solidFill>
            <a:srgbClr val="2E6C38"/>
          </a:solidFill>
          <a:ln w="17643">
            <a:solidFill>
              <a:srgbClr val="79AAE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Up Ribbon 12"/>
          <p:cNvSpPr/>
          <p:nvPr/>
        </p:nvSpPr>
        <p:spPr>
          <a:xfrm>
            <a:off x="4955075" y="4976273"/>
            <a:ext cx="712492" cy="867045"/>
          </a:xfrm>
          <a:prstGeom prst="ribbon2">
            <a:avLst/>
          </a:prstGeom>
          <a:solidFill>
            <a:srgbClr val="A3C56E"/>
          </a:solidFill>
          <a:ln w="12269">
            <a:solidFill>
              <a:srgbClr val="AC9BD9"/>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6794062" y="368758"/>
            <a:ext cx="1284676" cy="576922"/>
          </a:xfrm>
          <a:custGeom>
            <a:avLst/>
            <a:gdLst/>
            <a:ahLst/>
            <a:cxnLst/>
            <a:rect l="l" t="t" r="r" b="b"/>
            <a:pathLst>
              <a:path w="1284676" h="576922">
                <a:moveTo>
                  <a:pt x="138137" y="98199"/>
                </a:moveTo>
                <a:lnTo>
                  <a:pt x="455853" y="0"/>
                </a:lnTo>
                <a:lnTo>
                  <a:pt x="939333" y="49100"/>
                </a:lnTo>
                <a:lnTo>
                  <a:pt x="1284676" y="233224"/>
                </a:lnTo>
                <a:lnTo>
                  <a:pt x="1105098" y="478723"/>
                </a:lnTo>
                <a:lnTo>
                  <a:pt x="593990" y="576922"/>
                </a:lnTo>
                <a:lnTo>
                  <a:pt x="82882" y="417348"/>
                </a:lnTo>
                <a:lnTo>
                  <a:pt x="0" y="208674"/>
                </a:lnTo>
                <a:close/>
              </a:path>
            </a:pathLst>
          </a:custGeom>
          <a:solidFill>
            <a:srgbClr val="6CAD91"/>
          </a:solidFill>
          <a:ln w="16263">
            <a:solidFill>
              <a:srgbClr val="7A93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10501926" y="3292036"/>
            <a:ext cx="1429507" cy="1302540"/>
          </a:xfrm>
          <a:custGeom>
            <a:avLst/>
            <a:gdLst/>
            <a:ahLst/>
            <a:cxnLst/>
            <a:rect l="l" t="t" r="r" b="b"/>
            <a:pathLst>
              <a:path w="1429507" h="1302540">
                <a:moveTo>
                  <a:pt x="0" y="289453"/>
                </a:moveTo>
                <a:lnTo>
                  <a:pt x="307421" y="0"/>
                </a:lnTo>
                <a:lnTo>
                  <a:pt x="614842" y="390762"/>
                </a:lnTo>
                <a:lnTo>
                  <a:pt x="922263" y="43418"/>
                </a:lnTo>
                <a:lnTo>
                  <a:pt x="1429507" y="1013086"/>
                </a:lnTo>
                <a:lnTo>
                  <a:pt x="1075973" y="1302540"/>
                </a:lnTo>
                <a:lnTo>
                  <a:pt x="737810" y="868360"/>
                </a:lnTo>
                <a:lnTo>
                  <a:pt x="353534" y="1259122"/>
                </a:lnTo>
                <a:close/>
              </a:path>
            </a:pathLst>
          </a:custGeom>
          <a:solidFill>
            <a:srgbClr val="22A1CE"/>
          </a:solidFill>
          <a:ln w="21215">
            <a:solidFill>
              <a:srgbClr val="8862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Wave 15"/>
          <p:cNvSpPr/>
          <p:nvPr/>
        </p:nvSpPr>
        <p:spPr>
          <a:xfrm>
            <a:off x="3680900" y="4961597"/>
            <a:ext cx="543411" cy="626842"/>
          </a:xfrm>
          <a:prstGeom prst="wave">
            <a:avLst/>
          </a:prstGeom>
          <a:solidFill>
            <a:srgbClr val="25AAC7"/>
          </a:solidFill>
          <a:ln w="6472">
            <a:solidFill>
              <a:srgbClr val="26D84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V="1">
            <a:off x="9177650" y="818647"/>
            <a:ext cx="1284499" cy="373543"/>
          </a:xfrm>
          <a:prstGeom prst="line">
            <a:avLst/>
          </a:prstGeom>
          <a:ln w="32093">
            <a:solidFill>
              <a:srgbClr val="A4CCC7"/>
            </a:solidFill>
            <a:prstDash val="dot"/>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68275" y="2955417"/>
            <a:ext cx="1055240" cy="2553109"/>
          </a:xfrm>
          <a:prstGeom prst="rect">
            <a:avLst/>
          </a:prstGeom>
          <a:noFill/>
        </p:spPr>
        <p:txBody>
          <a:bodyPr wrap="none" lIns="22939" tIns="22939" rIns="22939" bIns="22939">
            <a:spAutoFit/>
          </a:bodyPr>
          <a:lstStyle/>
          <a:p>
            <a:r>
              <a:rPr sz="4400" b="1" i="0" u="none">
                <a:solidFill>
                  <a:srgbClr val="59451A"/>
                </a:solidFill>
                <a:latin typeface="Georgia"/>
              </a:rPr>
              <a:t>North Case Rhythm</a:t>
            </a:r>
          </a:p>
        </p:txBody>
      </p:sp>
      <p:cxnSp>
        <p:nvCxnSpPr>
          <p:cNvPr id="19" name="Connector 18"/>
          <p:cNvCxnSpPr/>
          <p:nvPr/>
        </p:nvCxnSpPr>
        <p:spPr>
          <a:xfrm>
            <a:off x="1188788" y="3445743"/>
            <a:ext cx="2417866" cy="373323"/>
          </a:xfrm>
          <a:prstGeom prst="curvedConnector3">
            <a:avLst/>
          </a:prstGeom>
          <a:ln w="42529">
            <a:solidFill>
              <a:srgbClr val="B53959"/>
            </a:solidFill>
            <a:prstDash val="dashDot"/>
          </a:ln>
        </p:spPr>
        <p:style>
          <a:lnRef idx="2">
            <a:schemeClr val="accent1"/>
          </a:lnRef>
          <a:fillRef idx="0">
            <a:schemeClr val="accent1"/>
          </a:fillRef>
          <a:effectRef idx="1">
            <a:schemeClr val="accent1"/>
          </a:effectRef>
          <a:fontRef idx="minor">
            <a:schemeClr val="tx1"/>
          </a:fontRef>
        </p:style>
      </p:cxnSp>
      <p:pic>
        <p:nvPicPr>
          <p:cNvPr id="20" name="Picture 19" descr="_example_image.jpg"/>
          <p:cNvPicPr>
            <a:picLocks noChangeAspect="1"/>
          </p:cNvPicPr>
          <p:nvPr/>
        </p:nvPicPr>
        <p:blipFill>
          <a:blip r:embed="rId2"/>
          <a:srcRect l="5809" t="10326" r="2816" b="5384"/>
          <a:stretch>
            <a:fillRect/>
          </a:stretch>
        </p:blipFill>
        <p:spPr>
          <a:xfrm>
            <a:off x="9380988" y="2023016"/>
            <a:ext cx="2420730" cy="808965"/>
          </a:xfrm>
          <a:prstGeom prst="rect">
            <a:avLst/>
          </a:prstGeom>
        </p:spPr>
      </p:pic>
      <p:pic>
        <p:nvPicPr>
          <p:cNvPr id="21" name="Picture 20" descr="_example_image.jpg"/>
          <p:cNvPicPr>
            <a:picLocks noChangeAspect="1"/>
          </p:cNvPicPr>
          <p:nvPr/>
        </p:nvPicPr>
        <p:blipFill>
          <a:blip r:embed="rId2"/>
          <a:srcRect l="13268" t="5053" r="6078" b="9435"/>
          <a:stretch>
            <a:fillRect/>
          </a:stretch>
        </p:blipFill>
        <p:spPr>
          <a:xfrm>
            <a:off x="4606098" y="5582801"/>
            <a:ext cx="1068484" cy="858710"/>
          </a:xfrm>
          <a:prstGeom prst="rect">
            <a:avLst/>
          </a:prstGeom>
        </p:spPr>
      </p:pic>
      <p:graphicFrame>
        <p:nvGraphicFramePr>
          <p:cNvPr id="22" name="Chart 21"/>
          <p:cNvGraphicFramePr>
            <a:graphicFrameLocks noGrp="1"/>
          </p:cNvGraphicFramePr>
          <p:nvPr/>
        </p:nvGraphicFramePr>
        <p:xfrm>
          <a:off x="255409" y="2360081"/>
          <a:ext cx="2709511" cy="1799470"/>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Connector 22"/>
          <p:cNvCxnSpPr/>
          <p:nvPr/>
        </p:nvCxnSpPr>
        <p:spPr>
          <a:xfrm flipV="1">
            <a:off x="8628763" y="140407"/>
            <a:ext cx="3131301" cy="593960"/>
          </a:xfrm>
          <a:prstGeom prst="bentConnector3">
            <a:avLst/>
          </a:prstGeom>
          <a:ln w="10100">
            <a:solidFill>
              <a:srgbClr val="65CCAD"/>
            </a:solidFill>
            <a:prstDash val="lgDash"/>
          </a:ln>
        </p:spPr>
        <p:style>
          <a:lnRef idx="2">
            <a:schemeClr val="accent1"/>
          </a:lnRef>
          <a:fillRef idx="0">
            <a:schemeClr val="accent1"/>
          </a:fillRef>
          <a:effectRef idx="1">
            <a:schemeClr val="accent1"/>
          </a:effectRef>
          <a:fontRef idx="minor">
            <a:schemeClr val="tx1"/>
          </a:fontRef>
        </p:style>
      </p:cxnSp>
      <p:graphicFrame>
        <p:nvGraphicFramePr>
          <p:cNvPr id="24" name="Chart 23"/>
          <p:cNvGraphicFramePr>
            <a:graphicFrameLocks noGrp="1"/>
          </p:cNvGraphicFramePr>
          <p:nvPr/>
        </p:nvGraphicFramePr>
        <p:xfrm>
          <a:off x="3341900" y="2570530"/>
          <a:ext cx="2157102" cy="1663569"/>
        </p:xfrm>
        <a:graphic>
          <a:graphicData uri="http://schemas.openxmlformats.org/drawingml/2006/chart">
            <c:chart xmlns:c="http://schemas.openxmlformats.org/drawingml/2006/chart" xmlns:r="http://schemas.openxmlformats.org/officeDocument/2006/relationships" r:id="rId4"/>
          </a:graphicData>
        </a:graphic>
      </p:graphicFrame>
      <p:sp>
        <p:nvSpPr>
          <p:cNvPr id="25" name="Pie 24"/>
          <p:cNvSpPr/>
          <p:nvPr/>
        </p:nvSpPr>
        <p:spPr>
          <a:xfrm>
            <a:off x="302372" y="5767353"/>
            <a:ext cx="540096" cy="706245"/>
          </a:xfrm>
          <a:prstGeom prst="pie">
            <a:avLst/>
          </a:prstGeom>
          <a:solidFill>
            <a:srgbClr val="D5E5B7"/>
          </a:solidFill>
          <a:ln w="11183">
            <a:solidFill>
              <a:srgbClr val="4A304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Table 25"/>
          <p:cNvGraphicFramePr>
            <a:graphicFrameLocks noGrp="1"/>
          </p:cNvGraphicFramePr>
          <p:nvPr/>
        </p:nvGraphicFramePr>
        <p:xfrm>
          <a:off x="8605557" y="5346330"/>
          <a:ext cx="3399001" cy="1144700"/>
        </p:xfrm>
        <a:graphic>
          <a:graphicData uri="http://schemas.openxmlformats.org/drawingml/2006/table">
            <a:tbl>
              <a:tblPr firstRow="1" bandRow="1">
                <a:tableStyleId>{5C22544A-7EE6-4342-B048-85BDC9FD1C3A}</a:tableStyleId>
              </a:tblPr>
              <a:tblGrid>
                <a:gridCol w="566500">
                  <a:extLst>
                    <a:ext uri="{9D8B030D-6E8A-4147-A177-3AD203B41FA5}">
                      <a16:colId xmlns:a16="http://schemas.microsoft.com/office/drawing/2014/main" val="20000"/>
                    </a:ext>
                  </a:extLst>
                </a:gridCol>
                <a:gridCol w="566500">
                  <a:extLst>
                    <a:ext uri="{9D8B030D-6E8A-4147-A177-3AD203B41FA5}">
                      <a16:colId xmlns:a16="http://schemas.microsoft.com/office/drawing/2014/main" val="20001"/>
                    </a:ext>
                  </a:extLst>
                </a:gridCol>
                <a:gridCol w="566500">
                  <a:extLst>
                    <a:ext uri="{9D8B030D-6E8A-4147-A177-3AD203B41FA5}">
                      <a16:colId xmlns:a16="http://schemas.microsoft.com/office/drawing/2014/main" val="20002"/>
                    </a:ext>
                  </a:extLst>
                </a:gridCol>
                <a:gridCol w="566500">
                  <a:extLst>
                    <a:ext uri="{9D8B030D-6E8A-4147-A177-3AD203B41FA5}">
                      <a16:colId xmlns:a16="http://schemas.microsoft.com/office/drawing/2014/main" val="20003"/>
                    </a:ext>
                  </a:extLst>
                </a:gridCol>
                <a:gridCol w="566500">
                  <a:extLst>
                    <a:ext uri="{9D8B030D-6E8A-4147-A177-3AD203B41FA5}">
                      <a16:colId xmlns:a16="http://schemas.microsoft.com/office/drawing/2014/main" val="20004"/>
                    </a:ext>
                  </a:extLst>
                </a:gridCol>
                <a:gridCol w="566501">
                  <a:extLst>
                    <a:ext uri="{9D8B030D-6E8A-4147-A177-3AD203B41FA5}">
                      <a16:colId xmlns:a16="http://schemas.microsoft.com/office/drawing/2014/main" val="20005"/>
                    </a:ext>
                  </a:extLst>
                </a:gridCol>
              </a:tblGrid>
              <a:tr h="228940">
                <a:tc>
                  <a:txBody>
                    <a:bodyPr/>
                    <a:lstStyle/>
                    <a:p>
                      <a:r>
                        <a:rPr sz="700" b="1">
                          <a:solidFill>
                            <a:srgbClr val="BC253E"/>
                          </a:solidFill>
                        </a:rPr>
                        <a:t>Dashboard Build</a:t>
                      </a:r>
                    </a:p>
                  </a:txBody>
                  <a:tcPr>
                    <a:solidFill>
                      <a:srgbClr val="BC5ECA"/>
                    </a:solidFill>
                  </a:tcPr>
                </a:tc>
                <a:tc>
                  <a:txBody>
                    <a:bodyPr/>
                    <a:lstStyle/>
                    <a:p>
                      <a:r>
                        <a:rPr sz="700" b="1">
                          <a:solidFill>
                            <a:srgbClr val="BC253E"/>
                          </a:solidFill>
                        </a:rPr>
                        <a:t>Phase</a:t>
                      </a:r>
                    </a:p>
                  </a:txBody>
                  <a:tcPr>
                    <a:solidFill>
                      <a:srgbClr val="BC5ECA"/>
                    </a:solidFill>
                  </a:tcPr>
                </a:tc>
                <a:tc>
                  <a:txBody>
                    <a:bodyPr/>
                    <a:lstStyle/>
                    <a:p>
                      <a:r>
                        <a:rPr sz="700" b="1">
                          <a:solidFill>
                            <a:srgbClr val="BC253E"/>
                          </a:solidFill>
                        </a:rPr>
                        <a:t>Template Resource</a:t>
                      </a:r>
                    </a:p>
                  </a:txBody>
                  <a:tcPr>
                    <a:solidFill>
                      <a:srgbClr val="BC5ECA"/>
                    </a:solidFill>
                  </a:tcPr>
                </a:tc>
                <a:tc>
                  <a:txBody>
                    <a:bodyPr/>
                    <a:lstStyle/>
                    <a:p>
                      <a:r>
                        <a:rPr sz="700" b="1">
                          <a:solidFill>
                            <a:srgbClr val="BC253E"/>
                          </a:solidFill>
                        </a:rPr>
                        <a:t>Trend</a:t>
                      </a:r>
                    </a:p>
                  </a:txBody>
                  <a:tcPr>
                    <a:solidFill>
                      <a:srgbClr val="BC5ECA"/>
                    </a:solidFill>
                  </a:tcPr>
                </a:tc>
                <a:tc>
                  <a:txBody>
                    <a:bodyPr/>
                    <a:lstStyle/>
                    <a:p>
                      <a:r>
                        <a:rPr sz="700" b="1">
                          <a:solidFill>
                            <a:srgbClr val="BC253E"/>
                          </a:solidFill>
                        </a:rPr>
                        <a:t>Release Process</a:t>
                      </a:r>
                    </a:p>
                  </a:txBody>
                  <a:tcPr>
                    <a:solidFill>
                      <a:srgbClr val="BC5ECA"/>
                    </a:solidFill>
                  </a:tcPr>
                </a:tc>
                <a:tc>
                  <a:txBody>
                    <a:bodyPr/>
                    <a:lstStyle/>
                    <a:p>
                      <a:r>
                        <a:rPr sz="700" b="1">
                          <a:solidFill>
                            <a:srgbClr val="BC253E"/>
                          </a:solidFill>
                        </a:rPr>
                        <a:t>Rhythm</a:t>
                      </a:r>
                    </a:p>
                  </a:txBody>
                  <a:tcPr>
                    <a:solidFill>
                      <a:srgbClr val="BC5ECA"/>
                    </a:solidFill>
                  </a:tcPr>
                </a:tc>
                <a:extLst>
                  <a:ext uri="{0D108BD9-81ED-4DB2-BD59-A6C34878D82A}">
                    <a16:rowId xmlns:a16="http://schemas.microsoft.com/office/drawing/2014/main" val="10000"/>
                  </a:ext>
                </a:extLst>
              </a:tr>
              <a:tr h="228940">
                <a:tc>
                  <a:txBody>
                    <a:bodyPr/>
                    <a:lstStyle/>
                    <a:p>
                      <a:r>
                        <a:rPr sz="700" b="0">
                          <a:solidFill>
                            <a:srgbClr val="BC253E"/>
                          </a:solidFill>
                        </a:rPr>
                        <a:t>Filter Keyline</a:t>
                      </a:r>
                    </a:p>
                  </a:txBody>
                  <a:tcPr>
                    <a:solidFill>
                      <a:srgbClr val="EBD8E0"/>
                    </a:solidFill>
                  </a:tcPr>
                </a:tc>
                <a:tc>
                  <a:txBody>
                    <a:bodyPr/>
                    <a:lstStyle/>
                    <a:p>
                      <a:r>
                        <a:rPr sz="700" b="0">
                          <a:solidFill>
                            <a:srgbClr val="BC253E"/>
                          </a:solidFill>
                        </a:rPr>
                        <a:t>Result Response</a:t>
                      </a:r>
                    </a:p>
                  </a:txBody>
                  <a:tcPr>
                    <a:solidFill>
                      <a:srgbClr val="EBD8E0"/>
                    </a:solidFill>
                  </a:tcPr>
                </a:tc>
                <a:tc>
                  <a:txBody>
                    <a:bodyPr/>
                    <a:lstStyle/>
                    <a:p>
                      <a:r>
                        <a:rPr sz="700" b="0">
                          <a:solidFill>
                            <a:srgbClr val="BC253E"/>
                          </a:solidFill>
                        </a:rPr>
                        <a:t>Pipeline</a:t>
                      </a:r>
                    </a:p>
                  </a:txBody>
                  <a:tcPr>
                    <a:solidFill>
                      <a:srgbClr val="EBD8E0"/>
                    </a:solidFill>
                  </a:tcPr>
                </a:tc>
                <a:tc>
                  <a:txBody>
                    <a:bodyPr/>
                    <a:lstStyle/>
                    <a:p>
                      <a:r>
                        <a:rPr sz="700" b="0">
                          <a:solidFill>
                            <a:srgbClr val="BC253E"/>
                          </a:solidFill>
                        </a:rPr>
                        <a:t>Feature Proof</a:t>
                      </a:r>
                    </a:p>
                  </a:txBody>
                  <a:tcPr>
                    <a:solidFill>
                      <a:srgbClr val="EBD8E0"/>
                    </a:solidFill>
                  </a:tcPr>
                </a:tc>
                <a:tc>
                  <a:txBody>
                    <a:bodyPr/>
                    <a:lstStyle/>
                    <a:p>
                      <a:r>
                        <a:rPr sz="700" b="0">
                          <a:solidFill>
                            <a:srgbClr val="BC253E"/>
                          </a:solidFill>
                        </a:rPr>
                        <a:t>Velocity Core</a:t>
                      </a:r>
                    </a:p>
                  </a:txBody>
                  <a:tcPr>
                    <a:solidFill>
                      <a:srgbClr val="EBD8E0"/>
                    </a:solidFill>
                  </a:tcPr>
                </a:tc>
                <a:tc>
                  <a:txBody>
                    <a:bodyPr/>
                    <a:lstStyle/>
                    <a:p>
                      <a:r>
                        <a:rPr sz="700" b="0">
                          <a:solidFill>
                            <a:srgbClr val="BC253E"/>
                          </a:solidFill>
                        </a:rPr>
                        <a:t>Clarity</a:t>
                      </a:r>
                    </a:p>
                  </a:txBody>
                  <a:tcPr>
                    <a:solidFill>
                      <a:srgbClr val="EBD8E0"/>
                    </a:solidFill>
                  </a:tcPr>
                </a:tc>
                <a:extLst>
                  <a:ext uri="{0D108BD9-81ED-4DB2-BD59-A6C34878D82A}">
                    <a16:rowId xmlns:a16="http://schemas.microsoft.com/office/drawing/2014/main" val="10001"/>
                  </a:ext>
                </a:extLst>
              </a:tr>
              <a:tr h="228940">
                <a:tc>
                  <a:txBody>
                    <a:bodyPr/>
                    <a:lstStyle/>
                    <a:p>
                      <a:r>
                        <a:rPr sz="700" b="0">
                          <a:solidFill>
                            <a:srgbClr val="BC253E"/>
                          </a:solidFill>
                        </a:rPr>
                        <a:t>Loop Cadence</a:t>
                      </a:r>
                    </a:p>
                  </a:txBody>
                  <a:tcPr>
                    <a:solidFill>
                      <a:srgbClr val="EBD8E0"/>
                    </a:solidFill>
                  </a:tcPr>
                </a:tc>
                <a:tc>
                  <a:txBody>
                    <a:bodyPr/>
                    <a:lstStyle/>
                    <a:p>
                      <a:r>
                        <a:rPr sz="700" b="0">
                          <a:solidFill>
                            <a:srgbClr val="BC253E"/>
                          </a:solidFill>
                        </a:rPr>
                        <a:t>Density Switch</a:t>
                      </a:r>
                    </a:p>
                  </a:txBody>
                  <a:tcPr>
                    <a:solidFill>
                      <a:srgbClr val="EBD8E0"/>
                    </a:solidFill>
                  </a:tcPr>
                </a:tc>
                <a:tc>
                  <a:txBody>
                    <a:bodyPr/>
                    <a:lstStyle/>
                    <a:p>
                      <a:r>
                        <a:rPr sz="700" b="0">
                          <a:solidFill>
                            <a:srgbClr val="BC253E"/>
                          </a:solidFill>
                        </a:rPr>
                        <a:t>Inventory View</a:t>
                      </a:r>
                    </a:p>
                  </a:txBody>
                  <a:tcPr>
                    <a:solidFill>
                      <a:srgbClr val="EBD8E0"/>
                    </a:solidFill>
                  </a:tcPr>
                </a:tc>
                <a:tc>
                  <a:txBody>
                    <a:bodyPr/>
                    <a:lstStyle/>
                    <a:p>
                      <a:r>
                        <a:rPr sz="700" b="0">
                          <a:solidFill>
                            <a:srgbClr val="BC253E"/>
                          </a:solidFill>
                        </a:rPr>
                        <a:t>Velocity</a:t>
                      </a:r>
                    </a:p>
                  </a:txBody>
                  <a:tcPr>
                    <a:solidFill>
                      <a:srgbClr val="EBD8E0"/>
                    </a:solidFill>
                  </a:tcPr>
                </a:tc>
                <a:tc>
                  <a:txBody>
                    <a:bodyPr/>
                    <a:lstStyle/>
                    <a:p>
                      <a:r>
                        <a:rPr sz="700" b="0">
                          <a:solidFill>
                            <a:srgbClr val="BC253E"/>
                          </a:solidFill>
                        </a:rPr>
                        <a:t>Layer</a:t>
                      </a:r>
                    </a:p>
                  </a:txBody>
                  <a:tcPr>
                    <a:solidFill>
                      <a:srgbClr val="EBD8E0"/>
                    </a:solidFill>
                  </a:tcPr>
                </a:tc>
                <a:tc>
                  <a:txBody>
                    <a:bodyPr/>
                    <a:lstStyle/>
                    <a:p>
                      <a:r>
                        <a:rPr sz="700" b="0">
                          <a:solidFill>
                            <a:srgbClr val="BC253E"/>
                          </a:solidFill>
                        </a:rPr>
                        <a:t>Tile</a:t>
                      </a:r>
                    </a:p>
                  </a:txBody>
                  <a:tcPr>
                    <a:solidFill>
                      <a:srgbClr val="EBD8E0"/>
                    </a:solidFill>
                  </a:tcPr>
                </a:tc>
                <a:extLst>
                  <a:ext uri="{0D108BD9-81ED-4DB2-BD59-A6C34878D82A}">
                    <a16:rowId xmlns:a16="http://schemas.microsoft.com/office/drawing/2014/main" val="10002"/>
                  </a:ext>
                </a:extLst>
              </a:tr>
              <a:tr h="228940">
                <a:tc>
                  <a:txBody>
                    <a:bodyPr/>
                    <a:lstStyle/>
                    <a:p>
                      <a:r>
                        <a:rPr sz="700" b="0">
                          <a:solidFill>
                            <a:srgbClr val="BC253E"/>
                          </a:solidFill>
                        </a:rPr>
                        <a:t>Density</a:t>
                      </a:r>
                    </a:p>
                  </a:txBody>
                  <a:tcPr>
                    <a:solidFill>
                      <a:srgbClr val="EBD8E0"/>
                    </a:solidFill>
                  </a:tcPr>
                </a:tc>
                <a:tc>
                  <a:txBody>
                    <a:bodyPr/>
                    <a:lstStyle/>
                    <a:p>
                      <a:r>
                        <a:rPr sz="700" b="0">
                          <a:solidFill>
                            <a:srgbClr val="BC253E"/>
                          </a:solidFill>
                        </a:rPr>
                        <a:t>Scale Model</a:t>
                      </a:r>
                    </a:p>
                  </a:txBody>
                  <a:tcPr>
                    <a:solidFill>
                      <a:srgbClr val="EBD8E0"/>
                    </a:solidFill>
                  </a:tcPr>
                </a:tc>
                <a:tc>
                  <a:txBody>
                    <a:bodyPr/>
                    <a:lstStyle/>
                    <a:p>
                      <a:r>
                        <a:rPr sz="700" b="0">
                          <a:solidFill>
                            <a:srgbClr val="BC253E"/>
                          </a:solidFill>
                        </a:rPr>
                        <a:t>Memory Table</a:t>
                      </a:r>
                    </a:p>
                  </a:txBody>
                  <a:tcPr>
                    <a:solidFill>
                      <a:srgbClr val="EBD8E0"/>
                    </a:solidFill>
                  </a:tcPr>
                </a:tc>
                <a:tc>
                  <a:txBody>
                    <a:bodyPr/>
                    <a:lstStyle/>
                    <a:p>
                      <a:r>
                        <a:rPr sz="700" b="0">
                          <a:solidFill>
                            <a:srgbClr val="BC253E"/>
                          </a:solidFill>
                        </a:rPr>
                        <a:t>Segment</a:t>
                      </a:r>
                    </a:p>
                  </a:txBody>
                  <a:tcPr>
                    <a:solidFill>
                      <a:srgbClr val="EBD8E0"/>
                    </a:solidFill>
                  </a:tcPr>
                </a:tc>
                <a:tc>
                  <a:txBody>
                    <a:bodyPr/>
                    <a:lstStyle/>
                    <a:p>
                      <a:r>
                        <a:rPr sz="700" b="0">
                          <a:solidFill>
                            <a:srgbClr val="BC253E"/>
                          </a:solidFill>
                        </a:rPr>
                        <a:t>Workflow Graph</a:t>
                      </a:r>
                    </a:p>
                  </a:txBody>
                  <a:tcPr>
                    <a:solidFill>
                      <a:srgbClr val="EBD8E0"/>
                    </a:solidFill>
                  </a:tcPr>
                </a:tc>
                <a:tc>
                  <a:txBody>
                    <a:bodyPr/>
                    <a:lstStyle/>
                    <a:p>
                      <a:r>
                        <a:rPr sz="700" b="0">
                          <a:solidFill>
                            <a:srgbClr val="BC253E"/>
                          </a:solidFill>
                        </a:rPr>
                        <a:t>Region</a:t>
                      </a:r>
                    </a:p>
                  </a:txBody>
                  <a:tcPr>
                    <a:solidFill>
                      <a:srgbClr val="EBD8E0"/>
                    </a:solidFill>
                  </a:tcPr>
                </a:tc>
                <a:extLst>
                  <a:ext uri="{0D108BD9-81ED-4DB2-BD59-A6C34878D82A}">
                    <a16:rowId xmlns:a16="http://schemas.microsoft.com/office/drawing/2014/main" val="10003"/>
                  </a:ext>
                </a:extLst>
              </a:tr>
              <a:tr h="228940">
                <a:tc>
                  <a:txBody>
                    <a:bodyPr/>
                    <a:lstStyle/>
                    <a:p>
                      <a:r>
                        <a:rPr sz="700" b="0">
                          <a:solidFill>
                            <a:srgbClr val="BC253E"/>
                          </a:solidFill>
                        </a:rPr>
                        <a:t>Queueing Alpha</a:t>
                      </a:r>
                    </a:p>
                  </a:txBody>
                  <a:tcPr>
                    <a:solidFill>
                      <a:srgbClr val="EBD8E0"/>
                    </a:solidFill>
                  </a:tcPr>
                </a:tc>
                <a:tc>
                  <a:txBody>
                    <a:bodyPr/>
                    <a:lstStyle/>
                    <a:p>
                      <a:r>
                        <a:rPr sz="700" b="0">
                          <a:solidFill>
                            <a:srgbClr val="BC253E"/>
                          </a:solidFill>
                        </a:rPr>
                        <a:t>Chart</a:t>
                      </a:r>
                    </a:p>
                  </a:txBody>
                  <a:tcPr>
                    <a:solidFill>
                      <a:srgbClr val="EBD8E0"/>
                    </a:solidFill>
                  </a:tcPr>
                </a:tc>
                <a:tc>
                  <a:txBody>
                    <a:bodyPr/>
                    <a:lstStyle/>
                    <a:p>
                      <a:r>
                        <a:rPr sz="700" b="0">
                          <a:solidFill>
                            <a:srgbClr val="BC253E"/>
                          </a:solidFill>
                        </a:rPr>
                        <a:t>Origin Queue</a:t>
                      </a:r>
                    </a:p>
                  </a:txBody>
                  <a:tcPr>
                    <a:solidFill>
                      <a:srgbClr val="EBD8E0"/>
                    </a:solidFill>
                  </a:tcPr>
                </a:tc>
                <a:tc>
                  <a:txBody>
                    <a:bodyPr/>
                    <a:lstStyle/>
                    <a:p>
                      <a:r>
                        <a:rPr sz="700" b="0">
                          <a:solidFill>
                            <a:srgbClr val="BC253E"/>
                          </a:solidFill>
                        </a:rPr>
                        <a:t>Waypoint</a:t>
                      </a:r>
                    </a:p>
                  </a:txBody>
                  <a:tcPr>
                    <a:solidFill>
                      <a:srgbClr val="EBD8E0"/>
                    </a:solidFill>
                  </a:tcPr>
                </a:tc>
                <a:tc>
                  <a:txBody>
                    <a:bodyPr/>
                    <a:lstStyle/>
                    <a:p>
                      <a:r>
                        <a:rPr sz="700" b="0">
                          <a:solidFill>
                            <a:srgbClr val="BC253E"/>
                          </a:solidFill>
                        </a:rPr>
                        <a:t>Diagram Event</a:t>
                      </a:r>
                    </a:p>
                  </a:txBody>
                  <a:tcPr>
                    <a:solidFill>
                      <a:srgbClr val="EBD8E0"/>
                    </a:solidFill>
                  </a:tcPr>
                </a:tc>
                <a:tc>
                  <a:txBody>
                    <a:bodyPr/>
                    <a:lstStyle/>
                    <a:p>
                      <a:r>
                        <a:rPr sz="700" b="0">
                          <a:solidFill>
                            <a:srgbClr val="BC253E"/>
                          </a:solidFill>
                        </a:rPr>
                        <a:t>Deck Anchor</a:t>
                      </a:r>
                    </a:p>
                  </a:txBody>
                  <a:tcPr>
                    <a:solidFill>
                      <a:srgbClr val="EBD8E0"/>
                    </a:solidFill>
                  </a:tcPr>
                </a:tc>
                <a:extLst>
                  <a:ext uri="{0D108BD9-81ED-4DB2-BD59-A6C34878D82A}">
                    <a16:rowId xmlns:a16="http://schemas.microsoft.com/office/drawing/2014/main" val="10004"/>
                  </a:ext>
                </a:extLst>
              </a:tr>
            </a:tbl>
          </a:graphicData>
        </a:graphic>
      </p:graphicFrame>
      <p:pic>
        <p:nvPicPr>
          <p:cNvPr id="28" name="Graphic 27">
            <a:extLst>
              <a:ext uri="{FF2B5EF4-FFF2-40B4-BE49-F238E27FC236}">
                <a16:creationId xmlns:a16="http://schemas.microsoft.com/office/drawing/2014/main" id="{0B4DAF7F-5090-2FCD-A7F5-529EFDAF0F3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575714" y="651901"/>
            <a:ext cx="1601270" cy="862332"/>
          </a:xfrm>
          <a:prstGeom prst="rect">
            <a:avLst/>
          </a:prstGeom>
        </p:spPr>
      </p:pic>
      <p:pic>
        <p:nvPicPr>
          <p:cNvPr id="30" name="Graphic 29">
            <a:extLst>
              <a:ext uri="{FF2B5EF4-FFF2-40B4-BE49-F238E27FC236}">
                <a16:creationId xmlns:a16="http://schemas.microsoft.com/office/drawing/2014/main" id="{C9B96D11-D7FB-4328-BB0C-943CCBD74597}"/>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96070" y="4176466"/>
            <a:ext cx="1140890" cy="96376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losion 1"/>
          <p:cNvSpPr/>
          <p:nvPr/>
        </p:nvSpPr>
        <p:spPr>
          <a:xfrm>
            <a:off x="10489005" y="3459028"/>
            <a:ext cx="721009" cy="1029333"/>
          </a:xfrm>
          <a:prstGeom prst="irregularSeal1">
            <a:avLst/>
          </a:prstGeom>
          <a:solidFill>
            <a:srgbClr val="96A53A"/>
          </a:solidFill>
          <a:ln w="16136">
            <a:solidFill>
              <a:srgbClr val="268BD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Freeform 2"/>
          <p:cNvSpPr/>
          <p:nvPr/>
        </p:nvSpPr>
        <p:spPr>
          <a:xfrm>
            <a:off x="3436768" y="1839948"/>
            <a:ext cx="1098319" cy="831595"/>
          </a:xfrm>
          <a:custGeom>
            <a:avLst/>
            <a:gdLst/>
            <a:ahLst/>
            <a:cxnLst/>
            <a:rect l="l" t="t" r="r" b="b"/>
            <a:pathLst>
              <a:path w="1098319" h="831595">
                <a:moveTo>
                  <a:pt x="118099" y="141548"/>
                </a:moveTo>
                <a:lnTo>
                  <a:pt x="389726" y="0"/>
                </a:lnTo>
                <a:lnTo>
                  <a:pt x="803072" y="70774"/>
                </a:lnTo>
                <a:lnTo>
                  <a:pt x="1098319" y="336177"/>
                </a:lnTo>
                <a:lnTo>
                  <a:pt x="944791" y="690047"/>
                </a:lnTo>
                <a:lnTo>
                  <a:pt x="507825" y="831595"/>
                </a:lnTo>
                <a:lnTo>
                  <a:pt x="70859" y="601580"/>
                </a:lnTo>
                <a:lnTo>
                  <a:pt x="0" y="300790"/>
                </a:lnTo>
                <a:close/>
              </a:path>
            </a:pathLst>
          </a:custGeom>
          <a:solidFill>
            <a:srgbClr val="C9A552"/>
          </a:solidFill>
          <a:ln w="21728">
            <a:solidFill>
              <a:srgbClr val="985CA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6276957" y="5239976"/>
            <a:ext cx="960580" cy="1125126"/>
          </a:xfrm>
          <a:custGeom>
            <a:avLst/>
            <a:gdLst/>
            <a:ahLst/>
            <a:cxnLst/>
            <a:rect l="l" t="t" r="r" b="b"/>
            <a:pathLst>
              <a:path w="960580" h="1125126">
                <a:moveTo>
                  <a:pt x="0" y="546936"/>
                </a:moveTo>
                <a:lnTo>
                  <a:pt x="165261" y="0"/>
                </a:lnTo>
                <a:lnTo>
                  <a:pt x="340851" y="468802"/>
                </a:lnTo>
                <a:lnTo>
                  <a:pt x="516441" y="937605"/>
                </a:lnTo>
                <a:lnTo>
                  <a:pt x="702360" y="390669"/>
                </a:lnTo>
                <a:lnTo>
                  <a:pt x="960580" y="593816"/>
                </a:lnTo>
                <a:lnTo>
                  <a:pt x="960580" y="1125126"/>
                </a:lnTo>
                <a:lnTo>
                  <a:pt x="0" y="1125126"/>
                </a:lnTo>
                <a:close/>
              </a:path>
            </a:pathLst>
          </a:custGeom>
          <a:solidFill>
            <a:srgbClr val="C5CE50"/>
          </a:solidFill>
          <a:ln w="31600">
            <a:solidFill>
              <a:srgbClr val="B76D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ctagon 4"/>
          <p:cNvSpPr/>
          <p:nvPr/>
        </p:nvSpPr>
        <p:spPr>
          <a:xfrm>
            <a:off x="2938426" y="2581327"/>
            <a:ext cx="1984793" cy="1293601"/>
          </a:xfrm>
          <a:prstGeom prst="octagon">
            <a:avLst/>
          </a:prstGeom>
          <a:solidFill>
            <a:srgbClr val="544C42"/>
          </a:solidFill>
          <a:ln w="23763">
            <a:solidFill>
              <a:srgbClr val="1A517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63944" y="785449"/>
            <a:ext cx="2486957" cy="2309980"/>
          </a:xfrm>
          <a:prstGeom prst="rect">
            <a:avLst/>
          </a:prstGeom>
          <a:noFill/>
        </p:spPr>
        <p:txBody>
          <a:bodyPr wrap="none" lIns="45805" tIns="45805" rIns="45805" bIns="45805">
            <a:spAutoFit/>
          </a:bodyPr>
          <a:lstStyle/>
          <a:p>
            <a:r>
              <a:rPr sz="800" b="1" i="0" u="sng">
                <a:solidFill>
                  <a:srgbClr val="872C41"/>
                </a:solidFill>
                <a:latin typeface="Trebuchet MS"/>
              </a:rPr>
              <a:t>Waypoint Anchor Indicator</a:t>
            </a:r>
          </a:p>
        </p:txBody>
      </p:sp>
      <p:cxnSp>
        <p:nvCxnSpPr>
          <p:cNvPr id="7" name="Connector 6"/>
          <p:cNvCxnSpPr/>
          <p:nvPr/>
        </p:nvCxnSpPr>
        <p:spPr>
          <a:xfrm>
            <a:off x="4404033" y="139984"/>
            <a:ext cx="2406523" cy="594218"/>
          </a:xfrm>
          <a:prstGeom prst="bentConnector3">
            <a:avLst/>
          </a:prstGeom>
          <a:ln w="6902">
            <a:solidFill>
              <a:srgbClr val="6496E3"/>
            </a:solidFill>
            <a:prstDash val="dot"/>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48142" y="602006"/>
            <a:ext cx="1240871" cy="805512"/>
          </a:xfrm>
          <a:prstGeom prst="rect">
            <a:avLst/>
          </a:prstGeom>
          <a:noFill/>
        </p:spPr>
        <p:txBody>
          <a:bodyPr wrap="none" lIns="46398" tIns="46398" rIns="46398" bIns="46398">
            <a:spAutoFit/>
          </a:bodyPr>
          <a:lstStyle/>
          <a:p>
            <a:r>
              <a:rPr sz="800" b="0" i="0" u="none">
                <a:solidFill>
                  <a:srgbClr val="767BBB"/>
                </a:solidFill>
                <a:latin typeface="Calibri"/>
              </a:rPr>
              <a:t>Dashboard Drift Milestone</a:t>
            </a:r>
          </a:p>
        </p:txBody>
      </p:sp>
      <p:sp>
        <p:nvSpPr>
          <p:cNvPr id="9" name="TextBox 8"/>
          <p:cNvSpPr txBox="1"/>
          <p:nvPr/>
        </p:nvSpPr>
        <p:spPr>
          <a:xfrm>
            <a:off x="8721447" y="2711430"/>
            <a:ext cx="571255" cy="1915155"/>
          </a:xfrm>
          <a:prstGeom prst="rect">
            <a:avLst/>
          </a:prstGeom>
          <a:noFill/>
        </p:spPr>
        <p:txBody>
          <a:bodyPr wrap="none" lIns="61627" tIns="61627" rIns="61627" bIns="61627">
            <a:spAutoFit/>
          </a:bodyPr>
          <a:lstStyle/>
          <a:p>
            <a:r>
              <a:rPr sz="5400" b="1" i="0" u="none">
                <a:solidFill>
                  <a:srgbClr val="CFB6C2"/>
                </a:solidFill>
                <a:latin typeface="Verdana"/>
              </a:rPr>
              <a:t>Column Cluster Epoch Duration Stack Spectrum</a:t>
            </a:r>
          </a:p>
        </p:txBody>
      </p:sp>
      <p:pic>
        <p:nvPicPr>
          <p:cNvPr id="10" name="Picture 9" descr="_example_image.jpg"/>
          <p:cNvPicPr>
            <a:picLocks noChangeAspect="1"/>
          </p:cNvPicPr>
          <p:nvPr/>
        </p:nvPicPr>
        <p:blipFill>
          <a:blip r:embed="rId2"/>
          <a:srcRect/>
          <a:stretch>
            <a:fillRect/>
          </a:stretch>
        </p:blipFill>
        <p:spPr>
          <a:xfrm>
            <a:off x="4650792" y="4804547"/>
            <a:ext cx="1134921" cy="1682729"/>
          </a:xfrm>
          <a:prstGeom prst="rect">
            <a:avLst/>
          </a:prstGeom>
        </p:spPr>
      </p:pic>
      <p:sp>
        <p:nvSpPr>
          <p:cNvPr id="11" name="TextBox 10"/>
          <p:cNvSpPr txBox="1"/>
          <p:nvPr/>
        </p:nvSpPr>
        <p:spPr>
          <a:xfrm>
            <a:off x="3297100" y="4677853"/>
            <a:ext cx="926539" cy="989709"/>
          </a:xfrm>
          <a:prstGeom prst="rect">
            <a:avLst/>
          </a:prstGeom>
          <a:noFill/>
        </p:spPr>
        <p:txBody>
          <a:bodyPr wrap="none" lIns="25042" tIns="25042" rIns="25042" bIns="25042">
            <a:spAutoFit/>
          </a:bodyPr>
          <a:lstStyle/>
          <a:p>
            <a:r>
              <a:rPr sz="900" b="0" i="0" u="none">
                <a:solidFill>
                  <a:srgbClr val="544958"/>
                </a:solidFill>
                <a:latin typeface="Verdana"/>
              </a:rPr>
              <a:t>Filter</a:t>
            </a:r>
          </a:p>
        </p:txBody>
      </p:sp>
      <p:sp>
        <p:nvSpPr>
          <p:cNvPr id="12" name="Delay 11"/>
          <p:cNvSpPr/>
          <p:nvPr/>
        </p:nvSpPr>
        <p:spPr>
          <a:xfrm>
            <a:off x="8847585" y="1880348"/>
            <a:ext cx="523353" cy="741592"/>
          </a:xfrm>
          <a:prstGeom prst="flowChartDelay">
            <a:avLst/>
          </a:prstGeom>
          <a:solidFill>
            <a:srgbClr val="C2CC5E"/>
          </a:solidFill>
          <a:ln w="24756">
            <a:solidFill>
              <a:srgbClr val="B735D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Chart 12"/>
          <p:cNvGraphicFramePr>
            <a:graphicFrameLocks noGrp="1"/>
          </p:cNvGraphicFramePr>
          <p:nvPr/>
        </p:nvGraphicFramePr>
        <p:xfrm>
          <a:off x="1024511" y="3290982"/>
          <a:ext cx="2769885" cy="1670314"/>
        </p:xfrm>
        <a:graphic>
          <a:graphicData uri="http://schemas.openxmlformats.org/drawingml/2006/chart">
            <c:chart xmlns:c="http://schemas.openxmlformats.org/drawingml/2006/chart" xmlns:r="http://schemas.openxmlformats.org/officeDocument/2006/relationships" r:id="rId3"/>
          </a:graphicData>
        </a:graphic>
      </p:graphicFrame>
      <p:sp>
        <p:nvSpPr>
          <p:cNvPr id="14" name="Can 13"/>
          <p:cNvSpPr/>
          <p:nvPr/>
        </p:nvSpPr>
        <p:spPr>
          <a:xfrm>
            <a:off x="7873560" y="5374383"/>
            <a:ext cx="2733505" cy="1151130"/>
          </a:xfrm>
          <a:prstGeom prst="can">
            <a:avLst/>
          </a:prstGeom>
          <a:solidFill>
            <a:srgbClr val="795065"/>
          </a:solidFill>
          <a:ln w="10557">
            <a:solidFill>
              <a:srgbClr val="C672A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2262" y="1502601"/>
            <a:ext cx="798426" cy="1701648"/>
          </a:xfrm>
          <a:prstGeom prst="rect">
            <a:avLst/>
          </a:prstGeom>
          <a:solidFill>
            <a:srgbClr val="DE5B4A"/>
          </a:solidFill>
        </p:spPr>
        <p:txBody>
          <a:bodyPr wrap="none" lIns="20104" tIns="20104" rIns="20104" bIns="20104">
            <a:spAutoFit/>
          </a:bodyPr>
          <a:lstStyle/>
          <a:p>
            <a:r>
              <a:rPr sz="1300" b="1" i="0" u="none">
                <a:solidFill>
                  <a:srgbClr val="6C369C"/>
                </a:solidFill>
                <a:latin typeface="Georgia"/>
              </a:rPr>
              <a:t>Lineage Craft Density Buffer Coverage Reference Duration View Domain Result Switch Build Sample Engine Version Narrative Signal Archive Precision Stream Device Story Capacity Engine Goal Motion Order Plan Heading Packet Direction Station Intent Interface Duration Context Dashboard Engine Feature Core</a:t>
            </a:r>
          </a:p>
        </p:txBody>
      </p:sp>
      <p:graphicFrame>
        <p:nvGraphicFramePr>
          <p:cNvPr id="16" name="Chart 15"/>
          <p:cNvGraphicFramePr>
            <a:graphicFrameLocks noGrp="1"/>
          </p:cNvGraphicFramePr>
          <p:nvPr/>
        </p:nvGraphicFramePr>
        <p:xfrm>
          <a:off x="8385566" y="3325228"/>
          <a:ext cx="2423044" cy="1775756"/>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424312" y="4355789"/>
            <a:ext cx="1093262" cy="1450560"/>
          </a:xfrm>
          <a:prstGeom prst="rect">
            <a:avLst/>
          </a:prstGeom>
          <a:noFill/>
        </p:spPr>
        <p:txBody>
          <a:bodyPr wrap="none" lIns="65910" tIns="65910" rIns="65910" bIns="65910">
            <a:spAutoFit/>
          </a:bodyPr>
          <a:lstStyle/>
          <a:p>
            <a:r>
              <a:rPr sz="1200" b="0" i="0" u="none">
                <a:solidFill>
                  <a:srgbClr val="8C46A1"/>
                </a:solidFill>
                <a:latin typeface="Georgia"/>
              </a:rPr>
              <a:t>Balance Route Briefing Model Frame Duration Range Handle Orbit Design Access Position Goal Proof Channel Hub Metric Waypoint Group Spectrum Narrative Context Archive Bundle Packet Forecast Terminal Alignment Table Concept Response Focus Payload Packet Baseline Pulse Explorer Frequency</a:t>
            </a:r>
          </a:p>
        </p:txBody>
      </p:sp>
      <p:cxnSp>
        <p:nvCxnSpPr>
          <p:cNvPr id="18" name="Connector 17"/>
          <p:cNvCxnSpPr/>
          <p:nvPr/>
        </p:nvCxnSpPr>
        <p:spPr>
          <a:xfrm>
            <a:off x="9192575" y="905635"/>
            <a:ext cx="1191651" cy="957303"/>
          </a:xfrm>
          <a:prstGeom prst="curvedConnector3">
            <a:avLst/>
          </a:prstGeom>
          <a:ln w="44326">
            <a:solidFill>
              <a:srgbClr val="A7637E"/>
            </a:solidFill>
            <a:prstDash val="dot"/>
          </a:ln>
        </p:spPr>
        <p:style>
          <a:lnRef idx="2">
            <a:schemeClr val="accent1"/>
          </a:lnRef>
          <a:fillRef idx="0">
            <a:schemeClr val="accent1"/>
          </a:fillRef>
          <a:effectRef idx="1">
            <a:schemeClr val="accent1"/>
          </a:effectRef>
          <a:fontRef idx="minor">
            <a:schemeClr val="tx1"/>
          </a:fontRef>
        </p:style>
      </p:cxnSp>
      <p:sp>
        <p:nvSpPr>
          <p:cNvPr id="19" name="Quad Arrow 18"/>
          <p:cNvSpPr/>
          <p:nvPr/>
        </p:nvSpPr>
        <p:spPr>
          <a:xfrm>
            <a:off x="9741231" y="1964848"/>
            <a:ext cx="795174" cy="628138"/>
          </a:xfrm>
          <a:prstGeom prst="quadArrow">
            <a:avLst/>
          </a:prstGeom>
          <a:solidFill>
            <a:srgbClr val="724725"/>
          </a:solidFill>
          <a:ln w="21798">
            <a:solidFill>
              <a:srgbClr val="6BADC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Table 19"/>
          <p:cNvGraphicFramePr>
            <a:graphicFrameLocks noGrp="1"/>
          </p:cNvGraphicFramePr>
          <p:nvPr/>
        </p:nvGraphicFramePr>
        <p:xfrm>
          <a:off x="6505386" y="3116246"/>
          <a:ext cx="2191391" cy="2435834"/>
        </p:xfrm>
        <a:graphic>
          <a:graphicData uri="http://schemas.openxmlformats.org/drawingml/2006/table">
            <a:tbl>
              <a:tblPr firstRow="1" bandRow="1">
                <a:tableStyleId>{5C22544A-7EE6-4342-B048-85BDC9FD1C3A}</a:tableStyleId>
              </a:tblPr>
              <a:tblGrid>
                <a:gridCol w="365231">
                  <a:extLst>
                    <a:ext uri="{9D8B030D-6E8A-4147-A177-3AD203B41FA5}">
                      <a16:colId xmlns:a16="http://schemas.microsoft.com/office/drawing/2014/main" val="20000"/>
                    </a:ext>
                  </a:extLst>
                </a:gridCol>
                <a:gridCol w="365231">
                  <a:extLst>
                    <a:ext uri="{9D8B030D-6E8A-4147-A177-3AD203B41FA5}">
                      <a16:colId xmlns:a16="http://schemas.microsoft.com/office/drawing/2014/main" val="20001"/>
                    </a:ext>
                  </a:extLst>
                </a:gridCol>
                <a:gridCol w="365231">
                  <a:extLst>
                    <a:ext uri="{9D8B030D-6E8A-4147-A177-3AD203B41FA5}">
                      <a16:colId xmlns:a16="http://schemas.microsoft.com/office/drawing/2014/main" val="20002"/>
                    </a:ext>
                  </a:extLst>
                </a:gridCol>
                <a:gridCol w="365231">
                  <a:extLst>
                    <a:ext uri="{9D8B030D-6E8A-4147-A177-3AD203B41FA5}">
                      <a16:colId xmlns:a16="http://schemas.microsoft.com/office/drawing/2014/main" val="20003"/>
                    </a:ext>
                  </a:extLst>
                </a:gridCol>
                <a:gridCol w="365231">
                  <a:extLst>
                    <a:ext uri="{9D8B030D-6E8A-4147-A177-3AD203B41FA5}">
                      <a16:colId xmlns:a16="http://schemas.microsoft.com/office/drawing/2014/main" val="20004"/>
                    </a:ext>
                  </a:extLst>
                </a:gridCol>
                <a:gridCol w="365236">
                  <a:extLst>
                    <a:ext uri="{9D8B030D-6E8A-4147-A177-3AD203B41FA5}">
                      <a16:colId xmlns:a16="http://schemas.microsoft.com/office/drawing/2014/main" val="20005"/>
                    </a:ext>
                  </a:extLst>
                </a:gridCol>
              </a:tblGrid>
              <a:tr h="405972">
                <a:tc>
                  <a:txBody>
                    <a:bodyPr/>
                    <a:lstStyle/>
                    <a:p>
                      <a:r>
                        <a:rPr sz="600" b="1">
                          <a:solidFill>
                            <a:srgbClr val="A75156"/>
                          </a:solidFill>
                        </a:rPr>
                        <a:t>Checkpoint Canvas</a:t>
                      </a:r>
                    </a:p>
                  </a:txBody>
                  <a:tcPr>
                    <a:solidFill>
                      <a:srgbClr val="27B77C"/>
                    </a:solidFill>
                  </a:tcPr>
                </a:tc>
                <a:tc>
                  <a:txBody>
                    <a:bodyPr/>
                    <a:lstStyle/>
                    <a:p>
                      <a:r>
                        <a:rPr sz="600" b="1">
                          <a:solidFill>
                            <a:srgbClr val="A75156"/>
                          </a:solidFill>
                        </a:rPr>
                        <a:t>Reference Sequence</a:t>
                      </a:r>
                    </a:p>
                  </a:txBody>
                  <a:tcPr>
                    <a:solidFill>
                      <a:srgbClr val="27B77C"/>
                    </a:solidFill>
                  </a:tcPr>
                </a:tc>
                <a:tc>
                  <a:txBody>
                    <a:bodyPr/>
                    <a:lstStyle/>
                    <a:p>
                      <a:r>
                        <a:rPr sz="600" b="1">
                          <a:solidFill>
                            <a:srgbClr val="A75156"/>
                          </a:solidFill>
                        </a:rPr>
                        <a:t>Velocity</a:t>
                      </a:r>
                    </a:p>
                  </a:txBody>
                  <a:tcPr>
                    <a:solidFill>
                      <a:srgbClr val="27B77C"/>
                    </a:solidFill>
                  </a:tcPr>
                </a:tc>
                <a:tc>
                  <a:txBody>
                    <a:bodyPr/>
                    <a:lstStyle/>
                    <a:p>
                      <a:r>
                        <a:rPr sz="600" b="1">
                          <a:solidFill>
                            <a:srgbClr val="A75156"/>
                          </a:solidFill>
                        </a:rPr>
                        <a:t>Query Milestone</a:t>
                      </a:r>
                    </a:p>
                  </a:txBody>
                  <a:tcPr>
                    <a:solidFill>
                      <a:srgbClr val="27B77C"/>
                    </a:solidFill>
                  </a:tcPr>
                </a:tc>
                <a:tc>
                  <a:txBody>
                    <a:bodyPr/>
                    <a:lstStyle/>
                    <a:p>
                      <a:r>
                        <a:rPr sz="600" b="1">
                          <a:solidFill>
                            <a:srgbClr val="A75156"/>
                          </a:solidFill>
                        </a:rPr>
                        <a:t>Map Timeline</a:t>
                      </a:r>
                    </a:p>
                  </a:txBody>
                  <a:tcPr>
                    <a:solidFill>
                      <a:srgbClr val="27B77C"/>
                    </a:solidFill>
                  </a:tcPr>
                </a:tc>
                <a:tc>
                  <a:txBody>
                    <a:bodyPr/>
                    <a:lstStyle/>
                    <a:p>
                      <a:r>
                        <a:rPr sz="600" b="1">
                          <a:solidFill>
                            <a:srgbClr val="A75156"/>
                          </a:solidFill>
                        </a:rPr>
                        <a:t>Sync</a:t>
                      </a:r>
                    </a:p>
                  </a:txBody>
                  <a:tcPr>
                    <a:solidFill>
                      <a:srgbClr val="27B77C"/>
                    </a:solidFill>
                  </a:tcPr>
                </a:tc>
                <a:extLst>
                  <a:ext uri="{0D108BD9-81ED-4DB2-BD59-A6C34878D82A}">
                    <a16:rowId xmlns:a16="http://schemas.microsoft.com/office/drawing/2014/main" val="10000"/>
                  </a:ext>
                </a:extLst>
              </a:tr>
              <a:tr h="405972">
                <a:tc>
                  <a:txBody>
                    <a:bodyPr/>
                    <a:lstStyle/>
                    <a:p>
                      <a:r>
                        <a:rPr sz="600" b="0">
                          <a:solidFill>
                            <a:srgbClr val="A75156"/>
                          </a:solidFill>
                        </a:rPr>
                        <a:t>Catalog</a:t>
                      </a:r>
                    </a:p>
                  </a:txBody>
                  <a:tcPr>
                    <a:solidFill>
                      <a:srgbClr val="CCD8DF"/>
                    </a:solidFill>
                  </a:tcPr>
                </a:tc>
                <a:tc>
                  <a:txBody>
                    <a:bodyPr/>
                    <a:lstStyle/>
                    <a:p>
                      <a:r>
                        <a:rPr sz="600" b="0">
                          <a:solidFill>
                            <a:srgbClr val="A75156"/>
                          </a:solidFill>
                        </a:rPr>
                        <a:t>Column Output</a:t>
                      </a:r>
                    </a:p>
                  </a:txBody>
                  <a:tcPr>
                    <a:solidFill>
                      <a:srgbClr val="CCD8DF"/>
                    </a:solidFill>
                  </a:tcPr>
                </a:tc>
                <a:tc>
                  <a:txBody>
                    <a:bodyPr/>
                    <a:lstStyle/>
                    <a:p>
                      <a:r>
                        <a:rPr sz="600" b="0">
                          <a:solidFill>
                            <a:srgbClr val="A75156"/>
                          </a:solidFill>
                        </a:rPr>
                        <a:t>Intent Track</a:t>
                      </a:r>
                    </a:p>
                  </a:txBody>
                  <a:tcPr>
                    <a:solidFill>
                      <a:srgbClr val="CCD8DF"/>
                    </a:solidFill>
                  </a:tcPr>
                </a:tc>
                <a:tc>
                  <a:txBody>
                    <a:bodyPr/>
                    <a:lstStyle/>
                    <a:p>
                      <a:r>
                        <a:rPr sz="600" b="0">
                          <a:solidFill>
                            <a:srgbClr val="A75156"/>
                          </a:solidFill>
                        </a:rPr>
                        <a:t>Horizon</a:t>
                      </a:r>
                    </a:p>
                  </a:txBody>
                  <a:tcPr>
                    <a:solidFill>
                      <a:srgbClr val="CCD8DF"/>
                    </a:solidFill>
                  </a:tcPr>
                </a:tc>
                <a:tc>
                  <a:txBody>
                    <a:bodyPr/>
                    <a:lstStyle/>
                    <a:p>
                      <a:r>
                        <a:rPr sz="600" b="0">
                          <a:solidFill>
                            <a:srgbClr val="A75156"/>
                          </a:solidFill>
                        </a:rPr>
                        <a:t>Build Focus</a:t>
                      </a:r>
                    </a:p>
                  </a:txBody>
                  <a:tcPr>
                    <a:solidFill>
                      <a:srgbClr val="CCD8DF"/>
                    </a:solidFill>
                  </a:tcPr>
                </a:tc>
                <a:tc>
                  <a:txBody>
                    <a:bodyPr/>
                    <a:lstStyle/>
                    <a:p>
                      <a:r>
                        <a:rPr sz="600" b="0">
                          <a:solidFill>
                            <a:srgbClr val="A75156"/>
                          </a:solidFill>
                        </a:rPr>
                        <a:t>Threshold</a:t>
                      </a:r>
                    </a:p>
                  </a:txBody>
                  <a:tcPr>
                    <a:solidFill>
                      <a:srgbClr val="CCD8DF"/>
                    </a:solidFill>
                  </a:tcPr>
                </a:tc>
                <a:extLst>
                  <a:ext uri="{0D108BD9-81ED-4DB2-BD59-A6C34878D82A}">
                    <a16:rowId xmlns:a16="http://schemas.microsoft.com/office/drawing/2014/main" val="10001"/>
                  </a:ext>
                </a:extLst>
              </a:tr>
              <a:tr h="405972">
                <a:tc>
                  <a:txBody>
                    <a:bodyPr/>
                    <a:lstStyle/>
                    <a:p>
                      <a:r>
                        <a:rPr sz="600" b="0">
                          <a:solidFill>
                            <a:srgbClr val="A75156"/>
                          </a:solidFill>
                        </a:rPr>
                        <a:t>Viewport</a:t>
                      </a:r>
                    </a:p>
                  </a:txBody>
                  <a:tcPr>
                    <a:solidFill>
                      <a:srgbClr val="E7EDF0"/>
                    </a:solidFill>
                  </a:tcPr>
                </a:tc>
                <a:tc>
                  <a:txBody>
                    <a:bodyPr/>
                    <a:lstStyle/>
                    <a:p>
                      <a:r>
                        <a:rPr sz="600" b="0">
                          <a:solidFill>
                            <a:srgbClr val="A75156"/>
                          </a:solidFill>
                        </a:rPr>
                        <a:t>Loop Runtime</a:t>
                      </a:r>
                    </a:p>
                  </a:txBody>
                  <a:tcPr>
                    <a:solidFill>
                      <a:srgbClr val="E7EDF0"/>
                    </a:solidFill>
                  </a:tcPr>
                </a:tc>
                <a:tc>
                  <a:txBody>
                    <a:bodyPr/>
                    <a:lstStyle/>
                    <a:p>
                      <a:r>
                        <a:rPr sz="600" b="0">
                          <a:solidFill>
                            <a:srgbClr val="A75156"/>
                          </a:solidFill>
                        </a:rPr>
                        <a:t>Lens Instance</a:t>
                      </a:r>
                    </a:p>
                  </a:txBody>
                  <a:tcPr>
                    <a:solidFill>
                      <a:srgbClr val="E7EDF0"/>
                    </a:solidFill>
                  </a:tcPr>
                </a:tc>
                <a:tc>
                  <a:txBody>
                    <a:bodyPr/>
                    <a:lstStyle/>
                    <a:p>
                      <a:r>
                        <a:rPr sz="600" b="0">
                          <a:solidFill>
                            <a:srgbClr val="A75156"/>
                          </a:solidFill>
                        </a:rPr>
                        <a:t>Option</a:t>
                      </a:r>
                    </a:p>
                  </a:txBody>
                  <a:tcPr>
                    <a:solidFill>
                      <a:srgbClr val="E7EDF0"/>
                    </a:solidFill>
                  </a:tcPr>
                </a:tc>
                <a:tc>
                  <a:txBody>
                    <a:bodyPr/>
                    <a:lstStyle/>
                    <a:p>
                      <a:r>
                        <a:rPr sz="600" b="0">
                          <a:solidFill>
                            <a:srgbClr val="A75156"/>
                          </a:solidFill>
                        </a:rPr>
                        <a:t>Texture Profile</a:t>
                      </a:r>
                    </a:p>
                  </a:txBody>
                  <a:tcPr>
                    <a:solidFill>
                      <a:srgbClr val="E7EDF0"/>
                    </a:solidFill>
                  </a:tcPr>
                </a:tc>
                <a:tc>
                  <a:txBody>
                    <a:bodyPr/>
                    <a:lstStyle/>
                    <a:p>
                      <a:r>
                        <a:rPr sz="600" b="0">
                          <a:solidFill>
                            <a:srgbClr val="A75156"/>
                          </a:solidFill>
                        </a:rPr>
                        <a:t>Origin Marker</a:t>
                      </a:r>
                    </a:p>
                  </a:txBody>
                  <a:tcPr>
                    <a:solidFill>
                      <a:srgbClr val="E7EDF0"/>
                    </a:solidFill>
                  </a:tcPr>
                </a:tc>
                <a:extLst>
                  <a:ext uri="{0D108BD9-81ED-4DB2-BD59-A6C34878D82A}">
                    <a16:rowId xmlns:a16="http://schemas.microsoft.com/office/drawing/2014/main" val="10002"/>
                  </a:ext>
                </a:extLst>
              </a:tr>
              <a:tr h="405972">
                <a:tc>
                  <a:txBody>
                    <a:bodyPr/>
                    <a:lstStyle/>
                    <a:p>
                      <a:r>
                        <a:rPr sz="600" b="0">
                          <a:solidFill>
                            <a:srgbClr val="A75156"/>
                          </a:solidFill>
                        </a:rPr>
                        <a:t>Snapshot</a:t>
                      </a:r>
                    </a:p>
                  </a:txBody>
                  <a:tcPr>
                    <a:solidFill>
                      <a:srgbClr val="CCD8DF"/>
                    </a:solidFill>
                  </a:tcPr>
                </a:tc>
                <a:tc>
                  <a:txBody>
                    <a:bodyPr/>
                    <a:lstStyle/>
                    <a:p>
                      <a:r>
                        <a:rPr sz="600" b="0">
                          <a:solidFill>
                            <a:srgbClr val="A75156"/>
                          </a:solidFill>
                        </a:rPr>
                        <a:t>Payload</a:t>
                      </a:r>
                    </a:p>
                  </a:txBody>
                  <a:tcPr>
                    <a:solidFill>
                      <a:srgbClr val="CCD8DF"/>
                    </a:solidFill>
                  </a:tcPr>
                </a:tc>
                <a:tc>
                  <a:txBody>
                    <a:bodyPr/>
                    <a:lstStyle/>
                    <a:p>
                      <a:r>
                        <a:rPr sz="600" b="0">
                          <a:solidFill>
                            <a:srgbClr val="A75156"/>
                          </a:solidFill>
                        </a:rPr>
                        <a:t>Query</a:t>
                      </a:r>
                    </a:p>
                  </a:txBody>
                  <a:tcPr>
                    <a:solidFill>
                      <a:srgbClr val="CCD8DF"/>
                    </a:solidFill>
                  </a:tcPr>
                </a:tc>
                <a:tc>
                  <a:txBody>
                    <a:bodyPr/>
                    <a:lstStyle/>
                    <a:p>
                      <a:r>
                        <a:rPr sz="600" b="0">
                          <a:solidFill>
                            <a:srgbClr val="A75156"/>
                          </a:solidFill>
                        </a:rPr>
                        <a:t>Density</a:t>
                      </a:r>
                    </a:p>
                  </a:txBody>
                  <a:tcPr>
                    <a:solidFill>
                      <a:srgbClr val="CCD8DF"/>
                    </a:solidFill>
                  </a:tcPr>
                </a:tc>
                <a:tc>
                  <a:txBody>
                    <a:bodyPr/>
                    <a:lstStyle/>
                    <a:p>
                      <a:r>
                        <a:rPr sz="600" b="0">
                          <a:solidFill>
                            <a:srgbClr val="A75156"/>
                          </a:solidFill>
                        </a:rPr>
                        <a:t>Strategy</a:t>
                      </a:r>
                    </a:p>
                  </a:txBody>
                  <a:tcPr>
                    <a:solidFill>
                      <a:srgbClr val="CCD8DF"/>
                    </a:solidFill>
                  </a:tcPr>
                </a:tc>
                <a:tc>
                  <a:txBody>
                    <a:bodyPr/>
                    <a:lstStyle/>
                    <a:p>
                      <a:r>
                        <a:rPr sz="600" b="0">
                          <a:solidFill>
                            <a:srgbClr val="A75156"/>
                          </a:solidFill>
                        </a:rPr>
                        <a:t>Signal Connector</a:t>
                      </a:r>
                    </a:p>
                  </a:txBody>
                  <a:tcPr>
                    <a:solidFill>
                      <a:srgbClr val="CCD8DF"/>
                    </a:solidFill>
                  </a:tcPr>
                </a:tc>
                <a:extLst>
                  <a:ext uri="{0D108BD9-81ED-4DB2-BD59-A6C34878D82A}">
                    <a16:rowId xmlns:a16="http://schemas.microsoft.com/office/drawing/2014/main" val="10003"/>
                  </a:ext>
                </a:extLst>
              </a:tr>
              <a:tr h="405972">
                <a:tc>
                  <a:txBody>
                    <a:bodyPr/>
                    <a:lstStyle/>
                    <a:p>
                      <a:r>
                        <a:rPr sz="600" b="0">
                          <a:solidFill>
                            <a:srgbClr val="A75156"/>
                          </a:solidFill>
                        </a:rPr>
                        <a:t>Field</a:t>
                      </a:r>
                    </a:p>
                  </a:txBody>
                  <a:tcPr>
                    <a:solidFill>
                      <a:srgbClr val="E7EDF0"/>
                    </a:solidFill>
                  </a:tcPr>
                </a:tc>
                <a:tc>
                  <a:txBody>
                    <a:bodyPr/>
                    <a:lstStyle/>
                    <a:p>
                      <a:r>
                        <a:rPr sz="600" b="0">
                          <a:solidFill>
                            <a:srgbClr val="A75156"/>
                          </a:solidFill>
                        </a:rPr>
                        <a:t>Archive</a:t>
                      </a:r>
                    </a:p>
                  </a:txBody>
                  <a:tcPr>
                    <a:solidFill>
                      <a:srgbClr val="E7EDF0"/>
                    </a:solidFill>
                  </a:tcPr>
                </a:tc>
                <a:tc>
                  <a:txBody>
                    <a:bodyPr/>
                    <a:lstStyle/>
                    <a:p>
                      <a:r>
                        <a:rPr sz="600" b="0">
                          <a:solidFill>
                            <a:srgbClr val="A75156"/>
                          </a:solidFill>
                        </a:rPr>
                        <a:t>Concept</a:t>
                      </a:r>
                    </a:p>
                  </a:txBody>
                  <a:tcPr>
                    <a:solidFill>
                      <a:srgbClr val="E7EDF0"/>
                    </a:solidFill>
                  </a:tcPr>
                </a:tc>
                <a:tc>
                  <a:txBody>
                    <a:bodyPr/>
                    <a:lstStyle/>
                    <a:p>
                      <a:r>
                        <a:rPr sz="600" b="0">
                          <a:solidFill>
                            <a:srgbClr val="A75156"/>
                          </a:solidFill>
                        </a:rPr>
                        <a:t>Spectrum</a:t>
                      </a:r>
                    </a:p>
                  </a:txBody>
                  <a:tcPr>
                    <a:solidFill>
                      <a:srgbClr val="E7EDF0"/>
                    </a:solidFill>
                  </a:tcPr>
                </a:tc>
                <a:tc>
                  <a:txBody>
                    <a:bodyPr/>
                    <a:lstStyle/>
                    <a:p>
                      <a:r>
                        <a:rPr sz="600" b="0">
                          <a:solidFill>
                            <a:srgbClr val="A75156"/>
                          </a:solidFill>
                        </a:rPr>
                        <a:t>Channel Orbit</a:t>
                      </a:r>
                    </a:p>
                  </a:txBody>
                  <a:tcPr>
                    <a:solidFill>
                      <a:srgbClr val="E7EDF0"/>
                    </a:solidFill>
                  </a:tcPr>
                </a:tc>
                <a:tc>
                  <a:txBody>
                    <a:bodyPr/>
                    <a:lstStyle/>
                    <a:p>
                      <a:r>
                        <a:rPr sz="600" b="0">
                          <a:solidFill>
                            <a:srgbClr val="A75156"/>
                          </a:solidFill>
                        </a:rPr>
                        <a:t>Event</a:t>
                      </a:r>
                    </a:p>
                  </a:txBody>
                  <a:tcPr>
                    <a:solidFill>
                      <a:srgbClr val="E7EDF0"/>
                    </a:solidFill>
                  </a:tcPr>
                </a:tc>
                <a:extLst>
                  <a:ext uri="{0D108BD9-81ED-4DB2-BD59-A6C34878D82A}">
                    <a16:rowId xmlns:a16="http://schemas.microsoft.com/office/drawing/2014/main" val="10004"/>
                  </a:ext>
                </a:extLst>
              </a:tr>
              <a:tr h="405974">
                <a:tc>
                  <a:txBody>
                    <a:bodyPr/>
                    <a:lstStyle/>
                    <a:p>
                      <a:r>
                        <a:rPr sz="600" b="0">
                          <a:solidFill>
                            <a:srgbClr val="A75156"/>
                          </a:solidFill>
                        </a:rPr>
                        <a:t>Duration</a:t>
                      </a:r>
                    </a:p>
                  </a:txBody>
                  <a:tcPr>
                    <a:solidFill>
                      <a:srgbClr val="CCD8DF"/>
                    </a:solidFill>
                  </a:tcPr>
                </a:tc>
                <a:tc>
                  <a:txBody>
                    <a:bodyPr/>
                    <a:lstStyle/>
                    <a:p>
                      <a:r>
                        <a:rPr sz="600" b="0">
                          <a:solidFill>
                            <a:srgbClr val="A75156"/>
                          </a:solidFill>
                        </a:rPr>
                        <a:t>Motion Moment</a:t>
                      </a:r>
                    </a:p>
                  </a:txBody>
                  <a:tcPr>
                    <a:solidFill>
                      <a:srgbClr val="CCD8DF"/>
                    </a:solidFill>
                  </a:tcPr>
                </a:tc>
                <a:tc>
                  <a:txBody>
                    <a:bodyPr/>
                    <a:lstStyle/>
                    <a:p>
                      <a:r>
                        <a:rPr sz="600" b="0">
                          <a:solidFill>
                            <a:srgbClr val="A75156"/>
                          </a:solidFill>
                        </a:rPr>
                        <a:t>Beacon</a:t>
                      </a:r>
                    </a:p>
                  </a:txBody>
                  <a:tcPr>
                    <a:solidFill>
                      <a:srgbClr val="CCD8DF"/>
                    </a:solidFill>
                  </a:tcPr>
                </a:tc>
                <a:tc>
                  <a:txBody>
                    <a:bodyPr/>
                    <a:lstStyle/>
                    <a:p>
                      <a:r>
                        <a:rPr sz="600" b="0">
                          <a:solidFill>
                            <a:srgbClr val="A75156"/>
                          </a:solidFill>
                        </a:rPr>
                        <a:t>Metric</a:t>
                      </a:r>
                    </a:p>
                  </a:txBody>
                  <a:tcPr>
                    <a:solidFill>
                      <a:srgbClr val="CCD8DF"/>
                    </a:solidFill>
                  </a:tcPr>
                </a:tc>
                <a:tc>
                  <a:txBody>
                    <a:bodyPr/>
                    <a:lstStyle/>
                    <a:p>
                      <a:r>
                        <a:rPr sz="600" b="0">
                          <a:solidFill>
                            <a:srgbClr val="A75156"/>
                          </a:solidFill>
                        </a:rPr>
                        <a:t>Exchange</a:t>
                      </a:r>
                    </a:p>
                  </a:txBody>
                  <a:tcPr>
                    <a:solidFill>
                      <a:srgbClr val="CCD8DF"/>
                    </a:solidFill>
                  </a:tcPr>
                </a:tc>
                <a:tc>
                  <a:txBody>
                    <a:bodyPr/>
                    <a:lstStyle/>
                    <a:p>
                      <a:r>
                        <a:rPr sz="600" b="0">
                          <a:solidFill>
                            <a:srgbClr val="A75156"/>
                          </a:solidFill>
                        </a:rPr>
                        <a:t>Command</a:t>
                      </a:r>
                    </a:p>
                  </a:txBody>
                  <a:tcPr>
                    <a:solidFill>
                      <a:srgbClr val="CCD8DF"/>
                    </a:solidFill>
                  </a:tcPr>
                </a:tc>
                <a:extLst>
                  <a:ext uri="{0D108BD9-81ED-4DB2-BD59-A6C34878D82A}">
                    <a16:rowId xmlns:a16="http://schemas.microsoft.com/office/drawing/2014/main" val="10005"/>
                  </a:ext>
                </a:extLst>
              </a:tr>
            </a:tbl>
          </a:graphicData>
        </a:graphic>
      </p:graphicFrame>
      <p:cxnSp>
        <p:nvCxnSpPr>
          <p:cNvPr id="21" name="Connector 20"/>
          <p:cNvCxnSpPr/>
          <p:nvPr/>
        </p:nvCxnSpPr>
        <p:spPr>
          <a:xfrm>
            <a:off x="3160310" y="3547609"/>
            <a:ext cx="948959" cy="866643"/>
          </a:xfrm>
          <a:prstGeom prst="curvedConnector3">
            <a:avLst/>
          </a:prstGeom>
          <a:ln w="23133">
            <a:solidFill>
              <a:srgbClr val="B0B9B7"/>
            </a:solidFill>
            <a:prstDash val="dash"/>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2"/>
          <a:srcRect l="2226" t="14995" r="13986" b="3412"/>
          <a:stretch>
            <a:fillRect/>
          </a:stretch>
        </p:blipFill>
        <p:spPr>
          <a:xfrm>
            <a:off x="1759754" y="5493343"/>
            <a:ext cx="1105477" cy="1039033"/>
          </a:xfrm>
          <a:prstGeom prst="rect">
            <a:avLst/>
          </a:prstGeom>
        </p:spPr>
      </p:pic>
      <p:sp>
        <p:nvSpPr>
          <p:cNvPr id="23" name="Octagon 22"/>
          <p:cNvSpPr/>
          <p:nvPr/>
        </p:nvSpPr>
        <p:spPr>
          <a:xfrm>
            <a:off x="5490084" y="3929124"/>
            <a:ext cx="801970" cy="537037"/>
          </a:xfrm>
          <a:prstGeom prst="octagon">
            <a:avLst/>
          </a:prstGeom>
          <a:solidFill>
            <a:srgbClr val="807DBC"/>
          </a:solidFill>
          <a:ln w="9578">
            <a:solidFill>
              <a:srgbClr val="2ADB97"/>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nvGraphicFramePr>
        <p:xfrm>
          <a:off x="422614" y="274087"/>
          <a:ext cx="3771900" cy="1759007"/>
        </p:xfrm>
        <a:graphic>
          <a:graphicData uri="http://schemas.openxmlformats.org/drawingml/2006/table">
            <a:tbl>
              <a:tblPr firstRow="1" bandRow="1">
                <a:tableStyleId>{5C22544A-7EE6-4342-B048-85BDC9FD1C3A}</a:tableStyleId>
              </a:tblPr>
              <a:tblGrid>
                <a:gridCol w="1885950">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tblGrid>
              <a:tr h="439751">
                <a:tc>
                  <a:txBody>
                    <a:bodyPr/>
                    <a:lstStyle/>
                    <a:p>
                      <a:r>
                        <a:rPr sz="1000" b="1">
                          <a:solidFill>
                            <a:srgbClr val="BB3E20"/>
                          </a:solidFill>
                        </a:rPr>
                        <a:t>Panel Heading</a:t>
                      </a:r>
                    </a:p>
                  </a:txBody>
                  <a:tcPr>
                    <a:solidFill>
                      <a:srgbClr val="43D358"/>
                    </a:solidFill>
                  </a:tcPr>
                </a:tc>
                <a:tc>
                  <a:txBody>
                    <a:bodyPr/>
                    <a:lstStyle/>
                    <a:p>
                      <a:r>
                        <a:rPr sz="1000" b="1">
                          <a:solidFill>
                            <a:srgbClr val="BB3E20"/>
                          </a:solidFill>
                        </a:rPr>
                        <a:t>Discovery Focus</a:t>
                      </a:r>
                    </a:p>
                  </a:txBody>
                  <a:tcPr>
                    <a:solidFill>
                      <a:srgbClr val="43D358"/>
                    </a:solidFill>
                  </a:tcPr>
                </a:tc>
                <a:extLst>
                  <a:ext uri="{0D108BD9-81ED-4DB2-BD59-A6C34878D82A}">
                    <a16:rowId xmlns:a16="http://schemas.microsoft.com/office/drawing/2014/main" val="10000"/>
                  </a:ext>
                </a:extLst>
              </a:tr>
              <a:tr h="439751">
                <a:tc>
                  <a:txBody>
                    <a:bodyPr/>
                    <a:lstStyle/>
                    <a:p>
                      <a:r>
                        <a:rPr sz="1000" b="0">
                          <a:solidFill>
                            <a:srgbClr val="BB3E20"/>
                          </a:solidFill>
                        </a:rPr>
                        <a:t>Bundle</a:t>
                      </a:r>
                    </a:p>
                  </a:txBody>
                  <a:tcPr>
                    <a:solidFill>
                      <a:srgbClr val="B4F4BA"/>
                    </a:solidFill>
                  </a:tcPr>
                </a:tc>
                <a:tc>
                  <a:txBody>
                    <a:bodyPr/>
                    <a:lstStyle/>
                    <a:p>
                      <a:r>
                        <a:rPr sz="1000" b="0">
                          <a:solidFill>
                            <a:srgbClr val="BB3E20"/>
                          </a:solidFill>
                        </a:rPr>
                        <a:t>Beacon</a:t>
                      </a:r>
                    </a:p>
                  </a:txBody>
                  <a:tcPr>
                    <a:solidFill>
                      <a:srgbClr val="B4F4BA"/>
                    </a:solidFill>
                  </a:tcPr>
                </a:tc>
                <a:extLst>
                  <a:ext uri="{0D108BD9-81ED-4DB2-BD59-A6C34878D82A}">
                    <a16:rowId xmlns:a16="http://schemas.microsoft.com/office/drawing/2014/main" val="10001"/>
                  </a:ext>
                </a:extLst>
              </a:tr>
              <a:tr h="439751">
                <a:tc>
                  <a:txBody>
                    <a:bodyPr/>
                    <a:lstStyle/>
                    <a:p>
                      <a:r>
                        <a:rPr sz="1000" b="0">
                          <a:solidFill>
                            <a:srgbClr val="BB3E20"/>
                          </a:solidFill>
                        </a:rPr>
                        <a:t>Account</a:t>
                      </a:r>
                    </a:p>
                  </a:txBody>
                  <a:tcPr>
                    <a:solidFill>
                      <a:srgbClr val="DCFADF"/>
                    </a:solidFill>
                  </a:tcPr>
                </a:tc>
                <a:tc>
                  <a:txBody>
                    <a:bodyPr/>
                    <a:lstStyle/>
                    <a:p>
                      <a:r>
                        <a:rPr sz="1000" b="0">
                          <a:solidFill>
                            <a:srgbClr val="BB3E20"/>
                          </a:solidFill>
                        </a:rPr>
                        <a:t>Build</a:t>
                      </a:r>
                    </a:p>
                  </a:txBody>
                  <a:tcPr>
                    <a:solidFill>
                      <a:srgbClr val="B4F4BA"/>
                    </a:solidFill>
                  </a:tcPr>
                </a:tc>
                <a:extLst>
                  <a:ext uri="{0D108BD9-81ED-4DB2-BD59-A6C34878D82A}">
                    <a16:rowId xmlns:a16="http://schemas.microsoft.com/office/drawing/2014/main" val="10002"/>
                  </a:ext>
                </a:extLst>
              </a:tr>
              <a:tr h="439754">
                <a:tc>
                  <a:txBody>
                    <a:bodyPr/>
                    <a:lstStyle/>
                    <a:p>
                      <a:r>
                        <a:rPr sz="1000" b="0">
                          <a:solidFill>
                            <a:srgbClr val="BB3E20"/>
                          </a:solidFill>
                        </a:rPr>
                        <a:t>Matrix</a:t>
                      </a:r>
                    </a:p>
                  </a:txBody>
                  <a:tcPr>
                    <a:solidFill>
                      <a:srgbClr val="B4F4BA"/>
                    </a:solidFill>
                  </a:tcPr>
                </a:tc>
                <a:tc>
                  <a:txBody>
                    <a:bodyPr/>
                    <a:lstStyle/>
                    <a:p>
                      <a:r>
                        <a:rPr sz="1000" b="0">
                          <a:solidFill>
                            <a:srgbClr val="BB3E20"/>
                          </a:solidFill>
                        </a:rPr>
                        <a:t>Signal</a:t>
                      </a:r>
                    </a:p>
                  </a:txBody>
                  <a:tcPr>
                    <a:solidFill>
                      <a:srgbClr val="B4F4BA"/>
                    </a:solidFill>
                  </a:tcPr>
                </a:tc>
                <a:extLst>
                  <a:ext uri="{0D108BD9-81ED-4DB2-BD59-A6C34878D82A}">
                    <a16:rowId xmlns:a16="http://schemas.microsoft.com/office/drawing/2014/main" val="10003"/>
                  </a:ext>
                </a:extLst>
              </a:tr>
            </a:tbl>
          </a:graphicData>
        </a:graphic>
      </p:graphicFrame>
      <p:pic>
        <p:nvPicPr>
          <p:cNvPr id="25" name="Picture 24" descr="_example_image.jpg"/>
          <p:cNvPicPr>
            <a:picLocks noChangeAspect="1"/>
          </p:cNvPicPr>
          <p:nvPr/>
        </p:nvPicPr>
        <p:blipFill>
          <a:blip r:embed="rId2"/>
          <a:srcRect l="9942" t="8187" r="654" b="17614"/>
          <a:stretch>
            <a:fillRect/>
          </a:stretch>
        </p:blipFill>
        <p:spPr>
          <a:xfrm>
            <a:off x="10749252" y="1666034"/>
            <a:ext cx="1113434" cy="2261750"/>
          </a:xfrm>
          <a:prstGeom prst="rect">
            <a:avLst/>
          </a:prstGeom>
        </p:spPr>
      </p:pic>
      <p:sp>
        <p:nvSpPr>
          <p:cNvPr id="26" name="Left Right Ribbon 25"/>
          <p:cNvSpPr/>
          <p:nvPr/>
        </p:nvSpPr>
        <p:spPr>
          <a:xfrm>
            <a:off x="4543208" y="870414"/>
            <a:ext cx="1334099" cy="347739"/>
          </a:xfrm>
          <a:prstGeom prst="leftRightRibbon">
            <a:avLst/>
          </a:prstGeom>
          <a:solidFill>
            <a:srgbClr val="359B1C"/>
          </a:solidFill>
          <a:ln w="30971">
            <a:solidFill>
              <a:srgbClr val="B51D80"/>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A00569FB-B348-F96F-A004-7DE15773517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28072" y="4679743"/>
            <a:ext cx="953542" cy="908525"/>
          </a:xfrm>
          <a:prstGeom prst="rect">
            <a:avLst/>
          </a:prstGeom>
        </p:spPr>
      </p:pic>
      <p:pic>
        <p:nvPicPr>
          <p:cNvPr id="30" name="Graphic 29">
            <a:extLst>
              <a:ext uri="{FF2B5EF4-FFF2-40B4-BE49-F238E27FC236}">
                <a16:creationId xmlns:a16="http://schemas.microsoft.com/office/drawing/2014/main" id="{BC0A63F6-1241-7D6A-2D1D-CC87CF6B65D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664022" y="1204485"/>
            <a:ext cx="1953254" cy="89864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ight Arrow Callout 1"/>
          <p:cNvSpPr/>
          <p:nvPr/>
        </p:nvSpPr>
        <p:spPr>
          <a:xfrm>
            <a:off x="3751341" y="2774105"/>
            <a:ext cx="1190350" cy="355759"/>
          </a:xfrm>
          <a:prstGeom prst="rightArrowCallout">
            <a:avLst/>
          </a:prstGeom>
          <a:solidFill>
            <a:srgbClr val="7FB82A"/>
          </a:solidFill>
          <a:ln w="22539">
            <a:solidFill>
              <a:srgbClr val="9F2D71"/>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Isosceles Triangle 2"/>
          <p:cNvSpPr/>
          <p:nvPr/>
        </p:nvSpPr>
        <p:spPr>
          <a:xfrm>
            <a:off x="5751787" y="3484780"/>
            <a:ext cx="2084597" cy="1182259"/>
          </a:xfrm>
          <a:prstGeom prst="triangle">
            <a:avLst/>
          </a:prstGeom>
          <a:solidFill>
            <a:srgbClr val="DF4984"/>
          </a:solidFill>
          <a:ln w="17717">
            <a:solidFill>
              <a:srgbClr val="D4D6CE"/>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478132" y="4799314"/>
          <a:ext cx="2064231" cy="1214102"/>
        </p:xfrm>
        <a:graphic>
          <a:graphicData uri="http://schemas.openxmlformats.org/drawingml/2006/table">
            <a:tbl>
              <a:tblPr firstRow="1" bandRow="1">
                <a:tableStyleId>{5C22544A-7EE6-4342-B048-85BDC9FD1C3A}</a:tableStyleId>
              </a:tblPr>
              <a:tblGrid>
                <a:gridCol w="412846">
                  <a:extLst>
                    <a:ext uri="{9D8B030D-6E8A-4147-A177-3AD203B41FA5}">
                      <a16:colId xmlns:a16="http://schemas.microsoft.com/office/drawing/2014/main" val="20000"/>
                    </a:ext>
                  </a:extLst>
                </a:gridCol>
                <a:gridCol w="412846">
                  <a:extLst>
                    <a:ext uri="{9D8B030D-6E8A-4147-A177-3AD203B41FA5}">
                      <a16:colId xmlns:a16="http://schemas.microsoft.com/office/drawing/2014/main" val="20001"/>
                    </a:ext>
                  </a:extLst>
                </a:gridCol>
                <a:gridCol w="412846">
                  <a:extLst>
                    <a:ext uri="{9D8B030D-6E8A-4147-A177-3AD203B41FA5}">
                      <a16:colId xmlns:a16="http://schemas.microsoft.com/office/drawing/2014/main" val="20002"/>
                    </a:ext>
                  </a:extLst>
                </a:gridCol>
                <a:gridCol w="412846">
                  <a:extLst>
                    <a:ext uri="{9D8B030D-6E8A-4147-A177-3AD203B41FA5}">
                      <a16:colId xmlns:a16="http://schemas.microsoft.com/office/drawing/2014/main" val="20003"/>
                    </a:ext>
                  </a:extLst>
                </a:gridCol>
                <a:gridCol w="412847">
                  <a:extLst>
                    <a:ext uri="{9D8B030D-6E8A-4147-A177-3AD203B41FA5}">
                      <a16:colId xmlns:a16="http://schemas.microsoft.com/office/drawing/2014/main" val="20004"/>
                    </a:ext>
                  </a:extLst>
                </a:gridCol>
              </a:tblGrid>
              <a:tr h="607051">
                <a:tc>
                  <a:txBody>
                    <a:bodyPr/>
                    <a:lstStyle/>
                    <a:p>
                      <a:r>
                        <a:rPr sz="1200" b="0">
                          <a:solidFill>
                            <a:srgbClr val="3029C2"/>
                          </a:solidFill>
                        </a:rPr>
                        <a:t>Echo Agenda</a:t>
                      </a:r>
                    </a:p>
                  </a:txBody>
                  <a:tcPr>
                    <a:solidFill>
                      <a:srgbClr val="F6FBF3"/>
                    </a:solidFill>
                  </a:tcPr>
                </a:tc>
                <a:tc>
                  <a:txBody>
                    <a:bodyPr/>
                    <a:lstStyle/>
                    <a:p>
                      <a:r>
                        <a:rPr sz="1200" b="0">
                          <a:solidFill>
                            <a:srgbClr val="3029C2"/>
                          </a:solidFill>
                        </a:rPr>
                        <a:t>Thread Route</a:t>
                      </a:r>
                    </a:p>
                  </a:txBody>
                  <a:tcPr>
                    <a:solidFill>
                      <a:srgbClr val="F6FBF3"/>
                    </a:solidFill>
                  </a:tcPr>
                </a:tc>
                <a:tc>
                  <a:txBody>
                    <a:bodyPr/>
                    <a:lstStyle/>
                    <a:p>
                      <a:r>
                        <a:rPr sz="1200" b="0">
                          <a:solidFill>
                            <a:srgbClr val="3029C2"/>
                          </a:solidFill>
                        </a:rPr>
                        <a:t>Summary Array</a:t>
                      </a:r>
                    </a:p>
                  </a:txBody>
                  <a:tcPr>
                    <a:solidFill>
                      <a:srgbClr val="F6FBF3"/>
                    </a:solidFill>
                  </a:tcPr>
                </a:tc>
                <a:tc>
                  <a:txBody>
                    <a:bodyPr/>
                    <a:lstStyle/>
                    <a:p>
                      <a:r>
                        <a:rPr sz="1200" b="0">
                          <a:solidFill>
                            <a:srgbClr val="3029C2"/>
                          </a:solidFill>
                        </a:rPr>
                        <a:t>Report Layer</a:t>
                      </a:r>
                    </a:p>
                  </a:txBody>
                  <a:tcPr>
                    <a:solidFill>
                      <a:srgbClr val="F6FBF3"/>
                    </a:solidFill>
                  </a:tcPr>
                </a:tc>
                <a:tc>
                  <a:txBody>
                    <a:bodyPr/>
                    <a:lstStyle/>
                    <a:p>
                      <a:r>
                        <a:rPr sz="1200" b="0">
                          <a:solidFill>
                            <a:srgbClr val="3029C2"/>
                          </a:solidFill>
                        </a:rPr>
                        <a:t>Zone</a:t>
                      </a:r>
                    </a:p>
                  </a:txBody>
                  <a:tcPr>
                    <a:solidFill>
                      <a:srgbClr val="F6FBF3"/>
                    </a:solidFill>
                  </a:tcPr>
                </a:tc>
                <a:extLst>
                  <a:ext uri="{0D108BD9-81ED-4DB2-BD59-A6C34878D82A}">
                    <a16:rowId xmlns:a16="http://schemas.microsoft.com/office/drawing/2014/main" val="10000"/>
                  </a:ext>
                </a:extLst>
              </a:tr>
              <a:tr h="607051">
                <a:tc>
                  <a:txBody>
                    <a:bodyPr/>
                    <a:lstStyle/>
                    <a:p>
                      <a:r>
                        <a:rPr sz="1200" b="0">
                          <a:solidFill>
                            <a:srgbClr val="3029C2"/>
                          </a:solidFill>
                        </a:rPr>
                        <a:t>Module</a:t>
                      </a:r>
                    </a:p>
                  </a:txBody>
                  <a:tcPr>
                    <a:solidFill>
                      <a:srgbClr val="F6FBF3"/>
                    </a:solidFill>
                  </a:tcPr>
                </a:tc>
                <a:tc>
                  <a:txBody>
                    <a:bodyPr/>
                    <a:lstStyle/>
                    <a:p>
                      <a:r>
                        <a:rPr sz="1200" b="0">
                          <a:solidFill>
                            <a:srgbClr val="3029C2"/>
                          </a:solidFill>
                        </a:rPr>
                        <a:t>Register Reference</a:t>
                      </a:r>
                    </a:p>
                  </a:txBody>
                  <a:tcPr>
                    <a:solidFill>
                      <a:srgbClr val="F6FBF3"/>
                    </a:solidFill>
                  </a:tcPr>
                </a:tc>
                <a:tc>
                  <a:txBody>
                    <a:bodyPr/>
                    <a:lstStyle/>
                    <a:p>
                      <a:r>
                        <a:rPr sz="1200" b="0">
                          <a:solidFill>
                            <a:srgbClr val="3029C2"/>
                          </a:solidFill>
                        </a:rPr>
                        <a:t>Epoch Agenda</a:t>
                      </a:r>
                    </a:p>
                  </a:txBody>
                  <a:tcPr>
                    <a:solidFill>
                      <a:srgbClr val="F6FBF3"/>
                    </a:solidFill>
                  </a:tcPr>
                </a:tc>
                <a:tc>
                  <a:txBody>
                    <a:bodyPr/>
                    <a:lstStyle/>
                    <a:p>
                      <a:r>
                        <a:rPr sz="1200" b="0">
                          <a:solidFill>
                            <a:srgbClr val="3029C2"/>
                          </a:solidFill>
                        </a:rPr>
                        <a:t>Plan</a:t>
                      </a:r>
                    </a:p>
                  </a:txBody>
                  <a:tcPr>
                    <a:solidFill>
                      <a:srgbClr val="F6FBF3"/>
                    </a:solidFill>
                  </a:tcPr>
                </a:tc>
                <a:tc>
                  <a:txBody>
                    <a:bodyPr/>
                    <a:lstStyle/>
                    <a:p>
                      <a:r>
                        <a:rPr sz="1200" b="0">
                          <a:solidFill>
                            <a:srgbClr val="3029C2"/>
                          </a:solidFill>
                        </a:rPr>
                        <a:t>Origin</a:t>
                      </a:r>
                    </a:p>
                  </a:txBody>
                  <a:tcPr>
                    <a:solidFill>
                      <a:srgbClr val="F6FBF3"/>
                    </a:solidFill>
                  </a:tcPr>
                </a:tc>
                <a:extLst>
                  <a:ext uri="{0D108BD9-81ED-4DB2-BD59-A6C34878D82A}">
                    <a16:rowId xmlns:a16="http://schemas.microsoft.com/office/drawing/2014/main" val="10001"/>
                  </a:ext>
                </a:extLst>
              </a:tr>
            </a:tbl>
          </a:graphicData>
        </a:graphic>
      </p:graphicFrame>
      <p:sp>
        <p:nvSpPr>
          <p:cNvPr id="5" name="Pie 4"/>
          <p:cNvSpPr/>
          <p:nvPr/>
        </p:nvSpPr>
        <p:spPr>
          <a:xfrm>
            <a:off x="6601689" y="5351368"/>
            <a:ext cx="2262179" cy="603730"/>
          </a:xfrm>
          <a:prstGeom prst="pie">
            <a:avLst/>
          </a:prstGeom>
          <a:noFill/>
          <a:ln w="10834">
            <a:solidFill>
              <a:srgbClr val="C13F5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V="1">
            <a:off x="7447746" y="1903921"/>
            <a:ext cx="945124" cy="544523"/>
          </a:xfrm>
          <a:prstGeom prst="curvedConnector3">
            <a:avLst/>
          </a:prstGeom>
          <a:ln w="36868">
            <a:solidFill>
              <a:srgbClr val="45AC2C"/>
            </a:solidFill>
            <a:prstDash val="dashDot"/>
          </a:ln>
        </p:spPr>
        <p:style>
          <a:lnRef idx="2">
            <a:schemeClr val="accent1"/>
          </a:lnRef>
          <a:fillRef idx="0">
            <a:schemeClr val="accent1"/>
          </a:fillRef>
          <a:effectRef idx="1">
            <a:schemeClr val="accent1"/>
          </a:effectRef>
          <a:fontRef idx="minor">
            <a:schemeClr val="tx1"/>
          </a:fontRef>
        </p:style>
      </p:cxnSp>
      <p:sp>
        <p:nvSpPr>
          <p:cNvPr id="7" name="Octagon 6"/>
          <p:cNvSpPr/>
          <p:nvPr/>
        </p:nvSpPr>
        <p:spPr>
          <a:xfrm>
            <a:off x="8211568" y="4169453"/>
            <a:ext cx="1319337" cy="429936"/>
          </a:xfrm>
          <a:prstGeom prst="octagon">
            <a:avLst/>
          </a:prstGeom>
          <a:solidFill>
            <a:srgbClr val="38DB6B"/>
          </a:solidFill>
          <a:ln w="7607">
            <a:solidFill>
              <a:srgbClr val="9A5D7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22141" y="2014777"/>
            <a:ext cx="515268" cy="903120"/>
          </a:xfrm>
          <a:prstGeom prst="rect">
            <a:avLst/>
          </a:prstGeom>
          <a:noFill/>
        </p:spPr>
        <p:txBody>
          <a:bodyPr wrap="none" lIns="56723" tIns="56723" rIns="56723" bIns="56723">
            <a:spAutoFit/>
          </a:bodyPr>
          <a:lstStyle/>
          <a:p>
            <a:r>
              <a:rPr sz="900" b="0" i="0" u="none">
                <a:solidFill>
                  <a:srgbClr val="68A674"/>
                </a:solidFill>
                <a:latin typeface="Calibri"/>
              </a:rPr>
              <a:t>Brief Surface Field Alignment Data Instance Direction Transit Entity Option Density Element Review Explorer Deployment Moment Milestone Trend Narrative Agenda Track Graph Compass Layer Apex Phase Design Asset Range Milestone Frequency Process Scope Echo Epoch Schema Profile</a:t>
            </a:r>
          </a:p>
        </p:txBody>
      </p:sp>
      <p:pic>
        <p:nvPicPr>
          <p:cNvPr id="9" name="Picture 8" descr="_example_image.jpg"/>
          <p:cNvPicPr>
            <a:picLocks noChangeAspect="1"/>
          </p:cNvPicPr>
          <p:nvPr/>
        </p:nvPicPr>
        <p:blipFill>
          <a:blip r:embed="rId2"/>
          <a:srcRect l="1161" t="6393" r="18013" b="19935"/>
          <a:stretch>
            <a:fillRect/>
          </a:stretch>
        </p:blipFill>
        <p:spPr>
          <a:xfrm>
            <a:off x="9080468" y="1981639"/>
            <a:ext cx="1201638" cy="787556"/>
          </a:xfrm>
          <a:prstGeom prst="rect">
            <a:avLst/>
          </a:prstGeom>
        </p:spPr>
      </p:pic>
      <p:sp>
        <p:nvSpPr>
          <p:cNvPr id="10" name="Rounded Rectangle 9"/>
          <p:cNvSpPr/>
          <p:nvPr/>
        </p:nvSpPr>
        <p:spPr>
          <a:xfrm>
            <a:off x="9080468" y="1981639"/>
            <a:ext cx="1201638" cy="787556"/>
          </a:xfrm>
          <a:prstGeom prst="roundRect">
            <a:avLst/>
          </a:prstGeom>
          <a:noFill/>
          <a:ln w="15240">
            <a:solidFill>
              <a:srgbClr val="D3D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Chart 10"/>
          <p:cNvGraphicFramePr>
            <a:graphicFrameLocks noGrp="1"/>
          </p:cNvGraphicFramePr>
          <p:nvPr/>
        </p:nvGraphicFramePr>
        <p:xfrm>
          <a:off x="4562269" y="2172025"/>
          <a:ext cx="2473294" cy="1407000"/>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descr="_example_image.jpg"/>
          <p:cNvPicPr>
            <a:picLocks noChangeAspect="1"/>
          </p:cNvPicPr>
          <p:nvPr/>
        </p:nvPicPr>
        <p:blipFill>
          <a:blip r:embed="rId2"/>
          <a:srcRect l="14403" t="5505" r="18730" b="12532"/>
          <a:stretch>
            <a:fillRect/>
          </a:stretch>
        </p:blipFill>
        <p:spPr>
          <a:xfrm>
            <a:off x="8332110" y="3011706"/>
            <a:ext cx="1272023" cy="986492"/>
          </a:xfrm>
          <a:prstGeom prst="rect">
            <a:avLst/>
          </a:prstGeom>
        </p:spPr>
      </p:pic>
      <p:sp>
        <p:nvSpPr>
          <p:cNvPr id="13" name="Rounded Rectangle 12"/>
          <p:cNvSpPr/>
          <p:nvPr/>
        </p:nvSpPr>
        <p:spPr>
          <a:xfrm>
            <a:off x="8332110" y="3011706"/>
            <a:ext cx="1272023" cy="986492"/>
          </a:xfrm>
          <a:prstGeom prst="roundRect">
            <a:avLst/>
          </a:prstGeom>
          <a:noFill/>
          <a:ln w="15240">
            <a:solidFill>
              <a:srgbClr val="3DB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V="1">
            <a:off x="1506432" y="4773099"/>
            <a:ext cx="1600866" cy="387742"/>
          </a:xfrm>
          <a:prstGeom prst="line">
            <a:avLst/>
          </a:prstGeom>
          <a:ln w="10773">
            <a:solidFill>
              <a:srgbClr val="794C89"/>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589268" y="1309393"/>
            <a:ext cx="747580" cy="784222"/>
          </a:xfrm>
          <a:prstGeom prst="rect">
            <a:avLst/>
          </a:prstGeom>
          <a:solidFill>
            <a:srgbClr val="E07B8D"/>
          </a:solidFill>
        </p:spPr>
        <p:txBody>
          <a:bodyPr wrap="none" lIns="31071" tIns="31071" rIns="31071" bIns="31071">
            <a:spAutoFit/>
          </a:bodyPr>
          <a:lstStyle/>
          <a:p>
            <a:r>
              <a:rPr sz="1800" b="1" i="1" u="none">
                <a:solidFill>
                  <a:srgbClr val="2A39DF"/>
                </a:solidFill>
                <a:latin typeface="Verdana"/>
              </a:rPr>
              <a:t>Design Point Process Output Pattern Region System Gradient Build Case Envelope Velocity Result Wave Stage Program Object Topology Route Audit Limit Workflow Beta Service Horizon Drive Station Analysis Reference Method</a:t>
            </a:r>
          </a:p>
        </p:txBody>
      </p:sp>
      <p:sp>
        <p:nvSpPr>
          <p:cNvPr id="16" name="TextBox 15"/>
          <p:cNvSpPr txBox="1"/>
          <p:nvPr/>
        </p:nvSpPr>
        <p:spPr>
          <a:xfrm>
            <a:off x="8618761" y="674027"/>
            <a:ext cx="471321" cy="2433546"/>
          </a:xfrm>
          <a:prstGeom prst="rect">
            <a:avLst/>
          </a:prstGeom>
          <a:noFill/>
        </p:spPr>
        <p:txBody>
          <a:bodyPr wrap="none" lIns="76823" tIns="76823" rIns="76823" bIns="76823">
            <a:spAutoFit/>
          </a:bodyPr>
          <a:lstStyle/>
          <a:p>
            <a:r>
              <a:rPr sz="1000" b="0" i="1" u="none">
                <a:solidFill>
                  <a:srgbClr val="2C2FE4"/>
                </a:solidFill>
                <a:latin typeface="Georgia"/>
              </a:rPr>
              <a:t>Center Intent Energy Target Pipeline Balance Gradient Template Buffer Link Cadence Request Query Signal Cell Collection Epoch Focus Harbor Deployment Discovery Viewport Trace Datum Motion Region</a:t>
            </a:r>
          </a:p>
        </p:txBody>
      </p:sp>
      <p:sp>
        <p:nvSpPr>
          <p:cNvPr id="17" name="TextBox 16"/>
          <p:cNvSpPr txBox="1"/>
          <p:nvPr/>
        </p:nvSpPr>
        <p:spPr>
          <a:xfrm>
            <a:off x="10389338" y="3146188"/>
            <a:ext cx="981972" cy="2288653"/>
          </a:xfrm>
          <a:prstGeom prst="rect">
            <a:avLst/>
          </a:prstGeom>
          <a:noFill/>
        </p:spPr>
        <p:txBody>
          <a:bodyPr wrap="none" lIns="39018" tIns="39018" rIns="39018" bIns="39018">
            <a:spAutoFit/>
          </a:bodyPr>
          <a:lstStyle/>
          <a:p>
            <a:r>
              <a:rPr sz="2000" b="0" i="1" u="none">
                <a:solidFill>
                  <a:srgbClr val="6E336B"/>
                </a:solidFill>
                <a:latin typeface="Verdana"/>
              </a:rPr>
              <a:t>Cycle Frame Strategy Checkpoint Region Mode Flow Function Concept Apex Source Pattern Vertex Range</a:t>
            </a:r>
          </a:p>
        </p:txBody>
      </p:sp>
      <p:sp>
        <p:nvSpPr>
          <p:cNvPr id="18" name="TextBox 17"/>
          <p:cNvSpPr txBox="1"/>
          <p:nvPr/>
        </p:nvSpPr>
        <p:spPr>
          <a:xfrm>
            <a:off x="6337642" y="1111576"/>
            <a:ext cx="972797" cy="2311450"/>
          </a:xfrm>
          <a:prstGeom prst="rect">
            <a:avLst/>
          </a:prstGeom>
          <a:solidFill>
            <a:srgbClr val="C486CF"/>
          </a:solidFill>
        </p:spPr>
        <p:txBody>
          <a:bodyPr wrap="none" lIns="65468" tIns="65468" rIns="65468" bIns="65468">
            <a:spAutoFit/>
          </a:bodyPr>
          <a:lstStyle/>
          <a:p>
            <a:r>
              <a:rPr sz="1400" b="0" i="0" u="sng">
                <a:solidFill>
                  <a:srgbClr val="2C5672"/>
                </a:solidFill>
                <a:latin typeface="Calibri"/>
              </a:rPr>
              <a:t>Variant Pulse Account Precision Marker Origin Handle Pixel Sample Link Surface Ledger Waypoint Zone Lens Sequence Case Epoch Story Packet Analysis Viewport Alignment Entity Memory Cell Workflow Response Bundle Layer Atlas Center Portal Indicator Indicator Response Library Segment Coverage Surface</a:t>
            </a:r>
          </a:p>
        </p:txBody>
      </p:sp>
      <p:pic>
        <p:nvPicPr>
          <p:cNvPr id="19" name="Picture 18" descr="_example_image.jpg"/>
          <p:cNvPicPr>
            <a:picLocks noChangeAspect="1"/>
          </p:cNvPicPr>
          <p:nvPr/>
        </p:nvPicPr>
        <p:blipFill>
          <a:blip r:embed="rId2"/>
          <a:srcRect l="4437" t="7298" r="19707" b="11300"/>
          <a:stretch>
            <a:fillRect/>
          </a:stretch>
        </p:blipFill>
        <p:spPr>
          <a:xfrm>
            <a:off x="2819557" y="248035"/>
            <a:ext cx="2902021" cy="2094394"/>
          </a:xfrm>
          <a:prstGeom prst="rect">
            <a:avLst/>
          </a:prstGeom>
        </p:spPr>
      </p:pic>
      <p:graphicFrame>
        <p:nvGraphicFramePr>
          <p:cNvPr id="20" name="Table 19"/>
          <p:cNvGraphicFramePr>
            <a:graphicFrameLocks noGrp="1"/>
          </p:cNvGraphicFramePr>
          <p:nvPr/>
        </p:nvGraphicFramePr>
        <p:xfrm>
          <a:off x="893552" y="5404948"/>
          <a:ext cx="2545167" cy="1300812"/>
        </p:xfrm>
        <a:graphic>
          <a:graphicData uri="http://schemas.openxmlformats.org/drawingml/2006/table">
            <a:tbl>
              <a:tblPr firstRow="1" bandRow="1">
                <a:tableStyleId>{5C22544A-7EE6-4342-B048-85BDC9FD1C3A}</a:tableStyleId>
              </a:tblPr>
              <a:tblGrid>
                <a:gridCol w="424194">
                  <a:extLst>
                    <a:ext uri="{9D8B030D-6E8A-4147-A177-3AD203B41FA5}">
                      <a16:colId xmlns:a16="http://schemas.microsoft.com/office/drawing/2014/main" val="20000"/>
                    </a:ext>
                  </a:extLst>
                </a:gridCol>
                <a:gridCol w="424194">
                  <a:extLst>
                    <a:ext uri="{9D8B030D-6E8A-4147-A177-3AD203B41FA5}">
                      <a16:colId xmlns:a16="http://schemas.microsoft.com/office/drawing/2014/main" val="20001"/>
                    </a:ext>
                  </a:extLst>
                </a:gridCol>
                <a:gridCol w="424194">
                  <a:extLst>
                    <a:ext uri="{9D8B030D-6E8A-4147-A177-3AD203B41FA5}">
                      <a16:colId xmlns:a16="http://schemas.microsoft.com/office/drawing/2014/main" val="20002"/>
                    </a:ext>
                  </a:extLst>
                </a:gridCol>
                <a:gridCol w="424194">
                  <a:extLst>
                    <a:ext uri="{9D8B030D-6E8A-4147-A177-3AD203B41FA5}">
                      <a16:colId xmlns:a16="http://schemas.microsoft.com/office/drawing/2014/main" val="20003"/>
                    </a:ext>
                  </a:extLst>
                </a:gridCol>
                <a:gridCol w="424194">
                  <a:extLst>
                    <a:ext uri="{9D8B030D-6E8A-4147-A177-3AD203B41FA5}">
                      <a16:colId xmlns:a16="http://schemas.microsoft.com/office/drawing/2014/main" val="20004"/>
                    </a:ext>
                  </a:extLst>
                </a:gridCol>
                <a:gridCol w="424197">
                  <a:extLst>
                    <a:ext uri="{9D8B030D-6E8A-4147-A177-3AD203B41FA5}">
                      <a16:colId xmlns:a16="http://schemas.microsoft.com/office/drawing/2014/main" val="20005"/>
                    </a:ext>
                  </a:extLst>
                </a:gridCol>
              </a:tblGrid>
              <a:tr h="260162">
                <a:tc>
                  <a:txBody>
                    <a:bodyPr/>
                    <a:lstStyle/>
                    <a:p>
                      <a:r>
                        <a:rPr sz="1300" b="1">
                          <a:solidFill>
                            <a:srgbClr val="917C28"/>
                          </a:solidFill>
                        </a:rPr>
                        <a:t>Stream</a:t>
                      </a:r>
                    </a:p>
                  </a:txBody>
                  <a:tcPr>
                    <a:solidFill>
                      <a:srgbClr val="E6841C"/>
                    </a:solidFill>
                  </a:tcPr>
                </a:tc>
                <a:tc>
                  <a:txBody>
                    <a:bodyPr/>
                    <a:lstStyle/>
                    <a:p>
                      <a:r>
                        <a:rPr sz="1300" b="1">
                          <a:solidFill>
                            <a:srgbClr val="917C28"/>
                          </a:solidFill>
                        </a:rPr>
                        <a:t>Bundle Output</a:t>
                      </a:r>
                    </a:p>
                  </a:txBody>
                  <a:tcPr>
                    <a:solidFill>
                      <a:srgbClr val="E6841C"/>
                    </a:solidFill>
                  </a:tcPr>
                </a:tc>
                <a:tc>
                  <a:txBody>
                    <a:bodyPr/>
                    <a:lstStyle/>
                    <a:p>
                      <a:r>
                        <a:rPr sz="1300" b="1">
                          <a:solidFill>
                            <a:srgbClr val="917C28"/>
                          </a:solidFill>
                        </a:rPr>
                        <a:t>Edge Viewport</a:t>
                      </a:r>
                    </a:p>
                  </a:txBody>
                  <a:tcPr>
                    <a:solidFill>
                      <a:srgbClr val="E6841C"/>
                    </a:solidFill>
                  </a:tcPr>
                </a:tc>
                <a:tc>
                  <a:txBody>
                    <a:bodyPr/>
                    <a:lstStyle/>
                    <a:p>
                      <a:r>
                        <a:rPr sz="1300" b="1">
                          <a:solidFill>
                            <a:srgbClr val="917C28"/>
                          </a:solidFill>
                        </a:rPr>
                        <a:t>Surface</a:t>
                      </a:r>
                    </a:p>
                  </a:txBody>
                  <a:tcPr>
                    <a:solidFill>
                      <a:srgbClr val="E6841C"/>
                    </a:solidFill>
                  </a:tcPr>
                </a:tc>
                <a:tc>
                  <a:txBody>
                    <a:bodyPr/>
                    <a:lstStyle/>
                    <a:p>
                      <a:r>
                        <a:rPr sz="1300" b="1">
                          <a:solidFill>
                            <a:srgbClr val="917C28"/>
                          </a:solidFill>
                        </a:rPr>
                        <a:t>Kernel</a:t>
                      </a:r>
                    </a:p>
                  </a:txBody>
                  <a:tcPr>
                    <a:solidFill>
                      <a:srgbClr val="E6841C"/>
                    </a:solidFill>
                  </a:tcPr>
                </a:tc>
                <a:tc>
                  <a:txBody>
                    <a:bodyPr/>
                    <a:lstStyle/>
                    <a:p>
                      <a:r>
                        <a:rPr sz="1300" b="1">
                          <a:solidFill>
                            <a:srgbClr val="917C28"/>
                          </a:solidFill>
                        </a:rPr>
                        <a:t>Trigger</a:t>
                      </a:r>
                    </a:p>
                  </a:txBody>
                  <a:tcPr>
                    <a:solidFill>
                      <a:srgbClr val="E6841C"/>
                    </a:solidFill>
                  </a:tcPr>
                </a:tc>
                <a:extLst>
                  <a:ext uri="{0D108BD9-81ED-4DB2-BD59-A6C34878D82A}">
                    <a16:rowId xmlns:a16="http://schemas.microsoft.com/office/drawing/2014/main" val="10000"/>
                  </a:ext>
                </a:extLst>
              </a:tr>
              <a:tr h="260162">
                <a:tc>
                  <a:txBody>
                    <a:bodyPr/>
                    <a:lstStyle/>
                    <a:p>
                      <a:r>
                        <a:rPr sz="1300" b="0">
                          <a:solidFill>
                            <a:srgbClr val="917C28"/>
                          </a:solidFill>
                        </a:rPr>
                        <a:t>Signal</a:t>
                      </a:r>
                    </a:p>
                  </a:txBody>
                  <a:tcPr>
                    <a:solidFill>
                      <a:srgbClr val="B0ABF5"/>
                    </a:solidFill>
                  </a:tcPr>
                </a:tc>
                <a:tc>
                  <a:txBody>
                    <a:bodyPr/>
                    <a:lstStyle/>
                    <a:p>
                      <a:r>
                        <a:rPr sz="1300" b="0">
                          <a:solidFill>
                            <a:srgbClr val="917C28"/>
                          </a:solidFill>
                        </a:rPr>
                        <a:t>Program Rhythm</a:t>
                      </a:r>
                    </a:p>
                  </a:txBody>
                  <a:tcPr>
                    <a:solidFill>
                      <a:srgbClr val="B0ABF5"/>
                    </a:solidFill>
                  </a:tcPr>
                </a:tc>
                <a:tc>
                  <a:txBody>
                    <a:bodyPr/>
                    <a:lstStyle/>
                    <a:p>
                      <a:r>
                        <a:rPr sz="1300" b="0">
                          <a:solidFill>
                            <a:srgbClr val="917C28"/>
                          </a:solidFill>
                        </a:rPr>
                        <a:t>Position Spectrum</a:t>
                      </a:r>
                    </a:p>
                  </a:txBody>
                  <a:tcPr>
                    <a:solidFill>
                      <a:srgbClr val="B0ABF5"/>
                    </a:solidFill>
                  </a:tcPr>
                </a:tc>
                <a:tc>
                  <a:txBody>
                    <a:bodyPr/>
                    <a:lstStyle/>
                    <a:p>
                      <a:r>
                        <a:rPr sz="1300" b="0">
                          <a:solidFill>
                            <a:srgbClr val="917C28"/>
                          </a:solidFill>
                        </a:rPr>
                        <a:t>Interval</a:t>
                      </a:r>
                    </a:p>
                  </a:txBody>
                  <a:tcPr>
                    <a:solidFill>
                      <a:srgbClr val="B0ABF5"/>
                    </a:solidFill>
                  </a:tcPr>
                </a:tc>
                <a:tc>
                  <a:txBody>
                    <a:bodyPr/>
                    <a:lstStyle/>
                    <a:p>
                      <a:r>
                        <a:rPr sz="1300" b="0">
                          <a:solidFill>
                            <a:srgbClr val="917C28"/>
                          </a:solidFill>
                        </a:rPr>
                        <a:t>Transit</a:t>
                      </a:r>
                    </a:p>
                  </a:txBody>
                  <a:tcPr>
                    <a:solidFill>
                      <a:srgbClr val="B0ABF5"/>
                    </a:solidFill>
                  </a:tcPr>
                </a:tc>
                <a:tc>
                  <a:txBody>
                    <a:bodyPr/>
                    <a:lstStyle/>
                    <a:p>
                      <a:r>
                        <a:rPr sz="1300" b="0">
                          <a:solidFill>
                            <a:srgbClr val="917C28"/>
                          </a:solidFill>
                        </a:rPr>
                        <a:t>Radius Map</a:t>
                      </a:r>
                    </a:p>
                  </a:txBody>
                  <a:tcPr>
                    <a:solidFill>
                      <a:srgbClr val="B0ABF5"/>
                    </a:solidFill>
                  </a:tcPr>
                </a:tc>
                <a:extLst>
                  <a:ext uri="{0D108BD9-81ED-4DB2-BD59-A6C34878D82A}">
                    <a16:rowId xmlns:a16="http://schemas.microsoft.com/office/drawing/2014/main" val="10001"/>
                  </a:ext>
                </a:extLst>
              </a:tr>
              <a:tr h="260162">
                <a:tc>
                  <a:txBody>
                    <a:bodyPr/>
                    <a:lstStyle/>
                    <a:p>
                      <a:r>
                        <a:rPr sz="1300" b="0">
                          <a:solidFill>
                            <a:srgbClr val="917C28"/>
                          </a:solidFill>
                        </a:rPr>
                        <a:t>State Matrix</a:t>
                      </a:r>
                    </a:p>
                  </a:txBody>
                  <a:tcPr>
                    <a:solidFill>
                      <a:srgbClr val="E2E0FB"/>
                    </a:solidFill>
                  </a:tcPr>
                </a:tc>
                <a:tc>
                  <a:txBody>
                    <a:bodyPr/>
                    <a:lstStyle/>
                    <a:p>
                      <a:r>
                        <a:rPr sz="1300" b="0">
                          <a:solidFill>
                            <a:srgbClr val="917C28"/>
                          </a:solidFill>
                        </a:rPr>
                        <a:t>Pattern Core</a:t>
                      </a:r>
                    </a:p>
                  </a:txBody>
                  <a:tcPr>
                    <a:solidFill>
                      <a:srgbClr val="B0ABF5"/>
                    </a:solidFill>
                  </a:tcPr>
                </a:tc>
                <a:tc>
                  <a:txBody>
                    <a:bodyPr/>
                    <a:lstStyle/>
                    <a:p>
                      <a:r>
                        <a:rPr sz="1300" b="0">
                          <a:solidFill>
                            <a:srgbClr val="917C28"/>
                          </a:solidFill>
                        </a:rPr>
                        <a:t>Vector</a:t>
                      </a:r>
                    </a:p>
                  </a:txBody>
                  <a:tcPr>
                    <a:solidFill>
                      <a:srgbClr val="E2E0FB"/>
                    </a:solidFill>
                  </a:tcPr>
                </a:tc>
                <a:tc>
                  <a:txBody>
                    <a:bodyPr/>
                    <a:lstStyle/>
                    <a:p>
                      <a:r>
                        <a:rPr sz="1300" b="0">
                          <a:solidFill>
                            <a:srgbClr val="917C28"/>
                          </a:solidFill>
                        </a:rPr>
                        <a:t>Action</a:t>
                      </a:r>
                    </a:p>
                  </a:txBody>
                  <a:tcPr>
                    <a:solidFill>
                      <a:srgbClr val="B0ABF5"/>
                    </a:solidFill>
                  </a:tcPr>
                </a:tc>
                <a:tc>
                  <a:txBody>
                    <a:bodyPr/>
                    <a:lstStyle/>
                    <a:p>
                      <a:r>
                        <a:rPr sz="1300" b="0">
                          <a:solidFill>
                            <a:srgbClr val="917C28"/>
                          </a:solidFill>
                        </a:rPr>
                        <a:t>Motion Hub</a:t>
                      </a:r>
                    </a:p>
                  </a:txBody>
                  <a:tcPr>
                    <a:solidFill>
                      <a:srgbClr val="E2E0FB"/>
                    </a:solidFill>
                  </a:tcPr>
                </a:tc>
                <a:tc>
                  <a:txBody>
                    <a:bodyPr/>
                    <a:lstStyle/>
                    <a:p>
                      <a:r>
                        <a:rPr sz="1300" b="0">
                          <a:solidFill>
                            <a:srgbClr val="917C28"/>
                          </a:solidFill>
                        </a:rPr>
                        <a:t>Slice Spectrum</a:t>
                      </a:r>
                    </a:p>
                  </a:txBody>
                  <a:tcPr>
                    <a:solidFill>
                      <a:srgbClr val="B0ABF5"/>
                    </a:solidFill>
                  </a:tcPr>
                </a:tc>
                <a:extLst>
                  <a:ext uri="{0D108BD9-81ED-4DB2-BD59-A6C34878D82A}">
                    <a16:rowId xmlns:a16="http://schemas.microsoft.com/office/drawing/2014/main" val="10002"/>
                  </a:ext>
                </a:extLst>
              </a:tr>
              <a:tr h="260162">
                <a:tc>
                  <a:txBody>
                    <a:bodyPr/>
                    <a:lstStyle/>
                    <a:p>
                      <a:r>
                        <a:rPr sz="1300" b="0">
                          <a:solidFill>
                            <a:srgbClr val="917C28"/>
                          </a:solidFill>
                        </a:rPr>
                        <a:t>Output</a:t>
                      </a:r>
                    </a:p>
                  </a:txBody>
                  <a:tcPr>
                    <a:solidFill>
                      <a:srgbClr val="B0ABF5"/>
                    </a:solidFill>
                  </a:tcPr>
                </a:tc>
                <a:tc>
                  <a:txBody>
                    <a:bodyPr/>
                    <a:lstStyle/>
                    <a:p>
                      <a:r>
                        <a:rPr sz="1300" b="0">
                          <a:solidFill>
                            <a:srgbClr val="917C28"/>
                          </a:solidFill>
                        </a:rPr>
                        <a:t>Resource</a:t>
                      </a:r>
                    </a:p>
                  </a:txBody>
                  <a:tcPr>
                    <a:solidFill>
                      <a:srgbClr val="B0ABF5"/>
                    </a:solidFill>
                  </a:tcPr>
                </a:tc>
                <a:tc>
                  <a:txBody>
                    <a:bodyPr/>
                    <a:lstStyle/>
                    <a:p>
                      <a:r>
                        <a:rPr sz="1300" b="0">
                          <a:solidFill>
                            <a:srgbClr val="917C28"/>
                          </a:solidFill>
                        </a:rPr>
                        <a:t>Instance Filter</a:t>
                      </a:r>
                    </a:p>
                  </a:txBody>
                  <a:tcPr>
                    <a:solidFill>
                      <a:srgbClr val="B0ABF5"/>
                    </a:solidFill>
                  </a:tcPr>
                </a:tc>
                <a:tc>
                  <a:txBody>
                    <a:bodyPr/>
                    <a:lstStyle/>
                    <a:p>
                      <a:r>
                        <a:rPr sz="1300" b="0">
                          <a:solidFill>
                            <a:srgbClr val="917C28"/>
                          </a:solidFill>
                        </a:rPr>
                        <a:t>Tile Rhythm</a:t>
                      </a:r>
                    </a:p>
                  </a:txBody>
                  <a:tcPr>
                    <a:solidFill>
                      <a:srgbClr val="B0ABF5"/>
                    </a:solidFill>
                  </a:tcPr>
                </a:tc>
                <a:tc>
                  <a:txBody>
                    <a:bodyPr/>
                    <a:lstStyle/>
                    <a:p>
                      <a:r>
                        <a:rPr sz="1300" b="0">
                          <a:solidFill>
                            <a:srgbClr val="917C28"/>
                          </a:solidFill>
                        </a:rPr>
                        <a:t>Signal Queue</a:t>
                      </a:r>
                    </a:p>
                  </a:txBody>
                  <a:tcPr>
                    <a:solidFill>
                      <a:srgbClr val="B0ABF5"/>
                    </a:solidFill>
                  </a:tcPr>
                </a:tc>
                <a:tc>
                  <a:txBody>
                    <a:bodyPr/>
                    <a:lstStyle/>
                    <a:p>
                      <a:r>
                        <a:rPr sz="1300" b="0">
                          <a:solidFill>
                            <a:srgbClr val="917C28"/>
                          </a:solidFill>
                        </a:rPr>
                        <a:t>Station Intent</a:t>
                      </a:r>
                    </a:p>
                  </a:txBody>
                  <a:tcPr>
                    <a:solidFill>
                      <a:srgbClr val="B0ABF5"/>
                    </a:solidFill>
                  </a:tcPr>
                </a:tc>
                <a:extLst>
                  <a:ext uri="{0D108BD9-81ED-4DB2-BD59-A6C34878D82A}">
                    <a16:rowId xmlns:a16="http://schemas.microsoft.com/office/drawing/2014/main" val="10003"/>
                  </a:ext>
                </a:extLst>
              </a:tr>
              <a:tr h="260164">
                <a:tc>
                  <a:txBody>
                    <a:bodyPr/>
                    <a:lstStyle/>
                    <a:p>
                      <a:r>
                        <a:rPr sz="1300" b="0">
                          <a:solidFill>
                            <a:srgbClr val="917C28"/>
                          </a:solidFill>
                        </a:rPr>
                        <a:t>Bridge Circuit</a:t>
                      </a:r>
                    </a:p>
                  </a:txBody>
                  <a:tcPr>
                    <a:solidFill>
                      <a:srgbClr val="E2E0FB"/>
                    </a:solidFill>
                  </a:tcPr>
                </a:tc>
                <a:tc>
                  <a:txBody>
                    <a:bodyPr/>
                    <a:lstStyle/>
                    <a:p>
                      <a:r>
                        <a:rPr sz="1300" b="0">
                          <a:solidFill>
                            <a:srgbClr val="917C28"/>
                          </a:solidFill>
                        </a:rPr>
                        <a:t>Domain Input</a:t>
                      </a:r>
                    </a:p>
                  </a:txBody>
                  <a:tcPr>
                    <a:solidFill>
                      <a:srgbClr val="B0ABF5"/>
                    </a:solidFill>
                  </a:tcPr>
                </a:tc>
                <a:tc>
                  <a:txBody>
                    <a:bodyPr/>
                    <a:lstStyle/>
                    <a:p>
                      <a:r>
                        <a:rPr sz="1300" b="0">
                          <a:solidFill>
                            <a:srgbClr val="917C28"/>
                          </a:solidFill>
                        </a:rPr>
                        <a:t>Dimension Profile</a:t>
                      </a:r>
                    </a:p>
                  </a:txBody>
                  <a:tcPr>
                    <a:solidFill>
                      <a:srgbClr val="E2E0FB"/>
                    </a:solidFill>
                  </a:tcPr>
                </a:tc>
                <a:tc>
                  <a:txBody>
                    <a:bodyPr/>
                    <a:lstStyle/>
                    <a:p>
                      <a:r>
                        <a:rPr sz="1300" b="0">
                          <a:solidFill>
                            <a:srgbClr val="917C28"/>
                          </a:solidFill>
                        </a:rPr>
                        <a:t>Waypoint Priority</a:t>
                      </a:r>
                    </a:p>
                  </a:txBody>
                  <a:tcPr>
                    <a:solidFill>
                      <a:srgbClr val="B0ABF5"/>
                    </a:solidFill>
                  </a:tcPr>
                </a:tc>
                <a:tc>
                  <a:txBody>
                    <a:bodyPr/>
                    <a:lstStyle/>
                    <a:p>
                      <a:r>
                        <a:rPr sz="1300" b="0">
                          <a:solidFill>
                            <a:srgbClr val="917C28"/>
                          </a:solidFill>
                        </a:rPr>
                        <a:t>Version</a:t>
                      </a:r>
                    </a:p>
                  </a:txBody>
                  <a:tcPr>
                    <a:solidFill>
                      <a:srgbClr val="E2E0FB"/>
                    </a:solidFill>
                  </a:tcPr>
                </a:tc>
                <a:tc>
                  <a:txBody>
                    <a:bodyPr/>
                    <a:lstStyle/>
                    <a:p>
                      <a:r>
                        <a:rPr sz="1300" b="0">
                          <a:solidFill>
                            <a:srgbClr val="917C28"/>
                          </a:solidFill>
                        </a:rPr>
                        <a:t>Object Schema</a:t>
                      </a:r>
                    </a:p>
                  </a:txBody>
                  <a:tcPr>
                    <a:solidFill>
                      <a:srgbClr val="B0ABF5"/>
                    </a:solidFill>
                  </a:tcPr>
                </a:tc>
                <a:extLst>
                  <a:ext uri="{0D108BD9-81ED-4DB2-BD59-A6C34878D82A}">
                    <a16:rowId xmlns:a16="http://schemas.microsoft.com/office/drawing/2014/main" val="10004"/>
                  </a:ext>
                </a:extLst>
              </a:tr>
            </a:tbl>
          </a:graphicData>
        </a:graphic>
      </p:graphicFrame>
      <p:sp>
        <p:nvSpPr>
          <p:cNvPr id="21" name="TextBox 20"/>
          <p:cNvSpPr txBox="1"/>
          <p:nvPr/>
        </p:nvSpPr>
        <p:spPr>
          <a:xfrm>
            <a:off x="852189" y="2508869"/>
            <a:ext cx="620471" cy="2238434"/>
          </a:xfrm>
          <a:prstGeom prst="rect">
            <a:avLst/>
          </a:prstGeom>
          <a:noFill/>
        </p:spPr>
        <p:txBody>
          <a:bodyPr wrap="none" lIns="20281" tIns="20281" rIns="20281" bIns="20281">
            <a:spAutoFit/>
          </a:bodyPr>
          <a:lstStyle/>
          <a:p>
            <a:r>
              <a:rPr sz="2500" b="0" i="0" u="none">
                <a:solidFill>
                  <a:srgbClr val="2C42A3"/>
                </a:solidFill>
                <a:latin typeface="Arial"/>
              </a:rPr>
              <a:t>Heading Atlas Span Window Priority Frequency</a:t>
            </a:r>
          </a:p>
        </p:txBody>
      </p:sp>
      <p:cxnSp>
        <p:nvCxnSpPr>
          <p:cNvPr id="22" name="Connector 21"/>
          <p:cNvCxnSpPr/>
          <p:nvPr/>
        </p:nvCxnSpPr>
        <p:spPr>
          <a:xfrm>
            <a:off x="9911830" y="682051"/>
            <a:ext cx="1650869" cy="505247"/>
          </a:xfrm>
          <a:prstGeom prst="curvedConnector3">
            <a:avLst/>
          </a:prstGeom>
          <a:ln w="38090">
            <a:solidFill>
              <a:srgbClr val="744F63"/>
            </a:solidFill>
            <a:prstDash val="lgDash"/>
          </a:ln>
        </p:spPr>
        <p:style>
          <a:lnRef idx="2">
            <a:schemeClr val="accent1"/>
          </a:lnRef>
          <a:fillRef idx="0">
            <a:schemeClr val="accent1"/>
          </a:fillRef>
          <a:effectRef idx="1">
            <a:schemeClr val="accent1"/>
          </a:effectRef>
          <a:fontRef idx="minor">
            <a:schemeClr val="tx1"/>
          </a:fontRef>
        </p:style>
      </p:cxnSp>
      <p:sp>
        <p:nvSpPr>
          <p:cNvPr id="23" name="&quot;No&quot; Symbol 22"/>
          <p:cNvSpPr/>
          <p:nvPr/>
        </p:nvSpPr>
        <p:spPr>
          <a:xfrm>
            <a:off x="1782338" y="3286511"/>
            <a:ext cx="725613" cy="1478783"/>
          </a:xfrm>
          <a:prstGeom prst="noSmoking">
            <a:avLst/>
          </a:prstGeom>
          <a:noFill/>
          <a:ln w="31268">
            <a:solidFill>
              <a:srgbClr val="95911E"/>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6153811" y="6220464"/>
            <a:ext cx="2667380" cy="443169"/>
          </a:xfrm>
          <a:custGeom>
            <a:avLst/>
            <a:gdLst/>
            <a:ahLst/>
            <a:cxnLst/>
            <a:rect l="l" t="t" r="r" b="b"/>
            <a:pathLst>
              <a:path w="2667380" h="443169">
                <a:moveTo>
                  <a:pt x="0" y="215430"/>
                </a:moveTo>
                <a:lnTo>
                  <a:pt x="458904" y="0"/>
                </a:lnTo>
                <a:lnTo>
                  <a:pt x="946489" y="184654"/>
                </a:lnTo>
                <a:lnTo>
                  <a:pt x="1434075" y="369308"/>
                </a:lnTo>
                <a:lnTo>
                  <a:pt x="1950342" y="153878"/>
                </a:lnTo>
                <a:lnTo>
                  <a:pt x="2667380" y="233895"/>
                </a:lnTo>
                <a:lnTo>
                  <a:pt x="2667380" y="443169"/>
                </a:lnTo>
                <a:lnTo>
                  <a:pt x="0" y="443169"/>
                </a:lnTo>
                <a:close/>
              </a:path>
            </a:pathLst>
          </a:custGeom>
          <a:solidFill>
            <a:srgbClr val="B1D431"/>
          </a:solidFill>
          <a:ln w="18480">
            <a:solidFill>
              <a:srgbClr val="70A4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Chart 24"/>
          <p:cNvGraphicFramePr>
            <a:graphicFrameLocks noGrp="1"/>
          </p:cNvGraphicFramePr>
          <p:nvPr/>
        </p:nvGraphicFramePr>
        <p:xfrm>
          <a:off x="1866616" y="2814426"/>
          <a:ext cx="2031391" cy="1692607"/>
        </p:xfrm>
        <a:graphic>
          <a:graphicData uri="http://schemas.openxmlformats.org/drawingml/2006/chart">
            <c:chart xmlns:c="http://schemas.openxmlformats.org/drawingml/2006/chart" xmlns:r="http://schemas.openxmlformats.org/officeDocument/2006/relationships" r:id="rId4"/>
          </a:graphicData>
        </a:graphic>
      </p:graphicFrame>
      <p:sp>
        <p:nvSpPr>
          <p:cNvPr id="26" name="Line Callout 2 25"/>
          <p:cNvSpPr/>
          <p:nvPr/>
        </p:nvSpPr>
        <p:spPr>
          <a:xfrm>
            <a:off x="4197639" y="3327655"/>
            <a:ext cx="1024088" cy="1508656"/>
          </a:xfrm>
          <a:prstGeom prst="borderCallout2">
            <a:avLst/>
          </a:prstGeom>
          <a:solidFill>
            <a:srgbClr val="6C4094"/>
          </a:solidFill>
          <a:ln w="22995">
            <a:solidFill>
              <a:srgbClr val="50885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9801407" y="4913694"/>
            <a:ext cx="719228" cy="808089"/>
          </a:xfrm>
          <a:custGeom>
            <a:avLst/>
            <a:gdLst/>
            <a:ahLst/>
            <a:cxnLst/>
            <a:rect l="l" t="t" r="r" b="b"/>
            <a:pathLst>
              <a:path w="719228" h="808089">
                <a:moveTo>
                  <a:pt x="359614" y="0"/>
                </a:moveTo>
                <a:lnTo>
                  <a:pt x="449518" y="202022"/>
                </a:lnTo>
                <a:lnTo>
                  <a:pt x="674276" y="145456"/>
                </a:lnTo>
                <a:lnTo>
                  <a:pt x="546913" y="404044"/>
                </a:lnTo>
                <a:lnTo>
                  <a:pt x="719228" y="630309"/>
                </a:lnTo>
                <a:lnTo>
                  <a:pt x="449518" y="581824"/>
                </a:lnTo>
                <a:lnTo>
                  <a:pt x="359614" y="808089"/>
                </a:lnTo>
                <a:lnTo>
                  <a:pt x="269711" y="581824"/>
                </a:lnTo>
                <a:lnTo>
                  <a:pt x="0" y="630309"/>
                </a:lnTo>
                <a:lnTo>
                  <a:pt x="172315" y="404044"/>
                </a:lnTo>
                <a:lnTo>
                  <a:pt x="44952" y="145456"/>
                </a:lnTo>
                <a:lnTo>
                  <a:pt x="269711" y="202022"/>
                </a:lnTo>
                <a:close/>
              </a:path>
            </a:pathLst>
          </a:custGeom>
          <a:solidFill>
            <a:srgbClr val="3344B4"/>
          </a:solidFill>
          <a:ln w="17287">
            <a:solidFill>
              <a:srgbClr val="1E8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299991" y="1288963"/>
            <a:ext cx="2580476" cy="316782"/>
          </a:xfrm>
          <a:prstGeom prst="rect">
            <a:avLst/>
          </a:prstGeom>
          <a:solidFill>
            <a:srgbClr val="BE841A"/>
          </a:solidFill>
          <a:ln w="22564">
            <a:solidFill>
              <a:srgbClr val="E0432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7EA96779-7A87-288A-863A-F53B53D78911}"/>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408235" y="473053"/>
            <a:ext cx="1002801" cy="819882"/>
          </a:xfrm>
          <a:prstGeom prst="rect">
            <a:avLst/>
          </a:prstGeom>
        </p:spPr>
      </p:pic>
      <p:pic>
        <p:nvPicPr>
          <p:cNvPr id="32" name="Graphic 31">
            <a:extLst>
              <a:ext uri="{FF2B5EF4-FFF2-40B4-BE49-F238E27FC236}">
                <a16:creationId xmlns:a16="http://schemas.microsoft.com/office/drawing/2014/main" id="{BA041EE1-852A-4066-0204-B0E89E50AEE8}"/>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392021" y="386916"/>
            <a:ext cx="1425246" cy="755087"/>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rminator 1"/>
          <p:cNvSpPr/>
          <p:nvPr/>
        </p:nvSpPr>
        <p:spPr>
          <a:xfrm>
            <a:off x="4369637" y="876651"/>
            <a:ext cx="559278" cy="1418625"/>
          </a:xfrm>
          <a:prstGeom prst="flowChartTerminator">
            <a:avLst/>
          </a:prstGeom>
          <a:solidFill>
            <a:srgbClr val="B0862F"/>
          </a:solidFill>
          <a:ln w="17810">
            <a:solidFill>
              <a:srgbClr val="BF38C2"/>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Chart 2"/>
          <p:cNvGraphicFramePr>
            <a:graphicFrameLocks noGrp="1"/>
          </p:cNvGraphicFramePr>
          <p:nvPr/>
        </p:nvGraphicFramePr>
        <p:xfrm>
          <a:off x="9147517" y="4811613"/>
          <a:ext cx="2697028" cy="1696398"/>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3" descr="_example_image.jpg"/>
          <p:cNvPicPr>
            <a:picLocks noChangeAspect="1"/>
          </p:cNvPicPr>
          <p:nvPr/>
        </p:nvPicPr>
        <p:blipFill>
          <a:blip r:embed="rId3"/>
          <a:srcRect l="8470" t="15215" r="14142" b="17270"/>
          <a:stretch>
            <a:fillRect/>
          </a:stretch>
        </p:blipFill>
        <p:spPr>
          <a:xfrm>
            <a:off x="6971015" y="3988614"/>
            <a:ext cx="1165589" cy="992558"/>
          </a:xfrm>
          <a:prstGeom prst="rect">
            <a:avLst/>
          </a:prstGeom>
        </p:spPr>
      </p:pic>
      <p:sp>
        <p:nvSpPr>
          <p:cNvPr id="5" name="16-Point Star 4"/>
          <p:cNvSpPr/>
          <p:nvPr/>
        </p:nvSpPr>
        <p:spPr>
          <a:xfrm>
            <a:off x="1535365" y="4082111"/>
            <a:ext cx="912480" cy="582744"/>
          </a:xfrm>
          <a:prstGeom prst="star16">
            <a:avLst/>
          </a:prstGeom>
          <a:solidFill>
            <a:srgbClr val="4ECB70"/>
          </a:solidFill>
          <a:ln w="26937">
            <a:solidFill>
              <a:srgbClr val="9FBC87"/>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3564326" y="325171"/>
            <a:ext cx="705199" cy="891014"/>
          </a:xfrm>
          <a:custGeom>
            <a:avLst/>
            <a:gdLst/>
            <a:ahLst/>
            <a:cxnLst/>
            <a:rect l="l" t="t" r="r" b="b"/>
            <a:pathLst>
              <a:path w="705199" h="891014">
                <a:moveTo>
                  <a:pt x="75828" y="151662"/>
                </a:moveTo>
                <a:lnTo>
                  <a:pt x="250232" y="0"/>
                </a:lnTo>
                <a:lnTo>
                  <a:pt x="515629" y="75831"/>
                </a:lnTo>
                <a:lnTo>
                  <a:pt x="705199" y="360197"/>
                </a:lnTo>
                <a:lnTo>
                  <a:pt x="606622" y="739352"/>
                </a:lnTo>
                <a:lnTo>
                  <a:pt x="326060" y="891014"/>
                </a:lnTo>
                <a:lnTo>
                  <a:pt x="45497" y="644563"/>
                </a:lnTo>
                <a:lnTo>
                  <a:pt x="0" y="322282"/>
                </a:lnTo>
                <a:close/>
              </a:path>
            </a:pathLst>
          </a:custGeom>
          <a:solidFill>
            <a:srgbClr val="A7764C"/>
          </a:solidFill>
          <a:ln w="34201">
            <a:solidFill>
              <a:srgbClr val="722F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_example_image.jpg"/>
          <p:cNvPicPr>
            <a:picLocks noChangeAspect="1"/>
          </p:cNvPicPr>
          <p:nvPr/>
        </p:nvPicPr>
        <p:blipFill>
          <a:blip r:embed="rId3"/>
          <a:srcRect l="2840" t="7349" r="16692" b="18424"/>
          <a:stretch>
            <a:fillRect/>
          </a:stretch>
        </p:blipFill>
        <p:spPr>
          <a:xfrm>
            <a:off x="10634881" y="420846"/>
            <a:ext cx="1326662" cy="833643"/>
          </a:xfrm>
          <a:prstGeom prst="rect">
            <a:avLst/>
          </a:prstGeom>
        </p:spPr>
      </p:pic>
      <p:sp>
        <p:nvSpPr>
          <p:cNvPr id="8" name="TextBox 7"/>
          <p:cNvSpPr txBox="1"/>
          <p:nvPr/>
        </p:nvSpPr>
        <p:spPr>
          <a:xfrm>
            <a:off x="5789726" y="3385843"/>
            <a:ext cx="974480" cy="1357025"/>
          </a:xfrm>
          <a:prstGeom prst="rect">
            <a:avLst/>
          </a:prstGeom>
          <a:noFill/>
        </p:spPr>
        <p:txBody>
          <a:bodyPr wrap="none" lIns="28339" tIns="28339" rIns="28339" bIns="28339">
            <a:spAutoFit/>
          </a:bodyPr>
          <a:lstStyle/>
          <a:p>
            <a:r>
              <a:rPr sz="5600" b="1" i="0" u="none">
                <a:solidFill>
                  <a:srgbClr val="AD6367"/>
                </a:solidFill>
                <a:latin typeface="Aptos"/>
              </a:rPr>
              <a:t>Depth Query Access Account</a:t>
            </a:r>
          </a:p>
        </p:txBody>
      </p:sp>
      <p:cxnSp>
        <p:nvCxnSpPr>
          <p:cNvPr id="9" name="Connector 8"/>
          <p:cNvCxnSpPr/>
          <p:nvPr/>
        </p:nvCxnSpPr>
        <p:spPr>
          <a:xfrm>
            <a:off x="7475078" y="1490347"/>
            <a:ext cx="1976260" cy="376388"/>
          </a:xfrm>
          <a:prstGeom prst="line">
            <a:avLst/>
          </a:prstGeom>
          <a:ln w="40892">
            <a:solidFill>
              <a:srgbClr val="CE1D3A"/>
            </a:solidFill>
            <a:prstDash val="dashDot"/>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5123606" y="1702267"/>
            <a:ext cx="1472194" cy="874670"/>
          </a:xfrm>
          <a:custGeom>
            <a:avLst/>
            <a:gdLst/>
            <a:ahLst/>
            <a:cxnLst/>
            <a:rect l="l" t="t" r="r" b="b"/>
            <a:pathLst>
              <a:path w="1472194" h="874670">
                <a:moveTo>
                  <a:pt x="736097" y="0"/>
                </a:moveTo>
                <a:lnTo>
                  <a:pt x="920121" y="218668"/>
                </a:lnTo>
                <a:lnTo>
                  <a:pt x="1380182" y="157441"/>
                </a:lnTo>
                <a:lnTo>
                  <a:pt x="1119481" y="437335"/>
                </a:lnTo>
                <a:lnTo>
                  <a:pt x="1472194" y="682243"/>
                </a:lnTo>
                <a:lnTo>
                  <a:pt x="920121" y="629762"/>
                </a:lnTo>
                <a:lnTo>
                  <a:pt x="736097" y="874670"/>
                </a:lnTo>
                <a:lnTo>
                  <a:pt x="552073" y="629762"/>
                </a:lnTo>
                <a:lnTo>
                  <a:pt x="0" y="682243"/>
                </a:lnTo>
                <a:lnTo>
                  <a:pt x="352713" y="437335"/>
                </a:lnTo>
                <a:lnTo>
                  <a:pt x="92012" y="157441"/>
                </a:lnTo>
                <a:lnTo>
                  <a:pt x="552073" y="218668"/>
                </a:lnTo>
                <a:close/>
              </a:path>
            </a:pathLst>
          </a:custGeom>
          <a:solidFill>
            <a:srgbClr val="5F982A"/>
          </a:solidFill>
          <a:ln w="28172">
            <a:solidFill>
              <a:srgbClr val="87D5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84876" y="2751348"/>
            <a:ext cx="820680" cy="1015480"/>
          </a:xfrm>
          <a:prstGeom prst="rect">
            <a:avLst/>
          </a:prstGeom>
          <a:noFill/>
        </p:spPr>
        <p:txBody>
          <a:bodyPr wrap="none" lIns="39493" tIns="39493" rIns="39493" bIns="39493">
            <a:spAutoFit/>
          </a:bodyPr>
          <a:lstStyle/>
          <a:p>
            <a:r>
              <a:rPr sz="800" b="0" i="0" u="none">
                <a:solidFill>
                  <a:srgbClr val="E32876"/>
                </a:solidFill>
                <a:latin typeface="Georgia"/>
              </a:rPr>
              <a:t>View Volume Reference Structure Terminal Runtime Device Logic Build Direction Reserve Dashboard</a:t>
            </a:r>
          </a:p>
        </p:txBody>
      </p:sp>
      <p:sp>
        <p:nvSpPr>
          <p:cNvPr id="12" name="8-Point Star 11"/>
          <p:cNvSpPr/>
          <p:nvPr/>
        </p:nvSpPr>
        <p:spPr>
          <a:xfrm>
            <a:off x="8683091" y="3715256"/>
            <a:ext cx="1391175" cy="1520035"/>
          </a:xfrm>
          <a:prstGeom prst="star8">
            <a:avLst/>
          </a:prstGeom>
          <a:solidFill>
            <a:srgbClr val="2E2084"/>
          </a:solidFill>
          <a:ln w="10151">
            <a:solidFill>
              <a:srgbClr val="C9644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ircular Arrow 12"/>
          <p:cNvSpPr/>
          <p:nvPr/>
        </p:nvSpPr>
        <p:spPr>
          <a:xfrm>
            <a:off x="5398602" y="5370159"/>
            <a:ext cx="518326" cy="309625"/>
          </a:xfrm>
          <a:prstGeom prst="circularArrow">
            <a:avLst/>
          </a:prstGeom>
          <a:solidFill>
            <a:srgbClr val="945B38"/>
          </a:solidFill>
          <a:ln w="26775">
            <a:solidFill>
              <a:srgbClr val="43BE4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280558" y="5362501"/>
          <a:ext cx="3175877" cy="1003902"/>
        </p:xfrm>
        <a:graphic>
          <a:graphicData uri="http://schemas.openxmlformats.org/drawingml/2006/table">
            <a:tbl>
              <a:tblPr firstRow="1" bandRow="1">
                <a:tableStyleId>{5C22544A-7EE6-4342-B048-85BDC9FD1C3A}</a:tableStyleId>
              </a:tblPr>
              <a:tblGrid>
                <a:gridCol w="1058625">
                  <a:extLst>
                    <a:ext uri="{9D8B030D-6E8A-4147-A177-3AD203B41FA5}">
                      <a16:colId xmlns:a16="http://schemas.microsoft.com/office/drawing/2014/main" val="20000"/>
                    </a:ext>
                  </a:extLst>
                </a:gridCol>
                <a:gridCol w="1058625">
                  <a:extLst>
                    <a:ext uri="{9D8B030D-6E8A-4147-A177-3AD203B41FA5}">
                      <a16:colId xmlns:a16="http://schemas.microsoft.com/office/drawing/2014/main" val="20001"/>
                    </a:ext>
                  </a:extLst>
                </a:gridCol>
                <a:gridCol w="1058627">
                  <a:extLst>
                    <a:ext uri="{9D8B030D-6E8A-4147-A177-3AD203B41FA5}">
                      <a16:colId xmlns:a16="http://schemas.microsoft.com/office/drawing/2014/main" val="20002"/>
                    </a:ext>
                  </a:extLst>
                </a:gridCol>
              </a:tblGrid>
              <a:tr h="167317">
                <a:tc>
                  <a:txBody>
                    <a:bodyPr/>
                    <a:lstStyle/>
                    <a:p>
                      <a:r>
                        <a:rPr sz="600" b="0">
                          <a:solidFill>
                            <a:srgbClr val="3FA534"/>
                          </a:solidFill>
                        </a:rPr>
                        <a:t>Point Node</a:t>
                      </a:r>
                    </a:p>
                  </a:txBody>
                  <a:tcPr>
                    <a:solidFill>
                      <a:srgbClr val="F6EEF6"/>
                    </a:solidFill>
                  </a:tcPr>
                </a:tc>
                <a:tc>
                  <a:txBody>
                    <a:bodyPr/>
                    <a:lstStyle/>
                    <a:p>
                      <a:r>
                        <a:rPr sz="600" b="0">
                          <a:solidFill>
                            <a:srgbClr val="3FA534"/>
                          </a:solidFill>
                        </a:rPr>
                        <a:t>Phase</a:t>
                      </a:r>
                    </a:p>
                  </a:txBody>
                  <a:tcPr>
                    <a:solidFill>
                      <a:srgbClr val="F6EEF6"/>
                    </a:solidFill>
                  </a:tcPr>
                </a:tc>
                <a:tc>
                  <a:txBody>
                    <a:bodyPr/>
                    <a:lstStyle/>
                    <a:p>
                      <a:r>
                        <a:rPr sz="600" b="0">
                          <a:solidFill>
                            <a:srgbClr val="3FA534"/>
                          </a:solidFill>
                        </a:rPr>
                        <a:t>Checkpoint</a:t>
                      </a:r>
                    </a:p>
                  </a:txBody>
                  <a:tcPr>
                    <a:solidFill>
                      <a:srgbClr val="F6EEF6"/>
                    </a:solidFill>
                  </a:tcPr>
                </a:tc>
                <a:extLst>
                  <a:ext uri="{0D108BD9-81ED-4DB2-BD59-A6C34878D82A}">
                    <a16:rowId xmlns:a16="http://schemas.microsoft.com/office/drawing/2014/main" val="10000"/>
                  </a:ext>
                </a:extLst>
              </a:tr>
              <a:tr h="167317">
                <a:tc>
                  <a:txBody>
                    <a:bodyPr/>
                    <a:lstStyle/>
                    <a:p>
                      <a:r>
                        <a:rPr sz="600" b="0">
                          <a:solidFill>
                            <a:srgbClr val="3FA534"/>
                          </a:solidFill>
                        </a:rPr>
                        <a:t>Channel Control</a:t>
                      </a:r>
                    </a:p>
                  </a:txBody>
                  <a:tcPr>
                    <a:solidFill>
                      <a:srgbClr val="F6EEF6"/>
                    </a:solidFill>
                  </a:tcPr>
                </a:tc>
                <a:tc>
                  <a:txBody>
                    <a:bodyPr/>
                    <a:lstStyle/>
                    <a:p>
                      <a:r>
                        <a:rPr sz="600" b="0">
                          <a:solidFill>
                            <a:srgbClr val="3FA534"/>
                          </a:solidFill>
                        </a:rPr>
                        <a:t>Capacity</a:t>
                      </a:r>
                    </a:p>
                  </a:txBody>
                  <a:tcPr>
                    <a:solidFill>
                      <a:srgbClr val="F6EEF6"/>
                    </a:solidFill>
                  </a:tcPr>
                </a:tc>
                <a:tc>
                  <a:txBody>
                    <a:bodyPr/>
                    <a:lstStyle/>
                    <a:p>
                      <a:r>
                        <a:rPr sz="600" b="0">
                          <a:solidFill>
                            <a:srgbClr val="3FA534"/>
                          </a:solidFill>
                        </a:rPr>
                        <a:t>Track</a:t>
                      </a:r>
                    </a:p>
                  </a:txBody>
                  <a:tcPr>
                    <a:solidFill>
                      <a:srgbClr val="F6EEF6"/>
                    </a:solidFill>
                  </a:tcPr>
                </a:tc>
                <a:extLst>
                  <a:ext uri="{0D108BD9-81ED-4DB2-BD59-A6C34878D82A}">
                    <a16:rowId xmlns:a16="http://schemas.microsoft.com/office/drawing/2014/main" val="10001"/>
                  </a:ext>
                </a:extLst>
              </a:tr>
              <a:tr h="167317">
                <a:tc>
                  <a:txBody>
                    <a:bodyPr/>
                    <a:lstStyle/>
                    <a:p>
                      <a:r>
                        <a:rPr sz="600" b="0">
                          <a:solidFill>
                            <a:srgbClr val="3FA534"/>
                          </a:solidFill>
                        </a:rPr>
                        <a:t>Queueing</a:t>
                      </a:r>
                    </a:p>
                  </a:txBody>
                  <a:tcPr>
                    <a:solidFill>
                      <a:srgbClr val="F6EEF6"/>
                    </a:solidFill>
                  </a:tcPr>
                </a:tc>
                <a:tc>
                  <a:txBody>
                    <a:bodyPr/>
                    <a:lstStyle/>
                    <a:p>
                      <a:r>
                        <a:rPr sz="600" b="0">
                          <a:solidFill>
                            <a:srgbClr val="3FA534"/>
                          </a:solidFill>
                        </a:rPr>
                        <a:t>Segment</a:t>
                      </a:r>
                    </a:p>
                  </a:txBody>
                  <a:tcPr>
                    <a:solidFill>
                      <a:srgbClr val="F6EEF6"/>
                    </a:solidFill>
                  </a:tcPr>
                </a:tc>
                <a:tc>
                  <a:txBody>
                    <a:bodyPr/>
                    <a:lstStyle/>
                    <a:p>
                      <a:r>
                        <a:rPr sz="600" b="0">
                          <a:solidFill>
                            <a:srgbClr val="3FA534"/>
                          </a:solidFill>
                        </a:rPr>
                        <a:t>Stack</a:t>
                      </a:r>
                    </a:p>
                  </a:txBody>
                  <a:tcPr>
                    <a:solidFill>
                      <a:srgbClr val="F6EEF6"/>
                    </a:solidFill>
                  </a:tcPr>
                </a:tc>
                <a:extLst>
                  <a:ext uri="{0D108BD9-81ED-4DB2-BD59-A6C34878D82A}">
                    <a16:rowId xmlns:a16="http://schemas.microsoft.com/office/drawing/2014/main" val="10002"/>
                  </a:ext>
                </a:extLst>
              </a:tr>
              <a:tr h="167317">
                <a:tc>
                  <a:txBody>
                    <a:bodyPr/>
                    <a:lstStyle/>
                    <a:p>
                      <a:r>
                        <a:rPr sz="600" b="0">
                          <a:solidFill>
                            <a:srgbClr val="3FA534"/>
                          </a:solidFill>
                        </a:rPr>
                        <a:t>Method Precision</a:t>
                      </a:r>
                    </a:p>
                  </a:txBody>
                  <a:tcPr>
                    <a:solidFill>
                      <a:srgbClr val="F6EEF6"/>
                    </a:solidFill>
                  </a:tcPr>
                </a:tc>
                <a:tc>
                  <a:txBody>
                    <a:bodyPr/>
                    <a:lstStyle/>
                    <a:p>
                      <a:r>
                        <a:rPr sz="600" b="0">
                          <a:solidFill>
                            <a:srgbClr val="3FA534"/>
                          </a:solidFill>
                        </a:rPr>
                        <a:t>Alignment</a:t>
                      </a:r>
                    </a:p>
                  </a:txBody>
                  <a:tcPr>
                    <a:solidFill>
                      <a:srgbClr val="F6EEF6"/>
                    </a:solidFill>
                  </a:tcPr>
                </a:tc>
                <a:tc>
                  <a:txBody>
                    <a:bodyPr/>
                    <a:lstStyle/>
                    <a:p>
                      <a:r>
                        <a:rPr sz="600" b="0">
                          <a:solidFill>
                            <a:srgbClr val="3FA534"/>
                          </a:solidFill>
                        </a:rPr>
                        <a:t>Account</a:t>
                      </a:r>
                    </a:p>
                  </a:txBody>
                  <a:tcPr>
                    <a:solidFill>
                      <a:srgbClr val="F6EEF6"/>
                    </a:solidFill>
                  </a:tcPr>
                </a:tc>
                <a:extLst>
                  <a:ext uri="{0D108BD9-81ED-4DB2-BD59-A6C34878D82A}">
                    <a16:rowId xmlns:a16="http://schemas.microsoft.com/office/drawing/2014/main" val="10003"/>
                  </a:ext>
                </a:extLst>
              </a:tr>
              <a:tr h="167317">
                <a:tc>
                  <a:txBody>
                    <a:bodyPr/>
                    <a:lstStyle/>
                    <a:p>
                      <a:r>
                        <a:rPr sz="600" b="0">
                          <a:solidFill>
                            <a:srgbClr val="3FA534"/>
                          </a:solidFill>
                        </a:rPr>
                        <a:t>Iteration Map</a:t>
                      </a:r>
                    </a:p>
                  </a:txBody>
                  <a:tcPr>
                    <a:solidFill>
                      <a:srgbClr val="F6EEF6"/>
                    </a:solidFill>
                  </a:tcPr>
                </a:tc>
                <a:tc>
                  <a:txBody>
                    <a:bodyPr/>
                    <a:lstStyle/>
                    <a:p>
                      <a:r>
                        <a:rPr sz="600" b="0">
                          <a:solidFill>
                            <a:srgbClr val="3FA534"/>
                          </a:solidFill>
                        </a:rPr>
                        <a:t>Estimate Beacon</a:t>
                      </a:r>
                    </a:p>
                  </a:txBody>
                  <a:tcPr>
                    <a:solidFill>
                      <a:srgbClr val="F6EEF6"/>
                    </a:solidFill>
                  </a:tcPr>
                </a:tc>
                <a:tc>
                  <a:txBody>
                    <a:bodyPr/>
                    <a:lstStyle/>
                    <a:p>
                      <a:r>
                        <a:rPr sz="600" b="0">
                          <a:solidFill>
                            <a:srgbClr val="3FA534"/>
                          </a:solidFill>
                        </a:rPr>
                        <a:t>Anchor</a:t>
                      </a:r>
                    </a:p>
                  </a:txBody>
                  <a:tcPr>
                    <a:solidFill>
                      <a:srgbClr val="F6EEF6"/>
                    </a:solidFill>
                  </a:tcPr>
                </a:tc>
                <a:extLst>
                  <a:ext uri="{0D108BD9-81ED-4DB2-BD59-A6C34878D82A}">
                    <a16:rowId xmlns:a16="http://schemas.microsoft.com/office/drawing/2014/main" val="10004"/>
                  </a:ext>
                </a:extLst>
              </a:tr>
              <a:tr h="167317">
                <a:tc>
                  <a:txBody>
                    <a:bodyPr/>
                    <a:lstStyle/>
                    <a:p>
                      <a:r>
                        <a:rPr sz="600" b="0">
                          <a:solidFill>
                            <a:srgbClr val="3FA534"/>
                          </a:solidFill>
                        </a:rPr>
                        <a:t>Bridge Vertex</a:t>
                      </a:r>
                    </a:p>
                  </a:txBody>
                  <a:tcPr>
                    <a:solidFill>
                      <a:srgbClr val="F6EEF6"/>
                    </a:solidFill>
                  </a:tcPr>
                </a:tc>
                <a:tc>
                  <a:txBody>
                    <a:bodyPr/>
                    <a:lstStyle/>
                    <a:p>
                      <a:r>
                        <a:rPr sz="600" b="0">
                          <a:solidFill>
                            <a:srgbClr val="3FA534"/>
                          </a:solidFill>
                        </a:rPr>
                        <a:t>Region</a:t>
                      </a:r>
                    </a:p>
                  </a:txBody>
                  <a:tcPr>
                    <a:solidFill>
                      <a:srgbClr val="F6EEF6"/>
                    </a:solidFill>
                  </a:tcPr>
                </a:tc>
                <a:tc>
                  <a:txBody>
                    <a:bodyPr/>
                    <a:lstStyle/>
                    <a:p>
                      <a:r>
                        <a:rPr sz="600" b="0">
                          <a:solidFill>
                            <a:srgbClr val="3FA534"/>
                          </a:solidFill>
                        </a:rPr>
                        <a:t>Loop Deck</a:t>
                      </a:r>
                    </a:p>
                  </a:txBody>
                  <a:tcPr>
                    <a:solidFill>
                      <a:srgbClr val="F6EEF6"/>
                    </a:solidFill>
                  </a:tcPr>
                </a:tc>
                <a:extLst>
                  <a:ext uri="{0D108BD9-81ED-4DB2-BD59-A6C34878D82A}">
                    <a16:rowId xmlns:a16="http://schemas.microsoft.com/office/drawing/2014/main" val="10005"/>
                  </a:ext>
                </a:extLst>
              </a:tr>
            </a:tbl>
          </a:graphicData>
        </a:graphic>
      </p:graphicFrame>
      <p:sp>
        <p:nvSpPr>
          <p:cNvPr id="15" name="5-Point Star 14"/>
          <p:cNvSpPr/>
          <p:nvPr/>
        </p:nvSpPr>
        <p:spPr>
          <a:xfrm>
            <a:off x="841575" y="1001596"/>
            <a:ext cx="1669741" cy="1491987"/>
          </a:xfrm>
          <a:prstGeom prst="star5">
            <a:avLst/>
          </a:prstGeom>
          <a:solidFill>
            <a:srgbClr val="23A06E"/>
          </a:solidFill>
          <a:ln w="14216">
            <a:solidFill>
              <a:srgbClr val="CD41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928829" y="5297982"/>
            <a:ext cx="999416" cy="790215"/>
          </a:xfrm>
          <a:prstGeom prst="rect">
            <a:avLst/>
          </a:prstGeom>
          <a:noFill/>
        </p:spPr>
        <p:txBody>
          <a:bodyPr wrap="none" lIns="59267" tIns="59267" rIns="59267" bIns="59267">
            <a:spAutoFit/>
          </a:bodyPr>
          <a:lstStyle/>
          <a:p>
            <a:r>
              <a:rPr sz="2200" b="0" i="0" u="none">
                <a:solidFill>
                  <a:srgbClr val="37E5CF"/>
                </a:solidFill>
                <a:latin typeface="Verdana"/>
              </a:rPr>
              <a:t>Waypoint View Module Path Access Cluster Query Entity Model Feature Sync</a:t>
            </a:r>
          </a:p>
        </p:txBody>
      </p:sp>
      <p:cxnSp>
        <p:nvCxnSpPr>
          <p:cNvPr id="17" name="Connector 16"/>
          <p:cNvCxnSpPr/>
          <p:nvPr/>
        </p:nvCxnSpPr>
        <p:spPr>
          <a:xfrm flipV="1">
            <a:off x="2399066" y="2814837"/>
            <a:ext cx="2293248" cy="605445"/>
          </a:xfrm>
          <a:prstGeom prst="curvedConnector3">
            <a:avLst/>
          </a:prstGeom>
          <a:ln w="15062">
            <a:solidFill>
              <a:srgbClr val="564EA9"/>
            </a:solidFill>
            <a:prstDash val="dashDot"/>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51245" y="4105145"/>
            <a:ext cx="879265" cy="1141767"/>
          </a:xfrm>
          <a:prstGeom prst="rect">
            <a:avLst/>
          </a:prstGeom>
          <a:solidFill>
            <a:srgbClr val="43ADC3"/>
          </a:solidFill>
        </p:spPr>
        <p:txBody>
          <a:bodyPr wrap="none" lIns="44589" tIns="44589" rIns="44589" bIns="44589">
            <a:spAutoFit/>
          </a:bodyPr>
          <a:lstStyle/>
          <a:p>
            <a:r>
              <a:rPr sz="700" b="0" i="0" u="none">
                <a:solidFill>
                  <a:srgbClr val="2FB9C9"/>
                </a:solidFill>
                <a:latin typeface="Trebuchet MS"/>
              </a:rPr>
              <a:t>Scale Query Deck Viewport Viewport Dimension Method Direction Cell Graph</a:t>
            </a:r>
          </a:p>
        </p:txBody>
      </p:sp>
      <p:sp>
        <p:nvSpPr>
          <p:cNvPr id="19" name="TextBox 18"/>
          <p:cNvSpPr txBox="1"/>
          <p:nvPr/>
        </p:nvSpPr>
        <p:spPr>
          <a:xfrm>
            <a:off x="8587014" y="1688859"/>
            <a:ext cx="1668744" cy="313911"/>
          </a:xfrm>
          <a:prstGeom prst="rect">
            <a:avLst/>
          </a:prstGeom>
          <a:noFill/>
        </p:spPr>
        <p:txBody>
          <a:bodyPr wrap="none" lIns="27173" tIns="27173" rIns="27173" bIns="27173">
            <a:spAutoFit/>
          </a:bodyPr>
          <a:lstStyle/>
          <a:p>
            <a:r>
              <a:rPr sz="5100" b="1" i="0" u="none">
                <a:solidFill>
                  <a:srgbClr val="C731E3"/>
                </a:solidFill>
                <a:latin typeface="Aptos"/>
              </a:rPr>
              <a:t>Draft Circuit Dimension Waypoint Needle Data</a:t>
            </a:r>
          </a:p>
        </p:txBody>
      </p:sp>
      <p:pic>
        <p:nvPicPr>
          <p:cNvPr id="20" name="Picture 19" descr="_example_image.jpg"/>
          <p:cNvPicPr>
            <a:picLocks noChangeAspect="1"/>
          </p:cNvPicPr>
          <p:nvPr/>
        </p:nvPicPr>
        <p:blipFill>
          <a:blip r:embed="rId3"/>
          <a:srcRect/>
          <a:stretch>
            <a:fillRect/>
          </a:stretch>
        </p:blipFill>
        <p:spPr>
          <a:xfrm>
            <a:off x="6144990" y="334568"/>
            <a:ext cx="1851037" cy="1195297"/>
          </a:xfrm>
          <a:prstGeom prst="rect">
            <a:avLst/>
          </a:prstGeom>
        </p:spPr>
      </p:pic>
      <p:sp>
        <p:nvSpPr>
          <p:cNvPr id="21" name="Swoosh Arrow 20"/>
          <p:cNvSpPr/>
          <p:nvPr/>
        </p:nvSpPr>
        <p:spPr>
          <a:xfrm>
            <a:off x="389005" y="3915942"/>
            <a:ext cx="725862" cy="453393"/>
          </a:xfrm>
          <a:prstGeom prst="swooshArrow">
            <a:avLst/>
          </a:prstGeom>
          <a:solidFill>
            <a:srgbClr val="AC2732"/>
          </a:solidFill>
          <a:ln w="17033">
            <a:solidFill>
              <a:srgbClr val="D7DB5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5013140" y="862173"/>
            <a:ext cx="965137" cy="587653"/>
          </a:xfrm>
          <a:prstGeom prst="curvedConnector3">
            <a:avLst/>
          </a:prstGeom>
          <a:ln w="14357">
            <a:solidFill>
              <a:srgbClr val="6F9D4F"/>
            </a:solidFill>
            <a:prstDash val="dot"/>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86105" y="996207"/>
            <a:ext cx="416203" cy="2332823"/>
          </a:xfrm>
          <a:prstGeom prst="rect">
            <a:avLst/>
          </a:prstGeom>
          <a:noFill/>
        </p:spPr>
        <p:txBody>
          <a:bodyPr wrap="none" lIns="48771" tIns="48771" rIns="48771" bIns="48771">
            <a:spAutoFit/>
          </a:bodyPr>
          <a:lstStyle/>
          <a:p>
            <a:r>
              <a:rPr sz="1000" b="0" i="1" u="none">
                <a:solidFill>
                  <a:srgbClr val="C98993"/>
                </a:solidFill>
                <a:latin typeface="Trebuchet MS"/>
              </a:rPr>
              <a:t>Frequency Epoch Indicator Circuit Result Density Mode Trigger Core Gateway Transit Structure Link Event Lens Echo Archive Expansion Source Datum Inventory Velocity Control Group Wave Region Collection Surface Stream Signal Adaptive Network Rhythm Payload Factor Depth Path Portal Pipeline Cluster Heading Pipeline</a:t>
            </a:r>
          </a:p>
        </p:txBody>
      </p:sp>
      <p:graphicFrame>
        <p:nvGraphicFramePr>
          <p:cNvPr id="24" name="Table 23"/>
          <p:cNvGraphicFramePr>
            <a:graphicFrameLocks noGrp="1"/>
          </p:cNvGraphicFramePr>
          <p:nvPr/>
        </p:nvGraphicFramePr>
        <p:xfrm>
          <a:off x="6474584" y="5144926"/>
          <a:ext cx="2154504" cy="1483827"/>
        </p:xfrm>
        <a:graphic>
          <a:graphicData uri="http://schemas.openxmlformats.org/drawingml/2006/table">
            <a:tbl>
              <a:tblPr firstRow="1" bandRow="1">
                <a:tableStyleId>{5C22544A-7EE6-4342-B048-85BDC9FD1C3A}</a:tableStyleId>
              </a:tblPr>
              <a:tblGrid>
                <a:gridCol w="718168">
                  <a:extLst>
                    <a:ext uri="{9D8B030D-6E8A-4147-A177-3AD203B41FA5}">
                      <a16:colId xmlns:a16="http://schemas.microsoft.com/office/drawing/2014/main" val="20000"/>
                    </a:ext>
                  </a:extLst>
                </a:gridCol>
                <a:gridCol w="718168">
                  <a:extLst>
                    <a:ext uri="{9D8B030D-6E8A-4147-A177-3AD203B41FA5}">
                      <a16:colId xmlns:a16="http://schemas.microsoft.com/office/drawing/2014/main" val="20001"/>
                    </a:ext>
                  </a:extLst>
                </a:gridCol>
                <a:gridCol w="718168">
                  <a:extLst>
                    <a:ext uri="{9D8B030D-6E8A-4147-A177-3AD203B41FA5}">
                      <a16:colId xmlns:a16="http://schemas.microsoft.com/office/drawing/2014/main" val="20002"/>
                    </a:ext>
                  </a:extLst>
                </a:gridCol>
              </a:tblGrid>
              <a:tr h="296765">
                <a:tc>
                  <a:txBody>
                    <a:bodyPr/>
                    <a:lstStyle/>
                    <a:p>
                      <a:r>
                        <a:rPr sz="1100" b="1">
                          <a:solidFill>
                            <a:srgbClr val="CE4F6B"/>
                          </a:solidFill>
                        </a:rPr>
                        <a:t>Case</a:t>
                      </a:r>
                    </a:p>
                  </a:txBody>
                  <a:tcPr>
                    <a:solidFill>
                      <a:srgbClr val="302270"/>
                    </a:solidFill>
                  </a:tcPr>
                </a:tc>
                <a:tc>
                  <a:txBody>
                    <a:bodyPr/>
                    <a:lstStyle/>
                    <a:p>
                      <a:r>
                        <a:rPr sz="1100" b="1">
                          <a:solidFill>
                            <a:srgbClr val="CE4F6B"/>
                          </a:solidFill>
                        </a:rPr>
                        <a:t>Element Bundle</a:t>
                      </a:r>
                    </a:p>
                  </a:txBody>
                  <a:tcPr>
                    <a:solidFill>
                      <a:srgbClr val="302270"/>
                    </a:solidFill>
                  </a:tcPr>
                </a:tc>
                <a:tc>
                  <a:txBody>
                    <a:bodyPr/>
                    <a:lstStyle/>
                    <a:p>
                      <a:r>
                        <a:rPr sz="1100" b="1">
                          <a:solidFill>
                            <a:srgbClr val="CE4F6B"/>
                          </a:solidFill>
                        </a:rPr>
                        <a:t>Capacity Structure</a:t>
                      </a:r>
                    </a:p>
                  </a:txBody>
                  <a:tcPr>
                    <a:solidFill>
                      <a:srgbClr val="302270"/>
                    </a:solidFill>
                  </a:tcPr>
                </a:tc>
                <a:extLst>
                  <a:ext uri="{0D108BD9-81ED-4DB2-BD59-A6C34878D82A}">
                    <a16:rowId xmlns:a16="http://schemas.microsoft.com/office/drawing/2014/main" val="10000"/>
                  </a:ext>
                </a:extLst>
              </a:tr>
              <a:tr h="296765">
                <a:tc>
                  <a:txBody>
                    <a:bodyPr/>
                    <a:lstStyle/>
                    <a:p>
                      <a:r>
                        <a:rPr sz="1100" b="0">
                          <a:solidFill>
                            <a:srgbClr val="CE4F6B"/>
                          </a:solidFill>
                        </a:rPr>
                        <a:t>Region Map</a:t>
                      </a:r>
                    </a:p>
                  </a:txBody>
                  <a:tcPr>
                    <a:solidFill>
                      <a:srgbClr val="F5C6E8"/>
                    </a:solidFill>
                  </a:tcPr>
                </a:tc>
                <a:tc>
                  <a:txBody>
                    <a:bodyPr/>
                    <a:lstStyle/>
                    <a:p>
                      <a:r>
                        <a:rPr sz="1100" b="0">
                          <a:solidFill>
                            <a:srgbClr val="CE4F6B"/>
                          </a:solidFill>
                        </a:rPr>
                        <a:t>Trigger Factor</a:t>
                      </a:r>
                    </a:p>
                  </a:txBody>
                  <a:tcPr>
                    <a:solidFill>
                      <a:srgbClr val="F5C6E8"/>
                    </a:solidFill>
                  </a:tcPr>
                </a:tc>
                <a:tc>
                  <a:txBody>
                    <a:bodyPr/>
                    <a:lstStyle/>
                    <a:p>
                      <a:r>
                        <a:rPr sz="1100" b="0">
                          <a:solidFill>
                            <a:srgbClr val="CE4F6B"/>
                          </a:solidFill>
                        </a:rPr>
                        <a:t>Terminal Canvas</a:t>
                      </a:r>
                    </a:p>
                  </a:txBody>
                  <a:tcPr>
                    <a:solidFill>
                      <a:srgbClr val="F5C6E8"/>
                    </a:solidFill>
                  </a:tcPr>
                </a:tc>
                <a:extLst>
                  <a:ext uri="{0D108BD9-81ED-4DB2-BD59-A6C34878D82A}">
                    <a16:rowId xmlns:a16="http://schemas.microsoft.com/office/drawing/2014/main" val="10001"/>
                  </a:ext>
                </a:extLst>
              </a:tr>
              <a:tr h="296765">
                <a:tc>
                  <a:txBody>
                    <a:bodyPr/>
                    <a:lstStyle/>
                    <a:p>
                      <a:r>
                        <a:rPr sz="1100" b="0">
                          <a:solidFill>
                            <a:srgbClr val="CE4F6B"/>
                          </a:solidFill>
                        </a:rPr>
                        <a:t>Marker Point</a:t>
                      </a:r>
                    </a:p>
                  </a:txBody>
                  <a:tcPr>
                    <a:solidFill>
                      <a:srgbClr val="F7CFEC"/>
                    </a:solidFill>
                  </a:tcPr>
                </a:tc>
                <a:tc>
                  <a:txBody>
                    <a:bodyPr/>
                    <a:lstStyle/>
                    <a:p>
                      <a:r>
                        <a:rPr sz="1100" b="0">
                          <a:solidFill>
                            <a:srgbClr val="CE4F6B"/>
                          </a:solidFill>
                        </a:rPr>
                        <a:t>Phase</a:t>
                      </a:r>
                    </a:p>
                  </a:txBody>
                  <a:tcPr>
                    <a:solidFill>
                      <a:srgbClr val="F7CFEC"/>
                    </a:solidFill>
                  </a:tcPr>
                </a:tc>
                <a:tc>
                  <a:txBody>
                    <a:bodyPr/>
                    <a:lstStyle/>
                    <a:p>
                      <a:r>
                        <a:rPr sz="1100" b="0">
                          <a:solidFill>
                            <a:srgbClr val="CE4F6B"/>
                          </a:solidFill>
                        </a:rPr>
                        <a:t>Drive Option</a:t>
                      </a:r>
                    </a:p>
                  </a:txBody>
                  <a:tcPr>
                    <a:solidFill>
                      <a:srgbClr val="F7CFEC"/>
                    </a:solidFill>
                  </a:tcPr>
                </a:tc>
                <a:extLst>
                  <a:ext uri="{0D108BD9-81ED-4DB2-BD59-A6C34878D82A}">
                    <a16:rowId xmlns:a16="http://schemas.microsoft.com/office/drawing/2014/main" val="10002"/>
                  </a:ext>
                </a:extLst>
              </a:tr>
              <a:tr h="296765">
                <a:tc>
                  <a:txBody>
                    <a:bodyPr/>
                    <a:lstStyle/>
                    <a:p>
                      <a:r>
                        <a:rPr sz="1100" b="0">
                          <a:solidFill>
                            <a:srgbClr val="CE4F6B"/>
                          </a:solidFill>
                        </a:rPr>
                        <a:t>Transit Measure</a:t>
                      </a:r>
                    </a:p>
                  </a:txBody>
                  <a:tcPr>
                    <a:solidFill>
                      <a:srgbClr val="F5C6E8"/>
                    </a:solidFill>
                  </a:tcPr>
                </a:tc>
                <a:tc>
                  <a:txBody>
                    <a:bodyPr/>
                    <a:lstStyle/>
                    <a:p>
                      <a:r>
                        <a:rPr sz="1100" b="0">
                          <a:solidFill>
                            <a:srgbClr val="CE4F6B"/>
                          </a:solidFill>
                        </a:rPr>
                        <a:t>Exchange</a:t>
                      </a:r>
                    </a:p>
                  </a:txBody>
                  <a:tcPr>
                    <a:solidFill>
                      <a:srgbClr val="F5C6E8"/>
                    </a:solidFill>
                  </a:tcPr>
                </a:tc>
                <a:tc>
                  <a:txBody>
                    <a:bodyPr/>
                    <a:lstStyle/>
                    <a:p>
                      <a:r>
                        <a:rPr sz="1100" b="0">
                          <a:solidFill>
                            <a:srgbClr val="CE4F6B"/>
                          </a:solidFill>
                        </a:rPr>
                        <a:t>Tile Buffer</a:t>
                      </a:r>
                    </a:p>
                  </a:txBody>
                  <a:tcPr>
                    <a:solidFill>
                      <a:srgbClr val="F5C6E8"/>
                    </a:solidFill>
                  </a:tcPr>
                </a:tc>
                <a:extLst>
                  <a:ext uri="{0D108BD9-81ED-4DB2-BD59-A6C34878D82A}">
                    <a16:rowId xmlns:a16="http://schemas.microsoft.com/office/drawing/2014/main" val="10003"/>
                  </a:ext>
                </a:extLst>
              </a:tr>
              <a:tr h="296767">
                <a:tc>
                  <a:txBody>
                    <a:bodyPr/>
                    <a:lstStyle/>
                    <a:p>
                      <a:r>
                        <a:rPr sz="1100" b="0">
                          <a:solidFill>
                            <a:srgbClr val="CE4F6B"/>
                          </a:solidFill>
                        </a:rPr>
                        <a:t>Track Frame</a:t>
                      </a:r>
                    </a:p>
                  </a:txBody>
                  <a:tcPr>
                    <a:solidFill>
                      <a:srgbClr val="F7CFEC"/>
                    </a:solidFill>
                  </a:tcPr>
                </a:tc>
                <a:tc>
                  <a:txBody>
                    <a:bodyPr/>
                    <a:lstStyle/>
                    <a:p>
                      <a:r>
                        <a:rPr sz="1100" b="0">
                          <a:solidFill>
                            <a:srgbClr val="CE4F6B"/>
                          </a:solidFill>
                        </a:rPr>
                        <a:t>Report Record</a:t>
                      </a:r>
                    </a:p>
                  </a:txBody>
                  <a:tcPr>
                    <a:solidFill>
                      <a:srgbClr val="F7CFEC"/>
                    </a:solidFill>
                  </a:tcPr>
                </a:tc>
                <a:tc>
                  <a:txBody>
                    <a:bodyPr/>
                    <a:lstStyle/>
                    <a:p>
                      <a:r>
                        <a:rPr sz="1100" b="0">
                          <a:solidFill>
                            <a:srgbClr val="CE4F6B"/>
                          </a:solidFill>
                        </a:rPr>
                        <a:t>Stage Result</a:t>
                      </a:r>
                    </a:p>
                  </a:txBody>
                  <a:tcPr>
                    <a:solidFill>
                      <a:srgbClr val="F7CFEC"/>
                    </a:solidFill>
                  </a:tcPr>
                </a:tc>
                <a:extLst>
                  <a:ext uri="{0D108BD9-81ED-4DB2-BD59-A6C34878D82A}">
                    <a16:rowId xmlns:a16="http://schemas.microsoft.com/office/drawing/2014/main" val="10004"/>
                  </a:ext>
                </a:extLst>
              </a:tr>
            </a:tbl>
          </a:graphicData>
        </a:graphic>
      </p:graphicFrame>
      <p:sp>
        <p:nvSpPr>
          <p:cNvPr id="25" name="Predefined Process 24"/>
          <p:cNvSpPr/>
          <p:nvPr/>
        </p:nvSpPr>
        <p:spPr>
          <a:xfrm>
            <a:off x="8218997" y="2830165"/>
            <a:ext cx="2626945" cy="650905"/>
          </a:xfrm>
          <a:prstGeom prst="flowChartPredefinedProcess">
            <a:avLst/>
          </a:prstGeom>
          <a:solidFill>
            <a:srgbClr val="91C155"/>
          </a:solidFill>
          <a:ln w="15016">
            <a:solidFill>
              <a:srgbClr val="89C4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Chart 25"/>
          <p:cNvGraphicFramePr>
            <a:graphicFrameLocks noGrp="1"/>
          </p:cNvGraphicFramePr>
          <p:nvPr/>
        </p:nvGraphicFramePr>
        <p:xfrm>
          <a:off x="4743401" y="2591913"/>
          <a:ext cx="2217783" cy="1510763"/>
        </p:xfrm>
        <a:graphic>
          <a:graphicData uri="http://schemas.openxmlformats.org/drawingml/2006/chart">
            <c:chart xmlns:c="http://schemas.openxmlformats.org/drawingml/2006/chart" xmlns:r="http://schemas.openxmlformats.org/officeDocument/2006/relationships" r:id="rId4"/>
          </a:graphicData>
        </a:graphic>
      </p:graphicFrame>
      <p:pic>
        <p:nvPicPr>
          <p:cNvPr id="28" name="Graphic 27">
            <a:extLst>
              <a:ext uri="{FF2B5EF4-FFF2-40B4-BE49-F238E27FC236}">
                <a16:creationId xmlns:a16="http://schemas.microsoft.com/office/drawing/2014/main" id="{4FDEC190-9DC5-F66C-F590-651B7431C023}"/>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225721" y="2060476"/>
            <a:ext cx="1607313" cy="736601"/>
          </a:xfrm>
          <a:prstGeom prst="rect">
            <a:avLst/>
          </a:prstGeom>
        </p:spPr>
      </p:pic>
      <p:pic>
        <p:nvPicPr>
          <p:cNvPr id="30" name="Graphic 29">
            <a:extLst>
              <a:ext uri="{FF2B5EF4-FFF2-40B4-BE49-F238E27FC236}">
                <a16:creationId xmlns:a16="http://schemas.microsoft.com/office/drawing/2014/main" id="{D3860004-445A-299B-9D11-188043017F6F}"/>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245318" y="2333815"/>
            <a:ext cx="1277215" cy="78279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5436" y="2826804"/>
            <a:ext cx="617926" cy="1602761"/>
          </a:xfrm>
          <a:prstGeom prst="rect">
            <a:avLst/>
          </a:prstGeom>
          <a:noFill/>
        </p:spPr>
        <p:txBody>
          <a:bodyPr wrap="none" lIns="39214" tIns="39214" rIns="39214" bIns="39214">
            <a:spAutoFit/>
          </a:bodyPr>
          <a:lstStyle/>
          <a:p>
            <a:r>
              <a:rPr sz="1400" b="1" i="0" u="none">
                <a:solidFill>
                  <a:srgbClr val="8D687A"/>
                </a:solidFill>
                <a:latin typeface="Calibri"/>
              </a:rPr>
              <a:t>North System Factor Lens Kernel Cluster Slice State Input Entity Discovery Trigger Stream Detail Metric Trace Panel North Channel Release Beacon Horizon Buffer Option Access Stack Friction Mode Clarity Design Graph Interface Memory Metric Transform Command Measure Adaptive Payload Memory Blueprint System Narrative Analysis</a:t>
            </a:r>
          </a:p>
        </p:txBody>
      </p:sp>
      <p:graphicFrame>
        <p:nvGraphicFramePr>
          <p:cNvPr id="3" name="Table 2"/>
          <p:cNvGraphicFramePr>
            <a:graphicFrameLocks noGrp="1"/>
          </p:cNvGraphicFramePr>
          <p:nvPr/>
        </p:nvGraphicFramePr>
        <p:xfrm>
          <a:off x="5251001" y="3986507"/>
          <a:ext cx="2913031" cy="1009203"/>
        </p:xfrm>
        <a:graphic>
          <a:graphicData uri="http://schemas.openxmlformats.org/drawingml/2006/table">
            <a:tbl>
              <a:tblPr firstRow="1" bandRow="1">
                <a:tableStyleId>{5C22544A-7EE6-4342-B048-85BDC9FD1C3A}</a:tableStyleId>
              </a:tblPr>
              <a:tblGrid>
                <a:gridCol w="485505">
                  <a:extLst>
                    <a:ext uri="{9D8B030D-6E8A-4147-A177-3AD203B41FA5}">
                      <a16:colId xmlns:a16="http://schemas.microsoft.com/office/drawing/2014/main" val="20000"/>
                    </a:ext>
                  </a:extLst>
                </a:gridCol>
                <a:gridCol w="485505">
                  <a:extLst>
                    <a:ext uri="{9D8B030D-6E8A-4147-A177-3AD203B41FA5}">
                      <a16:colId xmlns:a16="http://schemas.microsoft.com/office/drawing/2014/main" val="20001"/>
                    </a:ext>
                  </a:extLst>
                </a:gridCol>
                <a:gridCol w="485505">
                  <a:extLst>
                    <a:ext uri="{9D8B030D-6E8A-4147-A177-3AD203B41FA5}">
                      <a16:colId xmlns:a16="http://schemas.microsoft.com/office/drawing/2014/main" val="20002"/>
                    </a:ext>
                  </a:extLst>
                </a:gridCol>
                <a:gridCol w="485505">
                  <a:extLst>
                    <a:ext uri="{9D8B030D-6E8A-4147-A177-3AD203B41FA5}">
                      <a16:colId xmlns:a16="http://schemas.microsoft.com/office/drawing/2014/main" val="20003"/>
                    </a:ext>
                  </a:extLst>
                </a:gridCol>
                <a:gridCol w="485505">
                  <a:extLst>
                    <a:ext uri="{9D8B030D-6E8A-4147-A177-3AD203B41FA5}">
                      <a16:colId xmlns:a16="http://schemas.microsoft.com/office/drawing/2014/main" val="20004"/>
                    </a:ext>
                  </a:extLst>
                </a:gridCol>
                <a:gridCol w="485506">
                  <a:extLst>
                    <a:ext uri="{9D8B030D-6E8A-4147-A177-3AD203B41FA5}">
                      <a16:colId xmlns:a16="http://schemas.microsoft.com/office/drawing/2014/main" val="20005"/>
                    </a:ext>
                  </a:extLst>
                </a:gridCol>
              </a:tblGrid>
              <a:tr h="144171">
                <a:tc>
                  <a:txBody>
                    <a:bodyPr/>
                    <a:lstStyle/>
                    <a:p>
                      <a:r>
                        <a:rPr sz="1300" b="0">
                          <a:solidFill>
                            <a:srgbClr val="7D7784"/>
                          </a:solidFill>
                        </a:rPr>
                        <a:t>Clarity Map</a:t>
                      </a:r>
                    </a:p>
                  </a:txBody>
                  <a:tcPr>
                    <a:solidFill>
                      <a:srgbClr val="E1F4F3"/>
                    </a:solidFill>
                  </a:tcPr>
                </a:tc>
                <a:tc>
                  <a:txBody>
                    <a:bodyPr/>
                    <a:lstStyle/>
                    <a:p>
                      <a:r>
                        <a:rPr sz="1300" b="0">
                          <a:solidFill>
                            <a:srgbClr val="7D7784"/>
                          </a:solidFill>
                        </a:rPr>
                        <a:t>Needle Canvas</a:t>
                      </a:r>
                    </a:p>
                  </a:txBody>
                  <a:tcPr>
                    <a:solidFill>
                      <a:srgbClr val="E1F4F3"/>
                    </a:solidFill>
                  </a:tcPr>
                </a:tc>
                <a:tc>
                  <a:txBody>
                    <a:bodyPr/>
                    <a:lstStyle/>
                    <a:p>
                      <a:r>
                        <a:rPr sz="1300" b="0">
                          <a:solidFill>
                            <a:srgbClr val="7D7784"/>
                          </a:solidFill>
                        </a:rPr>
                        <a:t>Explorer Brief</a:t>
                      </a:r>
                    </a:p>
                  </a:txBody>
                  <a:tcPr>
                    <a:solidFill>
                      <a:srgbClr val="E1F4F3"/>
                    </a:solidFill>
                  </a:tcPr>
                </a:tc>
                <a:tc>
                  <a:txBody>
                    <a:bodyPr/>
                    <a:lstStyle/>
                    <a:p>
                      <a:r>
                        <a:rPr sz="1300" b="0">
                          <a:solidFill>
                            <a:srgbClr val="7D7784"/>
                          </a:solidFill>
                        </a:rPr>
                        <a:t>Channel Ledger</a:t>
                      </a:r>
                    </a:p>
                  </a:txBody>
                  <a:tcPr>
                    <a:solidFill>
                      <a:srgbClr val="E1F4F3"/>
                    </a:solidFill>
                  </a:tcPr>
                </a:tc>
                <a:tc>
                  <a:txBody>
                    <a:bodyPr/>
                    <a:lstStyle/>
                    <a:p>
                      <a:r>
                        <a:rPr sz="1300" b="0">
                          <a:solidFill>
                            <a:srgbClr val="7D7784"/>
                          </a:solidFill>
                        </a:rPr>
                        <a:t>Harbor</a:t>
                      </a:r>
                    </a:p>
                  </a:txBody>
                  <a:tcPr>
                    <a:solidFill>
                      <a:srgbClr val="E1F4F3"/>
                    </a:solidFill>
                  </a:tcPr>
                </a:tc>
                <a:tc>
                  <a:txBody>
                    <a:bodyPr/>
                    <a:lstStyle/>
                    <a:p>
                      <a:r>
                        <a:rPr sz="1300" b="0">
                          <a:solidFill>
                            <a:srgbClr val="7D7784"/>
                          </a:solidFill>
                        </a:rPr>
                        <a:t>Velocity Diagram</a:t>
                      </a:r>
                    </a:p>
                  </a:txBody>
                  <a:tcPr>
                    <a:solidFill>
                      <a:srgbClr val="E1F4F3"/>
                    </a:solidFill>
                  </a:tcPr>
                </a:tc>
                <a:extLst>
                  <a:ext uri="{0D108BD9-81ED-4DB2-BD59-A6C34878D82A}">
                    <a16:rowId xmlns:a16="http://schemas.microsoft.com/office/drawing/2014/main" val="10000"/>
                  </a:ext>
                </a:extLst>
              </a:tr>
              <a:tr h="144171">
                <a:tc>
                  <a:txBody>
                    <a:bodyPr/>
                    <a:lstStyle/>
                    <a:p>
                      <a:r>
                        <a:rPr sz="1300" b="0">
                          <a:solidFill>
                            <a:srgbClr val="7D7784"/>
                          </a:solidFill>
                        </a:rPr>
                        <a:t>Resource Volume</a:t>
                      </a:r>
                    </a:p>
                  </a:txBody>
                  <a:tcPr>
                    <a:solidFill>
                      <a:srgbClr val="C9EBEA"/>
                    </a:solidFill>
                  </a:tcPr>
                </a:tc>
                <a:tc>
                  <a:txBody>
                    <a:bodyPr/>
                    <a:lstStyle/>
                    <a:p>
                      <a:r>
                        <a:rPr sz="1300" b="0">
                          <a:solidFill>
                            <a:srgbClr val="7D7784"/>
                          </a:solidFill>
                        </a:rPr>
                        <a:t>Harbor Position</a:t>
                      </a:r>
                    </a:p>
                  </a:txBody>
                  <a:tcPr>
                    <a:solidFill>
                      <a:srgbClr val="C9EBEA"/>
                    </a:solidFill>
                  </a:tcPr>
                </a:tc>
                <a:tc>
                  <a:txBody>
                    <a:bodyPr/>
                    <a:lstStyle/>
                    <a:p>
                      <a:r>
                        <a:rPr sz="1300" b="0">
                          <a:solidFill>
                            <a:srgbClr val="7D7784"/>
                          </a:solidFill>
                        </a:rPr>
                        <a:t>Bridge</a:t>
                      </a:r>
                    </a:p>
                  </a:txBody>
                  <a:tcPr>
                    <a:solidFill>
                      <a:srgbClr val="C9EBEA"/>
                    </a:solidFill>
                  </a:tcPr>
                </a:tc>
                <a:tc>
                  <a:txBody>
                    <a:bodyPr/>
                    <a:lstStyle/>
                    <a:p>
                      <a:r>
                        <a:rPr sz="1300" b="0">
                          <a:solidFill>
                            <a:srgbClr val="7D7784"/>
                          </a:solidFill>
                        </a:rPr>
                        <a:t>Span Deck</a:t>
                      </a:r>
                    </a:p>
                  </a:txBody>
                  <a:tcPr>
                    <a:solidFill>
                      <a:srgbClr val="C9EBEA"/>
                    </a:solidFill>
                  </a:tcPr>
                </a:tc>
                <a:tc>
                  <a:txBody>
                    <a:bodyPr/>
                    <a:lstStyle/>
                    <a:p>
                      <a:r>
                        <a:rPr sz="1300" b="0">
                          <a:solidFill>
                            <a:srgbClr val="7D7784"/>
                          </a:solidFill>
                        </a:rPr>
                        <a:t>Agenda Echo</a:t>
                      </a:r>
                    </a:p>
                  </a:txBody>
                  <a:tcPr>
                    <a:solidFill>
                      <a:srgbClr val="C9EBEA"/>
                    </a:solidFill>
                  </a:tcPr>
                </a:tc>
                <a:tc>
                  <a:txBody>
                    <a:bodyPr/>
                    <a:lstStyle/>
                    <a:p>
                      <a:r>
                        <a:rPr sz="1300" b="0">
                          <a:solidFill>
                            <a:srgbClr val="7D7784"/>
                          </a:solidFill>
                        </a:rPr>
                        <a:t>Slice Switch</a:t>
                      </a:r>
                    </a:p>
                  </a:txBody>
                  <a:tcPr>
                    <a:solidFill>
                      <a:srgbClr val="C9EBEA"/>
                    </a:solidFill>
                  </a:tcPr>
                </a:tc>
                <a:extLst>
                  <a:ext uri="{0D108BD9-81ED-4DB2-BD59-A6C34878D82A}">
                    <a16:rowId xmlns:a16="http://schemas.microsoft.com/office/drawing/2014/main" val="10001"/>
                  </a:ext>
                </a:extLst>
              </a:tr>
              <a:tr h="144171">
                <a:tc>
                  <a:txBody>
                    <a:bodyPr/>
                    <a:lstStyle/>
                    <a:p>
                      <a:r>
                        <a:rPr sz="1300" b="0">
                          <a:solidFill>
                            <a:srgbClr val="7D7784"/>
                          </a:solidFill>
                        </a:rPr>
                        <a:t>Element</a:t>
                      </a:r>
                    </a:p>
                  </a:txBody>
                  <a:tcPr>
                    <a:solidFill>
                      <a:srgbClr val="E1F4F3"/>
                    </a:solidFill>
                  </a:tcPr>
                </a:tc>
                <a:tc>
                  <a:txBody>
                    <a:bodyPr/>
                    <a:lstStyle/>
                    <a:p>
                      <a:r>
                        <a:rPr sz="1300" b="0">
                          <a:solidFill>
                            <a:srgbClr val="7D7784"/>
                          </a:solidFill>
                        </a:rPr>
                        <a:t>Craft</a:t>
                      </a:r>
                    </a:p>
                  </a:txBody>
                  <a:tcPr>
                    <a:solidFill>
                      <a:srgbClr val="E1F4F3"/>
                    </a:solidFill>
                  </a:tcPr>
                </a:tc>
                <a:tc>
                  <a:txBody>
                    <a:bodyPr/>
                    <a:lstStyle/>
                    <a:p>
                      <a:r>
                        <a:rPr sz="1300" b="0">
                          <a:solidFill>
                            <a:srgbClr val="7D7784"/>
                          </a:solidFill>
                        </a:rPr>
                        <a:t>Inventory</a:t>
                      </a:r>
                    </a:p>
                  </a:txBody>
                  <a:tcPr>
                    <a:solidFill>
                      <a:srgbClr val="E1F4F3"/>
                    </a:solidFill>
                  </a:tcPr>
                </a:tc>
                <a:tc>
                  <a:txBody>
                    <a:bodyPr/>
                    <a:lstStyle/>
                    <a:p>
                      <a:r>
                        <a:rPr sz="1300" b="0">
                          <a:solidFill>
                            <a:srgbClr val="7D7784"/>
                          </a:solidFill>
                        </a:rPr>
                        <a:t>Function</a:t>
                      </a:r>
                    </a:p>
                  </a:txBody>
                  <a:tcPr>
                    <a:solidFill>
                      <a:srgbClr val="E1F4F3"/>
                    </a:solidFill>
                  </a:tcPr>
                </a:tc>
                <a:tc>
                  <a:txBody>
                    <a:bodyPr/>
                    <a:lstStyle/>
                    <a:p>
                      <a:r>
                        <a:rPr sz="1300" b="0">
                          <a:solidFill>
                            <a:srgbClr val="7D7784"/>
                          </a:solidFill>
                        </a:rPr>
                        <a:t>Buffer</a:t>
                      </a:r>
                    </a:p>
                  </a:txBody>
                  <a:tcPr>
                    <a:solidFill>
                      <a:srgbClr val="E1F4F3"/>
                    </a:solidFill>
                  </a:tcPr>
                </a:tc>
                <a:tc>
                  <a:txBody>
                    <a:bodyPr/>
                    <a:lstStyle/>
                    <a:p>
                      <a:r>
                        <a:rPr sz="1300" b="0">
                          <a:solidFill>
                            <a:srgbClr val="7D7784"/>
                          </a:solidFill>
                        </a:rPr>
                        <a:t>Memory</a:t>
                      </a:r>
                    </a:p>
                  </a:txBody>
                  <a:tcPr>
                    <a:solidFill>
                      <a:srgbClr val="E1F4F3"/>
                    </a:solidFill>
                  </a:tcPr>
                </a:tc>
                <a:extLst>
                  <a:ext uri="{0D108BD9-81ED-4DB2-BD59-A6C34878D82A}">
                    <a16:rowId xmlns:a16="http://schemas.microsoft.com/office/drawing/2014/main" val="10002"/>
                  </a:ext>
                </a:extLst>
              </a:tr>
              <a:tr h="144171">
                <a:tc>
                  <a:txBody>
                    <a:bodyPr/>
                    <a:lstStyle/>
                    <a:p>
                      <a:r>
                        <a:rPr sz="1300" b="0">
                          <a:solidFill>
                            <a:srgbClr val="7D7784"/>
                          </a:solidFill>
                        </a:rPr>
                        <a:t>Timeline Template</a:t>
                      </a:r>
                    </a:p>
                  </a:txBody>
                  <a:tcPr>
                    <a:solidFill>
                      <a:srgbClr val="C9EBEA"/>
                    </a:solidFill>
                  </a:tcPr>
                </a:tc>
                <a:tc>
                  <a:txBody>
                    <a:bodyPr/>
                    <a:lstStyle/>
                    <a:p>
                      <a:r>
                        <a:rPr sz="1300" b="0">
                          <a:solidFill>
                            <a:srgbClr val="7D7784"/>
                          </a:solidFill>
                        </a:rPr>
                        <a:t>Matrix</a:t>
                      </a:r>
                    </a:p>
                  </a:txBody>
                  <a:tcPr>
                    <a:solidFill>
                      <a:srgbClr val="C9EBEA"/>
                    </a:solidFill>
                  </a:tcPr>
                </a:tc>
                <a:tc>
                  <a:txBody>
                    <a:bodyPr/>
                    <a:lstStyle/>
                    <a:p>
                      <a:r>
                        <a:rPr sz="1300" b="0">
                          <a:solidFill>
                            <a:srgbClr val="7D7784"/>
                          </a:solidFill>
                        </a:rPr>
                        <a:t>Target Alpha</a:t>
                      </a:r>
                    </a:p>
                  </a:txBody>
                  <a:tcPr>
                    <a:solidFill>
                      <a:srgbClr val="C9EBEA"/>
                    </a:solidFill>
                  </a:tcPr>
                </a:tc>
                <a:tc>
                  <a:txBody>
                    <a:bodyPr/>
                    <a:lstStyle/>
                    <a:p>
                      <a:r>
                        <a:rPr sz="1300" b="0">
                          <a:solidFill>
                            <a:srgbClr val="7D7784"/>
                          </a:solidFill>
                        </a:rPr>
                        <a:t>Flow</a:t>
                      </a:r>
                    </a:p>
                  </a:txBody>
                  <a:tcPr>
                    <a:solidFill>
                      <a:srgbClr val="C9EBEA"/>
                    </a:solidFill>
                  </a:tcPr>
                </a:tc>
                <a:tc>
                  <a:txBody>
                    <a:bodyPr/>
                    <a:lstStyle/>
                    <a:p>
                      <a:r>
                        <a:rPr sz="1300" b="0">
                          <a:solidFill>
                            <a:srgbClr val="7D7784"/>
                          </a:solidFill>
                        </a:rPr>
                        <a:t>Dimension Path</a:t>
                      </a:r>
                    </a:p>
                  </a:txBody>
                  <a:tcPr>
                    <a:solidFill>
                      <a:srgbClr val="C9EBEA"/>
                    </a:solidFill>
                  </a:tcPr>
                </a:tc>
                <a:tc>
                  <a:txBody>
                    <a:bodyPr/>
                    <a:lstStyle/>
                    <a:p>
                      <a:r>
                        <a:rPr sz="1300" b="0">
                          <a:solidFill>
                            <a:srgbClr val="7D7784"/>
                          </a:solidFill>
                        </a:rPr>
                        <a:t>Model</a:t>
                      </a:r>
                    </a:p>
                  </a:txBody>
                  <a:tcPr>
                    <a:solidFill>
                      <a:srgbClr val="C9EBEA"/>
                    </a:solidFill>
                  </a:tcPr>
                </a:tc>
                <a:extLst>
                  <a:ext uri="{0D108BD9-81ED-4DB2-BD59-A6C34878D82A}">
                    <a16:rowId xmlns:a16="http://schemas.microsoft.com/office/drawing/2014/main" val="10003"/>
                  </a:ext>
                </a:extLst>
              </a:tr>
              <a:tr h="144171">
                <a:tc>
                  <a:txBody>
                    <a:bodyPr/>
                    <a:lstStyle/>
                    <a:p>
                      <a:r>
                        <a:rPr sz="1300" b="0">
                          <a:solidFill>
                            <a:srgbClr val="7D7784"/>
                          </a:solidFill>
                        </a:rPr>
                        <a:t>Model</a:t>
                      </a:r>
                    </a:p>
                  </a:txBody>
                  <a:tcPr>
                    <a:solidFill>
                      <a:srgbClr val="E1F4F3"/>
                    </a:solidFill>
                  </a:tcPr>
                </a:tc>
                <a:tc>
                  <a:txBody>
                    <a:bodyPr/>
                    <a:lstStyle/>
                    <a:p>
                      <a:r>
                        <a:rPr sz="1300" b="0">
                          <a:solidFill>
                            <a:srgbClr val="7D7784"/>
                          </a:solidFill>
                        </a:rPr>
                        <a:t>Story</a:t>
                      </a:r>
                    </a:p>
                  </a:txBody>
                  <a:tcPr>
                    <a:solidFill>
                      <a:srgbClr val="E1F4F3"/>
                    </a:solidFill>
                  </a:tcPr>
                </a:tc>
                <a:tc>
                  <a:txBody>
                    <a:bodyPr/>
                    <a:lstStyle/>
                    <a:p>
                      <a:r>
                        <a:rPr sz="1300" b="0">
                          <a:solidFill>
                            <a:srgbClr val="7D7784"/>
                          </a:solidFill>
                        </a:rPr>
                        <a:t>Precision</a:t>
                      </a:r>
                    </a:p>
                  </a:txBody>
                  <a:tcPr>
                    <a:solidFill>
                      <a:srgbClr val="E1F4F3"/>
                    </a:solidFill>
                  </a:tcPr>
                </a:tc>
                <a:tc>
                  <a:txBody>
                    <a:bodyPr/>
                    <a:lstStyle/>
                    <a:p>
                      <a:r>
                        <a:rPr sz="1300" b="0">
                          <a:solidFill>
                            <a:srgbClr val="7D7784"/>
                          </a:solidFill>
                        </a:rPr>
                        <a:t>Surface</a:t>
                      </a:r>
                    </a:p>
                  </a:txBody>
                  <a:tcPr>
                    <a:solidFill>
                      <a:srgbClr val="E1F4F3"/>
                    </a:solidFill>
                  </a:tcPr>
                </a:tc>
                <a:tc>
                  <a:txBody>
                    <a:bodyPr/>
                    <a:lstStyle/>
                    <a:p>
                      <a:r>
                        <a:rPr sz="1300" b="0">
                          <a:solidFill>
                            <a:srgbClr val="7D7784"/>
                          </a:solidFill>
                        </a:rPr>
                        <a:t>Segment System</a:t>
                      </a:r>
                    </a:p>
                  </a:txBody>
                  <a:tcPr>
                    <a:solidFill>
                      <a:srgbClr val="E1F4F3"/>
                    </a:solidFill>
                  </a:tcPr>
                </a:tc>
                <a:tc>
                  <a:txBody>
                    <a:bodyPr/>
                    <a:lstStyle/>
                    <a:p>
                      <a:r>
                        <a:rPr sz="1300" b="0">
                          <a:solidFill>
                            <a:srgbClr val="7D7784"/>
                          </a:solidFill>
                        </a:rPr>
                        <a:t>Depth</a:t>
                      </a:r>
                    </a:p>
                  </a:txBody>
                  <a:tcPr>
                    <a:solidFill>
                      <a:srgbClr val="E1F4F3"/>
                    </a:solidFill>
                  </a:tcPr>
                </a:tc>
                <a:extLst>
                  <a:ext uri="{0D108BD9-81ED-4DB2-BD59-A6C34878D82A}">
                    <a16:rowId xmlns:a16="http://schemas.microsoft.com/office/drawing/2014/main" val="10004"/>
                  </a:ext>
                </a:extLst>
              </a:tr>
              <a:tr h="144171">
                <a:tc>
                  <a:txBody>
                    <a:bodyPr/>
                    <a:lstStyle/>
                    <a:p>
                      <a:r>
                        <a:rPr sz="1300" b="0">
                          <a:solidFill>
                            <a:srgbClr val="7D7784"/>
                          </a:solidFill>
                        </a:rPr>
                        <a:t>Heading Queue</a:t>
                      </a:r>
                    </a:p>
                  </a:txBody>
                  <a:tcPr>
                    <a:solidFill>
                      <a:srgbClr val="C9EBEA"/>
                    </a:solidFill>
                  </a:tcPr>
                </a:tc>
                <a:tc>
                  <a:txBody>
                    <a:bodyPr/>
                    <a:lstStyle/>
                    <a:p>
                      <a:r>
                        <a:rPr sz="1300" b="0">
                          <a:solidFill>
                            <a:srgbClr val="7D7784"/>
                          </a:solidFill>
                        </a:rPr>
                        <a:t>Collection Insight</a:t>
                      </a:r>
                    </a:p>
                  </a:txBody>
                  <a:tcPr>
                    <a:solidFill>
                      <a:srgbClr val="C9EBEA"/>
                    </a:solidFill>
                  </a:tcPr>
                </a:tc>
                <a:tc>
                  <a:txBody>
                    <a:bodyPr/>
                    <a:lstStyle/>
                    <a:p>
                      <a:r>
                        <a:rPr sz="1300" b="0">
                          <a:solidFill>
                            <a:srgbClr val="7D7784"/>
                          </a:solidFill>
                        </a:rPr>
                        <a:t>Reserve Grid</a:t>
                      </a:r>
                    </a:p>
                  </a:txBody>
                  <a:tcPr>
                    <a:solidFill>
                      <a:srgbClr val="C9EBEA"/>
                    </a:solidFill>
                  </a:tcPr>
                </a:tc>
                <a:tc>
                  <a:txBody>
                    <a:bodyPr/>
                    <a:lstStyle/>
                    <a:p>
                      <a:r>
                        <a:rPr sz="1300" b="0">
                          <a:solidFill>
                            <a:srgbClr val="7D7784"/>
                          </a:solidFill>
                        </a:rPr>
                        <a:t>Velocity</a:t>
                      </a:r>
                    </a:p>
                  </a:txBody>
                  <a:tcPr>
                    <a:solidFill>
                      <a:srgbClr val="C9EBEA"/>
                    </a:solidFill>
                  </a:tcPr>
                </a:tc>
                <a:tc>
                  <a:txBody>
                    <a:bodyPr/>
                    <a:lstStyle/>
                    <a:p>
                      <a:r>
                        <a:rPr sz="1300" b="0">
                          <a:solidFill>
                            <a:srgbClr val="7D7784"/>
                          </a:solidFill>
                        </a:rPr>
                        <a:t>Terminal</a:t>
                      </a:r>
                    </a:p>
                  </a:txBody>
                  <a:tcPr>
                    <a:solidFill>
                      <a:srgbClr val="C9EBEA"/>
                    </a:solidFill>
                  </a:tcPr>
                </a:tc>
                <a:tc>
                  <a:txBody>
                    <a:bodyPr/>
                    <a:lstStyle/>
                    <a:p>
                      <a:r>
                        <a:rPr sz="1300" b="0">
                          <a:solidFill>
                            <a:srgbClr val="7D7784"/>
                          </a:solidFill>
                        </a:rPr>
                        <a:t>Report Expansion</a:t>
                      </a:r>
                    </a:p>
                  </a:txBody>
                  <a:tcPr>
                    <a:solidFill>
                      <a:srgbClr val="C9EBEA"/>
                    </a:solidFill>
                  </a:tcPr>
                </a:tc>
                <a:extLst>
                  <a:ext uri="{0D108BD9-81ED-4DB2-BD59-A6C34878D82A}">
                    <a16:rowId xmlns:a16="http://schemas.microsoft.com/office/drawing/2014/main" val="10005"/>
                  </a:ext>
                </a:extLst>
              </a:tr>
              <a:tr h="144177">
                <a:tc>
                  <a:txBody>
                    <a:bodyPr/>
                    <a:lstStyle/>
                    <a:p>
                      <a:r>
                        <a:rPr sz="1300" b="0">
                          <a:solidFill>
                            <a:srgbClr val="7D7784"/>
                          </a:solidFill>
                        </a:rPr>
                        <a:t>Lens Queue</a:t>
                      </a:r>
                    </a:p>
                  </a:txBody>
                  <a:tcPr>
                    <a:solidFill>
                      <a:srgbClr val="E1F4F3"/>
                    </a:solidFill>
                  </a:tcPr>
                </a:tc>
                <a:tc>
                  <a:txBody>
                    <a:bodyPr/>
                    <a:lstStyle/>
                    <a:p>
                      <a:r>
                        <a:rPr sz="1300" b="0">
                          <a:solidFill>
                            <a:srgbClr val="7D7784"/>
                          </a:solidFill>
                        </a:rPr>
                        <a:t>Table</a:t>
                      </a:r>
                    </a:p>
                  </a:txBody>
                  <a:tcPr>
                    <a:solidFill>
                      <a:srgbClr val="E1F4F3"/>
                    </a:solidFill>
                  </a:tcPr>
                </a:tc>
                <a:tc>
                  <a:txBody>
                    <a:bodyPr/>
                    <a:lstStyle/>
                    <a:p>
                      <a:r>
                        <a:rPr sz="1300" b="0">
                          <a:solidFill>
                            <a:srgbClr val="7D7784"/>
                          </a:solidFill>
                        </a:rPr>
                        <a:t>Index</a:t>
                      </a:r>
                    </a:p>
                  </a:txBody>
                  <a:tcPr>
                    <a:solidFill>
                      <a:srgbClr val="E1F4F3"/>
                    </a:solidFill>
                  </a:tcPr>
                </a:tc>
                <a:tc>
                  <a:txBody>
                    <a:bodyPr/>
                    <a:lstStyle/>
                    <a:p>
                      <a:r>
                        <a:rPr sz="1300" b="0">
                          <a:solidFill>
                            <a:srgbClr val="7D7784"/>
                          </a:solidFill>
                        </a:rPr>
                        <a:t>Dispatch Design</a:t>
                      </a:r>
                    </a:p>
                  </a:txBody>
                  <a:tcPr>
                    <a:solidFill>
                      <a:srgbClr val="E1F4F3"/>
                    </a:solidFill>
                  </a:tcPr>
                </a:tc>
                <a:tc>
                  <a:txBody>
                    <a:bodyPr/>
                    <a:lstStyle/>
                    <a:p>
                      <a:r>
                        <a:rPr sz="1300" b="0">
                          <a:solidFill>
                            <a:srgbClr val="7D7784"/>
                          </a:solidFill>
                        </a:rPr>
                        <a:t>Reference</a:t>
                      </a:r>
                    </a:p>
                  </a:txBody>
                  <a:tcPr>
                    <a:solidFill>
                      <a:srgbClr val="E1F4F3"/>
                    </a:solidFill>
                  </a:tcPr>
                </a:tc>
                <a:tc>
                  <a:txBody>
                    <a:bodyPr/>
                    <a:lstStyle/>
                    <a:p>
                      <a:r>
                        <a:rPr sz="1300" b="0">
                          <a:solidFill>
                            <a:srgbClr val="7D7784"/>
                          </a:solidFill>
                        </a:rPr>
                        <a:t>Segment</a:t>
                      </a:r>
                    </a:p>
                  </a:txBody>
                  <a:tcPr>
                    <a:solidFill>
                      <a:srgbClr val="E1F4F3"/>
                    </a:solidFill>
                  </a:tcPr>
                </a:tc>
                <a:extLst>
                  <a:ext uri="{0D108BD9-81ED-4DB2-BD59-A6C34878D82A}">
                    <a16:rowId xmlns:a16="http://schemas.microsoft.com/office/drawing/2014/main" val="10006"/>
                  </a:ext>
                </a:extLst>
              </a:tr>
            </a:tbl>
          </a:graphicData>
        </a:graphic>
      </p:graphicFrame>
      <p:pic>
        <p:nvPicPr>
          <p:cNvPr id="4" name="Picture 3" descr="_example_image.jpg"/>
          <p:cNvPicPr>
            <a:picLocks noChangeAspect="1"/>
          </p:cNvPicPr>
          <p:nvPr/>
        </p:nvPicPr>
        <p:blipFill>
          <a:blip r:embed="rId2"/>
          <a:srcRect l="706" t="12094" r="5147" b="18254"/>
          <a:stretch>
            <a:fillRect/>
          </a:stretch>
        </p:blipFill>
        <p:spPr>
          <a:xfrm>
            <a:off x="668283" y="3626724"/>
            <a:ext cx="2368679" cy="1808350"/>
          </a:xfrm>
          <a:prstGeom prst="rect">
            <a:avLst/>
          </a:prstGeom>
        </p:spPr>
      </p:pic>
      <p:sp>
        <p:nvSpPr>
          <p:cNvPr id="5" name="Rectangular Callout 4"/>
          <p:cNvSpPr/>
          <p:nvPr/>
        </p:nvSpPr>
        <p:spPr>
          <a:xfrm>
            <a:off x="7029568" y="619114"/>
            <a:ext cx="2636754" cy="1021776"/>
          </a:xfrm>
          <a:prstGeom prst="wedgeRectCallout">
            <a:avLst/>
          </a:prstGeom>
          <a:solidFill>
            <a:srgbClr val="2AE1CA"/>
          </a:solidFill>
          <a:ln w="8035">
            <a:solidFill>
              <a:srgbClr val="68B84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3215701" y="592138"/>
            <a:ext cx="1469740" cy="588132"/>
          </a:xfrm>
          <a:custGeom>
            <a:avLst/>
            <a:gdLst/>
            <a:ahLst/>
            <a:cxnLst/>
            <a:rect l="l" t="t" r="r" b="b"/>
            <a:pathLst>
              <a:path w="1469740" h="588132">
                <a:moveTo>
                  <a:pt x="734870" y="0"/>
                </a:moveTo>
                <a:lnTo>
                  <a:pt x="918587" y="147033"/>
                </a:lnTo>
                <a:lnTo>
                  <a:pt x="1377881" y="105864"/>
                </a:lnTo>
                <a:lnTo>
                  <a:pt x="1117614" y="294066"/>
                </a:lnTo>
                <a:lnTo>
                  <a:pt x="1469740" y="458743"/>
                </a:lnTo>
                <a:lnTo>
                  <a:pt x="918587" y="423455"/>
                </a:lnTo>
                <a:lnTo>
                  <a:pt x="734870" y="588132"/>
                </a:lnTo>
                <a:lnTo>
                  <a:pt x="551152" y="423455"/>
                </a:lnTo>
                <a:lnTo>
                  <a:pt x="0" y="458743"/>
                </a:lnTo>
                <a:lnTo>
                  <a:pt x="352125" y="294066"/>
                </a:lnTo>
                <a:lnTo>
                  <a:pt x="91859" y="105864"/>
                </a:lnTo>
                <a:lnTo>
                  <a:pt x="551152" y="147033"/>
                </a:lnTo>
                <a:close/>
              </a:path>
            </a:pathLst>
          </a:custGeom>
          <a:solidFill>
            <a:srgbClr val="8725D8"/>
          </a:solidFill>
          <a:ln w="30859">
            <a:solidFill>
              <a:srgbClr val="A7A5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0031623" y="1406934"/>
            <a:ext cx="1878121" cy="545155"/>
          </a:xfrm>
          <a:prstGeom prst="bentConnector3">
            <a:avLst/>
          </a:prstGeom>
          <a:ln w="19922">
            <a:solidFill>
              <a:srgbClr val="A99DBB"/>
            </a:solidFill>
            <a:prstDash val="lgDash"/>
          </a:ln>
        </p:spPr>
        <p:style>
          <a:lnRef idx="2">
            <a:schemeClr val="accent1"/>
          </a:lnRef>
          <a:fillRef idx="0">
            <a:schemeClr val="accent1"/>
          </a:fillRef>
          <a:effectRef idx="1">
            <a:schemeClr val="accent1"/>
          </a:effectRef>
          <a:fontRef idx="minor">
            <a:schemeClr val="tx1"/>
          </a:fontRef>
        </p:style>
      </p:cxnSp>
      <p:sp>
        <p:nvSpPr>
          <p:cNvPr id="8" name="Swoosh Arrow 7"/>
          <p:cNvSpPr/>
          <p:nvPr/>
        </p:nvSpPr>
        <p:spPr>
          <a:xfrm>
            <a:off x="6464987" y="5769175"/>
            <a:ext cx="1320591" cy="473758"/>
          </a:xfrm>
          <a:prstGeom prst="swooshArrow">
            <a:avLst/>
          </a:prstGeom>
          <a:solidFill>
            <a:srgbClr val="B4E573"/>
          </a:solidFill>
          <a:ln w="18506">
            <a:solidFill>
              <a:srgbClr val="CCBBD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p:cNvSpPr/>
          <p:nvPr/>
        </p:nvSpPr>
        <p:spPr>
          <a:xfrm>
            <a:off x="8310209" y="2985216"/>
            <a:ext cx="762383" cy="749275"/>
          </a:xfrm>
          <a:custGeom>
            <a:avLst/>
            <a:gdLst/>
            <a:ahLst/>
            <a:cxnLst/>
            <a:rect l="l" t="t" r="r" b="b"/>
            <a:pathLst>
              <a:path w="762383" h="749275">
                <a:moveTo>
                  <a:pt x="0" y="166505"/>
                </a:moveTo>
                <a:lnTo>
                  <a:pt x="163953" y="0"/>
                </a:lnTo>
                <a:lnTo>
                  <a:pt x="327907" y="224782"/>
                </a:lnTo>
                <a:lnTo>
                  <a:pt x="491860" y="24976"/>
                </a:lnTo>
                <a:lnTo>
                  <a:pt x="762383" y="582769"/>
                </a:lnTo>
                <a:lnTo>
                  <a:pt x="573837" y="749275"/>
                </a:lnTo>
                <a:lnTo>
                  <a:pt x="393488" y="499516"/>
                </a:lnTo>
                <a:lnTo>
                  <a:pt x="188546" y="724299"/>
                </a:lnTo>
                <a:close/>
              </a:path>
            </a:pathLst>
          </a:custGeom>
          <a:solidFill>
            <a:srgbClr val="BD88B9"/>
          </a:solidFill>
          <a:ln w="30810">
            <a:solidFill>
              <a:srgbClr val="7BC8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32441" y="1247688"/>
            <a:ext cx="3923579" cy="1410841"/>
          </a:xfrm>
          <a:prstGeom prst="rect">
            <a:avLst/>
          </a:prstGeom>
          <a:noFill/>
        </p:spPr>
        <p:txBody>
          <a:bodyPr wrap="none" lIns="29595" tIns="29595" rIns="29595" bIns="29595">
            <a:spAutoFit/>
          </a:bodyPr>
          <a:lstStyle/>
          <a:p>
            <a:r>
              <a:rPr sz="5900" b="1" i="1" u="none">
                <a:solidFill>
                  <a:srgbClr val="59C25C"/>
                </a:solidFill>
                <a:latin typeface="Arial"/>
              </a:rPr>
              <a:t>Dispatch Limit Rhythm Method Variant</a:t>
            </a:r>
          </a:p>
        </p:txBody>
      </p:sp>
      <p:cxnSp>
        <p:nvCxnSpPr>
          <p:cNvPr id="11" name="Connector 10"/>
          <p:cNvCxnSpPr/>
          <p:nvPr/>
        </p:nvCxnSpPr>
        <p:spPr>
          <a:xfrm>
            <a:off x="9725577" y="422651"/>
            <a:ext cx="1218617" cy="1080647"/>
          </a:xfrm>
          <a:prstGeom prst="bentConnector3">
            <a:avLst/>
          </a:prstGeom>
          <a:ln w="47546">
            <a:solidFill>
              <a:srgbClr val="DEA464"/>
            </a:solidFill>
            <a:prstDash val="dashDot"/>
          </a:ln>
        </p:spPr>
        <p:style>
          <a:lnRef idx="2">
            <a:schemeClr val="accent1"/>
          </a:lnRef>
          <a:fillRef idx="0">
            <a:schemeClr val="accent1"/>
          </a:fillRef>
          <a:effectRef idx="1">
            <a:schemeClr val="accent1"/>
          </a:effectRef>
          <a:fontRef idx="minor">
            <a:schemeClr val="tx1"/>
          </a:fontRef>
        </p:style>
      </p:cxnSp>
      <p:pic>
        <p:nvPicPr>
          <p:cNvPr id="12" name="Picture 11" descr="_example_image.jpg"/>
          <p:cNvPicPr>
            <a:picLocks noChangeAspect="1"/>
          </p:cNvPicPr>
          <p:nvPr/>
        </p:nvPicPr>
        <p:blipFill>
          <a:blip r:embed="rId2"/>
          <a:srcRect/>
          <a:stretch>
            <a:fillRect/>
          </a:stretch>
        </p:blipFill>
        <p:spPr>
          <a:xfrm>
            <a:off x="8388042" y="4924400"/>
            <a:ext cx="1269335" cy="1407824"/>
          </a:xfrm>
          <a:prstGeom prst="rect">
            <a:avLst/>
          </a:prstGeom>
        </p:spPr>
      </p:pic>
      <p:sp>
        <p:nvSpPr>
          <p:cNvPr id="13" name="TextBox 12"/>
          <p:cNvSpPr txBox="1"/>
          <p:nvPr/>
        </p:nvSpPr>
        <p:spPr>
          <a:xfrm>
            <a:off x="9668920" y="3570646"/>
            <a:ext cx="1086279" cy="2323413"/>
          </a:xfrm>
          <a:prstGeom prst="rect">
            <a:avLst/>
          </a:prstGeom>
          <a:noFill/>
        </p:spPr>
        <p:txBody>
          <a:bodyPr wrap="none" lIns="70085" tIns="70085" rIns="70085" bIns="70085">
            <a:spAutoFit/>
          </a:bodyPr>
          <a:lstStyle/>
          <a:p>
            <a:r>
              <a:rPr sz="900" b="1" i="0" u="none">
                <a:solidFill>
                  <a:srgbClr val="DC1F99"/>
                </a:solidFill>
                <a:latin typeface="Aptos"/>
              </a:rPr>
              <a:t>Build Lineage Buffer Context Echo Sample Velocity Point Report</a:t>
            </a:r>
          </a:p>
        </p:txBody>
      </p:sp>
      <p:sp>
        <p:nvSpPr>
          <p:cNvPr id="14" name="Right Triangle 13"/>
          <p:cNvSpPr/>
          <p:nvPr/>
        </p:nvSpPr>
        <p:spPr>
          <a:xfrm>
            <a:off x="11138973" y="5172848"/>
            <a:ext cx="543742" cy="1328211"/>
          </a:xfrm>
          <a:prstGeom prst="rtTriangle">
            <a:avLst/>
          </a:prstGeom>
          <a:solidFill>
            <a:srgbClr val="518866"/>
          </a:solidFill>
          <a:ln w="28765">
            <a:solidFill>
              <a:srgbClr val="63598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86153" y="5473588"/>
            <a:ext cx="2384483" cy="816583"/>
          </a:xfrm>
          <a:prstGeom prst="rect">
            <a:avLst/>
          </a:prstGeom>
          <a:solidFill>
            <a:srgbClr val="443E1E"/>
          </a:solidFill>
        </p:spPr>
        <p:txBody>
          <a:bodyPr wrap="none" lIns="57966" tIns="57966" rIns="57966" bIns="57966">
            <a:spAutoFit/>
          </a:bodyPr>
          <a:lstStyle/>
          <a:p>
            <a:r>
              <a:rPr sz="3600" b="1" i="0" u="none">
                <a:solidFill>
                  <a:srgbClr val="838786"/>
                </a:solidFill>
                <a:latin typeface="Calibri"/>
              </a:rPr>
              <a:t>Version Story Pixel Wave Bridge</a:t>
            </a:r>
          </a:p>
        </p:txBody>
      </p:sp>
      <p:sp>
        <p:nvSpPr>
          <p:cNvPr id="16" name="Document 15"/>
          <p:cNvSpPr/>
          <p:nvPr/>
        </p:nvSpPr>
        <p:spPr>
          <a:xfrm>
            <a:off x="6953895" y="1807174"/>
            <a:ext cx="2543918" cy="1486499"/>
          </a:xfrm>
          <a:prstGeom prst="flowChartDocument">
            <a:avLst/>
          </a:prstGeom>
          <a:solidFill>
            <a:srgbClr val="472783"/>
          </a:solidFill>
          <a:ln w="24259">
            <a:solidFill>
              <a:srgbClr val="286D9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Table 16"/>
          <p:cNvGraphicFramePr>
            <a:graphicFrameLocks noGrp="1"/>
          </p:cNvGraphicFramePr>
          <p:nvPr/>
        </p:nvGraphicFramePr>
        <p:xfrm>
          <a:off x="339490" y="438181"/>
          <a:ext cx="2721219" cy="1470168"/>
        </p:xfrm>
        <a:graphic>
          <a:graphicData uri="http://schemas.openxmlformats.org/drawingml/2006/table">
            <a:tbl>
              <a:tblPr firstRow="1" bandRow="1">
                <a:tableStyleId>{5C22544A-7EE6-4342-B048-85BDC9FD1C3A}</a:tableStyleId>
              </a:tblPr>
              <a:tblGrid>
                <a:gridCol w="544243">
                  <a:extLst>
                    <a:ext uri="{9D8B030D-6E8A-4147-A177-3AD203B41FA5}">
                      <a16:colId xmlns:a16="http://schemas.microsoft.com/office/drawing/2014/main" val="20000"/>
                    </a:ext>
                  </a:extLst>
                </a:gridCol>
                <a:gridCol w="544243">
                  <a:extLst>
                    <a:ext uri="{9D8B030D-6E8A-4147-A177-3AD203B41FA5}">
                      <a16:colId xmlns:a16="http://schemas.microsoft.com/office/drawing/2014/main" val="20001"/>
                    </a:ext>
                  </a:extLst>
                </a:gridCol>
                <a:gridCol w="544243">
                  <a:extLst>
                    <a:ext uri="{9D8B030D-6E8A-4147-A177-3AD203B41FA5}">
                      <a16:colId xmlns:a16="http://schemas.microsoft.com/office/drawing/2014/main" val="20002"/>
                    </a:ext>
                  </a:extLst>
                </a:gridCol>
                <a:gridCol w="544243">
                  <a:extLst>
                    <a:ext uri="{9D8B030D-6E8A-4147-A177-3AD203B41FA5}">
                      <a16:colId xmlns:a16="http://schemas.microsoft.com/office/drawing/2014/main" val="20003"/>
                    </a:ext>
                  </a:extLst>
                </a:gridCol>
                <a:gridCol w="544247">
                  <a:extLst>
                    <a:ext uri="{9D8B030D-6E8A-4147-A177-3AD203B41FA5}">
                      <a16:colId xmlns:a16="http://schemas.microsoft.com/office/drawing/2014/main" val="20004"/>
                    </a:ext>
                  </a:extLst>
                </a:gridCol>
              </a:tblGrid>
              <a:tr h="210024">
                <a:tc>
                  <a:txBody>
                    <a:bodyPr/>
                    <a:lstStyle/>
                    <a:p>
                      <a:r>
                        <a:rPr sz="600" b="0">
                          <a:solidFill>
                            <a:srgbClr val="732682"/>
                          </a:solidFill>
                        </a:rPr>
                        <a:t>Waypoint Spectrum</a:t>
                      </a:r>
                    </a:p>
                  </a:txBody>
                  <a:tcPr>
                    <a:solidFill>
                      <a:srgbClr val="D6E2F4"/>
                    </a:solidFill>
                  </a:tcPr>
                </a:tc>
                <a:tc>
                  <a:txBody>
                    <a:bodyPr/>
                    <a:lstStyle/>
                    <a:p>
                      <a:r>
                        <a:rPr sz="600" b="0">
                          <a:solidFill>
                            <a:srgbClr val="732682"/>
                          </a:solidFill>
                        </a:rPr>
                        <a:t>Priority</a:t>
                      </a:r>
                    </a:p>
                  </a:txBody>
                  <a:tcPr>
                    <a:solidFill>
                      <a:srgbClr val="D6E2F4"/>
                    </a:solidFill>
                  </a:tcPr>
                </a:tc>
                <a:tc>
                  <a:txBody>
                    <a:bodyPr/>
                    <a:lstStyle/>
                    <a:p>
                      <a:r>
                        <a:rPr sz="600" b="0">
                          <a:solidFill>
                            <a:srgbClr val="732682"/>
                          </a:solidFill>
                        </a:rPr>
                        <a:t>Case Indicator</a:t>
                      </a:r>
                    </a:p>
                  </a:txBody>
                  <a:tcPr>
                    <a:solidFill>
                      <a:srgbClr val="D6E2F4"/>
                    </a:solidFill>
                  </a:tcPr>
                </a:tc>
                <a:tc>
                  <a:txBody>
                    <a:bodyPr/>
                    <a:lstStyle/>
                    <a:p>
                      <a:r>
                        <a:rPr sz="600" b="0">
                          <a:solidFill>
                            <a:srgbClr val="732682"/>
                          </a:solidFill>
                        </a:rPr>
                        <a:t>Pattern Status</a:t>
                      </a:r>
                    </a:p>
                  </a:txBody>
                  <a:tcPr>
                    <a:solidFill>
                      <a:srgbClr val="D6E2F4"/>
                    </a:solidFill>
                  </a:tcPr>
                </a:tc>
                <a:tc>
                  <a:txBody>
                    <a:bodyPr/>
                    <a:lstStyle/>
                    <a:p>
                      <a:r>
                        <a:rPr sz="600" b="0">
                          <a:solidFill>
                            <a:srgbClr val="732682"/>
                          </a:solidFill>
                        </a:rPr>
                        <a:t>Relay</a:t>
                      </a:r>
                    </a:p>
                  </a:txBody>
                  <a:tcPr>
                    <a:solidFill>
                      <a:srgbClr val="D6E2F4"/>
                    </a:solidFill>
                  </a:tcPr>
                </a:tc>
                <a:extLst>
                  <a:ext uri="{0D108BD9-81ED-4DB2-BD59-A6C34878D82A}">
                    <a16:rowId xmlns:a16="http://schemas.microsoft.com/office/drawing/2014/main" val="10000"/>
                  </a:ext>
                </a:extLst>
              </a:tr>
              <a:tr h="210024">
                <a:tc>
                  <a:txBody>
                    <a:bodyPr/>
                    <a:lstStyle/>
                    <a:p>
                      <a:r>
                        <a:rPr sz="600" b="0">
                          <a:solidFill>
                            <a:srgbClr val="732682"/>
                          </a:solidFill>
                        </a:rPr>
                        <a:t>Runtime Discovery</a:t>
                      </a:r>
                    </a:p>
                  </a:txBody>
                  <a:tcPr>
                    <a:solidFill>
                      <a:srgbClr val="D6E2F4"/>
                    </a:solidFill>
                  </a:tcPr>
                </a:tc>
                <a:tc>
                  <a:txBody>
                    <a:bodyPr/>
                    <a:lstStyle/>
                    <a:p>
                      <a:r>
                        <a:rPr sz="600" b="0">
                          <a:solidFill>
                            <a:srgbClr val="732682"/>
                          </a:solidFill>
                        </a:rPr>
                        <a:t>Column</a:t>
                      </a:r>
                    </a:p>
                  </a:txBody>
                  <a:tcPr>
                    <a:solidFill>
                      <a:srgbClr val="D6E2F4"/>
                    </a:solidFill>
                  </a:tcPr>
                </a:tc>
                <a:tc>
                  <a:txBody>
                    <a:bodyPr/>
                    <a:lstStyle/>
                    <a:p>
                      <a:r>
                        <a:rPr sz="600" b="0">
                          <a:solidFill>
                            <a:srgbClr val="732682"/>
                          </a:solidFill>
                        </a:rPr>
                        <a:t>Query Thread</a:t>
                      </a:r>
                    </a:p>
                  </a:txBody>
                  <a:tcPr>
                    <a:solidFill>
                      <a:srgbClr val="D6E2F4"/>
                    </a:solidFill>
                  </a:tcPr>
                </a:tc>
                <a:tc>
                  <a:txBody>
                    <a:bodyPr/>
                    <a:lstStyle/>
                    <a:p>
                      <a:r>
                        <a:rPr sz="600" b="0">
                          <a:solidFill>
                            <a:srgbClr val="732682"/>
                          </a:solidFill>
                        </a:rPr>
                        <a:t>Buffer</a:t>
                      </a:r>
                    </a:p>
                  </a:txBody>
                  <a:tcPr>
                    <a:solidFill>
                      <a:srgbClr val="D6E2F4"/>
                    </a:solidFill>
                  </a:tcPr>
                </a:tc>
                <a:tc>
                  <a:txBody>
                    <a:bodyPr/>
                    <a:lstStyle/>
                    <a:p>
                      <a:r>
                        <a:rPr sz="600" b="0">
                          <a:solidFill>
                            <a:srgbClr val="732682"/>
                          </a:solidFill>
                        </a:rPr>
                        <a:t>Deck Alpha</a:t>
                      </a:r>
                    </a:p>
                  </a:txBody>
                  <a:tcPr>
                    <a:solidFill>
                      <a:srgbClr val="D6E2F4"/>
                    </a:solidFill>
                  </a:tcPr>
                </a:tc>
                <a:extLst>
                  <a:ext uri="{0D108BD9-81ED-4DB2-BD59-A6C34878D82A}">
                    <a16:rowId xmlns:a16="http://schemas.microsoft.com/office/drawing/2014/main" val="10001"/>
                  </a:ext>
                </a:extLst>
              </a:tr>
              <a:tr h="210024">
                <a:tc>
                  <a:txBody>
                    <a:bodyPr/>
                    <a:lstStyle/>
                    <a:p>
                      <a:r>
                        <a:rPr sz="600" b="0">
                          <a:solidFill>
                            <a:srgbClr val="732682"/>
                          </a:solidFill>
                        </a:rPr>
                        <a:t>Ratio</a:t>
                      </a:r>
                    </a:p>
                  </a:txBody>
                  <a:tcPr>
                    <a:solidFill>
                      <a:srgbClr val="D6E2F4"/>
                    </a:solidFill>
                  </a:tcPr>
                </a:tc>
                <a:tc>
                  <a:txBody>
                    <a:bodyPr/>
                    <a:lstStyle/>
                    <a:p>
                      <a:r>
                        <a:rPr sz="600" b="0">
                          <a:solidFill>
                            <a:srgbClr val="732682"/>
                          </a:solidFill>
                        </a:rPr>
                        <a:t>Transform</a:t>
                      </a:r>
                    </a:p>
                  </a:txBody>
                  <a:tcPr>
                    <a:solidFill>
                      <a:srgbClr val="D6E2F4"/>
                    </a:solidFill>
                  </a:tcPr>
                </a:tc>
                <a:tc>
                  <a:txBody>
                    <a:bodyPr/>
                    <a:lstStyle/>
                    <a:p>
                      <a:r>
                        <a:rPr sz="600" b="0">
                          <a:solidFill>
                            <a:srgbClr val="732682"/>
                          </a:solidFill>
                        </a:rPr>
                        <a:t>Volume Request</a:t>
                      </a:r>
                    </a:p>
                  </a:txBody>
                  <a:tcPr>
                    <a:solidFill>
                      <a:srgbClr val="D6E2F4"/>
                    </a:solidFill>
                  </a:tcPr>
                </a:tc>
                <a:tc>
                  <a:txBody>
                    <a:bodyPr/>
                    <a:lstStyle/>
                    <a:p>
                      <a:r>
                        <a:rPr sz="600" b="0">
                          <a:solidFill>
                            <a:srgbClr val="732682"/>
                          </a:solidFill>
                        </a:rPr>
                        <a:t>Apex Pulse</a:t>
                      </a:r>
                    </a:p>
                  </a:txBody>
                  <a:tcPr>
                    <a:solidFill>
                      <a:srgbClr val="D6E2F4"/>
                    </a:solidFill>
                  </a:tcPr>
                </a:tc>
                <a:tc>
                  <a:txBody>
                    <a:bodyPr/>
                    <a:lstStyle/>
                    <a:p>
                      <a:r>
                        <a:rPr sz="600" b="0">
                          <a:solidFill>
                            <a:srgbClr val="732682"/>
                          </a:solidFill>
                        </a:rPr>
                        <a:t>View</a:t>
                      </a:r>
                    </a:p>
                  </a:txBody>
                  <a:tcPr>
                    <a:solidFill>
                      <a:srgbClr val="D6E2F4"/>
                    </a:solidFill>
                  </a:tcPr>
                </a:tc>
                <a:extLst>
                  <a:ext uri="{0D108BD9-81ED-4DB2-BD59-A6C34878D82A}">
                    <a16:rowId xmlns:a16="http://schemas.microsoft.com/office/drawing/2014/main" val="10002"/>
                  </a:ext>
                </a:extLst>
              </a:tr>
              <a:tr h="210024">
                <a:tc>
                  <a:txBody>
                    <a:bodyPr/>
                    <a:lstStyle/>
                    <a:p>
                      <a:r>
                        <a:rPr sz="600" b="0">
                          <a:solidFill>
                            <a:srgbClr val="732682"/>
                          </a:solidFill>
                        </a:rPr>
                        <a:t>Cluster</a:t>
                      </a:r>
                    </a:p>
                  </a:txBody>
                  <a:tcPr>
                    <a:solidFill>
                      <a:srgbClr val="D6E2F4"/>
                    </a:solidFill>
                  </a:tcPr>
                </a:tc>
                <a:tc>
                  <a:txBody>
                    <a:bodyPr/>
                    <a:lstStyle/>
                    <a:p>
                      <a:r>
                        <a:rPr sz="600" b="0">
                          <a:solidFill>
                            <a:srgbClr val="732682"/>
                          </a:solidFill>
                        </a:rPr>
                        <a:t>Package Reference</a:t>
                      </a:r>
                    </a:p>
                  </a:txBody>
                  <a:tcPr>
                    <a:solidFill>
                      <a:srgbClr val="D6E2F4"/>
                    </a:solidFill>
                  </a:tcPr>
                </a:tc>
                <a:tc>
                  <a:txBody>
                    <a:bodyPr/>
                    <a:lstStyle/>
                    <a:p>
                      <a:r>
                        <a:rPr sz="600" b="0">
                          <a:solidFill>
                            <a:srgbClr val="732682"/>
                          </a:solidFill>
                        </a:rPr>
                        <a:t>Transit Build</a:t>
                      </a:r>
                    </a:p>
                  </a:txBody>
                  <a:tcPr>
                    <a:solidFill>
                      <a:srgbClr val="D6E2F4"/>
                    </a:solidFill>
                  </a:tcPr>
                </a:tc>
                <a:tc>
                  <a:txBody>
                    <a:bodyPr/>
                    <a:lstStyle/>
                    <a:p>
                      <a:r>
                        <a:rPr sz="600" b="0">
                          <a:solidFill>
                            <a:srgbClr val="732682"/>
                          </a:solidFill>
                        </a:rPr>
                        <a:t>Module Flow</a:t>
                      </a:r>
                    </a:p>
                  </a:txBody>
                  <a:tcPr>
                    <a:solidFill>
                      <a:srgbClr val="D6E2F4"/>
                    </a:solidFill>
                  </a:tcPr>
                </a:tc>
                <a:tc>
                  <a:txBody>
                    <a:bodyPr/>
                    <a:lstStyle/>
                    <a:p>
                      <a:r>
                        <a:rPr sz="600" b="0">
                          <a:solidFill>
                            <a:srgbClr val="732682"/>
                          </a:solidFill>
                        </a:rPr>
                        <a:t>Frequency Threshold</a:t>
                      </a:r>
                    </a:p>
                  </a:txBody>
                  <a:tcPr>
                    <a:solidFill>
                      <a:srgbClr val="D6E2F4"/>
                    </a:solidFill>
                  </a:tcPr>
                </a:tc>
                <a:extLst>
                  <a:ext uri="{0D108BD9-81ED-4DB2-BD59-A6C34878D82A}">
                    <a16:rowId xmlns:a16="http://schemas.microsoft.com/office/drawing/2014/main" val="10003"/>
                  </a:ext>
                </a:extLst>
              </a:tr>
              <a:tr h="210024">
                <a:tc>
                  <a:txBody>
                    <a:bodyPr/>
                    <a:lstStyle/>
                    <a:p>
                      <a:r>
                        <a:rPr sz="600" b="0">
                          <a:solidFill>
                            <a:srgbClr val="732682"/>
                          </a:solidFill>
                        </a:rPr>
                        <a:t>Queue Bundle</a:t>
                      </a:r>
                    </a:p>
                  </a:txBody>
                  <a:tcPr>
                    <a:solidFill>
                      <a:srgbClr val="D6E2F4"/>
                    </a:solidFill>
                  </a:tcPr>
                </a:tc>
                <a:tc>
                  <a:txBody>
                    <a:bodyPr/>
                    <a:lstStyle/>
                    <a:p>
                      <a:r>
                        <a:rPr sz="600" b="0">
                          <a:solidFill>
                            <a:srgbClr val="732682"/>
                          </a:solidFill>
                        </a:rPr>
                        <a:t>Engine</a:t>
                      </a:r>
                    </a:p>
                  </a:txBody>
                  <a:tcPr>
                    <a:solidFill>
                      <a:srgbClr val="D6E2F4"/>
                    </a:solidFill>
                  </a:tcPr>
                </a:tc>
                <a:tc>
                  <a:txBody>
                    <a:bodyPr/>
                    <a:lstStyle/>
                    <a:p>
                      <a:r>
                        <a:rPr sz="600" b="0">
                          <a:solidFill>
                            <a:srgbClr val="732682"/>
                          </a:solidFill>
                        </a:rPr>
                        <a:t>Bundle Delta</a:t>
                      </a:r>
                    </a:p>
                  </a:txBody>
                  <a:tcPr>
                    <a:solidFill>
                      <a:srgbClr val="D6E2F4"/>
                    </a:solidFill>
                  </a:tcPr>
                </a:tc>
                <a:tc>
                  <a:txBody>
                    <a:bodyPr/>
                    <a:lstStyle/>
                    <a:p>
                      <a:r>
                        <a:rPr sz="600" b="0">
                          <a:solidFill>
                            <a:srgbClr val="732682"/>
                          </a:solidFill>
                        </a:rPr>
                        <a:t>Summary Benchmark</a:t>
                      </a:r>
                    </a:p>
                  </a:txBody>
                  <a:tcPr>
                    <a:solidFill>
                      <a:srgbClr val="D6E2F4"/>
                    </a:solidFill>
                  </a:tcPr>
                </a:tc>
                <a:tc>
                  <a:txBody>
                    <a:bodyPr/>
                    <a:lstStyle/>
                    <a:p>
                      <a:r>
                        <a:rPr sz="600" b="0">
                          <a:solidFill>
                            <a:srgbClr val="732682"/>
                          </a:solidFill>
                        </a:rPr>
                        <a:t>Plan Hub</a:t>
                      </a:r>
                    </a:p>
                  </a:txBody>
                  <a:tcPr>
                    <a:solidFill>
                      <a:srgbClr val="D6E2F4"/>
                    </a:solidFill>
                  </a:tcPr>
                </a:tc>
                <a:extLst>
                  <a:ext uri="{0D108BD9-81ED-4DB2-BD59-A6C34878D82A}">
                    <a16:rowId xmlns:a16="http://schemas.microsoft.com/office/drawing/2014/main" val="10004"/>
                  </a:ext>
                </a:extLst>
              </a:tr>
              <a:tr h="210024">
                <a:tc>
                  <a:txBody>
                    <a:bodyPr/>
                    <a:lstStyle/>
                    <a:p>
                      <a:r>
                        <a:rPr sz="600" b="0">
                          <a:solidFill>
                            <a:srgbClr val="732682"/>
                          </a:solidFill>
                        </a:rPr>
                        <a:t>Schema Epoch</a:t>
                      </a:r>
                    </a:p>
                  </a:txBody>
                  <a:tcPr>
                    <a:solidFill>
                      <a:srgbClr val="D6E2F4"/>
                    </a:solidFill>
                  </a:tcPr>
                </a:tc>
                <a:tc>
                  <a:txBody>
                    <a:bodyPr/>
                    <a:lstStyle/>
                    <a:p>
                      <a:r>
                        <a:rPr sz="600" b="0">
                          <a:solidFill>
                            <a:srgbClr val="732682"/>
                          </a:solidFill>
                        </a:rPr>
                        <a:t>Response Draft</a:t>
                      </a:r>
                    </a:p>
                  </a:txBody>
                  <a:tcPr>
                    <a:solidFill>
                      <a:srgbClr val="D6E2F4"/>
                    </a:solidFill>
                  </a:tcPr>
                </a:tc>
                <a:tc>
                  <a:txBody>
                    <a:bodyPr/>
                    <a:lstStyle/>
                    <a:p>
                      <a:r>
                        <a:rPr sz="600" b="0">
                          <a:solidFill>
                            <a:srgbClr val="732682"/>
                          </a:solidFill>
                        </a:rPr>
                        <a:t>Request Response</a:t>
                      </a:r>
                    </a:p>
                  </a:txBody>
                  <a:tcPr>
                    <a:solidFill>
                      <a:srgbClr val="D6E2F4"/>
                    </a:solidFill>
                  </a:tcPr>
                </a:tc>
                <a:tc>
                  <a:txBody>
                    <a:bodyPr/>
                    <a:lstStyle/>
                    <a:p>
                      <a:r>
                        <a:rPr sz="600" b="0">
                          <a:solidFill>
                            <a:srgbClr val="732682"/>
                          </a:solidFill>
                        </a:rPr>
                        <a:t>Interval</a:t>
                      </a:r>
                    </a:p>
                  </a:txBody>
                  <a:tcPr>
                    <a:solidFill>
                      <a:srgbClr val="D6E2F4"/>
                    </a:solidFill>
                  </a:tcPr>
                </a:tc>
                <a:tc>
                  <a:txBody>
                    <a:bodyPr/>
                    <a:lstStyle/>
                    <a:p>
                      <a:r>
                        <a:rPr sz="600" b="0">
                          <a:solidFill>
                            <a:srgbClr val="732682"/>
                          </a:solidFill>
                        </a:rPr>
                        <a:t>Stream</a:t>
                      </a:r>
                    </a:p>
                  </a:txBody>
                  <a:tcPr>
                    <a:solidFill>
                      <a:srgbClr val="D6E2F4"/>
                    </a:solidFill>
                  </a:tcPr>
                </a:tc>
                <a:extLst>
                  <a:ext uri="{0D108BD9-81ED-4DB2-BD59-A6C34878D82A}">
                    <a16:rowId xmlns:a16="http://schemas.microsoft.com/office/drawing/2014/main" val="10005"/>
                  </a:ext>
                </a:extLst>
              </a:tr>
              <a:tr h="210024">
                <a:tc>
                  <a:txBody>
                    <a:bodyPr/>
                    <a:lstStyle/>
                    <a:p>
                      <a:r>
                        <a:rPr sz="600" b="0">
                          <a:solidFill>
                            <a:srgbClr val="732682"/>
                          </a:solidFill>
                        </a:rPr>
                        <a:t>Metric</a:t>
                      </a:r>
                    </a:p>
                  </a:txBody>
                  <a:tcPr>
                    <a:solidFill>
                      <a:srgbClr val="D6E2F4"/>
                    </a:solidFill>
                  </a:tcPr>
                </a:tc>
                <a:tc>
                  <a:txBody>
                    <a:bodyPr/>
                    <a:lstStyle/>
                    <a:p>
                      <a:r>
                        <a:rPr sz="600" b="0">
                          <a:solidFill>
                            <a:srgbClr val="732682"/>
                          </a:solidFill>
                        </a:rPr>
                        <a:t>Depth</a:t>
                      </a:r>
                    </a:p>
                  </a:txBody>
                  <a:tcPr>
                    <a:solidFill>
                      <a:srgbClr val="D6E2F4"/>
                    </a:solidFill>
                  </a:tcPr>
                </a:tc>
                <a:tc>
                  <a:txBody>
                    <a:bodyPr/>
                    <a:lstStyle/>
                    <a:p>
                      <a:r>
                        <a:rPr sz="600" b="0">
                          <a:solidFill>
                            <a:srgbClr val="732682"/>
                          </a:solidFill>
                        </a:rPr>
                        <a:t>Texture</a:t>
                      </a:r>
                    </a:p>
                  </a:txBody>
                  <a:tcPr>
                    <a:solidFill>
                      <a:srgbClr val="D6E2F4"/>
                    </a:solidFill>
                  </a:tcPr>
                </a:tc>
                <a:tc>
                  <a:txBody>
                    <a:bodyPr/>
                    <a:lstStyle/>
                    <a:p>
                      <a:r>
                        <a:rPr sz="600" b="0">
                          <a:solidFill>
                            <a:srgbClr val="732682"/>
                          </a:solidFill>
                        </a:rPr>
                        <a:t>Energy Link</a:t>
                      </a:r>
                    </a:p>
                  </a:txBody>
                  <a:tcPr>
                    <a:solidFill>
                      <a:srgbClr val="D6E2F4"/>
                    </a:solidFill>
                  </a:tcPr>
                </a:tc>
                <a:tc>
                  <a:txBody>
                    <a:bodyPr/>
                    <a:lstStyle/>
                    <a:p>
                      <a:r>
                        <a:rPr sz="600" b="0">
                          <a:solidFill>
                            <a:srgbClr val="732682"/>
                          </a:solidFill>
                        </a:rPr>
                        <a:t>Position Path</a:t>
                      </a:r>
                    </a:p>
                  </a:txBody>
                  <a:tcPr>
                    <a:solidFill>
                      <a:srgbClr val="D6E2F4"/>
                    </a:solidFill>
                  </a:tcPr>
                </a:tc>
                <a:extLst>
                  <a:ext uri="{0D108BD9-81ED-4DB2-BD59-A6C34878D82A}">
                    <a16:rowId xmlns:a16="http://schemas.microsoft.com/office/drawing/2014/main" val="10006"/>
                  </a:ext>
                </a:extLst>
              </a:tr>
            </a:tbl>
          </a:graphicData>
        </a:graphic>
      </p:graphicFrame>
      <p:sp>
        <p:nvSpPr>
          <p:cNvPr id="18" name="TextBox 17"/>
          <p:cNvSpPr txBox="1"/>
          <p:nvPr/>
        </p:nvSpPr>
        <p:spPr>
          <a:xfrm>
            <a:off x="4431900" y="4410529"/>
            <a:ext cx="441687" cy="1033721"/>
          </a:xfrm>
          <a:prstGeom prst="rect">
            <a:avLst/>
          </a:prstGeom>
          <a:noFill/>
        </p:spPr>
        <p:txBody>
          <a:bodyPr wrap="none" lIns="39159" tIns="39159" rIns="39159" bIns="39159">
            <a:spAutoFit/>
          </a:bodyPr>
          <a:lstStyle/>
          <a:p>
            <a:r>
              <a:rPr sz="1400" b="0" i="1" u="none">
                <a:solidFill>
                  <a:srgbClr val="948035"/>
                </a:solidFill>
                <a:latin typeface="Georgia"/>
              </a:rPr>
              <a:t>Register Record Sample Feature Cell Capacity Range Case Collection Vector Estimate Hub Impact Node Command Trace Dispatch Draft Stack Balance Data Drive Level Runtime Harbor Account Density Handle Engine Transit Tile Stage Sample Epoch Grid Draft Table Velocity Feature Goal Pattern Diagram Package</a:t>
            </a:r>
          </a:p>
        </p:txBody>
      </p:sp>
      <p:sp>
        <p:nvSpPr>
          <p:cNvPr id="19" name="Swoosh Arrow 18"/>
          <p:cNvSpPr/>
          <p:nvPr/>
        </p:nvSpPr>
        <p:spPr>
          <a:xfrm>
            <a:off x="6504635" y="4976909"/>
            <a:ext cx="1025153" cy="758782"/>
          </a:xfrm>
          <a:prstGeom prst="swooshArrow">
            <a:avLst/>
          </a:prstGeom>
          <a:noFill/>
          <a:ln w="26066">
            <a:solidFill>
              <a:srgbClr val="671D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a:off x="10825405" y="3400935"/>
            <a:ext cx="1063141" cy="1474964"/>
          </a:xfrm>
          <a:prstGeom prst="curvedConnector3">
            <a:avLst/>
          </a:prstGeom>
          <a:ln w="44948">
            <a:solidFill>
              <a:srgbClr val="D27519"/>
            </a:solidFill>
            <a:prstDash val="lgDash"/>
          </a:ln>
        </p:spPr>
        <p:style>
          <a:lnRef idx="2">
            <a:schemeClr val="accent1"/>
          </a:lnRef>
          <a:fillRef idx="0">
            <a:schemeClr val="accent1"/>
          </a:fillRef>
          <a:effectRef idx="1">
            <a:schemeClr val="accent1"/>
          </a:effectRef>
          <a:fontRef idx="minor">
            <a:schemeClr val="tx1"/>
          </a:fontRef>
        </p:style>
      </p:cxnSp>
      <p:pic>
        <p:nvPicPr>
          <p:cNvPr id="21" name="Picture 20" descr="_example_image.jpg"/>
          <p:cNvPicPr>
            <a:picLocks noChangeAspect="1"/>
          </p:cNvPicPr>
          <p:nvPr/>
        </p:nvPicPr>
        <p:blipFill>
          <a:blip r:embed="rId2"/>
          <a:srcRect/>
          <a:stretch>
            <a:fillRect/>
          </a:stretch>
        </p:blipFill>
        <p:spPr>
          <a:xfrm>
            <a:off x="4127688" y="612496"/>
            <a:ext cx="2725529" cy="794709"/>
          </a:xfrm>
          <a:prstGeom prst="rect">
            <a:avLst/>
          </a:prstGeom>
        </p:spPr>
      </p:pic>
      <p:sp>
        <p:nvSpPr>
          <p:cNvPr id="22" name="TextBox 21"/>
          <p:cNvSpPr txBox="1"/>
          <p:nvPr/>
        </p:nvSpPr>
        <p:spPr>
          <a:xfrm>
            <a:off x="10088536" y="2324907"/>
            <a:ext cx="796513" cy="1026690"/>
          </a:xfrm>
          <a:prstGeom prst="rect">
            <a:avLst/>
          </a:prstGeom>
          <a:solidFill>
            <a:srgbClr val="7AD287"/>
          </a:solidFill>
        </p:spPr>
        <p:txBody>
          <a:bodyPr wrap="none" lIns="28990" tIns="28990" rIns="28990" bIns="28990">
            <a:spAutoFit/>
          </a:bodyPr>
          <a:lstStyle/>
          <a:p>
            <a:r>
              <a:rPr sz="4000" b="1" i="0" u="none">
                <a:solidFill>
                  <a:srgbClr val="494398"/>
                </a:solidFill>
                <a:latin typeface="Arial"/>
              </a:rPr>
              <a:t>Element Vertex Duration Resource</a:t>
            </a:r>
          </a:p>
        </p:txBody>
      </p:sp>
      <p:graphicFrame>
        <p:nvGraphicFramePr>
          <p:cNvPr id="23" name="Chart 22"/>
          <p:cNvGraphicFramePr>
            <a:graphicFrameLocks noGrp="1"/>
          </p:cNvGraphicFramePr>
          <p:nvPr/>
        </p:nvGraphicFramePr>
        <p:xfrm>
          <a:off x="3607218" y="2758602"/>
          <a:ext cx="2647266" cy="15982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4" name="Chart 23"/>
          <p:cNvGraphicFramePr>
            <a:graphicFrameLocks noGrp="1"/>
          </p:cNvGraphicFramePr>
          <p:nvPr/>
        </p:nvGraphicFramePr>
        <p:xfrm>
          <a:off x="5084219" y="1346593"/>
          <a:ext cx="2230742" cy="1472470"/>
        </p:xfrm>
        <a:graphic>
          <a:graphicData uri="http://schemas.openxmlformats.org/drawingml/2006/chart">
            <c:chart xmlns:c="http://schemas.openxmlformats.org/drawingml/2006/chart" xmlns:r="http://schemas.openxmlformats.org/officeDocument/2006/relationships" r:id="rId4"/>
          </a:graphicData>
        </a:graphic>
      </p:graphicFrame>
      <p:sp>
        <p:nvSpPr>
          <p:cNvPr id="25" name="Diamond 24"/>
          <p:cNvSpPr/>
          <p:nvPr/>
        </p:nvSpPr>
        <p:spPr>
          <a:xfrm>
            <a:off x="4833512" y="3593313"/>
            <a:ext cx="1726968" cy="520729"/>
          </a:xfrm>
          <a:prstGeom prst="diamond">
            <a:avLst/>
          </a:prstGeom>
          <a:solidFill>
            <a:srgbClr val="29C622"/>
          </a:solidFill>
          <a:ln w="16136">
            <a:solidFill>
              <a:srgbClr val="C04D3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elay 25"/>
          <p:cNvSpPr/>
          <p:nvPr/>
        </p:nvSpPr>
        <p:spPr>
          <a:xfrm>
            <a:off x="6705384" y="3324668"/>
            <a:ext cx="1495215" cy="247655"/>
          </a:xfrm>
          <a:prstGeom prst="flowChartDelay">
            <a:avLst/>
          </a:prstGeom>
          <a:solidFill>
            <a:srgbClr val="199D76"/>
          </a:solidFill>
          <a:ln w="21389">
            <a:solidFill>
              <a:srgbClr val="57C07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2564EAA9-8A71-4353-A13C-3F1467BE645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997970" y="3448571"/>
            <a:ext cx="971017" cy="1005241"/>
          </a:xfrm>
          <a:prstGeom prst="rect">
            <a:avLst/>
          </a:prstGeom>
        </p:spPr>
      </p:pic>
      <p:pic>
        <p:nvPicPr>
          <p:cNvPr id="30" name="Graphic 29">
            <a:extLst>
              <a:ext uri="{FF2B5EF4-FFF2-40B4-BE49-F238E27FC236}">
                <a16:creationId xmlns:a16="http://schemas.microsoft.com/office/drawing/2014/main" id="{FCBDD663-BE4B-265E-E47F-EDEE8F00571C}"/>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704069" y="3248211"/>
            <a:ext cx="1047137" cy="77569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23756" y="2228027"/>
          <a:ext cx="3413047" cy="1079188"/>
        </p:xfrm>
        <a:graphic>
          <a:graphicData uri="http://schemas.openxmlformats.org/drawingml/2006/table">
            <a:tbl>
              <a:tblPr firstRow="1" bandRow="1">
                <a:tableStyleId>{5C22544A-7EE6-4342-B048-85BDC9FD1C3A}</a:tableStyleId>
              </a:tblPr>
              <a:tblGrid>
                <a:gridCol w="568841">
                  <a:extLst>
                    <a:ext uri="{9D8B030D-6E8A-4147-A177-3AD203B41FA5}">
                      <a16:colId xmlns:a16="http://schemas.microsoft.com/office/drawing/2014/main" val="20000"/>
                    </a:ext>
                  </a:extLst>
                </a:gridCol>
                <a:gridCol w="568841">
                  <a:extLst>
                    <a:ext uri="{9D8B030D-6E8A-4147-A177-3AD203B41FA5}">
                      <a16:colId xmlns:a16="http://schemas.microsoft.com/office/drawing/2014/main" val="20001"/>
                    </a:ext>
                  </a:extLst>
                </a:gridCol>
                <a:gridCol w="568841">
                  <a:extLst>
                    <a:ext uri="{9D8B030D-6E8A-4147-A177-3AD203B41FA5}">
                      <a16:colId xmlns:a16="http://schemas.microsoft.com/office/drawing/2014/main" val="20002"/>
                    </a:ext>
                  </a:extLst>
                </a:gridCol>
                <a:gridCol w="568841">
                  <a:extLst>
                    <a:ext uri="{9D8B030D-6E8A-4147-A177-3AD203B41FA5}">
                      <a16:colId xmlns:a16="http://schemas.microsoft.com/office/drawing/2014/main" val="20003"/>
                    </a:ext>
                  </a:extLst>
                </a:gridCol>
                <a:gridCol w="568841">
                  <a:extLst>
                    <a:ext uri="{9D8B030D-6E8A-4147-A177-3AD203B41FA5}">
                      <a16:colId xmlns:a16="http://schemas.microsoft.com/office/drawing/2014/main" val="20004"/>
                    </a:ext>
                  </a:extLst>
                </a:gridCol>
                <a:gridCol w="568842">
                  <a:extLst>
                    <a:ext uri="{9D8B030D-6E8A-4147-A177-3AD203B41FA5}">
                      <a16:colId xmlns:a16="http://schemas.microsoft.com/office/drawing/2014/main" val="20005"/>
                    </a:ext>
                  </a:extLst>
                </a:gridCol>
              </a:tblGrid>
              <a:tr h="269797">
                <a:tc>
                  <a:txBody>
                    <a:bodyPr/>
                    <a:lstStyle/>
                    <a:p>
                      <a:r>
                        <a:rPr sz="700" b="1">
                          <a:solidFill>
                            <a:srgbClr val="A3C34A"/>
                          </a:solidFill>
                        </a:rPr>
                        <a:t>Edge</a:t>
                      </a:r>
                    </a:p>
                  </a:txBody>
                  <a:tcPr>
                    <a:solidFill>
                      <a:srgbClr val="A0B041"/>
                    </a:solidFill>
                  </a:tcPr>
                </a:tc>
                <a:tc>
                  <a:txBody>
                    <a:bodyPr/>
                    <a:lstStyle/>
                    <a:p>
                      <a:r>
                        <a:rPr sz="700" b="1">
                          <a:solidFill>
                            <a:srgbClr val="A3C34A"/>
                          </a:solidFill>
                        </a:rPr>
                        <a:t>Stack</a:t>
                      </a:r>
                    </a:p>
                  </a:txBody>
                  <a:tcPr>
                    <a:solidFill>
                      <a:srgbClr val="A0B041"/>
                    </a:solidFill>
                  </a:tcPr>
                </a:tc>
                <a:tc>
                  <a:txBody>
                    <a:bodyPr/>
                    <a:lstStyle/>
                    <a:p>
                      <a:r>
                        <a:rPr sz="700" b="1">
                          <a:solidFill>
                            <a:srgbClr val="A3C34A"/>
                          </a:solidFill>
                        </a:rPr>
                        <a:t>Trend Deployment</a:t>
                      </a:r>
                    </a:p>
                  </a:txBody>
                  <a:tcPr>
                    <a:solidFill>
                      <a:srgbClr val="A0B041"/>
                    </a:solidFill>
                  </a:tcPr>
                </a:tc>
                <a:tc>
                  <a:txBody>
                    <a:bodyPr/>
                    <a:lstStyle/>
                    <a:p>
                      <a:r>
                        <a:rPr sz="700" b="1">
                          <a:solidFill>
                            <a:srgbClr val="A3C34A"/>
                          </a:solidFill>
                        </a:rPr>
                        <a:t>Indicator Origin</a:t>
                      </a:r>
                    </a:p>
                  </a:txBody>
                  <a:tcPr>
                    <a:solidFill>
                      <a:srgbClr val="A0B041"/>
                    </a:solidFill>
                  </a:tcPr>
                </a:tc>
                <a:tc>
                  <a:txBody>
                    <a:bodyPr/>
                    <a:lstStyle/>
                    <a:p>
                      <a:r>
                        <a:rPr sz="700" b="1">
                          <a:solidFill>
                            <a:srgbClr val="A3C34A"/>
                          </a:solidFill>
                        </a:rPr>
                        <a:t>Archive Goal</a:t>
                      </a:r>
                    </a:p>
                  </a:txBody>
                  <a:tcPr>
                    <a:solidFill>
                      <a:srgbClr val="A0B041"/>
                    </a:solidFill>
                  </a:tcPr>
                </a:tc>
                <a:tc>
                  <a:txBody>
                    <a:bodyPr/>
                    <a:lstStyle/>
                    <a:p>
                      <a:r>
                        <a:rPr sz="700" b="1">
                          <a:solidFill>
                            <a:srgbClr val="A3C34A"/>
                          </a:solidFill>
                        </a:rPr>
                        <a:t>Phase Node</a:t>
                      </a:r>
                    </a:p>
                  </a:txBody>
                  <a:tcPr>
                    <a:solidFill>
                      <a:srgbClr val="A0B041"/>
                    </a:solidFill>
                  </a:tcPr>
                </a:tc>
                <a:extLst>
                  <a:ext uri="{0D108BD9-81ED-4DB2-BD59-A6C34878D82A}">
                    <a16:rowId xmlns:a16="http://schemas.microsoft.com/office/drawing/2014/main" val="10000"/>
                  </a:ext>
                </a:extLst>
              </a:tr>
              <a:tr h="269797">
                <a:tc>
                  <a:txBody>
                    <a:bodyPr/>
                    <a:lstStyle/>
                    <a:p>
                      <a:r>
                        <a:rPr sz="700" b="0">
                          <a:solidFill>
                            <a:srgbClr val="A3C34A"/>
                          </a:solidFill>
                        </a:rPr>
                        <a:t>Estimate Link</a:t>
                      </a:r>
                    </a:p>
                  </a:txBody>
                  <a:tcPr>
                    <a:solidFill>
                      <a:srgbClr val="F3F9F1"/>
                    </a:solidFill>
                  </a:tcPr>
                </a:tc>
                <a:tc>
                  <a:txBody>
                    <a:bodyPr/>
                    <a:lstStyle/>
                    <a:p>
                      <a:r>
                        <a:rPr sz="700" b="0">
                          <a:solidFill>
                            <a:srgbClr val="A3C34A"/>
                          </a:solidFill>
                        </a:rPr>
                        <a:t>Mode Program</a:t>
                      </a:r>
                    </a:p>
                  </a:txBody>
                  <a:tcPr>
                    <a:solidFill>
                      <a:srgbClr val="F3F9F1"/>
                    </a:solidFill>
                  </a:tcPr>
                </a:tc>
                <a:tc>
                  <a:txBody>
                    <a:bodyPr/>
                    <a:lstStyle/>
                    <a:p>
                      <a:r>
                        <a:rPr sz="700" b="0">
                          <a:solidFill>
                            <a:srgbClr val="A3C34A"/>
                          </a:solidFill>
                        </a:rPr>
                        <a:t>Inventory</a:t>
                      </a:r>
                    </a:p>
                  </a:txBody>
                  <a:tcPr>
                    <a:solidFill>
                      <a:srgbClr val="F3F9F1"/>
                    </a:solidFill>
                  </a:tcPr>
                </a:tc>
                <a:tc>
                  <a:txBody>
                    <a:bodyPr/>
                    <a:lstStyle/>
                    <a:p>
                      <a:r>
                        <a:rPr sz="700" b="0">
                          <a:solidFill>
                            <a:srgbClr val="A3C34A"/>
                          </a:solidFill>
                        </a:rPr>
                        <a:t>Element</a:t>
                      </a:r>
                    </a:p>
                  </a:txBody>
                  <a:tcPr>
                    <a:solidFill>
                      <a:srgbClr val="F3F9F1"/>
                    </a:solidFill>
                  </a:tcPr>
                </a:tc>
                <a:tc>
                  <a:txBody>
                    <a:bodyPr/>
                    <a:lstStyle/>
                    <a:p>
                      <a:r>
                        <a:rPr sz="700" b="0">
                          <a:solidFill>
                            <a:srgbClr val="A3C34A"/>
                          </a:solidFill>
                        </a:rPr>
                        <a:t>Track Mode</a:t>
                      </a:r>
                    </a:p>
                  </a:txBody>
                  <a:tcPr>
                    <a:solidFill>
                      <a:srgbClr val="F3F9F1"/>
                    </a:solidFill>
                  </a:tcPr>
                </a:tc>
                <a:tc>
                  <a:txBody>
                    <a:bodyPr/>
                    <a:lstStyle/>
                    <a:p>
                      <a:r>
                        <a:rPr sz="700" b="0">
                          <a:solidFill>
                            <a:srgbClr val="A3C34A"/>
                          </a:solidFill>
                        </a:rPr>
                        <a:t>Handle Friction</a:t>
                      </a:r>
                    </a:p>
                  </a:txBody>
                  <a:tcPr>
                    <a:solidFill>
                      <a:srgbClr val="F3F9F1"/>
                    </a:solidFill>
                  </a:tcPr>
                </a:tc>
                <a:extLst>
                  <a:ext uri="{0D108BD9-81ED-4DB2-BD59-A6C34878D82A}">
                    <a16:rowId xmlns:a16="http://schemas.microsoft.com/office/drawing/2014/main" val="10001"/>
                  </a:ext>
                </a:extLst>
              </a:tr>
              <a:tr h="269797">
                <a:tc>
                  <a:txBody>
                    <a:bodyPr/>
                    <a:lstStyle/>
                    <a:p>
                      <a:r>
                        <a:rPr sz="700" b="0">
                          <a:solidFill>
                            <a:srgbClr val="A3C34A"/>
                          </a:solidFill>
                        </a:rPr>
                        <a:t>Iteration Logic</a:t>
                      </a:r>
                    </a:p>
                  </a:txBody>
                  <a:tcPr>
                    <a:solidFill>
                      <a:srgbClr val="F3F9F1"/>
                    </a:solidFill>
                  </a:tcPr>
                </a:tc>
                <a:tc>
                  <a:txBody>
                    <a:bodyPr/>
                    <a:lstStyle/>
                    <a:p>
                      <a:r>
                        <a:rPr sz="700" b="0">
                          <a:solidFill>
                            <a:srgbClr val="A3C34A"/>
                          </a:solidFill>
                        </a:rPr>
                        <a:t>Rhythm</a:t>
                      </a:r>
                    </a:p>
                  </a:txBody>
                  <a:tcPr>
                    <a:solidFill>
                      <a:srgbClr val="F3F9F1"/>
                    </a:solidFill>
                  </a:tcPr>
                </a:tc>
                <a:tc>
                  <a:txBody>
                    <a:bodyPr/>
                    <a:lstStyle/>
                    <a:p>
                      <a:r>
                        <a:rPr sz="700" b="0">
                          <a:solidFill>
                            <a:srgbClr val="A3C34A"/>
                          </a:solidFill>
                        </a:rPr>
                        <a:t>Channel Summary</a:t>
                      </a:r>
                    </a:p>
                  </a:txBody>
                  <a:tcPr>
                    <a:solidFill>
                      <a:srgbClr val="F3F9F1"/>
                    </a:solidFill>
                  </a:tcPr>
                </a:tc>
                <a:tc>
                  <a:txBody>
                    <a:bodyPr/>
                    <a:lstStyle/>
                    <a:p>
                      <a:r>
                        <a:rPr sz="700" b="0">
                          <a:solidFill>
                            <a:srgbClr val="A3C34A"/>
                          </a:solidFill>
                        </a:rPr>
                        <a:t>Status Command</a:t>
                      </a:r>
                    </a:p>
                  </a:txBody>
                  <a:tcPr>
                    <a:solidFill>
                      <a:srgbClr val="F3F9F1"/>
                    </a:solidFill>
                  </a:tcPr>
                </a:tc>
                <a:tc>
                  <a:txBody>
                    <a:bodyPr/>
                    <a:lstStyle/>
                    <a:p>
                      <a:r>
                        <a:rPr sz="700" b="0">
                          <a:solidFill>
                            <a:srgbClr val="A3C34A"/>
                          </a:solidFill>
                        </a:rPr>
                        <a:t>Memory Hub</a:t>
                      </a:r>
                    </a:p>
                  </a:txBody>
                  <a:tcPr>
                    <a:solidFill>
                      <a:srgbClr val="F3F9F1"/>
                    </a:solidFill>
                  </a:tcPr>
                </a:tc>
                <a:tc>
                  <a:txBody>
                    <a:bodyPr/>
                    <a:lstStyle/>
                    <a:p>
                      <a:r>
                        <a:rPr sz="700" b="0">
                          <a:solidFill>
                            <a:srgbClr val="A3C34A"/>
                          </a:solidFill>
                        </a:rPr>
                        <a:t>Foundation Status</a:t>
                      </a:r>
                    </a:p>
                  </a:txBody>
                  <a:tcPr>
                    <a:solidFill>
                      <a:srgbClr val="F3F9F1"/>
                    </a:solidFill>
                  </a:tcPr>
                </a:tc>
                <a:extLst>
                  <a:ext uri="{0D108BD9-81ED-4DB2-BD59-A6C34878D82A}">
                    <a16:rowId xmlns:a16="http://schemas.microsoft.com/office/drawing/2014/main" val="10002"/>
                  </a:ext>
                </a:extLst>
              </a:tr>
              <a:tr h="269797">
                <a:tc>
                  <a:txBody>
                    <a:bodyPr/>
                    <a:lstStyle/>
                    <a:p>
                      <a:r>
                        <a:rPr sz="700" b="0">
                          <a:solidFill>
                            <a:srgbClr val="A3C34A"/>
                          </a:solidFill>
                        </a:rPr>
                        <a:t>Runtime</a:t>
                      </a:r>
                    </a:p>
                  </a:txBody>
                  <a:tcPr>
                    <a:solidFill>
                      <a:srgbClr val="F3F9F1"/>
                    </a:solidFill>
                  </a:tcPr>
                </a:tc>
                <a:tc>
                  <a:txBody>
                    <a:bodyPr/>
                    <a:lstStyle/>
                    <a:p>
                      <a:r>
                        <a:rPr sz="700" b="0">
                          <a:solidFill>
                            <a:srgbClr val="A3C34A"/>
                          </a:solidFill>
                        </a:rPr>
                        <a:t>Bridge Format</a:t>
                      </a:r>
                    </a:p>
                  </a:txBody>
                  <a:tcPr>
                    <a:solidFill>
                      <a:srgbClr val="F3F9F1"/>
                    </a:solidFill>
                  </a:tcPr>
                </a:tc>
                <a:tc>
                  <a:txBody>
                    <a:bodyPr/>
                    <a:lstStyle/>
                    <a:p>
                      <a:r>
                        <a:rPr sz="700" b="0">
                          <a:solidFill>
                            <a:srgbClr val="A3C34A"/>
                          </a:solidFill>
                        </a:rPr>
                        <a:t>Input Interval</a:t>
                      </a:r>
                    </a:p>
                  </a:txBody>
                  <a:tcPr>
                    <a:solidFill>
                      <a:srgbClr val="F3F9F1"/>
                    </a:solidFill>
                  </a:tcPr>
                </a:tc>
                <a:tc>
                  <a:txBody>
                    <a:bodyPr/>
                    <a:lstStyle/>
                    <a:p>
                      <a:r>
                        <a:rPr sz="700" b="0">
                          <a:solidFill>
                            <a:srgbClr val="A3C34A"/>
                          </a:solidFill>
                        </a:rPr>
                        <a:t>Template Narrative</a:t>
                      </a:r>
                    </a:p>
                  </a:txBody>
                  <a:tcPr>
                    <a:solidFill>
                      <a:srgbClr val="F3F9F1"/>
                    </a:solidFill>
                  </a:tcPr>
                </a:tc>
                <a:tc>
                  <a:txBody>
                    <a:bodyPr/>
                    <a:lstStyle/>
                    <a:p>
                      <a:r>
                        <a:rPr sz="700" b="0">
                          <a:solidFill>
                            <a:srgbClr val="A3C34A"/>
                          </a:solidFill>
                        </a:rPr>
                        <a:t>Record</a:t>
                      </a:r>
                    </a:p>
                  </a:txBody>
                  <a:tcPr>
                    <a:solidFill>
                      <a:srgbClr val="F3F9F1"/>
                    </a:solidFill>
                  </a:tcPr>
                </a:tc>
                <a:tc>
                  <a:txBody>
                    <a:bodyPr/>
                    <a:lstStyle/>
                    <a:p>
                      <a:r>
                        <a:rPr sz="700" b="0">
                          <a:solidFill>
                            <a:srgbClr val="A3C34A"/>
                          </a:solidFill>
                        </a:rPr>
                        <a:t>Volume Volume</a:t>
                      </a:r>
                    </a:p>
                  </a:txBody>
                  <a:tcPr>
                    <a:solidFill>
                      <a:srgbClr val="F3F9F1"/>
                    </a:solidFill>
                  </a:tcPr>
                </a:tc>
                <a:extLst>
                  <a:ext uri="{0D108BD9-81ED-4DB2-BD59-A6C34878D82A}">
                    <a16:rowId xmlns:a16="http://schemas.microsoft.com/office/drawing/2014/main" val="10003"/>
                  </a:ext>
                </a:extLst>
              </a:tr>
            </a:tbl>
          </a:graphicData>
        </a:graphic>
      </p:graphicFrame>
      <p:pic>
        <p:nvPicPr>
          <p:cNvPr id="3" name="Picture 2" descr="_example_image.jpg"/>
          <p:cNvPicPr>
            <a:picLocks noChangeAspect="1"/>
          </p:cNvPicPr>
          <p:nvPr/>
        </p:nvPicPr>
        <p:blipFill>
          <a:blip r:embed="rId2"/>
          <a:srcRect/>
          <a:stretch>
            <a:fillRect/>
          </a:stretch>
        </p:blipFill>
        <p:spPr>
          <a:xfrm>
            <a:off x="262162" y="5711003"/>
            <a:ext cx="1622833" cy="911895"/>
          </a:xfrm>
          <a:prstGeom prst="rect">
            <a:avLst/>
          </a:prstGeom>
        </p:spPr>
      </p:pic>
      <p:sp>
        <p:nvSpPr>
          <p:cNvPr id="4" name="Freeform 3"/>
          <p:cNvSpPr/>
          <p:nvPr/>
        </p:nvSpPr>
        <p:spPr>
          <a:xfrm>
            <a:off x="10310150" y="295695"/>
            <a:ext cx="973008" cy="588591"/>
          </a:xfrm>
          <a:custGeom>
            <a:avLst/>
            <a:gdLst/>
            <a:ahLst/>
            <a:cxnLst/>
            <a:rect l="l" t="t" r="r" b="b"/>
            <a:pathLst>
              <a:path w="973008" h="588591">
                <a:moveTo>
                  <a:pt x="486504" y="0"/>
                </a:moveTo>
                <a:lnTo>
                  <a:pt x="608130" y="147147"/>
                </a:lnTo>
                <a:lnTo>
                  <a:pt x="912195" y="105946"/>
                </a:lnTo>
                <a:lnTo>
                  <a:pt x="739891" y="294295"/>
                </a:lnTo>
                <a:lnTo>
                  <a:pt x="973008" y="459101"/>
                </a:lnTo>
                <a:lnTo>
                  <a:pt x="608130" y="423785"/>
                </a:lnTo>
                <a:lnTo>
                  <a:pt x="486504" y="588591"/>
                </a:lnTo>
                <a:lnTo>
                  <a:pt x="364878" y="423785"/>
                </a:lnTo>
                <a:lnTo>
                  <a:pt x="0" y="459101"/>
                </a:lnTo>
                <a:lnTo>
                  <a:pt x="233117" y="294295"/>
                </a:lnTo>
                <a:lnTo>
                  <a:pt x="60813" y="105946"/>
                </a:lnTo>
                <a:lnTo>
                  <a:pt x="364878" y="147147"/>
                </a:lnTo>
                <a:close/>
              </a:path>
            </a:pathLst>
          </a:custGeom>
          <a:solidFill>
            <a:srgbClr val="9C7A75"/>
          </a:solidFill>
          <a:ln w="15012">
            <a:solidFill>
              <a:srgbClr val="DB3E9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5267562" y="5225987"/>
            <a:ext cx="896403" cy="1232538"/>
          </a:xfrm>
          <a:custGeom>
            <a:avLst/>
            <a:gdLst/>
            <a:ahLst/>
            <a:cxnLst/>
            <a:rect l="l" t="t" r="r" b="b"/>
            <a:pathLst>
              <a:path w="896403" h="1232538">
                <a:moveTo>
                  <a:pt x="96388" y="209793"/>
                </a:moveTo>
                <a:lnTo>
                  <a:pt x="318079" y="0"/>
                </a:lnTo>
                <a:lnTo>
                  <a:pt x="655435" y="104896"/>
                </a:lnTo>
                <a:lnTo>
                  <a:pt x="896403" y="498260"/>
                </a:lnTo>
                <a:lnTo>
                  <a:pt x="771100" y="1022744"/>
                </a:lnTo>
                <a:lnTo>
                  <a:pt x="414466" y="1232538"/>
                </a:lnTo>
                <a:lnTo>
                  <a:pt x="57833" y="891623"/>
                </a:lnTo>
                <a:lnTo>
                  <a:pt x="0" y="445811"/>
                </a:lnTo>
                <a:close/>
              </a:path>
            </a:pathLst>
          </a:custGeom>
          <a:solidFill>
            <a:srgbClr val="5D678E"/>
          </a:solidFill>
          <a:ln w="19377">
            <a:solidFill>
              <a:srgbClr val="8C2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12585" y="1380154"/>
            <a:ext cx="545647" cy="2291715"/>
          </a:xfrm>
          <a:prstGeom prst="rect">
            <a:avLst/>
          </a:prstGeom>
          <a:noFill/>
        </p:spPr>
        <p:txBody>
          <a:bodyPr wrap="none" lIns="73345" tIns="73345" rIns="73345" bIns="73345">
            <a:spAutoFit/>
          </a:bodyPr>
          <a:lstStyle/>
          <a:p>
            <a:r>
              <a:rPr sz="1600" b="1" i="0" u="none">
                <a:solidFill>
                  <a:srgbClr val="BCB51F"/>
                </a:solidFill>
                <a:latin typeface="Verdana"/>
              </a:rPr>
              <a:t>Asset Phase Report Canvas Precision Option Table Hub Plan Gateway Threshold Proof Function Threshold System Filter Mesh Asset Feature Resource Agenda Marker Alignment Report Span Detail Trend Record Atlas Signal Bridge Moment Alignment Field Impact</a:t>
            </a:r>
          </a:p>
        </p:txBody>
      </p:sp>
      <p:sp>
        <p:nvSpPr>
          <p:cNvPr id="7" name="Donut 6"/>
          <p:cNvSpPr/>
          <p:nvPr/>
        </p:nvSpPr>
        <p:spPr>
          <a:xfrm>
            <a:off x="1899524" y="551383"/>
            <a:ext cx="2439323" cy="368667"/>
          </a:xfrm>
          <a:prstGeom prst="donut">
            <a:avLst/>
          </a:prstGeom>
          <a:solidFill>
            <a:srgbClr val="357F74"/>
          </a:solidFill>
          <a:ln w="22088">
            <a:solidFill>
              <a:srgbClr val="2E5D5C"/>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Down Arrow 7"/>
          <p:cNvSpPr/>
          <p:nvPr/>
        </p:nvSpPr>
        <p:spPr>
          <a:xfrm>
            <a:off x="3407235" y="4538947"/>
            <a:ext cx="1074399" cy="327628"/>
          </a:xfrm>
          <a:prstGeom prst="downArrow">
            <a:avLst/>
          </a:prstGeom>
          <a:noFill/>
          <a:ln w="24897">
            <a:solidFill>
              <a:srgbClr val="5DC2A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8457456" y="2555703"/>
          <a:ext cx="2147481" cy="1373188"/>
        </p:xfrm>
        <a:graphic>
          <a:graphicData uri="http://schemas.openxmlformats.org/drawingml/2006/chart">
            <c:chart xmlns:c="http://schemas.openxmlformats.org/drawingml/2006/chart" xmlns:r="http://schemas.openxmlformats.org/officeDocument/2006/relationships" r:id="rId3"/>
          </a:graphicData>
        </a:graphic>
      </p:graphicFrame>
      <p:pic>
        <p:nvPicPr>
          <p:cNvPr id="10" name="Picture 9" descr="_example_image.jpg"/>
          <p:cNvPicPr>
            <a:picLocks noChangeAspect="1"/>
          </p:cNvPicPr>
          <p:nvPr/>
        </p:nvPicPr>
        <p:blipFill>
          <a:blip r:embed="rId2"/>
          <a:srcRect/>
          <a:stretch>
            <a:fillRect/>
          </a:stretch>
        </p:blipFill>
        <p:spPr>
          <a:xfrm>
            <a:off x="10235934" y="3561008"/>
            <a:ext cx="1674813" cy="796710"/>
          </a:xfrm>
          <a:prstGeom prst="rect">
            <a:avLst/>
          </a:prstGeom>
        </p:spPr>
      </p:pic>
      <p:sp>
        <p:nvSpPr>
          <p:cNvPr id="11" name="Donut 10"/>
          <p:cNvSpPr/>
          <p:nvPr/>
        </p:nvSpPr>
        <p:spPr>
          <a:xfrm>
            <a:off x="10245006" y="1026884"/>
            <a:ext cx="1369727" cy="444148"/>
          </a:xfrm>
          <a:prstGeom prst="donut">
            <a:avLst/>
          </a:prstGeom>
          <a:solidFill>
            <a:srgbClr val="BE21B1"/>
          </a:solidFill>
          <a:ln w="11707">
            <a:solidFill>
              <a:srgbClr val="991DD1"/>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_example_image.jpg"/>
          <p:cNvPicPr>
            <a:picLocks noChangeAspect="1"/>
          </p:cNvPicPr>
          <p:nvPr/>
        </p:nvPicPr>
        <p:blipFill>
          <a:blip r:embed="rId2"/>
          <a:srcRect l="12255" t="16101" r="10351" b="4300"/>
          <a:stretch>
            <a:fillRect/>
          </a:stretch>
        </p:blipFill>
        <p:spPr>
          <a:xfrm>
            <a:off x="8810514" y="3467312"/>
            <a:ext cx="1026579" cy="1158475"/>
          </a:xfrm>
          <a:prstGeom prst="rect">
            <a:avLst/>
          </a:prstGeom>
        </p:spPr>
      </p:pic>
      <p:sp>
        <p:nvSpPr>
          <p:cNvPr id="13" name="TextBox 12"/>
          <p:cNvSpPr txBox="1"/>
          <p:nvPr/>
        </p:nvSpPr>
        <p:spPr>
          <a:xfrm>
            <a:off x="6318070" y="852950"/>
            <a:ext cx="3255090" cy="1947762"/>
          </a:xfrm>
          <a:prstGeom prst="rect">
            <a:avLst/>
          </a:prstGeom>
          <a:noFill/>
        </p:spPr>
        <p:txBody>
          <a:bodyPr wrap="none" lIns="52769" tIns="52769" rIns="52769" bIns="52769">
            <a:spAutoFit/>
          </a:bodyPr>
          <a:lstStyle/>
          <a:p>
            <a:r>
              <a:rPr sz="2200" b="0" i="0" u="sng">
                <a:solidFill>
                  <a:srgbClr val="B372CD"/>
                </a:solidFill>
                <a:latin typeface="Georgia"/>
              </a:rPr>
              <a:t>Packet Interval Function Blueprint Atlas Tile Surface</a:t>
            </a:r>
          </a:p>
        </p:txBody>
      </p:sp>
      <p:sp>
        <p:nvSpPr>
          <p:cNvPr id="14" name="TextBox 13"/>
          <p:cNvSpPr txBox="1"/>
          <p:nvPr/>
        </p:nvSpPr>
        <p:spPr>
          <a:xfrm>
            <a:off x="581734" y="699488"/>
            <a:ext cx="734639" cy="2061867"/>
          </a:xfrm>
          <a:prstGeom prst="rect">
            <a:avLst/>
          </a:prstGeom>
          <a:noFill/>
        </p:spPr>
        <p:txBody>
          <a:bodyPr wrap="none" lIns="31597" tIns="31597" rIns="31597" bIns="31597">
            <a:spAutoFit/>
          </a:bodyPr>
          <a:lstStyle/>
          <a:p>
            <a:r>
              <a:rPr sz="5700" b="1" i="0" u="none">
                <a:solidFill>
                  <a:srgbClr val="995DDD"/>
                </a:solidFill>
                <a:latin typeface="Calibri"/>
              </a:rPr>
              <a:t>Drift Coverage Signal Object Benchmark Proof</a:t>
            </a:r>
          </a:p>
        </p:txBody>
      </p:sp>
      <p:graphicFrame>
        <p:nvGraphicFramePr>
          <p:cNvPr id="15" name="Table 14"/>
          <p:cNvGraphicFramePr>
            <a:graphicFrameLocks noGrp="1"/>
          </p:cNvGraphicFramePr>
          <p:nvPr/>
        </p:nvGraphicFramePr>
        <p:xfrm>
          <a:off x="2518631" y="3514563"/>
          <a:ext cx="3056358" cy="1062107"/>
        </p:xfrm>
        <a:graphic>
          <a:graphicData uri="http://schemas.openxmlformats.org/drawingml/2006/table">
            <a:tbl>
              <a:tblPr firstRow="1" bandRow="1">
                <a:tableStyleId>{5C22544A-7EE6-4342-B048-85BDC9FD1C3A}</a:tableStyleId>
              </a:tblPr>
              <a:tblGrid>
                <a:gridCol w="611271">
                  <a:extLst>
                    <a:ext uri="{9D8B030D-6E8A-4147-A177-3AD203B41FA5}">
                      <a16:colId xmlns:a16="http://schemas.microsoft.com/office/drawing/2014/main" val="20000"/>
                    </a:ext>
                  </a:extLst>
                </a:gridCol>
                <a:gridCol w="611271">
                  <a:extLst>
                    <a:ext uri="{9D8B030D-6E8A-4147-A177-3AD203B41FA5}">
                      <a16:colId xmlns:a16="http://schemas.microsoft.com/office/drawing/2014/main" val="20001"/>
                    </a:ext>
                  </a:extLst>
                </a:gridCol>
                <a:gridCol w="611271">
                  <a:extLst>
                    <a:ext uri="{9D8B030D-6E8A-4147-A177-3AD203B41FA5}">
                      <a16:colId xmlns:a16="http://schemas.microsoft.com/office/drawing/2014/main" val="20002"/>
                    </a:ext>
                  </a:extLst>
                </a:gridCol>
                <a:gridCol w="611271">
                  <a:extLst>
                    <a:ext uri="{9D8B030D-6E8A-4147-A177-3AD203B41FA5}">
                      <a16:colId xmlns:a16="http://schemas.microsoft.com/office/drawing/2014/main" val="20003"/>
                    </a:ext>
                  </a:extLst>
                </a:gridCol>
                <a:gridCol w="611274">
                  <a:extLst>
                    <a:ext uri="{9D8B030D-6E8A-4147-A177-3AD203B41FA5}">
                      <a16:colId xmlns:a16="http://schemas.microsoft.com/office/drawing/2014/main" val="20004"/>
                    </a:ext>
                  </a:extLst>
                </a:gridCol>
              </a:tblGrid>
              <a:tr h="151729">
                <a:tc>
                  <a:txBody>
                    <a:bodyPr/>
                    <a:lstStyle/>
                    <a:p>
                      <a:r>
                        <a:rPr sz="700" b="1">
                          <a:solidFill>
                            <a:srgbClr val="1F5B39"/>
                          </a:solidFill>
                        </a:rPr>
                        <a:t>Indicator</a:t>
                      </a:r>
                    </a:p>
                  </a:txBody>
                  <a:tcPr>
                    <a:solidFill>
                      <a:srgbClr val="D0AEA9"/>
                    </a:solidFill>
                  </a:tcPr>
                </a:tc>
                <a:tc>
                  <a:txBody>
                    <a:bodyPr/>
                    <a:lstStyle/>
                    <a:p>
                      <a:r>
                        <a:rPr sz="700" b="1">
                          <a:solidFill>
                            <a:srgbClr val="1F5B39"/>
                          </a:solidFill>
                        </a:rPr>
                        <a:t>Atlas</a:t>
                      </a:r>
                    </a:p>
                  </a:txBody>
                  <a:tcPr>
                    <a:solidFill>
                      <a:srgbClr val="D0AEA9"/>
                    </a:solidFill>
                  </a:tcPr>
                </a:tc>
                <a:tc>
                  <a:txBody>
                    <a:bodyPr/>
                    <a:lstStyle/>
                    <a:p>
                      <a:r>
                        <a:rPr sz="700" b="1">
                          <a:solidFill>
                            <a:srgbClr val="1F5B39"/>
                          </a:solidFill>
                        </a:rPr>
                        <a:t>Volume Matrix</a:t>
                      </a:r>
                    </a:p>
                  </a:txBody>
                  <a:tcPr>
                    <a:solidFill>
                      <a:srgbClr val="D0AEA9"/>
                    </a:solidFill>
                  </a:tcPr>
                </a:tc>
                <a:tc>
                  <a:txBody>
                    <a:bodyPr/>
                    <a:lstStyle/>
                    <a:p>
                      <a:r>
                        <a:rPr sz="700" b="1">
                          <a:solidFill>
                            <a:srgbClr val="1F5B39"/>
                          </a:solidFill>
                        </a:rPr>
                        <a:t>Segment Channel</a:t>
                      </a:r>
                    </a:p>
                  </a:txBody>
                  <a:tcPr>
                    <a:solidFill>
                      <a:srgbClr val="D0AEA9"/>
                    </a:solidFill>
                  </a:tcPr>
                </a:tc>
                <a:tc>
                  <a:txBody>
                    <a:bodyPr/>
                    <a:lstStyle/>
                    <a:p>
                      <a:r>
                        <a:rPr sz="700" b="1">
                          <a:solidFill>
                            <a:srgbClr val="1F5B39"/>
                          </a:solidFill>
                        </a:rPr>
                        <a:t>Interface Ledger</a:t>
                      </a:r>
                    </a:p>
                  </a:txBody>
                  <a:tcPr>
                    <a:solidFill>
                      <a:srgbClr val="D0AEA9"/>
                    </a:solidFill>
                  </a:tcPr>
                </a:tc>
                <a:extLst>
                  <a:ext uri="{0D108BD9-81ED-4DB2-BD59-A6C34878D82A}">
                    <a16:rowId xmlns:a16="http://schemas.microsoft.com/office/drawing/2014/main" val="10000"/>
                  </a:ext>
                </a:extLst>
              </a:tr>
              <a:tr h="151729">
                <a:tc>
                  <a:txBody>
                    <a:bodyPr/>
                    <a:lstStyle/>
                    <a:p>
                      <a:r>
                        <a:rPr sz="700" b="0">
                          <a:solidFill>
                            <a:srgbClr val="1F5B39"/>
                          </a:solidFill>
                        </a:rPr>
                        <a:t>Table</a:t>
                      </a:r>
                    </a:p>
                  </a:txBody>
                  <a:tcPr>
                    <a:solidFill>
                      <a:srgbClr val="EEE2E4"/>
                    </a:solidFill>
                  </a:tcPr>
                </a:tc>
                <a:tc>
                  <a:txBody>
                    <a:bodyPr/>
                    <a:lstStyle/>
                    <a:p>
                      <a:r>
                        <a:rPr sz="700" b="0">
                          <a:solidFill>
                            <a:srgbClr val="1F5B39"/>
                          </a:solidFill>
                        </a:rPr>
                        <a:t>Path</a:t>
                      </a:r>
                    </a:p>
                  </a:txBody>
                  <a:tcPr>
                    <a:solidFill>
                      <a:srgbClr val="EEE2E4"/>
                    </a:solidFill>
                  </a:tcPr>
                </a:tc>
                <a:tc>
                  <a:txBody>
                    <a:bodyPr/>
                    <a:lstStyle/>
                    <a:p>
                      <a:r>
                        <a:rPr sz="700" b="0">
                          <a:solidFill>
                            <a:srgbClr val="1F5B39"/>
                          </a:solidFill>
                        </a:rPr>
                        <a:t>Dispatch</a:t>
                      </a:r>
                    </a:p>
                  </a:txBody>
                  <a:tcPr>
                    <a:solidFill>
                      <a:srgbClr val="EEE2E4"/>
                    </a:solidFill>
                  </a:tcPr>
                </a:tc>
                <a:tc>
                  <a:txBody>
                    <a:bodyPr/>
                    <a:lstStyle/>
                    <a:p>
                      <a:r>
                        <a:rPr sz="700" b="0">
                          <a:solidFill>
                            <a:srgbClr val="1F5B39"/>
                          </a:solidFill>
                        </a:rPr>
                        <a:t>Topology</a:t>
                      </a:r>
                    </a:p>
                  </a:txBody>
                  <a:tcPr>
                    <a:solidFill>
                      <a:srgbClr val="EEE2E4"/>
                    </a:solidFill>
                  </a:tcPr>
                </a:tc>
                <a:tc>
                  <a:txBody>
                    <a:bodyPr/>
                    <a:lstStyle/>
                    <a:p>
                      <a:r>
                        <a:rPr sz="700" b="0">
                          <a:solidFill>
                            <a:srgbClr val="1F5B39"/>
                          </a:solidFill>
                        </a:rPr>
                        <a:t>Agenda Field</a:t>
                      </a:r>
                    </a:p>
                  </a:txBody>
                  <a:tcPr>
                    <a:solidFill>
                      <a:srgbClr val="EEE2E4"/>
                    </a:solidFill>
                  </a:tcPr>
                </a:tc>
                <a:extLst>
                  <a:ext uri="{0D108BD9-81ED-4DB2-BD59-A6C34878D82A}">
                    <a16:rowId xmlns:a16="http://schemas.microsoft.com/office/drawing/2014/main" val="10001"/>
                  </a:ext>
                </a:extLst>
              </a:tr>
              <a:tr h="151729">
                <a:tc>
                  <a:txBody>
                    <a:bodyPr/>
                    <a:lstStyle/>
                    <a:p>
                      <a:r>
                        <a:rPr sz="700" b="0">
                          <a:solidFill>
                            <a:srgbClr val="1F5B39"/>
                          </a:solidFill>
                        </a:rPr>
                        <a:t>Strategy</a:t>
                      </a:r>
                    </a:p>
                  </a:txBody>
                  <a:tcPr>
                    <a:solidFill>
                      <a:srgbClr val="FAF6F7"/>
                    </a:solidFill>
                  </a:tcPr>
                </a:tc>
                <a:tc>
                  <a:txBody>
                    <a:bodyPr/>
                    <a:lstStyle/>
                    <a:p>
                      <a:r>
                        <a:rPr sz="700" b="0">
                          <a:solidFill>
                            <a:srgbClr val="1F5B39"/>
                          </a:solidFill>
                        </a:rPr>
                        <a:t>Queueing</a:t>
                      </a:r>
                    </a:p>
                  </a:txBody>
                  <a:tcPr>
                    <a:solidFill>
                      <a:srgbClr val="FAF6F7"/>
                    </a:solidFill>
                  </a:tcPr>
                </a:tc>
                <a:tc>
                  <a:txBody>
                    <a:bodyPr/>
                    <a:lstStyle/>
                    <a:p>
                      <a:r>
                        <a:rPr sz="700" b="0">
                          <a:solidFill>
                            <a:srgbClr val="1F5B39"/>
                          </a:solidFill>
                        </a:rPr>
                        <a:t>Coverage Heading</a:t>
                      </a:r>
                    </a:p>
                  </a:txBody>
                  <a:tcPr>
                    <a:solidFill>
                      <a:srgbClr val="FAF6F7"/>
                    </a:solidFill>
                  </a:tcPr>
                </a:tc>
                <a:tc>
                  <a:txBody>
                    <a:bodyPr/>
                    <a:lstStyle/>
                    <a:p>
                      <a:r>
                        <a:rPr sz="700" b="0">
                          <a:solidFill>
                            <a:srgbClr val="1F5B39"/>
                          </a:solidFill>
                        </a:rPr>
                        <a:t>Impact</a:t>
                      </a:r>
                    </a:p>
                  </a:txBody>
                  <a:tcPr>
                    <a:solidFill>
                      <a:srgbClr val="FAF6F7"/>
                    </a:solidFill>
                  </a:tcPr>
                </a:tc>
                <a:tc>
                  <a:txBody>
                    <a:bodyPr/>
                    <a:lstStyle/>
                    <a:p>
                      <a:r>
                        <a:rPr sz="700" b="0">
                          <a:solidFill>
                            <a:srgbClr val="1F5B39"/>
                          </a:solidFill>
                        </a:rPr>
                        <a:t>Template</a:t>
                      </a:r>
                    </a:p>
                  </a:txBody>
                  <a:tcPr>
                    <a:solidFill>
                      <a:srgbClr val="FAF6F7"/>
                    </a:solidFill>
                  </a:tcPr>
                </a:tc>
                <a:extLst>
                  <a:ext uri="{0D108BD9-81ED-4DB2-BD59-A6C34878D82A}">
                    <a16:rowId xmlns:a16="http://schemas.microsoft.com/office/drawing/2014/main" val="10002"/>
                  </a:ext>
                </a:extLst>
              </a:tr>
              <a:tr h="151729">
                <a:tc>
                  <a:txBody>
                    <a:bodyPr/>
                    <a:lstStyle/>
                    <a:p>
                      <a:r>
                        <a:rPr sz="700" b="0">
                          <a:solidFill>
                            <a:srgbClr val="1F5B39"/>
                          </a:solidFill>
                        </a:rPr>
                        <a:t>Inventory Exchange</a:t>
                      </a:r>
                    </a:p>
                  </a:txBody>
                  <a:tcPr>
                    <a:solidFill>
                      <a:srgbClr val="EEE2E4"/>
                    </a:solidFill>
                  </a:tcPr>
                </a:tc>
                <a:tc>
                  <a:txBody>
                    <a:bodyPr/>
                    <a:lstStyle/>
                    <a:p>
                      <a:r>
                        <a:rPr sz="700" b="0">
                          <a:solidFill>
                            <a:srgbClr val="1F5B39"/>
                          </a:solidFill>
                        </a:rPr>
                        <a:t>Scale</a:t>
                      </a:r>
                    </a:p>
                  </a:txBody>
                  <a:tcPr>
                    <a:solidFill>
                      <a:srgbClr val="EEE2E4"/>
                    </a:solidFill>
                  </a:tcPr>
                </a:tc>
                <a:tc>
                  <a:txBody>
                    <a:bodyPr/>
                    <a:lstStyle/>
                    <a:p>
                      <a:r>
                        <a:rPr sz="700" b="0">
                          <a:solidFill>
                            <a:srgbClr val="1F5B39"/>
                          </a:solidFill>
                        </a:rPr>
                        <a:t>Estimate</a:t>
                      </a:r>
                    </a:p>
                  </a:txBody>
                  <a:tcPr>
                    <a:solidFill>
                      <a:srgbClr val="EEE2E4"/>
                    </a:solidFill>
                  </a:tcPr>
                </a:tc>
                <a:tc>
                  <a:txBody>
                    <a:bodyPr/>
                    <a:lstStyle/>
                    <a:p>
                      <a:r>
                        <a:rPr sz="700" b="0">
                          <a:solidFill>
                            <a:srgbClr val="1F5B39"/>
                          </a:solidFill>
                        </a:rPr>
                        <a:t>Intent Harbor</a:t>
                      </a:r>
                    </a:p>
                  </a:txBody>
                  <a:tcPr>
                    <a:solidFill>
                      <a:srgbClr val="EEE2E4"/>
                    </a:solidFill>
                  </a:tcPr>
                </a:tc>
                <a:tc>
                  <a:txBody>
                    <a:bodyPr/>
                    <a:lstStyle/>
                    <a:p>
                      <a:r>
                        <a:rPr sz="700" b="0">
                          <a:solidFill>
                            <a:srgbClr val="1F5B39"/>
                          </a:solidFill>
                        </a:rPr>
                        <a:t>Moment Structure</a:t>
                      </a:r>
                    </a:p>
                  </a:txBody>
                  <a:tcPr>
                    <a:solidFill>
                      <a:srgbClr val="EEE2E4"/>
                    </a:solidFill>
                  </a:tcPr>
                </a:tc>
                <a:extLst>
                  <a:ext uri="{0D108BD9-81ED-4DB2-BD59-A6C34878D82A}">
                    <a16:rowId xmlns:a16="http://schemas.microsoft.com/office/drawing/2014/main" val="10003"/>
                  </a:ext>
                </a:extLst>
              </a:tr>
              <a:tr h="151729">
                <a:tc>
                  <a:txBody>
                    <a:bodyPr/>
                    <a:lstStyle/>
                    <a:p>
                      <a:r>
                        <a:rPr sz="700" b="0">
                          <a:solidFill>
                            <a:srgbClr val="1F5B39"/>
                          </a:solidFill>
                        </a:rPr>
                        <a:t>Atlas Device</a:t>
                      </a:r>
                    </a:p>
                  </a:txBody>
                  <a:tcPr>
                    <a:solidFill>
                      <a:srgbClr val="FAF6F7"/>
                    </a:solidFill>
                  </a:tcPr>
                </a:tc>
                <a:tc>
                  <a:txBody>
                    <a:bodyPr/>
                    <a:lstStyle/>
                    <a:p>
                      <a:r>
                        <a:rPr sz="700" b="0">
                          <a:solidFill>
                            <a:srgbClr val="1F5B39"/>
                          </a:solidFill>
                        </a:rPr>
                        <a:t>Order Exchange</a:t>
                      </a:r>
                    </a:p>
                  </a:txBody>
                  <a:tcPr>
                    <a:solidFill>
                      <a:srgbClr val="FAF6F7"/>
                    </a:solidFill>
                  </a:tcPr>
                </a:tc>
                <a:tc>
                  <a:txBody>
                    <a:bodyPr/>
                    <a:lstStyle/>
                    <a:p>
                      <a:r>
                        <a:rPr sz="700" b="0">
                          <a:solidFill>
                            <a:srgbClr val="1F5B39"/>
                          </a:solidFill>
                        </a:rPr>
                        <a:t>Reserve Timeline</a:t>
                      </a:r>
                    </a:p>
                  </a:txBody>
                  <a:tcPr>
                    <a:solidFill>
                      <a:srgbClr val="FAF6F7"/>
                    </a:solidFill>
                  </a:tcPr>
                </a:tc>
                <a:tc>
                  <a:txBody>
                    <a:bodyPr/>
                    <a:lstStyle/>
                    <a:p>
                      <a:r>
                        <a:rPr sz="700" b="0">
                          <a:solidFill>
                            <a:srgbClr val="1F5B39"/>
                          </a:solidFill>
                        </a:rPr>
                        <a:t>Viewport Buffer</a:t>
                      </a:r>
                    </a:p>
                  </a:txBody>
                  <a:tcPr>
                    <a:solidFill>
                      <a:srgbClr val="FAF6F7"/>
                    </a:solidFill>
                  </a:tcPr>
                </a:tc>
                <a:tc>
                  <a:txBody>
                    <a:bodyPr/>
                    <a:lstStyle/>
                    <a:p>
                      <a:r>
                        <a:rPr sz="700" b="0">
                          <a:solidFill>
                            <a:srgbClr val="1F5B39"/>
                          </a:solidFill>
                        </a:rPr>
                        <a:t>Thread Priority</a:t>
                      </a:r>
                    </a:p>
                  </a:txBody>
                  <a:tcPr>
                    <a:solidFill>
                      <a:srgbClr val="FAF6F7"/>
                    </a:solidFill>
                  </a:tcPr>
                </a:tc>
                <a:extLst>
                  <a:ext uri="{0D108BD9-81ED-4DB2-BD59-A6C34878D82A}">
                    <a16:rowId xmlns:a16="http://schemas.microsoft.com/office/drawing/2014/main" val="10004"/>
                  </a:ext>
                </a:extLst>
              </a:tr>
              <a:tr h="151729">
                <a:tc>
                  <a:txBody>
                    <a:bodyPr/>
                    <a:lstStyle/>
                    <a:p>
                      <a:r>
                        <a:rPr sz="700" b="0">
                          <a:solidFill>
                            <a:srgbClr val="1F5B39"/>
                          </a:solidFill>
                        </a:rPr>
                        <a:t>Connector Cycle</a:t>
                      </a:r>
                    </a:p>
                  </a:txBody>
                  <a:tcPr>
                    <a:solidFill>
                      <a:srgbClr val="EEE2E4"/>
                    </a:solidFill>
                  </a:tcPr>
                </a:tc>
                <a:tc>
                  <a:txBody>
                    <a:bodyPr/>
                    <a:lstStyle/>
                    <a:p>
                      <a:r>
                        <a:rPr sz="700" b="0">
                          <a:solidFill>
                            <a:srgbClr val="1F5B39"/>
                          </a:solidFill>
                        </a:rPr>
                        <a:t>North Scope</a:t>
                      </a:r>
                    </a:p>
                  </a:txBody>
                  <a:tcPr>
                    <a:solidFill>
                      <a:srgbClr val="EEE2E4"/>
                    </a:solidFill>
                  </a:tcPr>
                </a:tc>
                <a:tc>
                  <a:txBody>
                    <a:bodyPr/>
                    <a:lstStyle/>
                    <a:p>
                      <a:r>
                        <a:rPr sz="700" b="0">
                          <a:solidFill>
                            <a:srgbClr val="1F5B39"/>
                          </a:solidFill>
                        </a:rPr>
                        <a:t>Payload</a:t>
                      </a:r>
                    </a:p>
                  </a:txBody>
                  <a:tcPr>
                    <a:solidFill>
                      <a:srgbClr val="EEE2E4"/>
                    </a:solidFill>
                  </a:tcPr>
                </a:tc>
                <a:tc>
                  <a:txBody>
                    <a:bodyPr/>
                    <a:lstStyle/>
                    <a:p>
                      <a:r>
                        <a:rPr sz="700" b="0">
                          <a:solidFill>
                            <a:srgbClr val="1F5B39"/>
                          </a:solidFill>
                        </a:rPr>
                        <a:t>Event</a:t>
                      </a:r>
                    </a:p>
                  </a:txBody>
                  <a:tcPr>
                    <a:solidFill>
                      <a:srgbClr val="EEE2E4"/>
                    </a:solidFill>
                  </a:tcPr>
                </a:tc>
                <a:tc>
                  <a:txBody>
                    <a:bodyPr/>
                    <a:lstStyle/>
                    <a:p>
                      <a:r>
                        <a:rPr sz="700" b="0">
                          <a:solidFill>
                            <a:srgbClr val="1F5B39"/>
                          </a:solidFill>
                        </a:rPr>
                        <a:t>Transform Density</a:t>
                      </a:r>
                    </a:p>
                  </a:txBody>
                  <a:tcPr>
                    <a:solidFill>
                      <a:srgbClr val="EEE2E4"/>
                    </a:solidFill>
                  </a:tcPr>
                </a:tc>
                <a:extLst>
                  <a:ext uri="{0D108BD9-81ED-4DB2-BD59-A6C34878D82A}">
                    <a16:rowId xmlns:a16="http://schemas.microsoft.com/office/drawing/2014/main" val="10005"/>
                  </a:ext>
                </a:extLst>
              </a:tr>
              <a:tr h="151733">
                <a:tc>
                  <a:txBody>
                    <a:bodyPr/>
                    <a:lstStyle/>
                    <a:p>
                      <a:r>
                        <a:rPr sz="700" b="0">
                          <a:solidFill>
                            <a:srgbClr val="1F5B39"/>
                          </a:solidFill>
                        </a:rPr>
                        <a:t>Marker Point</a:t>
                      </a:r>
                    </a:p>
                  </a:txBody>
                  <a:tcPr>
                    <a:solidFill>
                      <a:srgbClr val="FAF6F7"/>
                    </a:solidFill>
                  </a:tcPr>
                </a:tc>
                <a:tc>
                  <a:txBody>
                    <a:bodyPr/>
                    <a:lstStyle/>
                    <a:p>
                      <a:r>
                        <a:rPr sz="700" b="0">
                          <a:solidFill>
                            <a:srgbClr val="1F5B39"/>
                          </a:solidFill>
                        </a:rPr>
                        <a:t>Workflow</a:t>
                      </a:r>
                    </a:p>
                  </a:txBody>
                  <a:tcPr>
                    <a:solidFill>
                      <a:srgbClr val="FAF6F7"/>
                    </a:solidFill>
                  </a:tcPr>
                </a:tc>
                <a:tc>
                  <a:txBody>
                    <a:bodyPr/>
                    <a:lstStyle/>
                    <a:p>
                      <a:r>
                        <a:rPr sz="700" b="0">
                          <a:solidFill>
                            <a:srgbClr val="1F5B39"/>
                          </a:solidFill>
                        </a:rPr>
                        <a:t>Explorer Baseline</a:t>
                      </a:r>
                    </a:p>
                  </a:txBody>
                  <a:tcPr>
                    <a:solidFill>
                      <a:srgbClr val="FAF6F7"/>
                    </a:solidFill>
                  </a:tcPr>
                </a:tc>
                <a:tc>
                  <a:txBody>
                    <a:bodyPr/>
                    <a:lstStyle/>
                    <a:p>
                      <a:r>
                        <a:rPr sz="700" b="0">
                          <a:solidFill>
                            <a:srgbClr val="1F5B39"/>
                          </a:solidFill>
                        </a:rPr>
                        <a:t>Keyline</a:t>
                      </a:r>
                    </a:p>
                  </a:txBody>
                  <a:tcPr>
                    <a:solidFill>
                      <a:srgbClr val="FAF6F7"/>
                    </a:solidFill>
                  </a:tcPr>
                </a:tc>
                <a:tc>
                  <a:txBody>
                    <a:bodyPr/>
                    <a:lstStyle/>
                    <a:p>
                      <a:r>
                        <a:rPr sz="700" b="0">
                          <a:solidFill>
                            <a:srgbClr val="1F5B39"/>
                          </a:solidFill>
                        </a:rPr>
                        <a:t>Zone Lens</a:t>
                      </a:r>
                    </a:p>
                  </a:txBody>
                  <a:tcPr>
                    <a:solidFill>
                      <a:srgbClr val="FAF6F7"/>
                    </a:solidFill>
                  </a:tcPr>
                </a:tc>
                <a:extLst>
                  <a:ext uri="{0D108BD9-81ED-4DB2-BD59-A6C34878D82A}">
                    <a16:rowId xmlns:a16="http://schemas.microsoft.com/office/drawing/2014/main" val="10006"/>
                  </a:ext>
                </a:extLst>
              </a:tr>
            </a:tbl>
          </a:graphicData>
        </a:graphic>
      </p:graphicFrame>
      <p:cxnSp>
        <p:nvCxnSpPr>
          <p:cNvPr id="16" name="Connector 15"/>
          <p:cNvCxnSpPr/>
          <p:nvPr/>
        </p:nvCxnSpPr>
        <p:spPr>
          <a:xfrm flipV="1">
            <a:off x="2257548" y="5243017"/>
            <a:ext cx="2034313" cy="591975"/>
          </a:xfrm>
          <a:prstGeom prst="curvedConnector3">
            <a:avLst/>
          </a:prstGeom>
          <a:ln w="37250">
            <a:solidFill>
              <a:srgbClr val="CCBE9F"/>
            </a:solidFill>
            <a:prstDash val="lg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4926" y="3463614"/>
            <a:ext cx="2840023" cy="1336774"/>
          </a:xfrm>
          <a:prstGeom prst="rect">
            <a:avLst/>
          </a:prstGeom>
          <a:noFill/>
        </p:spPr>
        <p:txBody>
          <a:bodyPr wrap="none" lIns="85481" tIns="85481" rIns="85481" bIns="85481">
            <a:spAutoFit/>
          </a:bodyPr>
          <a:lstStyle/>
          <a:p>
            <a:r>
              <a:rPr sz="1800" b="0" i="0" u="none">
                <a:solidFill>
                  <a:srgbClr val="6D9F45"/>
                </a:solidFill>
                <a:latin typeface="Georgia"/>
              </a:rPr>
              <a:t>Cluster Anchor System Sample Craft Entity Window Compass Option Circuit Memory Process Method Template Method Cycle Plan Element Velocity Vertex Reference Viewport Pipeline Circuit Span Case Agenda Hub Stack System Cycle Graph Source Gateway</a:t>
            </a:r>
          </a:p>
        </p:txBody>
      </p:sp>
      <p:sp>
        <p:nvSpPr>
          <p:cNvPr id="18" name="Delay 17"/>
          <p:cNvSpPr/>
          <p:nvPr/>
        </p:nvSpPr>
        <p:spPr>
          <a:xfrm>
            <a:off x="4218533" y="5755670"/>
            <a:ext cx="1271872" cy="659429"/>
          </a:xfrm>
          <a:prstGeom prst="flowChartDelay">
            <a:avLst/>
          </a:prstGeom>
          <a:solidFill>
            <a:srgbClr val="1F59D7"/>
          </a:solidFill>
          <a:ln w="13155">
            <a:solidFill>
              <a:srgbClr val="842237"/>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52931" y="3955751"/>
            <a:ext cx="705864" cy="1337619"/>
          </a:xfrm>
          <a:prstGeom prst="rect">
            <a:avLst/>
          </a:prstGeom>
          <a:noFill/>
        </p:spPr>
        <p:txBody>
          <a:bodyPr wrap="none" lIns="88507" tIns="88507" rIns="88507" bIns="88507">
            <a:spAutoFit/>
          </a:bodyPr>
          <a:lstStyle/>
          <a:p>
            <a:r>
              <a:rPr sz="800" b="0" i="0" u="none">
                <a:solidFill>
                  <a:srgbClr val="B38761"/>
                </a:solidFill>
                <a:latin typeface="Calibri"/>
              </a:rPr>
              <a:t>Output Guide</a:t>
            </a:r>
          </a:p>
        </p:txBody>
      </p:sp>
      <p:graphicFrame>
        <p:nvGraphicFramePr>
          <p:cNvPr id="20" name="Chart 19"/>
          <p:cNvGraphicFramePr>
            <a:graphicFrameLocks noGrp="1"/>
          </p:cNvGraphicFramePr>
          <p:nvPr/>
        </p:nvGraphicFramePr>
        <p:xfrm>
          <a:off x="2968734" y="783698"/>
          <a:ext cx="2678257" cy="1607038"/>
        </p:xfrm>
        <a:graphic>
          <a:graphicData uri="http://schemas.openxmlformats.org/drawingml/2006/chart">
            <c:chart xmlns:c="http://schemas.openxmlformats.org/drawingml/2006/chart" xmlns:r="http://schemas.openxmlformats.org/officeDocument/2006/relationships" r:id="rId4"/>
          </a:graphicData>
        </a:graphic>
      </p:graphicFrame>
      <p:cxnSp>
        <p:nvCxnSpPr>
          <p:cNvPr id="21" name="Connector 20"/>
          <p:cNvCxnSpPr/>
          <p:nvPr/>
        </p:nvCxnSpPr>
        <p:spPr>
          <a:xfrm flipV="1">
            <a:off x="4628129" y="2931124"/>
            <a:ext cx="2760608" cy="383798"/>
          </a:xfrm>
          <a:prstGeom prst="bentConnector3">
            <a:avLst/>
          </a:prstGeom>
          <a:ln w="38704">
            <a:solidFill>
              <a:srgbClr val="D45940"/>
            </a:solidFill>
            <a:prstDash val="dot"/>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433306" y="2356027"/>
            <a:ext cx="2221161" cy="438159"/>
          </a:xfrm>
          <a:prstGeom prst="line">
            <a:avLst/>
          </a:prstGeom>
          <a:ln w="11526">
            <a:solidFill>
              <a:srgbClr val="1A94C7"/>
            </a:solidFill>
            <a:prstDash val="lgDash"/>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629879" y="3160077"/>
            <a:ext cx="727307" cy="2094696"/>
          </a:xfrm>
          <a:prstGeom prst="rect">
            <a:avLst/>
          </a:prstGeom>
          <a:solidFill>
            <a:srgbClr val="D46F8C"/>
          </a:solidFill>
        </p:spPr>
        <p:txBody>
          <a:bodyPr wrap="none" lIns="37579" tIns="37579" rIns="37579" bIns="37579">
            <a:spAutoFit/>
          </a:bodyPr>
          <a:lstStyle/>
          <a:p>
            <a:r>
              <a:rPr sz="5700" b="1" i="0" u="none">
                <a:solidFill>
                  <a:srgbClr val="4E9576"/>
                </a:solidFill>
                <a:latin typeface="Calibri"/>
              </a:rPr>
              <a:t>Friction Summary System Brief Library</a:t>
            </a:r>
          </a:p>
        </p:txBody>
      </p:sp>
      <p:sp>
        <p:nvSpPr>
          <p:cNvPr id="24" name="Funnel 23"/>
          <p:cNvSpPr/>
          <p:nvPr/>
        </p:nvSpPr>
        <p:spPr>
          <a:xfrm>
            <a:off x="6896849" y="5472395"/>
            <a:ext cx="2413047" cy="1082335"/>
          </a:xfrm>
          <a:prstGeom prst="funnel">
            <a:avLst/>
          </a:prstGeom>
          <a:solidFill>
            <a:srgbClr val="9D1CD1"/>
          </a:solidFill>
          <a:ln w="22368">
            <a:solidFill>
              <a:srgbClr val="7C473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unnel 24"/>
          <p:cNvSpPr/>
          <p:nvPr/>
        </p:nvSpPr>
        <p:spPr>
          <a:xfrm>
            <a:off x="10255439" y="4237657"/>
            <a:ext cx="997033" cy="1984902"/>
          </a:xfrm>
          <a:prstGeom prst="funnel">
            <a:avLst/>
          </a:prstGeom>
          <a:solidFill>
            <a:srgbClr val="4A39D3"/>
          </a:solidFill>
          <a:ln w="18801">
            <a:solidFill>
              <a:srgbClr val="2322C6"/>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Hexagon 25"/>
          <p:cNvSpPr/>
          <p:nvPr/>
        </p:nvSpPr>
        <p:spPr>
          <a:xfrm>
            <a:off x="1733554" y="1129798"/>
            <a:ext cx="955678" cy="1365222"/>
          </a:xfrm>
          <a:prstGeom prst="hexagon">
            <a:avLst/>
          </a:prstGeom>
          <a:solidFill>
            <a:srgbClr val="62C121"/>
          </a:solidFill>
          <a:ln w="26216">
            <a:solidFill>
              <a:srgbClr val="B28FBD"/>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CDA04B03-E6AF-9BFD-7432-3BA9B663FCC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657188" y="4772259"/>
            <a:ext cx="966460" cy="1028648"/>
          </a:xfrm>
          <a:prstGeom prst="rect">
            <a:avLst/>
          </a:prstGeom>
        </p:spPr>
      </p:pic>
      <p:pic>
        <p:nvPicPr>
          <p:cNvPr id="30" name="Graphic 29">
            <a:extLst>
              <a:ext uri="{FF2B5EF4-FFF2-40B4-BE49-F238E27FC236}">
                <a16:creationId xmlns:a16="http://schemas.microsoft.com/office/drawing/2014/main" id="{5C5E8A27-174F-F75C-499C-1773865DFF8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376712" y="4236093"/>
            <a:ext cx="1362042" cy="811947"/>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97437" y="5589440"/>
            <a:ext cx="595064" cy="911329"/>
          </a:xfrm>
          <a:prstGeom prst="rect">
            <a:avLst/>
          </a:prstGeom>
          <a:solidFill>
            <a:srgbClr val="41B38D"/>
          </a:solidFill>
        </p:spPr>
        <p:txBody>
          <a:bodyPr wrap="none" lIns="44467" tIns="44467" rIns="44467" bIns="44467">
            <a:spAutoFit/>
          </a:bodyPr>
          <a:lstStyle/>
          <a:p>
            <a:r>
              <a:rPr sz="1600" b="0" i="0" u="none">
                <a:solidFill>
                  <a:srgbClr val="26728B"/>
                </a:solidFill>
                <a:latin typeface="Aptos"/>
              </a:rPr>
              <a:t>Viewport View Moment Graph Register Model Order Mesh Bundle Query Object Diagram Template Cell Column Service Version Sequence Matrix Narrative Plan Variant</a:t>
            </a:r>
          </a:p>
        </p:txBody>
      </p:sp>
      <p:cxnSp>
        <p:nvCxnSpPr>
          <p:cNvPr id="3" name="Connector 2"/>
          <p:cNvCxnSpPr/>
          <p:nvPr/>
        </p:nvCxnSpPr>
        <p:spPr>
          <a:xfrm flipV="1">
            <a:off x="778557" y="4555937"/>
            <a:ext cx="804924" cy="918772"/>
          </a:xfrm>
          <a:prstGeom prst="bentConnector3">
            <a:avLst/>
          </a:prstGeom>
          <a:ln w="44801">
            <a:solidFill>
              <a:srgbClr val="6F8C48"/>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_example_image.jpg"/>
          <p:cNvPicPr>
            <a:picLocks noChangeAspect="1"/>
          </p:cNvPicPr>
          <p:nvPr/>
        </p:nvPicPr>
        <p:blipFill>
          <a:blip r:embed="rId2"/>
          <a:srcRect l="8129" t="654" r="14400" b="590"/>
          <a:stretch>
            <a:fillRect/>
          </a:stretch>
        </p:blipFill>
        <p:spPr>
          <a:xfrm>
            <a:off x="4488269" y="2443796"/>
            <a:ext cx="1398416" cy="1333882"/>
          </a:xfrm>
          <a:prstGeom prst="rect">
            <a:avLst/>
          </a:prstGeom>
        </p:spPr>
      </p:pic>
      <p:sp>
        <p:nvSpPr>
          <p:cNvPr id="5" name="Rounded Rectangle 4"/>
          <p:cNvSpPr/>
          <p:nvPr/>
        </p:nvSpPr>
        <p:spPr>
          <a:xfrm>
            <a:off x="4488269" y="2443796"/>
            <a:ext cx="1398416" cy="1333882"/>
          </a:xfrm>
          <a:prstGeom prst="roundRect">
            <a:avLst/>
          </a:prstGeom>
          <a:noFill/>
          <a:ln w="15240">
            <a:solidFill>
              <a:srgbClr val="71E0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9110610" y="5906495"/>
            <a:ext cx="2724213" cy="668652"/>
          </a:xfrm>
          <a:custGeom>
            <a:avLst/>
            <a:gdLst/>
            <a:ahLst/>
            <a:cxnLst/>
            <a:rect l="l" t="t" r="r" b="b"/>
            <a:pathLst>
              <a:path w="2724213" h="668652">
                <a:moveTo>
                  <a:pt x="1362106" y="0"/>
                </a:moveTo>
                <a:lnTo>
                  <a:pt x="1702633" y="167163"/>
                </a:lnTo>
                <a:lnTo>
                  <a:pt x="2553949" y="120357"/>
                </a:lnTo>
                <a:lnTo>
                  <a:pt x="2071537" y="334326"/>
                </a:lnTo>
                <a:lnTo>
                  <a:pt x="2724213" y="521548"/>
                </a:lnTo>
                <a:lnTo>
                  <a:pt x="1702633" y="481429"/>
                </a:lnTo>
                <a:lnTo>
                  <a:pt x="1362106" y="668652"/>
                </a:lnTo>
                <a:lnTo>
                  <a:pt x="1021580" y="481429"/>
                </a:lnTo>
                <a:lnTo>
                  <a:pt x="0" y="521548"/>
                </a:lnTo>
                <a:lnTo>
                  <a:pt x="652676" y="334326"/>
                </a:lnTo>
                <a:lnTo>
                  <a:pt x="170263" y="120357"/>
                </a:lnTo>
                <a:lnTo>
                  <a:pt x="1021580" y="167163"/>
                </a:lnTo>
                <a:close/>
              </a:path>
            </a:pathLst>
          </a:custGeom>
          <a:solidFill>
            <a:srgbClr val="469364"/>
          </a:solidFill>
          <a:ln w="31691">
            <a:solidFill>
              <a:srgbClr val="D54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un 6"/>
          <p:cNvSpPr/>
          <p:nvPr/>
        </p:nvSpPr>
        <p:spPr>
          <a:xfrm>
            <a:off x="9545384" y="5018530"/>
            <a:ext cx="1901088" cy="631983"/>
          </a:xfrm>
          <a:prstGeom prst="sun">
            <a:avLst/>
          </a:prstGeom>
          <a:noFill/>
          <a:ln w="25998">
            <a:solidFill>
              <a:srgbClr val="E3B6A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941475" y="3474983"/>
            <a:ext cx="554571" cy="1768050"/>
          </a:xfrm>
          <a:prstGeom prst="rect">
            <a:avLst/>
          </a:prstGeom>
          <a:noFill/>
        </p:spPr>
        <p:txBody>
          <a:bodyPr wrap="none" lIns="35804" tIns="35804" rIns="35804" bIns="35804">
            <a:spAutoFit/>
          </a:bodyPr>
          <a:lstStyle/>
          <a:p>
            <a:r>
              <a:rPr sz="1100" b="0" i="0" u="none">
                <a:solidFill>
                  <a:srgbClr val="A6346C"/>
                </a:solidFill>
                <a:latin typeface="Calibri"/>
              </a:rPr>
              <a:t>Texture Precision Measure Table Module Edge Schema Pulse Logic North</a:t>
            </a:r>
          </a:p>
        </p:txBody>
      </p:sp>
      <p:sp>
        <p:nvSpPr>
          <p:cNvPr id="9" name="TextBox 8"/>
          <p:cNvSpPr txBox="1"/>
          <p:nvPr/>
        </p:nvSpPr>
        <p:spPr>
          <a:xfrm>
            <a:off x="6405402" y="3438554"/>
            <a:ext cx="1490079" cy="2085810"/>
          </a:xfrm>
          <a:prstGeom prst="rect">
            <a:avLst/>
          </a:prstGeom>
          <a:noFill/>
        </p:spPr>
        <p:txBody>
          <a:bodyPr wrap="none" lIns="68805" tIns="68805" rIns="68805" bIns="68805">
            <a:spAutoFit/>
          </a:bodyPr>
          <a:lstStyle/>
          <a:p>
            <a:r>
              <a:rPr sz="5800" b="1" i="0" u="none">
                <a:solidFill>
                  <a:srgbClr val="806DBE"/>
                </a:solidFill>
                <a:latin typeface="Arial"/>
              </a:rPr>
              <a:t>Scope Density Reserve Priority Sequence</a:t>
            </a:r>
          </a:p>
        </p:txBody>
      </p:sp>
      <p:cxnSp>
        <p:nvCxnSpPr>
          <p:cNvPr id="10" name="Connector 9"/>
          <p:cNvCxnSpPr/>
          <p:nvPr/>
        </p:nvCxnSpPr>
        <p:spPr>
          <a:xfrm>
            <a:off x="8117951" y="5376231"/>
            <a:ext cx="1819966" cy="488919"/>
          </a:xfrm>
          <a:prstGeom prst="line">
            <a:avLst/>
          </a:prstGeom>
          <a:ln w="42420">
            <a:solidFill>
              <a:srgbClr val="31B8D9"/>
            </a:solidFill>
            <a:prstDash val="dot"/>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418333" y="2024500"/>
            <a:ext cx="2475180" cy="547819"/>
          </a:xfrm>
          <a:prstGeom prst="rect">
            <a:avLst/>
          </a:prstGeom>
          <a:noFill/>
        </p:spPr>
        <p:txBody>
          <a:bodyPr wrap="none" lIns="28696" tIns="28696" rIns="28696" bIns="28696">
            <a:spAutoFit/>
          </a:bodyPr>
          <a:lstStyle/>
          <a:p>
            <a:r>
              <a:rPr sz="1000" b="0" i="0" u="none">
                <a:solidFill>
                  <a:srgbClr val="4FA773"/>
                </a:solidFill>
                <a:latin typeface="Arial"/>
              </a:rPr>
              <a:t>Guide</a:t>
            </a:r>
          </a:p>
        </p:txBody>
      </p:sp>
      <p:sp>
        <p:nvSpPr>
          <p:cNvPr id="12" name="TextBox 11"/>
          <p:cNvSpPr txBox="1"/>
          <p:nvPr/>
        </p:nvSpPr>
        <p:spPr>
          <a:xfrm>
            <a:off x="2267754" y="2412733"/>
            <a:ext cx="1653649" cy="1932218"/>
          </a:xfrm>
          <a:prstGeom prst="rect">
            <a:avLst/>
          </a:prstGeom>
          <a:noFill/>
        </p:spPr>
        <p:txBody>
          <a:bodyPr wrap="none" lIns="46925" tIns="46925" rIns="46925" bIns="46925">
            <a:spAutoFit/>
          </a:bodyPr>
          <a:lstStyle/>
          <a:p>
            <a:r>
              <a:rPr sz="3000" b="0" i="0" u="none">
                <a:solidFill>
                  <a:srgbClr val="C560C2"/>
                </a:solidFill>
                <a:latin typeface="Calibri"/>
              </a:rPr>
              <a:t>Measure Stage Target Zone Instance Input Reserve Node</a:t>
            </a:r>
          </a:p>
        </p:txBody>
      </p:sp>
      <p:sp>
        <p:nvSpPr>
          <p:cNvPr id="13" name="Freeform 12"/>
          <p:cNvSpPr/>
          <p:nvPr/>
        </p:nvSpPr>
        <p:spPr>
          <a:xfrm>
            <a:off x="9904848" y="3992662"/>
            <a:ext cx="1628946" cy="791814"/>
          </a:xfrm>
          <a:custGeom>
            <a:avLst/>
            <a:gdLst/>
            <a:ahLst/>
            <a:cxnLst/>
            <a:rect l="l" t="t" r="r" b="b"/>
            <a:pathLst>
              <a:path w="1628946" h="791814">
                <a:moveTo>
                  <a:pt x="175155" y="134777"/>
                </a:moveTo>
                <a:lnTo>
                  <a:pt x="578013" y="0"/>
                </a:lnTo>
                <a:lnTo>
                  <a:pt x="1191057" y="67389"/>
                </a:lnTo>
                <a:lnTo>
                  <a:pt x="1628946" y="320095"/>
                </a:lnTo>
                <a:lnTo>
                  <a:pt x="1401244" y="657038"/>
                </a:lnTo>
                <a:lnTo>
                  <a:pt x="753168" y="791814"/>
                </a:lnTo>
                <a:lnTo>
                  <a:pt x="105093" y="572802"/>
                </a:lnTo>
                <a:lnTo>
                  <a:pt x="0" y="286401"/>
                </a:lnTo>
                <a:close/>
              </a:path>
            </a:pathLst>
          </a:custGeom>
          <a:solidFill>
            <a:srgbClr val="CF6AB8"/>
          </a:solidFill>
          <a:ln w="19323">
            <a:solidFill>
              <a:srgbClr val="6D7D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1017340" y="535094"/>
          <a:ext cx="3394772" cy="931601"/>
        </p:xfrm>
        <a:graphic>
          <a:graphicData uri="http://schemas.openxmlformats.org/drawingml/2006/table">
            <a:tbl>
              <a:tblPr firstRow="1" bandRow="1">
                <a:tableStyleId>{5C22544A-7EE6-4342-B048-85BDC9FD1C3A}</a:tableStyleId>
              </a:tblPr>
              <a:tblGrid>
                <a:gridCol w="1697386">
                  <a:extLst>
                    <a:ext uri="{9D8B030D-6E8A-4147-A177-3AD203B41FA5}">
                      <a16:colId xmlns:a16="http://schemas.microsoft.com/office/drawing/2014/main" val="20000"/>
                    </a:ext>
                  </a:extLst>
                </a:gridCol>
                <a:gridCol w="1697386">
                  <a:extLst>
                    <a:ext uri="{9D8B030D-6E8A-4147-A177-3AD203B41FA5}">
                      <a16:colId xmlns:a16="http://schemas.microsoft.com/office/drawing/2014/main" val="20001"/>
                    </a:ext>
                  </a:extLst>
                </a:gridCol>
              </a:tblGrid>
              <a:tr h="133085">
                <a:tc>
                  <a:txBody>
                    <a:bodyPr/>
                    <a:lstStyle/>
                    <a:p>
                      <a:r>
                        <a:rPr sz="900" b="1">
                          <a:solidFill>
                            <a:srgbClr val="3DD869"/>
                          </a:solidFill>
                        </a:rPr>
                        <a:t>Indicator Canvas</a:t>
                      </a:r>
                    </a:p>
                  </a:txBody>
                  <a:tcPr>
                    <a:solidFill>
                      <a:srgbClr val="23DA73"/>
                    </a:solidFill>
                  </a:tcPr>
                </a:tc>
                <a:tc>
                  <a:txBody>
                    <a:bodyPr/>
                    <a:lstStyle/>
                    <a:p>
                      <a:r>
                        <a:rPr sz="900" b="1">
                          <a:solidFill>
                            <a:srgbClr val="3DD869"/>
                          </a:solidFill>
                        </a:rPr>
                        <a:t>Viewport Schema</a:t>
                      </a:r>
                    </a:p>
                  </a:txBody>
                  <a:tcPr>
                    <a:solidFill>
                      <a:srgbClr val="23DA73"/>
                    </a:solidFill>
                  </a:tcPr>
                </a:tc>
                <a:extLst>
                  <a:ext uri="{0D108BD9-81ED-4DB2-BD59-A6C34878D82A}">
                    <a16:rowId xmlns:a16="http://schemas.microsoft.com/office/drawing/2014/main" val="10000"/>
                  </a:ext>
                </a:extLst>
              </a:tr>
              <a:tr h="133085">
                <a:tc>
                  <a:txBody>
                    <a:bodyPr/>
                    <a:lstStyle/>
                    <a:p>
                      <a:r>
                        <a:rPr sz="900" b="0">
                          <a:solidFill>
                            <a:srgbClr val="3DD869"/>
                          </a:solidFill>
                        </a:rPr>
                        <a:t>Agenda</a:t>
                      </a:r>
                    </a:p>
                  </a:txBody>
                  <a:tcPr>
                    <a:solidFill>
                      <a:srgbClr val="DFC0E3"/>
                    </a:solidFill>
                  </a:tcPr>
                </a:tc>
                <a:tc>
                  <a:txBody>
                    <a:bodyPr/>
                    <a:lstStyle/>
                    <a:p>
                      <a:r>
                        <a:rPr sz="900" b="0">
                          <a:solidFill>
                            <a:srgbClr val="3DD869"/>
                          </a:solidFill>
                        </a:rPr>
                        <a:t>Iteration</a:t>
                      </a:r>
                    </a:p>
                  </a:txBody>
                  <a:tcPr>
                    <a:solidFill>
                      <a:srgbClr val="DFC0E3"/>
                    </a:solidFill>
                  </a:tcPr>
                </a:tc>
                <a:extLst>
                  <a:ext uri="{0D108BD9-81ED-4DB2-BD59-A6C34878D82A}">
                    <a16:rowId xmlns:a16="http://schemas.microsoft.com/office/drawing/2014/main" val="10001"/>
                  </a:ext>
                </a:extLst>
              </a:tr>
              <a:tr h="133085">
                <a:tc>
                  <a:txBody>
                    <a:bodyPr/>
                    <a:lstStyle/>
                    <a:p>
                      <a:r>
                        <a:rPr sz="900" b="0">
                          <a:solidFill>
                            <a:srgbClr val="3DD869"/>
                          </a:solidFill>
                        </a:rPr>
                        <a:t>Friction Sample</a:t>
                      </a:r>
                    </a:p>
                  </a:txBody>
                  <a:tcPr>
                    <a:solidFill>
                      <a:srgbClr val="F0E1F2"/>
                    </a:solidFill>
                  </a:tcPr>
                </a:tc>
                <a:tc>
                  <a:txBody>
                    <a:bodyPr/>
                    <a:lstStyle/>
                    <a:p>
                      <a:r>
                        <a:rPr sz="900" b="0">
                          <a:solidFill>
                            <a:srgbClr val="3DD869"/>
                          </a:solidFill>
                        </a:rPr>
                        <a:t>Checkpoint Relay</a:t>
                      </a:r>
                    </a:p>
                  </a:txBody>
                  <a:tcPr>
                    <a:solidFill>
                      <a:srgbClr val="F0E1F2"/>
                    </a:solidFill>
                  </a:tcPr>
                </a:tc>
                <a:extLst>
                  <a:ext uri="{0D108BD9-81ED-4DB2-BD59-A6C34878D82A}">
                    <a16:rowId xmlns:a16="http://schemas.microsoft.com/office/drawing/2014/main" val="10002"/>
                  </a:ext>
                </a:extLst>
              </a:tr>
              <a:tr h="133085">
                <a:tc>
                  <a:txBody>
                    <a:bodyPr/>
                    <a:lstStyle/>
                    <a:p>
                      <a:r>
                        <a:rPr sz="900" b="0">
                          <a:solidFill>
                            <a:srgbClr val="3DD869"/>
                          </a:solidFill>
                        </a:rPr>
                        <a:t>Matrix</a:t>
                      </a:r>
                    </a:p>
                  </a:txBody>
                  <a:tcPr>
                    <a:solidFill>
                      <a:srgbClr val="DFC0E3"/>
                    </a:solidFill>
                  </a:tcPr>
                </a:tc>
                <a:tc>
                  <a:txBody>
                    <a:bodyPr/>
                    <a:lstStyle/>
                    <a:p>
                      <a:r>
                        <a:rPr sz="900" b="0">
                          <a:solidFill>
                            <a:srgbClr val="3DD869"/>
                          </a:solidFill>
                        </a:rPr>
                        <a:t>Logic Marker</a:t>
                      </a:r>
                    </a:p>
                  </a:txBody>
                  <a:tcPr>
                    <a:solidFill>
                      <a:srgbClr val="DFC0E3"/>
                    </a:solidFill>
                  </a:tcPr>
                </a:tc>
                <a:extLst>
                  <a:ext uri="{0D108BD9-81ED-4DB2-BD59-A6C34878D82A}">
                    <a16:rowId xmlns:a16="http://schemas.microsoft.com/office/drawing/2014/main" val="10003"/>
                  </a:ext>
                </a:extLst>
              </a:tr>
              <a:tr h="133085">
                <a:tc>
                  <a:txBody>
                    <a:bodyPr/>
                    <a:lstStyle/>
                    <a:p>
                      <a:r>
                        <a:rPr sz="900" b="0">
                          <a:solidFill>
                            <a:srgbClr val="3DD869"/>
                          </a:solidFill>
                        </a:rPr>
                        <a:t>Goal</a:t>
                      </a:r>
                    </a:p>
                  </a:txBody>
                  <a:tcPr>
                    <a:solidFill>
                      <a:srgbClr val="F0E1F2"/>
                    </a:solidFill>
                  </a:tcPr>
                </a:tc>
                <a:tc>
                  <a:txBody>
                    <a:bodyPr/>
                    <a:lstStyle/>
                    <a:p>
                      <a:r>
                        <a:rPr sz="900" b="0">
                          <a:solidFill>
                            <a:srgbClr val="3DD869"/>
                          </a:solidFill>
                        </a:rPr>
                        <a:t>Point Energy</a:t>
                      </a:r>
                    </a:p>
                  </a:txBody>
                  <a:tcPr>
                    <a:solidFill>
                      <a:srgbClr val="F0E1F2"/>
                    </a:solidFill>
                  </a:tcPr>
                </a:tc>
                <a:extLst>
                  <a:ext uri="{0D108BD9-81ED-4DB2-BD59-A6C34878D82A}">
                    <a16:rowId xmlns:a16="http://schemas.microsoft.com/office/drawing/2014/main" val="10004"/>
                  </a:ext>
                </a:extLst>
              </a:tr>
              <a:tr h="133085">
                <a:tc>
                  <a:txBody>
                    <a:bodyPr/>
                    <a:lstStyle/>
                    <a:p>
                      <a:r>
                        <a:rPr sz="900" b="0">
                          <a:solidFill>
                            <a:srgbClr val="3DD869"/>
                          </a:solidFill>
                        </a:rPr>
                        <a:t>Trace</a:t>
                      </a:r>
                    </a:p>
                  </a:txBody>
                  <a:tcPr>
                    <a:solidFill>
                      <a:srgbClr val="DFC0E3"/>
                    </a:solidFill>
                  </a:tcPr>
                </a:tc>
                <a:tc>
                  <a:txBody>
                    <a:bodyPr/>
                    <a:lstStyle/>
                    <a:p>
                      <a:r>
                        <a:rPr sz="900" b="0">
                          <a:solidFill>
                            <a:srgbClr val="3DD869"/>
                          </a:solidFill>
                        </a:rPr>
                        <a:t>Device</a:t>
                      </a:r>
                    </a:p>
                  </a:txBody>
                  <a:tcPr>
                    <a:solidFill>
                      <a:srgbClr val="DFC0E3"/>
                    </a:solidFill>
                  </a:tcPr>
                </a:tc>
                <a:extLst>
                  <a:ext uri="{0D108BD9-81ED-4DB2-BD59-A6C34878D82A}">
                    <a16:rowId xmlns:a16="http://schemas.microsoft.com/office/drawing/2014/main" val="10005"/>
                  </a:ext>
                </a:extLst>
              </a:tr>
              <a:tr h="133091">
                <a:tc>
                  <a:txBody>
                    <a:bodyPr/>
                    <a:lstStyle/>
                    <a:p>
                      <a:r>
                        <a:rPr sz="900" b="0">
                          <a:solidFill>
                            <a:srgbClr val="3DD869"/>
                          </a:solidFill>
                        </a:rPr>
                        <a:t>Table Result</a:t>
                      </a:r>
                    </a:p>
                  </a:txBody>
                  <a:tcPr>
                    <a:solidFill>
                      <a:srgbClr val="F0E1F2"/>
                    </a:solidFill>
                  </a:tcPr>
                </a:tc>
                <a:tc>
                  <a:txBody>
                    <a:bodyPr/>
                    <a:lstStyle/>
                    <a:p>
                      <a:r>
                        <a:rPr sz="900" b="0">
                          <a:solidFill>
                            <a:srgbClr val="3DD869"/>
                          </a:solidFill>
                        </a:rPr>
                        <a:t>Tile Concept</a:t>
                      </a:r>
                    </a:p>
                  </a:txBody>
                  <a:tcPr>
                    <a:solidFill>
                      <a:srgbClr val="F0E1F2"/>
                    </a:solidFill>
                  </a:tcPr>
                </a:tc>
                <a:extLst>
                  <a:ext uri="{0D108BD9-81ED-4DB2-BD59-A6C34878D82A}">
                    <a16:rowId xmlns:a16="http://schemas.microsoft.com/office/drawing/2014/main" val="10006"/>
                  </a:ext>
                </a:extLst>
              </a:tr>
            </a:tbl>
          </a:graphicData>
        </a:graphic>
      </p:graphicFrame>
      <p:graphicFrame>
        <p:nvGraphicFramePr>
          <p:cNvPr id="15" name="Chart 14"/>
          <p:cNvGraphicFramePr>
            <a:graphicFrameLocks noGrp="1"/>
          </p:cNvGraphicFramePr>
          <p:nvPr/>
        </p:nvGraphicFramePr>
        <p:xfrm>
          <a:off x="7163631" y="475932"/>
          <a:ext cx="2837121" cy="16651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p:cNvGraphicFramePr>
            <a:graphicFrameLocks noGrp="1"/>
          </p:cNvGraphicFramePr>
          <p:nvPr/>
        </p:nvGraphicFramePr>
        <p:xfrm>
          <a:off x="230957" y="3782413"/>
          <a:ext cx="2230626" cy="2696032"/>
        </p:xfrm>
        <a:graphic>
          <a:graphicData uri="http://schemas.openxmlformats.org/drawingml/2006/chart">
            <c:chart xmlns:c="http://schemas.openxmlformats.org/drawingml/2006/chart" xmlns:r="http://schemas.openxmlformats.org/officeDocument/2006/relationships" r:id="rId4"/>
          </a:graphicData>
        </a:graphic>
      </p:graphicFrame>
      <p:sp>
        <p:nvSpPr>
          <p:cNvPr id="17" name="Left-Right Arrow Callout 16"/>
          <p:cNvSpPr/>
          <p:nvPr/>
        </p:nvSpPr>
        <p:spPr>
          <a:xfrm>
            <a:off x="1605739" y="4570543"/>
            <a:ext cx="1859228" cy="429414"/>
          </a:xfrm>
          <a:prstGeom prst="leftRightArrowCallout">
            <a:avLst/>
          </a:prstGeom>
          <a:solidFill>
            <a:srgbClr val="D7C795"/>
          </a:solidFill>
          <a:ln w="27204">
            <a:solidFill>
              <a:srgbClr val="8E4A7E"/>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unnel 17"/>
          <p:cNvSpPr/>
          <p:nvPr/>
        </p:nvSpPr>
        <p:spPr>
          <a:xfrm>
            <a:off x="1133425" y="5559919"/>
            <a:ext cx="331819" cy="393737"/>
          </a:xfrm>
          <a:prstGeom prst="funnel">
            <a:avLst/>
          </a:prstGeom>
          <a:solidFill>
            <a:srgbClr val="C3294A"/>
          </a:solidFill>
          <a:ln w="31519">
            <a:solidFill>
              <a:srgbClr val="712D4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urved Down Ribbon 18"/>
          <p:cNvSpPr/>
          <p:nvPr/>
        </p:nvSpPr>
        <p:spPr>
          <a:xfrm>
            <a:off x="9911515" y="3318707"/>
            <a:ext cx="1211197" cy="406888"/>
          </a:xfrm>
          <a:prstGeom prst="ellipseRibbon">
            <a:avLst/>
          </a:prstGeom>
          <a:noFill/>
          <a:ln w="29377">
            <a:solidFill>
              <a:srgbClr val="D6CE8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Table 19"/>
          <p:cNvGraphicFramePr>
            <a:graphicFrameLocks noGrp="1"/>
          </p:cNvGraphicFramePr>
          <p:nvPr/>
        </p:nvGraphicFramePr>
        <p:xfrm>
          <a:off x="4184970" y="4596882"/>
          <a:ext cx="2561600" cy="977783"/>
        </p:xfrm>
        <a:graphic>
          <a:graphicData uri="http://schemas.openxmlformats.org/drawingml/2006/table">
            <a:tbl>
              <a:tblPr firstRow="1" bandRow="1">
                <a:tableStyleId>{5C22544A-7EE6-4342-B048-85BDC9FD1C3A}</a:tableStyleId>
              </a:tblPr>
              <a:tblGrid>
                <a:gridCol w="853866">
                  <a:extLst>
                    <a:ext uri="{9D8B030D-6E8A-4147-A177-3AD203B41FA5}">
                      <a16:colId xmlns:a16="http://schemas.microsoft.com/office/drawing/2014/main" val="20000"/>
                    </a:ext>
                  </a:extLst>
                </a:gridCol>
                <a:gridCol w="853866">
                  <a:extLst>
                    <a:ext uri="{9D8B030D-6E8A-4147-A177-3AD203B41FA5}">
                      <a16:colId xmlns:a16="http://schemas.microsoft.com/office/drawing/2014/main" val="20001"/>
                    </a:ext>
                  </a:extLst>
                </a:gridCol>
                <a:gridCol w="853868">
                  <a:extLst>
                    <a:ext uri="{9D8B030D-6E8A-4147-A177-3AD203B41FA5}">
                      <a16:colId xmlns:a16="http://schemas.microsoft.com/office/drawing/2014/main" val="20002"/>
                    </a:ext>
                  </a:extLst>
                </a:gridCol>
              </a:tblGrid>
              <a:tr h="325927">
                <a:tc>
                  <a:txBody>
                    <a:bodyPr/>
                    <a:lstStyle/>
                    <a:p>
                      <a:r>
                        <a:rPr sz="600" b="1">
                          <a:solidFill>
                            <a:srgbClr val="55D175"/>
                          </a:solidFill>
                        </a:rPr>
                        <a:t>Goal</a:t>
                      </a:r>
                    </a:p>
                  </a:txBody>
                  <a:tcPr>
                    <a:solidFill>
                      <a:srgbClr val="C6451E"/>
                    </a:solidFill>
                  </a:tcPr>
                </a:tc>
                <a:tc>
                  <a:txBody>
                    <a:bodyPr/>
                    <a:lstStyle/>
                    <a:p>
                      <a:r>
                        <a:rPr sz="600" b="1">
                          <a:solidFill>
                            <a:srgbClr val="55D175"/>
                          </a:solidFill>
                        </a:rPr>
                        <a:t>Graph</a:t>
                      </a:r>
                    </a:p>
                  </a:txBody>
                  <a:tcPr>
                    <a:solidFill>
                      <a:srgbClr val="C6451E"/>
                    </a:solidFill>
                  </a:tcPr>
                </a:tc>
                <a:tc>
                  <a:txBody>
                    <a:bodyPr/>
                    <a:lstStyle/>
                    <a:p>
                      <a:r>
                        <a:rPr sz="600" b="1">
                          <a:solidFill>
                            <a:srgbClr val="55D175"/>
                          </a:solidFill>
                        </a:rPr>
                        <a:t>Target Reference</a:t>
                      </a:r>
                    </a:p>
                  </a:txBody>
                  <a:tcPr>
                    <a:solidFill>
                      <a:srgbClr val="C6451E"/>
                    </a:solidFill>
                  </a:tcPr>
                </a:tc>
                <a:extLst>
                  <a:ext uri="{0D108BD9-81ED-4DB2-BD59-A6C34878D82A}">
                    <a16:rowId xmlns:a16="http://schemas.microsoft.com/office/drawing/2014/main" val="10000"/>
                  </a:ext>
                </a:extLst>
              </a:tr>
              <a:tr h="325927">
                <a:tc>
                  <a:txBody>
                    <a:bodyPr/>
                    <a:lstStyle/>
                    <a:p>
                      <a:r>
                        <a:rPr sz="600" b="0">
                          <a:solidFill>
                            <a:srgbClr val="55D175"/>
                          </a:solidFill>
                        </a:rPr>
                        <a:t>Variant Record</a:t>
                      </a:r>
                    </a:p>
                  </a:txBody>
                  <a:tcPr>
                    <a:solidFill>
                      <a:srgbClr val="F0F9D5"/>
                    </a:solidFill>
                  </a:tcPr>
                </a:tc>
                <a:tc>
                  <a:txBody>
                    <a:bodyPr/>
                    <a:lstStyle/>
                    <a:p>
                      <a:r>
                        <a:rPr sz="600" b="0">
                          <a:solidFill>
                            <a:srgbClr val="55D175"/>
                          </a:solidFill>
                        </a:rPr>
                        <a:t>Detail</a:t>
                      </a:r>
                    </a:p>
                  </a:txBody>
                  <a:tcPr>
                    <a:solidFill>
                      <a:srgbClr val="E3F3AF"/>
                    </a:solidFill>
                  </a:tcPr>
                </a:tc>
                <a:tc>
                  <a:txBody>
                    <a:bodyPr/>
                    <a:lstStyle/>
                    <a:p>
                      <a:r>
                        <a:rPr sz="600" b="0">
                          <a:solidFill>
                            <a:srgbClr val="55D175"/>
                          </a:solidFill>
                        </a:rPr>
                        <a:t>Region Context</a:t>
                      </a:r>
                    </a:p>
                  </a:txBody>
                  <a:tcPr>
                    <a:solidFill>
                      <a:srgbClr val="F0F9D5"/>
                    </a:solidFill>
                  </a:tcPr>
                </a:tc>
                <a:extLst>
                  <a:ext uri="{0D108BD9-81ED-4DB2-BD59-A6C34878D82A}">
                    <a16:rowId xmlns:a16="http://schemas.microsoft.com/office/drawing/2014/main" val="10001"/>
                  </a:ext>
                </a:extLst>
              </a:tr>
              <a:tr h="325929">
                <a:tc>
                  <a:txBody>
                    <a:bodyPr/>
                    <a:lstStyle/>
                    <a:p>
                      <a:r>
                        <a:rPr sz="600" b="0">
                          <a:solidFill>
                            <a:srgbClr val="55D175"/>
                          </a:solidFill>
                        </a:rPr>
                        <a:t>Trace Table</a:t>
                      </a:r>
                    </a:p>
                  </a:txBody>
                  <a:tcPr>
                    <a:solidFill>
                      <a:srgbClr val="F0F9D5"/>
                    </a:solidFill>
                  </a:tcPr>
                </a:tc>
                <a:tc>
                  <a:txBody>
                    <a:bodyPr/>
                    <a:lstStyle/>
                    <a:p>
                      <a:r>
                        <a:rPr sz="600" b="0">
                          <a:solidFill>
                            <a:srgbClr val="55D175"/>
                          </a:solidFill>
                        </a:rPr>
                        <a:t>Benchmark</a:t>
                      </a:r>
                    </a:p>
                  </a:txBody>
                  <a:tcPr>
                    <a:solidFill>
                      <a:srgbClr val="E3F3AF"/>
                    </a:solidFill>
                  </a:tcPr>
                </a:tc>
                <a:tc>
                  <a:txBody>
                    <a:bodyPr/>
                    <a:lstStyle/>
                    <a:p>
                      <a:r>
                        <a:rPr sz="600" b="0">
                          <a:solidFill>
                            <a:srgbClr val="55D175"/>
                          </a:solidFill>
                        </a:rPr>
                        <a:t>Epoch Iteration</a:t>
                      </a:r>
                    </a:p>
                  </a:txBody>
                  <a:tcPr>
                    <a:solidFill>
                      <a:srgbClr val="F0F9D5"/>
                    </a:solidFill>
                  </a:tcPr>
                </a:tc>
                <a:extLst>
                  <a:ext uri="{0D108BD9-81ED-4DB2-BD59-A6C34878D82A}">
                    <a16:rowId xmlns:a16="http://schemas.microsoft.com/office/drawing/2014/main" val="10002"/>
                  </a:ext>
                </a:extLst>
              </a:tr>
            </a:tbl>
          </a:graphicData>
        </a:graphic>
      </p:graphicFrame>
      <p:sp>
        <p:nvSpPr>
          <p:cNvPr id="21" name="Document 20"/>
          <p:cNvSpPr/>
          <p:nvPr/>
        </p:nvSpPr>
        <p:spPr>
          <a:xfrm>
            <a:off x="6754788" y="1164037"/>
            <a:ext cx="454668" cy="1127867"/>
          </a:xfrm>
          <a:prstGeom prst="flowChartDocument">
            <a:avLst/>
          </a:prstGeom>
          <a:solidFill>
            <a:srgbClr val="6A2B3C"/>
          </a:solidFill>
          <a:ln w="23674">
            <a:solidFill>
              <a:srgbClr val="4F7F9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Left Right Ribbon 21"/>
          <p:cNvSpPr/>
          <p:nvPr/>
        </p:nvSpPr>
        <p:spPr>
          <a:xfrm>
            <a:off x="1906111" y="1554941"/>
            <a:ext cx="891341" cy="843369"/>
          </a:xfrm>
          <a:prstGeom prst="leftRightRibbon">
            <a:avLst/>
          </a:prstGeom>
          <a:noFill/>
          <a:ln w="23869">
            <a:solidFill>
              <a:srgbClr val="B6CCB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2"/>
          <a:srcRect l="4260" t="8941" r="17204" b="12174"/>
          <a:stretch>
            <a:fillRect/>
          </a:stretch>
        </p:blipFill>
        <p:spPr>
          <a:xfrm>
            <a:off x="9111066" y="821874"/>
            <a:ext cx="1602877" cy="977935"/>
          </a:xfrm>
          <a:prstGeom prst="rect">
            <a:avLst/>
          </a:prstGeom>
        </p:spPr>
      </p:pic>
      <p:sp>
        <p:nvSpPr>
          <p:cNvPr id="24" name="Rounded Rectangle 23"/>
          <p:cNvSpPr/>
          <p:nvPr/>
        </p:nvSpPr>
        <p:spPr>
          <a:xfrm>
            <a:off x="9111066" y="821874"/>
            <a:ext cx="1602877" cy="977935"/>
          </a:xfrm>
          <a:prstGeom prst="roundRect">
            <a:avLst/>
          </a:prstGeom>
          <a:noFill/>
          <a:ln w="15240">
            <a:solidFill>
              <a:srgbClr val="54DC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Quad Arrow 24"/>
          <p:cNvSpPr/>
          <p:nvPr/>
        </p:nvSpPr>
        <p:spPr>
          <a:xfrm>
            <a:off x="5951338" y="2405431"/>
            <a:ext cx="1020456" cy="723562"/>
          </a:xfrm>
          <a:prstGeom prst="quadArrow">
            <a:avLst/>
          </a:prstGeom>
          <a:solidFill>
            <a:srgbClr val="249091"/>
          </a:solidFill>
          <a:ln w="12492">
            <a:solidFill>
              <a:srgbClr val="AC5A4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89814" y="1409079"/>
            <a:ext cx="3448658" cy="797087"/>
          </a:xfrm>
          <a:prstGeom prst="rect">
            <a:avLst/>
          </a:prstGeom>
          <a:noFill/>
        </p:spPr>
        <p:txBody>
          <a:bodyPr wrap="none" lIns="79652" tIns="79652" rIns="79652" bIns="79652">
            <a:spAutoFit/>
          </a:bodyPr>
          <a:lstStyle/>
          <a:p>
            <a:r>
              <a:rPr sz="4100" b="1" i="0" u="none">
                <a:solidFill>
                  <a:srgbClr val="72AA29"/>
                </a:solidFill>
                <a:latin typeface="Georgia"/>
              </a:rPr>
              <a:t>Needle Network</a:t>
            </a:r>
          </a:p>
        </p:txBody>
      </p:sp>
      <p:pic>
        <p:nvPicPr>
          <p:cNvPr id="27" name="Picture 26" descr="_example_image.jpg"/>
          <p:cNvPicPr>
            <a:picLocks noChangeAspect="1"/>
          </p:cNvPicPr>
          <p:nvPr/>
        </p:nvPicPr>
        <p:blipFill>
          <a:blip r:embed="rId2"/>
          <a:srcRect/>
          <a:stretch>
            <a:fillRect/>
          </a:stretch>
        </p:blipFill>
        <p:spPr>
          <a:xfrm>
            <a:off x="10577564" y="1911296"/>
            <a:ext cx="1344433" cy="749056"/>
          </a:xfrm>
          <a:prstGeom prst="rect">
            <a:avLst/>
          </a:prstGeom>
        </p:spPr>
      </p:pic>
      <p:sp>
        <p:nvSpPr>
          <p:cNvPr id="28" name="Rounded Rectangle 27"/>
          <p:cNvSpPr/>
          <p:nvPr/>
        </p:nvSpPr>
        <p:spPr>
          <a:xfrm>
            <a:off x="10577564" y="1911296"/>
            <a:ext cx="1344433" cy="749056"/>
          </a:xfrm>
          <a:prstGeom prst="roundRect">
            <a:avLst/>
          </a:prstGeom>
          <a:noFill/>
          <a:ln w="15240">
            <a:solidFill>
              <a:srgbClr val="B52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28"/>
          <p:cNvCxnSpPr/>
          <p:nvPr/>
        </p:nvCxnSpPr>
        <p:spPr>
          <a:xfrm>
            <a:off x="515202" y="2484251"/>
            <a:ext cx="1584790" cy="446440"/>
          </a:xfrm>
          <a:prstGeom prst="curvedConnector3">
            <a:avLst/>
          </a:prstGeom>
          <a:ln w="38668">
            <a:solidFill>
              <a:srgbClr val="BBBF52"/>
            </a:solidFill>
            <a:prstDash val="lgDash"/>
          </a:ln>
        </p:spPr>
        <p:style>
          <a:lnRef idx="2">
            <a:schemeClr val="accent1"/>
          </a:lnRef>
          <a:fillRef idx="0">
            <a:schemeClr val="accent1"/>
          </a:fillRef>
          <a:effectRef idx="1">
            <a:schemeClr val="accent1"/>
          </a:effectRef>
          <a:fontRef idx="minor">
            <a:schemeClr val="tx1"/>
          </a:fontRef>
        </p:style>
      </p:cxnSp>
      <p:pic>
        <p:nvPicPr>
          <p:cNvPr id="31" name="Graphic 30">
            <a:extLst>
              <a:ext uri="{FF2B5EF4-FFF2-40B4-BE49-F238E27FC236}">
                <a16:creationId xmlns:a16="http://schemas.microsoft.com/office/drawing/2014/main" id="{95968933-4DA7-0EFC-5DF8-682BD5883DA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706922" y="2420202"/>
            <a:ext cx="1454567" cy="1707701"/>
          </a:xfrm>
          <a:prstGeom prst="rect">
            <a:avLst/>
          </a:prstGeom>
        </p:spPr>
      </p:pic>
      <p:pic>
        <p:nvPicPr>
          <p:cNvPr id="33" name="Graphic 32">
            <a:extLst>
              <a:ext uri="{FF2B5EF4-FFF2-40B4-BE49-F238E27FC236}">
                <a16:creationId xmlns:a16="http://schemas.microsoft.com/office/drawing/2014/main" id="{B1A7736F-E15C-6DAB-D1D0-2B60518B9CC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850836" y="5639284"/>
            <a:ext cx="1806600" cy="1033638"/>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1224002" y="1514034"/>
          <a:ext cx="2891720" cy="1638988"/>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5009460" y="1548148"/>
            <a:ext cx="1047695" cy="1981298"/>
          </a:xfrm>
          <a:prstGeom prst="rect">
            <a:avLst/>
          </a:prstGeom>
          <a:noFill/>
        </p:spPr>
        <p:txBody>
          <a:bodyPr wrap="none" lIns="73300" tIns="73300" rIns="73300" bIns="73300">
            <a:spAutoFit/>
          </a:bodyPr>
          <a:lstStyle/>
          <a:p>
            <a:r>
              <a:rPr sz="2900" b="0" i="0" u="none">
                <a:solidFill>
                  <a:srgbClr val="3C5A97"/>
                </a:solidFill>
                <a:latin typeface="Calibri"/>
              </a:rPr>
              <a:t>Gradient Command Position Graph Drift Texture</a:t>
            </a:r>
          </a:p>
        </p:txBody>
      </p:sp>
      <p:sp>
        <p:nvSpPr>
          <p:cNvPr id="4" name="TextBox 3"/>
          <p:cNvSpPr txBox="1"/>
          <p:nvPr/>
        </p:nvSpPr>
        <p:spPr>
          <a:xfrm>
            <a:off x="9063064" y="924142"/>
            <a:ext cx="2750138" cy="572514"/>
          </a:xfrm>
          <a:prstGeom prst="rect">
            <a:avLst/>
          </a:prstGeom>
          <a:noFill/>
        </p:spPr>
        <p:txBody>
          <a:bodyPr wrap="none" lIns="69882" tIns="69882" rIns="69882" bIns="69882">
            <a:spAutoFit/>
          </a:bodyPr>
          <a:lstStyle/>
          <a:p>
            <a:r>
              <a:rPr sz="1200" b="0" i="0" u="sng">
                <a:solidFill>
                  <a:srgbClr val="E1D6D9"/>
                </a:solidFill>
                <a:latin typeface="Verdana"/>
              </a:rPr>
              <a:t>Drift Model Action Build Surface Apex Wave Dimension</a:t>
            </a:r>
          </a:p>
        </p:txBody>
      </p:sp>
      <p:pic>
        <p:nvPicPr>
          <p:cNvPr id="5" name="Picture 4" descr="_example_image.jpg"/>
          <p:cNvPicPr>
            <a:picLocks noChangeAspect="1"/>
          </p:cNvPicPr>
          <p:nvPr/>
        </p:nvPicPr>
        <p:blipFill>
          <a:blip r:embed="rId3"/>
          <a:srcRect/>
          <a:stretch>
            <a:fillRect/>
          </a:stretch>
        </p:blipFill>
        <p:spPr>
          <a:xfrm>
            <a:off x="315954" y="3111889"/>
            <a:ext cx="1205140" cy="1903225"/>
          </a:xfrm>
          <a:prstGeom prst="rect">
            <a:avLst/>
          </a:prstGeom>
        </p:spPr>
      </p:pic>
      <p:sp>
        <p:nvSpPr>
          <p:cNvPr id="6" name="Rounded Rectangle 5"/>
          <p:cNvSpPr/>
          <p:nvPr/>
        </p:nvSpPr>
        <p:spPr>
          <a:xfrm>
            <a:off x="315954" y="3111889"/>
            <a:ext cx="1205140" cy="1903225"/>
          </a:xfrm>
          <a:prstGeom prst="roundRect">
            <a:avLst/>
          </a:prstGeom>
          <a:noFill/>
          <a:ln w="15240">
            <a:solidFill>
              <a:srgbClr val="4294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Donut 6"/>
          <p:cNvSpPr/>
          <p:nvPr/>
        </p:nvSpPr>
        <p:spPr>
          <a:xfrm>
            <a:off x="3578059" y="2014327"/>
            <a:ext cx="578052" cy="1290086"/>
          </a:xfrm>
          <a:prstGeom prst="donut">
            <a:avLst/>
          </a:prstGeom>
          <a:solidFill>
            <a:srgbClr val="D72699"/>
          </a:solidFill>
          <a:ln w="28449">
            <a:solidFill>
              <a:srgbClr val="6743C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8466410" y="5382484"/>
            <a:ext cx="1769258" cy="1176988"/>
          </a:xfrm>
          <a:custGeom>
            <a:avLst/>
            <a:gdLst/>
            <a:ahLst/>
            <a:cxnLst/>
            <a:rect l="l" t="t" r="r" b="b"/>
            <a:pathLst>
              <a:path w="1769258" h="1176988">
                <a:moveTo>
                  <a:pt x="884629" y="0"/>
                </a:moveTo>
                <a:lnTo>
                  <a:pt x="1105786" y="294247"/>
                </a:lnTo>
                <a:lnTo>
                  <a:pt x="1658679" y="211858"/>
                </a:lnTo>
                <a:lnTo>
                  <a:pt x="1345373" y="588494"/>
                </a:lnTo>
                <a:lnTo>
                  <a:pt x="1769258" y="918051"/>
                </a:lnTo>
                <a:lnTo>
                  <a:pt x="1105786" y="847431"/>
                </a:lnTo>
                <a:lnTo>
                  <a:pt x="884629" y="1176988"/>
                </a:lnTo>
                <a:lnTo>
                  <a:pt x="663471" y="847431"/>
                </a:lnTo>
                <a:lnTo>
                  <a:pt x="0" y="918051"/>
                </a:lnTo>
                <a:lnTo>
                  <a:pt x="423884" y="588494"/>
                </a:lnTo>
                <a:lnTo>
                  <a:pt x="110578" y="211858"/>
                </a:lnTo>
                <a:lnTo>
                  <a:pt x="663471" y="294247"/>
                </a:lnTo>
                <a:close/>
              </a:path>
            </a:pathLst>
          </a:custGeom>
          <a:solidFill>
            <a:srgbClr val="1E6199"/>
          </a:solidFill>
          <a:ln w="34099">
            <a:solidFill>
              <a:srgbClr val="55D96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Block Arc 8"/>
          <p:cNvSpPr/>
          <p:nvPr/>
        </p:nvSpPr>
        <p:spPr>
          <a:xfrm>
            <a:off x="7923969" y="733965"/>
            <a:ext cx="365125" cy="415633"/>
          </a:xfrm>
          <a:prstGeom prst="blockArc">
            <a:avLst/>
          </a:prstGeom>
          <a:solidFill>
            <a:srgbClr val="984123"/>
          </a:solidFill>
          <a:ln w="20798">
            <a:solidFill>
              <a:srgbClr val="697ED5"/>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49257" y="5481172"/>
            <a:ext cx="3851911" cy="289221"/>
          </a:xfrm>
          <a:prstGeom prst="rect">
            <a:avLst/>
          </a:prstGeom>
          <a:noFill/>
        </p:spPr>
        <p:txBody>
          <a:bodyPr wrap="none" lIns="49272" tIns="49272" rIns="49272" bIns="49272">
            <a:spAutoFit/>
          </a:bodyPr>
          <a:lstStyle/>
          <a:p>
            <a:r>
              <a:rPr sz="1100" b="0" i="0" u="none">
                <a:solidFill>
                  <a:srgbClr val="3B54DC"/>
                </a:solidFill>
                <a:latin typeface="Arial"/>
              </a:rPr>
              <a:t>Buffer Density Duration</a:t>
            </a:r>
          </a:p>
        </p:txBody>
      </p:sp>
      <p:cxnSp>
        <p:nvCxnSpPr>
          <p:cNvPr id="11" name="Connector 10"/>
          <p:cNvCxnSpPr/>
          <p:nvPr/>
        </p:nvCxnSpPr>
        <p:spPr>
          <a:xfrm flipV="1">
            <a:off x="10123816" y="4878587"/>
            <a:ext cx="946867" cy="1013756"/>
          </a:xfrm>
          <a:prstGeom prst="curvedConnector3">
            <a:avLst/>
          </a:prstGeom>
          <a:ln w="14736">
            <a:solidFill>
              <a:srgbClr val="691EB3"/>
            </a:solidFill>
            <a:prstDash val="dot"/>
          </a:ln>
        </p:spPr>
        <p:style>
          <a:lnRef idx="2">
            <a:schemeClr val="accent1"/>
          </a:lnRef>
          <a:fillRef idx="0">
            <a:schemeClr val="accent1"/>
          </a:fillRef>
          <a:effectRef idx="1">
            <a:schemeClr val="accent1"/>
          </a:effectRef>
          <a:fontRef idx="minor">
            <a:schemeClr val="tx1"/>
          </a:fontRef>
        </p:style>
      </p:cxnSp>
      <p:sp>
        <p:nvSpPr>
          <p:cNvPr id="12" name="Decision 11"/>
          <p:cNvSpPr/>
          <p:nvPr/>
        </p:nvSpPr>
        <p:spPr>
          <a:xfrm>
            <a:off x="9044376" y="2608886"/>
            <a:ext cx="2038425" cy="933043"/>
          </a:xfrm>
          <a:prstGeom prst="flowChartDecision">
            <a:avLst/>
          </a:prstGeom>
          <a:solidFill>
            <a:srgbClr val="B2BD9A"/>
          </a:solidFill>
          <a:ln w="29961">
            <a:solidFill>
              <a:srgbClr val="319949"/>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40155" y="3564580"/>
            <a:ext cx="920978" cy="2206149"/>
          </a:xfrm>
          <a:prstGeom prst="rect">
            <a:avLst/>
          </a:prstGeom>
          <a:solidFill>
            <a:srgbClr val="27C3C2"/>
          </a:solidFill>
        </p:spPr>
        <p:txBody>
          <a:bodyPr wrap="none" lIns="44135" tIns="44135" rIns="44135" bIns="44135">
            <a:spAutoFit/>
          </a:bodyPr>
          <a:lstStyle/>
          <a:p>
            <a:r>
              <a:rPr sz="1100" b="1" i="0" u="none">
                <a:solidFill>
                  <a:srgbClr val="598259"/>
                </a:solidFill>
                <a:latin typeface="Calibri"/>
              </a:rPr>
              <a:t>Lineage Grid Iteration Briefing Volume Object Scope Query Window Viewport Focus Column Output Dashboard Concept Window Edge Stage Library Center Energy Pulse Brief Grid Expansion Group Viewport Workflow Vector Access Proof Service Payload Resource Inventory Scale Token Indicator Mesh Graph Device Depth Origin</a:t>
            </a:r>
          </a:p>
        </p:txBody>
      </p:sp>
      <p:sp>
        <p:nvSpPr>
          <p:cNvPr id="14" name="Down Arrow 13"/>
          <p:cNvSpPr/>
          <p:nvPr/>
        </p:nvSpPr>
        <p:spPr>
          <a:xfrm>
            <a:off x="4143317" y="4213822"/>
            <a:ext cx="1132071" cy="444581"/>
          </a:xfrm>
          <a:prstGeom prst="downArrow">
            <a:avLst/>
          </a:prstGeom>
          <a:solidFill>
            <a:srgbClr val="1C4A5C"/>
          </a:solidFill>
          <a:ln w="19011">
            <a:solidFill>
              <a:srgbClr val="4D9B1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_example_image.jpg"/>
          <p:cNvPicPr>
            <a:picLocks noChangeAspect="1"/>
          </p:cNvPicPr>
          <p:nvPr/>
        </p:nvPicPr>
        <p:blipFill>
          <a:blip r:embed="rId3"/>
          <a:srcRect/>
          <a:stretch>
            <a:fillRect/>
          </a:stretch>
        </p:blipFill>
        <p:spPr>
          <a:xfrm>
            <a:off x="739827" y="251202"/>
            <a:ext cx="1128086" cy="2084475"/>
          </a:xfrm>
          <a:prstGeom prst="rect">
            <a:avLst/>
          </a:prstGeom>
        </p:spPr>
      </p:pic>
      <p:sp>
        <p:nvSpPr>
          <p:cNvPr id="16" name="Rounded Rectangle 15"/>
          <p:cNvSpPr/>
          <p:nvPr/>
        </p:nvSpPr>
        <p:spPr>
          <a:xfrm>
            <a:off x="739827" y="251202"/>
            <a:ext cx="1128086" cy="2084475"/>
          </a:xfrm>
          <a:prstGeom prst="roundRect">
            <a:avLst/>
          </a:prstGeom>
          <a:noFill/>
          <a:ln w="15240">
            <a:solidFill>
              <a:srgbClr val="AFDD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218138" y="5164978"/>
            <a:ext cx="1663010" cy="308754"/>
          </a:xfrm>
          <a:prstGeom prst="rect">
            <a:avLst/>
          </a:prstGeom>
          <a:noFill/>
        </p:spPr>
        <p:txBody>
          <a:bodyPr wrap="none" lIns="25121" tIns="25121" rIns="25121" bIns="25121">
            <a:spAutoFit/>
          </a:bodyPr>
          <a:lstStyle/>
          <a:p>
            <a:r>
              <a:rPr sz="4400" b="1" i="0" u="none">
                <a:solidFill>
                  <a:srgbClr val="BB3C2A"/>
                </a:solidFill>
                <a:latin typeface="Aptos"/>
              </a:rPr>
              <a:t>Scale Threshold Needle Connector Response Horizon Detail</a:t>
            </a:r>
          </a:p>
        </p:txBody>
      </p:sp>
      <p:graphicFrame>
        <p:nvGraphicFramePr>
          <p:cNvPr id="18" name="Table 17"/>
          <p:cNvGraphicFramePr>
            <a:graphicFrameLocks noGrp="1"/>
          </p:cNvGraphicFramePr>
          <p:nvPr/>
        </p:nvGraphicFramePr>
        <p:xfrm>
          <a:off x="4445825" y="210202"/>
          <a:ext cx="4791824" cy="1103018"/>
        </p:xfrm>
        <a:graphic>
          <a:graphicData uri="http://schemas.openxmlformats.org/drawingml/2006/table">
            <a:tbl>
              <a:tblPr firstRow="1" bandRow="1">
                <a:tableStyleId>{5C22544A-7EE6-4342-B048-85BDC9FD1C3A}</a:tableStyleId>
              </a:tblPr>
              <a:tblGrid>
                <a:gridCol w="1197956">
                  <a:extLst>
                    <a:ext uri="{9D8B030D-6E8A-4147-A177-3AD203B41FA5}">
                      <a16:colId xmlns:a16="http://schemas.microsoft.com/office/drawing/2014/main" val="20000"/>
                    </a:ext>
                  </a:extLst>
                </a:gridCol>
                <a:gridCol w="1197956">
                  <a:extLst>
                    <a:ext uri="{9D8B030D-6E8A-4147-A177-3AD203B41FA5}">
                      <a16:colId xmlns:a16="http://schemas.microsoft.com/office/drawing/2014/main" val="20001"/>
                    </a:ext>
                  </a:extLst>
                </a:gridCol>
                <a:gridCol w="1197956">
                  <a:extLst>
                    <a:ext uri="{9D8B030D-6E8A-4147-A177-3AD203B41FA5}">
                      <a16:colId xmlns:a16="http://schemas.microsoft.com/office/drawing/2014/main" val="20002"/>
                    </a:ext>
                  </a:extLst>
                </a:gridCol>
                <a:gridCol w="1197956">
                  <a:extLst>
                    <a:ext uri="{9D8B030D-6E8A-4147-A177-3AD203B41FA5}">
                      <a16:colId xmlns:a16="http://schemas.microsoft.com/office/drawing/2014/main" val="20003"/>
                    </a:ext>
                  </a:extLst>
                </a:gridCol>
              </a:tblGrid>
              <a:tr h="220603">
                <a:tc>
                  <a:txBody>
                    <a:bodyPr/>
                    <a:lstStyle/>
                    <a:p>
                      <a:r>
                        <a:rPr sz="900" b="1">
                          <a:solidFill>
                            <a:srgbClr val="8634A4"/>
                          </a:solidFill>
                        </a:rPr>
                        <a:t>Pipeline</a:t>
                      </a:r>
                    </a:p>
                  </a:txBody>
                  <a:tcPr>
                    <a:solidFill>
                      <a:srgbClr val="345466"/>
                    </a:solidFill>
                  </a:tcPr>
                </a:tc>
                <a:tc>
                  <a:txBody>
                    <a:bodyPr/>
                    <a:lstStyle/>
                    <a:p>
                      <a:r>
                        <a:rPr sz="900" b="1">
                          <a:solidFill>
                            <a:srgbClr val="8634A4"/>
                          </a:solidFill>
                        </a:rPr>
                        <a:t>Topology</a:t>
                      </a:r>
                    </a:p>
                  </a:txBody>
                  <a:tcPr>
                    <a:solidFill>
                      <a:srgbClr val="345466"/>
                    </a:solidFill>
                  </a:tcPr>
                </a:tc>
                <a:tc>
                  <a:txBody>
                    <a:bodyPr/>
                    <a:lstStyle/>
                    <a:p>
                      <a:r>
                        <a:rPr sz="900" b="1">
                          <a:solidFill>
                            <a:srgbClr val="8634A4"/>
                          </a:solidFill>
                        </a:rPr>
                        <a:t>Signal Core</a:t>
                      </a:r>
                    </a:p>
                  </a:txBody>
                  <a:tcPr>
                    <a:solidFill>
                      <a:srgbClr val="345466"/>
                    </a:solidFill>
                  </a:tcPr>
                </a:tc>
                <a:tc>
                  <a:txBody>
                    <a:bodyPr/>
                    <a:lstStyle/>
                    <a:p>
                      <a:r>
                        <a:rPr sz="900" b="1">
                          <a:solidFill>
                            <a:srgbClr val="8634A4"/>
                          </a:solidFill>
                        </a:rPr>
                        <a:t>Sequence</a:t>
                      </a:r>
                    </a:p>
                  </a:txBody>
                  <a:tcPr>
                    <a:solidFill>
                      <a:srgbClr val="345466"/>
                    </a:solidFill>
                  </a:tcPr>
                </a:tc>
                <a:extLst>
                  <a:ext uri="{0D108BD9-81ED-4DB2-BD59-A6C34878D82A}">
                    <a16:rowId xmlns:a16="http://schemas.microsoft.com/office/drawing/2014/main" val="10000"/>
                  </a:ext>
                </a:extLst>
              </a:tr>
              <a:tr h="220603">
                <a:tc>
                  <a:txBody>
                    <a:bodyPr/>
                    <a:lstStyle/>
                    <a:p>
                      <a:r>
                        <a:rPr sz="900" b="0">
                          <a:solidFill>
                            <a:srgbClr val="8634A4"/>
                          </a:solidFill>
                        </a:rPr>
                        <a:t>Gateway</a:t>
                      </a:r>
                    </a:p>
                  </a:txBody>
                  <a:tcPr>
                    <a:solidFill>
                      <a:srgbClr val="EDE5E1"/>
                    </a:solidFill>
                  </a:tcPr>
                </a:tc>
                <a:tc>
                  <a:txBody>
                    <a:bodyPr/>
                    <a:lstStyle/>
                    <a:p>
                      <a:r>
                        <a:rPr sz="900" b="0">
                          <a:solidFill>
                            <a:srgbClr val="8634A4"/>
                          </a:solidFill>
                        </a:rPr>
                        <a:t>Hub</a:t>
                      </a:r>
                    </a:p>
                  </a:txBody>
                  <a:tcPr>
                    <a:solidFill>
                      <a:srgbClr val="EDE5E1"/>
                    </a:solidFill>
                  </a:tcPr>
                </a:tc>
                <a:tc>
                  <a:txBody>
                    <a:bodyPr/>
                    <a:lstStyle/>
                    <a:p>
                      <a:r>
                        <a:rPr sz="900" b="0">
                          <a:solidFill>
                            <a:srgbClr val="8634A4"/>
                          </a:solidFill>
                        </a:rPr>
                        <a:t>Texture Terminal</a:t>
                      </a:r>
                    </a:p>
                  </a:txBody>
                  <a:tcPr>
                    <a:solidFill>
                      <a:srgbClr val="EDE5E1"/>
                    </a:solidFill>
                  </a:tcPr>
                </a:tc>
                <a:tc>
                  <a:txBody>
                    <a:bodyPr/>
                    <a:lstStyle/>
                    <a:p>
                      <a:r>
                        <a:rPr sz="900" b="0">
                          <a:solidFill>
                            <a:srgbClr val="8634A4"/>
                          </a:solidFill>
                        </a:rPr>
                        <a:t>Stack</a:t>
                      </a:r>
                    </a:p>
                  </a:txBody>
                  <a:tcPr>
                    <a:solidFill>
                      <a:srgbClr val="EDE5E1"/>
                    </a:solidFill>
                  </a:tcPr>
                </a:tc>
                <a:extLst>
                  <a:ext uri="{0D108BD9-81ED-4DB2-BD59-A6C34878D82A}">
                    <a16:rowId xmlns:a16="http://schemas.microsoft.com/office/drawing/2014/main" val="10001"/>
                  </a:ext>
                </a:extLst>
              </a:tr>
              <a:tr h="220603">
                <a:tc>
                  <a:txBody>
                    <a:bodyPr/>
                    <a:lstStyle/>
                    <a:p>
                      <a:r>
                        <a:rPr sz="900" b="0">
                          <a:solidFill>
                            <a:srgbClr val="8634A4"/>
                          </a:solidFill>
                        </a:rPr>
                        <a:t>Goal</a:t>
                      </a:r>
                    </a:p>
                  </a:txBody>
                  <a:tcPr>
                    <a:solidFill>
                      <a:srgbClr val="EDE5E1"/>
                    </a:solidFill>
                  </a:tcPr>
                </a:tc>
                <a:tc>
                  <a:txBody>
                    <a:bodyPr/>
                    <a:lstStyle/>
                    <a:p>
                      <a:r>
                        <a:rPr sz="900" b="0">
                          <a:solidFill>
                            <a:srgbClr val="8634A4"/>
                          </a:solidFill>
                        </a:rPr>
                        <a:t>Order Viewport</a:t>
                      </a:r>
                    </a:p>
                  </a:txBody>
                  <a:tcPr>
                    <a:solidFill>
                      <a:srgbClr val="EDE5E1"/>
                    </a:solidFill>
                  </a:tcPr>
                </a:tc>
                <a:tc>
                  <a:txBody>
                    <a:bodyPr/>
                    <a:lstStyle/>
                    <a:p>
                      <a:r>
                        <a:rPr sz="900" b="0">
                          <a:solidFill>
                            <a:srgbClr val="8634A4"/>
                          </a:solidFill>
                        </a:rPr>
                        <a:t>Grid Factor</a:t>
                      </a:r>
                    </a:p>
                  </a:txBody>
                  <a:tcPr>
                    <a:solidFill>
                      <a:srgbClr val="EDE5E1"/>
                    </a:solidFill>
                  </a:tcPr>
                </a:tc>
                <a:tc>
                  <a:txBody>
                    <a:bodyPr/>
                    <a:lstStyle/>
                    <a:p>
                      <a:r>
                        <a:rPr sz="900" b="0">
                          <a:solidFill>
                            <a:srgbClr val="8634A4"/>
                          </a:solidFill>
                        </a:rPr>
                        <a:t>Cell Measure</a:t>
                      </a:r>
                    </a:p>
                  </a:txBody>
                  <a:tcPr>
                    <a:solidFill>
                      <a:srgbClr val="EDE5E1"/>
                    </a:solidFill>
                  </a:tcPr>
                </a:tc>
                <a:extLst>
                  <a:ext uri="{0D108BD9-81ED-4DB2-BD59-A6C34878D82A}">
                    <a16:rowId xmlns:a16="http://schemas.microsoft.com/office/drawing/2014/main" val="10002"/>
                  </a:ext>
                </a:extLst>
              </a:tr>
              <a:tr h="220603">
                <a:tc>
                  <a:txBody>
                    <a:bodyPr/>
                    <a:lstStyle/>
                    <a:p>
                      <a:r>
                        <a:rPr sz="900" b="0">
                          <a:solidFill>
                            <a:srgbClr val="8634A4"/>
                          </a:solidFill>
                        </a:rPr>
                        <a:t>Option Gateway</a:t>
                      </a:r>
                    </a:p>
                  </a:txBody>
                  <a:tcPr>
                    <a:solidFill>
                      <a:srgbClr val="EDE5E1"/>
                    </a:solidFill>
                  </a:tcPr>
                </a:tc>
                <a:tc>
                  <a:txBody>
                    <a:bodyPr/>
                    <a:lstStyle/>
                    <a:p>
                      <a:r>
                        <a:rPr sz="900" b="0">
                          <a:solidFill>
                            <a:srgbClr val="8634A4"/>
                          </a:solidFill>
                        </a:rPr>
                        <a:t>Hub Device</a:t>
                      </a:r>
                    </a:p>
                  </a:txBody>
                  <a:tcPr>
                    <a:solidFill>
                      <a:srgbClr val="EDE5E1"/>
                    </a:solidFill>
                  </a:tcPr>
                </a:tc>
                <a:tc>
                  <a:txBody>
                    <a:bodyPr/>
                    <a:lstStyle/>
                    <a:p>
                      <a:r>
                        <a:rPr sz="900" b="0">
                          <a:solidFill>
                            <a:srgbClr val="8634A4"/>
                          </a:solidFill>
                        </a:rPr>
                        <a:t>Tile</a:t>
                      </a:r>
                    </a:p>
                  </a:txBody>
                  <a:tcPr>
                    <a:solidFill>
                      <a:srgbClr val="EDE5E1"/>
                    </a:solidFill>
                  </a:tcPr>
                </a:tc>
                <a:tc>
                  <a:txBody>
                    <a:bodyPr/>
                    <a:lstStyle/>
                    <a:p>
                      <a:r>
                        <a:rPr sz="900" b="0">
                          <a:solidFill>
                            <a:srgbClr val="8634A4"/>
                          </a:solidFill>
                        </a:rPr>
                        <a:t>Workflow</a:t>
                      </a:r>
                    </a:p>
                  </a:txBody>
                  <a:tcPr>
                    <a:solidFill>
                      <a:srgbClr val="EDE5E1"/>
                    </a:solidFill>
                  </a:tcPr>
                </a:tc>
                <a:extLst>
                  <a:ext uri="{0D108BD9-81ED-4DB2-BD59-A6C34878D82A}">
                    <a16:rowId xmlns:a16="http://schemas.microsoft.com/office/drawing/2014/main" val="10003"/>
                  </a:ext>
                </a:extLst>
              </a:tr>
              <a:tr h="220606">
                <a:tc>
                  <a:txBody>
                    <a:bodyPr/>
                    <a:lstStyle/>
                    <a:p>
                      <a:r>
                        <a:rPr sz="900" b="0">
                          <a:solidFill>
                            <a:srgbClr val="8634A4"/>
                          </a:solidFill>
                        </a:rPr>
                        <a:t>Span</a:t>
                      </a:r>
                    </a:p>
                  </a:txBody>
                  <a:tcPr>
                    <a:solidFill>
                      <a:srgbClr val="EDE5E1"/>
                    </a:solidFill>
                  </a:tcPr>
                </a:tc>
                <a:tc>
                  <a:txBody>
                    <a:bodyPr/>
                    <a:lstStyle/>
                    <a:p>
                      <a:r>
                        <a:rPr sz="900" b="0">
                          <a:solidFill>
                            <a:srgbClr val="8634A4"/>
                          </a:solidFill>
                        </a:rPr>
                        <a:t>Design</a:t>
                      </a:r>
                    </a:p>
                  </a:txBody>
                  <a:tcPr>
                    <a:solidFill>
                      <a:srgbClr val="EDE5E1"/>
                    </a:solidFill>
                  </a:tcPr>
                </a:tc>
                <a:tc>
                  <a:txBody>
                    <a:bodyPr/>
                    <a:lstStyle/>
                    <a:p>
                      <a:r>
                        <a:rPr sz="900" b="0">
                          <a:solidFill>
                            <a:srgbClr val="8634A4"/>
                          </a:solidFill>
                        </a:rPr>
                        <a:t>Span</a:t>
                      </a:r>
                    </a:p>
                  </a:txBody>
                  <a:tcPr>
                    <a:solidFill>
                      <a:srgbClr val="EDE5E1"/>
                    </a:solidFill>
                  </a:tcPr>
                </a:tc>
                <a:tc>
                  <a:txBody>
                    <a:bodyPr/>
                    <a:lstStyle/>
                    <a:p>
                      <a:r>
                        <a:rPr sz="900" b="0">
                          <a:solidFill>
                            <a:srgbClr val="8634A4"/>
                          </a:solidFill>
                        </a:rPr>
                        <a:t>Structure</a:t>
                      </a:r>
                    </a:p>
                  </a:txBody>
                  <a:tcPr>
                    <a:solidFill>
                      <a:srgbClr val="EDE5E1"/>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9470869" y="3808943"/>
            <a:ext cx="513598" cy="2337247"/>
          </a:xfrm>
          <a:prstGeom prst="rect">
            <a:avLst/>
          </a:prstGeom>
          <a:solidFill>
            <a:srgbClr val="D29EAF"/>
          </a:solidFill>
        </p:spPr>
        <p:txBody>
          <a:bodyPr wrap="none" lIns="42124" tIns="42124" rIns="42124" bIns="42124">
            <a:spAutoFit/>
          </a:bodyPr>
          <a:lstStyle/>
          <a:p>
            <a:r>
              <a:rPr sz="2400" b="0" i="0" u="none">
                <a:solidFill>
                  <a:srgbClr val="1E7ADC"/>
                </a:solidFill>
                <a:latin typeface="Aptos"/>
              </a:rPr>
              <a:t>Stage Stage Case Ratio Segment Token Cadence Milestone Variant</a:t>
            </a:r>
          </a:p>
        </p:txBody>
      </p:sp>
      <p:sp>
        <p:nvSpPr>
          <p:cNvPr id="20" name="Left Right Ribbon 19"/>
          <p:cNvSpPr/>
          <p:nvPr/>
        </p:nvSpPr>
        <p:spPr>
          <a:xfrm>
            <a:off x="1851042" y="411138"/>
            <a:ext cx="747993" cy="532053"/>
          </a:xfrm>
          <a:prstGeom prst="leftRightRibbon">
            <a:avLst/>
          </a:prstGeom>
          <a:solidFill>
            <a:srgbClr val="905525"/>
          </a:solidFill>
          <a:ln w="24922">
            <a:solidFill>
              <a:srgbClr val="3E8A69"/>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ular Callout 20"/>
          <p:cNvSpPr/>
          <p:nvPr/>
        </p:nvSpPr>
        <p:spPr>
          <a:xfrm>
            <a:off x="2784732" y="443845"/>
            <a:ext cx="1516007" cy="1272603"/>
          </a:xfrm>
          <a:prstGeom prst="wedgeRectCallout">
            <a:avLst/>
          </a:prstGeom>
          <a:solidFill>
            <a:srgbClr val="A623B7"/>
          </a:solidFill>
          <a:ln w="29414">
            <a:solidFill>
              <a:srgbClr val="CA3A7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Chart 21"/>
          <p:cNvGraphicFramePr>
            <a:graphicFrameLocks noGrp="1"/>
          </p:cNvGraphicFramePr>
          <p:nvPr/>
        </p:nvGraphicFramePr>
        <p:xfrm>
          <a:off x="3232265" y="3813673"/>
          <a:ext cx="3491469" cy="1469157"/>
        </p:xfrm>
        <a:graphic>
          <a:graphicData uri="http://schemas.openxmlformats.org/drawingml/2006/chart">
            <c:chart xmlns:c="http://schemas.openxmlformats.org/drawingml/2006/chart" xmlns:r="http://schemas.openxmlformats.org/officeDocument/2006/relationships" r:id="rId4"/>
          </a:graphicData>
        </a:graphic>
      </p:graphicFrame>
      <p:pic>
        <p:nvPicPr>
          <p:cNvPr id="23" name="Picture 22" descr="_example_image.jpg"/>
          <p:cNvPicPr>
            <a:picLocks noChangeAspect="1"/>
          </p:cNvPicPr>
          <p:nvPr/>
        </p:nvPicPr>
        <p:blipFill>
          <a:blip r:embed="rId3"/>
          <a:srcRect l="16780" t="3637" r="12" b="18300"/>
          <a:stretch>
            <a:fillRect/>
          </a:stretch>
        </p:blipFill>
        <p:spPr>
          <a:xfrm>
            <a:off x="10859279" y="3750079"/>
            <a:ext cx="1083177" cy="1872075"/>
          </a:xfrm>
          <a:prstGeom prst="rect">
            <a:avLst/>
          </a:prstGeom>
        </p:spPr>
      </p:pic>
      <p:sp>
        <p:nvSpPr>
          <p:cNvPr id="24" name="Rounded Rectangle 23"/>
          <p:cNvSpPr/>
          <p:nvPr/>
        </p:nvSpPr>
        <p:spPr>
          <a:xfrm>
            <a:off x="10859279" y="3750079"/>
            <a:ext cx="1083177" cy="1872075"/>
          </a:xfrm>
          <a:prstGeom prst="roundRect">
            <a:avLst/>
          </a:prstGeom>
          <a:noFill/>
          <a:ln w="15240">
            <a:solidFill>
              <a:srgbClr val="7B3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flipV="1">
            <a:off x="1569445" y="5984163"/>
            <a:ext cx="1838641" cy="428769"/>
          </a:xfrm>
          <a:prstGeom prst="bentConnector3">
            <a:avLst/>
          </a:prstGeom>
          <a:ln w="44150">
            <a:solidFill>
              <a:srgbClr val="4ABB76"/>
            </a:solidFill>
            <a:prstDash val="dot"/>
          </a:ln>
        </p:spPr>
        <p:style>
          <a:lnRef idx="2">
            <a:schemeClr val="accent1"/>
          </a:lnRef>
          <a:fillRef idx="0">
            <a:schemeClr val="accent1"/>
          </a:fillRef>
          <a:effectRef idx="1">
            <a:schemeClr val="accent1"/>
          </a:effectRef>
          <a:fontRef idx="minor">
            <a:schemeClr val="tx1"/>
          </a:fontRef>
        </p:style>
      </p:cxnSp>
      <p:sp>
        <p:nvSpPr>
          <p:cNvPr id="26" name="Freeform 25"/>
          <p:cNvSpPr/>
          <p:nvPr/>
        </p:nvSpPr>
        <p:spPr>
          <a:xfrm>
            <a:off x="5055076" y="5971670"/>
            <a:ext cx="798573" cy="543360"/>
          </a:xfrm>
          <a:custGeom>
            <a:avLst/>
            <a:gdLst/>
            <a:ahLst/>
            <a:cxnLst/>
            <a:rect l="l" t="t" r="r" b="b"/>
            <a:pathLst>
              <a:path w="798573" h="543360">
                <a:moveTo>
                  <a:pt x="0" y="120747"/>
                </a:moveTo>
                <a:lnTo>
                  <a:pt x="171736" y="0"/>
                </a:lnTo>
                <a:lnTo>
                  <a:pt x="343472" y="163008"/>
                </a:lnTo>
                <a:lnTo>
                  <a:pt x="515209" y="18112"/>
                </a:lnTo>
                <a:lnTo>
                  <a:pt x="798573" y="422613"/>
                </a:lnTo>
                <a:lnTo>
                  <a:pt x="601077" y="543360"/>
                </a:lnTo>
                <a:lnTo>
                  <a:pt x="412167" y="362240"/>
                </a:lnTo>
                <a:lnTo>
                  <a:pt x="197497" y="525248"/>
                </a:lnTo>
                <a:close/>
              </a:path>
            </a:pathLst>
          </a:custGeom>
          <a:solidFill>
            <a:srgbClr val="C92F22"/>
          </a:solidFill>
          <a:ln w="11045">
            <a:solidFill>
              <a:srgbClr val="AD222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wn Arrow 26"/>
          <p:cNvSpPr/>
          <p:nvPr/>
        </p:nvSpPr>
        <p:spPr>
          <a:xfrm>
            <a:off x="7292783" y="3865349"/>
            <a:ext cx="1727674" cy="1312689"/>
          </a:xfrm>
          <a:prstGeom prst="downArrow">
            <a:avLst/>
          </a:prstGeom>
          <a:solidFill>
            <a:srgbClr val="8E834F"/>
          </a:solidFill>
          <a:ln w="23820">
            <a:solidFill>
              <a:srgbClr val="691C4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1251014" y="4883446"/>
            <a:ext cx="828986" cy="818471"/>
          </a:xfrm>
          <a:prstGeom prst="curvedConnector3">
            <a:avLst/>
          </a:prstGeom>
          <a:ln w="32149">
            <a:solidFill>
              <a:srgbClr val="3FAA24"/>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29" name="Table 28"/>
          <p:cNvGraphicFramePr>
            <a:graphicFrameLocks noGrp="1"/>
          </p:cNvGraphicFramePr>
          <p:nvPr/>
        </p:nvGraphicFramePr>
        <p:xfrm>
          <a:off x="5980362" y="2204636"/>
          <a:ext cx="2578818" cy="1408394"/>
        </p:xfrm>
        <a:graphic>
          <a:graphicData uri="http://schemas.openxmlformats.org/drawingml/2006/table">
            <a:tbl>
              <a:tblPr firstRow="1" bandRow="1">
                <a:tableStyleId>{5C22544A-7EE6-4342-B048-85BDC9FD1C3A}</a:tableStyleId>
              </a:tblPr>
              <a:tblGrid>
                <a:gridCol w="1289409">
                  <a:extLst>
                    <a:ext uri="{9D8B030D-6E8A-4147-A177-3AD203B41FA5}">
                      <a16:colId xmlns:a16="http://schemas.microsoft.com/office/drawing/2014/main" val="20000"/>
                    </a:ext>
                  </a:extLst>
                </a:gridCol>
                <a:gridCol w="1289409">
                  <a:extLst>
                    <a:ext uri="{9D8B030D-6E8A-4147-A177-3AD203B41FA5}">
                      <a16:colId xmlns:a16="http://schemas.microsoft.com/office/drawing/2014/main" val="20001"/>
                    </a:ext>
                  </a:extLst>
                </a:gridCol>
              </a:tblGrid>
              <a:tr h="234732">
                <a:tc>
                  <a:txBody>
                    <a:bodyPr/>
                    <a:lstStyle/>
                    <a:p>
                      <a:r>
                        <a:rPr sz="800" b="1">
                          <a:solidFill>
                            <a:srgbClr val="B6CE24"/>
                          </a:solidFill>
                        </a:rPr>
                        <a:t>Device Cell</a:t>
                      </a:r>
                    </a:p>
                  </a:txBody>
                  <a:tcPr>
                    <a:solidFill>
                      <a:srgbClr val="684A46"/>
                    </a:solidFill>
                  </a:tcPr>
                </a:tc>
                <a:tc>
                  <a:txBody>
                    <a:bodyPr/>
                    <a:lstStyle/>
                    <a:p>
                      <a:r>
                        <a:rPr sz="800" b="1">
                          <a:solidFill>
                            <a:srgbClr val="B6CE24"/>
                          </a:solidFill>
                        </a:rPr>
                        <a:t>Drive</a:t>
                      </a:r>
                    </a:p>
                  </a:txBody>
                  <a:tcPr>
                    <a:solidFill>
                      <a:srgbClr val="684A46"/>
                    </a:solidFill>
                  </a:tcPr>
                </a:tc>
                <a:extLst>
                  <a:ext uri="{0D108BD9-81ED-4DB2-BD59-A6C34878D82A}">
                    <a16:rowId xmlns:a16="http://schemas.microsoft.com/office/drawing/2014/main" val="10000"/>
                  </a:ext>
                </a:extLst>
              </a:tr>
              <a:tr h="234732">
                <a:tc>
                  <a:txBody>
                    <a:bodyPr/>
                    <a:lstStyle/>
                    <a:p>
                      <a:r>
                        <a:rPr sz="800" b="0">
                          <a:solidFill>
                            <a:srgbClr val="B6CE24"/>
                          </a:solidFill>
                        </a:rPr>
                        <a:t>Blueprint</a:t>
                      </a:r>
                    </a:p>
                  </a:txBody>
                  <a:tcPr>
                    <a:solidFill>
                      <a:srgbClr val="F7F3F4"/>
                    </a:solidFill>
                  </a:tcPr>
                </a:tc>
                <a:tc>
                  <a:txBody>
                    <a:bodyPr/>
                    <a:lstStyle/>
                    <a:p>
                      <a:r>
                        <a:rPr sz="800" b="0">
                          <a:solidFill>
                            <a:srgbClr val="B6CE24"/>
                          </a:solidFill>
                        </a:rPr>
                        <a:t>Mode Path</a:t>
                      </a:r>
                    </a:p>
                  </a:txBody>
                  <a:tcPr>
                    <a:solidFill>
                      <a:srgbClr val="F7F3F4"/>
                    </a:solidFill>
                  </a:tcPr>
                </a:tc>
                <a:extLst>
                  <a:ext uri="{0D108BD9-81ED-4DB2-BD59-A6C34878D82A}">
                    <a16:rowId xmlns:a16="http://schemas.microsoft.com/office/drawing/2014/main" val="10001"/>
                  </a:ext>
                </a:extLst>
              </a:tr>
              <a:tr h="234732">
                <a:tc>
                  <a:txBody>
                    <a:bodyPr/>
                    <a:lstStyle/>
                    <a:p>
                      <a:r>
                        <a:rPr sz="800" b="0">
                          <a:solidFill>
                            <a:srgbClr val="B6CE24"/>
                          </a:solidFill>
                        </a:rPr>
                        <a:t>Focus</a:t>
                      </a:r>
                    </a:p>
                  </a:txBody>
                  <a:tcPr>
                    <a:solidFill>
                      <a:srgbClr val="F7F3F4"/>
                    </a:solidFill>
                  </a:tcPr>
                </a:tc>
                <a:tc>
                  <a:txBody>
                    <a:bodyPr/>
                    <a:lstStyle/>
                    <a:p>
                      <a:r>
                        <a:rPr sz="800" b="0">
                          <a:solidFill>
                            <a:srgbClr val="B6CE24"/>
                          </a:solidFill>
                        </a:rPr>
                        <a:t>Terminal Cortex</a:t>
                      </a:r>
                    </a:p>
                  </a:txBody>
                  <a:tcPr>
                    <a:solidFill>
                      <a:srgbClr val="F7F3F4"/>
                    </a:solidFill>
                  </a:tcPr>
                </a:tc>
                <a:extLst>
                  <a:ext uri="{0D108BD9-81ED-4DB2-BD59-A6C34878D82A}">
                    <a16:rowId xmlns:a16="http://schemas.microsoft.com/office/drawing/2014/main" val="10002"/>
                  </a:ext>
                </a:extLst>
              </a:tr>
              <a:tr h="234732">
                <a:tc>
                  <a:txBody>
                    <a:bodyPr/>
                    <a:lstStyle/>
                    <a:p>
                      <a:r>
                        <a:rPr sz="800" b="0">
                          <a:solidFill>
                            <a:srgbClr val="B6CE24"/>
                          </a:solidFill>
                        </a:rPr>
                        <a:t>Marker</a:t>
                      </a:r>
                    </a:p>
                  </a:txBody>
                  <a:tcPr>
                    <a:solidFill>
                      <a:srgbClr val="F7F3F4"/>
                    </a:solidFill>
                  </a:tcPr>
                </a:tc>
                <a:tc>
                  <a:txBody>
                    <a:bodyPr/>
                    <a:lstStyle/>
                    <a:p>
                      <a:r>
                        <a:rPr sz="800" b="0">
                          <a:solidFill>
                            <a:srgbClr val="B6CE24"/>
                          </a:solidFill>
                        </a:rPr>
                        <a:t>Switch Blueprint</a:t>
                      </a:r>
                    </a:p>
                  </a:txBody>
                  <a:tcPr>
                    <a:solidFill>
                      <a:srgbClr val="F7F3F4"/>
                    </a:solidFill>
                  </a:tcPr>
                </a:tc>
                <a:extLst>
                  <a:ext uri="{0D108BD9-81ED-4DB2-BD59-A6C34878D82A}">
                    <a16:rowId xmlns:a16="http://schemas.microsoft.com/office/drawing/2014/main" val="10003"/>
                  </a:ext>
                </a:extLst>
              </a:tr>
              <a:tr h="234732">
                <a:tc>
                  <a:txBody>
                    <a:bodyPr/>
                    <a:lstStyle/>
                    <a:p>
                      <a:r>
                        <a:rPr sz="800" b="0">
                          <a:solidFill>
                            <a:srgbClr val="B6CE24"/>
                          </a:solidFill>
                        </a:rPr>
                        <a:t>Slice</a:t>
                      </a:r>
                    </a:p>
                  </a:txBody>
                  <a:tcPr>
                    <a:solidFill>
                      <a:srgbClr val="F7F3F4"/>
                    </a:solidFill>
                  </a:tcPr>
                </a:tc>
                <a:tc>
                  <a:txBody>
                    <a:bodyPr/>
                    <a:lstStyle/>
                    <a:p>
                      <a:r>
                        <a:rPr sz="800" b="0">
                          <a:solidFill>
                            <a:srgbClr val="B6CE24"/>
                          </a:solidFill>
                        </a:rPr>
                        <a:t>Cluster</a:t>
                      </a:r>
                    </a:p>
                  </a:txBody>
                  <a:tcPr>
                    <a:solidFill>
                      <a:srgbClr val="F7F3F4"/>
                    </a:solidFill>
                  </a:tcPr>
                </a:tc>
                <a:extLst>
                  <a:ext uri="{0D108BD9-81ED-4DB2-BD59-A6C34878D82A}">
                    <a16:rowId xmlns:a16="http://schemas.microsoft.com/office/drawing/2014/main" val="10004"/>
                  </a:ext>
                </a:extLst>
              </a:tr>
              <a:tr h="234734">
                <a:tc>
                  <a:txBody>
                    <a:bodyPr/>
                    <a:lstStyle/>
                    <a:p>
                      <a:r>
                        <a:rPr sz="800" b="0">
                          <a:solidFill>
                            <a:srgbClr val="B6CE24"/>
                          </a:solidFill>
                        </a:rPr>
                        <a:t>Friction Panel</a:t>
                      </a:r>
                    </a:p>
                  </a:txBody>
                  <a:tcPr>
                    <a:solidFill>
                      <a:srgbClr val="F7F3F4"/>
                    </a:solidFill>
                  </a:tcPr>
                </a:tc>
                <a:tc>
                  <a:txBody>
                    <a:bodyPr/>
                    <a:lstStyle/>
                    <a:p>
                      <a:r>
                        <a:rPr sz="800" b="0">
                          <a:solidFill>
                            <a:srgbClr val="B6CE24"/>
                          </a:solidFill>
                        </a:rPr>
                        <a:t>Coverage</a:t>
                      </a:r>
                    </a:p>
                  </a:txBody>
                  <a:tcPr>
                    <a:solidFill>
                      <a:srgbClr val="F7F3F4"/>
                    </a:solidFill>
                  </a:tcPr>
                </a:tc>
                <a:extLst>
                  <a:ext uri="{0D108BD9-81ED-4DB2-BD59-A6C34878D82A}">
                    <a16:rowId xmlns:a16="http://schemas.microsoft.com/office/drawing/2014/main" val="10005"/>
                  </a:ext>
                </a:extLst>
              </a:tr>
            </a:tbl>
          </a:graphicData>
        </a:graphic>
      </p:graphicFrame>
      <p:pic>
        <p:nvPicPr>
          <p:cNvPr id="31" name="Graphic 30">
            <a:extLst>
              <a:ext uri="{FF2B5EF4-FFF2-40B4-BE49-F238E27FC236}">
                <a16:creationId xmlns:a16="http://schemas.microsoft.com/office/drawing/2014/main" id="{9FCBB46A-5FF4-CB7E-9AB8-8E626786DC3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021601" y="1449679"/>
            <a:ext cx="2086166" cy="1057483"/>
          </a:xfrm>
          <a:prstGeom prst="rect">
            <a:avLst/>
          </a:prstGeom>
        </p:spPr>
      </p:pic>
      <p:pic>
        <p:nvPicPr>
          <p:cNvPr id="33" name="Graphic 32">
            <a:extLst>
              <a:ext uri="{FF2B5EF4-FFF2-40B4-BE49-F238E27FC236}">
                <a16:creationId xmlns:a16="http://schemas.microsoft.com/office/drawing/2014/main" id="{4B23B138-4F91-1386-5371-7C06D84755DA}"/>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215762" y="3825855"/>
            <a:ext cx="1000952" cy="977978"/>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9281" y="2640642"/>
            <a:ext cx="1089006" cy="1632950"/>
          </a:xfrm>
          <a:prstGeom prst="rect">
            <a:avLst/>
          </a:prstGeom>
          <a:solidFill>
            <a:srgbClr val="6ADAB2"/>
          </a:solidFill>
        </p:spPr>
        <p:txBody>
          <a:bodyPr wrap="none" lIns="21997" tIns="21997" rIns="21997" bIns="21997">
            <a:spAutoFit/>
          </a:bodyPr>
          <a:lstStyle/>
          <a:p>
            <a:r>
              <a:rPr sz="2300" b="0" i="1" u="none">
                <a:solidFill>
                  <a:srgbClr val="762E49"/>
                </a:solidFill>
                <a:latin typeface="Calibri"/>
              </a:rPr>
              <a:t>Layer Station Build Request Structure</a:t>
            </a:r>
          </a:p>
        </p:txBody>
      </p:sp>
      <p:sp>
        <p:nvSpPr>
          <p:cNvPr id="3" name="TextBox 2"/>
          <p:cNvSpPr txBox="1"/>
          <p:nvPr/>
        </p:nvSpPr>
        <p:spPr>
          <a:xfrm>
            <a:off x="6266701" y="5374801"/>
            <a:ext cx="862658" cy="1091608"/>
          </a:xfrm>
          <a:prstGeom prst="rect">
            <a:avLst/>
          </a:prstGeom>
          <a:solidFill>
            <a:srgbClr val="CEC7AD"/>
          </a:solidFill>
        </p:spPr>
        <p:txBody>
          <a:bodyPr wrap="none" lIns="28113" tIns="28113" rIns="28113" bIns="28113">
            <a:spAutoFit/>
          </a:bodyPr>
          <a:lstStyle/>
          <a:p>
            <a:r>
              <a:rPr sz="700" b="1" i="0" u="none">
                <a:solidFill>
                  <a:srgbClr val="4A4533"/>
                </a:solidFill>
                <a:latin typeface="Georgia"/>
              </a:rPr>
              <a:t>Drift Flow Clarity Alignment</a:t>
            </a:r>
          </a:p>
        </p:txBody>
      </p:sp>
      <p:sp>
        <p:nvSpPr>
          <p:cNvPr id="4" name="Document 3"/>
          <p:cNvSpPr/>
          <p:nvPr/>
        </p:nvSpPr>
        <p:spPr>
          <a:xfrm>
            <a:off x="7428659" y="3759530"/>
            <a:ext cx="444793" cy="582517"/>
          </a:xfrm>
          <a:prstGeom prst="flowChartDocument">
            <a:avLst/>
          </a:prstGeom>
          <a:solidFill>
            <a:srgbClr val="D1DE1C"/>
          </a:solidFill>
          <a:ln w="10588">
            <a:solidFill>
              <a:srgbClr val="4CCF9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4339804" y="1760824"/>
          <a:ext cx="2582023" cy="183379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10614772" y="4068476"/>
            <a:ext cx="1221395" cy="320148"/>
          </a:xfrm>
          <a:prstGeom prst="rect">
            <a:avLst/>
          </a:prstGeom>
          <a:noFill/>
        </p:spPr>
        <p:txBody>
          <a:bodyPr wrap="none" lIns="30963" tIns="30963" rIns="30963" bIns="30963">
            <a:spAutoFit/>
          </a:bodyPr>
          <a:lstStyle/>
          <a:p>
            <a:r>
              <a:rPr sz="1000" b="0" i="0" u="none">
                <a:solidFill>
                  <a:srgbClr val="97DBCB"/>
                </a:solidFill>
                <a:latin typeface="Aptos"/>
              </a:rPr>
              <a:t>Account Field Array Analysis Heading Structure Datum Mesh Estimate Trace Station Anchor Group Position Mode Density Mode Array Edge Buffer Group Needle Track Trend Craft Topology Beacon Tile Cycle Channel Gradient Orbit Benchmark Connector Draft Pattern Catalog Goal Indicator Strategy Workflow Release Transit</a:t>
            </a:r>
          </a:p>
        </p:txBody>
      </p:sp>
      <p:pic>
        <p:nvPicPr>
          <p:cNvPr id="7" name="Picture 6" descr="_example_image.jpg"/>
          <p:cNvPicPr>
            <a:picLocks noChangeAspect="1"/>
          </p:cNvPicPr>
          <p:nvPr/>
        </p:nvPicPr>
        <p:blipFill>
          <a:blip r:embed="rId3"/>
          <a:srcRect l="5504" t="1600" r="16423" b="17732"/>
          <a:stretch>
            <a:fillRect/>
          </a:stretch>
        </p:blipFill>
        <p:spPr>
          <a:xfrm>
            <a:off x="4404802" y="1387669"/>
            <a:ext cx="1827889" cy="845095"/>
          </a:xfrm>
          <a:prstGeom prst="rect">
            <a:avLst/>
          </a:prstGeom>
        </p:spPr>
      </p:pic>
      <p:cxnSp>
        <p:nvCxnSpPr>
          <p:cNvPr id="8" name="Connector 7"/>
          <p:cNvCxnSpPr/>
          <p:nvPr/>
        </p:nvCxnSpPr>
        <p:spPr>
          <a:xfrm>
            <a:off x="7265555" y="5722191"/>
            <a:ext cx="931951" cy="519674"/>
          </a:xfrm>
          <a:prstGeom prst="curvedConnector3">
            <a:avLst/>
          </a:prstGeom>
          <a:ln w="29189">
            <a:solidFill>
              <a:srgbClr val="9BB666"/>
            </a:solidFill>
            <a:prstDash val="lgDash"/>
          </a:ln>
        </p:spPr>
        <p:style>
          <a:lnRef idx="2">
            <a:schemeClr val="accent1"/>
          </a:lnRef>
          <a:fillRef idx="0">
            <a:schemeClr val="accent1"/>
          </a:fillRef>
          <a:effectRef idx="1">
            <a:schemeClr val="accent1"/>
          </a:effectRef>
          <a:fontRef idx="minor">
            <a:schemeClr val="tx1"/>
          </a:fontRef>
        </p:style>
      </p:cxnSp>
      <p:sp>
        <p:nvSpPr>
          <p:cNvPr id="9" name="Curved Down Ribbon 8"/>
          <p:cNvSpPr/>
          <p:nvPr/>
        </p:nvSpPr>
        <p:spPr>
          <a:xfrm>
            <a:off x="2357434" y="2476062"/>
            <a:ext cx="1067041" cy="944144"/>
          </a:xfrm>
          <a:prstGeom prst="ellipseRibbon">
            <a:avLst/>
          </a:prstGeom>
          <a:solidFill>
            <a:srgbClr val="4D7C63"/>
          </a:solidFill>
          <a:ln w="8957">
            <a:solidFill>
              <a:srgbClr val="B77B46"/>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p:cNvSpPr/>
          <p:nvPr/>
        </p:nvSpPr>
        <p:spPr>
          <a:xfrm>
            <a:off x="10643489" y="5070774"/>
            <a:ext cx="753316" cy="1112610"/>
          </a:xfrm>
          <a:custGeom>
            <a:avLst/>
            <a:gdLst/>
            <a:ahLst/>
            <a:cxnLst/>
            <a:rect l="l" t="t" r="r" b="b"/>
            <a:pathLst>
              <a:path w="753316" h="1112610">
                <a:moveTo>
                  <a:pt x="376658" y="0"/>
                </a:moveTo>
                <a:lnTo>
                  <a:pt x="470823" y="278153"/>
                </a:lnTo>
                <a:lnTo>
                  <a:pt x="706234" y="200270"/>
                </a:lnTo>
                <a:lnTo>
                  <a:pt x="572834" y="556305"/>
                </a:lnTo>
                <a:lnTo>
                  <a:pt x="753316" y="867836"/>
                </a:lnTo>
                <a:lnTo>
                  <a:pt x="470823" y="801080"/>
                </a:lnTo>
                <a:lnTo>
                  <a:pt x="376658" y="1112610"/>
                </a:lnTo>
                <a:lnTo>
                  <a:pt x="282493" y="801080"/>
                </a:lnTo>
                <a:lnTo>
                  <a:pt x="0" y="867836"/>
                </a:lnTo>
                <a:lnTo>
                  <a:pt x="180482" y="556305"/>
                </a:lnTo>
                <a:lnTo>
                  <a:pt x="47082" y="200270"/>
                </a:lnTo>
                <a:lnTo>
                  <a:pt x="282493" y="278153"/>
                </a:lnTo>
                <a:close/>
              </a:path>
            </a:pathLst>
          </a:custGeom>
          <a:solidFill>
            <a:srgbClr val="7D20B8"/>
          </a:solidFill>
          <a:ln w="25042">
            <a:solidFill>
              <a:srgbClr val="6B5AD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U-Turn Arrow 10"/>
          <p:cNvSpPr/>
          <p:nvPr/>
        </p:nvSpPr>
        <p:spPr>
          <a:xfrm>
            <a:off x="7325126" y="5171726"/>
            <a:ext cx="664633" cy="554406"/>
          </a:xfrm>
          <a:prstGeom prst="uturnArrow">
            <a:avLst/>
          </a:prstGeom>
          <a:solidFill>
            <a:srgbClr val="981E44"/>
          </a:solidFill>
          <a:ln w="9139">
            <a:solidFill>
              <a:srgbClr val="6D7DA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nvGraphicFramePr>
        <p:xfrm>
          <a:off x="5046871" y="4486963"/>
          <a:ext cx="2020104" cy="1339959"/>
        </p:xfrm>
        <a:graphic>
          <a:graphicData uri="http://schemas.openxmlformats.org/drawingml/2006/table">
            <a:tbl>
              <a:tblPr firstRow="1" bandRow="1">
                <a:tableStyleId>{5C22544A-7EE6-4342-B048-85BDC9FD1C3A}</a:tableStyleId>
              </a:tblPr>
              <a:tblGrid>
                <a:gridCol w="505026">
                  <a:extLst>
                    <a:ext uri="{9D8B030D-6E8A-4147-A177-3AD203B41FA5}">
                      <a16:colId xmlns:a16="http://schemas.microsoft.com/office/drawing/2014/main" val="20000"/>
                    </a:ext>
                  </a:extLst>
                </a:gridCol>
                <a:gridCol w="505026">
                  <a:extLst>
                    <a:ext uri="{9D8B030D-6E8A-4147-A177-3AD203B41FA5}">
                      <a16:colId xmlns:a16="http://schemas.microsoft.com/office/drawing/2014/main" val="20001"/>
                    </a:ext>
                  </a:extLst>
                </a:gridCol>
                <a:gridCol w="505026">
                  <a:extLst>
                    <a:ext uri="{9D8B030D-6E8A-4147-A177-3AD203B41FA5}">
                      <a16:colId xmlns:a16="http://schemas.microsoft.com/office/drawing/2014/main" val="20002"/>
                    </a:ext>
                  </a:extLst>
                </a:gridCol>
                <a:gridCol w="505026">
                  <a:extLst>
                    <a:ext uri="{9D8B030D-6E8A-4147-A177-3AD203B41FA5}">
                      <a16:colId xmlns:a16="http://schemas.microsoft.com/office/drawing/2014/main" val="20003"/>
                    </a:ext>
                  </a:extLst>
                </a:gridCol>
              </a:tblGrid>
              <a:tr h="334989">
                <a:tc>
                  <a:txBody>
                    <a:bodyPr/>
                    <a:lstStyle/>
                    <a:p>
                      <a:r>
                        <a:rPr sz="900" b="1">
                          <a:solidFill>
                            <a:srgbClr val="C6A5C3"/>
                          </a:solidFill>
                        </a:rPr>
                        <a:t>Cortex Center</a:t>
                      </a:r>
                    </a:p>
                  </a:txBody>
                  <a:tcPr>
                    <a:solidFill>
                      <a:srgbClr val="E46B22"/>
                    </a:solidFill>
                  </a:tcPr>
                </a:tc>
                <a:tc>
                  <a:txBody>
                    <a:bodyPr/>
                    <a:lstStyle/>
                    <a:p>
                      <a:r>
                        <a:rPr sz="900" b="1">
                          <a:solidFill>
                            <a:srgbClr val="C6A5C3"/>
                          </a:solidFill>
                        </a:rPr>
                        <a:t>Map Layer</a:t>
                      </a:r>
                    </a:p>
                  </a:txBody>
                  <a:tcPr>
                    <a:solidFill>
                      <a:srgbClr val="E46B22"/>
                    </a:solidFill>
                  </a:tcPr>
                </a:tc>
                <a:tc>
                  <a:txBody>
                    <a:bodyPr/>
                    <a:lstStyle/>
                    <a:p>
                      <a:r>
                        <a:rPr sz="900" b="1">
                          <a:solidFill>
                            <a:srgbClr val="C6A5C3"/>
                          </a:solidFill>
                        </a:rPr>
                        <a:t>Hub Mode</a:t>
                      </a:r>
                    </a:p>
                  </a:txBody>
                  <a:tcPr>
                    <a:solidFill>
                      <a:srgbClr val="E46B22"/>
                    </a:solidFill>
                  </a:tcPr>
                </a:tc>
                <a:tc>
                  <a:txBody>
                    <a:bodyPr/>
                    <a:lstStyle/>
                    <a:p>
                      <a:r>
                        <a:rPr sz="900" b="1">
                          <a:solidFill>
                            <a:srgbClr val="C6A5C3"/>
                          </a:solidFill>
                        </a:rPr>
                        <a:t>Depth</a:t>
                      </a:r>
                    </a:p>
                  </a:txBody>
                  <a:tcPr>
                    <a:solidFill>
                      <a:srgbClr val="E46B22"/>
                    </a:solidFill>
                  </a:tcPr>
                </a:tc>
                <a:extLst>
                  <a:ext uri="{0D108BD9-81ED-4DB2-BD59-A6C34878D82A}">
                    <a16:rowId xmlns:a16="http://schemas.microsoft.com/office/drawing/2014/main" val="10000"/>
                  </a:ext>
                </a:extLst>
              </a:tr>
              <a:tr h="334989">
                <a:tc>
                  <a:txBody>
                    <a:bodyPr/>
                    <a:lstStyle/>
                    <a:p>
                      <a:r>
                        <a:rPr sz="900" b="0">
                          <a:solidFill>
                            <a:srgbClr val="C6A5C3"/>
                          </a:solidFill>
                        </a:rPr>
                        <a:t>Sequence</a:t>
                      </a:r>
                    </a:p>
                  </a:txBody>
                  <a:tcPr>
                    <a:solidFill>
                      <a:srgbClr val="DDE0C4"/>
                    </a:solidFill>
                  </a:tcPr>
                </a:tc>
                <a:tc>
                  <a:txBody>
                    <a:bodyPr/>
                    <a:lstStyle/>
                    <a:p>
                      <a:r>
                        <a:rPr sz="900" b="0">
                          <a:solidFill>
                            <a:srgbClr val="C6A5C3"/>
                          </a:solidFill>
                        </a:rPr>
                        <a:t>Archive</a:t>
                      </a:r>
                    </a:p>
                  </a:txBody>
                  <a:tcPr>
                    <a:solidFill>
                      <a:srgbClr val="DDE0C4"/>
                    </a:solidFill>
                  </a:tcPr>
                </a:tc>
                <a:tc>
                  <a:txBody>
                    <a:bodyPr/>
                    <a:lstStyle/>
                    <a:p>
                      <a:r>
                        <a:rPr sz="900" b="0">
                          <a:solidFill>
                            <a:srgbClr val="C6A5C3"/>
                          </a:solidFill>
                        </a:rPr>
                        <a:t>Context Tile</a:t>
                      </a:r>
                    </a:p>
                  </a:txBody>
                  <a:tcPr>
                    <a:solidFill>
                      <a:srgbClr val="DDE0C4"/>
                    </a:solidFill>
                  </a:tcPr>
                </a:tc>
                <a:tc>
                  <a:txBody>
                    <a:bodyPr/>
                    <a:lstStyle/>
                    <a:p>
                      <a:r>
                        <a:rPr sz="900" b="0">
                          <a:solidFill>
                            <a:srgbClr val="C6A5C3"/>
                          </a:solidFill>
                        </a:rPr>
                        <a:t>Mesh Chart</a:t>
                      </a:r>
                    </a:p>
                  </a:txBody>
                  <a:tcPr>
                    <a:solidFill>
                      <a:srgbClr val="DDE0C4"/>
                    </a:solidFill>
                  </a:tcPr>
                </a:tc>
                <a:extLst>
                  <a:ext uri="{0D108BD9-81ED-4DB2-BD59-A6C34878D82A}">
                    <a16:rowId xmlns:a16="http://schemas.microsoft.com/office/drawing/2014/main" val="10001"/>
                  </a:ext>
                </a:extLst>
              </a:tr>
              <a:tr h="334989">
                <a:tc>
                  <a:txBody>
                    <a:bodyPr/>
                    <a:lstStyle/>
                    <a:p>
                      <a:r>
                        <a:rPr sz="900" b="0">
                          <a:solidFill>
                            <a:srgbClr val="C6A5C3"/>
                          </a:solidFill>
                        </a:rPr>
                        <a:t>Agenda Logic</a:t>
                      </a:r>
                    </a:p>
                  </a:txBody>
                  <a:tcPr>
                    <a:solidFill>
                      <a:srgbClr val="F1F3E8"/>
                    </a:solidFill>
                  </a:tcPr>
                </a:tc>
                <a:tc>
                  <a:txBody>
                    <a:bodyPr/>
                    <a:lstStyle/>
                    <a:p>
                      <a:r>
                        <a:rPr sz="900" b="0">
                          <a:solidFill>
                            <a:srgbClr val="C6A5C3"/>
                          </a:solidFill>
                        </a:rPr>
                        <a:t>Register Signal</a:t>
                      </a:r>
                    </a:p>
                  </a:txBody>
                  <a:tcPr>
                    <a:solidFill>
                      <a:srgbClr val="F1F3E8"/>
                    </a:solidFill>
                  </a:tcPr>
                </a:tc>
                <a:tc>
                  <a:txBody>
                    <a:bodyPr/>
                    <a:lstStyle/>
                    <a:p>
                      <a:r>
                        <a:rPr sz="900" b="0">
                          <a:solidFill>
                            <a:srgbClr val="C6A5C3"/>
                          </a:solidFill>
                        </a:rPr>
                        <a:t>Density</a:t>
                      </a:r>
                    </a:p>
                  </a:txBody>
                  <a:tcPr>
                    <a:solidFill>
                      <a:srgbClr val="F1F3E8"/>
                    </a:solidFill>
                  </a:tcPr>
                </a:tc>
                <a:tc>
                  <a:txBody>
                    <a:bodyPr/>
                    <a:lstStyle/>
                    <a:p>
                      <a:r>
                        <a:rPr sz="900" b="0">
                          <a:solidFill>
                            <a:srgbClr val="C6A5C3"/>
                          </a:solidFill>
                        </a:rPr>
                        <a:t>Sync</a:t>
                      </a:r>
                    </a:p>
                  </a:txBody>
                  <a:tcPr>
                    <a:solidFill>
                      <a:srgbClr val="F1F3E8"/>
                    </a:solidFill>
                  </a:tcPr>
                </a:tc>
                <a:extLst>
                  <a:ext uri="{0D108BD9-81ED-4DB2-BD59-A6C34878D82A}">
                    <a16:rowId xmlns:a16="http://schemas.microsoft.com/office/drawing/2014/main" val="10002"/>
                  </a:ext>
                </a:extLst>
              </a:tr>
              <a:tr h="334992">
                <a:tc>
                  <a:txBody>
                    <a:bodyPr/>
                    <a:lstStyle/>
                    <a:p>
                      <a:r>
                        <a:rPr sz="900" b="0">
                          <a:solidFill>
                            <a:srgbClr val="C6A5C3"/>
                          </a:solidFill>
                        </a:rPr>
                        <a:t>Bundle Alpha</a:t>
                      </a:r>
                    </a:p>
                  </a:txBody>
                  <a:tcPr>
                    <a:solidFill>
                      <a:srgbClr val="DDE0C4"/>
                    </a:solidFill>
                  </a:tcPr>
                </a:tc>
                <a:tc>
                  <a:txBody>
                    <a:bodyPr/>
                    <a:lstStyle/>
                    <a:p>
                      <a:r>
                        <a:rPr sz="900" b="0">
                          <a:solidFill>
                            <a:srgbClr val="C6A5C3"/>
                          </a:solidFill>
                        </a:rPr>
                        <a:t>Brief Portal</a:t>
                      </a:r>
                    </a:p>
                  </a:txBody>
                  <a:tcPr>
                    <a:solidFill>
                      <a:srgbClr val="DDE0C4"/>
                    </a:solidFill>
                  </a:tcPr>
                </a:tc>
                <a:tc>
                  <a:txBody>
                    <a:bodyPr/>
                    <a:lstStyle/>
                    <a:p>
                      <a:r>
                        <a:rPr sz="900" b="0">
                          <a:solidFill>
                            <a:srgbClr val="C6A5C3"/>
                          </a:solidFill>
                        </a:rPr>
                        <a:t>Measure</a:t>
                      </a:r>
                    </a:p>
                  </a:txBody>
                  <a:tcPr>
                    <a:solidFill>
                      <a:srgbClr val="DDE0C4"/>
                    </a:solidFill>
                  </a:tcPr>
                </a:tc>
                <a:tc>
                  <a:txBody>
                    <a:bodyPr/>
                    <a:lstStyle/>
                    <a:p>
                      <a:r>
                        <a:rPr sz="900" b="0">
                          <a:solidFill>
                            <a:srgbClr val="C6A5C3"/>
                          </a:solidFill>
                        </a:rPr>
                        <a:t>Journey</a:t>
                      </a:r>
                    </a:p>
                  </a:txBody>
                  <a:tcPr>
                    <a:solidFill>
                      <a:srgbClr val="DDE0C4"/>
                    </a:solidFill>
                  </a:tcPr>
                </a:tc>
                <a:extLst>
                  <a:ext uri="{0D108BD9-81ED-4DB2-BD59-A6C34878D82A}">
                    <a16:rowId xmlns:a16="http://schemas.microsoft.com/office/drawing/2014/main" val="10003"/>
                  </a:ext>
                </a:extLst>
              </a:tr>
            </a:tbl>
          </a:graphicData>
        </a:graphic>
      </p:graphicFrame>
      <p:sp>
        <p:nvSpPr>
          <p:cNvPr id="13" name="8-Point Star 12"/>
          <p:cNvSpPr/>
          <p:nvPr/>
        </p:nvSpPr>
        <p:spPr>
          <a:xfrm>
            <a:off x="3703039" y="1211247"/>
            <a:ext cx="551043" cy="1246837"/>
          </a:xfrm>
          <a:prstGeom prst="star8">
            <a:avLst/>
          </a:prstGeom>
          <a:solidFill>
            <a:srgbClr val="431D22"/>
          </a:solidFill>
          <a:ln w="20866">
            <a:solidFill>
              <a:srgbClr val="E4DC52"/>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U-Turn Arrow 13"/>
          <p:cNvSpPr/>
          <p:nvPr/>
        </p:nvSpPr>
        <p:spPr>
          <a:xfrm>
            <a:off x="4775148" y="2508886"/>
            <a:ext cx="324910" cy="2003052"/>
          </a:xfrm>
          <a:prstGeom prst="uturnArrow">
            <a:avLst/>
          </a:prstGeom>
          <a:solidFill>
            <a:srgbClr val="235092"/>
          </a:solidFill>
          <a:ln w="27269">
            <a:solidFill>
              <a:srgbClr val="8C1CB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9749928" y="4788835"/>
            <a:ext cx="768171" cy="1277452"/>
          </a:xfrm>
          <a:prstGeom prst="line">
            <a:avLst/>
          </a:prstGeom>
          <a:ln w="15145">
            <a:solidFill>
              <a:srgbClr val="8F444B"/>
            </a:solidFill>
            <a:prstDash val="soli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827124" y="4221919"/>
            <a:ext cx="642756" cy="2201603"/>
          </a:xfrm>
          <a:prstGeom prst="rect">
            <a:avLst/>
          </a:prstGeom>
          <a:noFill/>
        </p:spPr>
        <p:txBody>
          <a:bodyPr wrap="none" lIns="38685" tIns="38685" rIns="38685" bIns="38685">
            <a:spAutoFit/>
          </a:bodyPr>
          <a:lstStyle/>
          <a:p>
            <a:r>
              <a:rPr sz="1700" b="0" i="0" u="none">
                <a:solidFill>
                  <a:srgbClr val="7FE434"/>
                </a:solidFill>
                <a:latin typeface="Arial"/>
              </a:rPr>
              <a:t>Input Marker Gradient Scale Template Handle Register Mode Range Factor Benchmark Queueing Library Sequence Register Vertex Span Option Volume Explorer Surface Request Stack Runtime Path</a:t>
            </a:r>
          </a:p>
        </p:txBody>
      </p:sp>
      <p:cxnSp>
        <p:nvCxnSpPr>
          <p:cNvPr id="17" name="Connector 16"/>
          <p:cNvCxnSpPr/>
          <p:nvPr/>
        </p:nvCxnSpPr>
        <p:spPr>
          <a:xfrm>
            <a:off x="1214819" y="5733173"/>
            <a:ext cx="1039207" cy="392321"/>
          </a:xfrm>
          <a:prstGeom prst="bentConnector3">
            <a:avLst/>
          </a:prstGeom>
          <a:ln w="9450">
            <a:solidFill>
              <a:srgbClr val="96C6C2"/>
            </a:solidFill>
            <a:prstDash val="lgDash"/>
          </a:ln>
        </p:spPr>
        <p:style>
          <a:lnRef idx="2">
            <a:schemeClr val="accent1"/>
          </a:lnRef>
          <a:fillRef idx="0">
            <a:schemeClr val="accent1"/>
          </a:fillRef>
          <a:effectRef idx="1">
            <a:schemeClr val="accent1"/>
          </a:effectRef>
          <a:fontRef idx="minor">
            <a:schemeClr val="tx1"/>
          </a:fontRef>
        </p:style>
      </p:cxnSp>
      <p:sp>
        <p:nvSpPr>
          <p:cNvPr id="18" name="Octagon 17"/>
          <p:cNvSpPr/>
          <p:nvPr/>
        </p:nvSpPr>
        <p:spPr>
          <a:xfrm>
            <a:off x="2032077" y="3589194"/>
            <a:ext cx="819469" cy="1896957"/>
          </a:xfrm>
          <a:prstGeom prst="octagon">
            <a:avLst/>
          </a:prstGeom>
          <a:solidFill>
            <a:srgbClr val="AF761F"/>
          </a:solidFill>
          <a:ln w="8167">
            <a:solidFill>
              <a:srgbClr val="96686D"/>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858561" y="419096"/>
            <a:ext cx="562408" cy="1730653"/>
          </a:xfrm>
          <a:prstGeom prst="rect">
            <a:avLst/>
          </a:prstGeom>
          <a:noFill/>
        </p:spPr>
        <p:txBody>
          <a:bodyPr wrap="none" lIns="72280" tIns="72280" rIns="72280" bIns="72280">
            <a:spAutoFit/>
          </a:bodyPr>
          <a:lstStyle/>
          <a:p>
            <a:r>
              <a:rPr sz="1800" b="0" i="0" u="none">
                <a:solidFill>
                  <a:srgbClr val="53E3C8"/>
                </a:solidFill>
                <a:latin typeface="Calibri"/>
              </a:rPr>
              <a:t>System Panel Motion Briefing Bridge Cadence Wave Pulse Device Pipeline</a:t>
            </a:r>
          </a:p>
        </p:txBody>
      </p:sp>
      <p:graphicFrame>
        <p:nvGraphicFramePr>
          <p:cNvPr id="20" name="Table 19"/>
          <p:cNvGraphicFramePr>
            <a:graphicFrameLocks noGrp="1"/>
          </p:cNvGraphicFramePr>
          <p:nvPr/>
        </p:nvGraphicFramePr>
        <p:xfrm>
          <a:off x="3014542" y="5659027"/>
          <a:ext cx="2782979" cy="1033641"/>
        </p:xfrm>
        <a:graphic>
          <a:graphicData uri="http://schemas.openxmlformats.org/drawingml/2006/table">
            <a:tbl>
              <a:tblPr firstRow="1" bandRow="1">
                <a:tableStyleId>{5C22544A-7EE6-4342-B048-85BDC9FD1C3A}</a:tableStyleId>
              </a:tblPr>
              <a:tblGrid>
                <a:gridCol w="463829">
                  <a:extLst>
                    <a:ext uri="{9D8B030D-6E8A-4147-A177-3AD203B41FA5}">
                      <a16:colId xmlns:a16="http://schemas.microsoft.com/office/drawing/2014/main" val="20000"/>
                    </a:ext>
                  </a:extLst>
                </a:gridCol>
                <a:gridCol w="463829">
                  <a:extLst>
                    <a:ext uri="{9D8B030D-6E8A-4147-A177-3AD203B41FA5}">
                      <a16:colId xmlns:a16="http://schemas.microsoft.com/office/drawing/2014/main" val="20001"/>
                    </a:ext>
                  </a:extLst>
                </a:gridCol>
                <a:gridCol w="463829">
                  <a:extLst>
                    <a:ext uri="{9D8B030D-6E8A-4147-A177-3AD203B41FA5}">
                      <a16:colId xmlns:a16="http://schemas.microsoft.com/office/drawing/2014/main" val="20002"/>
                    </a:ext>
                  </a:extLst>
                </a:gridCol>
                <a:gridCol w="463829">
                  <a:extLst>
                    <a:ext uri="{9D8B030D-6E8A-4147-A177-3AD203B41FA5}">
                      <a16:colId xmlns:a16="http://schemas.microsoft.com/office/drawing/2014/main" val="20003"/>
                    </a:ext>
                  </a:extLst>
                </a:gridCol>
                <a:gridCol w="463829">
                  <a:extLst>
                    <a:ext uri="{9D8B030D-6E8A-4147-A177-3AD203B41FA5}">
                      <a16:colId xmlns:a16="http://schemas.microsoft.com/office/drawing/2014/main" val="20004"/>
                    </a:ext>
                  </a:extLst>
                </a:gridCol>
                <a:gridCol w="463834">
                  <a:extLst>
                    <a:ext uri="{9D8B030D-6E8A-4147-A177-3AD203B41FA5}">
                      <a16:colId xmlns:a16="http://schemas.microsoft.com/office/drawing/2014/main" val="20005"/>
                    </a:ext>
                  </a:extLst>
                </a:gridCol>
              </a:tblGrid>
              <a:tr h="172273">
                <a:tc>
                  <a:txBody>
                    <a:bodyPr/>
                    <a:lstStyle/>
                    <a:p>
                      <a:r>
                        <a:rPr sz="900" b="0">
                          <a:solidFill>
                            <a:srgbClr val="5B5551"/>
                          </a:solidFill>
                        </a:rPr>
                        <a:t>Sample</a:t>
                      </a:r>
                    </a:p>
                  </a:txBody>
                  <a:tcPr>
                    <a:solidFill>
                      <a:srgbClr val="F2F6F3"/>
                    </a:solidFill>
                  </a:tcPr>
                </a:tc>
                <a:tc>
                  <a:txBody>
                    <a:bodyPr/>
                    <a:lstStyle/>
                    <a:p>
                      <a:r>
                        <a:rPr sz="900" b="0">
                          <a:solidFill>
                            <a:srgbClr val="5B5551"/>
                          </a:solidFill>
                        </a:rPr>
                        <a:t>Thread Collection</a:t>
                      </a:r>
                    </a:p>
                  </a:txBody>
                  <a:tcPr>
                    <a:solidFill>
                      <a:srgbClr val="F2F6F3"/>
                    </a:solidFill>
                  </a:tcPr>
                </a:tc>
                <a:tc>
                  <a:txBody>
                    <a:bodyPr/>
                    <a:lstStyle/>
                    <a:p>
                      <a:r>
                        <a:rPr sz="900" b="0">
                          <a:solidFill>
                            <a:srgbClr val="5B5551"/>
                          </a:solidFill>
                        </a:rPr>
                        <a:t>Region Limit</a:t>
                      </a:r>
                    </a:p>
                  </a:txBody>
                  <a:tcPr>
                    <a:solidFill>
                      <a:srgbClr val="F2F6F3"/>
                    </a:solidFill>
                  </a:tcPr>
                </a:tc>
                <a:tc>
                  <a:txBody>
                    <a:bodyPr/>
                    <a:lstStyle/>
                    <a:p>
                      <a:r>
                        <a:rPr sz="900" b="0">
                          <a:solidFill>
                            <a:srgbClr val="5B5551"/>
                          </a:solidFill>
                        </a:rPr>
                        <a:t>Circuit</a:t>
                      </a:r>
                    </a:p>
                  </a:txBody>
                  <a:tcPr>
                    <a:solidFill>
                      <a:srgbClr val="F2F6F3"/>
                    </a:solidFill>
                  </a:tcPr>
                </a:tc>
                <a:tc>
                  <a:txBody>
                    <a:bodyPr/>
                    <a:lstStyle/>
                    <a:p>
                      <a:r>
                        <a:rPr sz="900" b="0">
                          <a:solidFill>
                            <a:srgbClr val="5B5551"/>
                          </a:solidFill>
                        </a:rPr>
                        <a:t>Journey Journey</a:t>
                      </a:r>
                    </a:p>
                  </a:txBody>
                  <a:tcPr>
                    <a:solidFill>
                      <a:srgbClr val="F2F6F3"/>
                    </a:solidFill>
                  </a:tcPr>
                </a:tc>
                <a:tc>
                  <a:txBody>
                    <a:bodyPr/>
                    <a:lstStyle/>
                    <a:p>
                      <a:r>
                        <a:rPr sz="900" b="0">
                          <a:solidFill>
                            <a:srgbClr val="5B5551"/>
                          </a:solidFill>
                        </a:rPr>
                        <a:t>Reference</a:t>
                      </a:r>
                    </a:p>
                  </a:txBody>
                  <a:tcPr>
                    <a:solidFill>
                      <a:srgbClr val="F2F6F3"/>
                    </a:solidFill>
                  </a:tcPr>
                </a:tc>
                <a:extLst>
                  <a:ext uri="{0D108BD9-81ED-4DB2-BD59-A6C34878D82A}">
                    <a16:rowId xmlns:a16="http://schemas.microsoft.com/office/drawing/2014/main" val="10000"/>
                  </a:ext>
                </a:extLst>
              </a:tr>
              <a:tr h="172273">
                <a:tc>
                  <a:txBody>
                    <a:bodyPr/>
                    <a:lstStyle/>
                    <a:p>
                      <a:r>
                        <a:rPr sz="900" b="0">
                          <a:solidFill>
                            <a:srgbClr val="5B5551"/>
                          </a:solidFill>
                        </a:rPr>
                        <a:t>Profile</a:t>
                      </a:r>
                    </a:p>
                  </a:txBody>
                  <a:tcPr>
                    <a:solidFill>
                      <a:srgbClr val="DCE7DE"/>
                    </a:solidFill>
                  </a:tcPr>
                </a:tc>
                <a:tc>
                  <a:txBody>
                    <a:bodyPr/>
                    <a:lstStyle/>
                    <a:p>
                      <a:r>
                        <a:rPr sz="900" b="0">
                          <a:solidFill>
                            <a:srgbClr val="5B5551"/>
                          </a:solidFill>
                        </a:rPr>
                        <a:t>Sample</a:t>
                      </a:r>
                    </a:p>
                  </a:txBody>
                  <a:tcPr>
                    <a:solidFill>
                      <a:srgbClr val="DCE7DE"/>
                    </a:solidFill>
                  </a:tcPr>
                </a:tc>
                <a:tc>
                  <a:txBody>
                    <a:bodyPr/>
                    <a:lstStyle/>
                    <a:p>
                      <a:r>
                        <a:rPr sz="900" b="0">
                          <a:solidFill>
                            <a:srgbClr val="5B5551"/>
                          </a:solidFill>
                        </a:rPr>
                        <a:t>Needle</a:t>
                      </a:r>
                    </a:p>
                  </a:txBody>
                  <a:tcPr>
                    <a:solidFill>
                      <a:srgbClr val="DCE7DE"/>
                    </a:solidFill>
                  </a:tcPr>
                </a:tc>
                <a:tc>
                  <a:txBody>
                    <a:bodyPr/>
                    <a:lstStyle/>
                    <a:p>
                      <a:r>
                        <a:rPr sz="900" b="0">
                          <a:solidFill>
                            <a:srgbClr val="5B5551"/>
                          </a:solidFill>
                        </a:rPr>
                        <a:t>Interface</a:t>
                      </a:r>
                    </a:p>
                  </a:txBody>
                  <a:tcPr>
                    <a:solidFill>
                      <a:srgbClr val="DCE7DE"/>
                    </a:solidFill>
                  </a:tcPr>
                </a:tc>
                <a:tc>
                  <a:txBody>
                    <a:bodyPr/>
                    <a:lstStyle/>
                    <a:p>
                      <a:r>
                        <a:rPr sz="900" b="0">
                          <a:solidFill>
                            <a:srgbClr val="5B5551"/>
                          </a:solidFill>
                        </a:rPr>
                        <a:t>Interface</a:t>
                      </a:r>
                    </a:p>
                  </a:txBody>
                  <a:tcPr>
                    <a:solidFill>
                      <a:srgbClr val="DCE7DE"/>
                    </a:solidFill>
                  </a:tcPr>
                </a:tc>
                <a:tc>
                  <a:txBody>
                    <a:bodyPr/>
                    <a:lstStyle/>
                    <a:p>
                      <a:r>
                        <a:rPr sz="900" b="0">
                          <a:solidFill>
                            <a:srgbClr val="5B5551"/>
                          </a:solidFill>
                        </a:rPr>
                        <a:t>Drive Lineage</a:t>
                      </a:r>
                    </a:p>
                  </a:txBody>
                  <a:tcPr>
                    <a:solidFill>
                      <a:srgbClr val="DCE7DE"/>
                    </a:solidFill>
                  </a:tcPr>
                </a:tc>
                <a:extLst>
                  <a:ext uri="{0D108BD9-81ED-4DB2-BD59-A6C34878D82A}">
                    <a16:rowId xmlns:a16="http://schemas.microsoft.com/office/drawing/2014/main" val="10001"/>
                  </a:ext>
                </a:extLst>
              </a:tr>
              <a:tr h="172273">
                <a:tc>
                  <a:txBody>
                    <a:bodyPr/>
                    <a:lstStyle/>
                    <a:p>
                      <a:r>
                        <a:rPr sz="900" b="0">
                          <a:solidFill>
                            <a:srgbClr val="5B5551"/>
                          </a:solidFill>
                        </a:rPr>
                        <a:t>Rhythm Scale</a:t>
                      </a:r>
                    </a:p>
                  </a:txBody>
                  <a:tcPr>
                    <a:solidFill>
                      <a:srgbClr val="F2F6F3"/>
                    </a:solidFill>
                  </a:tcPr>
                </a:tc>
                <a:tc>
                  <a:txBody>
                    <a:bodyPr/>
                    <a:lstStyle/>
                    <a:p>
                      <a:r>
                        <a:rPr sz="900" b="0">
                          <a:solidFill>
                            <a:srgbClr val="5B5551"/>
                          </a:solidFill>
                        </a:rPr>
                        <a:t>Surface</a:t>
                      </a:r>
                    </a:p>
                  </a:txBody>
                  <a:tcPr>
                    <a:solidFill>
                      <a:srgbClr val="F2F6F3"/>
                    </a:solidFill>
                  </a:tcPr>
                </a:tc>
                <a:tc>
                  <a:txBody>
                    <a:bodyPr/>
                    <a:lstStyle/>
                    <a:p>
                      <a:r>
                        <a:rPr sz="900" b="0">
                          <a:solidFill>
                            <a:srgbClr val="5B5551"/>
                          </a:solidFill>
                        </a:rPr>
                        <a:t>Harbor Trace</a:t>
                      </a:r>
                    </a:p>
                  </a:txBody>
                  <a:tcPr>
                    <a:solidFill>
                      <a:srgbClr val="F2F6F3"/>
                    </a:solidFill>
                  </a:tcPr>
                </a:tc>
                <a:tc>
                  <a:txBody>
                    <a:bodyPr/>
                    <a:lstStyle/>
                    <a:p>
                      <a:r>
                        <a:rPr sz="900" b="0">
                          <a:solidFill>
                            <a:srgbClr val="5B5551"/>
                          </a:solidFill>
                        </a:rPr>
                        <a:t>Request Region</a:t>
                      </a:r>
                    </a:p>
                  </a:txBody>
                  <a:tcPr>
                    <a:solidFill>
                      <a:srgbClr val="F2F6F3"/>
                    </a:solidFill>
                  </a:tcPr>
                </a:tc>
                <a:tc>
                  <a:txBody>
                    <a:bodyPr/>
                    <a:lstStyle/>
                    <a:p>
                      <a:r>
                        <a:rPr sz="900" b="0">
                          <a:solidFill>
                            <a:srgbClr val="5B5551"/>
                          </a:solidFill>
                        </a:rPr>
                        <a:t>Threshold Needle</a:t>
                      </a:r>
                    </a:p>
                  </a:txBody>
                  <a:tcPr>
                    <a:solidFill>
                      <a:srgbClr val="F2F6F3"/>
                    </a:solidFill>
                  </a:tcPr>
                </a:tc>
                <a:tc>
                  <a:txBody>
                    <a:bodyPr/>
                    <a:lstStyle/>
                    <a:p>
                      <a:r>
                        <a:rPr sz="900" b="0">
                          <a:solidFill>
                            <a:srgbClr val="5B5551"/>
                          </a:solidFill>
                        </a:rPr>
                        <a:t>Milestone</a:t>
                      </a:r>
                    </a:p>
                  </a:txBody>
                  <a:tcPr>
                    <a:solidFill>
                      <a:srgbClr val="F2F6F3"/>
                    </a:solidFill>
                  </a:tcPr>
                </a:tc>
                <a:extLst>
                  <a:ext uri="{0D108BD9-81ED-4DB2-BD59-A6C34878D82A}">
                    <a16:rowId xmlns:a16="http://schemas.microsoft.com/office/drawing/2014/main" val="10002"/>
                  </a:ext>
                </a:extLst>
              </a:tr>
              <a:tr h="172273">
                <a:tc>
                  <a:txBody>
                    <a:bodyPr/>
                    <a:lstStyle/>
                    <a:p>
                      <a:r>
                        <a:rPr sz="900" b="0">
                          <a:solidFill>
                            <a:srgbClr val="5B5551"/>
                          </a:solidFill>
                        </a:rPr>
                        <a:t>Moment</a:t>
                      </a:r>
                    </a:p>
                  </a:txBody>
                  <a:tcPr>
                    <a:solidFill>
                      <a:srgbClr val="DCE7DE"/>
                    </a:solidFill>
                  </a:tcPr>
                </a:tc>
                <a:tc>
                  <a:txBody>
                    <a:bodyPr/>
                    <a:lstStyle/>
                    <a:p>
                      <a:r>
                        <a:rPr sz="900" b="0">
                          <a:solidFill>
                            <a:srgbClr val="5B5551"/>
                          </a:solidFill>
                        </a:rPr>
                        <a:t>Stage Proof</a:t>
                      </a:r>
                    </a:p>
                  </a:txBody>
                  <a:tcPr>
                    <a:solidFill>
                      <a:srgbClr val="DCE7DE"/>
                    </a:solidFill>
                  </a:tcPr>
                </a:tc>
                <a:tc>
                  <a:txBody>
                    <a:bodyPr/>
                    <a:lstStyle/>
                    <a:p>
                      <a:r>
                        <a:rPr sz="900" b="0">
                          <a:solidFill>
                            <a:srgbClr val="5B5551"/>
                          </a:solidFill>
                        </a:rPr>
                        <a:t>Goal Range</a:t>
                      </a:r>
                    </a:p>
                  </a:txBody>
                  <a:tcPr>
                    <a:solidFill>
                      <a:srgbClr val="DCE7DE"/>
                    </a:solidFill>
                  </a:tcPr>
                </a:tc>
                <a:tc>
                  <a:txBody>
                    <a:bodyPr/>
                    <a:lstStyle/>
                    <a:p>
                      <a:r>
                        <a:rPr sz="900" b="0">
                          <a:solidFill>
                            <a:srgbClr val="5B5551"/>
                          </a:solidFill>
                        </a:rPr>
                        <a:t>Path</a:t>
                      </a:r>
                    </a:p>
                  </a:txBody>
                  <a:tcPr>
                    <a:solidFill>
                      <a:srgbClr val="DCE7DE"/>
                    </a:solidFill>
                  </a:tcPr>
                </a:tc>
                <a:tc>
                  <a:txBody>
                    <a:bodyPr/>
                    <a:lstStyle/>
                    <a:p>
                      <a:r>
                        <a:rPr sz="900" b="0">
                          <a:solidFill>
                            <a:srgbClr val="5B5551"/>
                          </a:solidFill>
                        </a:rPr>
                        <a:t>Edge Field</a:t>
                      </a:r>
                    </a:p>
                  </a:txBody>
                  <a:tcPr>
                    <a:solidFill>
                      <a:srgbClr val="DCE7DE"/>
                    </a:solidFill>
                  </a:tcPr>
                </a:tc>
                <a:tc>
                  <a:txBody>
                    <a:bodyPr/>
                    <a:lstStyle/>
                    <a:p>
                      <a:r>
                        <a:rPr sz="900" b="0">
                          <a:solidFill>
                            <a:srgbClr val="5B5551"/>
                          </a:solidFill>
                        </a:rPr>
                        <a:t>Library Collection</a:t>
                      </a:r>
                    </a:p>
                  </a:txBody>
                  <a:tcPr>
                    <a:solidFill>
                      <a:srgbClr val="DCE7DE"/>
                    </a:solidFill>
                  </a:tcPr>
                </a:tc>
                <a:extLst>
                  <a:ext uri="{0D108BD9-81ED-4DB2-BD59-A6C34878D82A}">
                    <a16:rowId xmlns:a16="http://schemas.microsoft.com/office/drawing/2014/main" val="10003"/>
                  </a:ext>
                </a:extLst>
              </a:tr>
              <a:tr h="172273">
                <a:tc>
                  <a:txBody>
                    <a:bodyPr/>
                    <a:lstStyle/>
                    <a:p>
                      <a:r>
                        <a:rPr sz="900" b="0">
                          <a:solidFill>
                            <a:srgbClr val="5B5551"/>
                          </a:solidFill>
                        </a:rPr>
                        <a:t>Cycle</a:t>
                      </a:r>
                    </a:p>
                  </a:txBody>
                  <a:tcPr>
                    <a:solidFill>
                      <a:srgbClr val="F2F6F3"/>
                    </a:solidFill>
                  </a:tcPr>
                </a:tc>
                <a:tc>
                  <a:txBody>
                    <a:bodyPr/>
                    <a:lstStyle/>
                    <a:p>
                      <a:r>
                        <a:rPr sz="900" b="0">
                          <a:solidFill>
                            <a:srgbClr val="5B5551"/>
                          </a:solidFill>
                        </a:rPr>
                        <a:t>View Pipeline</a:t>
                      </a:r>
                    </a:p>
                  </a:txBody>
                  <a:tcPr>
                    <a:solidFill>
                      <a:srgbClr val="F2F6F3"/>
                    </a:solidFill>
                  </a:tcPr>
                </a:tc>
                <a:tc>
                  <a:txBody>
                    <a:bodyPr/>
                    <a:lstStyle/>
                    <a:p>
                      <a:r>
                        <a:rPr sz="900" b="0">
                          <a:solidFill>
                            <a:srgbClr val="5B5551"/>
                          </a:solidFill>
                        </a:rPr>
                        <a:t>Loop</a:t>
                      </a:r>
                    </a:p>
                  </a:txBody>
                  <a:tcPr>
                    <a:solidFill>
                      <a:srgbClr val="F2F6F3"/>
                    </a:solidFill>
                  </a:tcPr>
                </a:tc>
                <a:tc>
                  <a:txBody>
                    <a:bodyPr/>
                    <a:lstStyle/>
                    <a:p>
                      <a:r>
                        <a:rPr sz="900" b="0">
                          <a:solidFill>
                            <a:srgbClr val="5B5551"/>
                          </a:solidFill>
                        </a:rPr>
                        <a:t>Request Mode</a:t>
                      </a:r>
                    </a:p>
                  </a:txBody>
                  <a:tcPr>
                    <a:solidFill>
                      <a:srgbClr val="F2F6F3"/>
                    </a:solidFill>
                  </a:tcPr>
                </a:tc>
                <a:tc>
                  <a:txBody>
                    <a:bodyPr/>
                    <a:lstStyle/>
                    <a:p>
                      <a:r>
                        <a:rPr sz="900" b="0">
                          <a:solidFill>
                            <a:srgbClr val="5B5551"/>
                          </a:solidFill>
                        </a:rPr>
                        <a:t>Origin Response</a:t>
                      </a:r>
                    </a:p>
                  </a:txBody>
                  <a:tcPr>
                    <a:solidFill>
                      <a:srgbClr val="F2F6F3"/>
                    </a:solidFill>
                  </a:tcPr>
                </a:tc>
                <a:tc>
                  <a:txBody>
                    <a:bodyPr/>
                    <a:lstStyle/>
                    <a:p>
                      <a:r>
                        <a:rPr sz="900" b="0">
                          <a:solidFill>
                            <a:srgbClr val="5B5551"/>
                          </a:solidFill>
                        </a:rPr>
                        <a:t>Feature</a:t>
                      </a:r>
                    </a:p>
                  </a:txBody>
                  <a:tcPr>
                    <a:solidFill>
                      <a:srgbClr val="F2F6F3"/>
                    </a:solidFill>
                  </a:tcPr>
                </a:tc>
                <a:extLst>
                  <a:ext uri="{0D108BD9-81ED-4DB2-BD59-A6C34878D82A}">
                    <a16:rowId xmlns:a16="http://schemas.microsoft.com/office/drawing/2014/main" val="10004"/>
                  </a:ext>
                </a:extLst>
              </a:tr>
              <a:tr h="172276">
                <a:tc>
                  <a:txBody>
                    <a:bodyPr/>
                    <a:lstStyle/>
                    <a:p>
                      <a:r>
                        <a:rPr sz="900" b="0">
                          <a:solidFill>
                            <a:srgbClr val="5B5551"/>
                          </a:solidFill>
                        </a:rPr>
                        <a:t>Cadence Program</a:t>
                      </a:r>
                    </a:p>
                  </a:txBody>
                  <a:tcPr>
                    <a:solidFill>
                      <a:srgbClr val="DCE7DE"/>
                    </a:solidFill>
                  </a:tcPr>
                </a:tc>
                <a:tc>
                  <a:txBody>
                    <a:bodyPr/>
                    <a:lstStyle/>
                    <a:p>
                      <a:r>
                        <a:rPr sz="900" b="0">
                          <a:solidFill>
                            <a:srgbClr val="5B5551"/>
                          </a:solidFill>
                        </a:rPr>
                        <a:t>View Group</a:t>
                      </a:r>
                    </a:p>
                  </a:txBody>
                  <a:tcPr>
                    <a:solidFill>
                      <a:srgbClr val="DCE7DE"/>
                    </a:solidFill>
                  </a:tcPr>
                </a:tc>
                <a:tc>
                  <a:txBody>
                    <a:bodyPr/>
                    <a:lstStyle/>
                    <a:p>
                      <a:r>
                        <a:rPr sz="900" b="0">
                          <a:solidFill>
                            <a:srgbClr val="5B5551"/>
                          </a:solidFill>
                        </a:rPr>
                        <a:t>Signal</a:t>
                      </a:r>
                    </a:p>
                  </a:txBody>
                  <a:tcPr>
                    <a:solidFill>
                      <a:srgbClr val="DCE7DE"/>
                    </a:solidFill>
                  </a:tcPr>
                </a:tc>
                <a:tc>
                  <a:txBody>
                    <a:bodyPr/>
                    <a:lstStyle/>
                    <a:p>
                      <a:r>
                        <a:rPr sz="900" b="0">
                          <a:solidFill>
                            <a:srgbClr val="5B5551"/>
                          </a:solidFill>
                        </a:rPr>
                        <a:t>Viewport</a:t>
                      </a:r>
                    </a:p>
                  </a:txBody>
                  <a:tcPr>
                    <a:solidFill>
                      <a:srgbClr val="DCE7DE"/>
                    </a:solidFill>
                  </a:tcPr>
                </a:tc>
                <a:tc>
                  <a:txBody>
                    <a:bodyPr/>
                    <a:lstStyle/>
                    <a:p>
                      <a:r>
                        <a:rPr sz="900" b="0">
                          <a:solidFill>
                            <a:srgbClr val="5B5551"/>
                          </a:solidFill>
                        </a:rPr>
                        <a:t>Anchor Network</a:t>
                      </a:r>
                    </a:p>
                  </a:txBody>
                  <a:tcPr>
                    <a:solidFill>
                      <a:srgbClr val="DCE7DE"/>
                    </a:solidFill>
                  </a:tcPr>
                </a:tc>
                <a:tc>
                  <a:txBody>
                    <a:bodyPr/>
                    <a:lstStyle/>
                    <a:p>
                      <a:r>
                        <a:rPr sz="900" b="0">
                          <a:solidFill>
                            <a:srgbClr val="5B5551"/>
                          </a:solidFill>
                        </a:rPr>
                        <a:t>Bundle</a:t>
                      </a:r>
                    </a:p>
                  </a:txBody>
                  <a:tcPr>
                    <a:solidFill>
                      <a:srgbClr val="DCE7DE"/>
                    </a:solidFill>
                  </a:tcPr>
                </a:tc>
                <a:extLst>
                  <a:ext uri="{0D108BD9-81ED-4DB2-BD59-A6C34878D82A}">
                    <a16:rowId xmlns:a16="http://schemas.microsoft.com/office/drawing/2014/main" val="10005"/>
                  </a:ext>
                </a:extLst>
              </a:tr>
            </a:tbl>
          </a:graphicData>
        </a:graphic>
      </p:graphicFrame>
      <p:graphicFrame>
        <p:nvGraphicFramePr>
          <p:cNvPr id="21" name="Chart 20"/>
          <p:cNvGraphicFramePr>
            <a:graphicFrameLocks noGrp="1"/>
          </p:cNvGraphicFramePr>
          <p:nvPr/>
        </p:nvGraphicFramePr>
        <p:xfrm>
          <a:off x="9716825" y="3207667"/>
          <a:ext cx="2321299" cy="1502788"/>
        </p:xfrm>
        <a:graphic>
          <a:graphicData uri="http://schemas.openxmlformats.org/drawingml/2006/chart">
            <c:chart xmlns:c="http://schemas.openxmlformats.org/drawingml/2006/chart" xmlns:r="http://schemas.openxmlformats.org/officeDocument/2006/relationships" r:id="rId4"/>
          </a:graphicData>
        </a:graphic>
      </p:graphicFrame>
      <p:sp>
        <p:nvSpPr>
          <p:cNvPr id="22" name="TextBox 21"/>
          <p:cNvSpPr txBox="1"/>
          <p:nvPr/>
        </p:nvSpPr>
        <p:spPr>
          <a:xfrm>
            <a:off x="7623032" y="876646"/>
            <a:ext cx="1838429" cy="2540115"/>
          </a:xfrm>
          <a:prstGeom prst="rect">
            <a:avLst/>
          </a:prstGeom>
          <a:noFill/>
        </p:spPr>
        <p:txBody>
          <a:bodyPr wrap="none" lIns="71713" tIns="71713" rIns="71713" bIns="71713">
            <a:spAutoFit/>
          </a:bodyPr>
          <a:lstStyle/>
          <a:p>
            <a:r>
              <a:rPr sz="900" b="0" i="0" u="none">
                <a:solidFill>
                  <a:srgbClr val="E6A2CF"/>
                </a:solidFill>
                <a:latin typeface="Georgia"/>
              </a:rPr>
              <a:t>Orbit Table Program Data Baseline Filter Volume Lineage Source Alpha</a:t>
            </a:r>
          </a:p>
        </p:txBody>
      </p:sp>
      <p:sp>
        <p:nvSpPr>
          <p:cNvPr id="23" name="Rectangular Callout 22"/>
          <p:cNvSpPr/>
          <p:nvPr/>
        </p:nvSpPr>
        <p:spPr>
          <a:xfrm>
            <a:off x="3171246" y="3890456"/>
            <a:ext cx="701668" cy="1844028"/>
          </a:xfrm>
          <a:prstGeom prst="wedgeRectCallout">
            <a:avLst/>
          </a:prstGeom>
          <a:solidFill>
            <a:srgbClr val="2FB080"/>
          </a:solidFill>
          <a:ln w="27719">
            <a:solidFill>
              <a:srgbClr val="6AAAB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_example_image.jpg"/>
          <p:cNvPicPr>
            <a:picLocks noChangeAspect="1"/>
          </p:cNvPicPr>
          <p:nvPr/>
        </p:nvPicPr>
        <p:blipFill>
          <a:blip r:embed="rId3"/>
          <a:srcRect l="18379" t="8075" r="14663" b="9265"/>
          <a:stretch>
            <a:fillRect/>
          </a:stretch>
        </p:blipFill>
        <p:spPr>
          <a:xfrm>
            <a:off x="9758697" y="834121"/>
            <a:ext cx="1073165" cy="1980811"/>
          </a:xfrm>
          <a:prstGeom prst="rect">
            <a:avLst/>
          </a:prstGeom>
        </p:spPr>
      </p:pic>
      <p:pic>
        <p:nvPicPr>
          <p:cNvPr id="25" name="Picture 24" descr="_example_image.jpg"/>
          <p:cNvPicPr>
            <a:picLocks noChangeAspect="1"/>
          </p:cNvPicPr>
          <p:nvPr/>
        </p:nvPicPr>
        <p:blipFill>
          <a:blip r:embed="rId3"/>
          <a:srcRect l="4627" t="3165" r="16967" b="4264"/>
          <a:stretch>
            <a:fillRect/>
          </a:stretch>
        </p:blipFill>
        <p:spPr>
          <a:xfrm>
            <a:off x="4333388" y="627893"/>
            <a:ext cx="3211116" cy="735392"/>
          </a:xfrm>
          <a:prstGeom prst="rect">
            <a:avLst/>
          </a:prstGeom>
        </p:spPr>
      </p:pic>
      <p:sp>
        <p:nvSpPr>
          <p:cNvPr id="26" name="Rounded Rectangle 25"/>
          <p:cNvSpPr/>
          <p:nvPr/>
        </p:nvSpPr>
        <p:spPr>
          <a:xfrm>
            <a:off x="4333388" y="627893"/>
            <a:ext cx="3211116" cy="735392"/>
          </a:xfrm>
          <a:prstGeom prst="roundRect">
            <a:avLst/>
          </a:prstGeom>
          <a:noFill/>
          <a:ln w="15240">
            <a:solidFill>
              <a:srgbClr val="569E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1162899" y="854532"/>
            <a:ext cx="919388" cy="1894820"/>
          </a:xfrm>
          <a:custGeom>
            <a:avLst/>
            <a:gdLst/>
            <a:ahLst/>
            <a:cxnLst/>
            <a:rect l="l" t="t" r="r" b="b"/>
            <a:pathLst>
              <a:path w="919388" h="1894820">
                <a:moveTo>
                  <a:pt x="459694" y="0"/>
                </a:moveTo>
                <a:lnTo>
                  <a:pt x="574618" y="473705"/>
                </a:lnTo>
                <a:lnTo>
                  <a:pt x="861926" y="341068"/>
                </a:lnTo>
                <a:lnTo>
                  <a:pt x="699118" y="947410"/>
                </a:lnTo>
                <a:lnTo>
                  <a:pt x="919388" y="1477959"/>
                </a:lnTo>
                <a:lnTo>
                  <a:pt x="574618" y="1364270"/>
                </a:lnTo>
                <a:lnTo>
                  <a:pt x="459694" y="1894820"/>
                </a:lnTo>
                <a:lnTo>
                  <a:pt x="344771" y="1364270"/>
                </a:lnTo>
                <a:lnTo>
                  <a:pt x="0" y="1477959"/>
                </a:lnTo>
                <a:lnTo>
                  <a:pt x="220270" y="947410"/>
                </a:lnTo>
                <a:lnTo>
                  <a:pt x="57462" y="341068"/>
                </a:lnTo>
                <a:lnTo>
                  <a:pt x="344771" y="473705"/>
                </a:lnTo>
                <a:close/>
              </a:path>
            </a:pathLst>
          </a:custGeom>
          <a:solidFill>
            <a:srgbClr val="DD7BCC"/>
          </a:solidFill>
          <a:ln w="23634">
            <a:solidFill>
              <a:srgbClr val="CFC9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E7FA9289-E167-02FD-8474-ED7A4F656BA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5642134" y="3242345"/>
            <a:ext cx="1937878" cy="1339815"/>
          </a:xfrm>
          <a:prstGeom prst="rect">
            <a:avLst/>
          </a:prstGeom>
        </p:spPr>
      </p:pic>
      <p:pic>
        <p:nvPicPr>
          <p:cNvPr id="31" name="Graphic 30">
            <a:extLst>
              <a:ext uri="{FF2B5EF4-FFF2-40B4-BE49-F238E27FC236}">
                <a16:creationId xmlns:a16="http://schemas.microsoft.com/office/drawing/2014/main" id="{E4079C05-6BF5-4E10-78B4-91F57035B70B}"/>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36529" y="5125824"/>
            <a:ext cx="1107898" cy="78176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p Ribbon 1"/>
          <p:cNvSpPr/>
          <p:nvPr/>
        </p:nvSpPr>
        <p:spPr>
          <a:xfrm>
            <a:off x="6770946" y="4055740"/>
            <a:ext cx="923666" cy="1718433"/>
          </a:xfrm>
          <a:prstGeom prst="ribbon2">
            <a:avLst/>
          </a:prstGeom>
          <a:noFill/>
          <a:ln w="16571">
            <a:solidFill>
              <a:srgbClr val="2ADAC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13143" y="3996130"/>
            <a:ext cx="750698" cy="2199242"/>
          </a:xfrm>
          <a:prstGeom prst="rect">
            <a:avLst/>
          </a:prstGeom>
          <a:noFill/>
        </p:spPr>
        <p:txBody>
          <a:bodyPr wrap="none" lIns="63309" tIns="63309" rIns="63309" bIns="63309">
            <a:spAutoFit/>
          </a:bodyPr>
          <a:lstStyle/>
          <a:p>
            <a:r>
              <a:rPr sz="1900" b="0" i="0" u="none">
                <a:solidFill>
                  <a:srgbClr val="4B7CDA"/>
                </a:solidFill>
                <a:latin typeface="Trebuchet MS"/>
              </a:rPr>
              <a:t>Order Agenda Signal Delta Relay Zone Logic Goal Event Circuit Structure Graph</a:t>
            </a:r>
          </a:p>
        </p:txBody>
      </p:sp>
      <p:graphicFrame>
        <p:nvGraphicFramePr>
          <p:cNvPr id="4" name="Table 3"/>
          <p:cNvGraphicFramePr>
            <a:graphicFrameLocks noGrp="1"/>
          </p:cNvGraphicFramePr>
          <p:nvPr/>
        </p:nvGraphicFramePr>
        <p:xfrm>
          <a:off x="4292638" y="2248257"/>
          <a:ext cx="2084687" cy="991640"/>
        </p:xfrm>
        <a:graphic>
          <a:graphicData uri="http://schemas.openxmlformats.org/drawingml/2006/table">
            <a:tbl>
              <a:tblPr firstRow="1" bandRow="1">
                <a:tableStyleId>{5C22544A-7EE6-4342-B048-85BDC9FD1C3A}</a:tableStyleId>
              </a:tblPr>
              <a:tblGrid>
                <a:gridCol w="694895">
                  <a:extLst>
                    <a:ext uri="{9D8B030D-6E8A-4147-A177-3AD203B41FA5}">
                      <a16:colId xmlns:a16="http://schemas.microsoft.com/office/drawing/2014/main" val="20000"/>
                    </a:ext>
                  </a:extLst>
                </a:gridCol>
                <a:gridCol w="694895">
                  <a:extLst>
                    <a:ext uri="{9D8B030D-6E8A-4147-A177-3AD203B41FA5}">
                      <a16:colId xmlns:a16="http://schemas.microsoft.com/office/drawing/2014/main" val="20001"/>
                    </a:ext>
                  </a:extLst>
                </a:gridCol>
                <a:gridCol w="694897">
                  <a:extLst>
                    <a:ext uri="{9D8B030D-6E8A-4147-A177-3AD203B41FA5}">
                      <a16:colId xmlns:a16="http://schemas.microsoft.com/office/drawing/2014/main" val="20002"/>
                    </a:ext>
                  </a:extLst>
                </a:gridCol>
              </a:tblGrid>
              <a:tr h="495820">
                <a:tc>
                  <a:txBody>
                    <a:bodyPr/>
                    <a:lstStyle/>
                    <a:p>
                      <a:r>
                        <a:rPr sz="900" b="1">
                          <a:solidFill>
                            <a:srgbClr val="231A24"/>
                          </a:solidFill>
                        </a:rPr>
                        <a:t>Plan Velocity</a:t>
                      </a:r>
                    </a:p>
                  </a:txBody>
                  <a:tcPr>
                    <a:solidFill>
                      <a:srgbClr val="BF22A9"/>
                    </a:solidFill>
                  </a:tcPr>
                </a:tc>
                <a:tc>
                  <a:txBody>
                    <a:bodyPr/>
                    <a:lstStyle/>
                    <a:p>
                      <a:r>
                        <a:rPr sz="900" b="1">
                          <a:solidFill>
                            <a:srgbClr val="231A24"/>
                          </a:solidFill>
                        </a:rPr>
                        <a:t>Device</a:t>
                      </a:r>
                    </a:p>
                  </a:txBody>
                  <a:tcPr>
                    <a:solidFill>
                      <a:srgbClr val="BF22A9"/>
                    </a:solidFill>
                  </a:tcPr>
                </a:tc>
                <a:tc>
                  <a:txBody>
                    <a:bodyPr/>
                    <a:lstStyle/>
                    <a:p>
                      <a:r>
                        <a:rPr sz="900" b="1">
                          <a:solidFill>
                            <a:srgbClr val="231A24"/>
                          </a:solidFill>
                        </a:rPr>
                        <a:t>Query Inventory</a:t>
                      </a:r>
                    </a:p>
                  </a:txBody>
                  <a:tcPr>
                    <a:solidFill>
                      <a:srgbClr val="BF22A9"/>
                    </a:solidFill>
                  </a:tcPr>
                </a:tc>
                <a:extLst>
                  <a:ext uri="{0D108BD9-81ED-4DB2-BD59-A6C34878D82A}">
                    <a16:rowId xmlns:a16="http://schemas.microsoft.com/office/drawing/2014/main" val="10000"/>
                  </a:ext>
                </a:extLst>
              </a:tr>
              <a:tr h="495820">
                <a:tc>
                  <a:txBody>
                    <a:bodyPr/>
                    <a:lstStyle/>
                    <a:p>
                      <a:r>
                        <a:rPr sz="900" b="0">
                          <a:solidFill>
                            <a:srgbClr val="231A24"/>
                          </a:solidFill>
                        </a:rPr>
                        <a:t>Record</a:t>
                      </a:r>
                    </a:p>
                  </a:txBody>
                  <a:tcPr>
                    <a:solidFill>
                      <a:srgbClr val="B7DDDB"/>
                    </a:solidFill>
                  </a:tcPr>
                </a:tc>
                <a:tc>
                  <a:txBody>
                    <a:bodyPr/>
                    <a:lstStyle/>
                    <a:p>
                      <a:r>
                        <a:rPr sz="900" b="0">
                          <a:solidFill>
                            <a:srgbClr val="231A24"/>
                          </a:solidFill>
                        </a:rPr>
                        <a:t>Brief Schema</a:t>
                      </a:r>
                    </a:p>
                  </a:txBody>
                  <a:tcPr>
                    <a:solidFill>
                      <a:srgbClr val="B7DDDB"/>
                    </a:solidFill>
                  </a:tcPr>
                </a:tc>
                <a:tc>
                  <a:txBody>
                    <a:bodyPr/>
                    <a:lstStyle/>
                    <a:p>
                      <a:r>
                        <a:rPr sz="900" b="0">
                          <a:solidFill>
                            <a:srgbClr val="231A24"/>
                          </a:solidFill>
                        </a:rPr>
                        <a:t>Draft Option</a:t>
                      </a:r>
                    </a:p>
                  </a:txBody>
                  <a:tcPr>
                    <a:solidFill>
                      <a:srgbClr val="B7DDDB"/>
                    </a:solidFill>
                  </a:tcPr>
                </a:tc>
                <a:extLst>
                  <a:ext uri="{0D108BD9-81ED-4DB2-BD59-A6C34878D82A}">
                    <a16:rowId xmlns:a16="http://schemas.microsoft.com/office/drawing/2014/main" val="10001"/>
                  </a:ext>
                </a:extLst>
              </a:tr>
            </a:tbl>
          </a:graphicData>
        </a:graphic>
      </p:graphicFrame>
      <p:sp>
        <p:nvSpPr>
          <p:cNvPr id="5" name="Explosion 4"/>
          <p:cNvSpPr/>
          <p:nvPr/>
        </p:nvSpPr>
        <p:spPr>
          <a:xfrm>
            <a:off x="9706329" y="4432926"/>
            <a:ext cx="1406272" cy="962102"/>
          </a:xfrm>
          <a:prstGeom prst="irregularSeal1">
            <a:avLst/>
          </a:prstGeom>
          <a:solidFill>
            <a:srgbClr val="197524"/>
          </a:solidFill>
          <a:ln w="24623">
            <a:solidFill>
              <a:srgbClr val="9E3219"/>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07566" y="3643983"/>
            <a:ext cx="716396" cy="2421896"/>
          </a:xfrm>
          <a:prstGeom prst="rect">
            <a:avLst/>
          </a:prstGeom>
          <a:noFill/>
        </p:spPr>
        <p:txBody>
          <a:bodyPr wrap="none" lIns="26267" tIns="26267" rIns="26267" bIns="26267">
            <a:spAutoFit/>
          </a:bodyPr>
          <a:lstStyle/>
          <a:p>
            <a:r>
              <a:rPr sz="1500" b="0" i="0" u="none">
                <a:solidFill>
                  <a:srgbClr val="8F3FB9"/>
                </a:solidFill>
                <a:latin typeface="Trebuchet MS"/>
              </a:rPr>
              <a:t>Vector Status Narrative Stack Profile Loop Stage Point Agenda Control Narrative Blueprint Guide Impact Region Sample Cycle Domain Friction Duration Graph Milestone</a:t>
            </a:r>
          </a:p>
        </p:txBody>
      </p:sp>
      <p:sp>
        <p:nvSpPr>
          <p:cNvPr id="7" name="TextBox 6"/>
          <p:cNvSpPr txBox="1"/>
          <p:nvPr/>
        </p:nvSpPr>
        <p:spPr>
          <a:xfrm>
            <a:off x="752296" y="1609155"/>
            <a:ext cx="2925623" cy="1115000"/>
          </a:xfrm>
          <a:prstGeom prst="rect">
            <a:avLst/>
          </a:prstGeom>
          <a:solidFill>
            <a:srgbClr val="A14DA8"/>
          </a:solidFill>
        </p:spPr>
        <p:txBody>
          <a:bodyPr wrap="none" lIns="73274" tIns="73274" rIns="73274" bIns="73274">
            <a:spAutoFit/>
          </a:bodyPr>
          <a:lstStyle/>
          <a:p>
            <a:r>
              <a:rPr sz="4700" b="1" i="0" u="none">
                <a:solidFill>
                  <a:srgbClr val="5DD32D"/>
                </a:solidFill>
                <a:latin typeface="Trebuchet MS"/>
              </a:rPr>
              <a:t>Control Atlas Forecast Target Moment Input Summary</a:t>
            </a:r>
          </a:p>
        </p:txBody>
      </p:sp>
      <p:sp>
        <p:nvSpPr>
          <p:cNvPr id="8" name="TextBox 7"/>
          <p:cNvSpPr txBox="1"/>
          <p:nvPr/>
        </p:nvSpPr>
        <p:spPr>
          <a:xfrm>
            <a:off x="3363005" y="3520210"/>
            <a:ext cx="1103067" cy="2509237"/>
          </a:xfrm>
          <a:prstGeom prst="rect">
            <a:avLst/>
          </a:prstGeom>
          <a:noFill/>
        </p:spPr>
        <p:txBody>
          <a:bodyPr wrap="none" lIns="87921" tIns="87921" rIns="87921" bIns="87921">
            <a:spAutoFit/>
          </a:bodyPr>
          <a:lstStyle/>
          <a:p>
            <a:r>
              <a:rPr sz="1100" b="1" i="0" u="none">
                <a:solidFill>
                  <a:srgbClr val="5B7C68"/>
                </a:solidFill>
                <a:latin typeface="Calibri"/>
              </a:rPr>
              <a:t>Path</a:t>
            </a:r>
          </a:p>
        </p:txBody>
      </p:sp>
      <p:sp>
        <p:nvSpPr>
          <p:cNvPr id="9" name="16-Point Star 8"/>
          <p:cNvSpPr/>
          <p:nvPr/>
        </p:nvSpPr>
        <p:spPr>
          <a:xfrm>
            <a:off x="8114479" y="1846664"/>
            <a:ext cx="488364" cy="1586137"/>
          </a:xfrm>
          <a:prstGeom prst="star16">
            <a:avLst/>
          </a:prstGeom>
          <a:solidFill>
            <a:srgbClr val="5F71BD"/>
          </a:solidFill>
          <a:ln w="18725">
            <a:solidFill>
              <a:srgbClr val="968D7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_example_image.jpg"/>
          <p:cNvPicPr>
            <a:picLocks noChangeAspect="1"/>
          </p:cNvPicPr>
          <p:nvPr/>
        </p:nvPicPr>
        <p:blipFill>
          <a:blip r:embed="rId2"/>
          <a:srcRect l="12800" t="13372" r="7873" b="15180"/>
          <a:stretch>
            <a:fillRect/>
          </a:stretch>
        </p:blipFill>
        <p:spPr>
          <a:xfrm>
            <a:off x="1915480" y="5111485"/>
            <a:ext cx="1465651" cy="1216612"/>
          </a:xfrm>
          <a:prstGeom prst="rect">
            <a:avLst/>
          </a:prstGeom>
        </p:spPr>
      </p:pic>
      <p:sp>
        <p:nvSpPr>
          <p:cNvPr id="11" name="TextBox 10"/>
          <p:cNvSpPr txBox="1"/>
          <p:nvPr/>
        </p:nvSpPr>
        <p:spPr>
          <a:xfrm>
            <a:off x="5687303" y="3989919"/>
            <a:ext cx="645171" cy="2138111"/>
          </a:xfrm>
          <a:prstGeom prst="rect">
            <a:avLst/>
          </a:prstGeom>
          <a:noFill/>
        </p:spPr>
        <p:txBody>
          <a:bodyPr wrap="none" lIns="28973" tIns="28973" rIns="28973" bIns="28973">
            <a:spAutoFit/>
          </a:bodyPr>
          <a:lstStyle/>
          <a:p>
            <a:r>
              <a:rPr sz="1400" b="0" i="0" u="none">
                <a:solidFill>
                  <a:srgbClr val="805288"/>
                </a:solidFill>
                <a:latin typeface="Aptos"/>
              </a:rPr>
              <a:t>Trace Kernel Grid Ledger Reference Input Flow Goal Report Build Cortex Diagram Register Trigger Request Baseline Mode Beta Array Audit</a:t>
            </a:r>
          </a:p>
        </p:txBody>
      </p:sp>
      <p:sp>
        <p:nvSpPr>
          <p:cNvPr id="12" name="Freeform 11"/>
          <p:cNvSpPr/>
          <p:nvPr/>
        </p:nvSpPr>
        <p:spPr>
          <a:xfrm>
            <a:off x="10290222" y="176711"/>
            <a:ext cx="820402" cy="751031"/>
          </a:xfrm>
          <a:custGeom>
            <a:avLst/>
            <a:gdLst/>
            <a:ahLst/>
            <a:cxnLst/>
            <a:rect l="l" t="t" r="r" b="b"/>
            <a:pathLst>
              <a:path w="820402" h="751031">
                <a:moveTo>
                  <a:pt x="410201" y="0"/>
                </a:moveTo>
                <a:lnTo>
                  <a:pt x="512751" y="187758"/>
                </a:lnTo>
                <a:lnTo>
                  <a:pt x="769127" y="135186"/>
                </a:lnTo>
                <a:lnTo>
                  <a:pt x="623848" y="375516"/>
                </a:lnTo>
                <a:lnTo>
                  <a:pt x="820402" y="585804"/>
                </a:lnTo>
                <a:lnTo>
                  <a:pt x="512751" y="540742"/>
                </a:lnTo>
                <a:lnTo>
                  <a:pt x="410201" y="751031"/>
                </a:lnTo>
                <a:lnTo>
                  <a:pt x="307651" y="540742"/>
                </a:lnTo>
                <a:lnTo>
                  <a:pt x="0" y="585804"/>
                </a:lnTo>
                <a:lnTo>
                  <a:pt x="196555" y="375516"/>
                </a:lnTo>
                <a:lnTo>
                  <a:pt x="51275" y="135186"/>
                </a:lnTo>
                <a:lnTo>
                  <a:pt x="307651" y="187758"/>
                </a:lnTo>
                <a:close/>
              </a:path>
            </a:pathLst>
          </a:custGeom>
          <a:solidFill>
            <a:srgbClr val="243A19"/>
          </a:solidFill>
          <a:ln w="33750">
            <a:solidFill>
              <a:srgbClr val="4168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Freeform 12"/>
          <p:cNvSpPr/>
          <p:nvPr/>
        </p:nvSpPr>
        <p:spPr>
          <a:xfrm>
            <a:off x="8779455" y="1730844"/>
            <a:ext cx="699581" cy="780862"/>
          </a:xfrm>
          <a:custGeom>
            <a:avLst/>
            <a:gdLst/>
            <a:ahLst/>
            <a:cxnLst/>
            <a:rect l="l" t="t" r="r" b="b"/>
            <a:pathLst>
              <a:path w="699581" h="780862">
                <a:moveTo>
                  <a:pt x="0" y="379585"/>
                </a:moveTo>
                <a:lnTo>
                  <a:pt x="120358" y="0"/>
                </a:lnTo>
                <a:lnTo>
                  <a:pt x="248238" y="325359"/>
                </a:lnTo>
                <a:lnTo>
                  <a:pt x="376119" y="650718"/>
                </a:lnTo>
                <a:lnTo>
                  <a:pt x="511522" y="271132"/>
                </a:lnTo>
                <a:lnTo>
                  <a:pt x="699581" y="412121"/>
                </a:lnTo>
                <a:lnTo>
                  <a:pt x="699581" y="780862"/>
                </a:lnTo>
                <a:lnTo>
                  <a:pt x="0" y="780862"/>
                </a:lnTo>
                <a:close/>
              </a:path>
            </a:pathLst>
          </a:custGeom>
          <a:solidFill>
            <a:srgbClr val="B82D63"/>
          </a:solidFill>
          <a:ln w="26531">
            <a:solidFill>
              <a:srgbClr val="279D3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Chart 13"/>
          <p:cNvGraphicFramePr>
            <a:graphicFrameLocks noGrp="1"/>
          </p:cNvGraphicFramePr>
          <p:nvPr/>
        </p:nvGraphicFramePr>
        <p:xfrm>
          <a:off x="7664310" y="2601272"/>
          <a:ext cx="3687865" cy="1757369"/>
        </p:xfrm>
        <a:graphic>
          <a:graphicData uri="http://schemas.openxmlformats.org/drawingml/2006/chart">
            <c:chart xmlns:c="http://schemas.openxmlformats.org/drawingml/2006/chart" xmlns:r="http://schemas.openxmlformats.org/officeDocument/2006/relationships" r:id="rId3"/>
          </a:graphicData>
        </a:graphic>
      </p:graphicFrame>
      <p:pic>
        <p:nvPicPr>
          <p:cNvPr id="15" name="Picture 14" descr="_example_image.jpg"/>
          <p:cNvPicPr>
            <a:picLocks noChangeAspect="1"/>
          </p:cNvPicPr>
          <p:nvPr/>
        </p:nvPicPr>
        <p:blipFill>
          <a:blip r:embed="rId2"/>
          <a:srcRect l="3962" t="11270" r="13768" b="19545"/>
          <a:stretch>
            <a:fillRect/>
          </a:stretch>
        </p:blipFill>
        <p:spPr>
          <a:xfrm>
            <a:off x="405306" y="665940"/>
            <a:ext cx="2636734" cy="935328"/>
          </a:xfrm>
          <a:prstGeom prst="rect">
            <a:avLst/>
          </a:prstGeom>
        </p:spPr>
      </p:pic>
      <p:sp>
        <p:nvSpPr>
          <p:cNvPr id="16" name="Left Arrow 15"/>
          <p:cNvSpPr/>
          <p:nvPr/>
        </p:nvSpPr>
        <p:spPr>
          <a:xfrm>
            <a:off x="3944619" y="1297498"/>
            <a:ext cx="1259312" cy="741880"/>
          </a:xfrm>
          <a:prstGeom prst="leftArrow">
            <a:avLst/>
          </a:prstGeom>
          <a:solidFill>
            <a:srgbClr val="B6A578"/>
          </a:solidFill>
          <a:ln w="13900">
            <a:solidFill>
              <a:srgbClr val="803A7F"/>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4109402" y="262513"/>
            <a:ext cx="1384040" cy="1012518"/>
          </a:xfrm>
          <a:prstGeom prst="curvedConnector3">
            <a:avLst/>
          </a:prstGeom>
          <a:ln w="30518">
            <a:solidFill>
              <a:srgbClr val="63A1AF"/>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581791" y="398888"/>
            <a:ext cx="930217" cy="2029562"/>
          </a:xfrm>
          <a:prstGeom prst="rect">
            <a:avLst/>
          </a:prstGeom>
          <a:noFill/>
        </p:spPr>
        <p:txBody>
          <a:bodyPr wrap="none" lIns="73922" tIns="73922" rIns="73922" bIns="73922">
            <a:spAutoFit/>
          </a:bodyPr>
          <a:lstStyle/>
          <a:p>
            <a:r>
              <a:rPr sz="900" b="0" i="0" u="none">
                <a:solidFill>
                  <a:srgbClr val="422C22"/>
                </a:solidFill>
                <a:latin typeface="Georgia"/>
              </a:rPr>
              <a:t>Query</a:t>
            </a:r>
          </a:p>
        </p:txBody>
      </p:sp>
      <p:sp>
        <p:nvSpPr>
          <p:cNvPr id="19" name="Gear 6 18"/>
          <p:cNvSpPr/>
          <p:nvPr/>
        </p:nvSpPr>
        <p:spPr>
          <a:xfrm>
            <a:off x="2739636" y="3409834"/>
            <a:ext cx="376164" cy="362009"/>
          </a:xfrm>
          <a:prstGeom prst="gear6">
            <a:avLst/>
          </a:prstGeom>
          <a:solidFill>
            <a:srgbClr val="37931F"/>
          </a:solidFill>
          <a:ln w="6847">
            <a:solidFill>
              <a:srgbClr val="B946A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Table 19"/>
          <p:cNvGraphicFramePr>
            <a:graphicFrameLocks noGrp="1"/>
          </p:cNvGraphicFramePr>
          <p:nvPr/>
        </p:nvGraphicFramePr>
        <p:xfrm>
          <a:off x="543519" y="2730699"/>
          <a:ext cx="2958838" cy="1043365"/>
        </p:xfrm>
        <a:graphic>
          <a:graphicData uri="http://schemas.openxmlformats.org/drawingml/2006/table">
            <a:tbl>
              <a:tblPr firstRow="1" bandRow="1">
                <a:tableStyleId>{5C22544A-7EE6-4342-B048-85BDC9FD1C3A}</a:tableStyleId>
              </a:tblPr>
              <a:tblGrid>
                <a:gridCol w="1479419">
                  <a:extLst>
                    <a:ext uri="{9D8B030D-6E8A-4147-A177-3AD203B41FA5}">
                      <a16:colId xmlns:a16="http://schemas.microsoft.com/office/drawing/2014/main" val="20000"/>
                    </a:ext>
                  </a:extLst>
                </a:gridCol>
                <a:gridCol w="1479419">
                  <a:extLst>
                    <a:ext uri="{9D8B030D-6E8A-4147-A177-3AD203B41FA5}">
                      <a16:colId xmlns:a16="http://schemas.microsoft.com/office/drawing/2014/main" val="20001"/>
                    </a:ext>
                  </a:extLst>
                </a:gridCol>
              </a:tblGrid>
              <a:tr h="260841">
                <a:tc>
                  <a:txBody>
                    <a:bodyPr/>
                    <a:lstStyle/>
                    <a:p>
                      <a:r>
                        <a:rPr sz="800" b="1">
                          <a:solidFill>
                            <a:srgbClr val="C42FD4"/>
                          </a:solidFill>
                        </a:rPr>
                        <a:t>Interval</a:t>
                      </a:r>
                    </a:p>
                  </a:txBody>
                  <a:tcPr>
                    <a:solidFill>
                      <a:srgbClr val="39DB98"/>
                    </a:solidFill>
                  </a:tcPr>
                </a:tc>
                <a:tc>
                  <a:txBody>
                    <a:bodyPr/>
                    <a:lstStyle/>
                    <a:p>
                      <a:r>
                        <a:rPr sz="800" b="1">
                          <a:solidFill>
                            <a:srgbClr val="C42FD4"/>
                          </a:solidFill>
                        </a:rPr>
                        <a:t>Level Indicator</a:t>
                      </a:r>
                    </a:p>
                  </a:txBody>
                  <a:tcPr>
                    <a:solidFill>
                      <a:srgbClr val="39DB98"/>
                    </a:solidFill>
                  </a:tcPr>
                </a:tc>
                <a:extLst>
                  <a:ext uri="{0D108BD9-81ED-4DB2-BD59-A6C34878D82A}">
                    <a16:rowId xmlns:a16="http://schemas.microsoft.com/office/drawing/2014/main" val="10000"/>
                  </a:ext>
                </a:extLst>
              </a:tr>
              <a:tr h="260841">
                <a:tc>
                  <a:txBody>
                    <a:bodyPr/>
                    <a:lstStyle/>
                    <a:p>
                      <a:r>
                        <a:rPr sz="800" b="0">
                          <a:solidFill>
                            <a:srgbClr val="C42FD4"/>
                          </a:solidFill>
                        </a:rPr>
                        <a:t>Drive Object</a:t>
                      </a:r>
                    </a:p>
                  </a:txBody>
                  <a:tcPr>
                    <a:solidFill>
                      <a:srgbClr val="BABECD"/>
                    </a:solidFill>
                  </a:tcPr>
                </a:tc>
                <a:tc>
                  <a:txBody>
                    <a:bodyPr/>
                    <a:lstStyle/>
                    <a:p>
                      <a:r>
                        <a:rPr sz="800" b="0">
                          <a:solidFill>
                            <a:srgbClr val="C42FD4"/>
                          </a:solidFill>
                        </a:rPr>
                        <a:t>Cell Limit</a:t>
                      </a:r>
                    </a:p>
                  </a:txBody>
                  <a:tcPr>
                    <a:solidFill>
                      <a:srgbClr val="BABECD"/>
                    </a:solidFill>
                  </a:tcPr>
                </a:tc>
                <a:extLst>
                  <a:ext uri="{0D108BD9-81ED-4DB2-BD59-A6C34878D82A}">
                    <a16:rowId xmlns:a16="http://schemas.microsoft.com/office/drawing/2014/main" val="10001"/>
                  </a:ext>
                </a:extLst>
              </a:tr>
              <a:tr h="260841">
                <a:tc>
                  <a:txBody>
                    <a:bodyPr/>
                    <a:lstStyle/>
                    <a:p>
                      <a:r>
                        <a:rPr sz="800" b="0">
                          <a:solidFill>
                            <a:srgbClr val="C42FD4"/>
                          </a:solidFill>
                        </a:rPr>
                        <a:t>Table Bundle</a:t>
                      </a:r>
                    </a:p>
                  </a:txBody>
                  <a:tcPr>
                    <a:solidFill>
                      <a:srgbClr val="E2E3EA"/>
                    </a:solidFill>
                  </a:tcPr>
                </a:tc>
                <a:tc>
                  <a:txBody>
                    <a:bodyPr/>
                    <a:lstStyle/>
                    <a:p>
                      <a:r>
                        <a:rPr sz="800" b="0">
                          <a:solidFill>
                            <a:srgbClr val="C42FD4"/>
                          </a:solidFill>
                        </a:rPr>
                        <a:t>Zone Texture</a:t>
                      </a:r>
                    </a:p>
                  </a:txBody>
                  <a:tcPr>
                    <a:solidFill>
                      <a:srgbClr val="E2E3EA"/>
                    </a:solidFill>
                  </a:tcPr>
                </a:tc>
                <a:extLst>
                  <a:ext uri="{0D108BD9-81ED-4DB2-BD59-A6C34878D82A}">
                    <a16:rowId xmlns:a16="http://schemas.microsoft.com/office/drawing/2014/main" val="10002"/>
                  </a:ext>
                </a:extLst>
              </a:tr>
              <a:tr h="260842">
                <a:tc>
                  <a:txBody>
                    <a:bodyPr/>
                    <a:lstStyle/>
                    <a:p>
                      <a:r>
                        <a:rPr sz="800" b="0">
                          <a:solidFill>
                            <a:srgbClr val="C42FD4"/>
                          </a:solidFill>
                        </a:rPr>
                        <a:t>Interval Request</a:t>
                      </a:r>
                    </a:p>
                  </a:txBody>
                  <a:tcPr>
                    <a:solidFill>
                      <a:srgbClr val="BABECD"/>
                    </a:solidFill>
                  </a:tcPr>
                </a:tc>
                <a:tc>
                  <a:txBody>
                    <a:bodyPr/>
                    <a:lstStyle/>
                    <a:p>
                      <a:r>
                        <a:rPr sz="800" b="0">
                          <a:solidFill>
                            <a:srgbClr val="C42FD4"/>
                          </a:solidFill>
                        </a:rPr>
                        <a:t>Context</a:t>
                      </a:r>
                    </a:p>
                  </a:txBody>
                  <a:tcPr>
                    <a:solidFill>
                      <a:srgbClr val="BABECD"/>
                    </a:solidFill>
                  </a:tcPr>
                </a:tc>
                <a:extLst>
                  <a:ext uri="{0D108BD9-81ED-4DB2-BD59-A6C34878D82A}">
                    <a16:rowId xmlns:a16="http://schemas.microsoft.com/office/drawing/2014/main" val="10003"/>
                  </a:ext>
                </a:extLst>
              </a:tr>
            </a:tbl>
          </a:graphicData>
        </a:graphic>
      </p:graphicFrame>
      <p:cxnSp>
        <p:nvCxnSpPr>
          <p:cNvPr id="21" name="Connector 20"/>
          <p:cNvCxnSpPr/>
          <p:nvPr/>
        </p:nvCxnSpPr>
        <p:spPr>
          <a:xfrm>
            <a:off x="8904443" y="5691525"/>
            <a:ext cx="1142399" cy="701029"/>
          </a:xfrm>
          <a:prstGeom prst="line">
            <a:avLst/>
          </a:prstGeom>
          <a:ln w="44530">
            <a:solidFill>
              <a:srgbClr val="A46EE0"/>
            </a:solidFill>
            <a:prstDash val="dashDot"/>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2"/>
          <a:srcRect l="21691" t="15639" r="8504" b="18940"/>
          <a:stretch>
            <a:fillRect/>
          </a:stretch>
        </p:blipFill>
        <p:spPr>
          <a:xfrm>
            <a:off x="7690506" y="355165"/>
            <a:ext cx="2026245" cy="1017941"/>
          </a:xfrm>
          <a:prstGeom prst="rect">
            <a:avLst/>
          </a:prstGeom>
        </p:spPr>
      </p:pic>
      <p:graphicFrame>
        <p:nvGraphicFramePr>
          <p:cNvPr id="23" name="Chart 22"/>
          <p:cNvGraphicFramePr>
            <a:graphicFrameLocks noGrp="1"/>
          </p:cNvGraphicFramePr>
          <p:nvPr/>
        </p:nvGraphicFramePr>
        <p:xfrm>
          <a:off x="3583698" y="5029645"/>
          <a:ext cx="2114549" cy="1506651"/>
        </p:xfrm>
        <a:graphic>
          <a:graphicData uri="http://schemas.openxmlformats.org/drawingml/2006/chart">
            <c:chart xmlns:c="http://schemas.openxmlformats.org/drawingml/2006/chart" xmlns:r="http://schemas.openxmlformats.org/officeDocument/2006/relationships" r:id="rId4"/>
          </a:graphicData>
        </a:graphic>
      </p:graphicFrame>
      <p:sp>
        <p:nvSpPr>
          <p:cNvPr id="24" name="16-Point Star 23"/>
          <p:cNvSpPr/>
          <p:nvPr/>
        </p:nvSpPr>
        <p:spPr>
          <a:xfrm>
            <a:off x="9404177" y="1311137"/>
            <a:ext cx="1020221" cy="1479506"/>
          </a:xfrm>
          <a:prstGeom prst="star16">
            <a:avLst/>
          </a:prstGeom>
          <a:noFill/>
          <a:ln w="17562">
            <a:solidFill>
              <a:srgbClr val="6EB4C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nut 24"/>
          <p:cNvSpPr/>
          <p:nvPr/>
        </p:nvSpPr>
        <p:spPr>
          <a:xfrm>
            <a:off x="5111405" y="5404610"/>
            <a:ext cx="334487" cy="601917"/>
          </a:xfrm>
          <a:prstGeom prst="donut">
            <a:avLst/>
          </a:prstGeom>
          <a:solidFill>
            <a:srgbClr val="AA5E52"/>
          </a:solidFill>
          <a:ln w="17137">
            <a:solidFill>
              <a:srgbClr val="286E7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8528063" y="2627367"/>
            <a:ext cx="1194921" cy="502218"/>
          </a:xfrm>
          <a:prstGeom prst="bentConnector3">
            <a:avLst/>
          </a:prstGeom>
          <a:ln w="47259">
            <a:solidFill>
              <a:srgbClr val="508D96"/>
            </a:solidFill>
            <a:prstDash val="dot"/>
          </a:ln>
        </p:spPr>
        <p:style>
          <a:lnRef idx="2">
            <a:schemeClr val="accent1"/>
          </a:lnRef>
          <a:fillRef idx="0">
            <a:schemeClr val="accent1"/>
          </a:fillRef>
          <a:effectRef idx="1">
            <a:schemeClr val="accent1"/>
          </a:effectRef>
          <a:fontRef idx="minor">
            <a:schemeClr val="tx1"/>
          </a:fontRef>
        </p:style>
      </p:cxnSp>
      <p:pic>
        <p:nvPicPr>
          <p:cNvPr id="28" name="Graphic 27">
            <a:extLst>
              <a:ext uri="{FF2B5EF4-FFF2-40B4-BE49-F238E27FC236}">
                <a16:creationId xmlns:a16="http://schemas.microsoft.com/office/drawing/2014/main" id="{B8769095-BB1A-1D39-8EB2-55DD485CA98A}"/>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705349" y="1079563"/>
            <a:ext cx="1287073" cy="1193306"/>
          </a:xfrm>
          <a:prstGeom prst="rect">
            <a:avLst/>
          </a:prstGeom>
        </p:spPr>
      </p:pic>
      <p:pic>
        <p:nvPicPr>
          <p:cNvPr id="30" name="Graphic 29">
            <a:extLst>
              <a:ext uri="{FF2B5EF4-FFF2-40B4-BE49-F238E27FC236}">
                <a16:creationId xmlns:a16="http://schemas.microsoft.com/office/drawing/2014/main" id="{54A4BBD4-29CE-A917-05D5-FD5674B1AE5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409846" y="206793"/>
            <a:ext cx="1079061" cy="1212952"/>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0794" y="2518167"/>
            <a:ext cx="899888" cy="748357"/>
          </a:xfrm>
          <a:prstGeom prst="rect">
            <a:avLst/>
          </a:prstGeom>
          <a:noFill/>
        </p:spPr>
        <p:txBody>
          <a:bodyPr wrap="none" lIns="80487" tIns="80487" rIns="80487" bIns="80487">
            <a:spAutoFit/>
          </a:bodyPr>
          <a:lstStyle/>
          <a:p>
            <a:r>
              <a:rPr sz="2700" b="0" i="0" u="none">
                <a:solidFill>
                  <a:srgbClr val="9884DA"/>
                </a:solidFill>
                <a:latin typeface="Georgia"/>
              </a:rPr>
              <a:t>Echo Strategy Moment Table Horizon Circuit Journey Queueing</a:t>
            </a:r>
          </a:p>
        </p:txBody>
      </p:sp>
      <p:sp>
        <p:nvSpPr>
          <p:cNvPr id="3" name="Bent Arrow 2"/>
          <p:cNvSpPr/>
          <p:nvPr/>
        </p:nvSpPr>
        <p:spPr>
          <a:xfrm>
            <a:off x="7011154" y="625266"/>
            <a:ext cx="845115" cy="341391"/>
          </a:xfrm>
          <a:prstGeom prst="bentArrow">
            <a:avLst/>
          </a:prstGeom>
          <a:solidFill>
            <a:srgbClr val="8059C0"/>
          </a:solidFill>
          <a:ln w="30346">
            <a:solidFill>
              <a:srgbClr val="C5683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8647774" y="3538065"/>
          <a:ext cx="2921920" cy="1450386"/>
        </p:xfrm>
        <a:graphic>
          <a:graphicData uri="http://schemas.openxmlformats.org/drawingml/2006/table">
            <a:tbl>
              <a:tblPr firstRow="1" bandRow="1">
                <a:tableStyleId>{5C22544A-7EE6-4342-B048-85BDC9FD1C3A}</a:tableStyleId>
              </a:tblPr>
              <a:tblGrid>
                <a:gridCol w="486986">
                  <a:extLst>
                    <a:ext uri="{9D8B030D-6E8A-4147-A177-3AD203B41FA5}">
                      <a16:colId xmlns:a16="http://schemas.microsoft.com/office/drawing/2014/main" val="20000"/>
                    </a:ext>
                  </a:extLst>
                </a:gridCol>
                <a:gridCol w="486986">
                  <a:extLst>
                    <a:ext uri="{9D8B030D-6E8A-4147-A177-3AD203B41FA5}">
                      <a16:colId xmlns:a16="http://schemas.microsoft.com/office/drawing/2014/main" val="20001"/>
                    </a:ext>
                  </a:extLst>
                </a:gridCol>
                <a:gridCol w="486986">
                  <a:extLst>
                    <a:ext uri="{9D8B030D-6E8A-4147-A177-3AD203B41FA5}">
                      <a16:colId xmlns:a16="http://schemas.microsoft.com/office/drawing/2014/main" val="20002"/>
                    </a:ext>
                  </a:extLst>
                </a:gridCol>
                <a:gridCol w="486986">
                  <a:extLst>
                    <a:ext uri="{9D8B030D-6E8A-4147-A177-3AD203B41FA5}">
                      <a16:colId xmlns:a16="http://schemas.microsoft.com/office/drawing/2014/main" val="20003"/>
                    </a:ext>
                  </a:extLst>
                </a:gridCol>
                <a:gridCol w="486986">
                  <a:extLst>
                    <a:ext uri="{9D8B030D-6E8A-4147-A177-3AD203B41FA5}">
                      <a16:colId xmlns:a16="http://schemas.microsoft.com/office/drawing/2014/main" val="20004"/>
                    </a:ext>
                  </a:extLst>
                </a:gridCol>
                <a:gridCol w="486990">
                  <a:extLst>
                    <a:ext uri="{9D8B030D-6E8A-4147-A177-3AD203B41FA5}">
                      <a16:colId xmlns:a16="http://schemas.microsoft.com/office/drawing/2014/main" val="20005"/>
                    </a:ext>
                  </a:extLst>
                </a:gridCol>
              </a:tblGrid>
              <a:tr h="483462">
                <a:tc>
                  <a:txBody>
                    <a:bodyPr/>
                    <a:lstStyle/>
                    <a:p>
                      <a:r>
                        <a:rPr sz="1200" b="0">
                          <a:solidFill>
                            <a:srgbClr val="925E5F"/>
                          </a:solidFill>
                        </a:rPr>
                        <a:t>Stack Gradient</a:t>
                      </a:r>
                    </a:p>
                  </a:txBody>
                  <a:tcPr>
                    <a:solidFill>
                      <a:srgbClr val="F4E7E1"/>
                    </a:solidFill>
                  </a:tcPr>
                </a:tc>
                <a:tc>
                  <a:txBody>
                    <a:bodyPr/>
                    <a:lstStyle/>
                    <a:p>
                      <a:r>
                        <a:rPr sz="1200" b="0">
                          <a:solidFill>
                            <a:srgbClr val="925E5F"/>
                          </a:solidFill>
                        </a:rPr>
                        <a:t>Position</a:t>
                      </a:r>
                    </a:p>
                  </a:txBody>
                  <a:tcPr>
                    <a:solidFill>
                      <a:srgbClr val="F4E7E1"/>
                    </a:solidFill>
                  </a:tcPr>
                </a:tc>
                <a:tc>
                  <a:txBody>
                    <a:bodyPr/>
                    <a:lstStyle/>
                    <a:p>
                      <a:r>
                        <a:rPr sz="1200" b="0">
                          <a:solidFill>
                            <a:srgbClr val="925E5F"/>
                          </a:solidFill>
                        </a:rPr>
                        <a:t>Portal Array</a:t>
                      </a:r>
                    </a:p>
                  </a:txBody>
                  <a:tcPr>
                    <a:solidFill>
                      <a:srgbClr val="F4E7E1"/>
                    </a:solidFill>
                  </a:tcPr>
                </a:tc>
                <a:tc>
                  <a:txBody>
                    <a:bodyPr/>
                    <a:lstStyle/>
                    <a:p>
                      <a:r>
                        <a:rPr sz="1200" b="0">
                          <a:solidFill>
                            <a:srgbClr val="925E5F"/>
                          </a:solidFill>
                        </a:rPr>
                        <a:t>Mode Target</a:t>
                      </a:r>
                    </a:p>
                  </a:txBody>
                  <a:tcPr>
                    <a:solidFill>
                      <a:srgbClr val="F4E7E1"/>
                    </a:solidFill>
                  </a:tcPr>
                </a:tc>
                <a:tc>
                  <a:txBody>
                    <a:bodyPr/>
                    <a:lstStyle/>
                    <a:p>
                      <a:r>
                        <a:rPr sz="1200" b="0">
                          <a:solidFill>
                            <a:srgbClr val="925E5F"/>
                          </a:solidFill>
                        </a:rPr>
                        <a:t>Status Intent</a:t>
                      </a:r>
                    </a:p>
                  </a:txBody>
                  <a:tcPr>
                    <a:solidFill>
                      <a:srgbClr val="F4E7E1"/>
                    </a:solidFill>
                  </a:tcPr>
                </a:tc>
                <a:tc>
                  <a:txBody>
                    <a:bodyPr/>
                    <a:lstStyle/>
                    <a:p>
                      <a:r>
                        <a:rPr sz="1200" b="0">
                          <a:solidFill>
                            <a:srgbClr val="925E5F"/>
                          </a:solidFill>
                        </a:rPr>
                        <a:t>Case Energy</a:t>
                      </a:r>
                    </a:p>
                  </a:txBody>
                  <a:tcPr>
                    <a:solidFill>
                      <a:srgbClr val="F4E7E1"/>
                    </a:solidFill>
                  </a:tcPr>
                </a:tc>
                <a:extLst>
                  <a:ext uri="{0D108BD9-81ED-4DB2-BD59-A6C34878D82A}">
                    <a16:rowId xmlns:a16="http://schemas.microsoft.com/office/drawing/2014/main" val="10000"/>
                  </a:ext>
                </a:extLst>
              </a:tr>
              <a:tr h="483462">
                <a:tc>
                  <a:txBody>
                    <a:bodyPr/>
                    <a:lstStyle/>
                    <a:p>
                      <a:r>
                        <a:rPr sz="1200" b="0">
                          <a:solidFill>
                            <a:srgbClr val="925E5F"/>
                          </a:solidFill>
                        </a:rPr>
                        <a:t>Iteration</a:t>
                      </a:r>
                    </a:p>
                  </a:txBody>
                  <a:tcPr>
                    <a:solidFill>
                      <a:srgbClr val="E4BFB0"/>
                    </a:solidFill>
                  </a:tcPr>
                </a:tc>
                <a:tc>
                  <a:txBody>
                    <a:bodyPr/>
                    <a:lstStyle/>
                    <a:p>
                      <a:r>
                        <a:rPr sz="1200" b="0">
                          <a:solidFill>
                            <a:srgbClr val="925E5F"/>
                          </a:solidFill>
                        </a:rPr>
                        <a:t>Depth</a:t>
                      </a:r>
                    </a:p>
                  </a:txBody>
                  <a:tcPr>
                    <a:solidFill>
                      <a:srgbClr val="E4BFB0"/>
                    </a:solidFill>
                  </a:tcPr>
                </a:tc>
                <a:tc>
                  <a:txBody>
                    <a:bodyPr/>
                    <a:lstStyle/>
                    <a:p>
                      <a:r>
                        <a:rPr sz="1200" b="0">
                          <a:solidFill>
                            <a:srgbClr val="925E5F"/>
                          </a:solidFill>
                        </a:rPr>
                        <a:t>Timeline Sync</a:t>
                      </a:r>
                    </a:p>
                  </a:txBody>
                  <a:tcPr>
                    <a:solidFill>
                      <a:srgbClr val="E4BFB0"/>
                    </a:solidFill>
                  </a:tcPr>
                </a:tc>
                <a:tc>
                  <a:txBody>
                    <a:bodyPr/>
                    <a:lstStyle/>
                    <a:p>
                      <a:r>
                        <a:rPr sz="1200" b="0">
                          <a:solidFill>
                            <a:srgbClr val="925E5F"/>
                          </a:solidFill>
                        </a:rPr>
                        <a:t>Alpha</a:t>
                      </a:r>
                    </a:p>
                  </a:txBody>
                  <a:tcPr>
                    <a:solidFill>
                      <a:srgbClr val="E4BFB0"/>
                    </a:solidFill>
                  </a:tcPr>
                </a:tc>
                <a:tc>
                  <a:txBody>
                    <a:bodyPr/>
                    <a:lstStyle/>
                    <a:p>
                      <a:r>
                        <a:rPr sz="1200" b="0">
                          <a:solidFill>
                            <a:srgbClr val="925E5F"/>
                          </a:solidFill>
                        </a:rPr>
                        <a:t>Network</a:t>
                      </a:r>
                    </a:p>
                  </a:txBody>
                  <a:tcPr>
                    <a:solidFill>
                      <a:srgbClr val="E4BFB0"/>
                    </a:solidFill>
                  </a:tcPr>
                </a:tc>
                <a:tc>
                  <a:txBody>
                    <a:bodyPr/>
                    <a:lstStyle/>
                    <a:p>
                      <a:r>
                        <a:rPr sz="1200" b="0">
                          <a:solidFill>
                            <a:srgbClr val="925E5F"/>
                          </a:solidFill>
                        </a:rPr>
                        <a:t>Buffer Workflow</a:t>
                      </a:r>
                    </a:p>
                  </a:txBody>
                  <a:tcPr>
                    <a:solidFill>
                      <a:srgbClr val="E4BFB0"/>
                    </a:solidFill>
                  </a:tcPr>
                </a:tc>
                <a:extLst>
                  <a:ext uri="{0D108BD9-81ED-4DB2-BD59-A6C34878D82A}">
                    <a16:rowId xmlns:a16="http://schemas.microsoft.com/office/drawing/2014/main" val="10001"/>
                  </a:ext>
                </a:extLst>
              </a:tr>
              <a:tr h="483462">
                <a:tc>
                  <a:txBody>
                    <a:bodyPr/>
                    <a:lstStyle/>
                    <a:p>
                      <a:r>
                        <a:rPr sz="1200" b="0">
                          <a:solidFill>
                            <a:srgbClr val="925E5F"/>
                          </a:solidFill>
                        </a:rPr>
                        <a:t>Trigger</a:t>
                      </a:r>
                    </a:p>
                  </a:txBody>
                  <a:tcPr>
                    <a:solidFill>
                      <a:srgbClr val="F4E7E1"/>
                    </a:solidFill>
                  </a:tcPr>
                </a:tc>
                <a:tc>
                  <a:txBody>
                    <a:bodyPr/>
                    <a:lstStyle/>
                    <a:p>
                      <a:r>
                        <a:rPr sz="1200" b="0">
                          <a:solidFill>
                            <a:srgbClr val="925E5F"/>
                          </a:solidFill>
                        </a:rPr>
                        <a:t>Beacon</a:t>
                      </a:r>
                    </a:p>
                  </a:txBody>
                  <a:tcPr>
                    <a:solidFill>
                      <a:srgbClr val="F4E7E1"/>
                    </a:solidFill>
                  </a:tcPr>
                </a:tc>
                <a:tc>
                  <a:txBody>
                    <a:bodyPr/>
                    <a:lstStyle/>
                    <a:p>
                      <a:r>
                        <a:rPr sz="1200" b="0">
                          <a:solidFill>
                            <a:srgbClr val="925E5F"/>
                          </a:solidFill>
                        </a:rPr>
                        <a:t>Transform</a:t>
                      </a:r>
                    </a:p>
                  </a:txBody>
                  <a:tcPr>
                    <a:solidFill>
                      <a:srgbClr val="F4E7E1"/>
                    </a:solidFill>
                  </a:tcPr>
                </a:tc>
                <a:tc>
                  <a:txBody>
                    <a:bodyPr/>
                    <a:lstStyle/>
                    <a:p>
                      <a:r>
                        <a:rPr sz="1200" b="0">
                          <a:solidFill>
                            <a:srgbClr val="925E5F"/>
                          </a:solidFill>
                        </a:rPr>
                        <a:t>Table</a:t>
                      </a:r>
                    </a:p>
                  </a:txBody>
                  <a:tcPr>
                    <a:solidFill>
                      <a:srgbClr val="F4E7E1"/>
                    </a:solidFill>
                  </a:tcPr>
                </a:tc>
                <a:tc>
                  <a:txBody>
                    <a:bodyPr/>
                    <a:lstStyle/>
                    <a:p>
                      <a:r>
                        <a:rPr sz="1200" b="0">
                          <a:solidFill>
                            <a:srgbClr val="925E5F"/>
                          </a:solidFill>
                        </a:rPr>
                        <a:t>Module</a:t>
                      </a:r>
                    </a:p>
                  </a:txBody>
                  <a:tcPr>
                    <a:solidFill>
                      <a:srgbClr val="F4E7E1"/>
                    </a:solidFill>
                  </a:tcPr>
                </a:tc>
                <a:tc>
                  <a:txBody>
                    <a:bodyPr/>
                    <a:lstStyle/>
                    <a:p>
                      <a:r>
                        <a:rPr sz="1200" b="0">
                          <a:solidFill>
                            <a:srgbClr val="925E5F"/>
                          </a:solidFill>
                        </a:rPr>
                        <a:t>Dispatch</a:t>
                      </a:r>
                    </a:p>
                  </a:txBody>
                  <a:tcPr>
                    <a:solidFill>
                      <a:srgbClr val="F4E7E1"/>
                    </a:solidFill>
                  </a:tcPr>
                </a:tc>
                <a:extLst>
                  <a:ext uri="{0D108BD9-81ED-4DB2-BD59-A6C34878D82A}">
                    <a16:rowId xmlns:a16="http://schemas.microsoft.com/office/drawing/2014/main" val="10002"/>
                  </a:ext>
                </a:extLst>
              </a:tr>
            </a:tbl>
          </a:graphicData>
        </a:graphic>
      </p:graphicFrame>
      <p:sp>
        <p:nvSpPr>
          <p:cNvPr id="5" name="TextBox 4"/>
          <p:cNvSpPr txBox="1"/>
          <p:nvPr/>
        </p:nvSpPr>
        <p:spPr>
          <a:xfrm>
            <a:off x="4249402" y="3031095"/>
            <a:ext cx="966911" cy="2018068"/>
          </a:xfrm>
          <a:prstGeom prst="rect">
            <a:avLst/>
          </a:prstGeom>
          <a:noFill/>
        </p:spPr>
        <p:txBody>
          <a:bodyPr wrap="none" lIns="69416" tIns="69416" rIns="69416" bIns="69416">
            <a:spAutoFit/>
          </a:bodyPr>
          <a:lstStyle/>
          <a:p>
            <a:r>
              <a:rPr sz="4000" b="1" i="0" u="none">
                <a:solidFill>
                  <a:srgbClr val="6B44AF"/>
                </a:solidFill>
                <a:latin typeface="Georgia"/>
              </a:rPr>
              <a:t>Needle Draft Moment Record Variant Asset Package</a:t>
            </a:r>
          </a:p>
        </p:txBody>
      </p:sp>
      <p:sp>
        <p:nvSpPr>
          <p:cNvPr id="6" name="TextBox 5"/>
          <p:cNvSpPr txBox="1"/>
          <p:nvPr/>
        </p:nvSpPr>
        <p:spPr>
          <a:xfrm>
            <a:off x="8053088" y="1673306"/>
            <a:ext cx="974106" cy="2473008"/>
          </a:xfrm>
          <a:prstGeom prst="rect">
            <a:avLst/>
          </a:prstGeom>
          <a:noFill/>
        </p:spPr>
        <p:txBody>
          <a:bodyPr wrap="none" lIns="52226" tIns="52226" rIns="52226" bIns="52226">
            <a:spAutoFit/>
          </a:bodyPr>
          <a:lstStyle/>
          <a:p>
            <a:r>
              <a:rPr sz="3300" b="1" i="0" u="none">
                <a:solidFill>
                  <a:srgbClr val="5A9C9C"/>
                </a:solidFill>
                <a:latin typeface="Verdana"/>
              </a:rPr>
              <a:t>Template Scale Template</a:t>
            </a:r>
          </a:p>
        </p:txBody>
      </p:sp>
      <p:graphicFrame>
        <p:nvGraphicFramePr>
          <p:cNvPr id="7" name="Table 6"/>
          <p:cNvGraphicFramePr>
            <a:graphicFrameLocks noGrp="1"/>
          </p:cNvGraphicFramePr>
          <p:nvPr/>
        </p:nvGraphicFramePr>
        <p:xfrm>
          <a:off x="2263651" y="2822997"/>
          <a:ext cx="2052974" cy="1142588"/>
        </p:xfrm>
        <a:graphic>
          <a:graphicData uri="http://schemas.openxmlformats.org/drawingml/2006/table">
            <a:tbl>
              <a:tblPr firstRow="1" bandRow="1">
                <a:tableStyleId>{5C22544A-7EE6-4342-B048-85BDC9FD1C3A}</a:tableStyleId>
              </a:tblPr>
              <a:tblGrid>
                <a:gridCol w="342162">
                  <a:extLst>
                    <a:ext uri="{9D8B030D-6E8A-4147-A177-3AD203B41FA5}">
                      <a16:colId xmlns:a16="http://schemas.microsoft.com/office/drawing/2014/main" val="20000"/>
                    </a:ext>
                  </a:extLst>
                </a:gridCol>
                <a:gridCol w="342162">
                  <a:extLst>
                    <a:ext uri="{9D8B030D-6E8A-4147-A177-3AD203B41FA5}">
                      <a16:colId xmlns:a16="http://schemas.microsoft.com/office/drawing/2014/main" val="20001"/>
                    </a:ext>
                  </a:extLst>
                </a:gridCol>
                <a:gridCol w="342162">
                  <a:extLst>
                    <a:ext uri="{9D8B030D-6E8A-4147-A177-3AD203B41FA5}">
                      <a16:colId xmlns:a16="http://schemas.microsoft.com/office/drawing/2014/main" val="20002"/>
                    </a:ext>
                  </a:extLst>
                </a:gridCol>
                <a:gridCol w="342162">
                  <a:extLst>
                    <a:ext uri="{9D8B030D-6E8A-4147-A177-3AD203B41FA5}">
                      <a16:colId xmlns:a16="http://schemas.microsoft.com/office/drawing/2014/main" val="20003"/>
                    </a:ext>
                  </a:extLst>
                </a:gridCol>
                <a:gridCol w="342162">
                  <a:extLst>
                    <a:ext uri="{9D8B030D-6E8A-4147-A177-3AD203B41FA5}">
                      <a16:colId xmlns:a16="http://schemas.microsoft.com/office/drawing/2014/main" val="20004"/>
                    </a:ext>
                  </a:extLst>
                </a:gridCol>
                <a:gridCol w="342164">
                  <a:extLst>
                    <a:ext uri="{9D8B030D-6E8A-4147-A177-3AD203B41FA5}">
                      <a16:colId xmlns:a16="http://schemas.microsoft.com/office/drawing/2014/main" val="20005"/>
                    </a:ext>
                  </a:extLst>
                </a:gridCol>
              </a:tblGrid>
              <a:tr h="380862">
                <a:tc>
                  <a:txBody>
                    <a:bodyPr/>
                    <a:lstStyle/>
                    <a:p>
                      <a:r>
                        <a:rPr sz="1000" b="1">
                          <a:solidFill>
                            <a:srgbClr val="C93486"/>
                          </a:solidFill>
                        </a:rPr>
                        <a:t>Motion Structure</a:t>
                      </a:r>
                    </a:p>
                  </a:txBody>
                  <a:tcPr>
                    <a:solidFill>
                      <a:srgbClr val="28314C"/>
                    </a:solidFill>
                  </a:tcPr>
                </a:tc>
                <a:tc>
                  <a:txBody>
                    <a:bodyPr/>
                    <a:lstStyle/>
                    <a:p>
                      <a:r>
                        <a:rPr sz="1000" b="1">
                          <a:solidFill>
                            <a:srgbClr val="C93486"/>
                          </a:solidFill>
                        </a:rPr>
                        <a:t>Catalog</a:t>
                      </a:r>
                    </a:p>
                  </a:txBody>
                  <a:tcPr>
                    <a:solidFill>
                      <a:srgbClr val="28314C"/>
                    </a:solidFill>
                  </a:tcPr>
                </a:tc>
                <a:tc>
                  <a:txBody>
                    <a:bodyPr/>
                    <a:lstStyle/>
                    <a:p>
                      <a:r>
                        <a:rPr sz="1000" b="1">
                          <a:solidFill>
                            <a:srgbClr val="C93486"/>
                          </a:solidFill>
                        </a:rPr>
                        <a:t>Kernel</a:t>
                      </a:r>
                    </a:p>
                  </a:txBody>
                  <a:tcPr>
                    <a:solidFill>
                      <a:srgbClr val="28314C"/>
                    </a:solidFill>
                  </a:tcPr>
                </a:tc>
                <a:tc>
                  <a:txBody>
                    <a:bodyPr/>
                    <a:lstStyle/>
                    <a:p>
                      <a:r>
                        <a:rPr sz="1000" b="1">
                          <a:solidFill>
                            <a:srgbClr val="C93486"/>
                          </a:solidFill>
                        </a:rPr>
                        <a:t>Iteration Register</a:t>
                      </a:r>
                    </a:p>
                  </a:txBody>
                  <a:tcPr>
                    <a:solidFill>
                      <a:srgbClr val="28314C"/>
                    </a:solidFill>
                  </a:tcPr>
                </a:tc>
                <a:tc>
                  <a:txBody>
                    <a:bodyPr/>
                    <a:lstStyle/>
                    <a:p>
                      <a:r>
                        <a:rPr sz="1000" b="1">
                          <a:solidFill>
                            <a:srgbClr val="C93486"/>
                          </a:solidFill>
                        </a:rPr>
                        <a:t>Trend</a:t>
                      </a:r>
                    </a:p>
                  </a:txBody>
                  <a:tcPr>
                    <a:solidFill>
                      <a:srgbClr val="28314C"/>
                    </a:solidFill>
                  </a:tcPr>
                </a:tc>
                <a:tc>
                  <a:txBody>
                    <a:bodyPr/>
                    <a:lstStyle/>
                    <a:p>
                      <a:r>
                        <a:rPr sz="1000" b="1">
                          <a:solidFill>
                            <a:srgbClr val="C93486"/>
                          </a:solidFill>
                        </a:rPr>
                        <a:t>Dimension</a:t>
                      </a:r>
                    </a:p>
                  </a:txBody>
                  <a:tcPr>
                    <a:solidFill>
                      <a:srgbClr val="28314C"/>
                    </a:solidFill>
                  </a:tcPr>
                </a:tc>
                <a:extLst>
                  <a:ext uri="{0D108BD9-81ED-4DB2-BD59-A6C34878D82A}">
                    <a16:rowId xmlns:a16="http://schemas.microsoft.com/office/drawing/2014/main" val="10000"/>
                  </a:ext>
                </a:extLst>
              </a:tr>
              <a:tr h="380862">
                <a:tc>
                  <a:txBody>
                    <a:bodyPr/>
                    <a:lstStyle/>
                    <a:p>
                      <a:r>
                        <a:rPr sz="1000" b="0">
                          <a:solidFill>
                            <a:srgbClr val="C93486"/>
                          </a:solidFill>
                        </a:rPr>
                        <a:t>Interface Threshold</a:t>
                      </a:r>
                    </a:p>
                  </a:txBody>
                  <a:tcPr>
                    <a:solidFill>
                      <a:srgbClr val="F7FAF2"/>
                    </a:solidFill>
                  </a:tcPr>
                </a:tc>
                <a:tc>
                  <a:txBody>
                    <a:bodyPr/>
                    <a:lstStyle/>
                    <a:p>
                      <a:r>
                        <a:rPr sz="1000" b="0">
                          <a:solidFill>
                            <a:srgbClr val="C93486"/>
                          </a:solidFill>
                        </a:rPr>
                        <a:t>Stage</a:t>
                      </a:r>
                    </a:p>
                  </a:txBody>
                  <a:tcPr>
                    <a:solidFill>
                      <a:srgbClr val="F7FAF2"/>
                    </a:solidFill>
                  </a:tcPr>
                </a:tc>
                <a:tc>
                  <a:txBody>
                    <a:bodyPr/>
                    <a:lstStyle/>
                    <a:p>
                      <a:r>
                        <a:rPr sz="1000" b="0">
                          <a:solidFill>
                            <a:srgbClr val="C93486"/>
                          </a:solidFill>
                        </a:rPr>
                        <a:t>Context Library</a:t>
                      </a:r>
                    </a:p>
                  </a:txBody>
                  <a:tcPr>
                    <a:solidFill>
                      <a:srgbClr val="F7FAF2"/>
                    </a:solidFill>
                  </a:tcPr>
                </a:tc>
                <a:tc>
                  <a:txBody>
                    <a:bodyPr/>
                    <a:lstStyle/>
                    <a:p>
                      <a:r>
                        <a:rPr sz="1000" b="0">
                          <a:solidFill>
                            <a:srgbClr val="C93486"/>
                          </a:solidFill>
                        </a:rPr>
                        <a:t>Instance Center</a:t>
                      </a:r>
                    </a:p>
                  </a:txBody>
                  <a:tcPr>
                    <a:solidFill>
                      <a:srgbClr val="F7FAF2"/>
                    </a:solidFill>
                  </a:tcPr>
                </a:tc>
                <a:tc>
                  <a:txBody>
                    <a:bodyPr/>
                    <a:lstStyle/>
                    <a:p>
                      <a:r>
                        <a:rPr sz="1000" b="0">
                          <a:solidFill>
                            <a:srgbClr val="C93486"/>
                          </a:solidFill>
                        </a:rPr>
                        <a:t>Phase</a:t>
                      </a:r>
                    </a:p>
                  </a:txBody>
                  <a:tcPr>
                    <a:solidFill>
                      <a:srgbClr val="F7FAF2"/>
                    </a:solidFill>
                  </a:tcPr>
                </a:tc>
                <a:tc>
                  <a:txBody>
                    <a:bodyPr/>
                    <a:lstStyle/>
                    <a:p>
                      <a:r>
                        <a:rPr sz="1000" b="0">
                          <a:solidFill>
                            <a:srgbClr val="C93486"/>
                          </a:solidFill>
                        </a:rPr>
                        <a:t>Scale</a:t>
                      </a:r>
                    </a:p>
                  </a:txBody>
                  <a:tcPr>
                    <a:solidFill>
                      <a:srgbClr val="F7FAF2"/>
                    </a:solidFill>
                  </a:tcPr>
                </a:tc>
                <a:extLst>
                  <a:ext uri="{0D108BD9-81ED-4DB2-BD59-A6C34878D82A}">
                    <a16:rowId xmlns:a16="http://schemas.microsoft.com/office/drawing/2014/main" val="10001"/>
                  </a:ext>
                </a:extLst>
              </a:tr>
              <a:tr h="380864">
                <a:tc>
                  <a:txBody>
                    <a:bodyPr/>
                    <a:lstStyle/>
                    <a:p>
                      <a:r>
                        <a:rPr sz="1000" b="0">
                          <a:solidFill>
                            <a:srgbClr val="C93486"/>
                          </a:solidFill>
                        </a:rPr>
                        <a:t>Memory</a:t>
                      </a:r>
                    </a:p>
                  </a:txBody>
                  <a:tcPr>
                    <a:solidFill>
                      <a:srgbClr val="F7FAF2"/>
                    </a:solidFill>
                  </a:tcPr>
                </a:tc>
                <a:tc>
                  <a:txBody>
                    <a:bodyPr/>
                    <a:lstStyle/>
                    <a:p>
                      <a:r>
                        <a:rPr sz="1000" b="0">
                          <a:solidFill>
                            <a:srgbClr val="C93486"/>
                          </a:solidFill>
                        </a:rPr>
                        <a:t>Beacon</a:t>
                      </a:r>
                    </a:p>
                  </a:txBody>
                  <a:tcPr>
                    <a:solidFill>
                      <a:srgbClr val="F7FAF2"/>
                    </a:solidFill>
                  </a:tcPr>
                </a:tc>
                <a:tc>
                  <a:txBody>
                    <a:bodyPr/>
                    <a:lstStyle/>
                    <a:p>
                      <a:r>
                        <a:rPr sz="1000" b="0">
                          <a:solidFill>
                            <a:srgbClr val="C93486"/>
                          </a:solidFill>
                        </a:rPr>
                        <a:t>Topology</a:t>
                      </a:r>
                    </a:p>
                  </a:txBody>
                  <a:tcPr>
                    <a:solidFill>
                      <a:srgbClr val="F7FAF2"/>
                    </a:solidFill>
                  </a:tcPr>
                </a:tc>
                <a:tc>
                  <a:txBody>
                    <a:bodyPr/>
                    <a:lstStyle/>
                    <a:p>
                      <a:r>
                        <a:rPr sz="1000" b="0">
                          <a:solidFill>
                            <a:srgbClr val="C93486"/>
                          </a:solidFill>
                        </a:rPr>
                        <a:t>Threshold Thread</a:t>
                      </a:r>
                    </a:p>
                  </a:txBody>
                  <a:tcPr>
                    <a:solidFill>
                      <a:srgbClr val="F7FAF2"/>
                    </a:solidFill>
                  </a:tcPr>
                </a:tc>
                <a:tc>
                  <a:txBody>
                    <a:bodyPr/>
                    <a:lstStyle/>
                    <a:p>
                      <a:r>
                        <a:rPr sz="1000" b="0">
                          <a:solidFill>
                            <a:srgbClr val="C93486"/>
                          </a:solidFill>
                        </a:rPr>
                        <a:t>Action</a:t>
                      </a:r>
                    </a:p>
                  </a:txBody>
                  <a:tcPr>
                    <a:solidFill>
                      <a:srgbClr val="F7FAF2"/>
                    </a:solidFill>
                  </a:tcPr>
                </a:tc>
                <a:tc>
                  <a:txBody>
                    <a:bodyPr/>
                    <a:lstStyle/>
                    <a:p>
                      <a:r>
                        <a:rPr sz="1000" b="0">
                          <a:solidFill>
                            <a:srgbClr val="C93486"/>
                          </a:solidFill>
                        </a:rPr>
                        <a:t>Wave</a:t>
                      </a:r>
                    </a:p>
                  </a:txBody>
                  <a:tcPr>
                    <a:solidFill>
                      <a:srgbClr val="F7FAF2"/>
                    </a:solidFill>
                  </a:tcPr>
                </a:tc>
                <a:extLst>
                  <a:ext uri="{0D108BD9-81ED-4DB2-BD59-A6C34878D82A}">
                    <a16:rowId xmlns:a16="http://schemas.microsoft.com/office/drawing/2014/main" val="10002"/>
                  </a:ext>
                </a:extLst>
              </a:tr>
            </a:tbl>
          </a:graphicData>
        </a:graphic>
      </p:graphicFrame>
      <p:pic>
        <p:nvPicPr>
          <p:cNvPr id="8" name="Picture 7" descr="_example_image.jpg"/>
          <p:cNvPicPr>
            <a:picLocks noChangeAspect="1"/>
          </p:cNvPicPr>
          <p:nvPr/>
        </p:nvPicPr>
        <p:blipFill>
          <a:blip r:embed="rId2"/>
          <a:srcRect l="5939" t="4624" r="14749" b="15928"/>
          <a:stretch>
            <a:fillRect/>
          </a:stretch>
        </p:blipFill>
        <p:spPr>
          <a:xfrm>
            <a:off x="5860145" y="744462"/>
            <a:ext cx="2122024" cy="1837827"/>
          </a:xfrm>
          <a:prstGeom prst="rect">
            <a:avLst/>
          </a:prstGeom>
        </p:spPr>
      </p:pic>
      <p:sp>
        <p:nvSpPr>
          <p:cNvPr id="9" name="Rounded Rectangle 8"/>
          <p:cNvSpPr/>
          <p:nvPr/>
        </p:nvSpPr>
        <p:spPr>
          <a:xfrm>
            <a:off x="5860145" y="744462"/>
            <a:ext cx="2122024" cy="1837827"/>
          </a:xfrm>
          <a:prstGeom prst="roundRect">
            <a:avLst/>
          </a:prstGeom>
          <a:noFill/>
          <a:ln w="15240">
            <a:solidFill>
              <a:srgbClr val="A849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eft-Right Arrow Callout 9"/>
          <p:cNvSpPr/>
          <p:nvPr/>
        </p:nvSpPr>
        <p:spPr>
          <a:xfrm>
            <a:off x="5895404" y="3330509"/>
            <a:ext cx="2137370" cy="278074"/>
          </a:xfrm>
          <a:prstGeom prst="leftRightArrowCallout">
            <a:avLst/>
          </a:prstGeom>
          <a:solidFill>
            <a:srgbClr val="748B4E"/>
          </a:solidFill>
          <a:ln w="7750">
            <a:solidFill>
              <a:srgbClr val="CDAA4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Chart 10"/>
          <p:cNvGraphicFramePr>
            <a:graphicFrameLocks noGrp="1"/>
          </p:cNvGraphicFramePr>
          <p:nvPr/>
        </p:nvGraphicFramePr>
        <p:xfrm>
          <a:off x="1614543" y="2737533"/>
          <a:ext cx="2627277" cy="2098746"/>
        </p:xfrm>
        <a:graphic>
          <a:graphicData uri="http://schemas.openxmlformats.org/drawingml/2006/chart">
            <c:chart xmlns:c="http://schemas.openxmlformats.org/drawingml/2006/chart" xmlns:r="http://schemas.openxmlformats.org/officeDocument/2006/relationships" r:id="rId3"/>
          </a:graphicData>
        </a:graphic>
      </p:graphicFrame>
      <p:cxnSp>
        <p:nvCxnSpPr>
          <p:cNvPr id="12" name="Connector 11"/>
          <p:cNvCxnSpPr/>
          <p:nvPr/>
        </p:nvCxnSpPr>
        <p:spPr>
          <a:xfrm flipV="1">
            <a:off x="7810166" y="4012081"/>
            <a:ext cx="748139" cy="1149621"/>
          </a:xfrm>
          <a:prstGeom prst="line">
            <a:avLst/>
          </a:prstGeom>
          <a:ln w="15759">
            <a:solidFill>
              <a:srgbClr val="781F1E"/>
            </a:solidFill>
            <a:prstDash val="dot"/>
          </a:ln>
        </p:spPr>
        <p:style>
          <a:lnRef idx="2">
            <a:schemeClr val="accent1"/>
          </a:lnRef>
          <a:fillRef idx="0">
            <a:schemeClr val="accent1"/>
          </a:fillRef>
          <a:effectRef idx="1">
            <a:schemeClr val="accent1"/>
          </a:effectRef>
          <a:fontRef idx="minor">
            <a:schemeClr val="tx1"/>
          </a:fontRef>
        </p:style>
      </p:cxnSp>
      <p:pic>
        <p:nvPicPr>
          <p:cNvPr id="13" name="Picture 12" descr="_example_image.jpg"/>
          <p:cNvPicPr>
            <a:picLocks noChangeAspect="1"/>
          </p:cNvPicPr>
          <p:nvPr/>
        </p:nvPicPr>
        <p:blipFill>
          <a:blip r:embed="rId2"/>
          <a:srcRect l="3376" t="1117" r="11502" b="1475"/>
          <a:stretch>
            <a:fillRect/>
          </a:stretch>
        </p:blipFill>
        <p:spPr>
          <a:xfrm>
            <a:off x="9549910" y="1730514"/>
            <a:ext cx="1208921" cy="1438234"/>
          </a:xfrm>
          <a:prstGeom prst="rect">
            <a:avLst/>
          </a:prstGeom>
        </p:spPr>
      </p:pic>
      <p:sp>
        <p:nvSpPr>
          <p:cNvPr id="14" name="Rounded Rectangle 13"/>
          <p:cNvSpPr/>
          <p:nvPr/>
        </p:nvSpPr>
        <p:spPr>
          <a:xfrm>
            <a:off x="9549910" y="1730514"/>
            <a:ext cx="1208921" cy="1438234"/>
          </a:xfrm>
          <a:prstGeom prst="roundRect">
            <a:avLst/>
          </a:prstGeom>
          <a:noFill/>
          <a:ln w="15240">
            <a:solidFill>
              <a:srgbClr val="63A8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3597659" y="1777286"/>
            <a:ext cx="2069116" cy="624622"/>
          </a:xfrm>
          <a:prstGeom prst="bentConnector3">
            <a:avLst/>
          </a:prstGeom>
          <a:ln w="27103">
            <a:solidFill>
              <a:srgbClr val="D5C3C0"/>
            </a:solidFill>
            <a:prstDash val="dot"/>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321324" y="4143416"/>
            <a:ext cx="824641" cy="787651"/>
          </a:xfrm>
          <a:custGeom>
            <a:avLst/>
            <a:gdLst/>
            <a:ahLst/>
            <a:cxnLst/>
            <a:rect l="l" t="t" r="r" b="b"/>
            <a:pathLst>
              <a:path w="824641" h="787651">
                <a:moveTo>
                  <a:pt x="88671" y="134068"/>
                </a:moveTo>
                <a:lnTo>
                  <a:pt x="292614" y="0"/>
                </a:lnTo>
                <a:lnTo>
                  <a:pt x="602963" y="67034"/>
                </a:lnTo>
                <a:lnTo>
                  <a:pt x="824641" y="318412"/>
                </a:lnTo>
                <a:lnTo>
                  <a:pt x="709369" y="653583"/>
                </a:lnTo>
                <a:lnTo>
                  <a:pt x="381286" y="787651"/>
                </a:lnTo>
                <a:lnTo>
                  <a:pt x="53203" y="569790"/>
                </a:lnTo>
                <a:lnTo>
                  <a:pt x="0" y="284895"/>
                </a:lnTo>
                <a:close/>
              </a:path>
            </a:pathLst>
          </a:custGeom>
          <a:solidFill>
            <a:srgbClr val="2A91A6"/>
          </a:solidFill>
          <a:ln w="12460">
            <a:solidFill>
              <a:srgbClr val="8E64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30628" y="5063886"/>
            <a:ext cx="1223987" cy="969404"/>
          </a:xfrm>
          <a:prstGeom prst="rect">
            <a:avLst/>
          </a:prstGeom>
          <a:noFill/>
        </p:spPr>
        <p:txBody>
          <a:bodyPr wrap="none" lIns="77102" tIns="77102" rIns="77102" bIns="77102">
            <a:spAutoFit/>
          </a:bodyPr>
          <a:lstStyle/>
          <a:p>
            <a:r>
              <a:rPr sz="1400" b="0" i="0" u="none">
                <a:solidFill>
                  <a:srgbClr val="D8B96C"/>
                </a:solidFill>
                <a:latin typeface="Arial"/>
              </a:rPr>
              <a:t>Iteration</a:t>
            </a:r>
          </a:p>
        </p:txBody>
      </p:sp>
      <p:sp>
        <p:nvSpPr>
          <p:cNvPr id="18" name="Left Right Ribbon 17"/>
          <p:cNvSpPr/>
          <p:nvPr/>
        </p:nvSpPr>
        <p:spPr>
          <a:xfrm>
            <a:off x="6294675" y="4652030"/>
            <a:ext cx="1221022" cy="736977"/>
          </a:xfrm>
          <a:prstGeom prst="leftRightRibbon">
            <a:avLst/>
          </a:prstGeom>
          <a:noFill/>
          <a:ln w="7124">
            <a:solidFill>
              <a:srgbClr val="4B59B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1964609" y="4897650"/>
            <a:ext cx="999630" cy="1777477"/>
          </a:xfrm>
          <a:custGeom>
            <a:avLst/>
            <a:gdLst/>
            <a:ahLst/>
            <a:cxnLst/>
            <a:rect l="l" t="t" r="r" b="b"/>
            <a:pathLst>
              <a:path w="999630" h="1777477">
                <a:moveTo>
                  <a:pt x="499815" y="0"/>
                </a:moveTo>
                <a:lnTo>
                  <a:pt x="624769" y="444369"/>
                </a:lnTo>
                <a:lnTo>
                  <a:pt x="937153" y="319946"/>
                </a:lnTo>
                <a:lnTo>
                  <a:pt x="760136" y="888738"/>
                </a:lnTo>
                <a:lnTo>
                  <a:pt x="999630" y="1386432"/>
                </a:lnTo>
                <a:lnTo>
                  <a:pt x="624769" y="1279783"/>
                </a:lnTo>
                <a:lnTo>
                  <a:pt x="499815" y="1777477"/>
                </a:lnTo>
                <a:lnTo>
                  <a:pt x="374862" y="1279783"/>
                </a:lnTo>
                <a:lnTo>
                  <a:pt x="0" y="1386432"/>
                </a:lnTo>
                <a:lnTo>
                  <a:pt x="239495" y="888738"/>
                </a:lnTo>
                <a:lnTo>
                  <a:pt x="62477" y="319946"/>
                </a:lnTo>
                <a:lnTo>
                  <a:pt x="374862" y="444369"/>
                </a:lnTo>
                <a:close/>
              </a:path>
            </a:pathLst>
          </a:custGeom>
          <a:solidFill>
            <a:srgbClr val="6B3227"/>
          </a:solidFill>
          <a:ln w="14169">
            <a:solidFill>
              <a:srgbClr val="6F85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8-Point Star 19"/>
          <p:cNvSpPr/>
          <p:nvPr/>
        </p:nvSpPr>
        <p:spPr>
          <a:xfrm>
            <a:off x="1180136" y="456803"/>
            <a:ext cx="2506523" cy="1640789"/>
          </a:xfrm>
          <a:prstGeom prst="star8">
            <a:avLst/>
          </a:prstGeom>
          <a:noFill/>
          <a:ln w="6811">
            <a:solidFill>
              <a:srgbClr val="6B19D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26975" y="5525221"/>
            <a:ext cx="1664988" cy="1028705"/>
          </a:xfrm>
          <a:prstGeom prst="rect">
            <a:avLst/>
          </a:prstGeom>
          <a:noFill/>
        </p:spPr>
        <p:txBody>
          <a:bodyPr wrap="none" lIns="82309" tIns="82309" rIns="82309" bIns="82309">
            <a:spAutoFit/>
          </a:bodyPr>
          <a:lstStyle/>
          <a:p>
            <a:r>
              <a:rPr sz="3000" b="1" i="0" u="none">
                <a:solidFill>
                  <a:srgbClr val="AE80CC"/>
                </a:solidFill>
                <a:latin typeface="Calibri"/>
              </a:rPr>
              <a:t>Payload Queueing Buffer</a:t>
            </a:r>
          </a:p>
        </p:txBody>
      </p:sp>
      <p:cxnSp>
        <p:nvCxnSpPr>
          <p:cNvPr id="22" name="Connector 21"/>
          <p:cNvCxnSpPr/>
          <p:nvPr/>
        </p:nvCxnSpPr>
        <p:spPr>
          <a:xfrm flipV="1">
            <a:off x="5248898" y="4679424"/>
            <a:ext cx="947567" cy="798236"/>
          </a:xfrm>
          <a:prstGeom prst="curvedConnector3">
            <a:avLst/>
          </a:prstGeom>
          <a:ln w="26329">
            <a:solidFill>
              <a:srgbClr val="7E7F3E"/>
            </a:solidFill>
            <a:prstDash val="dot"/>
          </a:ln>
        </p:spPr>
        <p:style>
          <a:lnRef idx="2">
            <a:schemeClr val="accent1"/>
          </a:lnRef>
          <a:fillRef idx="0">
            <a:schemeClr val="accent1"/>
          </a:fillRef>
          <a:effectRef idx="1">
            <a:schemeClr val="accent1"/>
          </a:effectRef>
          <a:fontRef idx="minor">
            <a:schemeClr val="tx1"/>
          </a:fontRef>
        </p:style>
      </p:cxnSp>
      <p:sp>
        <p:nvSpPr>
          <p:cNvPr id="23" name="Plus 22"/>
          <p:cNvSpPr/>
          <p:nvPr/>
        </p:nvSpPr>
        <p:spPr>
          <a:xfrm>
            <a:off x="817398" y="4907473"/>
            <a:ext cx="905779" cy="982711"/>
          </a:xfrm>
          <a:prstGeom prst="mathPlus">
            <a:avLst/>
          </a:prstGeom>
          <a:solidFill>
            <a:srgbClr val="3F99D3"/>
          </a:solidFill>
          <a:ln w="31110">
            <a:solidFill>
              <a:srgbClr val="3CCAB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974589" y="5132079"/>
            <a:ext cx="924380" cy="1328243"/>
          </a:xfrm>
          <a:prstGeom prst="rect">
            <a:avLst/>
          </a:prstGeom>
          <a:noFill/>
        </p:spPr>
        <p:txBody>
          <a:bodyPr wrap="none" lIns="50202" tIns="50202" rIns="50202" bIns="50202">
            <a:spAutoFit/>
          </a:bodyPr>
          <a:lstStyle/>
          <a:p>
            <a:r>
              <a:rPr sz="1400" b="1" i="0" u="none">
                <a:solidFill>
                  <a:srgbClr val="886082"/>
                </a:solidFill>
                <a:latin typeface="Arial"/>
              </a:rPr>
              <a:t>Status Response Alignment Trigger Link Entity Anchor Density Inventory Archive Waypoint Hub Draft Viewport Queue Route Program Snapshot Iteration Event Duration Handle Route Pattern Craft Input Zone Gradient Circuit Vector Friction Brief Milestone Adaptive Draft Panel Trend Clarity Function Reserve Query</a:t>
            </a:r>
          </a:p>
        </p:txBody>
      </p:sp>
      <p:pic>
        <p:nvPicPr>
          <p:cNvPr id="25" name="Picture 24" descr="_example_image.jpg"/>
          <p:cNvPicPr>
            <a:picLocks noChangeAspect="1"/>
          </p:cNvPicPr>
          <p:nvPr/>
        </p:nvPicPr>
        <p:blipFill>
          <a:blip r:embed="rId2"/>
          <a:srcRect l="3019" t="3925" r="6974" b="15740"/>
          <a:stretch>
            <a:fillRect/>
          </a:stretch>
        </p:blipFill>
        <p:spPr>
          <a:xfrm>
            <a:off x="4639737" y="5504284"/>
            <a:ext cx="2859979" cy="1194775"/>
          </a:xfrm>
          <a:prstGeom prst="rect">
            <a:avLst/>
          </a:prstGeom>
        </p:spPr>
      </p:pic>
      <p:sp>
        <p:nvSpPr>
          <p:cNvPr id="26" name="Rounded Rectangle 25"/>
          <p:cNvSpPr/>
          <p:nvPr/>
        </p:nvSpPr>
        <p:spPr>
          <a:xfrm>
            <a:off x="4639737" y="5504284"/>
            <a:ext cx="2859979" cy="1194775"/>
          </a:xfrm>
          <a:prstGeom prst="roundRect">
            <a:avLst/>
          </a:prstGeom>
          <a:noFill/>
          <a:ln w="15240">
            <a:solidFill>
              <a:srgbClr val="D467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7" name="Chart 26"/>
          <p:cNvGraphicFramePr>
            <a:graphicFrameLocks noGrp="1"/>
          </p:cNvGraphicFramePr>
          <p:nvPr/>
        </p:nvGraphicFramePr>
        <p:xfrm>
          <a:off x="6633007" y="3341596"/>
          <a:ext cx="2145633" cy="1401847"/>
        </p:xfrm>
        <a:graphic>
          <a:graphicData uri="http://schemas.openxmlformats.org/drawingml/2006/chart">
            <c:chart xmlns:c="http://schemas.openxmlformats.org/drawingml/2006/chart" xmlns:r="http://schemas.openxmlformats.org/officeDocument/2006/relationships" r:id="rId4"/>
          </a:graphicData>
        </a:graphic>
      </p:graphicFrame>
      <p:sp>
        <p:nvSpPr>
          <p:cNvPr id="28" name="Striped Right Arrow 27"/>
          <p:cNvSpPr/>
          <p:nvPr/>
        </p:nvSpPr>
        <p:spPr>
          <a:xfrm>
            <a:off x="5433481" y="1946637"/>
            <a:ext cx="454111" cy="1194069"/>
          </a:xfrm>
          <a:prstGeom prst="stripedRightArrow">
            <a:avLst/>
          </a:prstGeom>
          <a:solidFill>
            <a:srgbClr val="66CD1F"/>
          </a:solidFill>
          <a:ln w="7318">
            <a:solidFill>
              <a:srgbClr val="709B3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Multiply 28"/>
          <p:cNvSpPr/>
          <p:nvPr/>
        </p:nvSpPr>
        <p:spPr>
          <a:xfrm>
            <a:off x="9240997" y="901259"/>
            <a:ext cx="2101415" cy="885695"/>
          </a:xfrm>
          <a:prstGeom prst="mathMultiply">
            <a:avLst/>
          </a:prstGeom>
          <a:solidFill>
            <a:srgbClr val="905EB7"/>
          </a:solidFill>
          <a:ln w="16720">
            <a:solidFill>
              <a:srgbClr val="8A949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Graphic 30">
            <a:extLst>
              <a:ext uri="{FF2B5EF4-FFF2-40B4-BE49-F238E27FC236}">
                <a16:creationId xmlns:a16="http://schemas.microsoft.com/office/drawing/2014/main" id="{9D1D4E7D-8ED8-4A76-A9B2-1C0367A77E41}"/>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342103" y="945971"/>
            <a:ext cx="933515" cy="919225"/>
          </a:xfrm>
          <a:prstGeom prst="rect">
            <a:avLst/>
          </a:prstGeom>
        </p:spPr>
      </p:pic>
      <p:pic>
        <p:nvPicPr>
          <p:cNvPr id="33" name="Graphic 32">
            <a:extLst>
              <a:ext uri="{FF2B5EF4-FFF2-40B4-BE49-F238E27FC236}">
                <a16:creationId xmlns:a16="http://schemas.microsoft.com/office/drawing/2014/main" id="{ECB8149A-9856-BF37-5125-B99B173C7E8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99361" y="545033"/>
            <a:ext cx="918585" cy="77728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a:stretch>
            <a:fillRect/>
          </a:stretch>
        </p:blipFill>
        <p:spPr>
          <a:xfrm>
            <a:off x="5210880" y="3136900"/>
            <a:ext cx="1922410" cy="1790565"/>
          </a:xfrm>
          <a:prstGeom prst="rect">
            <a:avLst/>
          </a:prstGeom>
        </p:spPr>
      </p:pic>
      <p:sp>
        <p:nvSpPr>
          <p:cNvPr id="3" name="Rounded Rectangle 2"/>
          <p:cNvSpPr/>
          <p:nvPr/>
        </p:nvSpPr>
        <p:spPr>
          <a:xfrm>
            <a:off x="5210880" y="3136900"/>
            <a:ext cx="1922410" cy="1790565"/>
          </a:xfrm>
          <a:prstGeom prst="roundRect">
            <a:avLst/>
          </a:prstGeom>
          <a:noFill/>
          <a:ln w="15240">
            <a:solidFill>
              <a:srgbClr val="CA3D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U-Turn Arrow 3"/>
          <p:cNvSpPr/>
          <p:nvPr/>
        </p:nvSpPr>
        <p:spPr>
          <a:xfrm>
            <a:off x="7187046" y="1006884"/>
            <a:ext cx="925035" cy="712181"/>
          </a:xfrm>
          <a:prstGeom prst="uturnArrow">
            <a:avLst/>
          </a:prstGeom>
          <a:noFill/>
          <a:ln w="22196">
            <a:solidFill>
              <a:srgbClr val="50619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44714" y="5096289"/>
            <a:ext cx="784269" cy="735929"/>
          </a:xfrm>
          <a:prstGeom prst="rect">
            <a:avLst/>
          </a:prstGeom>
          <a:noFill/>
        </p:spPr>
        <p:txBody>
          <a:bodyPr wrap="none" lIns="23972" tIns="23972" rIns="23972" bIns="23972">
            <a:spAutoFit/>
          </a:bodyPr>
          <a:lstStyle/>
          <a:p>
            <a:r>
              <a:rPr sz="3200" b="1" i="0" u="none">
                <a:solidFill>
                  <a:srgbClr val="3F2FD7"/>
                </a:solidFill>
                <a:latin typeface="Georgia"/>
              </a:rPr>
              <a:t>Spectrum Metric Foundation Timeline Precision Measure</a:t>
            </a:r>
          </a:p>
        </p:txBody>
      </p:sp>
      <p:sp>
        <p:nvSpPr>
          <p:cNvPr id="6" name="TextBox 5"/>
          <p:cNvSpPr txBox="1"/>
          <p:nvPr/>
        </p:nvSpPr>
        <p:spPr>
          <a:xfrm>
            <a:off x="559497" y="906028"/>
            <a:ext cx="3957543" cy="2314677"/>
          </a:xfrm>
          <a:prstGeom prst="rect">
            <a:avLst/>
          </a:prstGeom>
          <a:noFill/>
        </p:spPr>
        <p:txBody>
          <a:bodyPr wrap="none" lIns="73358" tIns="73358" rIns="73358" bIns="73358">
            <a:spAutoFit/>
          </a:bodyPr>
          <a:lstStyle/>
          <a:p>
            <a:r>
              <a:rPr sz="900" b="0" i="0" u="sng">
                <a:solidFill>
                  <a:srgbClr val="663C47"/>
                </a:solidFill>
                <a:latin typeface="Aptos"/>
              </a:rPr>
              <a:t>Span</a:t>
            </a:r>
          </a:p>
        </p:txBody>
      </p:sp>
      <p:sp>
        <p:nvSpPr>
          <p:cNvPr id="7" name="Multiply 6"/>
          <p:cNvSpPr/>
          <p:nvPr/>
        </p:nvSpPr>
        <p:spPr>
          <a:xfrm>
            <a:off x="5427171" y="351857"/>
            <a:ext cx="1698849" cy="742920"/>
          </a:xfrm>
          <a:prstGeom prst="mathMultiply">
            <a:avLst/>
          </a:prstGeom>
          <a:solidFill>
            <a:srgbClr val="BC5681"/>
          </a:solidFill>
          <a:ln w="24737">
            <a:solidFill>
              <a:srgbClr val="7632A5"/>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214376" y="592031"/>
            <a:ext cx="933540" cy="2254890"/>
          </a:xfrm>
          <a:prstGeom prst="rect">
            <a:avLst/>
          </a:prstGeom>
          <a:noFill/>
        </p:spPr>
        <p:txBody>
          <a:bodyPr wrap="none" lIns="45672" tIns="45672" rIns="45672" bIns="45672">
            <a:spAutoFit/>
          </a:bodyPr>
          <a:lstStyle/>
          <a:p>
            <a:r>
              <a:rPr sz="6100" b="1" i="0" u="none">
                <a:solidFill>
                  <a:srgbClr val="ABB449"/>
                </a:solidFill>
                <a:latin typeface="Georgia"/>
              </a:rPr>
              <a:t>Filter Expansion</a:t>
            </a:r>
          </a:p>
        </p:txBody>
      </p:sp>
      <p:cxnSp>
        <p:nvCxnSpPr>
          <p:cNvPr id="9" name="Connector 8"/>
          <p:cNvCxnSpPr/>
          <p:nvPr/>
        </p:nvCxnSpPr>
        <p:spPr>
          <a:xfrm>
            <a:off x="9640876" y="1581898"/>
            <a:ext cx="1852431" cy="535770"/>
          </a:xfrm>
          <a:prstGeom prst="line">
            <a:avLst/>
          </a:prstGeom>
          <a:ln w="41204">
            <a:solidFill>
              <a:srgbClr val="AA343B"/>
            </a:solidFill>
            <a:prstDash val="lgDash"/>
          </a:ln>
        </p:spPr>
        <p:style>
          <a:lnRef idx="2">
            <a:schemeClr val="accent1"/>
          </a:lnRef>
          <a:fillRef idx="0">
            <a:schemeClr val="accent1"/>
          </a:fillRef>
          <a:effectRef idx="1">
            <a:schemeClr val="accent1"/>
          </a:effectRef>
          <a:fontRef idx="minor">
            <a:schemeClr val="tx1"/>
          </a:fontRef>
        </p:style>
      </p:cxnSp>
      <p:pic>
        <p:nvPicPr>
          <p:cNvPr id="10" name="Picture 9" descr="_example_image.jpg"/>
          <p:cNvPicPr>
            <a:picLocks noChangeAspect="1"/>
          </p:cNvPicPr>
          <p:nvPr/>
        </p:nvPicPr>
        <p:blipFill>
          <a:blip r:embed="rId2"/>
          <a:srcRect/>
          <a:stretch>
            <a:fillRect/>
          </a:stretch>
        </p:blipFill>
        <p:spPr>
          <a:xfrm>
            <a:off x="8583039" y="2382845"/>
            <a:ext cx="1424731" cy="939515"/>
          </a:xfrm>
          <a:prstGeom prst="rect">
            <a:avLst/>
          </a:prstGeom>
        </p:spPr>
      </p:pic>
      <p:sp>
        <p:nvSpPr>
          <p:cNvPr id="11" name="Isosceles Triangle 10"/>
          <p:cNvSpPr/>
          <p:nvPr/>
        </p:nvSpPr>
        <p:spPr>
          <a:xfrm>
            <a:off x="1732198" y="3743444"/>
            <a:ext cx="2526364" cy="1910838"/>
          </a:xfrm>
          <a:prstGeom prst="triangle">
            <a:avLst/>
          </a:prstGeom>
          <a:solidFill>
            <a:srgbClr val="388E5F"/>
          </a:solidFill>
          <a:ln w="10891">
            <a:solidFill>
              <a:srgbClr val="54ACE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reeform 11"/>
          <p:cNvSpPr/>
          <p:nvPr/>
        </p:nvSpPr>
        <p:spPr>
          <a:xfrm>
            <a:off x="4255249" y="3795564"/>
            <a:ext cx="839616" cy="1494738"/>
          </a:xfrm>
          <a:custGeom>
            <a:avLst/>
            <a:gdLst/>
            <a:ahLst/>
            <a:cxnLst/>
            <a:rect l="l" t="t" r="r" b="b"/>
            <a:pathLst>
              <a:path w="839616" h="1494738">
                <a:moveTo>
                  <a:pt x="0" y="332164"/>
                </a:moveTo>
                <a:lnTo>
                  <a:pt x="180563" y="0"/>
                </a:lnTo>
                <a:lnTo>
                  <a:pt x="361125" y="448421"/>
                </a:lnTo>
                <a:lnTo>
                  <a:pt x="541688" y="49824"/>
                </a:lnTo>
                <a:lnTo>
                  <a:pt x="839616" y="1162574"/>
                </a:lnTo>
                <a:lnTo>
                  <a:pt x="631969" y="1494738"/>
                </a:lnTo>
                <a:lnTo>
                  <a:pt x="433350" y="996492"/>
                </a:lnTo>
                <a:lnTo>
                  <a:pt x="207647" y="1444914"/>
                </a:lnTo>
                <a:close/>
              </a:path>
            </a:pathLst>
          </a:custGeom>
          <a:solidFill>
            <a:srgbClr val="6ECE56"/>
          </a:solidFill>
          <a:ln w="8641">
            <a:solidFill>
              <a:srgbClr val="DCD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V="1">
            <a:off x="7262787" y="1822890"/>
            <a:ext cx="749734" cy="454240"/>
          </a:xfrm>
          <a:prstGeom prst="curvedConnector3">
            <a:avLst/>
          </a:prstGeom>
          <a:ln w="40237">
            <a:solidFill>
              <a:srgbClr val="1E582D"/>
            </a:solidFill>
            <a:prstDash val="dot"/>
          </a:ln>
        </p:spPr>
        <p:style>
          <a:lnRef idx="2">
            <a:schemeClr val="accent1"/>
          </a:lnRef>
          <a:fillRef idx="0">
            <a:schemeClr val="accent1"/>
          </a:fillRef>
          <a:effectRef idx="1">
            <a:schemeClr val="accent1"/>
          </a:effectRef>
          <a:fontRef idx="minor">
            <a:schemeClr val="tx1"/>
          </a:fontRef>
        </p:style>
      </p:cxnSp>
      <p:graphicFrame>
        <p:nvGraphicFramePr>
          <p:cNvPr id="14" name="Chart 13"/>
          <p:cNvGraphicFramePr>
            <a:graphicFrameLocks noGrp="1"/>
          </p:cNvGraphicFramePr>
          <p:nvPr/>
        </p:nvGraphicFramePr>
        <p:xfrm>
          <a:off x="9649153" y="2340773"/>
          <a:ext cx="2405069" cy="158463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p:cNvSpPr txBox="1"/>
          <p:nvPr/>
        </p:nvSpPr>
        <p:spPr>
          <a:xfrm>
            <a:off x="6451801" y="5209555"/>
            <a:ext cx="1639416" cy="1156091"/>
          </a:xfrm>
          <a:prstGeom prst="rect">
            <a:avLst/>
          </a:prstGeom>
          <a:noFill/>
        </p:spPr>
        <p:txBody>
          <a:bodyPr wrap="none" lIns="35656" tIns="35656" rIns="35656" bIns="35656">
            <a:spAutoFit/>
          </a:bodyPr>
          <a:lstStyle/>
          <a:p>
            <a:r>
              <a:rPr sz="5800" b="1" i="0" u="none">
                <a:solidFill>
                  <a:srgbClr val="8F7FA3"/>
                </a:solidFill>
                <a:latin typeface="Aptos"/>
              </a:rPr>
              <a:t>Cortex Channel Priority Stage Signal</a:t>
            </a:r>
          </a:p>
        </p:txBody>
      </p:sp>
      <p:sp>
        <p:nvSpPr>
          <p:cNvPr id="16" name="Plus 15"/>
          <p:cNvSpPr/>
          <p:nvPr/>
        </p:nvSpPr>
        <p:spPr>
          <a:xfrm>
            <a:off x="9177737" y="4090324"/>
            <a:ext cx="533132" cy="1150756"/>
          </a:xfrm>
          <a:prstGeom prst="mathPlus">
            <a:avLst/>
          </a:prstGeom>
          <a:solidFill>
            <a:srgbClr val="8A8DA3"/>
          </a:solidFill>
          <a:ln w="15902">
            <a:solidFill>
              <a:srgbClr val="B387D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4615638" y="437115"/>
          <a:ext cx="3054798" cy="1464603"/>
        </p:xfrm>
        <a:graphic>
          <a:graphicData uri="http://schemas.openxmlformats.org/drawingml/2006/chart">
            <c:chart xmlns:c="http://schemas.openxmlformats.org/drawingml/2006/chart" xmlns:r="http://schemas.openxmlformats.org/officeDocument/2006/relationships" r:id="rId4"/>
          </a:graphicData>
        </a:graphic>
      </p:graphicFrame>
      <p:sp>
        <p:nvSpPr>
          <p:cNvPr id="18" name="Oval Callout 17"/>
          <p:cNvSpPr/>
          <p:nvPr/>
        </p:nvSpPr>
        <p:spPr>
          <a:xfrm>
            <a:off x="1067576" y="3537637"/>
            <a:ext cx="631648" cy="789444"/>
          </a:xfrm>
          <a:prstGeom prst="wedgeEllipseCallout">
            <a:avLst/>
          </a:prstGeom>
          <a:solidFill>
            <a:srgbClr val="5D1A60"/>
          </a:solidFill>
          <a:ln w="31632">
            <a:solidFill>
              <a:srgbClr val="B08BC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30703" y="2658804"/>
            <a:ext cx="694354" cy="1950331"/>
          </a:xfrm>
          <a:prstGeom prst="rect">
            <a:avLst/>
          </a:prstGeom>
          <a:noFill/>
        </p:spPr>
        <p:txBody>
          <a:bodyPr wrap="none" lIns="46305" tIns="46305" rIns="46305" bIns="46305">
            <a:spAutoFit/>
          </a:bodyPr>
          <a:lstStyle/>
          <a:p>
            <a:r>
              <a:rPr sz="3300" b="1" i="0" u="none">
                <a:solidFill>
                  <a:srgbClr val="7D9220"/>
                </a:solidFill>
                <a:latin typeface="Verdana"/>
              </a:rPr>
              <a:t>Cortex Thread Panel</a:t>
            </a:r>
          </a:p>
        </p:txBody>
      </p:sp>
      <p:sp>
        <p:nvSpPr>
          <p:cNvPr id="20" name="Freeform 19"/>
          <p:cNvSpPr/>
          <p:nvPr/>
        </p:nvSpPr>
        <p:spPr>
          <a:xfrm>
            <a:off x="1069002" y="5452834"/>
            <a:ext cx="1306350" cy="622027"/>
          </a:xfrm>
          <a:custGeom>
            <a:avLst/>
            <a:gdLst/>
            <a:ahLst/>
            <a:cxnLst/>
            <a:rect l="l" t="t" r="r" b="b"/>
            <a:pathLst>
              <a:path w="1306350" h="622027">
                <a:moveTo>
                  <a:pt x="140468" y="105877"/>
                </a:moveTo>
                <a:lnTo>
                  <a:pt x="463544" y="0"/>
                </a:lnTo>
                <a:lnTo>
                  <a:pt x="955181" y="52938"/>
                </a:lnTo>
                <a:lnTo>
                  <a:pt x="1306350" y="251458"/>
                </a:lnTo>
                <a:lnTo>
                  <a:pt x="1123742" y="516150"/>
                </a:lnTo>
                <a:lnTo>
                  <a:pt x="604012" y="622027"/>
                </a:lnTo>
                <a:lnTo>
                  <a:pt x="84281" y="449977"/>
                </a:lnTo>
                <a:lnTo>
                  <a:pt x="0" y="224988"/>
                </a:lnTo>
                <a:close/>
              </a:path>
            </a:pathLst>
          </a:custGeom>
          <a:solidFill>
            <a:srgbClr val="1FA440"/>
          </a:solidFill>
          <a:ln w="16193">
            <a:solidFill>
              <a:srgbClr val="6791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8-Point Star 20"/>
          <p:cNvSpPr/>
          <p:nvPr/>
        </p:nvSpPr>
        <p:spPr>
          <a:xfrm>
            <a:off x="7869257" y="302945"/>
            <a:ext cx="925295" cy="612247"/>
          </a:xfrm>
          <a:prstGeom prst="star8">
            <a:avLst/>
          </a:prstGeom>
          <a:solidFill>
            <a:srgbClr val="906C1F"/>
          </a:solidFill>
          <a:ln w="23867">
            <a:solidFill>
              <a:srgbClr val="7CD9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8820746" y="290546"/>
            <a:ext cx="2998521" cy="414668"/>
          </a:xfrm>
          <a:prstGeom prst="line">
            <a:avLst/>
          </a:prstGeom>
          <a:ln w="16061">
            <a:solidFill>
              <a:srgbClr val="E1C6AA"/>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23" name="Table 22"/>
          <p:cNvGraphicFramePr>
            <a:graphicFrameLocks noGrp="1"/>
          </p:cNvGraphicFramePr>
          <p:nvPr/>
        </p:nvGraphicFramePr>
        <p:xfrm>
          <a:off x="8329931" y="4916586"/>
          <a:ext cx="2322674" cy="1341557"/>
        </p:xfrm>
        <a:graphic>
          <a:graphicData uri="http://schemas.openxmlformats.org/drawingml/2006/table">
            <a:tbl>
              <a:tblPr firstRow="1" bandRow="1">
                <a:tableStyleId>{5C22544A-7EE6-4342-B048-85BDC9FD1C3A}</a:tableStyleId>
              </a:tblPr>
              <a:tblGrid>
                <a:gridCol w="774224">
                  <a:extLst>
                    <a:ext uri="{9D8B030D-6E8A-4147-A177-3AD203B41FA5}">
                      <a16:colId xmlns:a16="http://schemas.microsoft.com/office/drawing/2014/main" val="20000"/>
                    </a:ext>
                  </a:extLst>
                </a:gridCol>
                <a:gridCol w="774224">
                  <a:extLst>
                    <a:ext uri="{9D8B030D-6E8A-4147-A177-3AD203B41FA5}">
                      <a16:colId xmlns:a16="http://schemas.microsoft.com/office/drawing/2014/main" val="20001"/>
                    </a:ext>
                  </a:extLst>
                </a:gridCol>
                <a:gridCol w="774226">
                  <a:extLst>
                    <a:ext uri="{9D8B030D-6E8A-4147-A177-3AD203B41FA5}">
                      <a16:colId xmlns:a16="http://schemas.microsoft.com/office/drawing/2014/main" val="20002"/>
                    </a:ext>
                  </a:extLst>
                </a:gridCol>
              </a:tblGrid>
              <a:tr h="670778">
                <a:tc>
                  <a:txBody>
                    <a:bodyPr/>
                    <a:lstStyle/>
                    <a:p>
                      <a:r>
                        <a:rPr sz="600" b="1">
                          <a:solidFill>
                            <a:srgbClr val="C3A154"/>
                          </a:solidFill>
                        </a:rPr>
                        <a:t>Structure Diagram</a:t>
                      </a:r>
                    </a:p>
                  </a:txBody>
                  <a:tcPr>
                    <a:solidFill>
                      <a:srgbClr val="4DD390"/>
                    </a:solidFill>
                  </a:tcPr>
                </a:tc>
                <a:tc>
                  <a:txBody>
                    <a:bodyPr/>
                    <a:lstStyle/>
                    <a:p>
                      <a:r>
                        <a:rPr sz="600" b="1">
                          <a:solidFill>
                            <a:srgbClr val="C3A154"/>
                          </a:solidFill>
                        </a:rPr>
                        <a:t>Inventory Dimension</a:t>
                      </a:r>
                    </a:p>
                  </a:txBody>
                  <a:tcPr>
                    <a:solidFill>
                      <a:srgbClr val="4DD390"/>
                    </a:solidFill>
                  </a:tcPr>
                </a:tc>
                <a:tc>
                  <a:txBody>
                    <a:bodyPr/>
                    <a:lstStyle/>
                    <a:p>
                      <a:r>
                        <a:rPr sz="600" b="1">
                          <a:solidFill>
                            <a:srgbClr val="C3A154"/>
                          </a:solidFill>
                        </a:rPr>
                        <a:t>Vertex</a:t>
                      </a:r>
                    </a:p>
                  </a:txBody>
                  <a:tcPr>
                    <a:solidFill>
                      <a:srgbClr val="4DD390"/>
                    </a:solidFill>
                  </a:tcPr>
                </a:tc>
                <a:extLst>
                  <a:ext uri="{0D108BD9-81ED-4DB2-BD59-A6C34878D82A}">
                    <a16:rowId xmlns:a16="http://schemas.microsoft.com/office/drawing/2014/main" val="10000"/>
                  </a:ext>
                </a:extLst>
              </a:tr>
              <a:tr h="670779">
                <a:tc>
                  <a:txBody>
                    <a:bodyPr/>
                    <a:lstStyle/>
                    <a:p>
                      <a:r>
                        <a:rPr sz="600" b="0">
                          <a:solidFill>
                            <a:srgbClr val="C3A154"/>
                          </a:solidFill>
                        </a:rPr>
                        <a:t>Texture</a:t>
                      </a:r>
                    </a:p>
                  </a:txBody>
                  <a:tcPr>
                    <a:solidFill>
                      <a:srgbClr val="F7ECE5"/>
                    </a:solidFill>
                  </a:tcPr>
                </a:tc>
                <a:tc>
                  <a:txBody>
                    <a:bodyPr/>
                    <a:lstStyle/>
                    <a:p>
                      <a:r>
                        <a:rPr sz="600" b="0">
                          <a:solidFill>
                            <a:srgbClr val="C3A154"/>
                          </a:solidFill>
                        </a:rPr>
                        <a:t>Edge</a:t>
                      </a:r>
                    </a:p>
                  </a:txBody>
                  <a:tcPr>
                    <a:solidFill>
                      <a:srgbClr val="F3E1D7"/>
                    </a:solidFill>
                  </a:tcPr>
                </a:tc>
                <a:tc>
                  <a:txBody>
                    <a:bodyPr/>
                    <a:lstStyle/>
                    <a:p>
                      <a:r>
                        <a:rPr sz="600" b="0">
                          <a:solidFill>
                            <a:srgbClr val="C3A154"/>
                          </a:solidFill>
                        </a:rPr>
                        <a:t>Collection Object</a:t>
                      </a:r>
                    </a:p>
                  </a:txBody>
                  <a:tcPr>
                    <a:solidFill>
                      <a:srgbClr val="F7ECE5"/>
                    </a:solidFill>
                  </a:tcPr>
                </a:tc>
                <a:extLst>
                  <a:ext uri="{0D108BD9-81ED-4DB2-BD59-A6C34878D82A}">
                    <a16:rowId xmlns:a16="http://schemas.microsoft.com/office/drawing/2014/main" val="10001"/>
                  </a:ext>
                </a:extLst>
              </a:tr>
            </a:tbl>
          </a:graphicData>
        </a:graphic>
      </p:graphicFrame>
      <p:sp>
        <p:nvSpPr>
          <p:cNvPr id="24" name="Trapezoid 23"/>
          <p:cNvSpPr/>
          <p:nvPr/>
        </p:nvSpPr>
        <p:spPr>
          <a:xfrm>
            <a:off x="2425828" y="5800355"/>
            <a:ext cx="1470608" cy="758000"/>
          </a:xfrm>
          <a:prstGeom prst="trapezoid">
            <a:avLst/>
          </a:prstGeom>
          <a:solidFill>
            <a:srgbClr val="B7D42D"/>
          </a:solidFill>
          <a:ln w="27941">
            <a:solidFill>
              <a:srgbClr val="D1242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_example_image.jpg"/>
          <p:cNvPicPr>
            <a:picLocks noChangeAspect="1"/>
          </p:cNvPicPr>
          <p:nvPr/>
        </p:nvPicPr>
        <p:blipFill>
          <a:blip r:embed="rId2"/>
          <a:srcRect l="20855" t="6322" r="12507" b="21576"/>
          <a:stretch>
            <a:fillRect/>
          </a:stretch>
        </p:blipFill>
        <p:spPr>
          <a:xfrm>
            <a:off x="3503755" y="5825568"/>
            <a:ext cx="1034276" cy="847664"/>
          </a:xfrm>
          <a:prstGeom prst="rect">
            <a:avLst/>
          </a:prstGeom>
        </p:spPr>
      </p:pic>
      <p:sp>
        <p:nvSpPr>
          <p:cNvPr id="26" name="Rounded Rectangle 25"/>
          <p:cNvSpPr/>
          <p:nvPr/>
        </p:nvSpPr>
        <p:spPr>
          <a:xfrm>
            <a:off x="3503755" y="5825568"/>
            <a:ext cx="1034276" cy="847664"/>
          </a:xfrm>
          <a:prstGeom prst="roundRect">
            <a:avLst/>
          </a:prstGeom>
          <a:noFill/>
          <a:ln w="15240">
            <a:solidFill>
              <a:srgbClr val="409D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93204" y="3436225"/>
            <a:ext cx="1321371" cy="1269376"/>
          </a:xfrm>
          <a:prstGeom prst="rect">
            <a:avLst/>
          </a:prstGeom>
          <a:noFill/>
        </p:spPr>
        <p:txBody>
          <a:bodyPr wrap="none" lIns="58563" tIns="58563" rIns="58563" bIns="58563">
            <a:spAutoFit/>
          </a:bodyPr>
          <a:lstStyle/>
          <a:p>
            <a:r>
              <a:rPr sz="1000" b="1" i="0" u="none">
                <a:solidFill>
                  <a:srgbClr val="23B644"/>
                </a:solidFill>
                <a:latin typeface="Arial"/>
              </a:rPr>
              <a:t>Point Path Process Point Motion Feature Measure Delta Reserve Object Source Schema Friction Forecast Narrative Drive Texture Loop Clarity Token Impact Map Wave Alpha Delta Layer Drift Portal Intent Bundle Layer Moment Cluster Array Loop Cadence Segment</a:t>
            </a:r>
          </a:p>
        </p:txBody>
      </p:sp>
      <p:graphicFrame>
        <p:nvGraphicFramePr>
          <p:cNvPr id="28" name="Table 27"/>
          <p:cNvGraphicFramePr>
            <a:graphicFrameLocks noGrp="1"/>
          </p:cNvGraphicFramePr>
          <p:nvPr/>
        </p:nvGraphicFramePr>
        <p:xfrm>
          <a:off x="4914700" y="1561940"/>
          <a:ext cx="2585416" cy="1586014"/>
        </p:xfrm>
        <a:graphic>
          <a:graphicData uri="http://schemas.openxmlformats.org/drawingml/2006/table">
            <a:tbl>
              <a:tblPr firstRow="1" bandRow="1">
                <a:tableStyleId>{5C22544A-7EE6-4342-B048-85BDC9FD1C3A}</a:tableStyleId>
              </a:tblPr>
              <a:tblGrid>
                <a:gridCol w="861805">
                  <a:extLst>
                    <a:ext uri="{9D8B030D-6E8A-4147-A177-3AD203B41FA5}">
                      <a16:colId xmlns:a16="http://schemas.microsoft.com/office/drawing/2014/main" val="20000"/>
                    </a:ext>
                  </a:extLst>
                </a:gridCol>
                <a:gridCol w="861805">
                  <a:extLst>
                    <a:ext uri="{9D8B030D-6E8A-4147-A177-3AD203B41FA5}">
                      <a16:colId xmlns:a16="http://schemas.microsoft.com/office/drawing/2014/main" val="20001"/>
                    </a:ext>
                  </a:extLst>
                </a:gridCol>
                <a:gridCol w="861806">
                  <a:extLst>
                    <a:ext uri="{9D8B030D-6E8A-4147-A177-3AD203B41FA5}">
                      <a16:colId xmlns:a16="http://schemas.microsoft.com/office/drawing/2014/main" val="20002"/>
                    </a:ext>
                  </a:extLst>
                </a:gridCol>
              </a:tblGrid>
              <a:tr h="226573">
                <a:tc>
                  <a:txBody>
                    <a:bodyPr/>
                    <a:lstStyle/>
                    <a:p>
                      <a:r>
                        <a:rPr sz="700" b="0">
                          <a:solidFill>
                            <a:srgbClr val="1A2662"/>
                          </a:solidFill>
                        </a:rPr>
                        <a:t>Chart</a:t>
                      </a:r>
                    </a:p>
                  </a:txBody>
                  <a:tcPr>
                    <a:solidFill>
                      <a:srgbClr val="E4F7D9"/>
                    </a:solidFill>
                  </a:tcPr>
                </a:tc>
                <a:tc>
                  <a:txBody>
                    <a:bodyPr/>
                    <a:lstStyle/>
                    <a:p>
                      <a:r>
                        <a:rPr sz="700" b="0">
                          <a:solidFill>
                            <a:srgbClr val="1A2662"/>
                          </a:solidFill>
                        </a:rPr>
                        <a:t>Guide Pattern</a:t>
                      </a:r>
                    </a:p>
                  </a:txBody>
                  <a:tcPr>
                    <a:solidFill>
                      <a:srgbClr val="E4F7D9"/>
                    </a:solidFill>
                  </a:tcPr>
                </a:tc>
                <a:tc>
                  <a:txBody>
                    <a:bodyPr/>
                    <a:lstStyle/>
                    <a:p>
                      <a:r>
                        <a:rPr sz="700" b="0">
                          <a:solidFill>
                            <a:srgbClr val="1A2662"/>
                          </a:solidFill>
                        </a:rPr>
                        <a:t>Group</a:t>
                      </a:r>
                    </a:p>
                  </a:txBody>
                  <a:tcPr>
                    <a:solidFill>
                      <a:srgbClr val="E4F7D9"/>
                    </a:solidFill>
                  </a:tcPr>
                </a:tc>
                <a:extLst>
                  <a:ext uri="{0D108BD9-81ED-4DB2-BD59-A6C34878D82A}">
                    <a16:rowId xmlns:a16="http://schemas.microsoft.com/office/drawing/2014/main" val="10000"/>
                  </a:ext>
                </a:extLst>
              </a:tr>
              <a:tr h="226573">
                <a:tc>
                  <a:txBody>
                    <a:bodyPr/>
                    <a:lstStyle/>
                    <a:p>
                      <a:r>
                        <a:rPr sz="700" b="0">
                          <a:solidFill>
                            <a:srgbClr val="1A2662"/>
                          </a:solidFill>
                        </a:rPr>
                        <a:t>Diagram</a:t>
                      </a:r>
                    </a:p>
                  </a:txBody>
                  <a:tcPr>
                    <a:solidFill>
                      <a:srgbClr val="E4F7D9"/>
                    </a:solidFill>
                  </a:tcPr>
                </a:tc>
                <a:tc>
                  <a:txBody>
                    <a:bodyPr/>
                    <a:lstStyle/>
                    <a:p>
                      <a:r>
                        <a:rPr sz="700" b="0">
                          <a:solidFill>
                            <a:srgbClr val="1A2662"/>
                          </a:solidFill>
                        </a:rPr>
                        <a:t>Narrative</a:t>
                      </a:r>
                    </a:p>
                  </a:txBody>
                  <a:tcPr>
                    <a:solidFill>
                      <a:srgbClr val="E4F7D9"/>
                    </a:solidFill>
                  </a:tcPr>
                </a:tc>
                <a:tc>
                  <a:txBody>
                    <a:bodyPr/>
                    <a:lstStyle/>
                    <a:p>
                      <a:r>
                        <a:rPr sz="700" b="0">
                          <a:solidFill>
                            <a:srgbClr val="1A2662"/>
                          </a:solidFill>
                        </a:rPr>
                        <a:t>Gateway Baseline</a:t>
                      </a:r>
                    </a:p>
                  </a:txBody>
                  <a:tcPr>
                    <a:solidFill>
                      <a:srgbClr val="E4F7D9"/>
                    </a:solidFill>
                  </a:tcPr>
                </a:tc>
                <a:extLst>
                  <a:ext uri="{0D108BD9-81ED-4DB2-BD59-A6C34878D82A}">
                    <a16:rowId xmlns:a16="http://schemas.microsoft.com/office/drawing/2014/main" val="10001"/>
                  </a:ext>
                </a:extLst>
              </a:tr>
              <a:tr h="226573">
                <a:tc>
                  <a:txBody>
                    <a:bodyPr/>
                    <a:lstStyle/>
                    <a:p>
                      <a:r>
                        <a:rPr sz="700" b="0">
                          <a:solidFill>
                            <a:srgbClr val="1A2662"/>
                          </a:solidFill>
                        </a:rPr>
                        <a:t>Schema</a:t>
                      </a:r>
                    </a:p>
                  </a:txBody>
                  <a:tcPr>
                    <a:solidFill>
                      <a:srgbClr val="E4F7D9"/>
                    </a:solidFill>
                  </a:tcPr>
                </a:tc>
                <a:tc>
                  <a:txBody>
                    <a:bodyPr/>
                    <a:lstStyle/>
                    <a:p>
                      <a:r>
                        <a:rPr sz="700" b="0">
                          <a:solidFill>
                            <a:srgbClr val="1A2662"/>
                          </a:solidFill>
                        </a:rPr>
                        <a:t>Service</a:t>
                      </a:r>
                    </a:p>
                  </a:txBody>
                  <a:tcPr>
                    <a:solidFill>
                      <a:srgbClr val="E4F7D9"/>
                    </a:solidFill>
                  </a:tcPr>
                </a:tc>
                <a:tc>
                  <a:txBody>
                    <a:bodyPr/>
                    <a:lstStyle/>
                    <a:p>
                      <a:r>
                        <a:rPr sz="700" b="0">
                          <a:solidFill>
                            <a:srgbClr val="1A2662"/>
                          </a:solidFill>
                        </a:rPr>
                        <a:t>Array Collection</a:t>
                      </a:r>
                    </a:p>
                  </a:txBody>
                  <a:tcPr>
                    <a:solidFill>
                      <a:srgbClr val="E4F7D9"/>
                    </a:solidFill>
                  </a:tcPr>
                </a:tc>
                <a:extLst>
                  <a:ext uri="{0D108BD9-81ED-4DB2-BD59-A6C34878D82A}">
                    <a16:rowId xmlns:a16="http://schemas.microsoft.com/office/drawing/2014/main" val="10002"/>
                  </a:ext>
                </a:extLst>
              </a:tr>
              <a:tr h="226573">
                <a:tc>
                  <a:txBody>
                    <a:bodyPr/>
                    <a:lstStyle/>
                    <a:p>
                      <a:r>
                        <a:rPr sz="700" b="0">
                          <a:solidFill>
                            <a:srgbClr val="1A2662"/>
                          </a:solidFill>
                        </a:rPr>
                        <a:t>Measure Concept</a:t>
                      </a:r>
                    </a:p>
                  </a:txBody>
                  <a:tcPr>
                    <a:solidFill>
                      <a:srgbClr val="E4F7D9"/>
                    </a:solidFill>
                  </a:tcPr>
                </a:tc>
                <a:tc>
                  <a:txBody>
                    <a:bodyPr/>
                    <a:lstStyle/>
                    <a:p>
                      <a:r>
                        <a:rPr sz="700" b="0">
                          <a:solidFill>
                            <a:srgbClr val="1A2662"/>
                          </a:solidFill>
                        </a:rPr>
                        <a:t>Trigger Indicator</a:t>
                      </a:r>
                    </a:p>
                  </a:txBody>
                  <a:tcPr>
                    <a:solidFill>
                      <a:srgbClr val="E4F7D9"/>
                    </a:solidFill>
                  </a:tcPr>
                </a:tc>
                <a:tc>
                  <a:txBody>
                    <a:bodyPr/>
                    <a:lstStyle/>
                    <a:p>
                      <a:r>
                        <a:rPr sz="700" b="0">
                          <a:solidFill>
                            <a:srgbClr val="1A2662"/>
                          </a:solidFill>
                        </a:rPr>
                        <a:t>Frame Origin</a:t>
                      </a:r>
                    </a:p>
                  </a:txBody>
                  <a:tcPr>
                    <a:solidFill>
                      <a:srgbClr val="E4F7D9"/>
                    </a:solidFill>
                  </a:tcPr>
                </a:tc>
                <a:extLst>
                  <a:ext uri="{0D108BD9-81ED-4DB2-BD59-A6C34878D82A}">
                    <a16:rowId xmlns:a16="http://schemas.microsoft.com/office/drawing/2014/main" val="10003"/>
                  </a:ext>
                </a:extLst>
              </a:tr>
              <a:tr h="226573">
                <a:tc>
                  <a:txBody>
                    <a:bodyPr/>
                    <a:lstStyle/>
                    <a:p>
                      <a:r>
                        <a:rPr sz="700" b="0">
                          <a:solidFill>
                            <a:srgbClr val="1A2662"/>
                          </a:solidFill>
                        </a:rPr>
                        <a:t>Delta</a:t>
                      </a:r>
                    </a:p>
                  </a:txBody>
                  <a:tcPr>
                    <a:solidFill>
                      <a:srgbClr val="E4F7D9"/>
                    </a:solidFill>
                  </a:tcPr>
                </a:tc>
                <a:tc>
                  <a:txBody>
                    <a:bodyPr/>
                    <a:lstStyle/>
                    <a:p>
                      <a:r>
                        <a:rPr sz="700" b="0">
                          <a:solidFill>
                            <a:srgbClr val="1A2662"/>
                          </a:solidFill>
                        </a:rPr>
                        <a:t>Factor Object</a:t>
                      </a:r>
                    </a:p>
                  </a:txBody>
                  <a:tcPr>
                    <a:solidFill>
                      <a:srgbClr val="E4F7D9"/>
                    </a:solidFill>
                  </a:tcPr>
                </a:tc>
                <a:tc>
                  <a:txBody>
                    <a:bodyPr/>
                    <a:lstStyle/>
                    <a:p>
                      <a:r>
                        <a:rPr sz="700" b="0">
                          <a:solidFill>
                            <a:srgbClr val="1A2662"/>
                          </a:solidFill>
                        </a:rPr>
                        <a:t>Status</a:t>
                      </a:r>
                    </a:p>
                  </a:txBody>
                  <a:tcPr>
                    <a:solidFill>
                      <a:srgbClr val="E4F7D9"/>
                    </a:solidFill>
                  </a:tcPr>
                </a:tc>
                <a:extLst>
                  <a:ext uri="{0D108BD9-81ED-4DB2-BD59-A6C34878D82A}">
                    <a16:rowId xmlns:a16="http://schemas.microsoft.com/office/drawing/2014/main" val="10004"/>
                  </a:ext>
                </a:extLst>
              </a:tr>
              <a:tr h="226573">
                <a:tc>
                  <a:txBody>
                    <a:bodyPr/>
                    <a:lstStyle/>
                    <a:p>
                      <a:r>
                        <a:rPr sz="700" b="0">
                          <a:solidFill>
                            <a:srgbClr val="1A2662"/>
                          </a:solidFill>
                        </a:rPr>
                        <a:t>Detail Event</a:t>
                      </a:r>
                    </a:p>
                  </a:txBody>
                  <a:tcPr>
                    <a:solidFill>
                      <a:srgbClr val="E4F7D9"/>
                    </a:solidFill>
                  </a:tcPr>
                </a:tc>
                <a:tc>
                  <a:txBody>
                    <a:bodyPr/>
                    <a:lstStyle/>
                    <a:p>
                      <a:r>
                        <a:rPr sz="700" b="0">
                          <a:solidFill>
                            <a:srgbClr val="1A2662"/>
                          </a:solidFill>
                        </a:rPr>
                        <a:t>Insight Runtime</a:t>
                      </a:r>
                    </a:p>
                  </a:txBody>
                  <a:tcPr>
                    <a:solidFill>
                      <a:srgbClr val="E4F7D9"/>
                    </a:solidFill>
                  </a:tcPr>
                </a:tc>
                <a:tc>
                  <a:txBody>
                    <a:bodyPr/>
                    <a:lstStyle/>
                    <a:p>
                      <a:r>
                        <a:rPr sz="700" b="0">
                          <a:solidFill>
                            <a:srgbClr val="1A2662"/>
                          </a:solidFill>
                        </a:rPr>
                        <a:t>Segment</a:t>
                      </a:r>
                    </a:p>
                  </a:txBody>
                  <a:tcPr>
                    <a:solidFill>
                      <a:srgbClr val="E4F7D9"/>
                    </a:solidFill>
                  </a:tcPr>
                </a:tc>
                <a:extLst>
                  <a:ext uri="{0D108BD9-81ED-4DB2-BD59-A6C34878D82A}">
                    <a16:rowId xmlns:a16="http://schemas.microsoft.com/office/drawing/2014/main" val="10005"/>
                  </a:ext>
                </a:extLst>
              </a:tr>
              <a:tr h="226576">
                <a:tc>
                  <a:txBody>
                    <a:bodyPr/>
                    <a:lstStyle/>
                    <a:p>
                      <a:r>
                        <a:rPr sz="700" b="0">
                          <a:solidFill>
                            <a:srgbClr val="1A2662"/>
                          </a:solidFill>
                        </a:rPr>
                        <a:t>Array</a:t>
                      </a:r>
                    </a:p>
                  </a:txBody>
                  <a:tcPr>
                    <a:solidFill>
                      <a:srgbClr val="E4F7D9"/>
                    </a:solidFill>
                  </a:tcPr>
                </a:tc>
                <a:tc>
                  <a:txBody>
                    <a:bodyPr/>
                    <a:lstStyle/>
                    <a:p>
                      <a:r>
                        <a:rPr sz="700" b="0">
                          <a:solidFill>
                            <a:srgbClr val="1A2662"/>
                          </a:solidFill>
                        </a:rPr>
                        <a:t>Record</a:t>
                      </a:r>
                    </a:p>
                  </a:txBody>
                  <a:tcPr>
                    <a:solidFill>
                      <a:srgbClr val="E4F7D9"/>
                    </a:solidFill>
                  </a:tcPr>
                </a:tc>
                <a:tc>
                  <a:txBody>
                    <a:bodyPr/>
                    <a:lstStyle/>
                    <a:p>
                      <a:r>
                        <a:rPr sz="700" b="0">
                          <a:solidFill>
                            <a:srgbClr val="1A2662"/>
                          </a:solidFill>
                        </a:rPr>
                        <a:t>Signal Cadence</a:t>
                      </a:r>
                    </a:p>
                  </a:txBody>
                  <a:tcPr>
                    <a:solidFill>
                      <a:srgbClr val="E4F7D9"/>
                    </a:solidFill>
                  </a:tcPr>
                </a:tc>
                <a:extLst>
                  <a:ext uri="{0D108BD9-81ED-4DB2-BD59-A6C34878D82A}">
                    <a16:rowId xmlns:a16="http://schemas.microsoft.com/office/drawing/2014/main" val="10006"/>
                  </a:ext>
                </a:extLst>
              </a:tr>
            </a:tbl>
          </a:graphicData>
        </a:graphic>
      </p:graphicFrame>
      <p:pic>
        <p:nvPicPr>
          <p:cNvPr id="30" name="Graphic 29">
            <a:extLst>
              <a:ext uri="{FF2B5EF4-FFF2-40B4-BE49-F238E27FC236}">
                <a16:creationId xmlns:a16="http://schemas.microsoft.com/office/drawing/2014/main" id="{6FD42E82-CCEF-C1FB-DBA7-663DBDAAFE9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470936" y="4091130"/>
            <a:ext cx="1593537" cy="877832"/>
          </a:xfrm>
          <a:prstGeom prst="rect">
            <a:avLst/>
          </a:prstGeom>
        </p:spPr>
      </p:pic>
      <p:pic>
        <p:nvPicPr>
          <p:cNvPr id="32" name="Graphic 31">
            <a:extLst>
              <a:ext uri="{FF2B5EF4-FFF2-40B4-BE49-F238E27FC236}">
                <a16:creationId xmlns:a16="http://schemas.microsoft.com/office/drawing/2014/main" id="{41D50E01-81A5-95D9-E029-C6AC270BAAD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71588" y="4996635"/>
            <a:ext cx="1197668" cy="850914"/>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8468692" y="5576251"/>
            <a:ext cx="930858" cy="878352"/>
          </a:xfrm>
          <a:custGeom>
            <a:avLst/>
            <a:gdLst/>
            <a:ahLst/>
            <a:cxnLst/>
            <a:rect l="l" t="t" r="r" b="b"/>
            <a:pathLst>
              <a:path w="930858" h="878352">
                <a:moveTo>
                  <a:pt x="465429" y="0"/>
                </a:moveTo>
                <a:lnTo>
                  <a:pt x="581786" y="219588"/>
                </a:lnTo>
                <a:lnTo>
                  <a:pt x="872679" y="158103"/>
                </a:lnTo>
                <a:lnTo>
                  <a:pt x="707840" y="439176"/>
                </a:lnTo>
                <a:lnTo>
                  <a:pt x="930858" y="685115"/>
                </a:lnTo>
                <a:lnTo>
                  <a:pt x="581786" y="632414"/>
                </a:lnTo>
                <a:lnTo>
                  <a:pt x="465429" y="878352"/>
                </a:lnTo>
                <a:lnTo>
                  <a:pt x="349072" y="632414"/>
                </a:lnTo>
                <a:lnTo>
                  <a:pt x="0" y="685115"/>
                </a:lnTo>
                <a:lnTo>
                  <a:pt x="223018" y="439176"/>
                </a:lnTo>
                <a:lnTo>
                  <a:pt x="58179" y="158103"/>
                </a:lnTo>
                <a:lnTo>
                  <a:pt x="349072" y="219588"/>
                </a:lnTo>
                <a:close/>
              </a:path>
            </a:pathLst>
          </a:custGeom>
          <a:solidFill>
            <a:srgbClr val="BC7D53"/>
          </a:solidFill>
          <a:ln w="19501">
            <a:solidFill>
              <a:srgbClr val="B598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1814" y="4347045"/>
            <a:ext cx="665713" cy="990906"/>
          </a:xfrm>
          <a:prstGeom prst="rect">
            <a:avLst/>
          </a:prstGeom>
          <a:noFill/>
        </p:spPr>
        <p:txBody>
          <a:bodyPr wrap="none" lIns="58069" tIns="58069" rIns="58069" bIns="58069">
            <a:spAutoFit/>
          </a:bodyPr>
          <a:lstStyle/>
          <a:p>
            <a:r>
              <a:rPr sz="1400" b="1" i="0" u="none">
                <a:solidFill>
                  <a:srgbClr val="E488DC"/>
                </a:solidFill>
                <a:latin typeface="Trebuchet MS"/>
              </a:rPr>
              <a:t>Order Data Drift Report Journey Topology Release Beacon Schema Point Stage Profile Report Action Stream Function Command Aspect Guide Function Object Balance Canvas Point Direction Result Zone Collection Orbit Graph Craft Mode</a:t>
            </a:r>
          </a:p>
        </p:txBody>
      </p:sp>
      <p:graphicFrame>
        <p:nvGraphicFramePr>
          <p:cNvPr id="4" name="Chart 3"/>
          <p:cNvGraphicFramePr>
            <a:graphicFrameLocks noGrp="1"/>
          </p:cNvGraphicFramePr>
          <p:nvPr/>
        </p:nvGraphicFramePr>
        <p:xfrm>
          <a:off x="6107772" y="1454511"/>
          <a:ext cx="2349692" cy="1924906"/>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Connector 4"/>
          <p:cNvCxnSpPr/>
          <p:nvPr/>
        </p:nvCxnSpPr>
        <p:spPr>
          <a:xfrm flipV="1">
            <a:off x="5330788" y="5960342"/>
            <a:ext cx="3067898" cy="628724"/>
          </a:xfrm>
          <a:prstGeom prst="curvedConnector3">
            <a:avLst/>
          </a:prstGeom>
          <a:ln w="14862">
            <a:solidFill>
              <a:srgbClr val="D444B6"/>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8403638" y="1620122"/>
          <a:ext cx="2752182" cy="1436957"/>
        </p:xfrm>
        <a:graphic>
          <a:graphicData uri="http://schemas.openxmlformats.org/drawingml/2006/table">
            <a:tbl>
              <a:tblPr firstRow="1" bandRow="1">
                <a:tableStyleId>{5C22544A-7EE6-4342-B048-85BDC9FD1C3A}</a:tableStyleId>
              </a:tblPr>
              <a:tblGrid>
                <a:gridCol w="688045">
                  <a:extLst>
                    <a:ext uri="{9D8B030D-6E8A-4147-A177-3AD203B41FA5}">
                      <a16:colId xmlns:a16="http://schemas.microsoft.com/office/drawing/2014/main" val="20000"/>
                    </a:ext>
                  </a:extLst>
                </a:gridCol>
                <a:gridCol w="688045">
                  <a:extLst>
                    <a:ext uri="{9D8B030D-6E8A-4147-A177-3AD203B41FA5}">
                      <a16:colId xmlns:a16="http://schemas.microsoft.com/office/drawing/2014/main" val="20001"/>
                    </a:ext>
                  </a:extLst>
                </a:gridCol>
                <a:gridCol w="688045">
                  <a:extLst>
                    <a:ext uri="{9D8B030D-6E8A-4147-A177-3AD203B41FA5}">
                      <a16:colId xmlns:a16="http://schemas.microsoft.com/office/drawing/2014/main" val="20002"/>
                    </a:ext>
                  </a:extLst>
                </a:gridCol>
                <a:gridCol w="688047">
                  <a:extLst>
                    <a:ext uri="{9D8B030D-6E8A-4147-A177-3AD203B41FA5}">
                      <a16:colId xmlns:a16="http://schemas.microsoft.com/office/drawing/2014/main" val="20003"/>
                    </a:ext>
                  </a:extLst>
                </a:gridCol>
              </a:tblGrid>
              <a:tr h="205279">
                <a:tc>
                  <a:txBody>
                    <a:bodyPr/>
                    <a:lstStyle/>
                    <a:p>
                      <a:r>
                        <a:rPr sz="700" b="1">
                          <a:solidFill>
                            <a:srgbClr val="98256E"/>
                          </a:solidFill>
                        </a:rPr>
                        <a:t>Beta Pulse</a:t>
                      </a:r>
                    </a:p>
                  </a:txBody>
                  <a:tcPr>
                    <a:solidFill>
                      <a:srgbClr val="DDABC0"/>
                    </a:solidFill>
                  </a:tcPr>
                </a:tc>
                <a:tc>
                  <a:txBody>
                    <a:bodyPr/>
                    <a:lstStyle/>
                    <a:p>
                      <a:r>
                        <a:rPr sz="700" b="1">
                          <a:solidFill>
                            <a:srgbClr val="98256E"/>
                          </a:solidFill>
                        </a:rPr>
                        <a:t>Spectrum Exchange</a:t>
                      </a:r>
                    </a:p>
                  </a:txBody>
                  <a:tcPr>
                    <a:solidFill>
                      <a:srgbClr val="DDABC0"/>
                    </a:solidFill>
                  </a:tcPr>
                </a:tc>
                <a:tc>
                  <a:txBody>
                    <a:bodyPr/>
                    <a:lstStyle/>
                    <a:p>
                      <a:r>
                        <a:rPr sz="700" b="1">
                          <a:solidFill>
                            <a:srgbClr val="98256E"/>
                          </a:solidFill>
                        </a:rPr>
                        <a:t>Engine Region</a:t>
                      </a:r>
                    </a:p>
                  </a:txBody>
                  <a:tcPr>
                    <a:solidFill>
                      <a:srgbClr val="DDABC0"/>
                    </a:solidFill>
                  </a:tcPr>
                </a:tc>
                <a:tc>
                  <a:txBody>
                    <a:bodyPr/>
                    <a:lstStyle/>
                    <a:p>
                      <a:r>
                        <a:rPr sz="700" b="1">
                          <a:solidFill>
                            <a:srgbClr val="98256E"/>
                          </a:solidFill>
                        </a:rPr>
                        <a:t>Lineage</a:t>
                      </a:r>
                    </a:p>
                  </a:txBody>
                  <a:tcPr>
                    <a:solidFill>
                      <a:srgbClr val="DDABC0"/>
                    </a:solidFill>
                  </a:tcPr>
                </a:tc>
                <a:extLst>
                  <a:ext uri="{0D108BD9-81ED-4DB2-BD59-A6C34878D82A}">
                    <a16:rowId xmlns:a16="http://schemas.microsoft.com/office/drawing/2014/main" val="10000"/>
                  </a:ext>
                </a:extLst>
              </a:tr>
              <a:tr h="205279">
                <a:tc>
                  <a:txBody>
                    <a:bodyPr/>
                    <a:lstStyle/>
                    <a:p>
                      <a:r>
                        <a:rPr sz="700" b="0">
                          <a:solidFill>
                            <a:srgbClr val="98256E"/>
                          </a:solidFill>
                        </a:rPr>
                        <a:t>Craft</a:t>
                      </a:r>
                    </a:p>
                  </a:txBody>
                  <a:tcPr>
                    <a:solidFill>
                      <a:srgbClr val="EADDF6"/>
                    </a:solidFill>
                  </a:tcPr>
                </a:tc>
                <a:tc>
                  <a:txBody>
                    <a:bodyPr/>
                    <a:lstStyle/>
                    <a:p>
                      <a:r>
                        <a:rPr sz="700" b="0">
                          <a:solidFill>
                            <a:srgbClr val="98256E"/>
                          </a:solidFill>
                        </a:rPr>
                        <a:t>Array Queue</a:t>
                      </a:r>
                    </a:p>
                  </a:txBody>
                  <a:tcPr>
                    <a:solidFill>
                      <a:srgbClr val="EADDF6"/>
                    </a:solidFill>
                  </a:tcPr>
                </a:tc>
                <a:tc>
                  <a:txBody>
                    <a:bodyPr/>
                    <a:lstStyle/>
                    <a:p>
                      <a:r>
                        <a:rPr sz="700" b="0">
                          <a:solidFill>
                            <a:srgbClr val="98256E"/>
                          </a:solidFill>
                        </a:rPr>
                        <a:t>Scale Texture</a:t>
                      </a:r>
                    </a:p>
                  </a:txBody>
                  <a:tcPr>
                    <a:solidFill>
                      <a:srgbClr val="EADDF6"/>
                    </a:solidFill>
                  </a:tcPr>
                </a:tc>
                <a:tc>
                  <a:txBody>
                    <a:bodyPr/>
                    <a:lstStyle/>
                    <a:p>
                      <a:r>
                        <a:rPr sz="700" b="0">
                          <a:solidFill>
                            <a:srgbClr val="98256E"/>
                          </a:solidFill>
                        </a:rPr>
                        <a:t>Profile</a:t>
                      </a:r>
                    </a:p>
                  </a:txBody>
                  <a:tcPr>
                    <a:solidFill>
                      <a:srgbClr val="EADDF6"/>
                    </a:solidFill>
                  </a:tcPr>
                </a:tc>
                <a:extLst>
                  <a:ext uri="{0D108BD9-81ED-4DB2-BD59-A6C34878D82A}">
                    <a16:rowId xmlns:a16="http://schemas.microsoft.com/office/drawing/2014/main" val="10001"/>
                  </a:ext>
                </a:extLst>
              </a:tr>
              <a:tr h="205279">
                <a:tc>
                  <a:txBody>
                    <a:bodyPr/>
                    <a:lstStyle/>
                    <a:p>
                      <a:r>
                        <a:rPr sz="700" b="0">
                          <a:solidFill>
                            <a:srgbClr val="98256E"/>
                          </a:solidFill>
                        </a:rPr>
                        <a:t>Instance</a:t>
                      </a:r>
                    </a:p>
                  </a:txBody>
                  <a:tcPr>
                    <a:solidFill>
                      <a:srgbClr val="EADDF6"/>
                    </a:solidFill>
                  </a:tcPr>
                </a:tc>
                <a:tc>
                  <a:txBody>
                    <a:bodyPr/>
                    <a:lstStyle/>
                    <a:p>
                      <a:r>
                        <a:rPr sz="700" b="0">
                          <a:solidFill>
                            <a:srgbClr val="98256E"/>
                          </a:solidFill>
                        </a:rPr>
                        <a:t>Summary</a:t>
                      </a:r>
                    </a:p>
                  </a:txBody>
                  <a:tcPr>
                    <a:solidFill>
                      <a:srgbClr val="EADDF6"/>
                    </a:solidFill>
                  </a:tcPr>
                </a:tc>
                <a:tc>
                  <a:txBody>
                    <a:bodyPr/>
                    <a:lstStyle/>
                    <a:p>
                      <a:r>
                        <a:rPr sz="700" b="0">
                          <a:solidFill>
                            <a:srgbClr val="98256E"/>
                          </a:solidFill>
                        </a:rPr>
                        <a:t>Spectrum Feature</a:t>
                      </a:r>
                    </a:p>
                  </a:txBody>
                  <a:tcPr>
                    <a:solidFill>
                      <a:srgbClr val="EADDF6"/>
                    </a:solidFill>
                  </a:tcPr>
                </a:tc>
                <a:tc>
                  <a:txBody>
                    <a:bodyPr/>
                    <a:lstStyle/>
                    <a:p>
                      <a:r>
                        <a:rPr sz="700" b="0">
                          <a:solidFill>
                            <a:srgbClr val="98256E"/>
                          </a:solidFill>
                        </a:rPr>
                        <a:t>Kernel</a:t>
                      </a:r>
                    </a:p>
                  </a:txBody>
                  <a:tcPr>
                    <a:solidFill>
                      <a:srgbClr val="EADDF6"/>
                    </a:solidFill>
                  </a:tcPr>
                </a:tc>
                <a:extLst>
                  <a:ext uri="{0D108BD9-81ED-4DB2-BD59-A6C34878D82A}">
                    <a16:rowId xmlns:a16="http://schemas.microsoft.com/office/drawing/2014/main" val="10002"/>
                  </a:ext>
                </a:extLst>
              </a:tr>
              <a:tr h="205279">
                <a:tc>
                  <a:txBody>
                    <a:bodyPr/>
                    <a:lstStyle/>
                    <a:p>
                      <a:r>
                        <a:rPr sz="700" b="0">
                          <a:solidFill>
                            <a:srgbClr val="98256E"/>
                          </a:solidFill>
                        </a:rPr>
                        <a:t>Station Table</a:t>
                      </a:r>
                    </a:p>
                  </a:txBody>
                  <a:tcPr>
                    <a:solidFill>
                      <a:srgbClr val="EADDF6"/>
                    </a:solidFill>
                  </a:tcPr>
                </a:tc>
                <a:tc>
                  <a:txBody>
                    <a:bodyPr/>
                    <a:lstStyle/>
                    <a:p>
                      <a:r>
                        <a:rPr sz="700" b="0">
                          <a:solidFill>
                            <a:srgbClr val="98256E"/>
                          </a:solidFill>
                        </a:rPr>
                        <a:t>Queue</a:t>
                      </a:r>
                    </a:p>
                  </a:txBody>
                  <a:tcPr>
                    <a:solidFill>
                      <a:srgbClr val="EADDF6"/>
                    </a:solidFill>
                  </a:tcPr>
                </a:tc>
                <a:tc>
                  <a:txBody>
                    <a:bodyPr/>
                    <a:lstStyle/>
                    <a:p>
                      <a:r>
                        <a:rPr sz="700" b="0">
                          <a:solidFill>
                            <a:srgbClr val="98256E"/>
                          </a:solidFill>
                        </a:rPr>
                        <a:t>Chart</a:t>
                      </a:r>
                    </a:p>
                  </a:txBody>
                  <a:tcPr>
                    <a:solidFill>
                      <a:srgbClr val="EADDF6"/>
                    </a:solidFill>
                  </a:tcPr>
                </a:tc>
                <a:tc>
                  <a:txBody>
                    <a:bodyPr/>
                    <a:lstStyle/>
                    <a:p>
                      <a:r>
                        <a:rPr sz="700" b="0">
                          <a:solidFill>
                            <a:srgbClr val="98256E"/>
                          </a:solidFill>
                        </a:rPr>
                        <a:t>Ledger Memory</a:t>
                      </a:r>
                    </a:p>
                  </a:txBody>
                  <a:tcPr>
                    <a:solidFill>
                      <a:srgbClr val="EADDF6"/>
                    </a:solidFill>
                  </a:tcPr>
                </a:tc>
                <a:extLst>
                  <a:ext uri="{0D108BD9-81ED-4DB2-BD59-A6C34878D82A}">
                    <a16:rowId xmlns:a16="http://schemas.microsoft.com/office/drawing/2014/main" val="10003"/>
                  </a:ext>
                </a:extLst>
              </a:tr>
              <a:tr h="205279">
                <a:tc>
                  <a:txBody>
                    <a:bodyPr/>
                    <a:lstStyle/>
                    <a:p>
                      <a:r>
                        <a:rPr sz="700" b="0">
                          <a:solidFill>
                            <a:srgbClr val="98256E"/>
                          </a:solidFill>
                        </a:rPr>
                        <a:t>Entity</a:t>
                      </a:r>
                    </a:p>
                  </a:txBody>
                  <a:tcPr>
                    <a:solidFill>
                      <a:srgbClr val="EADDF6"/>
                    </a:solidFill>
                  </a:tcPr>
                </a:tc>
                <a:tc>
                  <a:txBody>
                    <a:bodyPr/>
                    <a:lstStyle/>
                    <a:p>
                      <a:r>
                        <a:rPr sz="700" b="0">
                          <a:solidFill>
                            <a:srgbClr val="98256E"/>
                          </a:solidFill>
                        </a:rPr>
                        <a:t>Dashboard</a:t>
                      </a:r>
                    </a:p>
                  </a:txBody>
                  <a:tcPr>
                    <a:solidFill>
                      <a:srgbClr val="EADDF6"/>
                    </a:solidFill>
                  </a:tcPr>
                </a:tc>
                <a:tc>
                  <a:txBody>
                    <a:bodyPr/>
                    <a:lstStyle/>
                    <a:p>
                      <a:r>
                        <a:rPr sz="700" b="0">
                          <a:solidFill>
                            <a:srgbClr val="98256E"/>
                          </a:solidFill>
                        </a:rPr>
                        <a:t>Order Threshold</a:t>
                      </a:r>
                    </a:p>
                  </a:txBody>
                  <a:tcPr>
                    <a:solidFill>
                      <a:srgbClr val="EADDF6"/>
                    </a:solidFill>
                  </a:tcPr>
                </a:tc>
                <a:tc>
                  <a:txBody>
                    <a:bodyPr/>
                    <a:lstStyle/>
                    <a:p>
                      <a:r>
                        <a:rPr sz="700" b="0">
                          <a:solidFill>
                            <a:srgbClr val="98256E"/>
                          </a:solidFill>
                        </a:rPr>
                        <a:t>Trace Anchor</a:t>
                      </a:r>
                    </a:p>
                  </a:txBody>
                  <a:tcPr>
                    <a:solidFill>
                      <a:srgbClr val="EADDF6"/>
                    </a:solidFill>
                  </a:tcPr>
                </a:tc>
                <a:extLst>
                  <a:ext uri="{0D108BD9-81ED-4DB2-BD59-A6C34878D82A}">
                    <a16:rowId xmlns:a16="http://schemas.microsoft.com/office/drawing/2014/main" val="10004"/>
                  </a:ext>
                </a:extLst>
              </a:tr>
              <a:tr h="205279">
                <a:tc>
                  <a:txBody>
                    <a:bodyPr/>
                    <a:lstStyle/>
                    <a:p>
                      <a:r>
                        <a:rPr sz="700" b="0">
                          <a:solidFill>
                            <a:srgbClr val="98256E"/>
                          </a:solidFill>
                        </a:rPr>
                        <a:t>Ledger</a:t>
                      </a:r>
                    </a:p>
                  </a:txBody>
                  <a:tcPr>
                    <a:solidFill>
                      <a:srgbClr val="EADDF6"/>
                    </a:solidFill>
                  </a:tcPr>
                </a:tc>
                <a:tc>
                  <a:txBody>
                    <a:bodyPr/>
                    <a:lstStyle/>
                    <a:p>
                      <a:r>
                        <a:rPr sz="700" b="0">
                          <a:solidFill>
                            <a:srgbClr val="98256E"/>
                          </a:solidFill>
                        </a:rPr>
                        <a:t>Density Marker</a:t>
                      </a:r>
                    </a:p>
                  </a:txBody>
                  <a:tcPr>
                    <a:solidFill>
                      <a:srgbClr val="EADDF6"/>
                    </a:solidFill>
                  </a:tcPr>
                </a:tc>
                <a:tc>
                  <a:txBody>
                    <a:bodyPr/>
                    <a:lstStyle/>
                    <a:p>
                      <a:r>
                        <a:rPr sz="700" b="0">
                          <a:solidFill>
                            <a:srgbClr val="98256E"/>
                          </a:solidFill>
                        </a:rPr>
                        <a:t>Direction Frequency</a:t>
                      </a:r>
                    </a:p>
                  </a:txBody>
                  <a:tcPr>
                    <a:solidFill>
                      <a:srgbClr val="EADDF6"/>
                    </a:solidFill>
                  </a:tcPr>
                </a:tc>
                <a:tc>
                  <a:txBody>
                    <a:bodyPr/>
                    <a:lstStyle/>
                    <a:p>
                      <a:r>
                        <a:rPr sz="700" b="0">
                          <a:solidFill>
                            <a:srgbClr val="98256E"/>
                          </a:solidFill>
                        </a:rPr>
                        <a:t>Grid</a:t>
                      </a:r>
                    </a:p>
                  </a:txBody>
                  <a:tcPr>
                    <a:solidFill>
                      <a:srgbClr val="EADDF6"/>
                    </a:solidFill>
                  </a:tcPr>
                </a:tc>
                <a:extLst>
                  <a:ext uri="{0D108BD9-81ED-4DB2-BD59-A6C34878D82A}">
                    <a16:rowId xmlns:a16="http://schemas.microsoft.com/office/drawing/2014/main" val="10005"/>
                  </a:ext>
                </a:extLst>
              </a:tr>
              <a:tr h="205283">
                <a:tc>
                  <a:txBody>
                    <a:bodyPr/>
                    <a:lstStyle/>
                    <a:p>
                      <a:r>
                        <a:rPr sz="700" b="0">
                          <a:solidFill>
                            <a:srgbClr val="98256E"/>
                          </a:solidFill>
                        </a:rPr>
                        <a:t>Frame</a:t>
                      </a:r>
                    </a:p>
                  </a:txBody>
                  <a:tcPr>
                    <a:solidFill>
                      <a:srgbClr val="EADDF6"/>
                    </a:solidFill>
                  </a:tcPr>
                </a:tc>
                <a:tc>
                  <a:txBody>
                    <a:bodyPr/>
                    <a:lstStyle/>
                    <a:p>
                      <a:r>
                        <a:rPr sz="700" b="0">
                          <a:solidFill>
                            <a:srgbClr val="98256E"/>
                          </a:solidFill>
                        </a:rPr>
                        <a:t>Energy Domain</a:t>
                      </a:r>
                    </a:p>
                  </a:txBody>
                  <a:tcPr>
                    <a:solidFill>
                      <a:srgbClr val="EADDF6"/>
                    </a:solidFill>
                  </a:tcPr>
                </a:tc>
                <a:tc>
                  <a:txBody>
                    <a:bodyPr/>
                    <a:lstStyle/>
                    <a:p>
                      <a:r>
                        <a:rPr sz="700" b="0">
                          <a:solidFill>
                            <a:srgbClr val="98256E"/>
                          </a:solidFill>
                        </a:rPr>
                        <a:t>Path Cortex</a:t>
                      </a:r>
                    </a:p>
                  </a:txBody>
                  <a:tcPr>
                    <a:solidFill>
                      <a:srgbClr val="EADDF6"/>
                    </a:solidFill>
                  </a:tcPr>
                </a:tc>
                <a:tc>
                  <a:txBody>
                    <a:bodyPr/>
                    <a:lstStyle/>
                    <a:p>
                      <a:r>
                        <a:rPr sz="700" b="0">
                          <a:solidFill>
                            <a:srgbClr val="98256E"/>
                          </a:solidFill>
                        </a:rPr>
                        <a:t>Marker</a:t>
                      </a:r>
                    </a:p>
                  </a:txBody>
                  <a:tcPr>
                    <a:solidFill>
                      <a:srgbClr val="EADDF6"/>
                    </a:solidFill>
                  </a:tcPr>
                </a:tc>
                <a:extLst>
                  <a:ext uri="{0D108BD9-81ED-4DB2-BD59-A6C34878D82A}">
                    <a16:rowId xmlns:a16="http://schemas.microsoft.com/office/drawing/2014/main" val="10006"/>
                  </a:ext>
                </a:extLst>
              </a:tr>
            </a:tbl>
          </a:graphicData>
        </a:graphic>
      </p:graphicFrame>
      <p:sp>
        <p:nvSpPr>
          <p:cNvPr id="7" name="Freeform 6"/>
          <p:cNvSpPr/>
          <p:nvPr/>
        </p:nvSpPr>
        <p:spPr>
          <a:xfrm>
            <a:off x="522955" y="1484656"/>
            <a:ext cx="1435947" cy="647899"/>
          </a:xfrm>
          <a:custGeom>
            <a:avLst/>
            <a:gdLst/>
            <a:ahLst/>
            <a:cxnLst/>
            <a:rect l="l" t="t" r="r" b="b"/>
            <a:pathLst>
              <a:path w="1435947" h="647899">
                <a:moveTo>
                  <a:pt x="154403" y="110281"/>
                </a:moveTo>
                <a:lnTo>
                  <a:pt x="509529" y="0"/>
                </a:lnTo>
                <a:lnTo>
                  <a:pt x="1049939" y="55140"/>
                </a:lnTo>
                <a:lnTo>
                  <a:pt x="1435947" y="261916"/>
                </a:lnTo>
                <a:lnTo>
                  <a:pt x="1235223" y="537618"/>
                </a:lnTo>
                <a:lnTo>
                  <a:pt x="663932" y="647899"/>
                </a:lnTo>
                <a:lnTo>
                  <a:pt x="92641" y="468693"/>
                </a:lnTo>
                <a:lnTo>
                  <a:pt x="0" y="234346"/>
                </a:lnTo>
                <a:close/>
              </a:path>
            </a:pathLst>
          </a:custGeom>
          <a:solidFill>
            <a:srgbClr val="A576CD"/>
          </a:solidFill>
          <a:ln w="9136">
            <a:solidFill>
              <a:srgbClr val="DF5B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5827939" y="4331949"/>
          <a:ext cx="2575394" cy="1498245"/>
        </p:xfrm>
        <a:graphic>
          <a:graphicData uri="http://schemas.openxmlformats.org/drawingml/2006/table">
            <a:tbl>
              <a:tblPr firstRow="1" bandRow="1">
                <a:tableStyleId>{5C22544A-7EE6-4342-B048-85BDC9FD1C3A}</a:tableStyleId>
              </a:tblPr>
              <a:tblGrid>
                <a:gridCol w="429232">
                  <a:extLst>
                    <a:ext uri="{9D8B030D-6E8A-4147-A177-3AD203B41FA5}">
                      <a16:colId xmlns:a16="http://schemas.microsoft.com/office/drawing/2014/main" val="20000"/>
                    </a:ext>
                  </a:extLst>
                </a:gridCol>
                <a:gridCol w="429232">
                  <a:extLst>
                    <a:ext uri="{9D8B030D-6E8A-4147-A177-3AD203B41FA5}">
                      <a16:colId xmlns:a16="http://schemas.microsoft.com/office/drawing/2014/main" val="20001"/>
                    </a:ext>
                  </a:extLst>
                </a:gridCol>
                <a:gridCol w="429232">
                  <a:extLst>
                    <a:ext uri="{9D8B030D-6E8A-4147-A177-3AD203B41FA5}">
                      <a16:colId xmlns:a16="http://schemas.microsoft.com/office/drawing/2014/main" val="20002"/>
                    </a:ext>
                  </a:extLst>
                </a:gridCol>
                <a:gridCol w="429232">
                  <a:extLst>
                    <a:ext uri="{9D8B030D-6E8A-4147-A177-3AD203B41FA5}">
                      <a16:colId xmlns:a16="http://schemas.microsoft.com/office/drawing/2014/main" val="20003"/>
                    </a:ext>
                  </a:extLst>
                </a:gridCol>
                <a:gridCol w="429232">
                  <a:extLst>
                    <a:ext uri="{9D8B030D-6E8A-4147-A177-3AD203B41FA5}">
                      <a16:colId xmlns:a16="http://schemas.microsoft.com/office/drawing/2014/main" val="20004"/>
                    </a:ext>
                  </a:extLst>
                </a:gridCol>
                <a:gridCol w="429234">
                  <a:extLst>
                    <a:ext uri="{9D8B030D-6E8A-4147-A177-3AD203B41FA5}">
                      <a16:colId xmlns:a16="http://schemas.microsoft.com/office/drawing/2014/main" val="20005"/>
                    </a:ext>
                  </a:extLst>
                </a:gridCol>
              </a:tblGrid>
              <a:tr h="499415">
                <a:tc>
                  <a:txBody>
                    <a:bodyPr/>
                    <a:lstStyle/>
                    <a:p>
                      <a:r>
                        <a:rPr sz="1000" b="1">
                          <a:solidFill>
                            <a:srgbClr val="30457A"/>
                          </a:solidFill>
                        </a:rPr>
                        <a:t>Hub Format</a:t>
                      </a:r>
                    </a:p>
                  </a:txBody>
                  <a:tcPr>
                    <a:solidFill>
                      <a:srgbClr val="1F5B5F"/>
                    </a:solidFill>
                  </a:tcPr>
                </a:tc>
                <a:tc>
                  <a:txBody>
                    <a:bodyPr/>
                    <a:lstStyle/>
                    <a:p>
                      <a:r>
                        <a:rPr sz="1000" b="1">
                          <a:solidFill>
                            <a:srgbClr val="30457A"/>
                          </a:solidFill>
                        </a:rPr>
                        <a:t>Motion</a:t>
                      </a:r>
                    </a:p>
                  </a:txBody>
                  <a:tcPr>
                    <a:solidFill>
                      <a:srgbClr val="1F5B5F"/>
                    </a:solidFill>
                  </a:tcPr>
                </a:tc>
                <a:tc>
                  <a:txBody>
                    <a:bodyPr/>
                    <a:lstStyle/>
                    <a:p>
                      <a:r>
                        <a:rPr sz="1000" b="1">
                          <a:solidFill>
                            <a:srgbClr val="30457A"/>
                          </a:solidFill>
                        </a:rPr>
                        <a:t>Tile</a:t>
                      </a:r>
                    </a:p>
                  </a:txBody>
                  <a:tcPr>
                    <a:solidFill>
                      <a:srgbClr val="1F5B5F"/>
                    </a:solidFill>
                  </a:tcPr>
                </a:tc>
                <a:tc>
                  <a:txBody>
                    <a:bodyPr/>
                    <a:lstStyle/>
                    <a:p>
                      <a:r>
                        <a:rPr sz="1000" b="1">
                          <a:solidFill>
                            <a:srgbClr val="30457A"/>
                          </a:solidFill>
                        </a:rPr>
                        <a:t>Engine</a:t>
                      </a:r>
                    </a:p>
                  </a:txBody>
                  <a:tcPr>
                    <a:solidFill>
                      <a:srgbClr val="1F5B5F"/>
                    </a:solidFill>
                  </a:tcPr>
                </a:tc>
                <a:tc>
                  <a:txBody>
                    <a:bodyPr/>
                    <a:lstStyle/>
                    <a:p>
                      <a:r>
                        <a:rPr sz="1000" b="1">
                          <a:solidFill>
                            <a:srgbClr val="30457A"/>
                          </a:solidFill>
                        </a:rPr>
                        <a:t>Harbor</a:t>
                      </a:r>
                    </a:p>
                  </a:txBody>
                  <a:tcPr>
                    <a:solidFill>
                      <a:srgbClr val="1F5B5F"/>
                    </a:solidFill>
                  </a:tcPr>
                </a:tc>
                <a:tc>
                  <a:txBody>
                    <a:bodyPr/>
                    <a:lstStyle/>
                    <a:p>
                      <a:r>
                        <a:rPr sz="1000" b="1">
                          <a:solidFill>
                            <a:srgbClr val="30457A"/>
                          </a:solidFill>
                        </a:rPr>
                        <a:t>Origin</a:t>
                      </a:r>
                    </a:p>
                  </a:txBody>
                  <a:tcPr>
                    <a:solidFill>
                      <a:srgbClr val="1F5B5F"/>
                    </a:solidFill>
                  </a:tcPr>
                </a:tc>
                <a:extLst>
                  <a:ext uri="{0D108BD9-81ED-4DB2-BD59-A6C34878D82A}">
                    <a16:rowId xmlns:a16="http://schemas.microsoft.com/office/drawing/2014/main" val="10000"/>
                  </a:ext>
                </a:extLst>
              </a:tr>
              <a:tr h="499415">
                <a:tc>
                  <a:txBody>
                    <a:bodyPr/>
                    <a:lstStyle/>
                    <a:p>
                      <a:r>
                        <a:rPr sz="1000" b="0">
                          <a:solidFill>
                            <a:srgbClr val="30457A"/>
                          </a:solidFill>
                        </a:rPr>
                        <a:t>Sync Case</a:t>
                      </a:r>
                    </a:p>
                  </a:txBody>
                  <a:tcPr>
                    <a:solidFill>
                      <a:srgbClr val="E2E5E4"/>
                    </a:solidFill>
                  </a:tcPr>
                </a:tc>
                <a:tc>
                  <a:txBody>
                    <a:bodyPr/>
                    <a:lstStyle/>
                    <a:p>
                      <a:r>
                        <a:rPr sz="1000" b="0">
                          <a:solidFill>
                            <a:srgbClr val="30457A"/>
                          </a:solidFill>
                        </a:rPr>
                        <a:t>Blueprint</a:t>
                      </a:r>
                    </a:p>
                  </a:txBody>
                  <a:tcPr>
                    <a:solidFill>
                      <a:srgbClr val="E2E5E4"/>
                    </a:solidFill>
                  </a:tcPr>
                </a:tc>
                <a:tc>
                  <a:txBody>
                    <a:bodyPr/>
                    <a:lstStyle/>
                    <a:p>
                      <a:r>
                        <a:rPr sz="1000" b="0">
                          <a:solidFill>
                            <a:srgbClr val="30457A"/>
                          </a:solidFill>
                        </a:rPr>
                        <a:t>Gateway</a:t>
                      </a:r>
                    </a:p>
                  </a:txBody>
                  <a:tcPr>
                    <a:solidFill>
                      <a:srgbClr val="E2E5E4"/>
                    </a:solidFill>
                  </a:tcPr>
                </a:tc>
                <a:tc>
                  <a:txBody>
                    <a:bodyPr/>
                    <a:lstStyle/>
                    <a:p>
                      <a:r>
                        <a:rPr sz="1000" b="0">
                          <a:solidFill>
                            <a:srgbClr val="30457A"/>
                          </a:solidFill>
                        </a:rPr>
                        <a:t>Review Level</a:t>
                      </a:r>
                    </a:p>
                  </a:txBody>
                  <a:tcPr>
                    <a:solidFill>
                      <a:srgbClr val="E2E5E4"/>
                    </a:solidFill>
                  </a:tcPr>
                </a:tc>
                <a:tc>
                  <a:txBody>
                    <a:bodyPr/>
                    <a:lstStyle/>
                    <a:p>
                      <a:r>
                        <a:rPr sz="1000" b="0">
                          <a:solidFill>
                            <a:srgbClr val="30457A"/>
                          </a:solidFill>
                        </a:rPr>
                        <a:t>Network</a:t>
                      </a:r>
                    </a:p>
                  </a:txBody>
                  <a:tcPr>
                    <a:solidFill>
                      <a:srgbClr val="E2E5E4"/>
                    </a:solidFill>
                  </a:tcPr>
                </a:tc>
                <a:tc>
                  <a:txBody>
                    <a:bodyPr/>
                    <a:lstStyle/>
                    <a:p>
                      <a:r>
                        <a:rPr sz="1000" b="0">
                          <a:solidFill>
                            <a:srgbClr val="30457A"/>
                          </a:solidFill>
                        </a:rPr>
                        <a:t>Buffer Point</a:t>
                      </a:r>
                    </a:p>
                  </a:txBody>
                  <a:tcPr>
                    <a:solidFill>
                      <a:srgbClr val="E2E5E4"/>
                    </a:solidFill>
                  </a:tcPr>
                </a:tc>
                <a:extLst>
                  <a:ext uri="{0D108BD9-81ED-4DB2-BD59-A6C34878D82A}">
                    <a16:rowId xmlns:a16="http://schemas.microsoft.com/office/drawing/2014/main" val="10001"/>
                  </a:ext>
                </a:extLst>
              </a:tr>
              <a:tr h="499415">
                <a:tc>
                  <a:txBody>
                    <a:bodyPr/>
                    <a:lstStyle/>
                    <a:p>
                      <a:r>
                        <a:rPr sz="1000" b="0">
                          <a:solidFill>
                            <a:srgbClr val="30457A"/>
                          </a:solidFill>
                        </a:rPr>
                        <a:t>Node</a:t>
                      </a:r>
                    </a:p>
                  </a:txBody>
                  <a:tcPr>
                    <a:solidFill>
                      <a:srgbClr val="E2E5E4"/>
                    </a:solidFill>
                  </a:tcPr>
                </a:tc>
                <a:tc>
                  <a:txBody>
                    <a:bodyPr/>
                    <a:lstStyle/>
                    <a:p>
                      <a:r>
                        <a:rPr sz="1000" b="0">
                          <a:solidFill>
                            <a:srgbClr val="30457A"/>
                          </a:solidFill>
                        </a:rPr>
                        <a:t>Slice Cell</a:t>
                      </a:r>
                    </a:p>
                  </a:txBody>
                  <a:tcPr>
                    <a:solidFill>
                      <a:srgbClr val="E2E5E4"/>
                    </a:solidFill>
                  </a:tcPr>
                </a:tc>
                <a:tc>
                  <a:txBody>
                    <a:bodyPr/>
                    <a:lstStyle/>
                    <a:p>
                      <a:r>
                        <a:rPr sz="1000" b="0">
                          <a:solidFill>
                            <a:srgbClr val="30457A"/>
                          </a:solidFill>
                        </a:rPr>
                        <a:t>Rhythm</a:t>
                      </a:r>
                    </a:p>
                  </a:txBody>
                  <a:tcPr>
                    <a:solidFill>
                      <a:srgbClr val="E2E5E4"/>
                    </a:solidFill>
                  </a:tcPr>
                </a:tc>
                <a:tc>
                  <a:txBody>
                    <a:bodyPr/>
                    <a:lstStyle/>
                    <a:p>
                      <a:r>
                        <a:rPr sz="1000" b="0">
                          <a:solidFill>
                            <a:srgbClr val="30457A"/>
                          </a:solidFill>
                        </a:rPr>
                        <a:t>Package Process</a:t>
                      </a:r>
                    </a:p>
                  </a:txBody>
                  <a:tcPr>
                    <a:solidFill>
                      <a:srgbClr val="E2E5E4"/>
                    </a:solidFill>
                  </a:tcPr>
                </a:tc>
                <a:tc>
                  <a:txBody>
                    <a:bodyPr/>
                    <a:lstStyle/>
                    <a:p>
                      <a:r>
                        <a:rPr sz="1000" b="0">
                          <a:solidFill>
                            <a:srgbClr val="30457A"/>
                          </a:solidFill>
                        </a:rPr>
                        <a:t>Point</a:t>
                      </a:r>
                    </a:p>
                  </a:txBody>
                  <a:tcPr>
                    <a:solidFill>
                      <a:srgbClr val="E2E5E4"/>
                    </a:solidFill>
                  </a:tcPr>
                </a:tc>
                <a:tc>
                  <a:txBody>
                    <a:bodyPr/>
                    <a:lstStyle/>
                    <a:p>
                      <a:r>
                        <a:rPr sz="1000" b="0">
                          <a:solidFill>
                            <a:srgbClr val="30457A"/>
                          </a:solidFill>
                        </a:rPr>
                        <a:t>Workflow</a:t>
                      </a:r>
                    </a:p>
                  </a:txBody>
                  <a:tcPr>
                    <a:solidFill>
                      <a:srgbClr val="E2E5E4"/>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4685957" y="551477"/>
            <a:ext cx="578985" cy="787788"/>
          </a:xfrm>
          <a:prstGeom prst="rect">
            <a:avLst/>
          </a:prstGeom>
          <a:noFill/>
        </p:spPr>
        <p:txBody>
          <a:bodyPr wrap="none" lIns="41479" tIns="41479" rIns="41479" bIns="41479">
            <a:spAutoFit/>
          </a:bodyPr>
          <a:lstStyle/>
          <a:p>
            <a:r>
              <a:rPr sz="900" b="1" i="1" u="none">
                <a:solidFill>
                  <a:srgbClr val="53AAB9"/>
                </a:solidFill>
                <a:latin typeface="Trebuchet MS"/>
              </a:rPr>
              <a:t>Sync Control Mode Buffer Bundle Gradient Baseline Asset Indicator Timeline Edge Ledger Position Object Summary Reserve Lens Energy Core Version Pattern Kernel Feature Density Friction Balance Order Workflow Discovery Anchor Queue Anchor Portal Anchor Dimension Stage Model Measure Segment Stack Control Buffer</a:t>
            </a:r>
          </a:p>
        </p:txBody>
      </p:sp>
      <p:pic>
        <p:nvPicPr>
          <p:cNvPr id="10" name="Picture 9" descr="_example_image.jpg"/>
          <p:cNvPicPr>
            <a:picLocks noChangeAspect="1"/>
          </p:cNvPicPr>
          <p:nvPr/>
        </p:nvPicPr>
        <p:blipFill>
          <a:blip r:embed="rId3"/>
          <a:srcRect l="269" t="16354" r="14132" b="2604"/>
          <a:stretch>
            <a:fillRect/>
          </a:stretch>
        </p:blipFill>
        <p:spPr>
          <a:xfrm>
            <a:off x="2082639" y="1899235"/>
            <a:ext cx="2026244" cy="995419"/>
          </a:xfrm>
          <a:prstGeom prst="rect">
            <a:avLst/>
          </a:prstGeom>
        </p:spPr>
      </p:pic>
      <p:sp>
        <p:nvSpPr>
          <p:cNvPr id="11" name="TextBox 10"/>
          <p:cNvSpPr txBox="1"/>
          <p:nvPr/>
        </p:nvSpPr>
        <p:spPr>
          <a:xfrm>
            <a:off x="10025470" y="3155758"/>
            <a:ext cx="878445" cy="2176038"/>
          </a:xfrm>
          <a:prstGeom prst="rect">
            <a:avLst/>
          </a:prstGeom>
          <a:noFill/>
        </p:spPr>
        <p:txBody>
          <a:bodyPr wrap="none" lIns="72603" tIns="72603" rIns="72603" bIns="72603">
            <a:spAutoFit/>
          </a:bodyPr>
          <a:lstStyle/>
          <a:p>
            <a:r>
              <a:rPr sz="1100" b="0" i="0" u="none">
                <a:solidFill>
                  <a:srgbClr val="C1C147"/>
                </a:solidFill>
                <a:latin typeface="Aptos"/>
              </a:rPr>
              <a:t>Input Output Logic Design Collection View Adaptive Foundation Tile Data Signal Profile Limit Briefing Explorer Profile Buffer Dimension Portal Request Point Status Waypoint Node Priority Drift Density Vector Route Pixel Dispatch Edge Alignment Diagram Function Mesh Target Proof Delta Pixel</a:t>
            </a:r>
          </a:p>
        </p:txBody>
      </p:sp>
      <p:sp>
        <p:nvSpPr>
          <p:cNvPr id="12" name="Cloud Callout 11"/>
          <p:cNvSpPr/>
          <p:nvPr/>
        </p:nvSpPr>
        <p:spPr>
          <a:xfrm>
            <a:off x="7789242" y="3184490"/>
            <a:ext cx="1823030" cy="979258"/>
          </a:xfrm>
          <a:prstGeom prst="cloudCallout">
            <a:avLst/>
          </a:prstGeom>
          <a:solidFill>
            <a:srgbClr val="81489C"/>
          </a:solidFill>
          <a:ln w="15729">
            <a:solidFill>
              <a:srgbClr val="BF438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77727" y="3882898"/>
            <a:ext cx="1197172" cy="2323000"/>
          </a:xfrm>
          <a:prstGeom prst="rect">
            <a:avLst/>
          </a:prstGeom>
          <a:noFill/>
        </p:spPr>
        <p:txBody>
          <a:bodyPr wrap="none" lIns="81722" tIns="81722" rIns="81722" bIns="81722">
            <a:spAutoFit/>
          </a:bodyPr>
          <a:lstStyle/>
          <a:p>
            <a:r>
              <a:rPr sz="4800" b="1" i="0" u="none">
                <a:solidFill>
                  <a:srgbClr val="7035C9"/>
                </a:solidFill>
                <a:latin typeface="Aptos"/>
              </a:rPr>
              <a:t>Kernel Precision Span Engine Dimension Runtime Lens</a:t>
            </a:r>
          </a:p>
        </p:txBody>
      </p:sp>
      <p:sp>
        <p:nvSpPr>
          <p:cNvPr id="14" name="Plus 13"/>
          <p:cNvSpPr/>
          <p:nvPr/>
        </p:nvSpPr>
        <p:spPr>
          <a:xfrm>
            <a:off x="9967396" y="545736"/>
            <a:ext cx="855177" cy="1749121"/>
          </a:xfrm>
          <a:prstGeom prst="mathPlus">
            <a:avLst/>
          </a:prstGeom>
          <a:solidFill>
            <a:srgbClr val="83CA85"/>
          </a:solidFill>
          <a:ln w="18527">
            <a:solidFill>
              <a:srgbClr val="6584D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_example_image.jpg"/>
          <p:cNvPicPr>
            <a:picLocks noChangeAspect="1"/>
          </p:cNvPicPr>
          <p:nvPr/>
        </p:nvPicPr>
        <p:blipFill>
          <a:blip r:embed="rId3"/>
          <a:srcRect l="13551" t="16145" r="17219" b="20986"/>
          <a:stretch>
            <a:fillRect/>
          </a:stretch>
        </p:blipFill>
        <p:spPr>
          <a:xfrm>
            <a:off x="1384268" y="5720789"/>
            <a:ext cx="1295638" cy="893613"/>
          </a:xfrm>
          <a:prstGeom prst="rect">
            <a:avLst/>
          </a:prstGeom>
        </p:spPr>
      </p:pic>
      <p:sp>
        <p:nvSpPr>
          <p:cNvPr id="16" name="TextBox 15"/>
          <p:cNvSpPr txBox="1"/>
          <p:nvPr/>
        </p:nvSpPr>
        <p:spPr>
          <a:xfrm>
            <a:off x="691454" y="369741"/>
            <a:ext cx="3547255" cy="976424"/>
          </a:xfrm>
          <a:prstGeom prst="rect">
            <a:avLst/>
          </a:prstGeom>
          <a:solidFill>
            <a:srgbClr val="A4AAB0"/>
          </a:solidFill>
        </p:spPr>
        <p:txBody>
          <a:bodyPr wrap="none" lIns="23867" tIns="23867" rIns="23867" bIns="23867">
            <a:spAutoFit/>
          </a:bodyPr>
          <a:lstStyle/>
          <a:p>
            <a:r>
              <a:rPr sz="5200" b="1" i="0" u="none">
                <a:solidFill>
                  <a:srgbClr val="E61D75"/>
                </a:solidFill>
                <a:latin typeface="Trebuchet MS"/>
              </a:rPr>
              <a:t>Point Exchange Array Packet Transit</a:t>
            </a:r>
          </a:p>
        </p:txBody>
      </p:sp>
      <p:sp>
        <p:nvSpPr>
          <p:cNvPr id="17" name="TextBox 16"/>
          <p:cNvSpPr txBox="1"/>
          <p:nvPr/>
        </p:nvSpPr>
        <p:spPr>
          <a:xfrm>
            <a:off x="882466" y="2034270"/>
            <a:ext cx="1114037" cy="783964"/>
          </a:xfrm>
          <a:prstGeom prst="rect">
            <a:avLst/>
          </a:prstGeom>
          <a:noFill/>
        </p:spPr>
        <p:txBody>
          <a:bodyPr wrap="none" lIns="30898" tIns="30898" rIns="30898" bIns="30898">
            <a:spAutoFit/>
          </a:bodyPr>
          <a:lstStyle/>
          <a:p>
            <a:r>
              <a:rPr sz="4800" b="1" i="0" u="none">
                <a:solidFill>
                  <a:srgbClr val="4F5296"/>
                </a:solidFill>
                <a:latin typeface="Aptos"/>
              </a:rPr>
              <a:t>Focus Token Blueprint</a:t>
            </a:r>
          </a:p>
        </p:txBody>
      </p:sp>
      <p:sp>
        <p:nvSpPr>
          <p:cNvPr id="18" name="&quot;No&quot; Symbol 17"/>
          <p:cNvSpPr/>
          <p:nvPr/>
        </p:nvSpPr>
        <p:spPr>
          <a:xfrm>
            <a:off x="9085951" y="5592854"/>
            <a:ext cx="457379" cy="649082"/>
          </a:xfrm>
          <a:prstGeom prst="noSmoking">
            <a:avLst/>
          </a:prstGeom>
          <a:solidFill>
            <a:srgbClr val="3931D6"/>
          </a:solidFill>
          <a:ln w="19731">
            <a:solidFill>
              <a:srgbClr val="B982C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9" name="Chart 18"/>
          <p:cNvGraphicFramePr>
            <a:graphicFrameLocks noGrp="1"/>
          </p:cNvGraphicFramePr>
          <p:nvPr/>
        </p:nvGraphicFramePr>
        <p:xfrm>
          <a:off x="502331" y="2381359"/>
          <a:ext cx="2046513" cy="2345858"/>
        </p:xfrm>
        <a:graphic>
          <a:graphicData uri="http://schemas.openxmlformats.org/drawingml/2006/chart">
            <c:chart xmlns:c="http://schemas.openxmlformats.org/drawingml/2006/chart" xmlns:r="http://schemas.openxmlformats.org/officeDocument/2006/relationships" r:id="rId4"/>
          </a:graphicData>
        </a:graphic>
      </p:graphicFrame>
      <p:sp>
        <p:nvSpPr>
          <p:cNvPr id="20" name="Pentagon 19"/>
          <p:cNvSpPr/>
          <p:nvPr/>
        </p:nvSpPr>
        <p:spPr>
          <a:xfrm>
            <a:off x="4397953" y="2596725"/>
            <a:ext cx="2035587" cy="1629822"/>
          </a:xfrm>
          <a:prstGeom prst="homePlate">
            <a:avLst/>
          </a:prstGeom>
          <a:solidFill>
            <a:srgbClr val="616641"/>
          </a:solidFill>
          <a:ln w="19492">
            <a:solidFill>
              <a:srgbClr val="6F3FA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isplay 20"/>
          <p:cNvSpPr/>
          <p:nvPr/>
        </p:nvSpPr>
        <p:spPr>
          <a:xfrm>
            <a:off x="9979296" y="5827984"/>
            <a:ext cx="1428352" cy="491962"/>
          </a:xfrm>
          <a:prstGeom prst="flowChartDisplay">
            <a:avLst/>
          </a:prstGeom>
          <a:solidFill>
            <a:srgbClr val="55DC98"/>
          </a:solidFill>
          <a:ln w="13678">
            <a:solidFill>
              <a:srgbClr val="27A13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_example_image.jpg"/>
          <p:cNvPicPr>
            <a:picLocks noChangeAspect="1"/>
          </p:cNvPicPr>
          <p:nvPr/>
        </p:nvPicPr>
        <p:blipFill>
          <a:blip r:embed="rId3"/>
          <a:srcRect l="10540" t="14705" r="11876" b="13411"/>
          <a:stretch>
            <a:fillRect/>
          </a:stretch>
        </p:blipFill>
        <p:spPr>
          <a:xfrm>
            <a:off x="8596777" y="4158577"/>
            <a:ext cx="1434160" cy="1197894"/>
          </a:xfrm>
          <a:prstGeom prst="rect">
            <a:avLst/>
          </a:prstGeom>
        </p:spPr>
      </p:pic>
      <p:cxnSp>
        <p:nvCxnSpPr>
          <p:cNvPr id="23" name="Connector 22"/>
          <p:cNvCxnSpPr/>
          <p:nvPr/>
        </p:nvCxnSpPr>
        <p:spPr>
          <a:xfrm>
            <a:off x="1334074" y="4362461"/>
            <a:ext cx="1476696" cy="413882"/>
          </a:xfrm>
          <a:prstGeom prst="bentConnector3">
            <a:avLst/>
          </a:prstGeom>
          <a:ln w="47541">
            <a:solidFill>
              <a:srgbClr val="36A65B"/>
            </a:solidFill>
            <a:prstDash val="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12695" y="1663412"/>
            <a:ext cx="2079168" cy="419666"/>
          </a:xfrm>
          <a:prstGeom prst="curvedConnector3">
            <a:avLst/>
          </a:prstGeom>
          <a:ln w="25876">
            <a:solidFill>
              <a:srgbClr val="A9A1B8"/>
            </a:solidFill>
            <a:prstDash val="solid"/>
          </a:ln>
        </p:spPr>
        <p:style>
          <a:lnRef idx="2">
            <a:schemeClr val="accent1"/>
          </a:lnRef>
          <a:fillRef idx="0">
            <a:schemeClr val="accent1"/>
          </a:fillRef>
          <a:effectRef idx="1">
            <a:schemeClr val="accent1"/>
          </a:effectRef>
          <a:fontRef idx="minor">
            <a:schemeClr val="tx1"/>
          </a:fontRef>
        </p:style>
      </p:cxnSp>
      <p:sp>
        <p:nvSpPr>
          <p:cNvPr id="25" name="Rectangular Callout 24"/>
          <p:cNvSpPr/>
          <p:nvPr/>
        </p:nvSpPr>
        <p:spPr>
          <a:xfrm>
            <a:off x="6647256" y="521762"/>
            <a:ext cx="2485556" cy="1088755"/>
          </a:xfrm>
          <a:prstGeom prst="wedgeRectCallout">
            <a:avLst/>
          </a:prstGeom>
          <a:solidFill>
            <a:srgbClr val="9E76B3"/>
          </a:solidFill>
          <a:ln w="11878">
            <a:solidFill>
              <a:srgbClr val="9189C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011198" y="4553089"/>
            <a:ext cx="1771549" cy="830047"/>
          </a:xfrm>
          <a:prstGeom prst="ellipse">
            <a:avLst/>
          </a:prstGeom>
          <a:solidFill>
            <a:srgbClr val="9E551C"/>
          </a:solidFill>
          <a:ln w="7312">
            <a:solidFill>
              <a:srgbClr val="562FC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A63021F6-38A9-EE87-07B3-C4121E3D748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330031" y="5326993"/>
            <a:ext cx="1067691" cy="1016400"/>
          </a:xfrm>
          <a:prstGeom prst="rect">
            <a:avLst/>
          </a:prstGeom>
        </p:spPr>
      </p:pic>
      <p:pic>
        <p:nvPicPr>
          <p:cNvPr id="30" name="Graphic 29">
            <a:extLst>
              <a:ext uri="{FF2B5EF4-FFF2-40B4-BE49-F238E27FC236}">
                <a16:creationId xmlns:a16="http://schemas.microsoft.com/office/drawing/2014/main" id="{5BEDC8A6-C36D-279A-3ADF-67AE3B5FBCF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903040" y="2990508"/>
            <a:ext cx="2259514" cy="1266679"/>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732" y="3540157"/>
            <a:ext cx="417070" cy="1662566"/>
          </a:xfrm>
          <a:prstGeom prst="rect">
            <a:avLst/>
          </a:prstGeom>
          <a:noFill/>
        </p:spPr>
        <p:txBody>
          <a:bodyPr wrap="none" lIns="21399" tIns="21399" rIns="21399" bIns="21399">
            <a:spAutoFit/>
          </a:bodyPr>
          <a:lstStyle/>
          <a:p>
            <a:r>
              <a:rPr sz="1600" b="1" i="0" u="none">
                <a:solidFill>
                  <a:srgbClr val="45D4E1"/>
                </a:solidFill>
                <a:latin typeface="Arial"/>
              </a:rPr>
              <a:t>Request Range Profile Terminal Metric</a:t>
            </a:r>
          </a:p>
        </p:txBody>
      </p:sp>
      <p:cxnSp>
        <p:nvCxnSpPr>
          <p:cNvPr id="3" name="Connector 2"/>
          <p:cNvCxnSpPr/>
          <p:nvPr/>
        </p:nvCxnSpPr>
        <p:spPr>
          <a:xfrm flipV="1">
            <a:off x="217416" y="5191921"/>
            <a:ext cx="2194748" cy="683964"/>
          </a:xfrm>
          <a:prstGeom prst="curvedConnector3">
            <a:avLst/>
          </a:prstGeom>
          <a:ln w="10493">
            <a:solidFill>
              <a:srgbClr val="6E7F2F"/>
            </a:solidFill>
            <a:prstDash val="dash"/>
          </a:ln>
        </p:spPr>
        <p:style>
          <a:lnRef idx="2">
            <a:schemeClr val="accent1"/>
          </a:lnRef>
          <a:fillRef idx="0">
            <a:schemeClr val="accent1"/>
          </a:fillRef>
          <a:effectRef idx="1">
            <a:schemeClr val="accent1"/>
          </a:effectRef>
          <a:fontRef idx="minor">
            <a:schemeClr val="tx1"/>
          </a:fontRef>
        </p:style>
      </p:cxnSp>
      <p:sp>
        <p:nvSpPr>
          <p:cNvPr id="4" name="Freeform 3"/>
          <p:cNvSpPr/>
          <p:nvPr/>
        </p:nvSpPr>
        <p:spPr>
          <a:xfrm>
            <a:off x="5433307" y="5240888"/>
            <a:ext cx="1386440" cy="604061"/>
          </a:xfrm>
          <a:custGeom>
            <a:avLst/>
            <a:gdLst/>
            <a:ahLst/>
            <a:cxnLst/>
            <a:rect l="l" t="t" r="r" b="b"/>
            <a:pathLst>
              <a:path w="1386440" h="604061">
                <a:moveTo>
                  <a:pt x="693220" y="0"/>
                </a:moveTo>
                <a:lnTo>
                  <a:pt x="866525" y="151015"/>
                </a:lnTo>
                <a:lnTo>
                  <a:pt x="1299788" y="108731"/>
                </a:lnTo>
                <a:lnTo>
                  <a:pt x="1054272" y="302031"/>
                </a:lnTo>
                <a:lnTo>
                  <a:pt x="1386440" y="471168"/>
                </a:lnTo>
                <a:lnTo>
                  <a:pt x="866525" y="434924"/>
                </a:lnTo>
                <a:lnTo>
                  <a:pt x="693220" y="604061"/>
                </a:lnTo>
                <a:lnTo>
                  <a:pt x="519915" y="434924"/>
                </a:lnTo>
                <a:lnTo>
                  <a:pt x="0" y="471168"/>
                </a:lnTo>
                <a:lnTo>
                  <a:pt x="332168" y="302031"/>
                </a:lnTo>
                <a:lnTo>
                  <a:pt x="86652" y="108731"/>
                </a:lnTo>
                <a:lnTo>
                  <a:pt x="519915" y="151015"/>
                </a:lnTo>
                <a:close/>
              </a:path>
            </a:pathLst>
          </a:custGeom>
          <a:solidFill>
            <a:srgbClr val="BB99D2"/>
          </a:solidFill>
          <a:ln w="29101">
            <a:solidFill>
              <a:srgbClr val="26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2734843" y="1778129"/>
            <a:ext cx="1736769" cy="772778"/>
          </a:xfrm>
          <a:custGeom>
            <a:avLst/>
            <a:gdLst/>
            <a:ahLst/>
            <a:cxnLst/>
            <a:rect l="l" t="t" r="r" b="b"/>
            <a:pathLst>
              <a:path w="1736769" h="772778">
                <a:moveTo>
                  <a:pt x="186750" y="131537"/>
                </a:moveTo>
                <a:lnTo>
                  <a:pt x="616273" y="0"/>
                </a:lnTo>
                <a:lnTo>
                  <a:pt x="1269895" y="65769"/>
                </a:lnTo>
                <a:lnTo>
                  <a:pt x="1736769" y="312400"/>
                </a:lnTo>
                <a:lnTo>
                  <a:pt x="1493994" y="641241"/>
                </a:lnTo>
                <a:lnTo>
                  <a:pt x="803022" y="772778"/>
                </a:lnTo>
                <a:lnTo>
                  <a:pt x="112050" y="559031"/>
                </a:lnTo>
                <a:lnTo>
                  <a:pt x="0" y="279516"/>
                </a:lnTo>
                <a:close/>
              </a:path>
            </a:pathLst>
          </a:custGeom>
          <a:solidFill>
            <a:srgbClr val="741F86"/>
          </a:solidFill>
          <a:ln w="17035">
            <a:solidFill>
              <a:srgbClr val="E6D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18786" y="1121818"/>
            <a:ext cx="932241" cy="949654"/>
          </a:xfrm>
          <a:prstGeom prst="rect">
            <a:avLst/>
          </a:prstGeom>
          <a:solidFill>
            <a:srgbClr val="B2BDCA"/>
          </a:solidFill>
        </p:spPr>
        <p:txBody>
          <a:bodyPr wrap="none" lIns="26841" tIns="26841" rIns="26841" bIns="26841">
            <a:spAutoFit/>
          </a:bodyPr>
          <a:lstStyle/>
          <a:p>
            <a:r>
              <a:rPr sz="4100" b="1" i="0" u="none">
                <a:solidFill>
                  <a:srgbClr val="9B863F"/>
                </a:solidFill>
                <a:latin typeface="Georgia"/>
              </a:rPr>
              <a:t>Direction Release Frame</a:t>
            </a:r>
          </a:p>
        </p:txBody>
      </p:sp>
      <p:sp>
        <p:nvSpPr>
          <p:cNvPr id="7" name="Display 6"/>
          <p:cNvSpPr/>
          <p:nvPr/>
        </p:nvSpPr>
        <p:spPr>
          <a:xfrm>
            <a:off x="7254769" y="5004015"/>
            <a:ext cx="2200512" cy="719705"/>
          </a:xfrm>
          <a:prstGeom prst="flowChartDisplay">
            <a:avLst/>
          </a:prstGeom>
          <a:solidFill>
            <a:srgbClr val="AE253C"/>
          </a:solidFill>
          <a:ln w="30613">
            <a:solidFill>
              <a:srgbClr val="5FAD6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exagon 7"/>
          <p:cNvSpPr/>
          <p:nvPr/>
        </p:nvSpPr>
        <p:spPr>
          <a:xfrm>
            <a:off x="1010126" y="371573"/>
            <a:ext cx="1134950" cy="659730"/>
          </a:xfrm>
          <a:prstGeom prst="hexagon">
            <a:avLst/>
          </a:prstGeom>
          <a:solidFill>
            <a:srgbClr val="7BC855"/>
          </a:solidFill>
          <a:ln w="28151">
            <a:solidFill>
              <a:srgbClr val="6FA1B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90287" y="2966173"/>
            <a:ext cx="1338216" cy="2019269"/>
          </a:xfrm>
          <a:prstGeom prst="rect">
            <a:avLst/>
          </a:prstGeom>
          <a:noFill/>
        </p:spPr>
        <p:txBody>
          <a:bodyPr wrap="none" lIns="30635" tIns="30635" rIns="30635" bIns="30635">
            <a:spAutoFit/>
          </a:bodyPr>
          <a:lstStyle/>
          <a:p>
            <a:r>
              <a:rPr sz="900" b="0" i="0" u="none">
                <a:solidFill>
                  <a:srgbClr val="5E4D55"/>
                </a:solidFill>
                <a:latin typeface="Arial"/>
              </a:rPr>
              <a:t>Stream Discovery Variant Aspect Bundle Limit</a:t>
            </a:r>
          </a:p>
        </p:txBody>
      </p:sp>
      <p:graphicFrame>
        <p:nvGraphicFramePr>
          <p:cNvPr id="10" name="Table 9"/>
          <p:cNvGraphicFramePr>
            <a:graphicFrameLocks noGrp="1"/>
          </p:cNvGraphicFramePr>
          <p:nvPr/>
        </p:nvGraphicFramePr>
        <p:xfrm>
          <a:off x="1729494" y="724908"/>
          <a:ext cx="4906761" cy="942211"/>
        </p:xfrm>
        <a:graphic>
          <a:graphicData uri="http://schemas.openxmlformats.org/drawingml/2006/table">
            <a:tbl>
              <a:tblPr firstRow="1" bandRow="1">
                <a:tableStyleId>{5C22544A-7EE6-4342-B048-85BDC9FD1C3A}</a:tableStyleId>
              </a:tblPr>
              <a:tblGrid>
                <a:gridCol w="2453380">
                  <a:extLst>
                    <a:ext uri="{9D8B030D-6E8A-4147-A177-3AD203B41FA5}">
                      <a16:colId xmlns:a16="http://schemas.microsoft.com/office/drawing/2014/main" val="20000"/>
                    </a:ext>
                  </a:extLst>
                </a:gridCol>
                <a:gridCol w="2453381">
                  <a:extLst>
                    <a:ext uri="{9D8B030D-6E8A-4147-A177-3AD203B41FA5}">
                      <a16:colId xmlns:a16="http://schemas.microsoft.com/office/drawing/2014/main" val="20001"/>
                    </a:ext>
                  </a:extLst>
                </a:gridCol>
              </a:tblGrid>
              <a:tr h="157035">
                <a:tc>
                  <a:txBody>
                    <a:bodyPr/>
                    <a:lstStyle/>
                    <a:p>
                      <a:r>
                        <a:rPr sz="600" b="1">
                          <a:solidFill>
                            <a:srgbClr val="40C5C1"/>
                          </a:solidFill>
                        </a:rPr>
                        <a:t>Estimate Briefing</a:t>
                      </a:r>
                    </a:p>
                  </a:txBody>
                  <a:tcPr>
                    <a:solidFill>
                      <a:srgbClr val="CE5940"/>
                    </a:solidFill>
                  </a:tcPr>
                </a:tc>
                <a:tc>
                  <a:txBody>
                    <a:bodyPr/>
                    <a:lstStyle/>
                    <a:p>
                      <a:r>
                        <a:rPr sz="600" b="1">
                          <a:solidFill>
                            <a:srgbClr val="40C5C1"/>
                          </a:solidFill>
                        </a:rPr>
                        <a:t>Bridge Position</a:t>
                      </a:r>
                    </a:p>
                  </a:txBody>
                  <a:tcPr>
                    <a:solidFill>
                      <a:srgbClr val="CE5940"/>
                    </a:solidFill>
                  </a:tcPr>
                </a:tc>
                <a:extLst>
                  <a:ext uri="{0D108BD9-81ED-4DB2-BD59-A6C34878D82A}">
                    <a16:rowId xmlns:a16="http://schemas.microsoft.com/office/drawing/2014/main" val="10000"/>
                  </a:ext>
                </a:extLst>
              </a:tr>
              <a:tr h="157035">
                <a:tc>
                  <a:txBody>
                    <a:bodyPr/>
                    <a:lstStyle/>
                    <a:p>
                      <a:r>
                        <a:rPr sz="600" b="0">
                          <a:solidFill>
                            <a:srgbClr val="40C5C1"/>
                          </a:solidFill>
                        </a:rPr>
                        <a:t>Impact Duration</a:t>
                      </a:r>
                    </a:p>
                  </a:txBody>
                  <a:tcPr>
                    <a:solidFill>
                      <a:srgbClr val="D3D5F5"/>
                    </a:solidFill>
                  </a:tcPr>
                </a:tc>
                <a:tc>
                  <a:txBody>
                    <a:bodyPr/>
                    <a:lstStyle/>
                    <a:p>
                      <a:r>
                        <a:rPr sz="600" b="0">
                          <a:solidFill>
                            <a:srgbClr val="40C5C1"/>
                          </a:solidFill>
                        </a:rPr>
                        <a:t>Depth</a:t>
                      </a:r>
                    </a:p>
                  </a:txBody>
                  <a:tcPr>
                    <a:solidFill>
                      <a:srgbClr val="D3D5F5"/>
                    </a:solidFill>
                  </a:tcPr>
                </a:tc>
                <a:extLst>
                  <a:ext uri="{0D108BD9-81ED-4DB2-BD59-A6C34878D82A}">
                    <a16:rowId xmlns:a16="http://schemas.microsoft.com/office/drawing/2014/main" val="10001"/>
                  </a:ext>
                </a:extLst>
              </a:tr>
              <a:tr h="157035">
                <a:tc>
                  <a:txBody>
                    <a:bodyPr/>
                    <a:lstStyle/>
                    <a:p>
                      <a:r>
                        <a:rPr sz="600" b="0">
                          <a:solidFill>
                            <a:srgbClr val="40C5C1"/>
                          </a:solidFill>
                        </a:rPr>
                        <a:t>Heading Briefing</a:t>
                      </a:r>
                    </a:p>
                  </a:txBody>
                  <a:tcPr>
                    <a:solidFill>
                      <a:srgbClr val="F3F3FC"/>
                    </a:solidFill>
                  </a:tcPr>
                </a:tc>
                <a:tc>
                  <a:txBody>
                    <a:bodyPr/>
                    <a:lstStyle/>
                    <a:p>
                      <a:r>
                        <a:rPr sz="600" b="0">
                          <a:solidFill>
                            <a:srgbClr val="40C5C1"/>
                          </a:solidFill>
                        </a:rPr>
                        <a:t>Schema</a:t>
                      </a:r>
                    </a:p>
                  </a:txBody>
                  <a:tcPr>
                    <a:solidFill>
                      <a:srgbClr val="D3D5F5"/>
                    </a:solidFill>
                  </a:tcPr>
                </a:tc>
                <a:extLst>
                  <a:ext uri="{0D108BD9-81ED-4DB2-BD59-A6C34878D82A}">
                    <a16:rowId xmlns:a16="http://schemas.microsoft.com/office/drawing/2014/main" val="10002"/>
                  </a:ext>
                </a:extLst>
              </a:tr>
              <a:tr h="157035">
                <a:tc>
                  <a:txBody>
                    <a:bodyPr/>
                    <a:lstStyle/>
                    <a:p>
                      <a:r>
                        <a:rPr sz="600" b="0">
                          <a:solidFill>
                            <a:srgbClr val="40C5C1"/>
                          </a:solidFill>
                        </a:rPr>
                        <a:t>Frequency Adaptive</a:t>
                      </a:r>
                    </a:p>
                  </a:txBody>
                  <a:tcPr>
                    <a:solidFill>
                      <a:srgbClr val="D3D5F5"/>
                    </a:solidFill>
                  </a:tcPr>
                </a:tc>
                <a:tc>
                  <a:txBody>
                    <a:bodyPr/>
                    <a:lstStyle/>
                    <a:p>
                      <a:r>
                        <a:rPr sz="600" b="0">
                          <a:solidFill>
                            <a:srgbClr val="40C5C1"/>
                          </a:solidFill>
                        </a:rPr>
                        <a:t>Terminal Estimate</a:t>
                      </a:r>
                    </a:p>
                  </a:txBody>
                  <a:tcPr>
                    <a:solidFill>
                      <a:srgbClr val="D3D5F5"/>
                    </a:solidFill>
                  </a:tcPr>
                </a:tc>
                <a:extLst>
                  <a:ext uri="{0D108BD9-81ED-4DB2-BD59-A6C34878D82A}">
                    <a16:rowId xmlns:a16="http://schemas.microsoft.com/office/drawing/2014/main" val="10003"/>
                  </a:ext>
                </a:extLst>
              </a:tr>
              <a:tr h="157035">
                <a:tc>
                  <a:txBody>
                    <a:bodyPr/>
                    <a:lstStyle/>
                    <a:p>
                      <a:r>
                        <a:rPr sz="600" b="0">
                          <a:solidFill>
                            <a:srgbClr val="40C5C1"/>
                          </a:solidFill>
                        </a:rPr>
                        <a:t>Concept Threshold</a:t>
                      </a:r>
                    </a:p>
                  </a:txBody>
                  <a:tcPr>
                    <a:solidFill>
                      <a:srgbClr val="F3F3FC"/>
                    </a:solidFill>
                  </a:tcPr>
                </a:tc>
                <a:tc>
                  <a:txBody>
                    <a:bodyPr/>
                    <a:lstStyle/>
                    <a:p>
                      <a:r>
                        <a:rPr sz="600" b="0">
                          <a:solidFill>
                            <a:srgbClr val="40C5C1"/>
                          </a:solidFill>
                        </a:rPr>
                        <a:t>Path</a:t>
                      </a:r>
                    </a:p>
                  </a:txBody>
                  <a:tcPr>
                    <a:solidFill>
                      <a:srgbClr val="D3D5F5"/>
                    </a:solidFill>
                  </a:tcPr>
                </a:tc>
                <a:extLst>
                  <a:ext uri="{0D108BD9-81ED-4DB2-BD59-A6C34878D82A}">
                    <a16:rowId xmlns:a16="http://schemas.microsoft.com/office/drawing/2014/main" val="10004"/>
                  </a:ext>
                </a:extLst>
              </a:tr>
              <a:tr h="157036">
                <a:tc>
                  <a:txBody>
                    <a:bodyPr/>
                    <a:lstStyle/>
                    <a:p>
                      <a:r>
                        <a:rPr sz="600" b="0">
                          <a:solidFill>
                            <a:srgbClr val="40C5C1"/>
                          </a:solidFill>
                        </a:rPr>
                        <a:t>Motion</a:t>
                      </a:r>
                    </a:p>
                  </a:txBody>
                  <a:tcPr>
                    <a:solidFill>
                      <a:srgbClr val="D3D5F5"/>
                    </a:solidFill>
                  </a:tcPr>
                </a:tc>
                <a:tc>
                  <a:txBody>
                    <a:bodyPr/>
                    <a:lstStyle/>
                    <a:p>
                      <a:r>
                        <a:rPr sz="600" b="0">
                          <a:solidFill>
                            <a:srgbClr val="40C5C1"/>
                          </a:solidFill>
                        </a:rPr>
                        <a:t>Surface Harbor</a:t>
                      </a:r>
                    </a:p>
                  </a:txBody>
                  <a:tcPr>
                    <a:solidFill>
                      <a:srgbClr val="D3D5F5"/>
                    </a:solidFill>
                  </a:tcPr>
                </a:tc>
                <a:extLst>
                  <a:ext uri="{0D108BD9-81ED-4DB2-BD59-A6C34878D82A}">
                    <a16:rowId xmlns:a16="http://schemas.microsoft.com/office/drawing/2014/main" val="10005"/>
                  </a:ext>
                </a:extLst>
              </a:tr>
            </a:tbl>
          </a:graphicData>
        </a:graphic>
      </p:graphicFrame>
      <p:pic>
        <p:nvPicPr>
          <p:cNvPr id="11" name="Picture 10" descr="_example_image.jpg"/>
          <p:cNvPicPr>
            <a:picLocks noChangeAspect="1"/>
          </p:cNvPicPr>
          <p:nvPr/>
        </p:nvPicPr>
        <p:blipFill>
          <a:blip r:embed="rId2"/>
          <a:srcRect l="6020" t="10122" r="14699" b="19619"/>
          <a:stretch>
            <a:fillRect/>
          </a:stretch>
        </p:blipFill>
        <p:spPr>
          <a:xfrm>
            <a:off x="362452" y="1983980"/>
            <a:ext cx="1584844" cy="910874"/>
          </a:xfrm>
          <a:prstGeom prst="rect">
            <a:avLst/>
          </a:prstGeom>
        </p:spPr>
      </p:pic>
      <p:sp>
        <p:nvSpPr>
          <p:cNvPr id="12" name="Rounded Rectangle 11"/>
          <p:cNvSpPr/>
          <p:nvPr/>
        </p:nvSpPr>
        <p:spPr>
          <a:xfrm>
            <a:off x="362452" y="1983980"/>
            <a:ext cx="1584844" cy="910874"/>
          </a:xfrm>
          <a:prstGeom prst="roundRect">
            <a:avLst/>
          </a:prstGeom>
          <a:noFill/>
          <a:ln w="15240">
            <a:solidFill>
              <a:srgbClr val="A27C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2"/>
          <a:srcRect l="18455" t="10935" r="21128" b="746"/>
          <a:stretch>
            <a:fillRect/>
          </a:stretch>
        </p:blipFill>
        <p:spPr>
          <a:xfrm>
            <a:off x="9098597" y="1891961"/>
            <a:ext cx="2398549" cy="926136"/>
          </a:xfrm>
          <a:prstGeom prst="rect">
            <a:avLst/>
          </a:prstGeom>
        </p:spPr>
      </p:pic>
      <p:cxnSp>
        <p:nvCxnSpPr>
          <p:cNvPr id="14" name="Connector 13"/>
          <p:cNvCxnSpPr/>
          <p:nvPr/>
        </p:nvCxnSpPr>
        <p:spPr>
          <a:xfrm flipV="1">
            <a:off x="9487180" y="5624846"/>
            <a:ext cx="1775746" cy="951281"/>
          </a:xfrm>
          <a:prstGeom prst="bentConnector3">
            <a:avLst/>
          </a:prstGeom>
          <a:ln w="41819">
            <a:solidFill>
              <a:srgbClr val="882F2C"/>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2839346" y="5470506"/>
          <a:ext cx="2661132" cy="1201204"/>
        </p:xfrm>
        <a:graphic>
          <a:graphicData uri="http://schemas.openxmlformats.org/drawingml/2006/table">
            <a:tbl>
              <a:tblPr firstRow="1" bandRow="1">
                <a:tableStyleId>{5C22544A-7EE6-4342-B048-85BDC9FD1C3A}</a:tableStyleId>
              </a:tblPr>
              <a:tblGrid>
                <a:gridCol w="532226">
                  <a:extLst>
                    <a:ext uri="{9D8B030D-6E8A-4147-A177-3AD203B41FA5}">
                      <a16:colId xmlns:a16="http://schemas.microsoft.com/office/drawing/2014/main" val="20000"/>
                    </a:ext>
                  </a:extLst>
                </a:gridCol>
                <a:gridCol w="532226">
                  <a:extLst>
                    <a:ext uri="{9D8B030D-6E8A-4147-A177-3AD203B41FA5}">
                      <a16:colId xmlns:a16="http://schemas.microsoft.com/office/drawing/2014/main" val="20001"/>
                    </a:ext>
                  </a:extLst>
                </a:gridCol>
                <a:gridCol w="532226">
                  <a:extLst>
                    <a:ext uri="{9D8B030D-6E8A-4147-A177-3AD203B41FA5}">
                      <a16:colId xmlns:a16="http://schemas.microsoft.com/office/drawing/2014/main" val="20002"/>
                    </a:ext>
                  </a:extLst>
                </a:gridCol>
                <a:gridCol w="532226">
                  <a:extLst>
                    <a:ext uri="{9D8B030D-6E8A-4147-A177-3AD203B41FA5}">
                      <a16:colId xmlns:a16="http://schemas.microsoft.com/office/drawing/2014/main" val="20003"/>
                    </a:ext>
                  </a:extLst>
                </a:gridCol>
                <a:gridCol w="532228">
                  <a:extLst>
                    <a:ext uri="{9D8B030D-6E8A-4147-A177-3AD203B41FA5}">
                      <a16:colId xmlns:a16="http://schemas.microsoft.com/office/drawing/2014/main" val="20004"/>
                    </a:ext>
                  </a:extLst>
                </a:gridCol>
              </a:tblGrid>
              <a:tr h="600602">
                <a:tc>
                  <a:txBody>
                    <a:bodyPr/>
                    <a:lstStyle/>
                    <a:p>
                      <a:r>
                        <a:rPr sz="700" b="1">
                          <a:solidFill>
                            <a:srgbClr val="A8272A"/>
                          </a:solidFill>
                        </a:rPr>
                        <a:t>Delta Transit</a:t>
                      </a:r>
                    </a:p>
                  </a:txBody>
                  <a:tcPr>
                    <a:solidFill>
                      <a:srgbClr val="59D0A3"/>
                    </a:solidFill>
                  </a:tcPr>
                </a:tc>
                <a:tc>
                  <a:txBody>
                    <a:bodyPr/>
                    <a:lstStyle/>
                    <a:p>
                      <a:r>
                        <a:rPr sz="700" b="1">
                          <a:solidFill>
                            <a:srgbClr val="A8272A"/>
                          </a:solidFill>
                        </a:rPr>
                        <a:t>Delta</a:t>
                      </a:r>
                    </a:p>
                  </a:txBody>
                  <a:tcPr>
                    <a:solidFill>
                      <a:srgbClr val="59D0A3"/>
                    </a:solidFill>
                  </a:tcPr>
                </a:tc>
                <a:tc>
                  <a:txBody>
                    <a:bodyPr/>
                    <a:lstStyle/>
                    <a:p>
                      <a:r>
                        <a:rPr sz="700" b="1">
                          <a:solidFill>
                            <a:srgbClr val="A8272A"/>
                          </a:solidFill>
                        </a:rPr>
                        <a:t>Network Domain</a:t>
                      </a:r>
                    </a:p>
                  </a:txBody>
                  <a:tcPr>
                    <a:solidFill>
                      <a:srgbClr val="59D0A3"/>
                    </a:solidFill>
                  </a:tcPr>
                </a:tc>
                <a:tc>
                  <a:txBody>
                    <a:bodyPr/>
                    <a:lstStyle/>
                    <a:p>
                      <a:r>
                        <a:rPr sz="700" b="1">
                          <a:solidFill>
                            <a:srgbClr val="A8272A"/>
                          </a:solidFill>
                        </a:rPr>
                        <a:t>Logic</a:t>
                      </a:r>
                    </a:p>
                  </a:txBody>
                  <a:tcPr>
                    <a:solidFill>
                      <a:srgbClr val="59D0A3"/>
                    </a:solidFill>
                  </a:tcPr>
                </a:tc>
                <a:tc>
                  <a:txBody>
                    <a:bodyPr/>
                    <a:lstStyle/>
                    <a:p>
                      <a:r>
                        <a:rPr sz="700" b="1">
                          <a:solidFill>
                            <a:srgbClr val="A8272A"/>
                          </a:solidFill>
                        </a:rPr>
                        <a:t>Concept</a:t>
                      </a:r>
                    </a:p>
                  </a:txBody>
                  <a:tcPr>
                    <a:solidFill>
                      <a:srgbClr val="59D0A3"/>
                    </a:solidFill>
                  </a:tcPr>
                </a:tc>
                <a:extLst>
                  <a:ext uri="{0D108BD9-81ED-4DB2-BD59-A6C34878D82A}">
                    <a16:rowId xmlns:a16="http://schemas.microsoft.com/office/drawing/2014/main" val="10000"/>
                  </a:ext>
                </a:extLst>
              </a:tr>
              <a:tr h="600602">
                <a:tc>
                  <a:txBody>
                    <a:bodyPr/>
                    <a:lstStyle/>
                    <a:p>
                      <a:r>
                        <a:rPr sz="700" b="0">
                          <a:solidFill>
                            <a:srgbClr val="A8272A"/>
                          </a:solidFill>
                        </a:rPr>
                        <a:t>Brief Tile</a:t>
                      </a:r>
                    </a:p>
                  </a:txBody>
                  <a:tcPr>
                    <a:solidFill>
                      <a:srgbClr val="F2F6E8"/>
                    </a:solidFill>
                  </a:tcPr>
                </a:tc>
                <a:tc>
                  <a:txBody>
                    <a:bodyPr/>
                    <a:lstStyle/>
                    <a:p>
                      <a:r>
                        <a:rPr sz="700" b="0">
                          <a:solidFill>
                            <a:srgbClr val="A8272A"/>
                          </a:solidFill>
                        </a:rPr>
                        <a:t>Canvas Baseline</a:t>
                      </a:r>
                    </a:p>
                  </a:txBody>
                  <a:tcPr>
                    <a:solidFill>
                      <a:srgbClr val="F2F6E8"/>
                    </a:solidFill>
                  </a:tcPr>
                </a:tc>
                <a:tc>
                  <a:txBody>
                    <a:bodyPr/>
                    <a:lstStyle/>
                    <a:p>
                      <a:r>
                        <a:rPr sz="700" b="0">
                          <a:solidFill>
                            <a:srgbClr val="A8272A"/>
                          </a:solidFill>
                        </a:rPr>
                        <a:t>Diagram</a:t>
                      </a:r>
                    </a:p>
                  </a:txBody>
                  <a:tcPr>
                    <a:solidFill>
                      <a:srgbClr val="F2F6E8"/>
                    </a:solidFill>
                  </a:tcPr>
                </a:tc>
                <a:tc>
                  <a:txBody>
                    <a:bodyPr/>
                    <a:lstStyle/>
                    <a:p>
                      <a:r>
                        <a:rPr sz="700" b="0">
                          <a:solidFill>
                            <a:srgbClr val="A8272A"/>
                          </a:solidFill>
                        </a:rPr>
                        <a:t>Position</a:t>
                      </a:r>
                    </a:p>
                  </a:txBody>
                  <a:tcPr>
                    <a:solidFill>
                      <a:srgbClr val="F2F6E8"/>
                    </a:solidFill>
                  </a:tcPr>
                </a:tc>
                <a:tc>
                  <a:txBody>
                    <a:bodyPr/>
                    <a:lstStyle/>
                    <a:p>
                      <a:r>
                        <a:rPr sz="700" b="0">
                          <a:solidFill>
                            <a:srgbClr val="A8272A"/>
                          </a:solidFill>
                        </a:rPr>
                        <a:t>Intent Pipeline</a:t>
                      </a:r>
                    </a:p>
                  </a:txBody>
                  <a:tcPr>
                    <a:solidFill>
                      <a:srgbClr val="F2F6E8"/>
                    </a:solidFill>
                  </a:tcPr>
                </a:tc>
                <a:extLst>
                  <a:ext uri="{0D108BD9-81ED-4DB2-BD59-A6C34878D82A}">
                    <a16:rowId xmlns:a16="http://schemas.microsoft.com/office/drawing/2014/main" val="10001"/>
                  </a:ext>
                </a:extLst>
              </a:tr>
            </a:tbl>
          </a:graphicData>
        </a:graphic>
      </p:graphicFrame>
      <p:sp>
        <p:nvSpPr>
          <p:cNvPr id="16" name="Delay 15"/>
          <p:cNvSpPr/>
          <p:nvPr/>
        </p:nvSpPr>
        <p:spPr>
          <a:xfrm>
            <a:off x="2611948" y="2154917"/>
            <a:ext cx="469070" cy="609870"/>
          </a:xfrm>
          <a:prstGeom prst="flowChartDelay">
            <a:avLst/>
          </a:prstGeom>
          <a:solidFill>
            <a:srgbClr val="79B4C2"/>
          </a:solidFill>
          <a:ln w="30135">
            <a:solidFill>
              <a:srgbClr val="D89EB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flipV="1">
            <a:off x="10561247" y="3293673"/>
            <a:ext cx="1049574" cy="1723447"/>
          </a:xfrm>
          <a:prstGeom prst="bentConnector3">
            <a:avLst/>
          </a:prstGeom>
          <a:ln w="20001">
            <a:solidFill>
              <a:srgbClr val="A4DFA7"/>
            </a:solidFill>
            <a:prstDash val="dashDot"/>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909553" y="1266653"/>
            <a:ext cx="1597850" cy="249994"/>
          </a:xfrm>
          <a:prstGeom prst="rect">
            <a:avLst/>
          </a:prstGeom>
          <a:noFill/>
        </p:spPr>
        <p:txBody>
          <a:bodyPr wrap="none" lIns="29394" tIns="29394" rIns="29394" bIns="29394">
            <a:spAutoFit/>
          </a:bodyPr>
          <a:lstStyle/>
          <a:p>
            <a:r>
              <a:rPr sz="1000" b="1" i="0" u="none">
                <a:solidFill>
                  <a:srgbClr val="444235"/>
                </a:solidFill>
                <a:latin typeface="Trebuchet MS"/>
              </a:rPr>
              <a:t>Circuit Network Rhythm Object Option Cortex Context Filter Motion Echo Core Signal Packet Field Handle Grid Chart Aspect Context Drift Terminal Model Impact Trend Model Lens Engine Radius Interface Span Heading Harbor Keyline Ratio Library Feature Payload Envelope Frame Tile Reserve Build Envelope Region</a:t>
            </a:r>
          </a:p>
        </p:txBody>
      </p:sp>
      <p:sp>
        <p:nvSpPr>
          <p:cNvPr id="19" name="Left Right Ribbon 18"/>
          <p:cNvSpPr/>
          <p:nvPr/>
        </p:nvSpPr>
        <p:spPr>
          <a:xfrm>
            <a:off x="5600673" y="5636110"/>
            <a:ext cx="1012480" cy="303837"/>
          </a:xfrm>
          <a:prstGeom prst="leftRightRibbon">
            <a:avLst/>
          </a:prstGeom>
          <a:noFill/>
          <a:ln w="26850">
            <a:solidFill>
              <a:srgbClr val="C1C22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Line Callout 2 19"/>
          <p:cNvSpPr/>
          <p:nvPr/>
        </p:nvSpPr>
        <p:spPr>
          <a:xfrm>
            <a:off x="6672917" y="4343575"/>
            <a:ext cx="495154" cy="1225825"/>
          </a:xfrm>
          <a:prstGeom prst="borderCallout2">
            <a:avLst/>
          </a:prstGeom>
          <a:solidFill>
            <a:srgbClr val="BF2FAC"/>
          </a:solidFill>
          <a:ln w="15997">
            <a:solidFill>
              <a:srgbClr val="21A8B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Chart 20"/>
          <p:cNvGraphicFramePr>
            <a:graphicFrameLocks noGrp="1"/>
          </p:cNvGraphicFramePr>
          <p:nvPr/>
        </p:nvGraphicFramePr>
        <p:xfrm>
          <a:off x="8527336" y="709192"/>
          <a:ext cx="2811467" cy="14458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Chart 21"/>
          <p:cNvGraphicFramePr>
            <a:graphicFrameLocks noGrp="1"/>
          </p:cNvGraphicFramePr>
          <p:nvPr/>
        </p:nvGraphicFramePr>
        <p:xfrm>
          <a:off x="5647470" y="333517"/>
          <a:ext cx="2128835" cy="2278251"/>
        </p:xfrm>
        <a:graphic>
          <a:graphicData uri="http://schemas.openxmlformats.org/drawingml/2006/chart">
            <c:chart xmlns:c="http://schemas.openxmlformats.org/drawingml/2006/chart" xmlns:r="http://schemas.openxmlformats.org/officeDocument/2006/relationships" r:id="rId4"/>
          </a:graphicData>
        </a:graphic>
      </p:graphicFrame>
      <p:pic>
        <p:nvPicPr>
          <p:cNvPr id="23" name="Picture 22" descr="_example_image.jpg"/>
          <p:cNvPicPr>
            <a:picLocks noChangeAspect="1"/>
          </p:cNvPicPr>
          <p:nvPr/>
        </p:nvPicPr>
        <p:blipFill>
          <a:blip r:embed="rId2"/>
          <a:srcRect l="18818" t="14542" r="19608" b="6036"/>
          <a:stretch>
            <a:fillRect/>
          </a:stretch>
        </p:blipFill>
        <p:spPr>
          <a:xfrm>
            <a:off x="6181368" y="2767046"/>
            <a:ext cx="1744353" cy="2036328"/>
          </a:xfrm>
          <a:prstGeom prst="rect">
            <a:avLst/>
          </a:prstGeom>
        </p:spPr>
      </p:pic>
      <p:sp>
        <p:nvSpPr>
          <p:cNvPr id="24" name="Can 23"/>
          <p:cNvSpPr/>
          <p:nvPr/>
        </p:nvSpPr>
        <p:spPr>
          <a:xfrm>
            <a:off x="8275800" y="4529003"/>
            <a:ext cx="400137" cy="378258"/>
          </a:xfrm>
          <a:prstGeom prst="can">
            <a:avLst/>
          </a:prstGeom>
          <a:solidFill>
            <a:srgbClr val="2D203C"/>
          </a:solidFill>
          <a:ln w="6855">
            <a:solidFill>
              <a:srgbClr val="AD859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05676" y="1820992"/>
            <a:ext cx="1119688" cy="845306"/>
          </a:xfrm>
          <a:prstGeom prst="rect">
            <a:avLst/>
          </a:prstGeom>
          <a:solidFill>
            <a:srgbClr val="A0922D"/>
          </a:solidFill>
        </p:spPr>
        <p:txBody>
          <a:bodyPr wrap="none" lIns="90816" tIns="90816" rIns="90816" bIns="90816">
            <a:spAutoFit/>
          </a:bodyPr>
          <a:lstStyle/>
          <a:p>
            <a:r>
              <a:rPr sz="900" b="0" i="0" u="none">
                <a:solidFill>
                  <a:srgbClr val="64B4D2"/>
                </a:solidFill>
                <a:latin typeface="Georgia"/>
              </a:rPr>
              <a:t>Sync Marker Entity Path</a:t>
            </a:r>
          </a:p>
        </p:txBody>
      </p:sp>
      <p:sp>
        <p:nvSpPr>
          <p:cNvPr id="26" name="TextBox 25"/>
          <p:cNvSpPr txBox="1"/>
          <p:nvPr/>
        </p:nvSpPr>
        <p:spPr>
          <a:xfrm>
            <a:off x="2319924" y="2928936"/>
            <a:ext cx="3758226" cy="2274607"/>
          </a:xfrm>
          <a:prstGeom prst="rect">
            <a:avLst/>
          </a:prstGeom>
          <a:noFill/>
        </p:spPr>
        <p:txBody>
          <a:bodyPr wrap="none" lIns="61048" tIns="61048" rIns="61048" bIns="61048">
            <a:spAutoFit/>
          </a:bodyPr>
          <a:lstStyle/>
          <a:p>
            <a:r>
              <a:rPr sz="5300" b="1" i="0" u="sng">
                <a:solidFill>
                  <a:srgbClr val="336828"/>
                </a:solidFill>
                <a:latin typeface="Verdana"/>
              </a:rPr>
              <a:t>Process Token Deck</a:t>
            </a:r>
          </a:p>
        </p:txBody>
      </p:sp>
      <p:sp>
        <p:nvSpPr>
          <p:cNvPr id="27" name="Can 26"/>
          <p:cNvSpPr/>
          <p:nvPr/>
        </p:nvSpPr>
        <p:spPr>
          <a:xfrm>
            <a:off x="7777705" y="1192139"/>
            <a:ext cx="817234" cy="1732280"/>
          </a:xfrm>
          <a:prstGeom prst="can">
            <a:avLst/>
          </a:prstGeom>
          <a:solidFill>
            <a:srgbClr val="AA569C"/>
          </a:solidFill>
          <a:ln w="14157">
            <a:solidFill>
              <a:srgbClr val="885D36"/>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F299DF00-BF25-12D5-F9D6-41B6E909CEF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575853" y="4994477"/>
            <a:ext cx="1228447" cy="856006"/>
          </a:xfrm>
          <a:prstGeom prst="rect">
            <a:avLst/>
          </a:prstGeom>
        </p:spPr>
      </p:pic>
      <p:pic>
        <p:nvPicPr>
          <p:cNvPr id="31" name="Graphic 30">
            <a:extLst>
              <a:ext uri="{FF2B5EF4-FFF2-40B4-BE49-F238E27FC236}">
                <a16:creationId xmlns:a16="http://schemas.microsoft.com/office/drawing/2014/main" id="{F540B719-0EDD-B767-C95B-D07D0FAD9ED8}"/>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151453" y="2234349"/>
            <a:ext cx="1302895" cy="792584"/>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Right Arrow Callout 1"/>
          <p:cNvSpPr/>
          <p:nvPr/>
        </p:nvSpPr>
        <p:spPr>
          <a:xfrm>
            <a:off x="3887953" y="1715630"/>
            <a:ext cx="978196" cy="1242105"/>
          </a:xfrm>
          <a:prstGeom prst="leftRightArrowCallout">
            <a:avLst/>
          </a:prstGeom>
          <a:noFill/>
          <a:ln w="28553">
            <a:solidFill>
              <a:srgbClr val="32BD9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_example_image.jpg"/>
          <p:cNvPicPr>
            <a:picLocks noChangeAspect="1"/>
          </p:cNvPicPr>
          <p:nvPr/>
        </p:nvPicPr>
        <p:blipFill>
          <a:blip r:embed="rId2"/>
          <a:srcRect l="12270" t="6556" r="19086" b="8308"/>
          <a:stretch>
            <a:fillRect/>
          </a:stretch>
        </p:blipFill>
        <p:spPr>
          <a:xfrm>
            <a:off x="6922183" y="312342"/>
            <a:ext cx="1787394" cy="1265014"/>
          </a:xfrm>
          <a:prstGeom prst="rect">
            <a:avLst/>
          </a:prstGeom>
        </p:spPr>
      </p:pic>
      <p:sp>
        <p:nvSpPr>
          <p:cNvPr id="4" name="Rounded Rectangle 3"/>
          <p:cNvSpPr/>
          <p:nvPr/>
        </p:nvSpPr>
        <p:spPr>
          <a:xfrm>
            <a:off x="6922183" y="312342"/>
            <a:ext cx="1787394" cy="1265014"/>
          </a:xfrm>
          <a:prstGeom prst="roundRect">
            <a:avLst/>
          </a:prstGeom>
          <a:noFill/>
          <a:ln w="15240">
            <a:solidFill>
              <a:srgbClr val="B649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Chart 4"/>
          <p:cNvGraphicFramePr>
            <a:graphicFrameLocks noGrp="1"/>
          </p:cNvGraphicFramePr>
          <p:nvPr/>
        </p:nvGraphicFramePr>
        <p:xfrm>
          <a:off x="3048133" y="254205"/>
          <a:ext cx="2036583" cy="2400601"/>
        </p:xfrm>
        <a:graphic>
          <a:graphicData uri="http://schemas.openxmlformats.org/drawingml/2006/chart">
            <c:chart xmlns:c="http://schemas.openxmlformats.org/drawingml/2006/chart" xmlns:r="http://schemas.openxmlformats.org/officeDocument/2006/relationships" r:id="rId3"/>
          </a:graphicData>
        </a:graphic>
      </p:graphicFrame>
      <p:sp>
        <p:nvSpPr>
          <p:cNvPr id="6" name="Cloud Callout 5"/>
          <p:cNvSpPr/>
          <p:nvPr/>
        </p:nvSpPr>
        <p:spPr>
          <a:xfrm>
            <a:off x="6485201" y="2654861"/>
            <a:ext cx="1030080" cy="1524457"/>
          </a:xfrm>
          <a:prstGeom prst="cloudCallout">
            <a:avLst/>
          </a:prstGeom>
          <a:solidFill>
            <a:srgbClr val="AFE6DA"/>
          </a:solidFill>
          <a:ln w="7799">
            <a:solidFill>
              <a:srgbClr val="447DD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5006533" y="617180"/>
            <a:ext cx="1167478" cy="532305"/>
          </a:xfrm>
          <a:prstGeom prst="curvedConnector3">
            <a:avLst/>
          </a:prstGeom>
          <a:ln w="50247">
            <a:solidFill>
              <a:srgbClr val="5D5A25"/>
            </a:solidFill>
            <a:prstDash val="dash"/>
          </a:ln>
        </p:spPr>
        <p:style>
          <a:lnRef idx="2">
            <a:schemeClr val="accent1"/>
          </a:lnRef>
          <a:fillRef idx="0">
            <a:schemeClr val="accent1"/>
          </a:fillRef>
          <a:effectRef idx="1">
            <a:schemeClr val="accent1"/>
          </a:effectRef>
          <a:fontRef idx="minor">
            <a:schemeClr val="tx1"/>
          </a:fontRef>
        </p:style>
      </p:cxnSp>
      <p:sp>
        <p:nvSpPr>
          <p:cNvPr id="8" name="Donut 7"/>
          <p:cNvSpPr/>
          <p:nvPr/>
        </p:nvSpPr>
        <p:spPr>
          <a:xfrm>
            <a:off x="2821630" y="1988033"/>
            <a:ext cx="887569" cy="1070903"/>
          </a:xfrm>
          <a:prstGeom prst="donut">
            <a:avLst/>
          </a:prstGeom>
          <a:solidFill>
            <a:srgbClr val="563EBF"/>
          </a:solidFill>
          <a:ln w="7464">
            <a:solidFill>
              <a:srgbClr val="D29E6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ular Callout 8"/>
          <p:cNvSpPr/>
          <p:nvPr/>
        </p:nvSpPr>
        <p:spPr>
          <a:xfrm>
            <a:off x="10111878" y="923332"/>
            <a:ext cx="796166" cy="570857"/>
          </a:xfrm>
          <a:prstGeom prst="wedgeRoundRectCallout">
            <a:avLst/>
          </a:prstGeom>
          <a:solidFill>
            <a:srgbClr val="E0233F"/>
          </a:solidFill>
          <a:ln w="9409">
            <a:solidFill>
              <a:srgbClr val="31712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33238" y="1265451"/>
            <a:ext cx="749589" cy="1141619"/>
          </a:xfrm>
          <a:prstGeom prst="rect">
            <a:avLst/>
          </a:prstGeom>
          <a:solidFill>
            <a:srgbClr val="79464D"/>
          </a:solidFill>
        </p:spPr>
        <p:txBody>
          <a:bodyPr wrap="none" lIns="91229" tIns="91229" rIns="91229" bIns="91229">
            <a:spAutoFit/>
          </a:bodyPr>
          <a:lstStyle/>
          <a:p>
            <a:r>
              <a:rPr sz="4900" b="1" i="0" u="none">
                <a:solidFill>
                  <a:srgbClr val="3284BD"/>
                </a:solidFill>
                <a:latin typeface="Calibri"/>
              </a:rPr>
              <a:t>Forecast Window</a:t>
            </a:r>
          </a:p>
        </p:txBody>
      </p:sp>
      <p:pic>
        <p:nvPicPr>
          <p:cNvPr id="11" name="Picture 10" descr="_example_image.jpg"/>
          <p:cNvPicPr>
            <a:picLocks noChangeAspect="1"/>
          </p:cNvPicPr>
          <p:nvPr/>
        </p:nvPicPr>
        <p:blipFill>
          <a:blip r:embed="rId2"/>
          <a:srcRect l="13366" t="3515" r="20713" b="631"/>
          <a:stretch>
            <a:fillRect/>
          </a:stretch>
        </p:blipFill>
        <p:spPr>
          <a:xfrm>
            <a:off x="3728653" y="3337269"/>
            <a:ext cx="2169798" cy="839750"/>
          </a:xfrm>
          <a:prstGeom prst="rect">
            <a:avLst/>
          </a:prstGeom>
        </p:spPr>
      </p:pic>
      <p:sp>
        <p:nvSpPr>
          <p:cNvPr id="12" name="Rounded Rectangle 11"/>
          <p:cNvSpPr/>
          <p:nvPr/>
        </p:nvSpPr>
        <p:spPr>
          <a:xfrm>
            <a:off x="3728653" y="3337269"/>
            <a:ext cx="2169798" cy="839750"/>
          </a:xfrm>
          <a:prstGeom prst="roundRect">
            <a:avLst/>
          </a:prstGeom>
          <a:noFill/>
          <a:ln w="15240">
            <a:solidFill>
              <a:srgbClr val="60B59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1838" y="1184734"/>
            <a:ext cx="1183698" cy="795225"/>
          </a:xfrm>
          <a:prstGeom prst="rect">
            <a:avLst/>
          </a:prstGeom>
          <a:noFill/>
        </p:spPr>
        <p:txBody>
          <a:bodyPr wrap="none" lIns="90323" tIns="90323" rIns="90323" bIns="90323">
            <a:spAutoFit/>
          </a:bodyPr>
          <a:lstStyle/>
          <a:p>
            <a:r>
              <a:rPr sz="1600" b="1" i="0" u="none">
                <a:solidFill>
                  <a:srgbClr val="C4A498"/>
                </a:solidFill>
                <a:latin typeface="Trebuchet MS"/>
              </a:rPr>
              <a:t>Draft Reserve Plan View Expansion Coverage Release Spectrum Range Bridge Trace Guide Goal Deck Mode Object Target Texture Proof Exchange Trace Deck Catalog Thread Focus Pipeline Anchor Library Command Cluster Limit Mesh Object Center Source Factor Design Factor Drive Foundation Explorer Apex Velocity Position Motion</a:t>
            </a:r>
          </a:p>
        </p:txBody>
      </p:sp>
      <p:graphicFrame>
        <p:nvGraphicFramePr>
          <p:cNvPr id="14" name="Chart 13"/>
          <p:cNvGraphicFramePr>
            <a:graphicFrameLocks noGrp="1"/>
          </p:cNvGraphicFramePr>
          <p:nvPr/>
        </p:nvGraphicFramePr>
        <p:xfrm>
          <a:off x="9059809" y="301801"/>
          <a:ext cx="2798173" cy="181886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Table 14"/>
          <p:cNvGraphicFramePr>
            <a:graphicFrameLocks noGrp="1"/>
          </p:cNvGraphicFramePr>
          <p:nvPr/>
        </p:nvGraphicFramePr>
        <p:xfrm>
          <a:off x="624330" y="1144898"/>
          <a:ext cx="2099089" cy="1689331"/>
        </p:xfrm>
        <a:graphic>
          <a:graphicData uri="http://schemas.openxmlformats.org/drawingml/2006/table">
            <a:tbl>
              <a:tblPr firstRow="1" bandRow="1">
                <a:tableStyleId>{5C22544A-7EE6-4342-B048-85BDC9FD1C3A}</a:tableStyleId>
              </a:tblPr>
              <a:tblGrid>
                <a:gridCol w="419817">
                  <a:extLst>
                    <a:ext uri="{9D8B030D-6E8A-4147-A177-3AD203B41FA5}">
                      <a16:colId xmlns:a16="http://schemas.microsoft.com/office/drawing/2014/main" val="20000"/>
                    </a:ext>
                  </a:extLst>
                </a:gridCol>
                <a:gridCol w="419817">
                  <a:extLst>
                    <a:ext uri="{9D8B030D-6E8A-4147-A177-3AD203B41FA5}">
                      <a16:colId xmlns:a16="http://schemas.microsoft.com/office/drawing/2014/main" val="20001"/>
                    </a:ext>
                  </a:extLst>
                </a:gridCol>
                <a:gridCol w="419817">
                  <a:extLst>
                    <a:ext uri="{9D8B030D-6E8A-4147-A177-3AD203B41FA5}">
                      <a16:colId xmlns:a16="http://schemas.microsoft.com/office/drawing/2014/main" val="20002"/>
                    </a:ext>
                  </a:extLst>
                </a:gridCol>
                <a:gridCol w="419817">
                  <a:extLst>
                    <a:ext uri="{9D8B030D-6E8A-4147-A177-3AD203B41FA5}">
                      <a16:colId xmlns:a16="http://schemas.microsoft.com/office/drawing/2014/main" val="20003"/>
                    </a:ext>
                  </a:extLst>
                </a:gridCol>
                <a:gridCol w="419821">
                  <a:extLst>
                    <a:ext uri="{9D8B030D-6E8A-4147-A177-3AD203B41FA5}">
                      <a16:colId xmlns:a16="http://schemas.microsoft.com/office/drawing/2014/main" val="20004"/>
                    </a:ext>
                  </a:extLst>
                </a:gridCol>
              </a:tblGrid>
              <a:tr h="844665">
                <a:tc>
                  <a:txBody>
                    <a:bodyPr/>
                    <a:lstStyle/>
                    <a:p>
                      <a:r>
                        <a:rPr sz="1200" b="1">
                          <a:solidFill>
                            <a:srgbClr val="D0763B"/>
                          </a:solidFill>
                        </a:rPr>
                        <a:t>Sync Table</a:t>
                      </a:r>
                    </a:p>
                  </a:txBody>
                  <a:tcPr>
                    <a:solidFill>
                      <a:srgbClr val="39E628"/>
                    </a:solidFill>
                  </a:tcPr>
                </a:tc>
                <a:tc>
                  <a:txBody>
                    <a:bodyPr/>
                    <a:lstStyle/>
                    <a:p>
                      <a:r>
                        <a:rPr sz="1200" b="1">
                          <a:solidFill>
                            <a:srgbClr val="D0763B"/>
                          </a:solidFill>
                        </a:rPr>
                        <a:t>Kernel Element</a:t>
                      </a:r>
                    </a:p>
                  </a:txBody>
                  <a:tcPr>
                    <a:solidFill>
                      <a:srgbClr val="39E628"/>
                    </a:solidFill>
                  </a:tcPr>
                </a:tc>
                <a:tc>
                  <a:txBody>
                    <a:bodyPr/>
                    <a:lstStyle/>
                    <a:p>
                      <a:r>
                        <a:rPr sz="1200" b="1">
                          <a:solidFill>
                            <a:srgbClr val="D0763B"/>
                          </a:solidFill>
                        </a:rPr>
                        <a:t>Friction</a:t>
                      </a:r>
                    </a:p>
                  </a:txBody>
                  <a:tcPr>
                    <a:solidFill>
                      <a:srgbClr val="39E628"/>
                    </a:solidFill>
                  </a:tcPr>
                </a:tc>
                <a:tc>
                  <a:txBody>
                    <a:bodyPr/>
                    <a:lstStyle/>
                    <a:p>
                      <a:r>
                        <a:rPr sz="1200" b="1">
                          <a:solidFill>
                            <a:srgbClr val="D0763B"/>
                          </a:solidFill>
                        </a:rPr>
                        <a:t>Service Memory</a:t>
                      </a:r>
                    </a:p>
                  </a:txBody>
                  <a:tcPr>
                    <a:solidFill>
                      <a:srgbClr val="39E628"/>
                    </a:solidFill>
                  </a:tcPr>
                </a:tc>
                <a:tc>
                  <a:txBody>
                    <a:bodyPr/>
                    <a:lstStyle/>
                    <a:p>
                      <a:r>
                        <a:rPr sz="1200" b="1">
                          <a:solidFill>
                            <a:srgbClr val="D0763B"/>
                          </a:solidFill>
                        </a:rPr>
                        <a:t>Sequence</a:t>
                      </a:r>
                    </a:p>
                  </a:txBody>
                  <a:tcPr>
                    <a:solidFill>
                      <a:srgbClr val="39E628"/>
                    </a:solidFill>
                  </a:tcPr>
                </a:tc>
                <a:extLst>
                  <a:ext uri="{0D108BD9-81ED-4DB2-BD59-A6C34878D82A}">
                    <a16:rowId xmlns:a16="http://schemas.microsoft.com/office/drawing/2014/main" val="10000"/>
                  </a:ext>
                </a:extLst>
              </a:tr>
              <a:tr h="844666">
                <a:tc>
                  <a:txBody>
                    <a:bodyPr/>
                    <a:lstStyle/>
                    <a:p>
                      <a:r>
                        <a:rPr sz="1200" b="0">
                          <a:solidFill>
                            <a:srgbClr val="D0763B"/>
                          </a:solidFill>
                        </a:rPr>
                        <a:t>Mesh Radius</a:t>
                      </a:r>
                    </a:p>
                  </a:txBody>
                  <a:tcPr>
                    <a:solidFill>
                      <a:srgbClr val="F0EBF4"/>
                    </a:solidFill>
                  </a:tcPr>
                </a:tc>
                <a:tc>
                  <a:txBody>
                    <a:bodyPr/>
                    <a:lstStyle/>
                    <a:p>
                      <a:r>
                        <a:rPr sz="1200" b="0">
                          <a:solidFill>
                            <a:srgbClr val="D0763B"/>
                          </a:solidFill>
                        </a:rPr>
                        <a:t>Link</a:t>
                      </a:r>
                    </a:p>
                  </a:txBody>
                  <a:tcPr>
                    <a:solidFill>
                      <a:srgbClr val="F0EBF4"/>
                    </a:solidFill>
                  </a:tcPr>
                </a:tc>
                <a:tc>
                  <a:txBody>
                    <a:bodyPr/>
                    <a:lstStyle/>
                    <a:p>
                      <a:r>
                        <a:rPr sz="1200" b="0">
                          <a:solidFill>
                            <a:srgbClr val="D0763B"/>
                          </a:solidFill>
                        </a:rPr>
                        <a:t>Vertex</a:t>
                      </a:r>
                    </a:p>
                  </a:txBody>
                  <a:tcPr>
                    <a:solidFill>
                      <a:srgbClr val="F0EBF4"/>
                    </a:solidFill>
                  </a:tcPr>
                </a:tc>
                <a:tc>
                  <a:txBody>
                    <a:bodyPr/>
                    <a:lstStyle/>
                    <a:p>
                      <a:r>
                        <a:rPr sz="1200" b="0">
                          <a:solidFill>
                            <a:srgbClr val="D0763B"/>
                          </a:solidFill>
                        </a:rPr>
                        <a:t>Queue</a:t>
                      </a:r>
                    </a:p>
                  </a:txBody>
                  <a:tcPr>
                    <a:solidFill>
                      <a:srgbClr val="F0EBF4"/>
                    </a:solidFill>
                  </a:tcPr>
                </a:tc>
                <a:tc>
                  <a:txBody>
                    <a:bodyPr/>
                    <a:lstStyle/>
                    <a:p>
                      <a:r>
                        <a:rPr sz="1200" b="0">
                          <a:solidFill>
                            <a:srgbClr val="D0763B"/>
                          </a:solidFill>
                        </a:rPr>
                        <a:t>Radius Engine</a:t>
                      </a:r>
                    </a:p>
                  </a:txBody>
                  <a:tcPr>
                    <a:solidFill>
                      <a:srgbClr val="F0EBF4"/>
                    </a:solidFill>
                  </a:tcPr>
                </a:tc>
                <a:extLst>
                  <a:ext uri="{0D108BD9-81ED-4DB2-BD59-A6C34878D82A}">
                    <a16:rowId xmlns:a16="http://schemas.microsoft.com/office/drawing/2014/main" val="10001"/>
                  </a:ext>
                </a:extLst>
              </a:tr>
            </a:tbl>
          </a:graphicData>
        </a:graphic>
      </p:graphicFrame>
      <p:sp>
        <p:nvSpPr>
          <p:cNvPr id="16" name="TextBox 15"/>
          <p:cNvSpPr txBox="1"/>
          <p:nvPr/>
        </p:nvSpPr>
        <p:spPr>
          <a:xfrm>
            <a:off x="4039689" y="4538986"/>
            <a:ext cx="1945017" cy="1735498"/>
          </a:xfrm>
          <a:prstGeom prst="rect">
            <a:avLst/>
          </a:prstGeom>
          <a:noFill/>
        </p:spPr>
        <p:txBody>
          <a:bodyPr wrap="none" lIns="42067" tIns="42067" rIns="42067" bIns="42067">
            <a:spAutoFit/>
          </a:bodyPr>
          <a:lstStyle/>
          <a:p>
            <a:r>
              <a:rPr sz="900" b="0" i="0" u="none">
                <a:solidFill>
                  <a:srgbClr val="48A7A9"/>
                </a:solidFill>
                <a:latin typeface="Aptos"/>
              </a:rPr>
              <a:t>Measure Beacon Volume Build System Measure Buffer Cortex Gateway Exchange Factor Map Interval Engine Benchmark Proof Craft Capacity Indicator Drift Mode Texture Status Zone Pixel Control</a:t>
            </a:r>
          </a:p>
        </p:txBody>
      </p:sp>
      <p:graphicFrame>
        <p:nvGraphicFramePr>
          <p:cNvPr id="17" name="Table 16"/>
          <p:cNvGraphicFramePr>
            <a:graphicFrameLocks noGrp="1"/>
          </p:cNvGraphicFramePr>
          <p:nvPr/>
        </p:nvGraphicFramePr>
        <p:xfrm>
          <a:off x="6818452" y="4421393"/>
          <a:ext cx="3772993" cy="1746875"/>
        </p:xfrm>
        <a:graphic>
          <a:graphicData uri="http://schemas.openxmlformats.org/drawingml/2006/table">
            <a:tbl>
              <a:tblPr firstRow="1" bandRow="1">
                <a:tableStyleId>{5C22544A-7EE6-4342-B048-85BDC9FD1C3A}</a:tableStyleId>
              </a:tblPr>
              <a:tblGrid>
                <a:gridCol w="1257664">
                  <a:extLst>
                    <a:ext uri="{9D8B030D-6E8A-4147-A177-3AD203B41FA5}">
                      <a16:colId xmlns:a16="http://schemas.microsoft.com/office/drawing/2014/main" val="20000"/>
                    </a:ext>
                  </a:extLst>
                </a:gridCol>
                <a:gridCol w="1257664">
                  <a:extLst>
                    <a:ext uri="{9D8B030D-6E8A-4147-A177-3AD203B41FA5}">
                      <a16:colId xmlns:a16="http://schemas.microsoft.com/office/drawing/2014/main" val="20001"/>
                    </a:ext>
                  </a:extLst>
                </a:gridCol>
                <a:gridCol w="1257665">
                  <a:extLst>
                    <a:ext uri="{9D8B030D-6E8A-4147-A177-3AD203B41FA5}">
                      <a16:colId xmlns:a16="http://schemas.microsoft.com/office/drawing/2014/main" val="20002"/>
                    </a:ext>
                  </a:extLst>
                </a:gridCol>
              </a:tblGrid>
              <a:tr h="349375">
                <a:tc>
                  <a:txBody>
                    <a:bodyPr/>
                    <a:lstStyle/>
                    <a:p>
                      <a:r>
                        <a:rPr sz="1300" b="1">
                          <a:solidFill>
                            <a:srgbClr val="4A9929"/>
                          </a:solidFill>
                        </a:rPr>
                        <a:t>Alignment Deck</a:t>
                      </a:r>
                    </a:p>
                  </a:txBody>
                  <a:tcPr>
                    <a:solidFill>
                      <a:srgbClr val="75864D"/>
                    </a:solidFill>
                  </a:tcPr>
                </a:tc>
                <a:tc>
                  <a:txBody>
                    <a:bodyPr/>
                    <a:lstStyle/>
                    <a:p>
                      <a:r>
                        <a:rPr sz="1300" b="1">
                          <a:solidFill>
                            <a:srgbClr val="4A9929"/>
                          </a:solidFill>
                        </a:rPr>
                        <a:t>Vertex Briefing</a:t>
                      </a:r>
                    </a:p>
                  </a:txBody>
                  <a:tcPr>
                    <a:solidFill>
                      <a:srgbClr val="75864D"/>
                    </a:solidFill>
                  </a:tcPr>
                </a:tc>
                <a:tc>
                  <a:txBody>
                    <a:bodyPr/>
                    <a:lstStyle/>
                    <a:p>
                      <a:r>
                        <a:rPr sz="1300" b="1">
                          <a:solidFill>
                            <a:srgbClr val="4A9929"/>
                          </a:solidFill>
                        </a:rPr>
                        <a:t>Module Clarity</a:t>
                      </a:r>
                    </a:p>
                  </a:txBody>
                  <a:tcPr>
                    <a:solidFill>
                      <a:srgbClr val="75864D"/>
                    </a:solidFill>
                  </a:tcPr>
                </a:tc>
                <a:extLst>
                  <a:ext uri="{0D108BD9-81ED-4DB2-BD59-A6C34878D82A}">
                    <a16:rowId xmlns:a16="http://schemas.microsoft.com/office/drawing/2014/main" val="10000"/>
                  </a:ext>
                </a:extLst>
              </a:tr>
              <a:tr h="349375">
                <a:tc>
                  <a:txBody>
                    <a:bodyPr/>
                    <a:lstStyle/>
                    <a:p>
                      <a:r>
                        <a:rPr sz="1300" b="0">
                          <a:solidFill>
                            <a:srgbClr val="4A9929"/>
                          </a:solidFill>
                        </a:rPr>
                        <a:t>Position</a:t>
                      </a:r>
                    </a:p>
                  </a:txBody>
                  <a:tcPr>
                    <a:solidFill>
                      <a:srgbClr val="EEE7E8"/>
                    </a:solidFill>
                  </a:tcPr>
                </a:tc>
                <a:tc>
                  <a:txBody>
                    <a:bodyPr/>
                    <a:lstStyle/>
                    <a:p>
                      <a:r>
                        <a:rPr sz="1300" b="0">
                          <a:solidFill>
                            <a:srgbClr val="4A9929"/>
                          </a:solidFill>
                        </a:rPr>
                        <a:t>Scale Phase</a:t>
                      </a:r>
                    </a:p>
                  </a:txBody>
                  <a:tcPr>
                    <a:solidFill>
                      <a:srgbClr val="EEE7E8"/>
                    </a:solidFill>
                  </a:tcPr>
                </a:tc>
                <a:tc>
                  <a:txBody>
                    <a:bodyPr/>
                    <a:lstStyle/>
                    <a:p>
                      <a:r>
                        <a:rPr sz="1300" b="0">
                          <a:solidFill>
                            <a:srgbClr val="4A9929"/>
                          </a:solidFill>
                        </a:rPr>
                        <a:t>Viewport</a:t>
                      </a:r>
                    </a:p>
                  </a:txBody>
                  <a:tcPr>
                    <a:solidFill>
                      <a:srgbClr val="EEE7E8"/>
                    </a:solidFill>
                  </a:tcPr>
                </a:tc>
                <a:extLst>
                  <a:ext uri="{0D108BD9-81ED-4DB2-BD59-A6C34878D82A}">
                    <a16:rowId xmlns:a16="http://schemas.microsoft.com/office/drawing/2014/main" val="10001"/>
                  </a:ext>
                </a:extLst>
              </a:tr>
              <a:tr h="349375">
                <a:tc>
                  <a:txBody>
                    <a:bodyPr/>
                    <a:lstStyle/>
                    <a:p>
                      <a:r>
                        <a:rPr sz="1300" b="0">
                          <a:solidFill>
                            <a:srgbClr val="4A9929"/>
                          </a:solidFill>
                        </a:rPr>
                        <a:t>Module Proof</a:t>
                      </a:r>
                    </a:p>
                  </a:txBody>
                  <a:tcPr>
                    <a:solidFill>
                      <a:srgbClr val="EEE7E8"/>
                    </a:solidFill>
                  </a:tcPr>
                </a:tc>
                <a:tc>
                  <a:txBody>
                    <a:bodyPr/>
                    <a:lstStyle/>
                    <a:p>
                      <a:r>
                        <a:rPr sz="1300" b="0">
                          <a:solidFill>
                            <a:srgbClr val="4A9929"/>
                          </a:solidFill>
                        </a:rPr>
                        <a:t>Tile Sequence</a:t>
                      </a:r>
                    </a:p>
                  </a:txBody>
                  <a:tcPr>
                    <a:solidFill>
                      <a:srgbClr val="EEE7E8"/>
                    </a:solidFill>
                  </a:tcPr>
                </a:tc>
                <a:tc>
                  <a:txBody>
                    <a:bodyPr/>
                    <a:lstStyle/>
                    <a:p>
                      <a:r>
                        <a:rPr sz="1300" b="0">
                          <a:solidFill>
                            <a:srgbClr val="4A9929"/>
                          </a:solidFill>
                        </a:rPr>
                        <a:t>Zone</a:t>
                      </a:r>
                    </a:p>
                  </a:txBody>
                  <a:tcPr>
                    <a:solidFill>
                      <a:srgbClr val="EEE7E8"/>
                    </a:solidFill>
                  </a:tcPr>
                </a:tc>
                <a:extLst>
                  <a:ext uri="{0D108BD9-81ED-4DB2-BD59-A6C34878D82A}">
                    <a16:rowId xmlns:a16="http://schemas.microsoft.com/office/drawing/2014/main" val="10002"/>
                  </a:ext>
                </a:extLst>
              </a:tr>
              <a:tr h="349375">
                <a:tc>
                  <a:txBody>
                    <a:bodyPr/>
                    <a:lstStyle/>
                    <a:p>
                      <a:r>
                        <a:rPr sz="1300" b="0">
                          <a:solidFill>
                            <a:srgbClr val="4A9929"/>
                          </a:solidFill>
                        </a:rPr>
                        <a:t>Bridge Coverage</a:t>
                      </a:r>
                    </a:p>
                  </a:txBody>
                  <a:tcPr>
                    <a:solidFill>
                      <a:srgbClr val="EEE7E8"/>
                    </a:solidFill>
                  </a:tcPr>
                </a:tc>
                <a:tc>
                  <a:txBody>
                    <a:bodyPr/>
                    <a:lstStyle/>
                    <a:p>
                      <a:r>
                        <a:rPr sz="1300" b="0">
                          <a:solidFill>
                            <a:srgbClr val="4A9929"/>
                          </a:solidFill>
                        </a:rPr>
                        <a:t>Stream Signal</a:t>
                      </a:r>
                    </a:p>
                  </a:txBody>
                  <a:tcPr>
                    <a:solidFill>
                      <a:srgbClr val="EEE7E8"/>
                    </a:solidFill>
                  </a:tcPr>
                </a:tc>
                <a:tc>
                  <a:txBody>
                    <a:bodyPr/>
                    <a:lstStyle/>
                    <a:p>
                      <a:r>
                        <a:rPr sz="1300" b="0">
                          <a:solidFill>
                            <a:srgbClr val="4A9929"/>
                          </a:solidFill>
                        </a:rPr>
                        <a:t>Cycle Narrative</a:t>
                      </a:r>
                    </a:p>
                  </a:txBody>
                  <a:tcPr>
                    <a:solidFill>
                      <a:srgbClr val="EEE7E8"/>
                    </a:solidFill>
                  </a:tcPr>
                </a:tc>
                <a:extLst>
                  <a:ext uri="{0D108BD9-81ED-4DB2-BD59-A6C34878D82A}">
                    <a16:rowId xmlns:a16="http://schemas.microsoft.com/office/drawing/2014/main" val="10003"/>
                  </a:ext>
                </a:extLst>
              </a:tr>
              <a:tr h="349375">
                <a:tc>
                  <a:txBody>
                    <a:bodyPr/>
                    <a:lstStyle/>
                    <a:p>
                      <a:r>
                        <a:rPr sz="1300" b="0">
                          <a:solidFill>
                            <a:srgbClr val="4A9929"/>
                          </a:solidFill>
                        </a:rPr>
                        <a:t>Trigger</a:t>
                      </a:r>
                    </a:p>
                  </a:txBody>
                  <a:tcPr>
                    <a:solidFill>
                      <a:srgbClr val="EEE7E8"/>
                    </a:solidFill>
                  </a:tcPr>
                </a:tc>
                <a:tc>
                  <a:txBody>
                    <a:bodyPr/>
                    <a:lstStyle/>
                    <a:p>
                      <a:r>
                        <a:rPr sz="1300" b="0">
                          <a:solidFill>
                            <a:srgbClr val="4A9929"/>
                          </a:solidFill>
                        </a:rPr>
                        <a:t>Baseline</a:t>
                      </a:r>
                    </a:p>
                  </a:txBody>
                  <a:tcPr>
                    <a:solidFill>
                      <a:srgbClr val="EEE7E8"/>
                    </a:solidFill>
                  </a:tcPr>
                </a:tc>
                <a:tc>
                  <a:txBody>
                    <a:bodyPr/>
                    <a:lstStyle/>
                    <a:p>
                      <a:r>
                        <a:rPr sz="1300" b="0">
                          <a:solidFill>
                            <a:srgbClr val="4A9929"/>
                          </a:solidFill>
                        </a:rPr>
                        <a:t>Release</a:t>
                      </a:r>
                    </a:p>
                  </a:txBody>
                  <a:tcPr>
                    <a:solidFill>
                      <a:srgbClr val="EEE7E8"/>
                    </a:solidFill>
                  </a:tcPr>
                </a:tc>
                <a:extLst>
                  <a:ext uri="{0D108BD9-81ED-4DB2-BD59-A6C34878D82A}">
                    <a16:rowId xmlns:a16="http://schemas.microsoft.com/office/drawing/2014/main" val="10004"/>
                  </a:ext>
                </a:extLst>
              </a:tr>
            </a:tbl>
          </a:graphicData>
        </a:graphic>
      </p:graphicFrame>
      <p:sp>
        <p:nvSpPr>
          <p:cNvPr id="18" name="TextBox 17"/>
          <p:cNvSpPr txBox="1"/>
          <p:nvPr/>
        </p:nvSpPr>
        <p:spPr>
          <a:xfrm>
            <a:off x="1416784" y="2227807"/>
            <a:ext cx="592301" cy="1036649"/>
          </a:xfrm>
          <a:prstGeom prst="rect">
            <a:avLst/>
          </a:prstGeom>
          <a:noFill/>
        </p:spPr>
        <p:txBody>
          <a:bodyPr wrap="none" lIns="39886" tIns="39886" rIns="39886" bIns="39886">
            <a:spAutoFit/>
          </a:bodyPr>
          <a:lstStyle/>
          <a:p>
            <a:r>
              <a:rPr sz="5500" b="1" i="0" u="none">
                <a:solidFill>
                  <a:srgbClr val="B39B88"/>
                </a:solidFill>
                <a:latin typeface="Aptos"/>
              </a:rPr>
              <a:t>Factor Density Method Tile</a:t>
            </a:r>
          </a:p>
        </p:txBody>
      </p:sp>
      <p:cxnSp>
        <p:nvCxnSpPr>
          <p:cNvPr id="19" name="Connector 18"/>
          <p:cNvCxnSpPr/>
          <p:nvPr/>
        </p:nvCxnSpPr>
        <p:spPr>
          <a:xfrm>
            <a:off x="996887" y="5912728"/>
            <a:ext cx="2189489" cy="489515"/>
          </a:xfrm>
          <a:prstGeom prst="line">
            <a:avLst/>
          </a:prstGeom>
          <a:ln w="25370">
            <a:solidFill>
              <a:srgbClr val="366154"/>
            </a:solidFill>
            <a:prstDash val="solid"/>
          </a:ln>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6488485" y="1566397"/>
            <a:ext cx="1041180" cy="1263454"/>
          </a:xfrm>
          <a:custGeom>
            <a:avLst/>
            <a:gdLst/>
            <a:ahLst/>
            <a:cxnLst/>
            <a:rect l="l" t="t" r="r" b="b"/>
            <a:pathLst>
              <a:path w="1041180" h="1263454">
                <a:moveTo>
                  <a:pt x="520590" y="0"/>
                </a:moveTo>
                <a:lnTo>
                  <a:pt x="650737" y="315864"/>
                </a:lnTo>
                <a:lnTo>
                  <a:pt x="976106" y="227422"/>
                </a:lnTo>
                <a:lnTo>
                  <a:pt x="791730" y="631727"/>
                </a:lnTo>
                <a:lnTo>
                  <a:pt x="1041180" y="985494"/>
                </a:lnTo>
                <a:lnTo>
                  <a:pt x="650737" y="909687"/>
                </a:lnTo>
                <a:lnTo>
                  <a:pt x="520590" y="1263454"/>
                </a:lnTo>
                <a:lnTo>
                  <a:pt x="390443" y="909687"/>
                </a:lnTo>
                <a:lnTo>
                  <a:pt x="0" y="985494"/>
                </a:lnTo>
                <a:lnTo>
                  <a:pt x="249450" y="631727"/>
                </a:lnTo>
                <a:lnTo>
                  <a:pt x="65074" y="227422"/>
                </a:lnTo>
                <a:lnTo>
                  <a:pt x="390443" y="315864"/>
                </a:lnTo>
                <a:close/>
              </a:path>
            </a:pathLst>
          </a:custGeom>
          <a:solidFill>
            <a:srgbClr val="5A539B"/>
          </a:solidFill>
          <a:ln w="21790">
            <a:solidFill>
              <a:srgbClr val="2537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entagon 20"/>
          <p:cNvSpPr/>
          <p:nvPr/>
        </p:nvSpPr>
        <p:spPr>
          <a:xfrm>
            <a:off x="583342" y="5104060"/>
            <a:ext cx="1944238" cy="852475"/>
          </a:xfrm>
          <a:prstGeom prst="homePlate">
            <a:avLst/>
          </a:prstGeom>
          <a:noFill/>
          <a:ln w="18592">
            <a:solidFill>
              <a:srgbClr val="5EC2C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68673" y="2004942"/>
            <a:ext cx="3489331" cy="2315367"/>
          </a:xfrm>
          <a:prstGeom prst="rect">
            <a:avLst/>
          </a:prstGeom>
          <a:solidFill>
            <a:srgbClr val="C4773C"/>
          </a:solidFill>
        </p:spPr>
        <p:txBody>
          <a:bodyPr wrap="none" lIns="85323" tIns="85323" rIns="85323" bIns="85323">
            <a:spAutoFit/>
          </a:bodyPr>
          <a:lstStyle/>
          <a:p>
            <a:r>
              <a:rPr sz="4600" b="1" i="0" u="none">
                <a:solidFill>
                  <a:srgbClr val="482C2B"/>
                </a:solidFill>
                <a:latin typeface="Arial"/>
              </a:rPr>
              <a:t>Package Packet Control</a:t>
            </a:r>
          </a:p>
        </p:txBody>
      </p:sp>
      <p:sp>
        <p:nvSpPr>
          <p:cNvPr id="23" name="Right Triangle 22"/>
          <p:cNvSpPr/>
          <p:nvPr/>
        </p:nvSpPr>
        <p:spPr>
          <a:xfrm>
            <a:off x="10644439" y="4337820"/>
            <a:ext cx="790468" cy="383588"/>
          </a:xfrm>
          <a:prstGeom prst="rtTriangle">
            <a:avLst/>
          </a:prstGeom>
          <a:solidFill>
            <a:srgbClr val="5E3747"/>
          </a:solidFill>
          <a:ln w="25985">
            <a:solidFill>
              <a:srgbClr val="8B6A7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_example_image.jpg"/>
          <p:cNvPicPr>
            <a:picLocks noChangeAspect="1"/>
          </p:cNvPicPr>
          <p:nvPr/>
        </p:nvPicPr>
        <p:blipFill>
          <a:blip r:embed="rId2"/>
          <a:srcRect l="1526" t="7924" r="3122" b="15117"/>
          <a:stretch>
            <a:fillRect/>
          </a:stretch>
        </p:blipFill>
        <p:spPr>
          <a:xfrm>
            <a:off x="2600318" y="3086669"/>
            <a:ext cx="1165731" cy="1583499"/>
          </a:xfrm>
          <a:prstGeom prst="rect">
            <a:avLst/>
          </a:prstGeom>
        </p:spPr>
      </p:pic>
      <p:sp>
        <p:nvSpPr>
          <p:cNvPr id="25" name="Rounded Rectangle 24"/>
          <p:cNvSpPr/>
          <p:nvPr/>
        </p:nvSpPr>
        <p:spPr>
          <a:xfrm>
            <a:off x="2600318" y="3086669"/>
            <a:ext cx="1165731" cy="1583499"/>
          </a:xfrm>
          <a:prstGeom prst="roundRect">
            <a:avLst/>
          </a:prstGeom>
          <a:noFill/>
          <a:ln w="15240">
            <a:solidFill>
              <a:srgbClr val="7A6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cument 25"/>
          <p:cNvSpPr/>
          <p:nvPr/>
        </p:nvSpPr>
        <p:spPr>
          <a:xfrm>
            <a:off x="1439181" y="4526994"/>
            <a:ext cx="1008867" cy="367256"/>
          </a:xfrm>
          <a:prstGeom prst="flowChartDocument">
            <a:avLst/>
          </a:prstGeom>
          <a:solidFill>
            <a:srgbClr val="C7A2C1"/>
          </a:solidFill>
          <a:ln w="13415">
            <a:solidFill>
              <a:srgbClr val="9D8C32"/>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6"/>
          <p:cNvCxnSpPr/>
          <p:nvPr/>
        </p:nvCxnSpPr>
        <p:spPr>
          <a:xfrm>
            <a:off x="504083" y="236292"/>
            <a:ext cx="1242746" cy="918305"/>
          </a:xfrm>
          <a:prstGeom prst="line">
            <a:avLst/>
          </a:prstGeom>
          <a:ln w="19303">
            <a:solidFill>
              <a:srgbClr val="ACC56D"/>
            </a:solidFill>
            <a:prstDash val="dash"/>
          </a:ln>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4879061" y="1245719"/>
            <a:ext cx="904905" cy="1491768"/>
          </a:xfrm>
          <a:custGeom>
            <a:avLst/>
            <a:gdLst/>
            <a:ahLst/>
            <a:cxnLst/>
            <a:rect l="l" t="t" r="r" b="b"/>
            <a:pathLst>
              <a:path w="904905" h="1491768">
                <a:moveTo>
                  <a:pt x="0" y="331504"/>
                </a:moveTo>
                <a:lnTo>
                  <a:pt x="194603" y="0"/>
                </a:lnTo>
                <a:lnTo>
                  <a:pt x="389207" y="447531"/>
                </a:lnTo>
                <a:lnTo>
                  <a:pt x="583810" y="49726"/>
                </a:lnTo>
                <a:lnTo>
                  <a:pt x="904905" y="1160264"/>
                </a:lnTo>
                <a:lnTo>
                  <a:pt x="681111" y="1491768"/>
                </a:lnTo>
                <a:lnTo>
                  <a:pt x="467048" y="994512"/>
                </a:lnTo>
                <a:lnTo>
                  <a:pt x="223794" y="1442042"/>
                </a:lnTo>
                <a:close/>
              </a:path>
            </a:pathLst>
          </a:custGeom>
          <a:solidFill>
            <a:srgbClr val="325B56"/>
          </a:solidFill>
          <a:ln w="33165">
            <a:solidFill>
              <a:srgbClr val="9150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84657" y="433737"/>
            <a:ext cx="988165" cy="793480"/>
          </a:xfrm>
          <a:prstGeom prst="rect">
            <a:avLst/>
          </a:prstGeom>
          <a:noFill/>
        </p:spPr>
        <p:txBody>
          <a:bodyPr wrap="none" lIns="89181" tIns="89181" rIns="89181" bIns="89181">
            <a:spAutoFit/>
          </a:bodyPr>
          <a:lstStyle/>
          <a:p>
            <a:r>
              <a:rPr sz="1700" b="0" i="0" u="none">
                <a:solidFill>
                  <a:srgbClr val="2280C7"/>
                </a:solidFill>
                <a:latin typeface="Trebuchet MS"/>
              </a:rPr>
              <a:t>Track Surface Mesh Detail Drive Network</a:t>
            </a:r>
          </a:p>
        </p:txBody>
      </p:sp>
      <p:pic>
        <p:nvPicPr>
          <p:cNvPr id="31" name="Graphic 30">
            <a:extLst>
              <a:ext uri="{FF2B5EF4-FFF2-40B4-BE49-F238E27FC236}">
                <a16:creationId xmlns:a16="http://schemas.microsoft.com/office/drawing/2014/main" id="{FA14A5F6-1391-7C15-E7FE-0F590C7C7E6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2624210" y="4421908"/>
            <a:ext cx="1270930" cy="936472"/>
          </a:xfrm>
          <a:prstGeom prst="rect">
            <a:avLst/>
          </a:prstGeom>
        </p:spPr>
      </p:pic>
      <p:pic>
        <p:nvPicPr>
          <p:cNvPr id="33" name="Graphic 32">
            <a:extLst>
              <a:ext uri="{FF2B5EF4-FFF2-40B4-BE49-F238E27FC236}">
                <a16:creationId xmlns:a16="http://schemas.microsoft.com/office/drawing/2014/main" id="{9E769EAF-7496-2122-DFBF-1F1B563E6F88}"/>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09046" y="4249805"/>
            <a:ext cx="1942787" cy="76101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6743438" y="504389"/>
            <a:ext cx="587702" cy="1046732"/>
          </a:xfrm>
          <a:prstGeom prst="parallelogram">
            <a:avLst/>
          </a:prstGeom>
          <a:solidFill>
            <a:srgbClr val="1BCB48"/>
          </a:solidFill>
          <a:ln w="13519">
            <a:solidFill>
              <a:srgbClr val="AE7A4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redefined Process 2"/>
          <p:cNvSpPr/>
          <p:nvPr/>
        </p:nvSpPr>
        <p:spPr>
          <a:xfrm>
            <a:off x="9463411" y="5139118"/>
            <a:ext cx="871587" cy="673060"/>
          </a:xfrm>
          <a:prstGeom prst="flowChartPredefinedProcess">
            <a:avLst/>
          </a:prstGeom>
          <a:solidFill>
            <a:srgbClr val="9C7198"/>
          </a:solidFill>
          <a:ln w="14959">
            <a:solidFill>
              <a:srgbClr val="498826"/>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3263907" y="1876732"/>
            <a:ext cx="970131" cy="628107"/>
          </a:xfrm>
          <a:prstGeom prst="line">
            <a:avLst/>
          </a:prstGeom>
          <a:ln w="34109">
            <a:solidFill>
              <a:srgbClr val="769EC2"/>
            </a:solidFill>
            <a:prstDash val="solid"/>
          </a:ln>
        </p:spPr>
        <p:style>
          <a:lnRef idx="2">
            <a:schemeClr val="accent1"/>
          </a:lnRef>
          <a:fillRef idx="0">
            <a:schemeClr val="accent1"/>
          </a:fillRef>
          <a:effectRef idx="1">
            <a:schemeClr val="accent1"/>
          </a:effectRef>
          <a:fontRef idx="minor">
            <a:schemeClr val="tx1"/>
          </a:fontRef>
        </p:style>
      </p:cxnSp>
      <p:sp>
        <p:nvSpPr>
          <p:cNvPr id="5" name="Document 4"/>
          <p:cNvSpPr/>
          <p:nvPr/>
        </p:nvSpPr>
        <p:spPr>
          <a:xfrm>
            <a:off x="3703332" y="459924"/>
            <a:ext cx="2154567" cy="1717305"/>
          </a:xfrm>
          <a:prstGeom prst="flowChartDocument">
            <a:avLst/>
          </a:prstGeom>
          <a:solidFill>
            <a:srgbClr val="CE3F32"/>
          </a:solidFill>
          <a:ln w="23423">
            <a:solidFill>
              <a:srgbClr val="4ED0B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3026" y="4867384"/>
            <a:ext cx="2634436" cy="1303621"/>
          </a:xfrm>
          <a:prstGeom prst="rect">
            <a:avLst/>
          </a:prstGeom>
          <a:noFill/>
        </p:spPr>
        <p:txBody>
          <a:bodyPr wrap="none" lIns="59982" tIns="59982" rIns="59982" bIns="59982">
            <a:spAutoFit/>
          </a:bodyPr>
          <a:lstStyle/>
          <a:p>
            <a:r>
              <a:rPr sz="1400" b="1" i="0" u="none">
                <a:solidFill>
                  <a:srgbClr val="2F409E"/>
                </a:solidFill>
                <a:latin typeface="Trebuchet MS"/>
              </a:rPr>
              <a:t>Narrative Kernel Model Context Lens Input Narrative Target Output Variant Intent Interval Stack Action Adaptive Station Format Coverage Narrative Group Pixel Balance Layer Register Reference Workflow Feature Exchange Window Path</a:t>
            </a:r>
          </a:p>
        </p:txBody>
      </p:sp>
      <p:sp>
        <p:nvSpPr>
          <p:cNvPr id="7" name="TextBox 6"/>
          <p:cNvSpPr txBox="1"/>
          <p:nvPr/>
        </p:nvSpPr>
        <p:spPr>
          <a:xfrm>
            <a:off x="9869271" y="1488519"/>
            <a:ext cx="643138" cy="2241384"/>
          </a:xfrm>
          <a:prstGeom prst="rect">
            <a:avLst/>
          </a:prstGeom>
          <a:noFill/>
        </p:spPr>
        <p:txBody>
          <a:bodyPr wrap="none" lIns="87007" tIns="87007" rIns="87007" bIns="87007">
            <a:spAutoFit/>
          </a:bodyPr>
          <a:lstStyle/>
          <a:p>
            <a:r>
              <a:rPr sz="4700" b="1" i="0" u="none">
                <a:solidFill>
                  <a:srgbClr val="A38CAF"/>
                </a:solidFill>
                <a:latin typeface="Verdana"/>
              </a:rPr>
              <a:t>Anchor Alpha</a:t>
            </a:r>
          </a:p>
        </p:txBody>
      </p:sp>
      <p:graphicFrame>
        <p:nvGraphicFramePr>
          <p:cNvPr id="8" name="Chart 7"/>
          <p:cNvGraphicFramePr>
            <a:graphicFrameLocks noGrp="1"/>
          </p:cNvGraphicFramePr>
          <p:nvPr/>
        </p:nvGraphicFramePr>
        <p:xfrm>
          <a:off x="8106333" y="3596264"/>
          <a:ext cx="2197113" cy="1445205"/>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6254778" y="2895135"/>
            <a:ext cx="3091796" cy="297766"/>
          </a:xfrm>
          <a:prstGeom prst="rect">
            <a:avLst/>
          </a:prstGeom>
          <a:noFill/>
        </p:spPr>
        <p:txBody>
          <a:bodyPr wrap="none" lIns="86406" tIns="86406" rIns="86406" bIns="86406">
            <a:spAutoFit/>
          </a:bodyPr>
          <a:lstStyle/>
          <a:p>
            <a:r>
              <a:rPr sz="1000" b="0" i="0" u="none">
                <a:solidFill>
                  <a:srgbClr val="5E488E"/>
                </a:solidFill>
                <a:latin typeface="Arial"/>
              </a:rPr>
              <a:t>Queueing Strategy Radius Wave</a:t>
            </a:r>
          </a:p>
        </p:txBody>
      </p:sp>
      <p:cxnSp>
        <p:nvCxnSpPr>
          <p:cNvPr id="10" name="Connector 9"/>
          <p:cNvCxnSpPr/>
          <p:nvPr/>
        </p:nvCxnSpPr>
        <p:spPr>
          <a:xfrm>
            <a:off x="10420616" y="3400941"/>
            <a:ext cx="803822" cy="1167839"/>
          </a:xfrm>
          <a:prstGeom prst="curvedConnector3">
            <a:avLst/>
          </a:prstGeom>
          <a:ln w="38901">
            <a:solidFill>
              <a:srgbClr val="A01A4D"/>
            </a:solidFill>
            <a:prstDash val="lgDash"/>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3133803" y="5764264"/>
            <a:ext cx="2001894" cy="781090"/>
          </a:xfrm>
          <a:custGeom>
            <a:avLst/>
            <a:gdLst/>
            <a:ahLst/>
            <a:cxnLst/>
            <a:rect l="l" t="t" r="r" b="b"/>
            <a:pathLst>
              <a:path w="2001894" h="781090">
                <a:moveTo>
                  <a:pt x="0" y="379697"/>
                </a:moveTo>
                <a:lnTo>
                  <a:pt x="344412" y="0"/>
                </a:lnTo>
                <a:lnTo>
                  <a:pt x="710350" y="325454"/>
                </a:lnTo>
                <a:lnTo>
                  <a:pt x="1076287" y="650908"/>
                </a:lnTo>
                <a:lnTo>
                  <a:pt x="1463750" y="271212"/>
                </a:lnTo>
                <a:lnTo>
                  <a:pt x="2001894" y="412242"/>
                </a:lnTo>
                <a:lnTo>
                  <a:pt x="2001894" y="781090"/>
                </a:lnTo>
                <a:lnTo>
                  <a:pt x="0" y="781090"/>
                </a:lnTo>
                <a:close/>
              </a:path>
            </a:pathLst>
          </a:custGeom>
          <a:solidFill>
            <a:srgbClr val="E51963"/>
          </a:solidFill>
          <a:ln w="19849">
            <a:solidFill>
              <a:srgbClr val="3770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_example_image.jpg"/>
          <p:cNvPicPr>
            <a:picLocks noChangeAspect="1"/>
          </p:cNvPicPr>
          <p:nvPr/>
        </p:nvPicPr>
        <p:blipFill>
          <a:blip r:embed="rId3"/>
          <a:srcRect l="19191" t="9857" r="19718" b="21545"/>
          <a:stretch>
            <a:fillRect/>
          </a:stretch>
        </p:blipFill>
        <p:spPr>
          <a:xfrm>
            <a:off x="6784467" y="5734565"/>
            <a:ext cx="1057947" cy="894231"/>
          </a:xfrm>
          <a:prstGeom prst="rect">
            <a:avLst/>
          </a:prstGeom>
        </p:spPr>
      </p:pic>
      <p:pic>
        <p:nvPicPr>
          <p:cNvPr id="13" name="Picture 12" descr="_example_image.jpg"/>
          <p:cNvPicPr>
            <a:picLocks noChangeAspect="1"/>
          </p:cNvPicPr>
          <p:nvPr/>
        </p:nvPicPr>
        <p:blipFill>
          <a:blip r:embed="rId3"/>
          <a:srcRect/>
          <a:stretch>
            <a:fillRect/>
          </a:stretch>
        </p:blipFill>
        <p:spPr>
          <a:xfrm>
            <a:off x="8675968" y="5719091"/>
            <a:ext cx="2876188" cy="921049"/>
          </a:xfrm>
          <a:prstGeom prst="rect">
            <a:avLst/>
          </a:prstGeom>
        </p:spPr>
      </p:pic>
      <p:sp>
        <p:nvSpPr>
          <p:cNvPr id="14" name="Rounded Rectangle 13"/>
          <p:cNvSpPr/>
          <p:nvPr/>
        </p:nvSpPr>
        <p:spPr>
          <a:xfrm>
            <a:off x="8675968" y="5719091"/>
            <a:ext cx="2876188" cy="921049"/>
          </a:xfrm>
          <a:prstGeom prst="roundRect">
            <a:avLst/>
          </a:prstGeom>
          <a:noFill/>
          <a:ln w="15240">
            <a:solidFill>
              <a:srgbClr val="478D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Arrow 14"/>
          <p:cNvSpPr/>
          <p:nvPr/>
        </p:nvSpPr>
        <p:spPr>
          <a:xfrm>
            <a:off x="7468325" y="465481"/>
            <a:ext cx="398987" cy="1074610"/>
          </a:xfrm>
          <a:prstGeom prst="rightArrow">
            <a:avLst/>
          </a:prstGeom>
          <a:noFill/>
          <a:ln w="30978">
            <a:solidFill>
              <a:srgbClr val="DECD5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2745582" y="4435730"/>
          <a:ext cx="2153971" cy="1112101"/>
        </p:xfrm>
        <a:graphic>
          <a:graphicData uri="http://schemas.openxmlformats.org/drawingml/2006/table">
            <a:tbl>
              <a:tblPr firstRow="1" bandRow="1">
                <a:tableStyleId>{5C22544A-7EE6-4342-B048-85BDC9FD1C3A}</a:tableStyleId>
              </a:tblPr>
              <a:tblGrid>
                <a:gridCol w="717990">
                  <a:extLst>
                    <a:ext uri="{9D8B030D-6E8A-4147-A177-3AD203B41FA5}">
                      <a16:colId xmlns:a16="http://schemas.microsoft.com/office/drawing/2014/main" val="20000"/>
                    </a:ext>
                  </a:extLst>
                </a:gridCol>
                <a:gridCol w="717990">
                  <a:extLst>
                    <a:ext uri="{9D8B030D-6E8A-4147-A177-3AD203B41FA5}">
                      <a16:colId xmlns:a16="http://schemas.microsoft.com/office/drawing/2014/main" val="20001"/>
                    </a:ext>
                  </a:extLst>
                </a:gridCol>
                <a:gridCol w="717991">
                  <a:extLst>
                    <a:ext uri="{9D8B030D-6E8A-4147-A177-3AD203B41FA5}">
                      <a16:colId xmlns:a16="http://schemas.microsoft.com/office/drawing/2014/main" val="20002"/>
                    </a:ext>
                  </a:extLst>
                </a:gridCol>
              </a:tblGrid>
              <a:tr h="222420">
                <a:tc>
                  <a:txBody>
                    <a:bodyPr/>
                    <a:lstStyle/>
                    <a:p>
                      <a:r>
                        <a:rPr sz="600" b="1">
                          <a:solidFill>
                            <a:srgbClr val="485A55"/>
                          </a:solidFill>
                        </a:rPr>
                        <a:t>Compass</a:t>
                      </a:r>
                    </a:p>
                  </a:txBody>
                  <a:tcPr>
                    <a:solidFill>
                      <a:srgbClr val="C3561A"/>
                    </a:solidFill>
                  </a:tcPr>
                </a:tc>
                <a:tc>
                  <a:txBody>
                    <a:bodyPr/>
                    <a:lstStyle/>
                    <a:p>
                      <a:r>
                        <a:rPr sz="600" b="1">
                          <a:solidFill>
                            <a:srgbClr val="485A55"/>
                          </a:solidFill>
                        </a:rPr>
                        <a:t>Stream Range</a:t>
                      </a:r>
                    </a:p>
                  </a:txBody>
                  <a:tcPr>
                    <a:solidFill>
                      <a:srgbClr val="C3561A"/>
                    </a:solidFill>
                  </a:tcPr>
                </a:tc>
                <a:tc>
                  <a:txBody>
                    <a:bodyPr/>
                    <a:lstStyle/>
                    <a:p>
                      <a:r>
                        <a:rPr sz="600" b="1">
                          <a:solidFill>
                            <a:srgbClr val="485A55"/>
                          </a:solidFill>
                        </a:rPr>
                        <a:t>Column Data</a:t>
                      </a:r>
                    </a:p>
                  </a:txBody>
                  <a:tcPr>
                    <a:solidFill>
                      <a:srgbClr val="C3561A"/>
                    </a:solidFill>
                  </a:tcPr>
                </a:tc>
                <a:extLst>
                  <a:ext uri="{0D108BD9-81ED-4DB2-BD59-A6C34878D82A}">
                    <a16:rowId xmlns:a16="http://schemas.microsoft.com/office/drawing/2014/main" val="10000"/>
                  </a:ext>
                </a:extLst>
              </a:tr>
              <a:tr h="222420">
                <a:tc>
                  <a:txBody>
                    <a:bodyPr/>
                    <a:lstStyle/>
                    <a:p>
                      <a:r>
                        <a:rPr sz="600" b="0">
                          <a:solidFill>
                            <a:srgbClr val="485A55"/>
                          </a:solidFill>
                        </a:rPr>
                        <a:t>Panel</a:t>
                      </a:r>
                    </a:p>
                  </a:txBody>
                  <a:tcPr>
                    <a:solidFill>
                      <a:srgbClr val="D5CAAD"/>
                    </a:solidFill>
                  </a:tcPr>
                </a:tc>
                <a:tc>
                  <a:txBody>
                    <a:bodyPr/>
                    <a:lstStyle/>
                    <a:p>
                      <a:r>
                        <a:rPr sz="600" b="0">
                          <a:solidFill>
                            <a:srgbClr val="485A55"/>
                          </a:solidFill>
                        </a:rPr>
                        <a:t>Iteration</a:t>
                      </a:r>
                    </a:p>
                  </a:txBody>
                  <a:tcPr>
                    <a:solidFill>
                      <a:srgbClr val="D5CAAD"/>
                    </a:solidFill>
                  </a:tcPr>
                </a:tc>
                <a:tc>
                  <a:txBody>
                    <a:bodyPr/>
                    <a:lstStyle/>
                    <a:p>
                      <a:r>
                        <a:rPr sz="600" b="0">
                          <a:solidFill>
                            <a:srgbClr val="485A55"/>
                          </a:solidFill>
                        </a:rPr>
                        <a:t>Ratio</a:t>
                      </a:r>
                    </a:p>
                  </a:txBody>
                  <a:tcPr>
                    <a:solidFill>
                      <a:srgbClr val="D5CAAD"/>
                    </a:solidFill>
                  </a:tcPr>
                </a:tc>
                <a:extLst>
                  <a:ext uri="{0D108BD9-81ED-4DB2-BD59-A6C34878D82A}">
                    <a16:rowId xmlns:a16="http://schemas.microsoft.com/office/drawing/2014/main" val="10001"/>
                  </a:ext>
                </a:extLst>
              </a:tr>
              <a:tr h="222420">
                <a:tc>
                  <a:txBody>
                    <a:bodyPr/>
                    <a:lstStyle/>
                    <a:p>
                      <a:r>
                        <a:rPr sz="600" b="0">
                          <a:solidFill>
                            <a:srgbClr val="485A55"/>
                          </a:solidFill>
                        </a:rPr>
                        <a:t>Input</a:t>
                      </a:r>
                    </a:p>
                  </a:txBody>
                  <a:tcPr>
                    <a:solidFill>
                      <a:srgbClr val="EEEADF"/>
                    </a:solidFill>
                  </a:tcPr>
                </a:tc>
                <a:tc>
                  <a:txBody>
                    <a:bodyPr/>
                    <a:lstStyle/>
                    <a:p>
                      <a:r>
                        <a:rPr sz="600" b="0">
                          <a:solidFill>
                            <a:srgbClr val="485A55"/>
                          </a:solidFill>
                        </a:rPr>
                        <a:t>Entity Waypoint</a:t>
                      </a:r>
                    </a:p>
                  </a:txBody>
                  <a:tcPr>
                    <a:solidFill>
                      <a:srgbClr val="EEEADF"/>
                    </a:solidFill>
                  </a:tcPr>
                </a:tc>
                <a:tc>
                  <a:txBody>
                    <a:bodyPr/>
                    <a:lstStyle/>
                    <a:p>
                      <a:r>
                        <a:rPr sz="600" b="0">
                          <a:solidFill>
                            <a:srgbClr val="485A55"/>
                          </a:solidFill>
                        </a:rPr>
                        <a:t>Segment</a:t>
                      </a:r>
                    </a:p>
                  </a:txBody>
                  <a:tcPr>
                    <a:solidFill>
                      <a:srgbClr val="EEEADF"/>
                    </a:solidFill>
                  </a:tcPr>
                </a:tc>
                <a:extLst>
                  <a:ext uri="{0D108BD9-81ED-4DB2-BD59-A6C34878D82A}">
                    <a16:rowId xmlns:a16="http://schemas.microsoft.com/office/drawing/2014/main" val="10002"/>
                  </a:ext>
                </a:extLst>
              </a:tr>
              <a:tr h="222420">
                <a:tc>
                  <a:txBody>
                    <a:bodyPr/>
                    <a:lstStyle/>
                    <a:p>
                      <a:r>
                        <a:rPr sz="600" b="0">
                          <a:solidFill>
                            <a:srgbClr val="485A55"/>
                          </a:solidFill>
                        </a:rPr>
                        <a:t>Metric</a:t>
                      </a:r>
                    </a:p>
                  </a:txBody>
                  <a:tcPr>
                    <a:solidFill>
                      <a:srgbClr val="D5CAAD"/>
                    </a:solidFill>
                  </a:tcPr>
                </a:tc>
                <a:tc>
                  <a:txBody>
                    <a:bodyPr/>
                    <a:lstStyle/>
                    <a:p>
                      <a:r>
                        <a:rPr sz="600" b="0">
                          <a:solidFill>
                            <a:srgbClr val="485A55"/>
                          </a:solidFill>
                        </a:rPr>
                        <a:t>Element</a:t>
                      </a:r>
                    </a:p>
                  </a:txBody>
                  <a:tcPr>
                    <a:solidFill>
                      <a:srgbClr val="D5CAAD"/>
                    </a:solidFill>
                  </a:tcPr>
                </a:tc>
                <a:tc>
                  <a:txBody>
                    <a:bodyPr/>
                    <a:lstStyle/>
                    <a:p>
                      <a:r>
                        <a:rPr sz="600" b="0">
                          <a:solidFill>
                            <a:srgbClr val="485A55"/>
                          </a:solidFill>
                        </a:rPr>
                        <a:t>Forecast</a:t>
                      </a:r>
                    </a:p>
                  </a:txBody>
                  <a:tcPr>
                    <a:solidFill>
                      <a:srgbClr val="D5CAAD"/>
                    </a:solidFill>
                  </a:tcPr>
                </a:tc>
                <a:extLst>
                  <a:ext uri="{0D108BD9-81ED-4DB2-BD59-A6C34878D82A}">
                    <a16:rowId xmlns:a16="http://schemas.microsoft.com/office/drawing/2014/main" val="10003"/>
                  </a:ext>
                </a:extLst>
              </a:tr>
              <a:tr h="222421">
                <a:tc>
                  <a:txBody>
                    <a:bodyPr/>
                    <a:lstStyle/>
                    <a:p>
                      <a:r>
                        <a:rPr sz="600" b="0">
                          <a:solidFill>
                            <a:srgbClr val="485A55"/>
                          </a:solidFill>
                        </a:rPr>
                        <a:t>Handle Buffer</a:t>
                      </a:r>
                    </a:p>
                  </a:txBody>
                  <a:tcPr>
                    <a:solidFill>
                      <a:srgbClr val="EEEADF"/>
                    </a:solidFill>
                  </a:tcPr>
                </a:tc>
                <a:tc>
                  <a:txBody>
                    <a:bodyPr/>
                    <a:lstStyle/>
                    <a:p>
                      <a:r>
                        <a:rPr sz="600" b="0">
                          <a:solidFill>
                            <a:srgbClr val="485A55"/>
                          </a:solidFill>
                        </a:rPr>
                        <a:t>Center</a:t>
                      </a:r>
                    </a:p>
                  </a:txBody>
                  <a:tcPr>
                    <a:solidFill>
                      <a:srgbClr val="EEEADF"/>
                    </a:solidFill>
                  </a:tcPr>
                </a:tc>
                <a:tc>
                  <a:txBody>
                    <a:bodyPr/>
                    <a:lstStyle/>
                    <a:p>
                      <a:r>
                        <a:rPr sz="600" b="0">
                          <a:solidFill>
                            <a:srgbClr val="485A55"/>
                          </a:solidFill>
                        </a:rPr>
                        <a:t>Waypoint</a:t>
                      </a:r>
                    </a:p>
                  </a:txBody>
                  <a:tcPr>
                    <a:solidFill>
                      <a:srgbClr val="EEEADF"/>
                    </a:solidFill>
                  </a:tcPr>
                </a:tc>
                <a:extLst>
                  <a:ext uri="{0D108BD9-81ED-4DB2-BD59-A6C34878D82A}">
                    <a16:rowId xmlns:a16="http://schemas.microsoft.com/office/drawing/2014/main" val="10004"/>
                  </a:ext>
                </a:extLst>
              </a:tr>
            </a:tbl>
          </a:graphicData>
        </a:graphic>
      </p:graphicFrame>
      <p:sp>
        <p:nvSpPr>
          <p:cNvPr id="17" name="Sun 16"/>
          <p:cNvSpPr/>
          <p:nvPr/>
        </p:nvSpPr>
        <p:spPr>
          <a:xfrm>
            <a:off x="10759332" y="1901167"/>
            <a:ext cx="682914" cy="1834789"/>
          </a:xfrm>
          <a:prstGeom prst="sun">
            <a:avLst/>
          </a:prstGeom>
          <a:solidFill>
            <a:srgbClr val="50A223"/>
          </a:solidFill>
          <a:ln w="13904">
            <a:solidFill>
              <a:srgbClr val="C8D47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3"/>
          <a:srcRect l="3128" t="10305" r="11148" b="15835"/>
          <a:stretch>
            <a:fillRect/>
          </a:stretch>
        </p:blipFill>
        <p:spPr>
          <a:xfrm>
            <a:off x="9037846" y="367069"/>
            <a:ext cx="1382379" cy="865042"/>
          </a:xfrm>
          <a:prstGeom prst="rect">
            <a:avLst/>
          </a:prstGeom>
        </p:spPr>
      </p:pic>
      <p:sp>
        <p:nvSpPr>
          <p:cNvPr id="19" name="TextBox 18"/>
          <p:cNvSpPr txBox="1"/>
          <p:nvPr/>
        </p:nvSpPr>
        <p:spPr>
          <a:xfrm>
            <a:off x="1681376" y="2165835"/>
            <a:ext cx="1318423" cy="1637189"/>
          </a:xfrm>
          <a:prstGeom prst="rect">
            <a:avLst/>
          </a:prstGeom>
          <a:noFill/>
        </p:spPr>
        <p:txBody>
          <a:bodyPr wrap="none" lIns="42251" tIns="42251" rIns="42251" bIns="42251">
            <a:spAutoFit/>
          </a:bodyPr>
          <a:lstStyle/>
          <a:p>
            <a:r>
              <a:rPr sz="5900" b="1" i="1" u="none">
                <a:solidFill>
                  <a:srgbClr val="75A526"/>
                </a:solidFill>
                <a:latin typeface="Trebuchet MS"/>
              </a:rPr>
              <a:t>Discovery Lens Ratio Range Catalog Expansion Brief</a:t>
            </a:r>
          </a:p>
        </p:txBody>
      </p:sp>
      <p:sp>
        <p:nvSpPr>
          <p:cNvPr id="20" name="Line Callout 2 19"/>
          <p:cNvSpPr/>
          <p:nvPr/>
        </p:nvSpPr>
        <p:spPr>
          <a:xfrm>
            <a:off x="579891" y="1165194"/>
            <a:ext cx="906324" cy="1044113"/>
          </a:xfrm>
          <a:prstGeom prst="borderCallout2">
            <a:avLst/>
          </a:prstGeom>
          <a:solidFill>
            <a:srgbClr val="5FC726"/>
          </a:solidFill>
          <a:ln w="20219">
            <a:solidFill>
              <a:srgbClr val="D56F3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10590083" y="1195761"/>
            <a:ext cx="1071807" cy="755437"/>
          </a:xfrm>
          <a:prstGeom prst="curvedConnector3">
            <a:avLst/>
          </a:prstGeom>
          <a:ln w="38322">
            <a:solidFill>
              <a:srgbClr val="7D96D1"/>
            </a:solidFill>
            <a:prstDash val="dash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22546" y="2679910"/>
            <a:ext cx="863802" cy="872228"/>
          </a:xfrm>
          <a:prstGeom prst="rect">
            <a:avLst/>
          </a:prstGeom>
          <a:noFill/>
        </p:spPr>
        <p:txBody>
          <a:bodyPr wrap="none" lIns="31207" tIns="31207" rIns="31207" bIns="31207">
            <a:spAutoFit/>
          </a:bodyPr>
          <a:lstStyle/>
          <a:p>
            <a:r>
              <a:rPr sz="2500" b="1" i="0" u="none">
                <a:solidFill>
                  <a:srgbClr val="94D428"/>
                </a:solidFill>
                <a:latin typeface="Georgia"/>
              </a:rPr>
              <a:t>Array Resource Orbit Pipeline Phase Core Array Case Model Bridge Stage Dispatch Forecast Volume</a:t>
            </a:r>
          </a:p>
        </p:txBody>
      </p:sp>
      <p:sp>
        <p:nvSpPr>
          <p:cNvPr id="23" name="TextBox 22"/>
          <p:cNvSpPr txBox="1"/>
          <p:nvPr/>
        </p:nvSpPr>
        <p:spPr>
          <a:xfrm>
            <a:off x="5272290" y="3413499"/>
            <a:ext cx="4021174" cy="2328631"/>
          </a:xfrm>
          <a:prstGeom prst="rect">
            <a:avLst/>
          </a:prstGeom>
          <a:solidFill>
            <a:srgbClr val="23861C"/>
          </a:solidFill>
        </p:spPr>
        <p:txBody>
          <a:bodyPr wrap="none" lIns="56442" tIns="56442" rIns="56442" bIns="56442">
            <a:spAutoFit/>
          </a:bodyPr>
          <a:lstStyle/>
          <a:p>
            <a:r>
              <a:rPr sz="1000" b="0" i="1" u="none">
                <a:solidFill>
                  <a:srgbClr val="3F3428"/>
                </a:solidFill>
                <a:latin typeface="Arial"/>
              </a:rPr>
              <a:t>Device Output Object Model Motion Transform Loop</a:t>
            </a:r>
          </a:p>
        </p:txBody>
      </p:sp>
      <p:sp>
        <p:nvSpPr>
          <p:cNvPr id="24" name="Freeform 23"/>
          <p:cNvSpPr/>
          <p:nvPr/>
        </p:nvSpPr>
        <p:spPr>
          <a:xfrm>
            <a:off x="5883711" y="1180664"/>
            <a:ext cx="695965" cy="1461302"/>
          </a:xfrm>
          <a:custGeom>
            <a:avLst/>
            <a:gdLst/>
            <a:ahLst/>
            <a:cxnLst/>
            <a:rect l="l" t="t" r="r" b="b"/>
            <a:pathLst>
              <a:path w="695965" h="1461302">
                <a:moveTo>
                  <a:pt x="0" y="324733"/>
                </a:moveTo>
                <a:lnTo>
                  <a:pt x="149670" y="0"/>
                </a:lnTo>
                <a:lnTo>
                  <a:pt x="299340" y="438390"/>
                </a:lnTo>
                <a:lnTo>
                  <a:pt x="449010" y="48710"/>
                </a:lnTo>
                <a:lnTo>
                  <a:pt x="695965" y="1136568"/>
                </a:lnTo>
                <a:lnTo>
                  <a:pt x="523845" y="1461302"/>
                </a:lnTo>
                <a:lnTo>
                  <a:pt x="359208" y="974201"/>
                </a:lnTo>
                <a:lnTo>
                  <a:pt x="172121" y="1412591"/>
                </a:lnTo>
                <a:close/>
              </a:path>
            </a:pathLst>
          </a:custGeom>
          <a:solidFill>
            <a:srgbClr val="ACB9A2"/>
          </a:solidFill>
          <a:ln w="8972">
            <a:solidFill>
              <a:srgbClr val="4E4B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p:cNvGraphicFramePr>
            <a:graphicFrameLocks noGrp="1"/>
          </p:cNvGraphicFramePr>
          <p:nvPr/>
        </p:nvGraphicFramePr>
        <p:xfrm>
          <a:off x="6867779" y="829610"/>
          <a:ext cx="2606424" cy="2012958"/>
        </p:xfrm>
        <a:graphic>
          <a:graphicData uri="http://schemas.openxmlformats.org/drawingml/2006/table">
            <a:tbl>
              <a:tblPr firstRow="1" bandRow="1">
                <a:tableStyleId>{5C22544A-7EE6-4342-B048-85BDC9FD1C3A}</a:tableStyleId>
              </a:tblPr>
              <a:tblGrid>
                <a:gridCol w="1303212">
                  <a:extLst>
                    <a:ext uri="{9D8B030D-6E8A-4147-A177-3AD203B41FA5}">
                      <a16:colId xmlns:a16="http://schemas.microsoft.com/office/drawing/2014/main" val="20000"/>
                    </a:ext>
                  </a:extLst>
                </a:gridCol>
                <a:gridCol w="1303212">
                  <a:extLst>
                    <a:ext uri="{9D8B030D-6E8A-4147-A177-3AD203B41FA5}">
                      <a16:colId xmlns:a16="http://schemas.microsoft.com/office/drawing/2014/main" val="20001"/>
                    </a:ext>
                  </a:extLst>
                </a:gridCol>
              </a:tblGrid>
              <a:tr h="402591">
                <a:tc>
                  <a:txBody>
                    <a:bodyPr/>
                    <a:lstStyle/>
                    <a:p>
                      <a:r>
                        <a:rPr sz="1300" b="1">
                          <a:solidFill>
                            <a:srgbClr val="A62624"/>
                          </a:solidFill>
                        </a:rPr>
                        <a:t>Network</a:t>
                      </a:r>
                    </a:p>
                  </a:txBody>
                  <a:tcPr>
                    <a:solidFill>
                      <a:srgbClr val="E1513D"/>
                    </a:solidFill>
                  </a:tcPr>
                </a:tc>
                <a:tc>
                  <a:txBody>
                    <a:bodyPr/>
                    <a:lstStyle/>
                    <a:p>
                      <a:r>
                        <a:rPr sz="1300" b="1">
                          <a:solidFill>
                            <a:srgbClr val="A62624"/>
                          </a:solidFill>
                        </a:rPr>
                        <a:t>Vector Insight</a:t>
                      </a:r>
                    </a:p>
                  </a:txBody>
                  <a:tcPr>
                    <a:solidFill>
                      <a:srgbClr val="E1513D"/>
                    </a:solidFill>
                  </a:tcPr>
                </a:tc>
                <a:extLst>
                  <a:ext uri="{0D108BD9-81ED-4DB2-BD59-A6C34878D82A}">
                    <a16:rowId xmlns:a16="http://schemas.microsoft.com/office/drawing/2014/main" val="10000"/>
                  </a:ext>
                </a:extLst>
              </a:tr>
              <a:tr h="402591">
                <a:tc>
                  <a:txBody>
                    <a:bodyPr/>
                    <a:lstStyle/>
                    <a:p>
                      <a:r>
                        <a:rPr sz="1300" b="0">
                          <a:solidFill>
                            <a:srgbClr val="A62624"/>
                          </a:solidFill>
                        </a:rPr>
                        <a:t>Detail</a:t>
                      </a:r>
                    </a:p>
                  </a:txBody>
                  <a:tcPr>
                    <a:solidFill>
                      <a:srgbClr val="F7F7F0"/>
                    </a:solidFill>
                  </a:tcPr>
                </a:tc>
                <a:tc>
                  <a:txBody>
                    <a:bodyPr/>
                    <a:lstStyle/>
                    <a:p>
                      <a:r>
                        <a:rPr sz="1300" b="0">
                          <a:solidFill>
                            <a:srgbClr val="A62624"/>
                          </a:solidFill>
                        </a:rPr>
                        <a:t>Horizon Array</a:t>
                      </a:r>
                    </a:p>
                  </a:txBody>
                  <a:tcPr>
                    <a:solidFill>
                      <a:srgbClr val="F7F7F0"/>
                    </a:solidFill>
                  </a:tcPr>
                </a:tc>
                <a:extLst>
                  <a:ext uri="{0D108BD9-81ED-4DB2-BD59-A6C34878D82A}">
                    <a16:rowId xmlns:a16="http://schemas.microsoft.com/office/drawing/2014/main" val="10001"/>
                  </a:ext>
                </a:extLst>
              </a:tr>
              <a:tr h="402591">
                <a:tc>
                  <a:txBody>
                    <a:bodyPr/>
                    <a:lstStyle/>
                    <a:p>
                      <a:r>
                        <a:rPr sz="1300" b="0">
                          <a:solidFill>
                            <a:srgbClr val="A62624"/>
                          </a:solidFill>
                        </a:rPr>
                        <a:t>Cell Cadence</a:t>
                      </a:r>
                    </a:p>
                  </a:txBody>
                  <a:tcPr>
                    <a:solidFill>
                      <a:srgbClr val="F7F7F0"/>
                    </a:solidFill>
                  </a:tcPr>
                </a:tc>
                <a:tc>
                  <a:txBody>
                    <a:bodyPr/>
                    <a:lstStyle/>
                    <a:p>
                      <a:r>
                        <a:rPr sz="1300" b="0">
                          <a:solidFill>
                            <a:srgbClr val="A62624"/>
                          </a:solidFill>
                        </a:rPr>
                        <a:t>Viewport</a:t>
                      </a:r>
                    </a:p>
                  </a:txBody>
                  <a:tcPr>
                    <a:solidFill>
                      <a:srgbClr val="F7F7F0"/>
                    </a:solidFill>
                  </a:tcPr>
                </a:tc>
                <a:extLst>
                  <a:ext uri="{0D108BD9-81ED-4DB2-BD59-A6C34878D82A}">
                    <a16:rowId xmlns:a16="http://schemas.microsoft.com/office/drawing/2014/main" val="10002"/>
                  </a:ext>
                </a:extLst>
              </a:tr>
              <a:tr h="402591">
                <a:tc>
                  <a:txBody>
                    <a:bodyPr/>
                    <a:lstStyle/>
                    <a:p>
                      <a:r>
                        <a:rPr sz="1300" b="0">
                          <a:solidFill>
                            <a:srgbClr val="A62624"/>
                          </a:solidFill>
                        </a:rPr>
                        <a:t>Grid Friction</a:t>
                      </a:r>
                    </a:p>
                  </a:txBody>
                  <a:tcPr>
                    <a:solidFill>
                      <a:srgbClr val="F7F7F0"/>
                    </a:solidFill>
                  </a:tcPr>
                </a:tc>
                <a:tc>
                  <a:txBody>
                    <a:bodyPr/>
                    <a:lstStyle/>
                    <a:p>
                      <a:r>
                        <a:rPr sz="1300" b="0">
                          <a:solidFill>
                            <a:srgbClr val="A62624"/>
                          </a:solidFill>
                        </a:rPr>
                        <a:t>Deployment Journey</a:t>
                      </a:r>
                    </a:p>
                  </a:txBody>
                  <a:tcPr>
                    <a:solidFill>
                      <a:srgbClr val="F7F7F0"/>
                    </a:solidFill>
                  </a:tcPr>
                </a:tc>
                <a:extLst>
                  <a:ext uri="{0D108BD9-81ED-4DB2-BD59-A6C34878D82A}">
                    <a16:rowId xmlns:a16="http://schemas.microsoft.com/office/drawing/2014/main" val="10003"/>
                  </a:ext>
                </a:extLst>
              </a:tr>
              <a:tr h="402594">
                <a:tc>
                  <a:txBody>
                    <a:bodyPr/>
                    <a:lstStyle/>
                    <a:p>
                      <a:r>
                        <a:rPr sz="1300" b="0">
                          <a:solidFill>
                            <a:srgbClr val="A62624"/>
                          </a:solidFill>
                        </a:rPr>
                        <a:t>Keyline</a:t>
                      </a:r>
                    </a:p>
                  </a:txBody>
                  <a:tcPr>
                    <a:solidFill>
                      <a:srgbClr val="F7F7F0"/>
                    </a:solidFill>
                  </a:tcPr>
                </a:tc>
                <a:tc>
                  <a:txBody>
                    <a:bodyPr/>
                    <a:lstStyle/>
                    <a:p>
                      <a:r>
                        <a:rPr sz="1300" b="0">
                          <a:solidFill>
                            <a:srgbClr val="A62624"/>
                          </a:solidFill>
                        </a:rPr>
                        <a:t>Core</a:t>
                      </a:r>
                    </a:p>
                  </a:txBody>
                  <a:tcPr>
                    <a:solidFill>
                      <a:srgbClr val="F7F7F0"/>
                    </a:solidFill>
                  </a:tcPr>
                </a:tc>
                <a:extLst>
                  <a:ext uri="{0D108BD9-81ED-4DB2-BD59-A6C34878D82A}">
                    <a16:rowId xmlns:a16="http://schemas.microsoft.com/office/drawing/2014/main" val="10004"/>
                  </a:ext>
                </a:extLst>
              </a:tr>
            </a:tbl>
          </a:graphicData>
        </a:graphic>
      </p:graphicFrame>
      <p:graphicFrame>
        <p:nvGraphicFramePr>
          <p:cNvPr id="26" name="Chart 25"/>
          <p:cNvGraphicFramePr>
            <a:graphicFrameLocks noGrp="1"/>
          </p:cNvGraphicFramePr>
          <p:nvPr/>
        </p:nvGraphicFramePr>
        <p:xfrm>
          <a:off x="1384516" y="1039948"/>
          <a:ext cx="2103848" cy="1723038"/>
        </p:xfrm>
        <a:graphic>
          <a:graphicData uri="http://schemas.openxmlformats.org/drawingml/2006/chart">
            <c:chart xmlns:c="http://schemas.openxmlformats.org/drawingml/2006/chart" xmlns:r="http://schemas.openxmlformats.org/officeDocument/2006/relationships" r:id="rId4"/>
          </a:graphicData>
        </a:graphic>
      </p:graphicFrame>
      <p:sp>
        <p:nvSpPr>
          <p:cNvPr id="27" name="Swoosh Arrow 26"/>
          <p:cNvSpPr/>
          <p:nvPr/>
        </p:nvSpPr>
        <p:spPr>
          <a:xfrm>
            <a:off x="1967835" y="613297"/>
            <a:ext cx="1384411" cy="591957"/>
          </a:xfrm>
          <a:prstGeom prst="swooshArrow">
            <a:avLst/>
          </a:prstGeom>
          <a:noFill/>
          <a:ln w="8984">
            <a:solidFill>
              <a:srgbClr val="1976CE"/>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761DCF81-6E8E-CB40-9E56-15950599AE6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984317" y="5369031"/>
            <a:ext cx="918897" cy="961838"/>
          </a:xfrm>
          <a:prstGeom prst="rect">
            <a:avLst/>
          </a:prstGeom>
        </p:spPr>
      </p:pic>
      <p:pic>
        <p:nvPicPr>
          <p:cNvPr id="31" name="Graphic 30">
            <a:extLst>
              <a:ext uri="{FF2B5EF4-FFF2-40B4-BE49-F238E27FC236}">
                <a16:creationId xmlns:a16="http://schemas.microsoft.com/office/drawing/2014/main" id="{E495A0C5-FFAB-DAF3-8D53-CBC0DA54D52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674766" y="3751226"/>
            <a:ext cx="2468276" cy="1064292"/>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4305382" y="2519630"/>
          <a:ext cx="2028991" cy="172786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4782314" y="3551427"/>
            <a:ext cx="1044337" cy="1410165"/>
          </a:xfrm>
          <a:prstGeom prst="rect">
            <a:avLst/>
          </a:prstGeom>
          <a:noFill/>
        </p:spPr>
        <p:txBody>
          <a:bodyPr wrap="none" lIns="36573" tIns="36573" rIns="36573" bIns="36573">
            <a:spAutoFit/>
          </a:bodyPr>
          <a:lstStyle/>
          <a:p>
            <a:r>
              <a:rPr sz="1900" b="0" i="1" u="none">
                <a:solidFill>
                  <a:srgbClr val="C36361"/>
                </a:solidFill>
                <a:latin typeface="Georgia"/>
              </a:rPr>
              <a:t>Center Reference Slice Control Baseline Envelope Case Discovery Terminal Cadence Schema</a:t>
            </a:r>
          </a:p>
        </p:txBody>
      </p:sp>
      <p:sp>
        <p:nvSpPr>
          <p:cNvPr id="4" name="Freeform 3"/>
          <p:cNvSpPr/>
          <p:nvPr/>
        </p:nvSpPr>
        <p:spPr>
          <a:xfrm>
            <a:off x="2329138" y="4543614"/>
            <a:ext cx="1757280" cy="1138162"/>
          </a:xfrm>
          <a:custGeom>
            <a:avLst/>
            <a:gdLst/>
            <a:ahLst/>
            <a:cxnLst/>
            <a:rect l="l" t="t" r="r" b="b"/>
            <a:pathLst>
              <a:path w="1757280" h="1138162">
                <a:moveTo>
                  <a:pt x="878640" y="0"/>
                </a:moveTo>
                <a:lnTo>
                  <a:pt x="1098300" y="284541"/>
                </a:lnTo>
                <a:lnTo>
                  <a:pt x="1647450" y="204869"/>
                </a:lnTo>
                <a:lnTo>
                  <a:pt x="1336265" y="569081"/>
                </a:lnTo>
                <a:lnTo>
                  <a:pt x="1757280" y="887767"/>
                </a:lnTo>
                <a:lnTo>
                  <a:pt x="1098300" y="819477"/>
                </a:lnTo>
                <a:lnTo>
                  <a:pt x="878640" y="1138162"/>
                </a:lnTo>
                <a:lnTo>
                  <a:pt x="658980" y="819477"/>
                </a:lnTo>
                <a:lnTo>
                  <a:pt x="0" y="887767"/>
                </a:lnTo>
                <a:lnTo>
                  <a:pt x="421015" y="569081"/>
                </a:lnTo>
                <a:lnTo>
                  <a:pt x="109830" y="204869"/>
                </a:lnTo>
                <a:lnTo>
                  <a:pt x="658980" y="284541"/>
                </a:lnTo>
                <a:close/>
              </a:path>
            </a:pathLst>
          </a:custGeom>
          <a:solidFill>
            <a:srgbClr val="64B3E3"/>
          </a:solidFill>
          <a:ln w="23015">
            <a:solidFill>
              <a:srgbClr val="2A8A4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_example_image.jpg"/>
          <p:cNvPicPr>
            <a:picLocks noChangeAspect="1"/>
          </p:cNvPicPr>
          <p:nvPr/>
        </p:nvPicPr>
        <p:blipFill>
          <a:blip r:embed="rId3"/>
          <a:srcRect l="16823" t="1401" r="3010" b="66"/>
          <a:stretch>
            <a:fillRect/>
          </a:stretch>
        </p:blipFill>
        <p:spPr>
          <a:xfrm>
            <a:off x="8025626" y="1257750"/>
            <a:ext cx="1133574" cy="932673"/>
          </a:xfrm>
          <a:prstGeom prst="rect">
            <a:avLst/>
          </a:prstGeom>
        </p:spPr>
      </p:pic>
      <p:sp>
        <p:nvSpPr>
          <p:cNvPr id="6" name="TextBox 5"/>
          <p:cNvSpPr txBox="1"/>
          <p:nvPr/>
        </p:nvSpPr>
        <p:spPr>
          <a:xfrm>
            <a:off x="6035139" y="1949224"/>
            <a:ext cx="870942" cy="2406358"/>
          </a:xfrm>
          <a:prstGeom prst="rect">
            <a:avLst/>
          </a:prstGeom>
          <a:noFill/>
        </p:spPr>
        <p:txBody>
          <a:bodyPr wrap="none" lIns="57833" tIns="57833" rIns="57833" bIns="57833">
            <a:spAutoFit/>
          </a:bodyPr>
          <a:lstStyle/>
          <a:p>
            <a:r>
              <a:rPr sz="6300" b="1" i="1" u="none">
                <a:solidFill>
                  <a:srgbClr val="275F93"/>
                </a:solidFill>
                <a:latin typeface="Calibri"/>
              </a:rPr>
              <a:t>Level Adaptive Blueprint Thread</a:t>
            </a:r>
          </a:p>
        </p:txBody>
      </p:sp>
      <p:sp>
        <p:nvSpPr>
          <p:cNvPr id="7" name="TextBox 6"/>
          <p:cNvSpPr txBox="1"/>
          <p:nvPr/>
        </p:nvSpPr>
        <p:spPr>
          <a:xfrm>
            <a:off x="3051215" y="2154748"/>
            <a:ext cx="1214630" cy="2188441"/>
          </a:xfrm>
          <a:prstGeom prst="rect">
            <a:avLst/>
          </a:prstGeom>
          <a:noFill/>
        </p:spPr>
        <p:txBody>
          <a:bodyPr wrap="none" lIns="60529" tIns="60529" rIns="60529" bIns="60529">
            <a:spAutoFit/>
          </a:bodyPr>
          <a:lstStyle/>
          <a:p>
            <a:r>
              <a:rPr sz="3200" b="1" i="0" u="none">
                <a:solidFill>
                  <a:srgbClr val="C9E1AF"/>
                </a:solidFill>
                <a:latin typeface="Trebuchet MS"/>
              </a:rPr>
              <a:t>Blueprint Build Datum</a:t>
            </a:r>
          </a:p>
        </p:txBody>
      </p:sp>
      <p:graphicFrame>
        <p:nvGraphicFramePr>
          <p:cNvPr id="8" name="Table 7"/>
          <p:cNvGraphicFramePr>
            <a:graphicFrameLocks noGrp="1"/>
          </p:cNvGraphicFramePr>
          <p:nvPr/>
        </p:nvGraphicFramePr>
        <p:xfrm>
          <a:off x="7455095" y="2430068"/>
          <a:ext cx="2016560" cy="2563155"/>
        </p:xfrm>
        <a:graphic>
          <a:graphicData uri="http://schemas.openxmlformats.org/drawingml/2006/table">
            <a:tbl>
              <a:tblPr firstRow="1" bandRow="1">
                <a:tableStyleId>{5C22544A-7EE6-4342-B048-85BDC9FD1C3A}</a:tableStyleId>
              </a:tblPr>
              <a:tblGrid>
                <a:gridCol w="1008280">
                  <a:extLst>
                    <a:ext uri="{9D8B030D-6E8A-4147-A177-3AD203B41FA5}">
                      <a16:colId xmlns:a16="http://schemas.microsoft.com/office/drawing/2014/main" val="20000"/>
                    </a:ext>
                  </a:extLst>
                </a:gridCol>
                <a:gridCol w="1008280">
                  <a:extLst>
                    <a:ext uri="{9D8B030D-6E8A-4147-A177-3AD203B41FA5}">
                      <a16:colId xmlns:a16="http://schemas.microsoft.com/office/drawing/2014/main" val="20001"/>
                    </a:ext>
                  </a:extLst>
                </a:gridCol>
              </a:tblGrid>
              <a:tr h="640788">
                <a:tc>
                  <a:txBody>
                    <a:bodyPr/>
                    <a:lstStyle/>
                    <a:p>
                      <a:r>
                        <a:rPr sz="700" b="1">
                          <a:solidFill>
                            <a:srgbClr val="957932"/>
                          </a:solidFill>
                        </a:rPr>
                        <a:t>Cortex Template</a:t>
                      </a:r>
                    </a:p>
                  </a:txBody>
                  <a:tcPr>
                    <a:solidFill>
                      <a:srgbClr val="215ABB"/>
                    </a:solidFill>
                  </a:tcPr>
                </a:tc>
                <a:tc>
                  <a:txBody>
                    <a:bodyPr/>
                    <a:lstStyle/>
                    <a:p>
                      <a:r>
                        <a:rPr sz="700" b="1">
                          <a:solidFill>
                            <a:srgbClr val="957932"/>
                          </a:solidFill>
                        </a:rPr>
                        <a:t>Adaptive</a:t>
                      </a:r>
                    </a:p>
                  </a:txBody>
                  <a:tcPr>
                    <a:solidFill>
                      <a:srgbClr val="215ABB"/>
                    </a:solidFill>
                  </a:tcPr>
                </a:tc>
                <a:extLst>
                  <a:ext uri="{0D108BD9-81ED-4DB2-BD59-A6C34878D82A}">
                    <a16:rowId xmlns:a16="http://schemas.microsoft.com/office/drawing/2014/main" val="10000"/>
                  </a:ext>
                </a:extLst>
              </a:tr>
              <a:tr h="640788">
                <a:tc>
                  <a:txBody>
                    <a:bodyPr/>
                    <a:lstStyle/>
                    <a:p>
                      <a:r>
                        <a:rPr sz="700" b="0">
                          <a:solidFill>
                            <a:srgbClr val="957932"/>
                          </a:solidFill>
                        </a:rPr>
                        <a:t>Stage</a:t>
                      </a:r>
                    </a:p>
                  </a:txBody>
                  <a:tcPr>
                    <a:solidFill>
                      <a:srgbClr val="EBDCBC"/>
                    </a:solidFill>
                  </a:tcPr>
                </a:tc>
                <a:tc>
                  <a:txBody>
                    <a:bodyPr/>
                    <a:lstStyle/>
                    <a:p>
                      <a:r>
                        <a:rPr sz="700" b="0">
                          <a:solidFill>
                            <a:srgbClr val="957932"/>
                          </a:solidFill>
                        </a:rPr>
                        <a:t>Bridge Coverage</a:t>
                      </a:r>
                    </a:p>
                  </a:txBody>
                  <a:tcPr>
                    <a:solidFill>
                      <a:srgbClr val="EBDCBC"/>
                    </a:solidFill>
                  </a:tcPr>
                </a:tc>
                <a:extLst>
                  <a:ext uri="{0D108BD9-81ED-4DB2-BD59-A6C34878D82A}">
                    <a16:rowId xmlns:a16="http://schemas.microsoft.com/office/drawing/2014/main" val="10001"/>
                  </a:ext>
                </a:extLst>
              </a:tr>
              <a:tr h="640788">
                <a:tc>
                  <a:txBody>
                    <a:bodyPr/>
                    <a:lstStyle/>
                    <a:p>
                      <a:r>
                        <a:rPr sz="700" b="0">
                          <a:solidFill>
                            <a:srgbClr val="957932"/>
                          </a:solidFill>
                        </a:rPr>
                        <a:t>Agenda Scope</a:t>
                      </a:r>
                    </a:p>
                  </a:txBody>
                  <a:tcPr>
                    <a:solidFill>
                      <a:srgbClr val="F2E8D3"/>
                    </a:solidFill>
                  </a:tcPr>
                </a:tc>
                <a:tc>
                  <a:txBody>
                    <a:bodyPr/>
                    <a:lstStyle/>
                    <a:p>
                      <a:r>
                        <a:rPr sz="700" b="0">
                          <a:solidFill>
                            <a:srgbClr val="957932"/>
                          </a:solidFill>
                        </a:rPr>
                        <a:t>Variant Function</a:t>
                      </a:r>
                    </a:p>
                  </a:txBody>
                  <a:tcPr>
                    <a:solidFill>
                      <a:srgbClr val="EBDCBC"/>
                    </a:solidFill>
                  </a:tcPr>
                </a:tc>
                <a:extLst>
                  <a:ext uri="{0D108BD9-81ED-4DB2-BD59-A6C34878D82A}">
                    <a16:rowId xmlns:a16="http://schemas.microsoft.com/office/drawing/2014/main" val="10002"/>
                  </a:ext>
                </a:extLst>
              </a:tr>
              <a:tr h="640791">
                <a:tc>
                  <a:txBody>
                    <a:bodyPr/>
                    <a:lstStyle/>
                    <a:p>
                      <a:r>
                        <a:rPr sz="700" b="0">
                          <a:solidFill>
                            <a:srgbClr val="957932"/>
                          </a:solidFill>
                        </a:rPr>
                        <a:t>Map Device</a:t>
                      </a:r>
                    </a:p>
                  </a:txBody>
                  <a:tcPr>
                    <a:solidFill>
                      <a:srgbClr val="EBDCBC"/>
                    </a:solidFill>
                  </a:tcPr>
                </a:tc>
                <a:tc>
                  <a:txBody>
                    <a:bodyPr/>
                    <a:lstStyle/>
                    <a:p>
                      <a:r>
                        <a:rPr sz="700" b="0">
                          <a:solidFill>
                            <a:srgbClr val="957932"/>
                          </a:solidFill>
                        </a:rPr>
                        <a:t>Source Goal</a:t>
                      </a:r>
                    </a:p>
                  </a:txBody>
                  <a:tcPr>
                    <a:solidFill>
                      <a:srgbClr val="EBDCBC"/>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6663178" y="378816"/>
            <a:ext cx="955176" cy="1298613"/>
          </a:xfrm>
          <a:prstGeom prst="rect">
            <a:avLst/>
          </a:prstGeom>
          <a:solidFill>
            <a:srgbClr val="75D221"/>
          </a:solidFill>
        </p:spPr>
        <p:txBody>
          <a:bodyPr wrap="none" lIns="27399" tIns="27399" rIns="27399" bIns="27399">
            <a:spAutoFit/>
          </a:bodyPr>
          <a:lstStyle/>
          <a:p>
            <a:r>
              <a:rPr sz="1200" b="1" i="0" u="none">
                <a:solidFill>
                  <a:srgbClr val="CA546C"/>
                </a:solidFill>
                <a:latin typeface="Verdana"/>
              </a:rPr>
              <a:t>Threshold Vertex Data Relay</a:t>
            </a:r>
          </a:p>
        </p:txBody>
      </p:sp>
      <p:sp>
        <p:nvSpPr>
          <p:cNvPr id="10" name="Left Right Ribbon 9"/>
          <p:cNvSpPr/>
          <p:nvPr/>
        </p:nvSpPr>
        <p:spPr>
          <a:xfrm>
            <a:off x="758946" y="5136492"/>
            <a:ext cx="1593721" cy="1408491"/>
          </a:xfrm>
          <a:prstGeom prst="leftRightRibbon">
            <a:avLst/>
          </a:prstGeom>
          <a:solidFill>
            <a:srgbClr val="BD31DF"/>
          </a:solidFill>
          <a:ln w="29613">
            <a:solidFill>
              <a:srgbClr val="439CC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flipV="1">
            <a:off x="3060990" y="1528906"/>
            <a:ext cx="2956682" cy="590859"/>
          </a:xfrm>
          <a:prstGeom prst="bentConnector3">
            <a:avLst/>
          </a:prstGeom>
          <a:ln w="17810">
            <a:solidFill>
              <a:srgbClr val="913956"/>
            </a:solidFill>
            <a:prstDash val="dash"/>
          </a:ln>
        </p:spPr>
        <p:style>
          <a:lnRef idx="2">
            <a:schemeClr val="accent1"/>
          </a:lnRef>
          <a:fillRef idx="0">
            <a:schemeClr val="accent1"/>
          </a:fillRef>
          <a:effectRef idx="1">
            <a:schemeClr val="accent1"/>
          </a:effectRef>
          <a:fontRef idx="minor">
            <a:schemeClr val="tx1"/>
          </a:fontRef>
        </p:style>
      </p:cxnSp>
      <p:sp>
        <p:nvSpPr>
          <p:cNvPr id="12" name="Hexagon 11"/>
          <p:cNvSpPr/>
          <p:nvPr/>
        </p:nvSpPr>
        <p:spPr>
          <a:xfrm>
            <a:off x="1146162" y="1947926"/>
            <a:ext cx="378410" cy="995571"/>
          </a:xfrm>
          <a:prstGeom prst="hexagon">
            <a:avLst/>
          </a:prstGeom>
          <a:solidFill>
            <a:srgbClr val="552D3A"/>
          </a:solidFill>
          <a:ln w="17143">
            <a:solidFill>
              <a:srgbClr val="55C38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3"/>
          <a:srcRect l="2563" t="5292" r="16350" b="1420"/>
          <a:stretch>
            <a:fillRect/>
          </a:stretch>
        </p:blipFill>
        <p:spPr>
          <a:xfrm>
            <a:off x="2497101" y="5776042"/>
            <a:ext cx="1789583" cy="774038"/>
          </a:xfrm>
          <a:prstGeom prst="rect">
            <a:avLst/>
          </a:prstGeom>
        </p:spPr>
      </p:pic>
      <p:sp>
        <p:nvSpPr>
          <p:cNvPr id="14" name="Explosion 13"/>
          <p:cNvSpPr/>
          <p:nvPr/>
        </p:nvSpPr>
        <p:spPr>
          <a:xfrm>
            <a:off x="10244152" y="4418873"/>
            <a:ext cx="1409778" cy="1723794"/>
          </a:xfrm>
          <a:prstGeom prst="irregularSeal2">
            <a:avLst/>
          </a:prstGeom>
          <a:solidFill>
            <a:srgbClr val="69554F"/>
          </a:solidFill>
          <a:ln w="8995">
            <a:solidFill>
              <a:srgbClr val="76CC7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isplay 14"/>
          <p:cNvSpPr/>
          <p:nvPr/>
        </p:nvSpPr>
        <p:spPr>
          <a:xfrm>
            <a:off x="4387180" y="326557"/>
            <a:ext cx="1508202" cy="427168"/>
          </a:xfrm>
          <a:prstGeom prst="flowChartDisplay">
            <a:avLst/>
          </a:prstGeom>
          <a:solidFill>
            <a:srgbClr val="C51C90"/>
          </a:solidFill>
          <a:ln w="18601">
            <a:solidFill>
              <a:srgbClr val="3646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V="1">
            <a:off x="431547" y="3928256"/>
            <a:ext cx="1303891" cy="1073022"/>
          </a:xfrm>
          <a:prstGeom prst="line">
            <a:avLst/>
          </a:prstGeom>
          <a:ln w="41732">
            <a:solidFill>
              <a:srgbClr val="B275C7"/>
            </a:solidFill>
            <a:prstDash val="dot"/>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28071" y="2386032"/>
            <a:ext cx="1081096" cy="821456"/>
          </a:xfrm>
          <a:prstGeom prst="line">
            <a:avLst/>
          </a:prstGeom>
          <a:ln w="43332">
            <a:solidFill>
              <a:srgbClr val="7ADB7F"/>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18" name="Table 17"/>
          <p:cNvGraphicFramePr>
            <a:graphicFrameLocks noGrp="1"/>
          </p:cNvGraphicFramePr>
          <p:nvPr/>
        </p:nvGraphicFramePr>
        <p:xfrm>
          <a:off x="575345" y="458695"/>
          <a:ext cx="3205913" cy="934026"/>
        </p:xfrm>
        <a:graphic>
          <a:graphicData uri="http://schemas.openxmlformats.org/drawingml/2006/table">
            <a:tbl>
              <a:tblPr firstRow="1" bandRow="1">
                <a:tableStyleId>{5C22544A-7EE6-4342-B048-85BDC9FD1C3A}</a:tableStyleId>
              </a:tblPr>
              <a:tblGrid>
                <a:gridCol w="1602956">
                  <a:extLst>
                    <a:ext uri="{9D8B030D-6E8A-4147-A177-3AD203B41FA5}">
                      <a16:colId xmlns:a16="http://schemas.microsoft.com/office/drawing/2014/main" val="20000"/>
                    </a:ext>
                  </a:extLst>
                </a:gridCol>
                <a:gridCol w="1602957">
                  <a:extLst>
                    <a:ext uri="{9D8B030D-6E8A-4147-A177-3AD203B41FA5}">
                      <a16:colId xmlns:a16="http://schemas.microsoft.com/office/drawing/2014/main" val="20001"/>
                    </a:ext>
                  </a:extLst>
                </a:gridCol>
              </a:tblGrid>
              <a:tr h="155671">
                <a:tc>
                  <a:txBody>
                    <a:bodyPr/>
                    <a:lstStyle/>
                    <a:p>
                      <a:r>
                        <a:rPr sz="900" b="1">
                          <a:solidFill>
                            <a:srgbClr val="7162C1"/>
                          </a:solidFill>
                        </a:rPr>
                        <a:t>Thread</a:t>
                      </a:r>
                    </a:p>
                  </a:txBody>
                  <a:tcPr>
                    <a:solidFill>
                      <a:srgbClr val="7F4168"/>
                    </a:solidFill>
                  </a:tcPr>
                </a:tc>
                <a:tc>
                  <a:txBody>
                    <a:bodyPr/>
                    <a:lstStyle/>
                    <a:p>
                      <a:r>
                        <a:rPr sz="900" b="1">
                          <a:solidFill>
                            <a:srgbClr val="7162C1"/>
                          </a:solidFill>
                        </a:rPr>
                        <a:t>Harbor Field</a:t>
                      </a:r>
                    </a:p>
                  </a:txBody>
                  <a:tcPr>
                    <a:solidFill>
                      <a:srgbClr val="7F4168"/>
                    </a:solidFill>
                  </a:tcPr>
                </a:tc>
                <a:extLst>
                  <a:ext uri="{0D108BD9-81ED-4DB2-BD59-A6C34878D82A}">
                    <a16:rowId xmlns:a16="http://schemas.microsoft.com/office/drawing/2014/main" val="10000"/>
                  </a:ext>
                </a:extLst>
              </a:tr>
              <a:tr h="155671">
                <a:tc>
                  <a:txBody>
                    <a:bodyPr/>
                    <a:lstStyle/>
                    <a:p>
                      <a:r>
                        <a:rPr sz="900" b="0">
                          <a:solidFill>
                            <a:srgbClr val="7162C1"/>
                          </a:solidFill>
                        </a:rPr>
                        <a:t>Point</a:t>
                      </a:r>
                    </a:p>
                  </a:txBody>
                  <a:tcPr>
                    <a:solidFill>
                      <a:srgbClr val="F2E3EB"/>
                    </a:solidFill>
                  </a:tcPr>
                </a:tc>
                <a:tc>
                  <a:txBody>
                    <a:bodyPr/>
                    <a:lstStyle/>
                    <a:p>
                      <a:r>
                        <a:rPr sz="900" b="0">
                          <a:solidFill>
                            <a:srgbClr val="7162C1"/>
                          </a:solidFill>
                        </a:rPr>
                        <a:t>Mode Duration</a:t>
                      </a:r>
                    </a:p>
                  </a:txBody>
                  <a:tcPr>
                    <a:solidFill>
                      <a:srgbClr val="F2E3EB"/>
                    </a:solidFill>
                  </a:tcPr>
                </a:tc>
                <a:extLst>
                  <a:ext uri="{0D108BD9-81ED-4DB2-BD59-A6C34878D82A}">
                    <a16:rowId xmlns:a16="http://schemas.microsoft.com/office/drawing/2014/main" val="10001"/>
                  </a:ext>
                </a:extLst>
              </a:tr>
              <a:tr h="155671">
                <a:tc>
                  <a:txBody>
                    <a:bodyPr/>
                    <a:lstStyle/>
                    <a:p>
                      <a:r>
                        <a:rPr sz="900" b="0">
                          <a:solidFill>
                            <a:srgbClr val="7162C1"/>
                          </a:solidFill>
                        </a:rPr>
                        <a:t>Volume Data</a:t>
                      </a:r>
                    </a:p>
                  </a:txBody>
                  <a:tcPr>
                    <a:solidFill>
                      <a:srgbClr val="F2E3EB"/>
                    </a:solidFill>
                  </a:tcPr>
                </a:tc>
                <a:tc>
                  <a:txBody>
                    <a:bodyPr/>
                    <a:lstStyle/>
                    <a:p>
                      <a:r>
                        <a:rPr sz="900" b="0">
                          <a:solidFill>
                            <a:srgbClr val="7162C1"/>
                          </a:solidFill>
                        </a:rPr>
                        <a:t>Story Ledger</a:t>
                      </a:r>
                    </a:p>
                  </a:txBody>
                  <a:tcPr>
                    <a:solidFill>
                      <a:srgbClr val="F2E3EB"/>
                    </a:solidFill>
                  </a:tcPr>
                </a:tc>
                <a:extLst>
                  <a:ext uri="{0D108BD9-81ED-4DB2-BD59-A6C34878D82A}">
                    <a16:rowId xmlns:a16="http://schemas.microsoft.com/office/drawing/2014/main" val="10002"/>
                  </a:ext>
                </a:extLst>
              </a:tr>
              <a:tr h="155671">
                <a:tc>
                  <a:txBody>
                    <a:bodyPr/>
                    <a:lstStyle/>
                    <a:p>
                      <a:r>
                        <a:rPr sz="900" b="0">
                          <a:solidFill>
                            <a:srgbClr val="7162C1"/>
                          </a:solidFill>
                        </a:rPr>
                        <a:t>Spectrum Mesh</a:t>
                      </a:r>
                    </a:p>
                  </a:txBody>
                  <a:tcPr>
                    <a:solidFill>
                      <a:srgbClr val="F2E3EB"/>
                    </a:solidFill>
                  </a:tcPr>
                </a:tc>
                <a:tc>
                  <a:txBody>
                    <a:bodyPr/>
                    <a:lstStyle/>
                    <a:p>
                      <a:r>
                        <a:rPr sz="900" b="0">
                          <a:solidFill>
                            <a:srgbClr val="7162C1"/>
                          </a:solidFill>
                        </a:rPr>
                        <a:t>Method</a:t>
                      </a:r>
                    </a:p>
                  </a:txBody>
                  <a:tcPr>
                    <a:solidFill>
                      <a:srgbClr val="F2E3EB"/>
                    </a:solidFill>
                  </a:tcPr>
                </a:tc>
                <a:extLst>
                  <a:ext uri="{0D108BD9-81ED-4DB2-BD59-A6C34878D82A}">
                    <a16:rowId xmlns:a16="http://schemas.microsoft.com/office/drawing/2014/main" val="10003"/>
                  </a:ext>
                </a:extLst>
              </a:tr>
              <a:tr h="155671">
                <a:tc>
                  <a:txBody>
                    <a:bodyPr/>
                    <a:lstStyle/>
                    <a:p>
                      <a:r>
                        <a:rPr sz="900" b="0">
                          <a:solidFill>
                            <a:srgbClr val="7162C1"/>
                          </a:solidFill>
                        </a:rPr>
                        <a:t>Coverage Path</a:t>
                      </a:r>
                    </a:p>
                  </a:txBody>
                  <a:tcPr>
                    <a:solidFill>
                      <a:srgbClr val="F2E3EB"/>
                    </a:solidFill>
                  </a:tcPr>
                </a:tc>
                <a:tc>
                  <a:txBody>
                    <a:bodyPr/>
                    <a:lstStyle/>
                    <a:p>
                      <a:r>
                        <a:rPr sz="900" b="0">
                          <a:solidFill>
                            <a:srgbClr val="7162C1"/>
                          </a:solidFill>
                        </a:rPr>
                        <a:t>Detail Output</a:t>
                      </a:r>
                    </a:p>
                  </a:txBody>
                  <a:tcPr>
                    <a:solidFill>
                      <a:srgbClr val="F2E3EB"/>
                    </a:solidFill>
                  </a:tcPr>
                </a:tc>
                <a:extLst>
                  <a:ext uri="{0D108BD9-81ED-4DB2-BD59-A6C34878D82A}">
                    <a16:rowId xmlns:a16="http://schemas.microsoft.com/office/drawing/2014/main" val="10004"/>
                  </a:ext>
                </a:extLst>
              </a:tr>
              <a:tr h="155671">
                <a:tc>
                  <a:txBody>
                    <a:bodyPr/>
                    <a:lstStyle/>
                    <a:p>
                      <a:r>
                        <a:rPr sz="900" b="0">
                          <a:solidFill>
                            <a:srgbClr val="7162C1"/>
                          </a:solidFill>
                        </a:rPr>
                        <a:t>Method Iteration</a:t>
                      </a:r>
                    </a:p>
                  </a:txBody>
                  <a:tcPr>
                    <a:solidFill>
                      <a:srgbClr val="F2E3EB"/>
                    </a:solidFill>
                  </a:tcPr>
                </a:tc>
                <a:tc>
                  <a:txBody>
                    <a:bodyPr/>
                    <a:lstStyle/>
                    <a:p>
                      <a:r>
                        <a:rPr sz="900" b="0">
                          <a:solidFill>
                            <a:srgbClr val="7162C1"/>
                          </a:solidFill>
                        </a:rPr>
                        <a:t>Library Coverage</a:t>
                      </a:r>
                    </a:p>
                  </a:txBody>
                  <a:tcPr>
                    <a:solidFill>
                      <a:srgbClr val="F2E3EB"/>
                    </a:solidFill>
                  </a:tcPr>
                </a:tc>
                <a:extLst>
                  <a:ext uri="{0D108BD9-81ED-4DB2-BD59-A6C34878D82A}">
                    <a16:rowId xmlns:a16="http://schemas.microsoft.com/office/drawing/2014/main" val="10005"/>
                  </a:ext>
                </a:extLst>
              </a:tr>
            </a:tbl>
          </a:graphicData>
        </a:graphic>
      </p:graphicFrame>
      <p:sp>
        <p:nvSpPr>
          <p:cNvPr id="19" name="Rectangular Callout 18"/>
          <p:cNvSpPr/>
          <p:nvPr/>
        </p:nvSpPr>
        <p:spPr>
          <a:xfrm>
            <a:off x="1970016" y="3424049"/>
            <a:ext cx="703069" cy="674396"/>
          </a:xfrm>
          <a:prstGeom prst="wedgeRectCallout">
            <a:avLst/>
          </a:prstGeom>
          <a:solidFill>
            <a:srgbClr val="1D7D92"/>
          </a:solidFill>
          <a:ln w="16045">
            <a:solidFill>
              <a:srgbClr val="E0505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848506" y="4374914"/>
            <a:ext cx="1015768" cy="2137414"/>
          </a:xfrm>
          <a:prstGeom prst="rect">
            <a:avLst/>
          </a:prstGeom>
          <a:noFill/>
        </p:spPr>
        <p:txBody>
          <a:bodyPr wrap="none" lIns="83612" tIns="83612" rIns="83612" bIns="83612">
            <a:spAutoFit/>
          </a:bodyPr>
          <a:lstStyle/>
          <a:p>
            <a:r>
              <a:rPr sz="6200" b="1" i="0" u="none">
                <a:solidFill>
                  <a:srgbClr val="D48E5B"/>
                </a:solidFill>
                <a:latin typeface="Aptos"/>
              </a:rPr>
              <a:t>Forecast Payload Profile</a:t>
            </a:r>
          </a:p>
        </p:txBody>
      </p:sp>
      <p:sp>
        <p:nvSpPr>
          <p:cNvPr id="21" name="Diamond 20"/>
          <p:cNvSpPr/>
          <p:nvPr/>
        </p:nvSpPr>
        <p:spPr>
          <a:xfrm>
            <a:off x="7190818" y="5635997"/>
            <a:ext cx="2505443" cy="888952"/>
          </a:xfrm>
          <a:prstGeom prst="diamond">
            <a:avLst/>
          </a:prstGeom>
          <a:solidFill>
            <a:srgbClr val="471970"/>
          </a:solidFill>
          <a:ln w="15923">
            <a:solidFill>
              <a:srgbClr val="CB2A9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Chart 21"/>
          <p:cNvGraphicFramePr>
            <a:graphicFrameLocks noGrp="1"/>
          </p:cNvGraphicFramePr>
          <p:nvPr/>
        </p:nvGraphicFramePr>
        <p:xfrm>
          <a:off x="8961946" y="201775"/>
          <a:ext cx="3049118" cy="1748745"/>
        </p:xfrm>
        <a:graphic>
          <a:graphicData uri="http://schemas.openxmlformats.org/drawingml/2006/chart">
            <c:chart xmlns:c="http://schemas.openxmlformats.org/drawingml/2006/chart" xmlns:r="http://schemas.openxmlformats.org/officeDocument/2006/relationships" r:id="rId4"/>
          </a:graphicData>
        </a:graphic>
      </p:graphicFrame>
      <p:pic>
        <p:nvPicPr>
          <p:cNvPr id="23" name="Picture 22" descr="_example_image.jpg"/>
          <p:cNvPicPr>
            <a:picLocks noChangeAspect="1"/>
          </p:cNvPicPr>
          <p:nvPr/>
        </p:nvPicPr>
        <p:blipFill>
          <a:blip r:embed="rId3"/>
          <a:srcRect l="13412" t="7760" r="11341" b="17436"/>
          <a:stretch>
            <a:fillRect/>
          </a:stretch>
        </p:blipFill>
        <p:spPr>
          <a:xfrm>
            <a:off x="4249382" y="5004291"/>
            <a:ext cx="1743634" cy="941849"/>
          </a:xfrm>
          <a:prstGeom prst="rect">
            <a:avLst/>
          </a:prstGeom>
        </p:spPr>
      </p:pic>
      <p:sp>
        <p:nvSpPr>
          <p:cNvPr id="24" name="TextBox 23"/>
          <p:cNvSpPr txBox="1"/>
          <p:nvPr/>
        </p:nvSpPr>
        <p:spPr>
          <a:xfrm>
            <a:off x="10276015" y="2497593"/>
            <a:ext cx="1042207" cy="748502"/>
          </a:xfrm>
          <a:prstGeom prst="rect">
            <a:avLst/>
          </a:prstGeom>
          <a:noFill/>
        </p:spPr>
        <p:txBody>
          <a:bodyPr wrap="none" lIns="34325" tIns="34325" rIns="34325" bIns="34325">
            <a:spAutoFit/>
          </a:bodyPr>
          <a:lstStyle/>
          <a:p>
            <a:r>
              <a:rPr sz="2800" b="0" i="0" u="none">
                <a:solidFill>
                  <a:srgbClr val="675195"/>
                </a:solidFill>
                <a:latin typeface="Verdana"/>
              </a:rPr>
              <a:t>Compass Apex Mesh Foundation Summary Matrix</a:t>
            </a:r>
          </a:p>
        </p:txBody>
      </p:sp>
      <p:sp>
        <p:nvSpPr>
          <p:cNvPr id="25" name="Wave 24"/>
          <p:cNvSpPr/>
          <p:nvPr/>
        </p:nvSpPr>
        <p:spPr>
          <a:xfrm>
            <a:off x="9390000" y="1255474"/>
            <a:ext cx="1426899" cy="951207"/>
          </a:xfrm>
          <a:prstGeom prst="wave">
            <a:avLst/>
          </a:prstGeom>
          <a:solidFill>
            <a:srgbClr val="43655E"/>
          </a:solidFill>
          <a:ln w="12617">
            <a:solidFill>
              <a:srgbClr val="53852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5618297" y="203738"/>
            <a:ext cx="884295" cy="644899"/>
          </a:xfrm>
          <a:custGeom>
            <a:avLst/>
            <a:gdLst/>
            <a:ahLst/>
            <a:cxnLst/>
            <a:rect l="l" t="t" r="r" b="b"/>
            <a:pathLst>
              <a:path w="884295" h="644899">
                <a:moveTo>
                  <a:pt x="95086" y="109770"/>
                </a:moveTo>
                <a:lnTo>
                  <a:pt x="313782" y="0"/>
                </a:lnTo>
                <a:lnTo>
                  <a:pt x="646581" y="54885"/>
                </a:lnTo>
                <a:lnTo>
                  <a:pt x="884295" y="260704"/>
                </a:lnTo>
                <a:lnTo>
                  <a:pt x="760684" y="535129"/>
                </a:lnTo>
                <a:lnTo>
                  <a:pt x="408868" y="644899"/>
                </a:lnTo>
                <a:lnTo>
                  <a:pt x="57052" y="466523"/>
                </a:lnTo>
                <a:lnTo>
                  <a:pt x="0" y="233261"/>
                </a:lnTo>
                <a:close/>
              </a:path>
            </a:pathLst>
          </a:custGeom>
          <a:solidFill>
            <a:srgbClr val="DA4698"/>
          </a:solidFill>
          <a:ln w="17066">
            <a:solidFill>
              <a:srgbClr val="92B7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FE84B057-7222-B1E6-3040-F507B6778BA3}"/>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487050" y="2609915"/>
            <a:ext cx="1111975" cy="916825"/>
          </a:xfrm>
          <a:prstGeom prst="rect">
            <a:avLst/>
          </a:prstGeom>
        </p:spPr>
      </p:pic>
      <p:pic>
        <p:nvPicPr>
          <p:cNvPr id="30" name="Graphic 29">
            <a:extLst>
              <a:ext uri="{FF2B5EF4-FFF2-40B4-BE49-F238E27FC236}">
                <a16:creationId xmlns:a16="http://schemas.microsoft.com/office/drawing/2014/main" id="{867D0C79-7704-E6C1-02E3-5A32853A034B}"/>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538443" y="1471623"/>
            <a:ext cx="1216113" cy="100428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1409" t="12708" r="16735" b="12289"/>
          <a:stretch>
            <a:fillRect/>
          </a:stretch>
        </p:blipFill>
        <p:spPr>
          <a:xfrm>
            <a:off x="4400030" y="1208238"/>
            <a:ext cx="1620503" cy="1181847"/>
          </a:xfrm>
          <a:prstGeom prst="rect">
            <a:avLst/>
          </a:prstGeom>
        </p:spPr>
      </p:pic>
      <p:sp>
        <p:nvSpPr>
          <p:cNvPr id="3" name="TextBox 2"/>
          <p:cNvSpPr txBox="1"/>
          <p:nvPr/>
        </p:nvSpPr>
        <p:spPr>
          <a:xfrm>
            <a:off x="2511386" y="456783"/>
            <a:ext cx="1505847" cy="1921373"/>
          </a:xfrm>
          <a:prstGeom prst="rect">
            <a:avLst/>
          </a:prstGeom>
          <a:noFill/>
        </p:spPr>
        <p:txBody>
          <a:bodyPr wrap="none" lIns="19364" tIns="19364" rIns="19364" bIns="19364">
            <a:spAutoFit/>
          </a:bodyPr>
          <a:lstStyle/>
          <a:p>
            <a:r>
              <a:rPr sz="2300" b="0" i="0" u="none">
                <a:solidFill>
                  <a:srgbClr val="8DB528"/>
                </a:solidFill>
                <a:latin typeface="Trebuchet MS"/>
              </a:rPr>
              <a:t>Route Discovery Friction Balance Beacon Measure Release Narrative Version Analysis Journey Domain</a:t>
            </a:r>
          </a:p>
        </p:txBody>
      </p:sp>
      <p:graphicFrame>
        <p:nvGraphicFramePr>
          <p:cNvPr id="4" name="Table 3"/>
          <p:cNvGraphicFramePr>
            <a:graphicFrameLocks noGrp="1"/>
          </p:cNvGraphicFramePr>
          <p:nvPr/>
        </p:nvGraphicFramePr>
        <p:xfrm>
          <a:off x="9681617" y="413465"/>
          <a:ext cx="2223176" cy="1275921"/>
        </p:xfrm>
        <a:graphic>
          <a:graphicData uri="http://schemas.openxmlformats.org/drawingml/2006/table">
            <a:tbl>
              <a:tblPr firstRow="1" bandRow="1">
                <a:tableStyleId>{5C22544A-7EE6-4342-B048-85BDC9FD1C3A}</a:tableStyleId>
              </a:tblPr>
              <a:tblGrid>
                <a:gridCol w="444635">
                  <a:extLst>
                    <a:ext uri="{9D8B030D-6E8A-4147-A177-3AD203B41FA5}">
                      <a16:colId xmlns:a16="http://schemas.microsoft.com/office/drawing/2014/main" val="20000"/>
                    </a:ext>
                  </a:extLst>
                </a:gridCol>
                <a:gridCol w="444635">
                  <a:extLst>
                    <a:ext uri="{9D8B030D-6E8A-4147-A177-3AD203B41FA5}">
                      <a16:colId xmlns:a16="http://schemas.microsoft.com/office/drawing/2014/main" val="20001"/>
                    </a:ext>
                  </a:extLst>
                </a:gridCol>
                <a:gridCol w="444635">
                  <a:extLst>
                    <a:ext uri="{9D8B030D-6E8A-4147-A177-3AD203B41FA5}">
                      <a16:colId xmlns:a16="http://schemas.microsoft.com/office/drawing/2014/main" val="20002"/>
                    </a:ext>
                  </a:extLst>
                </a:gridCol>
                <a:gridCol w="444635">
                  <a:extLst>
                    <a:ext uri="{9D8B030D-6E8A-4147-A177-3AD203B41FA5}">
                      <a16:colId xmlns:a16="http://schemas.microsoft.com/office/drawing/2014/main" val="20003"/>
                    </a:ext>
                  </a:extLst>
                </a:gridCol>
                <a:gridCol w="444636">
                  <a:extLst>
                    <a:ext uri="{9D8B030D-6E8A-4147-A177-3AD203B41FA5}">
                      <a16:colId xmlns:a16="http://schemas.microsoft.com/office/drawing/2014/main" val="20004"/>
                    </a:ext>
                  </a:extLst>
                </a:gridCol>
              </a:tblGrid>
              <a:tr h="318980">
                <a:tc>
                  <a:txBody>
                    <a:bodyPr/>
                    <a:lstStyle/>
                    <a:p>
                      <a:r>
                        <a:rPr sz="1100" b="1">
                          <a:solidFill>
                            <a:srgbClr val="5A9546"/>
                          </a:solidFill>
                        </a:rPr>
                        <a:t>Station Response</a:t>
                      </a:r>
                    </a:p>
                  </a:txBody>
                  <a:tcPr>
                    <a:solidFill>
                      <a:srgbClr val="B539C5"/>
                    </a:solidFill>
                  </a:tcPr>
                </a:tc>
                <a:tc>
                  <a:txBody>
                    <a:bodyPr/>
                    <a:lstStyle/>
                    <a:p>
                      <a:r>
                        <a:rPr sz="1100" b="1">
                          <a:solidFill>
                            <a:srgbClr val="5A9546"/>
                          </a:solidFill>
                        </a:rPr>
                        <a:t>Waypoint Frame</a:t>
                      </a:r>
                    </a:p>
                  </a:txBody>
                  <a:tcPr>
                    <a:solidFill>
                      <a:srgbClr val="B539C5"/>
                    </a:solidFill>
                  </a:tcPr>
                </a:tc>
                <a:tc>
                  <a:txBody>
                    <a:bodyPr/>
                    <a:lstStyle/>
                    <a:p>
                      <a:r>
                        <a:rPr sz="1100" b="1">
                          <a:solidFill>
                            <a:srgbClr val="5A9546"/>
                          </a:solidFill>
                        </a:rPr>
                        <a:t>Detail Texture</a:t>
                      </a:r>
                    </a:p>
                  </a:txBody>
                  <a:tcPr>
                    <a:solidFill>
                      <a:srgbClr val="B539C5"/>
                    </a:solidFill>
                  </a:tcPr>
                </a:tc>
                <a:tc>
                  <a:txBody>
                    <a:bodyPr/>
                    <a:lstStyle/>
                    <a:p>
                      <a:r>
                        <a:rPr sz="1100" b="1">
                          <a:solidFill>
                            <a:srgbClr val="5A9546"/>
                          </a:solidFill>
                        </a:rPr>
                        <a:t>Direction Relay</a:t>
                      </a:r>
                    </a:p>
                  </a:txBody>
                  <a:tcPr>
                    <a:solidFill>
                      <a:srgbClr val="B539C5"/>
                    </a:solidFill>
                  </a:tcPr>
                </a:tc>
                <a:tc>
                  <a:txBody>
                    <a:bodyPr/>
                    <a:lstStyle/>
                    <a:p>
                      <a:r>
                        <a:rPr sz="1100" b="1">
                          <a:solidFill>
                            <a:srgbClr val="5A9546"/>
                          </a:solidFill>
                        </a:rPr>
                        <a:t>Point</a:t>
                      </a:r>
                    </a:p>
                  </a:txBody>
                  <a:tcPr>
                    <a:solidFill>
                      <a:srgbClr val="B539C5"/>
                    </a:solidFill>
                  </a:tcPr>
                </a:tc>
                <a:extLst>
                  <a:ext uri="{0D108BD9-81ED-4DB2-BD59-A6C34878D82A}">
                    <a16:rowId xmlns:a16="http://schemas.microsoft.com/office/drawing/2014/main" val="10000"/>
                  </a:ext>
                </a:extLst>
              </a:tr>
              <a:tr h="318980">
                <a:tc>
                  <a:txBody>
                    <a:bodyPr/>
                    <a:lstStyle/>
                    <a:p>
                      <a:r>
                        <a:rPr sz="1100" b="0">
                          <a:solidFill>
                            <a:srgbClr val="5A9546"/>
                          </a:solidFill>
                        </a:rPr>
                        <a:t>Design</a:t>
                      </a:r>
                    </a:p>
                  </a:txBody>
                  <a:tcPr>
                    <a:solidFill>
                      <a:srgbClr val="ECDDF9"/>
                    </a:solidFill>
                  </a:tcPr>
                </a:tc>
                <a:tc>
                  <a:txBody>
                    <a:bodyPr/>
                    <a:lstStyle/>
                    <a:p>
                      <a:r>
                        <a:rPr sz="1100" b="0">
                          <a:solidFill>
                            <a:srgbClr val="5A9546"/>
                          </a:solidFill>
                        </a:rPr>
                        <a:t>Program Node</a:t>
                      </a:r>
                    </a:p>
                  </a:txBody>
                  <a:tcPr>
                    <a:solidFill>
                      <a:srgbClr val="ECDDF9"/>
                    </a:solidFill>
                  </a:tcPr>
                </a:tc>
                <a:tc>
                  <a:txBody>
                    <a:bodyPr/>
                    <a:lstStyle/>
                    <a:p>
                      <a:r>
                        <a:rPr sz="1100" b="0">
                          <a:solidFill>
                            <a:srgbClr val="5A9546"/>
                          </a:solidFill>
                        </a:rPr>
                        <a:t>Marker</a:t>
                      </a:r>
                    </a:p>
                  </a:txBody>
                  <a:tcPr>
                    <a:solidFill>
                      <a:srgbClr val="ECDDF9"/>
                    </a:solidFill>
                  </a:tcPr>
                </a:tc>
                <a:tc>
                  <a:txBody>
                    <a:bodyPr/>
                    <a:lstStyle/>
                    <a:p>
                      <a:r>
                        <a:rPr sz="1100" b="0">
                          <a:solidFill>
                            <a:srgbClr val="5A9546"/>
                          </a:solidFill>
                        </a:rPr>
                        <a:t>Detail</a:t>
                      </a:r>
                    </a:p>
                  </a:txBody>
                  <a:tcPr>
                    <a:solidFill>
                      <a:srgbClr val="ECDDF9"/>
                    </a:solidFill>
                  </a:tcPr>
                </a:tc>
                <a:tc>
                  <a:txBody>
                    <a:bodyPr/>
                    <a:lstStyle/>
                    <a:p>
                      <a:r>
                        <a:rPr sz="1100" b="0">
                          <a:solidFill>
                            <a:srgbClr val="5A9546"/>
                          </a:solidFill>
                        </a:rPr>
                        <a:t>Clarity Vertex</a:t>
                      </a:r>
                    </a:p>
                  </a:txBody>
                  <a:tcPr>
                    <a:solidFill>
                      <a:srgbClr val="ECDDF9"/>
                    </a:solidFill>
                  </a:tcPr>
                </a:tc>
                <a:extLst>
                  <a:ext uri="{0D108BD9-81ED-4DB2-BD59-A6C34878D82A}">
                    <a16:rowId xmlns:a16="http://schemas.microsoft.com/office/drawing/2014/main" val="10001"/>
                  </a:ext>
                </a:extLst>
              </a:tr>
              <a:tr h="318980">
                <a:tc>
                  <a:txBody>
                    <a:bodyPr/>
                    <a:lstStyle/>
                    <a:p>
                      <a:r>
                        <a:rPr sz="1100" b="0">
                          <a:solidFill>
                            <a:srgbClr val="5A9546"/>
                          </a:solidFill>
                        </a:rPr>
                        <a:t>Adaptive Channel</a:t>
                      </a:r>
                    </a:p>
                  </a:txBody>
                  <a:tcPr>
                    <a:solidFill>
                      <a:srgbClr val="ECDDF9"/>
                    </a:solidFill>
                  </a:tcPr>
                </a:tc>
                <a:tc>
                  <a:txBody>
                    <a:bodyPr/>
                    <a:lstStyle/>
                    <a:p>
                      <a:r>
                        <a:rPr sz="1100" b="0">
                          <a:solidFill>
                            <a:srgbClr val="5A9546"/>
                          </a:solidFill>
                        </a:rPr>
                        <a:t>Data Map</a:t>
                      </a:r>
                    </a:p>
                  </a:txBody>
                  <a:tcPr>
                    <a:solidFill>
                      <a:srgbClr val="ECDDF9"/>
                    </a:solidFill>
                  </a:tcPr>
                </a:tc>
                <a:tc>
                  <a:txBody>
                    <a:bodyPr/>
                    <a:lstStyle/>
                    <a:p>
                      <a:r>
                        <a:rPr sz="1100" b="0">
                          <a:solidFill>
                            <a:srgbClr val="5A9546"/>
                          </a:solidFill>
                        </a:rPr>
                        <a:t>Workflow Core</a:t>
                      </a:r>
                    </a:p>
                  </a:txBody>
                  <a:tcPr>
                    <a:solidFill>
                      <a:srgbClr val="ECDDF9"/>
                    </a:solidFill>
                  </a:tcPr>
                </a:tc>
                <a:tc>
                  <a:txBody>
                    <a:bodyPr/>
                    <a:lstStyle/>
                    <a:p>
                      <a:r>
                        <a:rPr sz="1100" b="0">
                          <a:solidFill>
                            <a:srgbClr val="5A9546"/>
                          </a:solidFill>
                        </a:rPr>
                        <a:t>Format Interval</a:t>
                      </a:r>
                    </a:p>
                  </a:txBody>
                  <a:tcPr>
                    <a:solidFill>
                      <a:srgbClr val="ECDDF9"/>
                    </a:solidFill>
                  </a:tcPr>
                </a:tc>
                <a:tc>
                  <a:txBody>
                    <a:bodyPr/>
                    <a:lstStyle/>
                    <a:p>
                      <a:r>
                        <a:rPr sz="1100" b="0">
                          <a:solidFill>
                            <a:srgbClr val="5A9546"/>
                          </a:solidFill>
                        </a:rPr>
                        <a:t>Phase</a:t>
                      </a:r>
                    </a:p>
                  </a:txBody>
                  <a:tcPr>
                    <a:solidFill>
                      <a:srgbClr val="ECDDF9"/>
                    </a:solidFill>
                  </a:tcPr>
                </a:tc>
                <a:extLst>
                  <a:ext uri="{0D108BD9-81ED-4DB2-BD59-A6C34878D82A}">
                    <a16:rowId xmlns:a16="http://schemas.microsoft.com/office/drawing/2014/main" val="10002"/>
                  </a:ext>
                </a:extLst>
              </a:tr>
              <a:tr h="318981">
                <a:tc>
                  <a:txBody>
                    <a:bodyPr/>
                    <a:lstStyle/>
                    <a:p>
                      <a:r>
                        <a:rPr sz="1100" b="0">
                          <a:solidFill>
                            <a:srgbClr val="5A9546"/>
                          </a:solidFill>
                        </a:rPr>
                        <a:t>Timeline</a:t>
                      </a:r>
                    </a:p>
                  </a:txBody>
                  <a:tcPr>
                    <a:solidFill>
                      <a:srgbClr val="ECDDF9"/>
                    </a:solidFill>
                  </a:tcPr>
                </a:tc>
                <a:tc>
                  <a:txBody>
                    <a:bodyPr/>
                    <a:lstStyle/>
                    <a:p>
                      <a:r>
                        <a:rPr sz="1100" b="0">
                          <a:solidFill>
                            <a:srgbClr val="5A9546"/>
                          </a:solidFill>
                        </a:rPr>
                        <a:t>Signal Energy</a:t>
                      </a:r>
                    </a:p>
                  </a:txBody>
                  <a:tcPr>
                    <a:solidFill>
                      <a:srgbClr val="ECDDF9"/>
                    </a:solidFill>
                  </a:tcPr>
                </a:tc>
                <a:tc>
                  <a:txBody>
                    <a:bodyPr/>
                    <a:lstStyle/>
                    <a:p>
                      <a:r>
                        <a:rPr sz="1100" b="0">
                          <a:solidFill>
                            <a:srgbClr val="5A9546"/>
                          </a:solidFill>
                        </a:rPr>
                        <a:t>Device</a:t>
                      </a:r>
                    </a:p>
                  </a:txBody>
                  <a:tcPr>
                    <a:solidFill>
                      <a:srgbClr val="ECDDF9"/>
                    </a:solidFill>
                  </a:tcPr>
                </a:tc>
                <a:tc>
                  <a:txBody>
                    <a:bodyPr/>
                    <a:lstStyle/>
                    <a:p>
                      <a:r>
                        <a:rPr sz="1100" b="0">
                          <a:solidFill>
                            <a:srgbClr val="5A9546"/>
                          </a:solidFill>
                        </a:rPr>
                        <a:t>Resource</a:t>
                      </a:r>
                    </a:p>
                  </a:txBody>
                  <a:tcPr>
                    <a:solidFill>
                      <a:srgbClr val="ECDDF9"/>
                    </a:solidFill>
                  </a:tcPr>
                </a:tc>
                <a:tc>
                  <a:txBody>
                    <a:bodyPr/>
                    <a:lstStyle/>
                    <a:p>
                      <a:r>
                        <a:rPr sz="1100" b="0">
                          <a:solidFill>
                            <a:srgbClr val="5A9546"/>
                          </a:solidFill>
                        </a:rPr>
                        <a:t>Account</a:t>
                      </a:r>
                    </a:p>
                  </a:txBody>
                  <a:tcPr>
                    <a:solidFill>
                      <a:srgbClr val="ECDDF9"/>
                    </a:solidFill>
                  </a:tcPr>
                </a:tc>
                <a:extLst>
                  <a:ext uri="{0D108BD9-81ED-4DB2-BD59-A6C34878D82A}">
                    <a16:rowId xmlns:a16="http://schemas.microsoft.com/office/drawing/2014/main" val="10003"/>
                  </a:ext>
                </a:extLst>
              </a:tr>
            </a:tbl>
          </a:graphicData>
        </a:graphic>
      </p:graphicFrame>
      <p:sp>
        <p:nvSpPr>
          <p:cNvPr id="5" name="Explosion 4"/>
          <p:cNvSpPr/>
          <p:nvPr/>
        </p:nvSpPr>
        <p:spPr>
          <a:xfrm>
            <a:off x="9762821" y="3713348"/>
            <a:ext cx="1550270" cy="1559707"/>
          </a:xfrm>
          <a:prstGeom prst="irregularSeal2">
            <a:avLst/>
          </a:prstGeom>
          <a:solidFill>
            <a:srgbClr val="9F92DC"/>
          </a:solidFill>
          <a:ln w="27018">
            <a:solidFill>
              <a:srgbClr val="6B7B7A"/>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_example_image.jpg"/>
          <p:cNvPicPr>
            <a:picLocks noChangeAspect="1"/>
          </p:cNvPicPr>
          <p:nvPr/>
        </p:nvPicPr>
        <p:blipFill>
          <a:blip r:embed="rId2"/>
          <a:srcRect/>
          <a:stretch>
            <a:fillRect/>
          </a:stretch>
        </p:blipFill>
        <p:spPr>
          <a:xfrm>
            <a:off x="1413068" y="600314"/>
            <a:ext cx="1205452" cy="1138778"/>
          </a:xfrm>
          <a:prstGeom prst="rect">
            <a:avLst/>
          </a:prstGeom>
        </p:spPr>
      </p:pic>
      <p:sp>
        <p:nvSpPr>
          <p:cNvPr id="7" name="Rounded Rectangle 6"/>
          <p:cNvSpPr/>
          <p:nvPr/>
        </p:nvSpPr>
        <p:spPr>
          <a:xfrm>
            <a:off x="1413068" y="600314"/>
            <a:ext cx="1205452" cy="1138778"/>
          </a:xfrm>
          <a:prstGeom prst="roundRect">
            <a:avLst/>
          </a:prstGeom>
          <a:noFill/>
          <a:ln w="15240">
            <a:solidFill>
              <a:srgbClr val="BBE53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581" y="3686458"/>
            <a:ext cx="653395" cy="2009085"/>
          </a:xfrm>
          <a:prstGeom prst="rect">
            <a:avLst/>
          </a:prstGeom>
          <a:noFill/>
        </p:spPr>
        <p:txBody>
          <a:bodyPr wrap="none" lIns="46441" tIns="46441" rIns="46441" bIns="46441">
            <a:spAutoFit/>
          </a:bodyPr>
          <a:lstStyle/>
          <a:p>
            <a:r>
              <a:rPr sz="1800" b="0" i="0" u="none">
                <a:solidFill>
                  <a:srgbClr val="3A385E"/>
                </a:solidFill>
                <a:latin typeface="Trebuchet MS"/>
              </a:rPr>
              <a:t>Pixel Strategy Trace Motion Moment Program Object Asset Loop Data Canvas Input Drift Link Token Precision Clarity Engine Module Response Wave Discovery Mode</a:t>
            </a:r>
          </a:p>
        </p:txBody>
      </p:sp>
      <p:sp>
        <p:nvSpPr>
          <p:cNvPr id="9" name="Predefined Process 8"/>
          <p:cNvSpPr/>
          <p:nvPr/>
        </p:nvSpPr>
        <p:spPr>
          <a:xfrm>
            <a:off x="9202656" y="5291603"/>
            <a:ext cx="1290460" cy="461148"/>
          </a:xfrm>
          <a:prstGeom prst="flowChartPredefinedProcess">
            <a:avLst/>
          </a:prstGeom>
          <a:solidFill>
            <a:srgbClr val="6AA2C0"/>
          </a:solidFill>
          <a:ln w="21248">
            <a:solidFill>
              <a:srgbClr val="851A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928795" y="4802730"/>
            <a:ext cx="727748" cy="1017145"/>
          </a:xfrm>
          <a:prstGeom prst="rect">
            <a:avLst/>
          </a:prstGeom>
          <a:solidFill>
            <a:srgbClr val="AAC5AF"/>
          </a:solidFill>
        </p:spPr>
        <p:txBody>
          <a:bodyPr wrap="none" lIns="84659" tIns="84659" rIns="84659" bIns="84659">
            <a:spAutoFit/>
          </a:bodyPr>
          <a:lstStyle/>
          <a:p>
            <a:r>
              <a:rPr sz="5900" b="1" i="0" u="none">
                <a:solidFill>
                  <a:srgbClr val="A4B26B"/>
                </a:solidFill>
                <a:latin typeface="Aptos"/>
              </a:rPr>
              <a:t>Narrative Resource Stage Deployment Interface Logic</a:t>
            </a:r>
          </a:p>
        </p:txBody>
      </p:sp>
      <p:sp>
        <p:nvSpPr>
          <p:cNvPr id="11" name="Explosion 10"/>
          <p:cNvSpPr/>
          <p:nvPr/>
        </p:nvSpPr>
        <p:spPr>
          <a:xfrm>
            <a:off x="3130754" y="4439092"/>
            <a:ext cx="1351554" cy="1837701"/>
          </a:xfrm>
          <a:prstGeom prst="irregularSeal2">
            <a:avLst/>
          </a:prstGeom>
          <a:solidFill>
            <a:srgbClr val="8FD3A6"/>
          </a:solidFill>
          <a:ln w="10255">
            <a:solidFill>
              <a:srgbClr val="DB754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triped Right Arrow 11"/>
          <p:cNvSpPr/>
          <p:nvPr/>
        </p:nvSpPr>
        <p:spPr>
          <a:xfrm>
            <a:off x="8601372" y="1007288"/>
            <a:ext cx="859817" cy="544423"/>
          </a:xfrm>
          <a:prstGeom prst="stripedRightArrow">
            <a:avLst/>
          </a:prstGeom>
          <a:solidFill>
            <a:srgbClr val="3065AB"/>
          </a:solidFill>
          <a:ln w="23976">
            <a:solidFill>
              <a:srgbClr val="BA1A6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Left-Right Arrow 12"/>
          <p:cNvSpPr/>
          <p:nvPr/>
        </p:nvSpPr>
        <p:spPr>
          <a:xfrm>
            <a:off x="523261" y="1652887"/>
            <a:ext cx="1965311" cy="1574744"/>
          </a:xfrm>
          <a:prstGeom prst="leftRightArrow">
            <a:avLst/>
          </a:prstGeom>
          <a:solidFill>
            <a:srgbClr val="AEA93D"/>
          </a:solidFill>
          <a:ln w="12451">
            <a:solidFill>
              <a:srgbClr val="247B48"/>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24917" y="2916619"/>
            <a:ext cx="3823417" cy="1307970"/>
          </a:xfrm>
          <a:prstGeom prst="rect">
            <a:avLst/>
          </a:prstGeom>
          <a:noFill/>
        </p:spPr>
        <p:txBody>
          <a:bodyPr wrap="none" lIns="19696" tIns="19696" rIns="19696" bIns="19696">
            <a:spAutoFit/>
          </a:bodyPr>
          <a:lstStyle/>
          <a:p>
            <a:r>
              <a:rPr sz="3100" b="1" i="0" u="none">
                <a:solidFill>
                  <a:srgbClr val="A5979A"/>
                </a:solidFill>
                <a:latin typeface="Trebuchet MS"/>
              </a:rPr>
              <a:t>Scope Point</a:t>
            </a:r>
          </a:p>
        </p:txBody>
      </p:sp>
      <p:pic>
        <p:nvPicPr>
          <p:cNvPr id="15" name="Picture 14" descr="_example_image.jpg"/>
          <p:cNvPicPr>
            <a:picLocks noChangeAspect="1"/>
          </p:cNvPicPr>
          <p:nvPr/>
        </p:nvPicPr>
        <p:blipFill>
          <a:blip r:embed="rId2"/>
          <a:srcRect l="7869" t="8268" r="1767" b="15076"/>
          <a:stretch>
            <a:fillRect/>
          </a:stretch>
        </p:blipFill>
        <p:spPr>
          <a:xfrm>
            <a:off x="8046207" y="1661721"/>
            <a:ext cx="2188978" cy="1351445"/>
          </a:xfrm>
          <a:prstGeom prst="rect">
            <a:avLst/>
          </a:prstGeom>
        </p:spPr>
      </p:pic>
      <p:cxnSp>
        <p:nvCxnSpPr>
          <p:cNvPr id="16" name="Connector 15"/>
          <p:cNvCxnSpPr/>
          <p:nvPr/>
        </p:nvCxnSpPr>
        <p:spPr>
          <a:xfrm>
            <a:off x="4452204" y="4434952"/>
            <a:ext cx="734110" cy="1984167"/>
          </a:xfrm>
          <a:prstGeom prst="bentConnector3">
            <a:avLst/>
          </a:prstGeom>
          <a:ln w="35277">
            <a:solidFill>
              <a:srgbClr val="5E8435"/>
            </a:solidFill>
            <a:prstDash val="dash"/>
          </a:ln>
        </p:spPr>
        <p:style>
          <a:lnRef idx="2">
            <a:schemeClr val="accent1"/>
          </a:lnRef>
          <a:fillRef idx="0">
            <a:schemeClr val="accent1"/>
          </a:fillRef>
          <a:effectRef idx="1">
            <a:schemeClr val="accent1"/>
          </a:effectRef>
          <a:fontRef idx="minor">
            <a:schemeClr val="tx1"/>
          </a:fontRef>
        </p:style>
      </p:cxnSp>
      <p:sp>
        <p:nvSpPr>
          <p:cNvPr id="17" name="Right Arrow 16"/>
          <p:cNvSpPr/>
          <p:nvPr/>
        </p:nvSpPr>
        <p:spPr>
          <a:xfrm>
            <a:off x="10325756" y="978868"/>
            <a:ext cx="557803" cy="1876087"/>
          </a:xfrm>
          <a:prstGeom prst="rightArrow">
            <a:avLst/>
          </a:prstGeom>
          <a:solidFill>
            <a:srgbClr val="C8206A"/>
          </a:solidFill>
          <a:ln w="25643">
            <a:solidFill>
              <a:srgbClr val="D53874"/>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elay 17"/>
          <p:cNvSpPr/>
          <p:nvPr/>
        </p:nvSpPr>
        <p:spPr>
          <a:xfrm>
            <a:off x="7330709" y="6309349"/>
            <a:ext cx="2460226" cy="235409"/>
          </a:xfrm>
          <a:prstGeom prst="flowChartDelay">
            <a:avLst/>
          </a:prstGeom>
          <a:solidFill>
            <a:srgbClr val="C08A82"/>
          </a:solidFill>
          <a:ln w="31084">
            <a:solidFill>
              <a:srgbClr val="7B4B90"/>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7903385" y="367552"/>
            <a:ext cx="814096" cy="1318016"/>
          </a:xfrm>
          <a:custGeom>
            <a:avLst/>
            <a:gdLst/>
            <a:ahLst/>
            <a:cxnLst/>
            <a:rect l="l" t="t" r="r" b="b"/>
            <a:pathLst>
              <a:path w="814096" h="1318016">
                <a:moveTo>
                  <a:pt x="407048" y="0"/>
                </a:moveTo>
                <a:lnTo>
                  <a:pt x="508810" y="329504"/>
                </a:lnTo>
                <a:lnTo>
                  <a:pt x="763215" y="237243"/>
                </a:lnTo>
                <a:lnTo>
                  <a:pt x="619052" y="659008"/>
                </a:lnTo>
                <a:lnTo>
                  <a:pt x="814096" y="1028052"/>
                </a:lnTo>
                <a:lnTo>
                  <a:pt x="508810" y="948971"/>
                </a:lnTo>
                <a:lnTo>
                  <a:pt x="407048" y="1318016"/>
                </a:lnTo>
                <a:lnTo>
                  <a:pt x="305286" y="948971"/>
                </a:lnTo>
                <a:lnTo>
                  <a:pt x="0" y="1028052"/>
                </a:lnTo>
                <a:lnTo>
                  <a:pt x="195043" y="659008"/>
                </a:lnTo>
                <a:lnTo>
                  <a:pt x="50881" y="237243"/>
                </a:lnTo>
                <a:lnTo>
                  <a:pt x="305286" y="329504"/>
                </a:lnTo>
                <a:close/>
              </a:path>
            </a:pathLst>
          </a:custGeom>
          <a:solidFill>
            <a:srgbClr val="702B95"/>
          </a:solidFill>
          <a:ln w="24815">
            <a:solidFill>
              <a:srgbClr val="6BDE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6239011" y="5970590"/>
            <a:ext cx="1402547" cy="713882"/>
          </a:xfrm>
          <a:custGeom>
            <a:avLst/>
            <a:gdLst/>
            <a:ahLst/>
            <a:cxnLst/>
            <a:rect l="l" t="t" r="r" b="b"/>
            <a:pathLst>
              <a:path w="1402547" h="713882">
                <a:moveTo>
                  <a:pt x="150811" y="121512"/>
                </a:moveTo>
                <a:lnTo>
                  <a:pt x="497678" y="0"/>
                </a:lnTo>
                <a:lnTo>
                  <a:pt x="1025518" y="60756"/>
                </a:lnTo>
                <a:lnTo>
                  <a:pt x="1402547" y="288590"/>
                </a:lnTo>
                <a:lnTo>
                  <a:pt x="1206492" y="592370"/>
                </a:lnTo>
                <a:lnTo>
                  <a:pt x="648489" y="713882"/>
                </a:lnTo>
                <a:lnTo>
                  <a:pt x="90487" y="516425"/>
                </a:lnTo>
                <a:lnTo>
                  <a:pt x="0" y="258213"/>
                </a:lnTo>
                <a:close/>
              </a:path>
            </a:pathLst>
          </a:custGeom>
          <a:solidFill>
            <a:srgbClr val="32B196"/>
          </a:solidFill>
          <a:ln w="25163">
            <a:solidFill>
              <a:srgbClr val="D7E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05079" y="4649888"/>
            <a:ext cx="3260119" cy="1367458"/>
          </a:xfrm>
          <a:prstGeom prst="rect">
            <a:avLst/>
          </a:prstGeom>
          <a:noFill/>
        </p:spPr>
        <p:txBody>
          <a:bodyPr wrap="none" lIns="42612" tIns="42612" rIns="42612" bIns="42612">
            <a:spAutoFit/>
          </a:bodyPr>
          <a:lstStyle/>
          <a:p>
            <a:r>
              <a:rPr sz="900" b="0" i="0" u="sng">
                <a:solidFill>
                  <a:srgbClr val="D03EBD"/>
                </a:solidFill>
                <a:latin typeface="Arial"/>
              </a:rPr>
              <a:t>Model Portal Concept</a:t>
            </a:r>
          </a:p>
        </p:txBody>
      </p:sp>
      <p:graphicFrame>
        <p:nvGraphicFramePr>
          <p:cNvPr id="22" name="Chart 21"/>
          <p:cNvGraphicFramePr>
            <a:graphicFrameLocks noGrp="1"/>
          </p:cNvGraphicFramePr>
          <p:nvPr/>
        </p:nvGraphicFramePr>
        <p:xfrm>
          <a:off x="2264533" y="2902525"/>
          <a:ext cx="2952553" cy="1716629"/>
        </p:xfrm>
        <a:graphic>
          <a:graphicData uri="http://schemas.openxmlformats.org/drawingml/2006/chart">
            <c:chart xmlns:c="http://schemas.openxmlformats.org/drawingml/2006/chart" xmlns:r="http://schemas.openxmlformats.org/officeDocument/2006/relationships" r:id="rId3"/>
          </a:graphicData>
        </a:graphic>
      </p:graphicFrame>
      <p:cxnSp>
        <p:nvCxnSpPr>
          <p:cNvPr id="23" name="Connector 22"/>
          <p:cNvCxnSpPr/>
          <p:nvPr/>
        </p:nvCxnSpPr>
        <p:spPr>
          <a:xfrm flipV="1">
            <a:off x="5734393" y="2406183"/>
            <a:ext cx="1980310" cy="394843"/>
          </a:xfrm>
          <a:prstGeom prst="bentConnector3">
            <a:avLst/>
          </a:prstGeom>
          <a:ln w="10738">
            <a:solidFill>
              <a:srgbClr val="6019A7"/>
            </a:solidFill>
            <a:prstDash val="dash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296695" y="2748600"/>
            <a:ext cx="1255191" cy="985183"/>
          </a:xfrm>
          <a:prstGeom prst="curvedConnector3">
            <a:avLst/>
          </a:prstGeom>
          <a:ln w="24434">
            <a:solidFill>
              <a:srgbClr val="265234"/>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25" name="Table 24"/>
          <p:cNvGraphicFramePr>
            <a:graphicFrameLocks noGrp="1"/>
          </p:cNvGraphicFramePr>
          <p:nvPr/>
        </p:nvGraphicFramePr>
        <p:xfrm>
          <a:off x="2359336" y="2162557"/>
          <a:ext cx="2101218" cy="1451631"/>
        </p:xfrm>
        <a:graphic>
          <a:graphicData uri="http://schemas.openxmlformats.org/drawingml/2006/table">
            <a:tbl>
              <a:tblPr firstRow="1" bandRow="1">
                <a:tableStyleId>{5C22544A-7EE6-4342-B048-85BDC9FD1C3A}</a:tableStyleId>
              </a:tblPr>
              <a:tblGrid>
                <a:gridCol w="1050609">
                  <a:extLst>
                    <a:ext uri="{9D8B030D-6E8A-4147-A177-3AD203B41FA5}">
                      <a16:colId xmlns:a16="http://schemas.microsoft.com/office/drawing/2014/main" val="20000"/>
                    </a:ext>
                  </a:extLst>
                </a:gridCol>
                <a:gridCol w="1050609">
                  <a:extLst>
                    <a:ext uri="{9D8B030D-6E8A-4147-A177-3AD203B41FA5}">
                      <a16:colId xmlns:a16="http://schemas.microsoft.com/office/drawing/2014/main" val="20001"/>
                    </a:ext>
                  </a:extLst>
                </a:gridCol>
              </a:tblGrid>
              <a:tr h="483877">
                <a:tc>
                  <a:txBody>
                    <a:bodyPr/>
                    <a:lstStyle/>
                    <a:p>
                      <a:r>
                        <a:rPr sz="800" b="1">
                          <a:solidFill>
                            <a:srgbClr val="4A451A"/>
                          </a:solidFill>
                        </a:rPr>
                        <a:t>Map Needle</a:t>
                      </a:r>
                    </a:p>
                  </a:txBody>
                  <a:tcPr>
                    <a:solidFill>
                      <a:srgbClr val="C67AB1"/>
                    </a:solidFill>
                  </a:tcPr>
                </a:tc>
                <a:tc>
                  <a:txBody>
                    <a:bodyPr/>
                    <a:lstStyle/>
                    <a:p>
                      <a:r>
                        <a:rPr sz="800" b="1">
                          <a:solidFill>
                            <a:srgbClr val="4A451A"/>
                          </a:solidFill>
                        </a:rPr>
                        <a:t>Interval</a:t>
                      </a:r>
                    </a:p>
                  </a:txBody>
                  <a:tcPr>
                    <a:solidFill>
                      <a:srgbClr val="C67AB1"/>
                    </a:solidFill>
                  </a:tcPr>
                </a:tc>
                <a:extLst>
                  <a:ext uri="{0D108BD9-81ED-4DB2-BD59-A6C34878D82A}">
                    <a16:rowId xmlns:a16="http://schemas.microsoft.com/office/drawing/2014/main" val="10000"/>
                  </a:ext>
                </a:extLst>
              </a:tr>
              <a:tr h="483877">
                <a:tc>
                  <a:txBody>
                    <a:bodyPr/>
                    <a:lstStyle/>
                    <a:p>
                      <a:r>
                        <a:rPr sz="800" b="0">
                          <a:solidFill>
                            <a:srgbClr val="4A451A"/>
                          </a:solidFill>
                        </a:rPr>
                        <a:t>Packet Network</a:t>
                      </a:r>
                    </a:p>
                  </a:txBody>
                  <a:tcPr>
                    <a:solidFill>
                      <a:srgbClr val="F4F5EC"/>
                    </a:solidFill>
                  </a:tcPr>
                </a:tc>
                <a:tc>
                  <a:txBody>
                    <a:bodyPr/>
                    <a:lstStyle/>
                    <a:p>
                      <a:r>
                        <a:rPr sz="800" b="0">
                          <a:solidFill>
                            <a:srgbClr val="4A451A"/>
                          </a:solidFill>
                        </a:rPr>
                        <a:t>Bridge Reserve</a:t>
                      </a:r>
                    </a:p>
                  </a:txBody>
                  <a:tcPr>
                    <a:solidFill>
                      <a:srgbClr val="F4F5EC"/>
                    </a:solidFill>
                  </a:tcPr>
                </a:tc>
                <a:extLst>
                  <a:ext uri="{0D108BD9-81ED-4DB2-BD59-A6C34878D82A}">
                    <a16:rowId xmlns:a16="http://schemas.microsoft.com/office/drawing/2014/main" val="10001"/>
                  </a:ext>
                </a:extLst>
              </a:tr>
              <a:tr h="483877">
                <a:tc>
                  <a:txBody>
                    <a:bodyPr/>
                    <a:lstStyle/>
                    <a:p>
                      <a:r>
                        <a:rPr sz="800" b="0">
                          <a:solidFill>
                            <a:srgbClr val="4A451A"/>
                          </a:solidFill>
                        </a:rPr>
                        <a:t>Timeline Drift</a:t>
                      </a:r>
                    </a:p>
                  </a:txBody>
                  <a:tcPr>
                    <a:solidFill>
                      <a:srgbClr val="F4F5EC"/>
                    </a:solidFill>
                  </a:tcPr>
                </a:tc>
                <a:tc>
                  <a:txBody>
                    <a:bodyPr/>
                    <a:lstStyle/>
                    <a:p>
                      <a:r>
                        <a:rPr sz="800" b="0">
                          <a:solidFill>
                            <a:srgbClr val="4A451A"/>
                          </a:solidFill>
                        </a:rPr>
                        <a:t>Estimate</a:t>
                      </a:r>
                    </a:p>
                  </a:txBody>
                  <a:tcPr>
                    <a:solidFill>
                      <a:srgbClr val="F4F5EC"/>
                    </a:solidFill>
                  </a:tcPr>
                </a:tc>
                <a:extLst>
                  <a:ext uri="{0D108BD9-81ED-4DB2-BD59-A6C34878D82A}">
                    <a16:rowId xmlns:a16="http://schemas.microsoft.com/office/drawing/2014/main" val="10002"/>
                  </a:ext>
                </a:extLst>
              </a:tr>
            </a:tbl>
          </a:graphicData>
        </a:graphic>
      </p:graphicFrame>
      <p:graphicFrame>
        <p:nvGraphicFramePr>
          <p:cNvPr id="26" name="Chart 25"/>
          <p:cNvGraphicFramePr>
            <a:graphicFrameLocks noGrp="1"/>
          </p:cNvGraphicFramePr>
          <p:nvPr/>
        </p:nvGraphicFramePr>
        <p:xfrm>
          <a:off x="8496315" y="3448562"/>
          <a:ext cx="3246760" cy="1846626"/>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p:cNvSpPr txBox="1"/>
          <p:nvPr/>
        </p:nvSpPr>
        <p:spPr>
          <a:xfrm>
            <a:off x="6004177" y="510525"/>
            <a:ext cx="1961542" cy="1793113"/>
          </a:xfrm>
          <a:prstGeom prst="rect">
            <a:avLst/>
          </a:prstGeom>
          <a:noFill/>
        </p:spPr>
        <p:txBody>
          <a:bodyPr wrap="none" lIns="28564" tIns="28564" rIns="28564" bIns="28564">
            <a:spAutoFit/>
          </a:bodyPr>
          <a:lstStyle/>
          <a:p>
            <a:r>
              <a:rPr sz="5400" b="1" i="0" u="none">
                <a:solidFill>
                  <a:srgbClr val="CD9FCF"/>
                </a:solidFill>
                <a:latin typeface="Verdana"/>
              </a:rPr>
              <a:t>Aspect Handle Device</a:t>
            </a:r>
          </a:p>
        </p:txBody>
      </p:sp>
      <p:pic>
        <p:nvPicPr>
          <p:cNvPr id="29" name="Graphic 28">
            <a:extLst>
              <a:ext uri="{FF2B5EF4-FFF2-40B4-BE49-F238E27FC236}">
                <a16:creationId xmlns:a16="http://schemas.microsoft.com/office/drawing/2014/main" id="{D8F2AC77-AEFE-DEAD-AAB7-4D59885C40A3}"/>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683335" y="2328686"/>
            <a:ext cx="1260693" cy="1353864"/>
          </a:xfrm>
          <a:prstGeom prst="rect">
            <a:avLst/>
          </a:prstGeom>
        </p:spPr>
      </p:pic>
      <p:pic>
        <p:nvPicPr>
          <p:cNvPr id="31" name="Graphic 30">
            <a:extLst>
              <a:ext uri="{FF2B5EF4-FFF2-40B4-BE49-F238E27FC236}">
                <a16:creationId xmlns:a16="http://schemas.microsoft.com/office/drawing/2014/main" id="{60319BD8-15AB-4E13-F762-30020DF47CD7}"/>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670652" y="5238174"/>
            <a:ext cx="1230156" cy="82759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77546" y="934924"/>
            <a:ext cx="520745" cy="1630312"/>
          </a:xfrm>
          <a:prstGeom prst="rect">
            <a:avLst/>
          </a:prstGeom>
          <a:noFill/>
        </p:spPr>
        <p:txBody>
          <a:bodyPr wrap="none" lIns="70240" tIns="70240" rIns="70240" bIns="70240">
            <a:spAutoFit/>
          </a:bodyPr>
          <a:lstStyle/>
          <a:p>
            <a:r>
              <a:rPr sz="1200" b="1" i="1" u="none">
                <a:solidFill>
                  <a:srgbClr val="8DDF68"/>
                </a:solidFill>
                <a:latin typeface="Verdana"/>
              </a:rPr>
              <a:t>Runtime Buffer Template Status Sequence Segment Output Register Depth Function Foundation Drift Alignment Status Indicator Draft Strategy Order Command</a:t>
            </a:r>
          </a:p>
        </p:txBody>
      </p:sp>
      <p:sp>
        <p:nvSpPr>
          <p:cNvPr id="3" name="Freeform 2"/>
          <p:cNvSpPr/>
          <p:nvPr/>
        </p:nvSpPr>
        <p:spPr>
          <a:xfrm>
            <a:off x="3523868" y="5343994"/>
            <a:ext cx="1846458" cy="553244"/>
          </a:xfrm>
          <a:custGeom>
            <a:avLst/>
            <a:gdLst/>
            <a:ahLst/>
            <a:cxnLst/>
            <a:rect l="l" t="t" r="r" b="b"/>
            <a:pathLst>
              <a:path w="1846458" h="553244">
                <a:moveTo>
                  <a:pt x="923229" y="0"/>
                </a:moveTo>
                <a:lnTo>
                  <a:pt x="1154037" y="138311"/>
                </a:lnTo>
                <a:lnTo>
                  <a:pt x="1731055" y="99584"/>
                </a:lnTo>
                <a:lnTo>
                  <a:pt x="1404078" y="276622"/>
                </a:lnTo>
                <a:lnTo>
                  <a:pt x="1846458" y="431530"/>
                </a:lnTo>
                <a:lnTo>
                  <a:pt x="1154037" y="398335"/>
                </a:lnTo>
                <a:lnTo>
                  <a:pt x="923229" y="553244"/>
                </a:lnTo>
                <a:lnTo>
                  <a:pt x="692422" y="398335"/>
                </a:lnTo>
                <a:lnTo>
                  <a:pt x="0" y="431530"/>
                </a:lnTo>
                <a:lnTo>
                  <a:pt x="442381" y="276622"/>
                </a:lnTo>
                <a:lnTo>
                  <a:pt x="115404" y="99584"/>
                </a:lnTo>
                <a:lnTo>
                  <a:pt x="692422" y="138311"/>
                </a:lnTo>
                <a:close/>
              </a:path>
            </a:pathLst>
          </a:custGeom>
          <a:solidFill>
            <a:srgbClr val="5E3DD3"/>
          </a:solidFill>
          <a:ln w="14435">
            <a:solidFill>
              <a:srgbClr val="45AD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flipV="1">
            <a:off x="9116542" y="2104982"/>
            <a:ext cx="853916" cy="780947"/>
          </a:xfrm>
          <a:prstGeom prst="curvedConnector3">
            <a:avLst/>
          </a:prstGeom>
          <a:ln w="29006">
            <a:solidFill>
              <a:srgbClr val="3855AE"/>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771509" y="342868"/>
            <a:ext cx="554902" cy="1536200"/>
          </a:xfrm>
          <a:prstGeom prst="rect">
            <a:avLst/>
          </a:prstGeom>
          <a:noFill/>
        </p:spPr>
        <p:txBody>
          <a:bodyPr wrap="none" lIns="63581" tIns="63581" rIns="63581" bIns="63581">
            <a:spAutoFit/>
          </a:bodyPr>
          <a:lstStyle/>
          <a:p>
            <a:r>
              <a:rPr sz="1200" b="0" i="0" u="none">
                <a:solidFill>
                  <a:srgbClr val="3BA375"/>
                </a:solidFill>
                <a:latin typeface="Aptos"/>
              </a:rPr>
              <a:t>Limit Beta Plan Payload Cell Story Spectrum Journey Version Factor Account</a:t>
            </a:r>
          </a:p>
        </p:txBody>
      </p:sp>
      <p:sp>
        <p:nvSpPr>
          <p:cNvPr id="6" name="Swoosh Arrow 5"/>
          <p:cNvSpPr/>
          <p:nvPr/>
        </p:nvSpPr>
        <p:spPr>
          <a:xfrm>
            <a:off x="2689787" y="5088649"/>
            <a:ext cx="618112" cy="919531"/>
          </a:xfrm>
          <a:prstGeom prst="swooshArrow">
            <a:avLst/>
          </a:prstGeom>
          <a:solidFill>
            <a:srgbClr val="49597A"/>
          </a:solidFill>
          <a:ln w="12657">
            <a:solidFill>
              <a:srgbClr val="765DB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p:cNvSpPr/>
          <p:nvPr/>
        </p:nvSpPr>
        <p:spPr>
          <a:xfrm>
            <a:off x="537762" y="3773639"/>
            <a:ext cx="1077107" cy="647095"/>
          </a:xfrm>
          <a:custGeom>
            <a:avLst/>
            <a:gdLst/>
            <a:ahLst/>
            <a:cxnLst/>
            <a:rect l="l" t="t" r="r" b="b"/>
            <a:pathLst>
              <a:path w="1077107" h="647095">
                <a:moveTo>
                  <a:pt x="538554" y="0"/>
                </a:moveTo>
                <a:lnTo>
                  <a:pt x="673192" y="161774"/>
                </a:lnTo>
                <a:lnTo>
                  <a:pt x="1009788" y="116477"/>
                </a:lnTo>
                <a:lnTo>
                  <a:pt x="819050" y="323547"/>
                </a:lnTo>
                <a:lnTo>
                  <a:pt x="1077107" y="504734"/>
                </a:lnTo>
                <a:lnTo>
                  <a:pt x="673192" y="465908"/>
                </a:lnTo>
                <a:lnTo>
                  <a:pt x="538554" y="647095"/>
                </a:lnTo>
                <a:lnTo>
                  <a:pt x="403915" y="465908"/>
                </a:lnTo>
                <a:lnTo>
                  <a:pt x="0" y="504734"/>
                </a:lnTo>
                <a:lnTo>
                  <a:pt x="258057" y="323547"/>
                </a:lnTo>
                <a:lnTo>
                  <a:pt x="67319" y="116477"/>
                </a:lnTo>
                <a:lnTo>
                  <a:pt x="403915" y="161774"/>
                </a:lnTo>
                <a:close/>
              </a:path>
            </a:pathLst>
          </a:custGeom>
          <a:solidFill>
            <a:srgbClr val="6D931C"/>
          </a:solidFill>
          <a:ln w="27618">
            <a:solidFill>
              <a:srgbClr val="BE4E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l="9287" t="3812" r="17325" b="15169"/>
          <a:stretch>
            <a:fillRect/>
          </a:stretch>
        </p:blipFill>
        <p:spPr>
          <a:xfrm>
            <a:off x="2519270" y="2632299"/>
            <a:ext cx="1244656" cy="868218"/>
          </a:xfrm>
          <a:prstGeom prst="rect">
            <a:avLst/>
          </a:prstGeom>
        </p:spPr>
      </p:pic>
      <p:sp>
        <p:nvSpPr>
          <p:cNvPr id="9" name="Rounded Rectangle 8"/>
          <p:cNvSpPr/>
          <p:nvPr/>
        </p:nvSpPr>
        <p:spPr>
          <a:xfrm>
            <a:off x="2519270" y="2632299"/>
            <a:ext cx="1244656" cy="868218"/>
          </a:xfrm>
          <a:prstGeom prst="roundRect">
            <a:avLst/>
          </a:prstGeom>
          <a:noFill/>
          <a:ln w="15240">
            <a:solidFill>
              <a:srgbClr val="CD56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Chart 9"/>
          <p:cNvGraphicFramePr>
            <a:graphicFrameLocks noGrp="1"/>
          </p:cNvGraphicFramePr>
          <p:nvPr/>
        </p:nvGraphicFramePr>
        <p:xfrm>
          <a:off x="4946478" y="1522522"/>
          <a:ext cx="2258594" cy="2158227"/>
        </p:xfrm>
        <a:graphic>
          <a:graphicData uri="http://schemas.openxmlformats.org/drawingml/2006/chart">
            <c:chart xmlns:c="http://schemas.openxmlformats.org/drawingml/2006/chart" xmlns:r="http://schemas.openxmlformats.org/officeDocument/2006/relationships" r:id="rId3"/>
          </a:graphicData>
        </a:graphic>
      </p:graphicFrame>
      <p:cxnSp>
        <p:nvCxnSpPr>
          <p:cNvPr id="11" name="Connector 10"/>
          <p:cNvCxnSpPr/>
          <p:nvPr/>
        </p:nvCxnSpPr>
        <p:spPr>
          <a:xfrm>
            <a:off x="1442707" y="5796788"/>
            <a:ext cx="1896091" cy="710337"/>
          </a:xfrm>
          <a:prstGeom prst="line">
            <a:avLst/>
          </a:prstGeom>
          <a:ln w="16643">
            <a:solidFill>
              <a:srgbClr val="424D21"/>
            </a:solidFill>
            <a:prstDash val="solid"/>
          </a:ln>
        </p:spPr>
        <p:style>
          <a:lnRef idx="2">
            <a:schemeClr val="accent1"/>
          </a:lnRef>
          <a:fillRef idx="0">
            <a:schemeClr val="accent1"/>
          </a:fillRef>
          <a:effectRef idx="1">
            <a:schemeClr val="accent1"/>
          </a:effectRef>
          <a:fontRef idx="minor">
            <a:schemeClr val="tx1"/>
          </a:fontRef>
        </p:style>
      </p:cxnSp>
      <p:sp>
        <p:nvSpPr>
          <p:cNvPr id="12" name="Right Arrow 11"/>
          <p:cNvSpPr/>
          <p:nvPr/>
        </p:nvSpPr>
        <p:spPr>
          <a:xfrm>
            <a:off x="1782748" y="1907561"/>
            <a:ext cx="488650" cy="1855953"/>
          </a:xfrm>
          <a:prstGeom prst="rightArrow">
            <a:avLst/>
          </a:prstGeom>
          <a:solidFill>
            <a:srgbClr val="62302C"/>
          </a:solidFill>
          <a:ln w="26290">
            <a:solidFill>
              <a:srgbClr val="A6B839"/>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2"/>
          <a:srcRect/>
          <a:stretch>
            <a:fillRect/>
          </a:stretch>
        </p:blipFill>
        <p:spPr>
          <a:xfrm>
            <a:off x="10045436" y="3120339"/>
            <a:ext cx="1109057" cy="1086380"/>
          </a:xfrm>
          <a:prstGeom prst="rect">
            <a:avLst/>
          </a:prstGeom>
        </p:spPr>
      </p:pic>
      <p:sp>
        <p:nvSpPr>
          <p:cNvPr id="14" name="Rounded Rectangle 13"/>
          <p:cNvSpPr/>
          <p:nvPr/>
        </p:nvSpPr>
        <p:spPr>
          <a:xfrm>
            <a:off x="10045436" y="3120339"/>
            <a:ext cx="1109057" cy="1086380"/>
          </a:xfrm>
          <a:prstGeom prst="roundRect">
            <a:avLst/>
          </a:prstGeom>
          <a:noFill/>
          <a:ln w="15240">
            <a:solidFill>
              <a:srgbClr val="A47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48693" y="1556481"/>
            <a:ext cx="642817" cy="1842432"/>
          </a:xfrm>
          <a:prstGeom prst="rect">
            <a:avLst/>
          </a:prstGeom>
          <a:noFill/>
        </p:spPr>
        <p:txBody>
          <a:bodyPr wrap="none" lIns="80112" tIns="80112" rIns="80112" bIns="80112">
            <a:spAutoFit/>
          </a:bodyPr>
          <a:lstStyle/>
          <a:p>
            <a:r>
              <a:rPr sz="5900" b="1" i="0" u="none">
                <a:solidFill>
                  <a:srgbClr val="4A45C4"/>
                </a:solidFill>
                <a:latin typeface="Georgia"/>
              </a:rPr>
              <a:t>Column Action Runtime</a:t>
            </a:r>
          </a:p>
        </p:txBody>
      </p:sp>
      <p:graphicFrame>
        <p:nvGraphicFramePr>
          <p:cNvPr id="16" name="Table 15"/>
          <p:cNvGraphicFramePr>
            <a:graphicFrameLocks noGrp="1"/>
          </p:cNvGraphicFramePr>
          <p:nvPr/>
        </p:nvGraphicFramePr>
        <p:xfrm>
          <a:off x="8754438" y="223954"/>
          <a:ext cx="2496636" cy="1224475"/>
        </p:xfrm>
        <a:graphic>
          <a:graphicData uri="http://schemas.openxmlformats.org/drawingml/2006/table">
            <a:tbl>
              <a:tblPr firstRow="1" bandRow="1">
                <a:tableStyleId>{5C22544A-7EE6-4342-B048-85BDC9FD1C3A}</a:tableStyleId>
              </a:tblPr>
              <a:tblGrid>
                <a:gridCol w="416106">
                  <a:extLst>
                    <a:ext uri="{9D8B030D-6E8A-4147-A177-3AD203B41FA5}">
                      <a16:colId xmlns:a16="http://schemas.microsoft.com/office/drawing/2014/main" val="20000"/>
                    </a:ext>
                  </a:extLst>
                </a:gridCol>
                <a:gridCol w="416106">
                  <a:extLst>
                    <a:ext uri="{9D8B030D-6E8A-4147-A177-3AD203B41FA5}">
                      <a16:colId xmlns:a16="http://schemas.microsoft.com/office/drawing/2014/main" val="20001"/>
                    </a:ext>
                  </a:extLst>
                </a:gridCol>
                <a:gridCol w="416106">
                  <a:extLst>
                    <a:ext uri="{9D8B030D-6E8A-4147-A177-3AD203B41FA5}">
                      <a16:colId xmlns:a16="http://schemas.microsoft.com/office/drawing/2014/main" val="20002"/>
                    </a:ext>
                  </a:extLst>
                </a:gridCol>
                <a:gridCol w="416106">
                  <a:extLst>
                    <a:ext uri="{9D8B030D-6E8A-4147-A177-3AD203B41FA5}">
                      <a16:colId xmlns:a16="http://schemas.microsoft.com/office/drawing/2014/main" val="20003"/>
                    </a:ext>
                  </a:extLst>
                </a:gridCol>
                <a:gridCol w="416106">
                  <a:extLst>
                    <a:ext uri="{9D8B030D-6E8A-4147-A177-3AD203B41FA5}">
                      <a16:colId xmlns:a16="http://schemas.microsoft.com/office/drawing/2014/main" val="20004"/>
                    </a:ext>
                  </a:extLst>
                </a:gridCol>
                <a:gridCol w="416106">
                  <a:extLst>
                    <a:ext uri="{9D8B030D-6E8A-4147-A177-3AD203B41FA5}">
                      <a16:colId xmlns:a16="http://schemas.microsoft.com/office/drawing/2014/main" val="20005"/>
                    </a:ext>
                  </a:extLst>
                </a:gridCol>
              </a:tblGrid>
              <a:tr h="204079">
                <a:tc>
                  <a:txBody>
                    <a:bodyPr/>
                    <a:lstStyle/>
                    <a:p>
                      <a:r>
                        <a:rPr sz="900" b="0">
                          <a:solidFill>
                            <a:srgbClr val="62DD88"/>
                          </a:solidFill>
                        </a:rPr>
                        <a:t>Kernel</a:t>
                      </a:r>
                    </a:p>
                  </a:txBody>
                  <a:tcPr>
                    <a:solidFill>
                      <a:srgbClr val="EBE0E5"/>
                    </a:solidFill>
                  </a:tcPr>
                </a:tc>
                <a:tc>
                  <a:txBody>
                    <a:bodyPr/>
                    <a:lstStyle/>
                    <a:p>
                      <a:r>
                        <a:rPr sz="900" b="0">
                          <a:solidFill>
                            <a:srgbClr val="62DD88"/>
                          </a:solidFill>
                        </a:rPr>
                        <a:t>Vector Grid</a:t>
                      </a:r>
                    </a:p>
                  </a:txBody>
                  <a:tcPr>
                    <a:solidFill>
                      <a:srgbClr val="EBE0E5"/>
                    </a:solidFill>
                  </a:tcPr>
                </a:tc>
                <a:tc>
                  <a:txBody>
                    <a:bodyPr/>
                    <a:lstStyle/>
                    <a:p>
                      <a:r>
                        <a:rPr sz="900" b="0">
                          <a:solidFill>
                            <a:srgbClr val="62DD88"/>
                          </a:solidFill>
                        </a:rPr>
                        <a:t>Chart Grid</a:t>
                      </a:r>
                    </a:p>
                  </a:txBody>
                  <a:tcPr>
                    <a:solidFill>
                      <a:srgbClr val="EBE0E5"/>
                    </a:solidFill>
                  </a:tcPr>
                </a:tc>
                <a:tc>
                  <a:txBody>
                    <a:bodyPr/>
                    <a:lstStyle/>
                    <a:p>
                      <a:r>
                        <a:rPr sz="900" b="0">
                          <a:solidFill>
                            <a:srgbClr val="62DD88"/>
                          </a:solidFill>
                        </a:rPr>
                        <a:t>Agenda Map</a:t>
                      </a:r>
                    </a:p>
                  </a:txBody>
                  <a:tcPr>
                    <a:solidFill>
                      <a:srgbClr val="EBE0E5"/>
                    </a:solidFill>
                  </a:tcPr>
                </a:tc>
                <a:tc>
                  <a:txBody>
                    <a:bodyPr/>
                    <a:lstStyle/>
                    <a:p>
                      <a:r>
                        <a:rPr sz="900" b="0">
                          <a:solidFill>
                            <a:srgbClr val="62DD88"/>
                          </a:solidFill>
                        </a:rPr>
                        <a:t>Window</a:t>
                      </a:r>
                    </a:p>
                  </a:txBody>
                  <a:tcPr>
                    <a:solidFill>
                      <a:srgbClr val="EBE0E5"/>
                    </a:solidFill>
                  </a:tcPr>
                </a:tc>
                <a:tc>
                  <a:txBody>
                    <a:bodyPr/>
                    <a:lstStyle/>
                    <a:p>
                      <a:r>
                        <a:rPr sz="900" b="0">
                          <a:solidFill>
                            <a:srgbClr val="62DD88"/>
                          </a:solidFill>
                        </a:rPr>
                        <a:t>Priority Program</a:t>
                      </a:r>
                    </a:p>
                  </a:txBody>
                  <a:tcPr>
                    <a:solidFill>
                      <a:srgbClr val="EBE0E5"/>
                    </a:solidFill>
                  </a:tcPr>
                </a:tc>
                <a:extLst>
                  <a:ext uri="{0D108BD9-81ED-4DB2-BD59-A6C34878D82A}">
                    <a16:rowId xmlns:a16="http://schemas.microsoft.com/office/drawing/2014/main" val="10000"/>
                  </a:ext>
                </a:extLst>
              </a:tr>
              <a:tr h="204079">
                <a:tc>
                  <a:txBody>
                    <a:bodyPr/>
                    <a:lstStyle/>
                    <a:p>
                      <a:r>
                        <a:rPr sz="900" b="0">
                          <a:solidFill>
                            <a:srgbClr val="62DD88"/>
                          </a:solidFill>
                        </a:rPr>
                        <a:t>Volume Checkpoint</a:t>
                      </a:r>
                    </a:p>
                  </a:txBody>
                  <a:tcPr>
                    <a:solidFill>
                      <a:srgbClr val="DCC9D2"/>
                    </a:solidFill>
                  </a:tcPr>
                </a:tc>
                <a:tc>
                  <a:txBody>
                    <a:bodyPr/>
                    <a:lstStyle/>
                    <a:p>
                      <a:r>
                        <a:rPr sz="900" b="0">
                          <a:solidFill>
                            <a:srgbClr val="62DD88"/>
                          </a:solidFill>
                        </a:rPr>
                        <a:t>Factor</a:t>
                      </a:r>
                    </a:p>
                  </a:txBody>
                  <a:tcPr>
                    <a:solidFill>
                      <a:srgbClr val="DCC9D2"/>
                    </a:solidFill>
                  </a:tcPr>
                </a:tc>
                <a:tc>
                  <a:txBody>
                    <a:bodyPr/>
                    <a:lstStyle/>
                    <a:p>
                      <a:r>
                        <a:rPr sz="900" b="0">
                          <a:solidFill>
                            <a:srgbClr val="62DD88"/>
                          </a:solidFill>
                        </a:rPr>
                        <a:t>Radius Region</a:t>
                      </a:r>
                    </a:p>
                  </a:txBody>
                  <a:tcPr>
                    <a:solidFill>
                      <a:srgbClr val="DCC9D2"/>
                    </a:solidFill>
                  </a:tcPr>
                </a:tc>
                <a:tc>
                  <a:txBody>
                    <a:bodyPr/>
                    <a:lstStyle/>
                    <a:p>
                      <a:r>
                        <a:rPr sz="900" b="0">
                          <a:solidFill>
                            <a:srgbClr val="62DD88"/>
                          </a:solidFill>
                        </a:rPr>
                        <a:t>Cell Focus</a:t>
                      </a:r>
                    </a:p>
                  </a:txBody>
                  <a:tcPr>
                    <a:solidFill>
                      <a:srgbClr val="DCC9D2"/>
                    </a:solidFill>
                  </a:tcPr>
                </a:tc>
                <a:tc>
                  <a:txBody>
                    <a:bodyPr/>
                    <a:lstStyle/>
                    <a:p>
                      <a:r>
                        <a:rPr sz="900" b="0">
                          <a:solidFill>
                            <a:srgbClr val="62DD88"/>
                          </a:solidFill>
                        </a:rPr>
                        <a:t>Packet</a:t>
                      </a:r>
                    </a:p>
                  </a:txBody>
                  <a:tcPr>
                    <a:solidFill>
                      <a:srgbClr val="DCC9D2"/>
                    </a:solidFill>
                  </a:tcPr>
                </a:tc>
                <a:tc>
                  <a:txBody>
                    <a:bodyPr/>
                    <a:lstStyle/>
                    <a:p>
                      <a:r>
                        <a:rPr sz="900" b="0">
                          <a:solidFill>
                            <a:srgbClr val="62DD88"/>
                          </a:solidFill>
                        </a:rPr>
                        <a:t>Packet</a:t>
                      </a:r>
                    </a:p>
                  </a:txBody>
                  <a:tcPr>
                    <a:solidFill>
                      <a:srgbClr val="DCC9D2"/>
                    </a:solidFill>
                  </a:tcPr>
                </a:tc>
                <a:extLst>
                  <a:ext uri="{0D108BD9-81ED-4DB2-BD59-A6C34878D82A}">
                    <a16:rowId xmlns:a16="http://schemas.microsoft.com/office/drawing/2014/main" val="10001"/>
                  </a:ext>
                </a:extLst>
              </a:tr>
              <a:tr h="204079">
                <a:tc>
                  <a:txBody>
                    <a:bodyPr/>
                    <a:lstStyle/>
                    <a:p>
                      <a:r>
                        <a:rPr sz="900" b="0">
                          <a:solidFill>
                            <a:srgbClr val="62DD88"/>
                          </a:solidFill>
                        </a:rPr>
                        <a:t>Collection Velocity</a:t>
                      </a:r>
                    </a:p>
                  </a:txBody>
                  <a:tcPr>
                    <a:solidFill>
                      <a:srgbClr val="EBE0E5"/>
                    </a:solidFill>
                  </a:tcPr>
                </a:tc>
                <a:tc>
                  <a:txBody>
                    <a:bodyPr/>
                    <a:lstStyle/>
                    <a:p>
                      <a:r>
                        <a:rPr sz="900" b="0">
                          <a:solidFill>
                            <a:srgbClr val="62DD88"/>
                          </a:solidFill>
                        </a:rPr>
                        <a:t>Circuit Canvas</a:t>
                      </a:r>
                    </a:p>
                  </a:txBody>
                  <a:tcPr>
                    <a:solidFill>
                      <a:srgbClr val="EBE0E5"/>
                    </a:solidFill>
                  </a:tcPr>
                </a:tc>
                <a:tc>
                  <a:txBody>
                    <a:bodyPr/>
                    <a:lstStyle/>
                    <a:p>
                      <a:r>
                        <a:rPr sz="900" b="0">
                          <a:solidFill>
                            <a:srgbClr val="62DD88"/>
                          </a:solidFill>
                        </a:rPr>
                        <a:t>Order</a:t>
                      </a:r>
                    </a:p>
                  </a:txBody>
                  <a:tcPr>
                    <a:solidFill>
                      <a:srgbClr val="EBE0E5"/>
                    </a:solidFill>
                  </a:tcPr>
                </a:tc>
                <a:tc>
                  <a:txBody>
                    <a:bodyPr/>
                    <a:lstStyle/>
                    <a:p>
                      <a:r>
                        <a:rPr sz="900" b="0">
                          <a:solidFill>
                            <a:srgbClr val="62DD88"/>
                          </a:solidFill>
                        </a:rPr>
                        <a:t>System</a:t>
                      </a:r>
                    </a:p>
                  </a:txBody>
                  <a:tcPr>
                    <a:solidFill>
                      <a:srgbClr val="EBE0E5"/>
                    </a:solidFill>
                  </a:tcPr>
                </a:tc>
                <a:tc>
                  <a:txBody>
                    <a:bodyPr/>
                    <a:lstStyle/>
                    <a:p>
                      <a:r>
                        <a:rPr sz="900" b="0">
                          <a:solidFill>
                            <a:srgbClr val="62DD88"/>
                          </a:solidFill>
                        </a:rPr>
                        <a:t>Frequency Tile</a:t>
                      </a:r>
                    </a:p>
                  </a:txBody>
                  <a:tcPr>
                    <a:solidFill>
                      <a:srgbClr val="EBE0E5"/>
                    </a:solidFill>
                  </a:tcPr>
                </a:tc>
                <a:tc>
                  <a:txBody>
                    <a:bodyPr/>
                    <a:lstStyle/>
                    <a:p>
                      <a:r>
                        <a:rPr sz="900" b="0">
                          <a:solidFill>
                            <a:srgbClr val="62DD88"/>
                          </a:solidFill>
                        </a:rPr>
                        <a:t>Rhythm Discovery</a:t>
                      </a:r>
                    </a:p>
                  </a:txBody>
                  <a:tcPr>
                    <a:solidFill>
                      <a:srgbClr val="EBE0E5"/>
                    </a:solidFill>
                  </a:tcPr>
                </a:tc>
                <a:extLst>
                  <a:ext uri="{0D108BD9-81ED-4DB2-BD59-A6C34878D82A}">
                    <a16:rowId xmlns:a16="http://schemas.microsoft.com/office/drawing/2014/main" val="10002"/>
                  </a:ext>
                </a:extLst>
              </a:tr>
              <a:tr h="204079">
                <a:tc>
                  <a:txBody>
                    <a:bodyPr/>
                    <a:lstStyle/>
                    <a:p>
                      <a:r>
                        <a:rPr sz="900" b="0">
                          <a:solidFill>
                            <a:srgbClr val="62DD88"/>
                          </a:solidFill>
                        </a:rPr>
                        <a:t>Query Epoch</a:t>
                      </a:r>
                    </a:p>
                  </a:txBody>
                  <a:tcPr>
                    <a:solidFill>
                      <a:srgbClr val="DCC9D2"/>
                    </a:solidFill>
                  </a:tcPr>
                </a:tc>
                <a:tc>
                  <a:txBody>
                    <a:bodyPr/>
                    <a:lstStyle/>
                    <a:p>
                      <a:r>
                        <a:rPr sz="900" b="0">
                          <a:solidFill>
                            <a:srgbClr val="62DD88"/>
                          </a:solidFill>
                        </a:rPr>
                        <a:t>Queue Edge</a:t>
                      </a:r>
                    </a:p>
                  </a:txBody>
                  <a:tcPr>
                    <a:solidFill>
                      <a:srgbClr val="DCC9D2"/>
                    </a:solidFill>
                  </a:tcPr>
                </a:tc>
                <a:tc>
                  <a:txBody>
                    <a:bodyPr/>
                    <a:lstStyle/>
                    <a:p>
                      <a:r>
                        <a:rPr sz="900" b="0">
                          <a:solidFill>
                            <a:srgbClr val="62DD88"/>
                          </a:solidFill>
                        </a:rPr>
                        <a:t>Narrative</a:t>
                      </a:r>
                    </a:p>
                  </a:txBody>
                  <a:tcPr>
                    <a:solidFill>
                      <a:srgbClr val="DCC9D2"/>
                    </a:solidFill>
                  </a:tcPr>
                </a:tc>
                <a:tc>
                  <a:txBody>
                    <a:bodyPr/>
                    <a:lstStyle/>
                    <a:p>
                      <a:r>
                        <a:rPr sz="900" b="0">
                          <a:solidFill>
                            <a:srgbClr val="62DD88"/>
                          </a:solidFill>
                        </a:rPr>
                        <a:t>Datum Structure</a:t>
                      </a:r>
                    </a:p>
                  </a:txBody>
                  <a:tcPr>
                    <a:solidFill>
                      <a:srgbClr val="DCC9D2"/>
                    </a:solidFill>
                  </a:tcPr>
                </a:tc>
                <a:tc>
                  <a:txBody>
                    <a:bodyPr/>
                    <a:lstStyle/>
                    <a:p>
                      <a:r>
                        <a:rPr sz="900" b="0">
                          <a:solidFill>
                            <a:srgbClr val="62DD88"/>
                          </a:solidFill>
                        </a:rPr>
                        <a:t>Entity</a:t>
                      </a:r>
                    </a:p>
                  </a:txBody>
                  <a:tcPr>
                    <a:solidFill>
                      <a:srgbClr val="DCC9D2"/>
                    </a:solidFill>
                  </a:tcPr>
                </a:tc>
                <a:tc>
                  <a:txBody>
                    <a:bodyPr/>
                    <a:lstStyle/>
                    <a:p>
                      <a:r>
                        <a:rPr sz="900" b="0">
                          <a:solidFill>
                            <a:srgbClr val="62DD88"/>
                          </a:solidFill>
                        </a:rPr>
                        <a:t>Signal Scale</a:t>
                      </a:r>
                    </a:p>
                  </a:txBody>
                  <a:tcPr>
                    <a:solidFill>
                      <a:srgbClr val="DCC9D2"/>
                    </a:solidFill>
                  </a:tcPr>
                </a:tc>
                <a:extLst>
                  <a:ext uri="{0D108BD9-81ED-4DB2-BD59-A6C34878D82A}">
                    <a16:rowId xmlns:a16="http://schemas.microsoft.com/office/drawing/2014/main" val="10003"/>
                  </a:ext>
                </a:extLst>
              </a:tr>
              <a:tr h="204079">
                <a:tc>
                  <a:txBody>
                    <a:bodyPr/>
                    <a:lstStyle/>
                    <a:p>
                      <a:r>
                        <a:rPr sz="900" b="0">
                          <a:solidFill>
                            <a:srgbClr val="62DD88"/>
                          </a:solidFill>
                        </a:rPr>
                        <a:t>Viewport Token</a:t>
                      </a:r>
                    </a:p>
                  </a:txBody>
                  <a:tcPr>
                    <a:solidFill>
                      <a:srgbClr val="EBE0E5"/>
                    </a:solidFill>
                  </a:tcPr>
                </a:tc>
                <a:tc>
                  <a:txBody>
                    <a:bodyPr/>
                    <a:lstStyle/>
                    <a:p>
                      <a:r>
                        <a:rPr sz="900" b="0">
                          <a:solidFill>
                            <a:srgbClr val="62DD88"/>
                          </a:solidFill>
                        </a:rPr>
                        <a:t>Transit System</a:t>
                      </a:r>
                    </a:p>
                  </a:txBody>
                  <a:tcPr>
                    <a:solidFill>
                      <a:srgbClr val="EBE0E5"/>
                    </a:solidFill>
                  </a:tcPr>
                </a:tc>
                <a:tc>
                  <a:txBody>
                    <a:bodyPr/>
                    <a:lstStyle/>
                    <a:p>
                      <a:r>
                        <a:rPr sz="900" b="0">
                          <a:solidFill>
                            <a:srgbClr val="62DD88"/>
                          </a:solidFill>
                        </a:rPr>
                        <a:t>Frequency</a:t>
                      </a:r>
                    </a:p>
                  </a:txBody>
                  <a:tcPr>
                    <a:solidFill>
                      <a:srgbClr val="EBE0E5"/>
                    </a:solidFill>
                  </a:tcPr>
                </a:tc>
                <a:tc>
                  <a:txBody>
                    <a:bodyPr/>
                    <a:lstStyle/>
                    <a:p>
                      <a:r>
                        <a:rPr sz="900" b="0">
                          <a:solidFill>
                            <a:srgbClr val="62DD88"/>
                          </a:solidFill>
                        </a:rPr>
                        <a:t>Element Viewport</a:t>
                      </a:r>
                    </a:p>
                  </a:txBody>
                  <a:tcPr>
                    <a:solidFill>
                      <a:srgbClr val="EBE0E5"/>
                    </a:solidFill>
                  </a:tcPr>
                </a:tc>
                <a:tc>
                  <a:txBody>
                    <a:bodyPr/>
                    <a:lstStyle/>
                    <a:p>
                      <a:r>
                        <a:rPr sz="900" b="0">
                          <a:solidFill>
                            <a:srgbClr val="62DD88"/>
                          </a:solidFill>
                        </a:rPr>
                        <a:t>Beacon</a:t>
                      </a:r>
                    </a:p>
                  </a:txBody>
                  <a:tcPr>
                    <a:solidFill>
                      <a:srgbClr val="EBE0E5"/>
                    </a:solidFill>
                  </a:tcPr>
                </a:tc>
                <a:tc>
                  <a:txBody>
                    <a:bodyPr/>
                    <a:lstStyle/>
                    <a:p>
                      <a:r>
                        <a:rPr sz="900" b="0">
                          <a:solidFill>
                            <a:srgbClr val="62DD88"/>
                          </a:solidFill>
                        </a:rPr>
                        <a:t>Brief</a:t>
                      </a:r>
                    </a:p>
                  </a:txBody>
                  <a:tcPr>
                    <a:solidFill>
                      <a:srgbClr val="EBE0E5"/>
                    </a:solidFill>
                  </a:tcPr>
                </a:tc>
                <a:extLst>
                  <a:ext uri="{0D108BD9-81ED-4DB2-BD59-A6C34878D82A}">
                    <a16:rowId xmlns:a16="http://schemas.microsoft.com/office/drawing/2014/main" val="10004"/>
                  </a:ext>
                </a:extLst>
              </a:tr>
              <a:tr h="204080">
                <a:tc>
                  <a:txBody>
                    <a:bodyPr/>
                    <a:lstStyle/>
                    <a:p>
                      <a:r>
                        <a:rPr sz="900" b="0">
                          <a:solidFill>
                            <a:srgbClr val="62DD88"/>
                          </a:solidFill>
                        </a:rPr>
                        <a:t>Summary Measure</a:t>
                      </a:r>
                    </a:p>
                  </a:txBody>
                  <a:tcPr>
                    <a:solidFill>
                      <a:srgbClr val="DCC9D2"/>
                    </a:solidFill>
                  </a:tcPr>
                </a:tc>
                <a:tc>
                  <a:txBody>
                    <a:bodyPr/>
                    <a:lstStyle/>
                    <a:p>
                      <a:r>
                        <a:rPr sz="900" b="0">
                          <a:solidFill>
                            <a:srgbClr val="62DD88"/>
                          </a:solidFill>
                        </a:rPr>
                        <a:t>Inventory Benchmark</a:t>
                      </a:r>
                    </a:p>
                  </a:txBody>
                  <a:tcPr>
                    <a:solidFill>
                      <a:srgbClr val="DCC9D2"/>
                    </a:solidFill>
                  </a:tcPr>
                </a:tc>
                <a:tc>
                  <a:txBody>
                    <a:bodyPr/>
                    <a:lstStyle/>
                    <a:p>
                      <a:r>
                        <a:rPr sz="900" b="0">
                          <a:solidFill>
                            <a:srgbClr val="62DD88"/>
                          </a:solidFill>
                        </a:rPr>
                        <a:t>Analysis</a:t>
                      </a:r>
                    </a:p>
                  </a:txBody>
                  <a:tcPr>
                    <a:solidFill>
                      <a:srgbClr val="DCC9D2"/>
                    </a:solidFill>
                  </a:tcPr>
                </a:tc>
                <a:tc>
                  <a:txBody>
                    <a:bodyPr/>
                    <a:lstStyle/>
                    <a:p>
                      <a:r>
                        <a:rPr sz="900" b="0">
                          <a:solidFill>
                            <a:srgbClr val="62DD88"/>
                          </a:solidFill>
                        </a:rPr>
                        <a:t>Threshold</a:t>
                      </a:r>
                    </a:p>
                  </a:txBody>
                  <a:tcPr>
                    <a:solidFill>
                      <a:srgbClr val="DCC9D2"/>
                    </a:solidFill>
                  </a:tcPr>
                </a:tc>
                <a:tc>
                  <a:txBody>
                    <a:bodyPr/>
                    <a:lstStyle/>
                    <a:p>
                      <a:r>
                        <a:rPr sz="900" b="0">
                          <a:solidFill>
                            <a:srgbClr val="62DD88"/>
                          </a:solidFill>
                        </a:rPr>
                        <a:t>Echo</a:t>
                      </a:r>
                    </a:p>
                  </a:txBody>
                  <a:tcPr>
                    <a:solidFill>
                      <a:srgbClr val="DCC9D2"/>
                    </a:solidFill>
                  </a:tcPr>
                </a:tc>
                <a:tc>
                  <a:txBody>
                    <a:bodyPr/>
                    <a:lstStyle/>
                    <a:p>
                      <a:r>
                        <a:rPr sz="900" b="0">
                          <a:solidFill>
                            <a:srgbClr val="62DD88"/>
                          </a:solidFill>
                        </a:rPr>
                        <a:t>Interface Option</a:t>
                      </a:r>
                    </a:p>
                  </a:txBody>
                  <a:tcPr>
                    <a:solidFill>
                      <a:srgbClr val="DCC9D2"/>
                    </a:solidFill>
                  </a:tcPr>
                </a:tc>
                <a:extLst>
                  <a:ext uri="{0D108BD9-81ED-4DB2-BD59-A6C34878D82A}">
                    <a16:rowId xmlns:a16="http://schemas.microsoft.com/office/drawing/2014/main" val="10005"/>
                  </a:ext>
                </a:extLst>
              </a:tr>
            </a:tbl>
          </a:graphicData>
        </a:graphic>
      </p:graphicFrame>
      <p:sp>
        <p:nvSpPr>
          <p:cNvPr id="17" name="TextBox 16"/>
          <p:cNvSpPr txBox="1"/>
          <p:nvPr/>
        </p:nvSpPr>
        <p:spPr>
          <a:xfrm>
            <a:off x="5151604" y="5530436"/>
            <a:ext cx="841333" cy="734637"/>
          </a:xfrm>
          <a:prstGeom prst="rect">
            <a:avLst/>
          </a:prstGeom>
          <a:noFill/>
        </p:spPr>
        <p:txBody>
          <a:bodyPr wrap="none" lIns="64617" tIns="64617" rIns="64617" bIns="64617">
            <a:spAutoFit/>
          </a:bodyPr>
          <a:lstStyle/>
          <a:p>
            <a:r>
              <a:rPr sz="1100" b="1" i="0" u="none">
                <a:solidFill>
                  <a:srgbClr val="A543C9"/>
                </a:solidFill>
                <a:latin typeface="Georgia"/>
              </a:rPr>
              <a:t>Command Asset Slice Service Narrative Analysis Stream</a:t>
            </a:r>
          </a:p>
        </p:txBody>
      </p:sp>
      <p:sp>
        <p:nvSpPr>
          <p:cNvPr id="18" name="TextBox 17"/>
          <p:cNvSpPr txBox="1"/>
          <p:nvPr/>
        </p:nvSpPr>
        <p:spPr>
          <a:xfrm>
            <a:off x="10285314" y="5520994"/>
            <a:ext cx="1082990" cy="841143"/>
          </a:xfrm>
          <a:prstGeom prst="rect">
            <a:avLst/>
          </a:prstGeom>
          <a:solidFill>
            <a:srgbClr val="55C74A"/>
          </a:solidFill>
        </p:spPr>
        <p:txBody>
          <a:bodyPr wrap="none" lIns="34197" tIns="34197" rIns="34197" bIns="34197">
            <a:spAutoFit/>
          </a:bodyPr>
          <a:lstStyle/>
          <a:p>
            <a:r>
              <a:rPr sz="2500" b="1" i="0" u="none">
                <a:solidFill>
                  <a:srgbClr val="5953BA"/>
                </a:solidFill>
                <a:latin typeface="Arial"/>
              </a:rPr>
              <a:t>Atlas Payload Gradient Impact Impact Interface Review</a:t>
            </a:r>
          </a:p>
        </p:txBody>
      </p:sp>
      <p:cxnSp>
        <p:nvCxnSpPr>
          <p:cNvPr id="19" name="Connector 18"/>
          <p:cNvCxnSpPr/>
          <p:nvPr/>
        </p:nvCxnSpPr>
        <p:spPr>
          <a:xfrm>
            <a:off x="2588826" y="190417"/>
            <a:ext cx="1481143" cy="964676"/>
          </a:xfrm>
          <a:prstGeom prst="line">
            <a:avLst/>
          </a:prstGeom>
          <a:ln w="11971">
            <a:solidFill>
              <a:srgbClr val="1E8B6D"/>
            </a:solidFill>
            <a:prstDash val="lgDash"/>
          </a:ln>
        </p:spPr>
        <p:style>
          <a:lnRef idx="2">
            <a:schemeClr val="accent1"/>
          </a:lnRef>
          <a:fillRef idx="0">
            <a:schemeClr val="accent1"/>
          </a:fillRef>
          <a:effectRef idx="1">
            <a:schemeClr val="accent1"/>
          </a:effectRef>
          <a:fontRef idx="minor">
            <a:schemeClr val="tx1"/>
          </a:fontRef>
        </p:style>
      </p:cxnSp>
      <p:sp>
        <p:nvSpPr>
          <p:cNvPr id="20" name="Gear 6 19"/>
          <p:cNvSpPr/>
          <p:nvPr/>
        </p:nvSpPr>
        <p:spPr>
          <a:xfrm>
            <a:off x="7123080" y="3278294"/>
            <a:ext cx="2427912" cy="1041505"/>
          </a:xfrm>
          <a:prstGeom prst="gear6">
            <a:avLst/>
          </a:prstGeom>
          <a:solidFill>
            <a:srgbClr val="7AB070"/>
          </a:solidFill>
          <a:ln w="7218">
            <a:solidFill>
              <a:srgbClr val="8E7F5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Equal 20"/>
          <p:cNvSpPr/>
          <p:nvPr/>
        </p:nvSpPr>
        <p:spPr>
          <a:xfrm>
            <a:off x="2768131" y="3706980"/>
            <a:ext cx="1906374" cy="1312526"/>
          </a:xfrm>
          <a:prstGeom prst="mathEqual">
            <a:avLst/>
          </a:prstGeom>
          <a:solidFill>
            <a:srgbClr val="617531"/>
          </a:solidFill>
          <a:ln w="23666">
            <a:solidFill>
              <a:srgbClr val="60CA8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94324" y="1014609"/>
            <a:ext cx="636458" cy="752865"/>
          </a:xfrm>
          <a:prstGeom prst="ellipse">
            <a:avLst/>
          </a:prstGeom>
          <a:solidFill>
            <a:srgbClr val="27606F"/>
          </a:solidFill>
          <a:ln w="30818">
            <a:solidFill>
              <a:srgbClr val="4DABD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3" name="Chart 22"/>
          <p:cNvGraphicFramePr>
            <a:graphicFrameLocks noGrp="1"/>
          </p:cNvGraphicFramePr>
          <p:nvPr/>
        </p:nvGraphicFramePr>
        <p:xfrm>
          <a:off x="4149157" y="192091"/>
          <a:ext cx="2162459" cy="1664624"/>
        </p:xfrm>
        <a:graphic>
          <a:graphicData uri="http://schemas.openxmlformats.org/drawingml/2006/chart">
            <c:chart xmlns:c="http://schemas.openxmlformats.org/drawingml/2006/chart" xmlns:r="http://schemas.openxmlformats.org/officeDocument/2006/relationships" r:id="rId4"/>
          </a:graphicData>
        </a:graphic>
      </p:graphicFrame>
      <p:pic>
        <p:nvPicPr>
          <p:cNvPr id="24" name="Picture 23" descr="_example_image.jpg"/>
          <p:cNvPicPr>
            <a:picLocks noChangeAspect="1"/>
          </p:cNvPicPr>
          <p:nvPr/>
        </p:nvPicPr>
        <p:blipFill>
          <a:blip r:embed="rId2"/>
          <a:srcRect l="409" t="13318" r="16358" b="3703"/>
          <a:stretch>
            <a:fillRect/>
          </a:stretch>
        </p:blipFill>
        <p:spPr>
          <a:xfrm>
            <a:off x="573431" y="4471729"/>
            <a:ext cx="1762645" cy="1312362"/>
          </a:xfrm>
          <a:prstGeom prst="rect">
            <a:avLst/>
          </a:prstGeom>
        </p:spPr>
      </p:pic>
      <p:sp>
        <p:nvSpPr>
          <p:cNvPr id="25" name="Left-Right Arrow 24"/>
          <p:cNvSpPr/>
          <p:nvPr/>
        </p:nvSpPr>
        <p:spPr>
          <a:xfrm>
            <a:off x="6699682" y="936665"/>
            <a:ext cx="323161" cy="1010681"/>
          </a:xfrm>
          <a:prstGeom prst="leftRightArrow">
            <a:avLst/>
          </a:prstGeom>
          <a:solidFill>
            <a:srgbClr val="65AFA7"/>
          </a:solidFill>
          <a:ln w="26513">
            <a:solidFill>
              <a:srgbClr val="BE694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Table 25"/>
          <p:cNvGraphicFramePr>
            <a:graphicFrameLocks noGrp="1"/>
          </p:cNvGraphicFramePr>
          <p:nvPr/>
        </p:nvGraphicFramePr>
        <p:xfrm>
          <a:off x="6353628" y="4321111"/>
          <a:ext cx="3325666" cy="1805995"/>
        </p:xfrm>
        <a:graphic>
          <a:graphicData uri="http://schemas.openxmlformats.org/drawingml/2006/table">
            <a:tbl>
              <a:tblPr firstRow="1" bandRow="1">
                <a:tableStyleId>{5C22544A-7EE6-4342-B048-85BDC9FD1C3A}</a:tableStyleId>
              </a:tblPr>
              <a:tblGrid>
                <a:gridCol w="1108555">
                  <a:extLst>
                    <a:ext uri="{9D8B030D-6E8A-4147-A177-3AD203B41FA5}">
                      <a16:colId xmlns:a16="http://schemas.microsoft.com/office/drawing/2014/main" val="20000"/>
                    </a:ext>
                  </a:extLst>
                </a:gridCol>
                <a:gridCol w="1108555">
                  <a:extLst>
                    <a:ext uri="{9D8B030D-6E8A-4147-A177-3AD203B41FA5}">
                      <a16:colId xmlns:a16="http://schemas.microsoft.com/office/drawing/2014/main" val="20001"/>
                    </a:ext>
                  </a:extLst>
                </a:gridCol>
                <a:gridCol w="1108556">
                  <a:extLst>
                    <a:ext uri="{9D8B030D-6E8A-4147-A177-3AD203B41FA5}">
                      <a16:colId xmlns:a16="http://schemas.microsoft.com/office/drawing/2014/main" val="20002"/>
                    </a:ext>
                  </a:extLst>
                </a:gridCol>
              </a:tblGrid>
              <a:tr h="361199">
                <a:tc>
                  <a:txBody>
                    <a:bodyPr/>
                    <a:lstStyle/>
                    <a:p>
                      <a:r>
                        <a:rPr sz="700" b="0">
                          <a:solidFill>
                            <a:srgbClr val="80258A"/>
                          </a:solidFill>
                        </a:rPr>
                        <a:t>Echo</a:t>
                      </a:r>
                    </a:p>
                  </a:txBody>
                  <a:tcPr>
                    <a:solidFill>
                      <a:srgbClr val="FBE9F4"/>
                    </a:solidFill>
                  </a:tcPr>
                </a:tc>
                <a:tc>
                  <a:txBody>
                    <a:bodyPr/>
                    <a:lstStyle/>
                    <a:p>
                      <a:r>
                        <a:rPr sz="700" b="0">
                          <a:solidFill>
                            <a:srgbClr val="80258A"/>
                          </a:solidFill>
                        </a:rPr>
                        <a:t>Energy</a:t>
                      </a:r>
                    </a:p>
                  </a:txBody>
                  <a:tcPr>
                    <a:solidFill>
                      <a:srgbClr val="FBE9F4"/>
                    </a:solidFill>
                  </a:tcPr>
                </a:tc>
                <a:tc>
                  <a:txBody>
                    <a:bodyPr/>
                    <a:lstStyle/>
                    <a:p>
                      <a:r>
                        <a:rPr sz="700" b="0">
                          <a:solidFill>
                            <a:srgbClr val="80258A"/>
                          </a:solidFill>
                        </a:rPr>
                        <a:t>Element Path</a:t>
                      </a:r>
                    </a:p>
                  </a:txBody>
                  <a:tcPr>
                    <a:solidFill>
                      <a:srgbClr val="FBE9F4"/>
                    </a:solidFill>
                  </a:tcPr>
                </a:tc>
                <a:extLst>
                  <a:ext uri="{0D108BD9-81ED-4DB2-BD59-A6C34878D82A}">
                    <a16:rowId xmlns:a16="http://schemas.microsoft.com/office/drawing/2014/main" val="10000"/>
                  </a:ext>
                </a:extLst>
              </a:tr>
              <a:tr h="361199">
                <a:tc>
                  <a:txBody>
                    <a:bodyPr/>
                    <a:lstStyle/>
                    <a:p>
                      <a:r>
                        <a:rPr sz="700" b="0">
                          <a:solidFill>
                            <a:srgbClr val="80258A"/>
                          </a:solidFill>
                        </a:rPr>
                        <a:t>Element Reserve</a:t>
                      </a:r>
                    </a:p>
                  </a:txBody>
                  <a:tcPr>
                    <a:solidFill>
                      <a:srgbClr val="F5C9E4"/>
                    </a:solidFill>
                  </a:tcPr>
                </a:tc>
                <a:tc>
                  <a:txBody>
                    <a:bodyPr/>
                    <a:lstStyle/>
                    <a:p>
                      <a:r>
                        <a:rPr sz="700" b="0">
                          <a:solidFill>
                            <a:srgbClr val="80258A"/>
                          </a:solidFill>
                        </a:rPr>
                        <a:t>Blueprint</a:t>
                      </a:r>
                    </a:p>
                  </a:txBody>
                  <a:tcPr>
                    <a:solidFill>
                      <a:srgbClr val="F5C9E4"/>
                    </a:solidFill>
                  </a:tcPr>
                </a:tc>
                <a:tc>
                  <a:txBody>
                    <a:bodyPr/>
                    <a:lstStyle/>
                    <a:p>
                      <a:r>
                        <a:rPr sz="700" b="0">
                          <a:solidFill>
                            <a:srgbClr val="80258A"/>
                          </a:solidFill>
                        </a:rPr>
                        <a:t>Stream</a:t>
                      </a:r>
                    </a:p>
                  </a:txBody>
                  <a:tcPr>
                    <a:solidFill>
                      <a:srgbClr val="F5C9E4"/>
                    </a:solidFill>
                  </a:tcPr>
                </a:tc>
                <a:extLst>
                  <a:ext uri="{0D108BD9-81ED-4DB2-BD59-A6C34878D82A}">
                    <a16:rowId xmlns:a16="http://schemas.microsoft.com/office/drawing/2014/main" val="10001"/>
                  </a:ext>
                </a:extLst>
              </a:tr>
              <a:tr h="361199">
                <a:tc>
                  <a:txBody>
                    <a:bodyPr/>
                    <a:lstStyle/>
                    <a:p>
                      <a:r>
                        <a:rPr sz="700" b="0">
                          <a:solidFill>
                            <a:srgbClr val="80258A"/>
                          </a:solidFill>
                        </a:rPr>
                        <a:t>Release</a:t>
                      </a:r>
                    </a:p>
                  </a:txBody>
                  <a:tcPr>
                    <a:solidFill>
                      <a:srgbClr val="FBE9F4"/>
                    </a:solidFill>
                  </a:tcPr>
                </a:tc>
                <a:tc>
                  <a:txBody>
                    <a:bodyPr/>
                    <a:lstStyle/>
                    <a:p>
                      <a:r>
                        <a:rPr sz="700" b="0">
                          <a:solidFill>
                            <a:srgbClr val="80258A"/>
                          </a:solidFill>
                        </a:rPr>
                        <a:t>Data Graph</a:t>
                      </a:r>
                    </a:p>
                  </a:txBody>
                  <a:tcPr>
                    <a:solidFill>
                      <a:srgbClr val="FBE9F4"/>
                    </a:solidFill>
                  </a:tcPr>
                </a:tc>
                <a:tc>
                  <a:txBody>
                    <a:bodyPr/>
                    <a:lstStyle/>
                    <a:p>
                      <a:r>
                        <a:rPr sz="700" b="0">
                          <a:solidFill>
                            <a:srgbClr val="80258A"/>
                          </a:solidFill>
                        </a:rPr>
                        <a:t>Target</a:t>
                      </a:r>
                    </a:p>
                  </a:txBody>
                  <a:tcPr>
                    <a:solidFill>
                      <a:srgbClr val="FBE9F4"/>
                    </a:solidFill>
                  </a:tcPr>
                </a:tc>
                <a:extLst>
                  <a:ext uri="{0D108BD9-81ED-4DB2-BD59-A6C34878D82A}">
                    <a16:rowId xmlns:a16="http://schemas.microsoft.com/office/drawing/2014/main" val="10002"/>
                  </a:ext>
                </a:extLst>
              </a:tr>
              <a:tr h="361199">
                <a:tc>
                  <a:txBody>
                    <a:bodyPr/>
                    <a:lstStyle/>
                    <a:p>
                      <a:r>
                        <a:rPr sz="700" b="0">
                          <a:solidFill>
                            <a:srgbClr val="80258A"/>
                          </a:solidFill>
                        </a:rPr>
                        <a:t>Layer Trend</a:t>
                      </a:r>
                    </a:p>
                  </a:txBody>
                  <a:tcPr>
                    <a:solidFill>
                      <a:srgbClr val="F5C9E4"/>
                    </a:solidFill>
                  </a:tcPr>
                </a:tc>
                <a:tc>
                  <a:txBody>
                    <a:bodyPr/>
                    <a:lstStyle/>
                    <a:p>
                      <a:r>
                        <a:rPr sz="700" b="0">
                          <a:solidFill>
                            <a:srgbClr val="80258A"/>
                          </a:solidFill>
                        </a:rPr>
                        <a:t>Build</a:t>
                      </a:r>
                    </a:p>
                  </a:txBody>
                  <a:tcPr>
                    <a:solidFill>
                      <a:srgbClr val="F5C9E4"/>
                    </a:solidFill>
                  </a:tcPr>
                </a:tc>
                <a:tc>
                  <a:txBody>
                    <a:bodyPr/>
                    <a:lstStyle/>
                    <a:p>
                      <a:r>
                        <a:rPr sz="700" b="0">
                          <a:solidFill>
                            <a:srgbClr val="80258A"/>
                          </a:solidFill>
                        </a:rPr>
                        <a:t>Core Guide</a:t>
                      </a:r>
                    </a:p>
                  </a:txBody>
                  <a:tcPr>
                    <a:solidFill>
                      <a:srgbClr val="F5C9E4"/>
                    </a:solidFill>
                  </a:tcPr>
                </a:tc>
                <a:extLst>
                  <a:ext uri="{0D108BD9-81ED-4DB2-BD59-A6C34878D82A}">
                    <a16:rowId xmlns:a16="http://schemas.microsoft.com/office/drawing/2014/main" val="10003"/>
                  </a:ext>
                </a:extLst>
              </a:tr>
              <a:tr h="361199">
                <a:tc>
                  <a:txBody>
                    <a:bodyPr/>
                    <a:lstStyle/>
                    <a:p>
                      <a:r>
                        <a:rPr sz="700" b="0">
                          <a:solidFill>
                            <a:srgbClr val="80258A"/>
                          </a:solidFill>
                        </a:rPr>
                        <a:t>Cell</a:t>
                      </a:r>
                    </a:p>
                  </a:txBody>
                  <a:tcPr>
                    <a:solidFill>
                      <a:srgbClr val="FBE9F4"/>
                    </a:solidFill>
                  </a:tcPr>
                </a:tc>
                <a:tc>
                  <a:txBody>
                    <a:bodyPr/>
                    <a:lstStyle/>
                    <a:p>
                      <a:r>
                        <a:rPr sz="700" b="0">
                          <a:solidFill>
                            <a:srgbClr val="80258A"/>
                          </a:solidFill>
                        </a:rPr>
                        <a:t>Texture Chart</a:t>
                      </a:r>
                    </a:p>
                  </a:txBody>
                  <a:tcPr>
                    <a:solidFill>
                      <a:srgbClr val="FBE9F4"/>
                    </a:solidFill>
                  </a:tcPr>
                </a:tc>
                <a:tc>
                  <a:txBody>
                    <a:bodyPr/>
                    <a:lstStyle/>
                    <a:p>
                      <a:r>
                        <a:rPr sz="700" b="0">
                          <a:solidFill>
                            <a:srgbClr val="80258A"/>
                          </a:solidFill>
                        </a:rPr>
                        <a:t>Resource</a:t>
                      </a:r>
                    </a:p>
                  </a:txBody>
                  <a:tcPr>
                    <a:solidFill>
                      <a:srgbClr val="FBE9F4"/>
                    </a:solidFill>
                  </a:tcPr>
                </a:tc>
                <a:extLst>
                  <a:ext uri="{0D108BD9-81ED-4DB2-BD59-A6C34878D82A}">
                    <a16:rowId xmlns:a16="http://schemas.microsoft.com/office/drawing/2014/main" val="10004"/>
                  </a:ext>
                </a:extLst>
              </a:tr>
            </a:tbl>
          </a:graphicData>
        </a:graphic>
      </p:graphicFrame>
      <p:sp>
        <p:nvSpPr>
          <p:cNvPr id="27" name="Pie 26"/>
          <p:cNvSpPr/>
          <p:nvPr/>
        </p:nvSpPr>
        <p:spPr>
          <a:xfrm>
            <a:off x="9166325" y="4351542"/>
            <a:ext cx="335253" cy="1069449"/>
          </a:xfrm>
          <a:prstGeom prst="pie">
            <a:avLst/>
          </a:prstGeom>
          <a:solidFill>
            <a:srgbClr val="362835"/>
          </a:solidFill>
          <a:ln w="6540">
            <a:solidFill>
              <a:srgbClr val="342CE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20646" y="1953640"/>
            <a:ext cx="449833" cy="2044215"/>
          </a:xfrm>
          <a:prstGeom prst="rect">
            <a:avLst/>
          </a:prstGeom>
          <a:noFill/>
        </p:spPr>
        <p:txBody>
          <a:bodyPr wrap="none" lIns="84894" tIns="84894" rIns="84894" bIns="84894">
            <a:spAutoFit/>
          </a:bodyPr>
          <a:lstStyle/>
          <a:p>
            <a:r>
              <a:rPr sz="2200" b="0" i="0" u="sng">
                <a:solidFill>
                  <a:srgbClr val="3879D1"/>
                </a:solidFill>
                <a:latin typeface="Georgia"/>
              </a:rPr>
              <a:t>Column Sequence Switch North Transform Factor Buffer Insight Stream Estimate</a:t>
            </a:r>
          </a:p>
        </p:txBody>
      </p:sp>
      <p:pic>
        <p:nvPicPr>
          <p:cNvPr id="30" name="Graphic 29">
            <a:extLst>
              <a:ext uri="{FF2B5EF4-FFF2-40B4-BE49-F238E27FC236}">
                <a16:creationId xmlns:a16="http://schemas.microsoft.com/office/drawing/2014/main" id="{F70FB732-41B5-AE93-434D-CD7C805F924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70004" y="3018056"/>
            <a:ext cx="1485503" cy="807718"/>
          </a:xfrm>
          <a:prstGeom prst="rect">
            <a:avLst/>
          </a:prstGeom>
        </p:spPr>
      </p:pic>
      <p:pic>
        <p:nvPicPr>
          <p:cNvPr id="32" name="Graphic 31">
            <a:extLst>
              <a:ext uri="{FF2B5EF4-FFF2-40B4-BE49-F238E27FC236}">
                <a16:creationId xmlns:a16="http://schemas.microsoft.com/office/drawing/2014/main" id="{B037C2E2-BC03-0024-FD95-3ABDB1207DA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357377" y="1396449"/>
            <a:ext cx="1160419" cy="94376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Right Arrow Callout 1"/>
          <p:cNvSpPr/>
          <p:nvPr/>
        </p:nvSpPr>
        <p:spPr>
          <a:xfrm>
            <a:off x="9785775" y="6000353"/>
            <a:ext cx="1707998" cy="446323"/>
          </a:xfrm>
          <a:prstGeom prst="leftRightArrowCallout">
            <a:avLst/>
          </a:prstGeom>
          <a:solidFill>
            <a:srgbClr val="3FC196"/>
          </a:solidFill>
          <a:ln w="18834">
            <a:solidFill>
              <a:srgbClr val="DAA9C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_example_image.jpg"/>
          <p:cNvPicPr>
            <a:picLocks noChangeAspect="1"/>
          </p:cNvPicPr>
          <p:nvPr/>
        </p:nvPicPr>
        <p:blipFill>
          <a:blip r:embed="rId2"/>
          <a:srcRect l="6899" t="7913" r="4221" b="13054"/>
          <a:stretch>
            <a:fillRect/>
          </a:stretch>
        </p:blipFill>
        <p:spPr>
          <a:xfrm>
            <a:off x="3595032" y="2819514"/>
            <a:ext cx="1485178" cy="1353514"/>
          </a:xfrm>
          <a:prstGeom prst="rect">
            <a:avLst/>
          </a:prstGeom>
        </p:spPr>
      </p:pic>
      <p:sp>
        <p:nvSpPr>
          <p:cNvPr id="4" name="TextBox 3"/>
          <p:cNvSpPr txBox="1"/>
          <p:nvPr/>
        </p:nvSpPr>
        <p:spPr>
          <a:xfrm>
            <a:off x="6793382" y="3591578"/>
            <a:ext cx="2082041" cy="1028192"/>
          </a:xfrm>
          <a:prstGeom prst="rect">
            <a:avLst/>
          </a:prstGeom>
          <a:noFill/>
        </p:spPr>
        <p:txBody>
          <a:bodyPr wrap="none" lIns="33797" tIns="33797" rIns="33797" bIns="33797">
            <a:spAutoFit/>
          </a:bodyPr>
          <a:lstStyle/>
          <a:p>
            <a:r>
              <a:rPr sz="1000" b="0" i="0" u="none">
                <a:solidFill>
                  <a:srgbClr val="D596D2"/>
                </a:solidFill>
                <a:latin typeface="Georgia"/>
              </a:rPr>
              <a:t>Topology</a:t>
            </a:r>
          </a:p>
        </p:txBody>
      </p:sp>
      <p:sp>
        <p:nvSpPr>
          <p:cNvPr id="5" name="Left-Right Arrow 4"/>
          <p:cNvSpPr/>
          <p:nvPr/>
        </p:nvSpPr>
        <p:spPr>
          <a:xfrm>
            <a:off x="5928461" y="5704177"/>
            <a:ext cx="778350" cy="533061"/>
          </a:xfrm>
          <a:prstGeom prst="leftRightArrow">
            <a:avLst/>
          </a:prstGeom>
          <a:solidFill>
            <a:srgbClr val="669BCD"/>
          </a:solidFill>
          <a:ln w="18486">
            <a:solidFill>
              <a:srgbClr val="61DD4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80605" y="2053676"/>
            <a:ext cx="1097380" cy="2532036"/>
          </a:xfrm>
          <a:prstGeom prst="rect">
            <a:avLst/>
          </a:prstGeom>
          <a:noFill/>
        </p:spPr>
        <p:txBody>
          <a:bodyPr wrap="none" lIns="47189" tIns="47189" rIns="47189" bIns="47189">
            <a:spAutoFit/>
          </a:bodyPr>
          <a:lstStyle/>
          <a:p>
            <a:r>
              <a:rPr sz="2800" b="0" i="0" u="none">
                <a:solidFill>
                  <a:srgbClr val="2991C5"/>
                </a:solidFill>
                <a:latin typeface="Trebuchet MS"/>
              </a:rPr>
              <a:t>Estimate Iteration Summary Pixel Program</a:t>
            </a:r>
          </a:p>
        </p:txBody>
      </p:sp>
      <p:sp>
        <p:nvSpPr>
          <p:cNvPr id="7" name="Quad Arrow 6"/>
          <p:cNvSpPr/>
          <p:nvPr/>
        </p:nvSpPr>
        <p:spPr>
          <a:xfrm>
            <a:off x="4998622" y="4421147"/>
            <a:ext cx="653999" cy="350449"/>
          </a:xfrm>
          <a:prstGeom prst="quadArrow">
            <a:avLst/>
          </a:prstGeom>
          <a:solidFill>
            <a:srgbClr val="377CD6"/>
          </a:solidFill>
          <a:ln w="21180">
            <a:solidFill>
              <a:srgbClr val="257ED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a:stretch>
            <a:fillRect/>
          </a:stretch>
        </p:blipFill>
        <p:spPr>
          <a:xfrm>
            <a:off x="4309683" y="336292"/>
            <a:ext cx="1146752" cy="806815"/>
          </a:xfrm>
          <a:prstGeom prst="rect">
            <a:avLst/>
          </a:prstGeom>
        </p:spPr>
      </p:pic>
      <p:sp>
        <p:nvSpPr>
          <p:cNvPr id="9" name="Freeform 8"/>
          <p:cNvSpPr/>
          <p:nvPr/>
        </p:nvSpPr>
        <p:spPr>
          <a:xfrm>
            <a:off x="4217820" y="4210341"/>
            <a:ext cx="695340" cy="983829"/>
          </a:xfrm>
          <a:custGeom>
            <a:avLst/>
            <a:gdLst/>
            <a:ahLst/>
            <a:cxnLst/>
            <a:rect l="l" t="t" r="r" b="b"/>
            <a:pathLst>
              <a:path w="695340" h="983829">
                <a:moveTo>
                  <a:pt x="0" y="218629"/>
                </a:moveTo>
                <a:lnTo>
                  <a:pt x="149536" y="0"/>
                </a:lnTo>
                <a:lnTo>
                  <a:pt x="299071" y="295149"/>
                </a:lnTo>
                <a:lnTo>
                  <a:pt x="448607" y="32795"/>
                </a:lnTo>
                <a:lnTo>
                  <a:pt x="695340" y="765200"/>
                </a:lnTo>
                <a:lnTo>
                  <a:pt x="523375" y="983829"/>
                </a:lnTo>
                <a:lnTo>
                  <a:pt x="358885" y="655886"/>
                </a:lnTo>
                <a:lnTo>
                  <a:pt x="171966" y="951035"/>
                </a:lnTo>
                <a:close/>
              </a:path>
            </a:pathLst>
          </a:custGeom>
          <a:solidFill>
            <a:srgbClr val="59A932"/>
          </a:solidFill>
          <a:ln w="8936">
            <a:solidFill>
              <a:srgbClr val="461FD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8348266" y="5209991"/>
            <a:ext cx="1177686" cy="672444"/>
          </a:xfrm>
          <a:prstGeom prst="bentConnector3">
            <a:avLst/>
          </a:prstGeom>
          <a:ln w="41189">
            <a:solidFill>
              <a:srgbClr val="A0A0AA"/>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11" name="Chart 10"/>
          <p:cNvGraphicFramePr>
            <a:graphicFrameLocks noGrp="1"/>
          </p:cNvGraphicFramePr>
          <p:nvPr/>
        </p:nvGraphicFramePr>
        <p:xfrm>
          <a:off x="6222670" y="4457942"/>
          <a:ext cx="2745786" cy="1392577"/>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descr="_example_image.jpg"/>
          <p:cNvPicPr>
            <a:picLocks noChangeAspect="1"/>
          </p:cNvPicPr>
          <p:nvPr/>
        </p:nvPicPr>
        <p:blipFill>
          <a:blip r:embed="rId2"/>
          <a:srcRect l="5956" t="20497" r="2007" b="17812"/>
          <a:stretch>
            <a:fillRect/>
          </a:stretch>
        </p:blipFill>
        <p:spPr>
          <a:xfrm>
            <a:off x="10002235" y="366498"/>
            <a:ext cx="1074189" cy="1559911"/>
          </a:xfrm>
          <a:prstGeom prst="rect">
            <a:avLst/>
          </a:prstGeom>
        </p:spPr>
      </p:pic>
      <p:sp>
        <p:nvSpPr>
          <p:cNvPr id="13" name="Rounded Rectangle 12"/>
          <p:cNvSpPr/>
          <p:nvPr/>
        </p:nvSpPr>
        <p:spPr>
          <a:xfrm>
            <a:off x="10002235" y="366498"/>
            <a:ext cx="1074189" cy="1559911"/>
          </a:xfrm>
          <a:prstGeom prst="roundRect">
            <a:avLst/>
          </a:prstGeom>
          <a:noFill/>
          <a:ln w="15240">
            <a:solidFill>
              <a:srgbClr val="20A2D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842572" y="4975564"/>
            <a:ext cx="436623" cy="678773"/>
          </a:xfrm>
          <a:prstGeom prst="rect">
            <a:avLst/>
          </a:prstGeom>
          <a:noFill/>
        </p:spPr>
        <p:txBody>
          <a:bodyPr wrap="none" lIns="67544" tIns="67544" rIns="67544" bIns="67544">
            <a:spAutoFit/>
          </a:bodyPr>
          <a:lstStyle/>
          <a:p>
            <a:r>
              <a:rPr sz="3200" b="1" i="0" u="sng">
                <a:solidFill>
                  <a:srgbClr val="C23994"/>
                </a:solidFill>
                <a:latin typeface="Arial"/>
              </a:rPr>
              <a:t>Surface Payload Needle</a:t>
            </a:r>
          </a:p>
        </p:txBody>
      </p:sp>
      <p:sp>
        <p:nvSpPr>
          <p:cNvPr id="15" name="TextBox 14"/>
          <p:cNvSpPr txBox="1"/>
          <p:nvPr/>
        </p:nvSpPr>
        <p:spPr>
          <a:xfrm>
            <a:off x="3888051" y="1084797"/>
            <a:ext cx="3554455" cy="1660752"/>
          </a:xfrm>
          <a:prstGeom prst="rect">
            <a:avLst/>
          </a:prstGeom>
          <a:solidFill>
            <a:srgbClr val="A24292"/>
          </a:solidFill>
        </p:spPr>
        <p:txBody>
          <a:bodyPr wrap="none" lIns="37681" tIns="37681" rIns="37681" bIns="37681">
            <a:spAutoFit/>
          </a:bodyPr>
          <a:lstStyle/>
          <a:p>
            <a:r>
              <a:rPr sz="1000" b="0" i="0" u="none">
                <a:solidFill>
                  <a:srgbClr val="BDCB8B"/>
                </a:solidFill>
                <a:latin typeface="Calibri"/>
              </a:rPr>
              <a:t>Velocity Command Detail Priority Position Origin</a:t>
            </a:r>
          </a:p>
        </p:txBody>
      </p:sp>
      <p:cxnSp>
        <p:nvCxnSpPr>
          <p:cNvPr id="16" name="Connector 15"/>
          <p:cNvCxnSpPr/>
          <p:nvPr/>
        </p:nvCxnSpPr>
        <p:spPr>
          <a:xfrm flipV="1">
            <a:off x="8740570" y="2857673"/>
            <a:ext cx="799232" cy="735586"/>
          </a:xfrm>
          <a:prstGeom prst="bentConnector3">
            <a:avLst/>
          </a:prstGeom>
          <a:ln w="19668">
            <a:solidFill>
              <a:srgbClr val="20D288"/>
            </a:solidFill>
            <a:prstDash val="dot"/>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406274" y="4044844"/>
            <a:ext cx="629471" cy="2203734"/>
          </a:xfrm>
          <a:prstGeom prst="rect">
            <a:avLst/>
          </a:prstGeom>
          <a:noFill/>
        </p:spPr>
        <p:txBody>
          <a:bodyPr wrap="none" lIns="24451" tIns="24451" rIns="24451" bIns="24451">
            <a:spAutoFit/>
          </a:bodyPr>
          <a:lstStyle/>
          <a:p>
            <a:r>
              <a:rPr sz="2900" b="0" i="1" u="none">
                <a:solidFill>
                  <a:srgbClr val="272EB6"/>
                </a:solidFill>
                <a:latin typeface="Trebuchet MS"/>
              </a:rPr>
              <a:t>Expansion Plan Spectrum Vertex Lens Priority Diagram</a:t>
            </a:r>
          </a:p>
        </p:txBody>
      </p:sp>
      <p:cxnSp>
        <p:nvCxnSpPr>
          <p:cNvPr id="18" name="Connector 17"/>
          <p:cNvCxnSpPr/>
          <p:nvPr/>
        </p:nvCxnSpPr>
        <p:spPr>
          <a:xfrm>
            <a:off x="1174139" y="473192"/>
            <a:ext cx="1653827" cy="1188134"/>
          </a:xfrm>
          <a:prstGeom prst="line">
            <a:avLst/>
          </a:prstGeom>
          <a:ln w="39735">
            <a:solidFill>
              <a:srgbClr val="367183"/>
            </a:solidFill>
            <a:prstDash val="lgDash"/>
          </a:ln>
        </p:spPr>
        <p:style>
          <a:lnRef idx="2">
            <a:schemeClr val="accent1"/>
          </a:lnRef>
          <a:fillRef idx="0">
            <a:schemeClr val="accent1"/>
          </a:fillRef>
          <a:effectRef idx="1">
            <a:schemeClr val="accent1"/>
          </a:effectRef>
          <a:fontRef idx="minor">
            <a:schemeClr val="tx1"/>
          </a:fontRef>
        </p:style>
      </p:cxnSp>
      <p:sp>
        <p:nvSpPr>
          <p:cNvPr id="19" name="Down Arrow 18"/>
          <p:cNvSpPr/>
          <p:nvPr/>
        </p:nvSpPr>
        <p:spPr>
          <a:xfrm>
            <a:off x="2922204" y="3846829"/>
            <a:ext cx="358280" cy="725820"/>
          </a:xfrm>
          <a:prstGeom prst="downArrow">
            <a:avLst/>
          </a:prstGeom>
          <a:solidFill>
            <a:srgbClr val="A0CF28"/>
          </a:solidFill>
          <a:ln w="18831">
            <a:solidFill>
              <a:srgbClr val="94394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0" name="Chart 19"/>
          <p:cNvGraphicFramePr>
            <a:graphicFrameLocks noGrp="1"/>
          </p:cNvGraphicFramePr>
          <p:nvPr/>
        </p:nvGraphicFramePr>
        <p:xfrm>
          <a:off x="6620435" y="274179"/>
          <a:ext cx="2375017" cy="1441364"/>
        </p:xfrm>
        <a:graphic>
          <a:graphicData uri="http://schemas.openxmlformats.org/drawingml/2006/chart">
            <c:chart xmlns:c="http://schemas.openxmlformats.org/drawingml/2006/chart" xmlns:r="http://schemas.openxmlformats.org/officeDocument/2006/relationships" r:id="rId4"/>
          </a:graphicData>
        </a:graphic>
      </p:graphicFrame>
      <p:sp>
        <p:nvSpPr>
          <p:cNvPr id="21" name="Cloud Callout 20"/>
          <p:cNvSpPr/>
          <p:nvPr/>
        </p:nvSpPr>
        <p:spPr>
          <a:xfrm>
            <a:off x="522284" y="846158"/>
            <a:ext cx="912411" cy="407528"/>
          </a:xfrm>
          <a:prstGeom prst="cloudCallout">
            <a:avLst/>
          </a:prstGeom>
          <a:solidFill>
            <a:srgbClr val="D9682B"/>
          </a:solidFill>
          <a:ln w="24221">
            <a:solidFill>
              <a:srgbClr val="BA33B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2" name="Table 21"/>
          <p:cNvGraphicFramePr>
            <a:graphicFrameLocks noGrp="1"/>
          </p:cNvGraphicFramePr>
          <p:nvPr/>
        </p:nvGraphicFramePr>
        <p:xfrm>
          <a:off x="1747561" y="4900723"/>
          <a:ext cx="2381433" cy="1786244"/>
        </p:xfrm>
        <a:graphic>
          <a:graphicData uri="http://schemas.openxmlformats.org/drawingml/2006/table">
            <a:tbl>
              <a:tblPr firstRow="1" bandRow="1">
                <a:tableStyleId>{5C22544A-7EE6-4342-B048-85BDC9FD1C3A}</a:tableStyleId>
              </a:tblPr>
              <a:tblGrid>
                <a:gridCol w="476286">
                  <a:extLst>
                    <a:ext uri="{9D8B030D-6E8A-4147-A177-3AD203B41FA5}">
                      <a16:colId xmlns:a16="http://schemas.microsoft.com/office/drawing/2014/main" val="20000"/>
                    </a:ext>
                  </a:extLst>
                </a:gridCol>
                <a:gridCol w="476286">
                  <a:extLst>
                    <a:ext uri="{9D8B030D-6E8A-4147-A177-3AD203B41FA5}">
                      <a16:colId xmlns:a16="http://schemas.microsoft.com/office/drawing/2014/main" val="20001"/>
                    </a:ext>
                  </a:extLst>
                </a:gridCol>
                <a:gridCol w="476286">
                  <a:extLst>
                    <a:ext uri="{9D8B030D-6E8A-4147-A177-3AD203B41FA5}">
                      <a16:colId xmlns:a16="http://schemas.microsoft.com/office/drawing/2014/main" val="20002"/>
                    </a:ext>
                  </a:extLst>
                </a:gridCol>
                <a:gridCol w="476286">
                  <a:extLst>
                    <a:ext uri="{9D8B030D-6E8A-4147-A177-3AD203B41FA5}">
                      <a16:colId xmlns:a16="http://schemas.microsoft.com/office/drawing/2014/main" val="20003"/>
                    </a:ext>
                  </a:extLst>
                </a:gridCol>
                <a:gridCol w="476289">
                  <a:extLst>
                    <a:ext uri="{9D8B030D-6E8A-4147-A177-3AD203B41FA5}">
                      <a16:colId xmlns:a16="http://schemas.microsoft.com/office/drawing/2014/main" val="20004"/>
                    </a:ext>
                  </a:extLst>
                </a:gridCol>
              </a:tblGrid>
              <a:tr h="255177">
                <a:tc>
                  <a:txBody>
                    <a:bodyPr/>
                    <a:lstStyle/>
                    <a:p>
                      <a:r>
                        <a:rPr sz="800" b="1">
                          <a:solidFill>
                            <a:srgbClr val="4EB5C7"/>
                          </a:solidFill>
                        </a:rPr>
                        <a:t>Compass</a:t>
                      </a:r>
                    </a:p>
                  </a:txBody>
                  <a:tcPr>
                    <a:solidFill>
                      <a:srgbClr val="8DCE25"/>
                    </a:solidFill>
                  </a:tcPr>
                </a:tc>
                <a:tc>
                  <a:txBody>
                    <a:bodyPr/>
                    <a:lstStyle/>
                    <a:p>
                      <a:r>
                        <a:rPr sz="800" b="1">
                          <a:solidFill>
                            <a:srgbClr val="4EB5C7"/>
                          </a:solidFill>
                        </a:rPr>
                        <a:t>Datum Expansion</a:t>
                      </a:r>
                    </a:p>
                  </a:txBody>
                  <a:tcPr>
                    <a:solidFill>
                      <a:srgbClr val="8DCE25"/>
                    </a:solidFill>
                  </a:tcPr>
                </a:tc>
                <a:tc>
                  <a:txBody>
                    <a:bodyPr/>
                    <a:lstStyle/>
                    <a:p>
                      <a:r>
                        <a:rPr sz="800" b="1">
                          <a:solidFill>
                            <a:srgbClr val="4EB5C7"/>
                          </a:solidFill>
                        </a:rPr>
                        <a:t>Audit Profile</a:t>
                      </a:r>
                    </a:p>
                  </a:txBody>
                  <a:tcPr>
                    <a:solidFill>
                      <a:srgbClr val="8DCE25"/>
                    </a:solidFill>
                  </a:tcPr>
                </a:tc>
                <a:tc>
                  <a:txBody>
                    <a:bodyPr/>
                    <a:lstStyle/>
                    <a:p>
                      <a:r>
                        <a:rPr sz="800" b="1">
                          <a:solidFill>
                            <a:srgbClr val="4EB5C7"/>
                          </a:solidFill>
                        </a:rPr>
                        <a:t>Wave</a:t>
                      </a:r>
                    </a:p>
                  </a:txBody>
                  <a:tcPr>
                    <a:solidFill>
                      <a:srgbClr val="8DCE25"/>
                    </a:solidFill>
                  </a:tcPr>
                </a:tc>
                <a:tc>
                  <a:txBody>
                    <a:bodyPr/>
                    <a:lstStyle/>
                    <a:p>
                      <a:r>
                        <a:rPr sz="800" b="1">
                          <a:solidFill>
                            <a:srgbClr val="4EB5C7"/>
                          </a:solidFill>
                        </a:rPr>
                        <a:t>Zone Device</a:t>
                      </a:r>
                    </a:p>
                  </a:txBody>
                  <a:tcPr>
                    <a:solidFill>
                      <a:srgbClr val="8DCE25"/>
                    </a:solidFill>
                  </a:tcPr>
                </a:tc>
                <a:extLst>
                  <a:ext uri="{0D108BD9-81ED-4DB2-BD59-A6C34878D82A}">
                    <a16:rowId xmlns:a16="http://schemas.microsoft.com/office/drawing/2014/main" val="10000"/>
                  </a:ext>
                </a:extLst>
              </a:tr>
              <a:tr h="255177">
                <a:tc>
                  <a:txBody>
                    <a:bodyPr/>
                    <a:lstStyle/>
                    <a:p>
                      <a:r>
                        <a:rPr sz="800" b="0">
                          <a:solidFill>
                            <a:srgbClr val="4EB5C7"/>
                          </a:solidFill>
                        </a:rPr>
                        <a:t>Apex Token</a:t>
                      </a:r>
                    </a:p>
                  </a:txBody>
                  <a:tcPr>
                    <a:solidFill>
                      <a:srgbClr val="C8D9CF"/>
                    </a:solidFill>
                  </a:tcPr>
                </a:tc>
                <a:tc>
                  <a:txBody>
                    <a:bodyPr/>
                    <a:lstStyle/>
                    <a:p>
                      <a:r>
                        <a:rPr sz="800" b="0">
                          <a:solidFill>
                            <a:srgbClr val="4EB5C7"/>
                          </a:solidFill>
                        </a:rPr>
                        <a:t>Deck Origin</a:t>
                      </a:r>
                    </a:p>
                  </a:txBody>
                  <a:tcPr>
                    <a:solidFill>
                      <a:srgbClr val="C8D9CF"/>
                    </a:solidFill>
                  </a:tcPr>
                </a:tc>
                <a:tc>
                  <a:txBody>
                    <a:bodyPr/>
                    <a:lstStyle/>
                    <a:p>
                      <a:r>
                        <a:rPr sz="800" b="0">
                          <a:solidFill>
                            <a:srgbClr val="4EB5C7"/>
                          </a:solidFill>
                        </a:rPr>
                        <a:t>Surface Orbit</a:t>
                      </a:r>
                    </a:p>
                  </a:txBody>
                  <a:tcPr>
                    <a:solidFill>
                      <a:srgbClr val="C8D9CF"/>
                    </a:solidFill>
                  </a:tcPr>
                </a:tc>
                <a:tc>
                  <a:txBody>
                    <a:bodyPr/>
                    <a:lstStyle/>
                    <a:p>
                      <a:r>
                        <a:rPr sz="800" b="0">
                          <a:solidFill>
                            <a:srgbClr val="4EB5C7"/>
                          </a:solidFill>
                        </a:rPr>
                        <a:t>Sample</a:t>
                      </a:r>
                    </a:p>
                  </a:txBody>
                  <a:tcPr>
                    <a:solidFill>
                      <a:srgbClr val="C8D9CF"/>
                    </a:solidFill>
                  </a:tcPr>
                </a:tc>
                <a:tc>
                  <a:txBody>
                    <a:bodyPr/>
                    <a:lstStyle/>
                    <a:p>
                      <a:r>
                        <a:rPr sz="800" b="0">
                          <a:solidFill>
                            <a:srgbClr val="4EB5C7"/>
                          </a:solidFill>
                        </a:rPr>
                        <a:t>Checkpoint Design</a:t>
                      </a:r>
                    </a:p>
                  </a:txBody>
                  <a:tcPr>
                    <a:solidFill>
                      <a:srgbClr val="C8D9CF"/>
                    </a:solidFill>
                  </a:tcPr>
                </a:tc>
                <a:extLst>
                  <a:ext uri="{0D108BD9-81ED-4DB2-BD59-A6C34878D82A}">
                    <a16:rowId xmlns:a16="http://schemas.microsoft.com/office/drawing/2014/main" val="10001"/>
                  </a:ext>
                </a:extLst>
              </a:tr>
              <a:tr h="255177">
                <a:tc>
                  <a:txBody>
                    <a:bodyPr/>
                    <a:lstStyle/>
                    <a:p>
                      <a:r>
                        <a:rPr sz="800" b="0">
                          <a:solidFill>
                            <a:srgbClr val="4EB5C7"/>
                          </a:solidFill>
                        </a:rPr>
                        <a:t>Discovery Cycle</a:t>
                      </a:r>
                    </a:p>
                  </a:txBody>
                  <a:tcPr>
                    <a:solidFill>
                      <a:srgbClr val="E3ECE7"/>
                    </a:solidFill>
                  </a:tcPr>
                </a:tc>
                <a:tc>
                  <a:txBody>
                    <a:bodyPr/>
                    <a:lstStyle/>
                    <a:p>
                      <a:r>
                        <a:rPr sz="800" b="0">
                          <a:solidFill>
                            <a:srgbClr val="4EB5C7"/>
                          </a:solidFill>
                        </a:rPr>
                        <a:t>Matrix</a:t>
                      </a:r>
                    </a:p>
                  </a:txBody>
                  <a:tcPr>
                    <a:solidFill>
                      <a:srgbClr val="E3ECE7"/>
                    </a:solidFill>
                  </a:tcPr>
                </a:tc>
                <a:tc>
                  <a:txBody>
                    <a:bodyPr/>
                    <a:lstStyle/>
                    <a:p>
                      <a:r>
                        <a:rPr sz="800" b="0">
                          <a:solidFill>
                            <a:srgbClr val="4EB5C7"/>
                          </a:solidFill>
                        </a:rPr>
                        <a:t>Pattern Trigger</a:t>
                      </a:r>
                    </a:p>
                  </a:txBody>
                  <a:tcPr>
                    <a:solidFill>
                      <a:srgbClr val="E3ECE7"/>
                    </a:solidFill>
                  </a:tcPr>
                </a:tc>
                <a:tc>
                  <a:txBody>
                    <a:bodyPr/>
                    <a:lstStyle/>
                    <a:p>
                      <a:r>
                        <a:rPr sz="800" b="0">
                          <a:solidFill>
                            <a:srgbClr val="4EB5C7"/>
                          </a:solidFill>
                        </a:rPr>
                        <a:t>Rhythm Signal</a:t>
                      </a:r>
                    </a:p>
                  </a:txBody>
                  <a:tcPr>
                    <a:solidFill>
                      <a:srgbClr val="E3ECE7"/>
                    </a:solidFill>
                  </a:tcPr>
                </a:tc>
                <a:tc>
                  <a:txBody>
                    <a:bodyPr/>
                    <a:lstStyle/>
                    <a:p>
                      <a:r>
                        <a:rPr sz="800" b="0">
                          <a:solidFill>
                            <a:srgbClr val="4EB5C7"/>
                          </a:solidFill>
                        </a:rPr>
                        <a:t>Flow Canvas</a:t>
                      </a:r>
                    </a:p>
                  </a:txBody>
                  <a:tcPr>
                    <a:solidFill>
                      <a:srgbClr val="E3ECE7"/>
                    </a:solidFill>
                  </a:tcPr>
                </a:tc>
                <a:extLst>
                  <a:ext uri="{0D108BD9-81ED-4DB2-BD59-A6C34878D82A}">
                    <a16:rowId xmlns:a16="http://schemas.microsoft.com/office/drawing/2014/main" val="10002"/>
                  </a:ext>
                </a:extLst>
              </a:tr>
              <a:tr h="255177">
                <a:tc>
                  <a:txBody>
                    <a:bodyPr/>
                    <a:lstStyle/>
                    <a:p>
                      <a:r>
                        <a:rPr sz="800" b="0">
                          <a:solidFill>
                            <a:srgbClr val="4EB5C7"/>
                          </a:solidFill>
                        </a:rPr>
                        <a:t>Function</a:t>
                      </a:r>
                    </a:p>
                  </a:txBody>
                  <a:tcPr>
                    <a:solidFill>
                      <a:srgbClr val="C8D9CF"/>
                    </a:solidFill>
                  </a:tcPr>
                </a:tc>
                <a:tc>
                  <a:txBody>
                    <a:bodyPr/>
                    <a:lstStyle/>
                    <a:p>
                      <a:r>
                        <a:rPr sz="800" b="0">
                          <a:solidFill>
                            <a:srgbClr val="4EB5C7"/>
                          </a:solidFill>
                        </a:rPr>
                        <a:t>Span</a:t>
                      </a:r>
                    </a:p>
                  </a:txBody>
                  <a:tcPr>
                    <a:solidFill>
                      <a:srgbClr val="C8D9CF"/>
                    </a:solidFill>
                  </a:tcPr>
                </a:tc>
                <a:tc>
                  <a:txBody>
                    <a:bodyPr/>
                    <a:lstStyle/>
                    <a:p>
                      <a:r>
                        <a:rPr sz="800" b="0">
                          <a:solidFill>
                            <a:srgbClr val="4EB5C7"/>
                          </a:solidFill>
                        </a:rPr>
                        <a:t>Dashboard</a:t>
                      </a:r>
                    </a:p>
                  </a:txBody>
                  <a:tcPr>
                    <a:solidFill>
                      <a:srgbClr val="C8D9CF"/>
                    </a:solidFill>
                  </a:tcPr>
                </a:tc>
                <a:tc>
                  <a:txBody>
                    <a:bodyPr/>
                    <a:lstStyle/>
                    <a:p>
                      <a:r>
                        <a:rPr sz="800" b="0">
                          <a:solidFill>
                            <a:srgbClr val="4EB5C7"/>
                          </a:solidFill>
                        </a:rPr>
                        <a:t>Reference Route</a:t>
                      </a:r>
                    </a:p>
                  </a:txBody>
                  <a:tcPr>
                    <a:solidFill>
                      <a:srgbClr val="C8D9CF"/>
                    </a:solidFill>
                  </a:tcPr>
                </a:tc>
                <a:tc>
                  <a:txBody>
                    <a:bodyPr/>
                    <a:lstStyle/>
                    <a:p>
                      <a:r>
                        <a:rPr sz="800" b="0">
                          <a:solidFill>
                            <a:srgbClr val="4EB5C7"/>
                          </a:solidFill>
                        </a:rPr>
                        <a:t>Echo</a:t>
                      </a:r>
                    </a:p>
                  </a:txBody>
                  <a:tcPr>
                    <a:solidFill>
                      <a:srgbClr val="C8D9CF"/>
                    </a:solidFill>
                  </a:tcPr>
                </a:tc>
                <a:extLst>
                  <a:ext uri="{0D108BD9-81ED-4DB2-BD59-A6C34878D82A}">
                    <a16:rowId xmlns:a16="http://schemas.microsoft.com/office/drawing/2014/main" val="10003"/>
                  </a:ext>
                </a:extLst>
              </a:tr>
              <a:tr h="255177">
                <a:tc>
                  <a:txBody>
                    <a:bodyPr/>
                    <a:lstStyle/>
                    <a:p>
                      <a:r>
                        <a:rPr sz="800" b="0">
                          <a:solidFill>
                            <a:srgbClr val="4EB5C7"/>
                          </a:solidFill>
                        </a:rPr>
                        <a:t>Apex</a:t>
                      </a:r>
                    </a:p>
                  </a:txBody>
                  <a:tcPr>
                    <a:solidFill>
                      <a:srgbClr val="E3ECE7"/>
                    </a:solidFill>
                  </a:tcPr>
                </a:tc>
                <a:tc>
                  <a:txBody>
                    <a:bodyPr/>
                    <a:lstStyle/>
                    <a:p>
                      <a:r>
                        <a:rPr sz="800" b="0">
                          <a:solidFill>
                            <a:srgbClr val="4EB5C7"/>
                          </a:solidFill>
                        </a:rPr>
                        <a:t>Range Audit</a:t>
                      </a:r>
                    </a:p>
                  </a:txBody>
                  <a:tcPr>
                    <a:solidFill>
                      <a:srgbClr val="E3ECE7"/>
                    </a:solidFill>
                  </a:tcPr>
                </a:tc>
                <a:tc>
                  <a:txBody>
                    <a:bodyPr/>
                    <a:lstStyle/>
                    <a:p>
                      <a:r>
                        <a:rPr sz="800" b="0">
                          <a:solidFill>
                            <a:srgbClr val="4EB5C7"/>
                          </a:solidFill>
                        </a:rPr>
                        <a:t>Waypoint Foundation</a:t>
                      </a:r>
                    </a:p>
                  </a:txBody>
                  <a:tcPr>
                    <a:solidFill>
                      <a:srgbClr val="E3ECE7"/>
                    </a:solidFill>
                  </a:tcPr>
                </a:tc>
                <a:tc>
                  <a:txBody>
                    <a:bodyPr/>
                    <a:lstStyle/>
                    <a:p>
                      <a:r>
                        <a:rPr sz="800" b="0">
                          <a:solidFill>
                            <a:srgbClr val="4EB5C7"/>
                          </a:solidFill>
                        </a:rPr>
                        <a:t>Context Thread</a:t>
                      </a:r>
                    </a:p>
                  </a:txBody>
                  <a:tcPr>
                    <a:solidFill>
                      <a:srgbClr val="E3ECE7"/>
                    </a:solidFill>
                  </a:tcPr>
                </a:tc>
                <a:tc>
                  <a:txBody>
                    <a:bodyPr/>
                    <a:lstStyle/>
                    <a:p>
                      <a:r>
                        <a:rPr sz="800" b="0">
                          <a:solidFill>
                            <a:srgbClr val="4EB5C7"/>
                          </a:solidFill>
                        </a:rPr>
                        <a:t>Metric</a:t>
                      </a:r>
                    </a:p>
                  </a:txBody>
                  <a:tcPr>
                    <a:solidFill>
                      <a:srgbClr val="E3ECE7"/>
                    </a:solidFill>
                  </a:tcPr>
                </a:tc>
                <a:extLst>
                  <a:ext uri="{0D108BD9-81ED-4DB2-BD59-A6C34878D82A}">
                    <a16:rowId xmlns:a16="http://schemas.microsoft.com/office/drawing/2014/main" val="10004"/>
                  </a:ext>
                </a:extLst>
              </a:tr>
              <a:tr h="255177">
                <a:tc>
                  <a:txBody>
                    <a:bodyPr/>
                    <a:lstStyle/>
                    <a:p>
                      <a:r>
                        <a:rPr sz="800" b="0">
                          <a:solidFill>
                            <a:srgbClr val="4EB5C7"/>
                          </a:solidFill>
                        </a:rPr>
                        <a:t>Request</a:t>
                      </a:r>
                    </a:p>
                  </a:txBody>
                  <a:tcPr>
                    <a:solidFill>
                      <a:srgbClr val="C8D9CF"/>
                    </a:solidFill>
                  </a:tcPr>
                </a:tc>
                <a:tc>
                  <a:txBody>
                    <a:bodyPr/>
                    <a:lstStyle/>
                    <a:p>
                      <a:r>
                        <a:rPr sz="800" b="0">
                          <a:solidFill>
                            <a:srgbClr val="4EB5C7"/>
                          </a:solidFill>
                        </a:rPr>
                        <a:t>Strategy Logic</a:t>
                      </a:r>
                    </a:p>
                  </a:txBody>
                  <a:tcPr>
                    <a:solidFill>
                      <a:srgbClr val="C8D9CF"/>
                    </a:solidFill>
                  </a:tcPr>
                </a:tc>
                <a:tc>
                  <a:txBody>
                    <a:bodyPr/>
                    <a:lstStyle/>
                    <a:p>
                      <a:r>
                        <a:rPr sz="800" b="0">
                          <a:solidFill>
                            <a:srgbClr val="4EB5C7"/>
                          </a:solidFill>
                        </a:rPr>
                        <a:t>Pixel</a:t>
                      </a:r>
                    </a:p>
                  </a:txBody>
                  <a:tcPr>
                    <a:solidFill>
                      <a:srgbClr val="C8D9CF"/>
                    </a:solidFill>
                  </a:tcPr>
                </a:tc>
                <a:tc>
                  <a:txBody>
                    <a:bodyPr/>
                    <a:lstStyle/>
                    <a:p>
                      <a:r>
                        <a:rPr sz="800" b="0">
                          <a:solidFill>
                            <a:srgbClr val="4EB5C7"/>
                          </a:solidFill>
                        </a:rPr>
                        <a:t>Dashboard</a:t>
                      </a:r>
                    </a:p>
                  </a:txBody>
                  <a:tcPr>
                    <a:solidFill>
                      <a:srgbClr val="C8D9CF"/>
                    </a:solidFill>
                  </a:tcPr>
                </a:tc>
                <a:tc>
                  <a:txBody>
                    <a:bodyPr/>
                    <a:lstStyle/>
                    <a:p>
                      <a:r>
                        <a:rPr sz="800" b="0">
                          <a:solidFill>
                            <a:srgbClr val="4EB5C7"/>
                          </a:solidFill>
                        </a:rPr>
                        <a:t>Index</a:t>
                      </a:r>
                    </a:p>
                  </a:txBody>
                  <a:tcPr>
                    <a:solidFill>
                      <a:srgbClr val="C8D9CF"/>
                    </a:solidFill>
                  </a:tcPr>
                </a:tc>
                <a:extLst>
                  <a:ext uri="{0D108BD9-81ED-4DB2-BD59-A6C34878D82A}">
                    <a16:rowId xmlns:a16="http://schemas.microsoft.com/office/drawing/2014/main" val="10005"/>
                  </a:ext>
                </a:extLst>
              </a:tr>
              <a:tr h="255182">
                <a:tc>
                  <a:txBody>
                    <a:bodyPr/>
                    <a:lstStyle/>
                    <a:p>
                      <a:r>
                        <a:rPr sz="800" b="0">
                          <a:solidFill>
                            <a:srgbClr val="4EB5C7"/>
                          </a:solidFill>
                        </a:rPr>
                        <a:t>Workflow System</a:t>
                      </a:r>
                    </a:p>
                  </a:txBody>
                  <a:tcPr>
                    <a:solidFill>
                      <a:srgbClr val="E3ECE7"/>
                    </a:solidFill>
                  </a:tcPr>
                </a:tc>
                <a:tc>
                  <a:txBody>
                    <a:bodyPr/>
                    <a:lstStyle/>
                    <a:p>
                      <a:r>
                        <a:rPr sz="800" b="0">
                          <a:solidFill>
                            <a:srgbClr val="4EB5C7"/>
                          </a:solidFill>
                        </a:rPr>
                        <a:t>Map</a:t>
                      </a:r>
                    </a:p>
                  </a:txBody>
                  <a:tcPr>
                    <a:solidFill>
                      <a:srgbClr val="E3ECE7"/>
                    </a:solidFill>
                  </a:tcPr>
                </a:tc>
                <a:tc>
                  <a:txBody>
                    <a:bodyPr/>
                    <a:lstStyle/>
                    <a:p>
                      <a:r>
                        <a:rPr sz="800" b="0">
                          <a:solidFill>
                            <a:srgbClr val="4EB5C7"/>
                          </a:solidFill>
                        </a:rPr>
                        <a:t>Depth</a:t>
                      </a:r>
                    </a:p>
                  </a:txBody>
                  <a:tcPr>
                    <a:solidFill>
                      <a:srgbClr val="E3ECE7"/>
                    </a:solidFill>
                  </a:tcPr>
                </a:tc>
                <a:tc>
                  <a:txBody>
                    <a:bodyPr/>
                    <a:lstStyle/>
                    <a:p>
                      <a:r>
                        <a:rPr sz="800" b="0">
                          <a:solidFill>
                            <a:srgbClr val="4EB5C7"/>
                          </a:solidFill>
                        </a:rPr>
                        <a:t>Version</a:t>
                      </a:r>
                    </a:p>
                  </a:txBody>
                  <a:tcPr>
                    <a:solidFill>
                      <a:srgbClr val="E3ECE7"/>
                    </a:solidFill>
                  </a:tcPr>
                </a:tc>
                <a:tc>
                  <a:txBody>
                    <a:bodyPr/>
                    <a:lstStyle/>
                    <a:p>
                      <a:r>
                        <a:rPr sz="800" b="0">
                          <a:solidFill>
                            <a:srgbClr val="4EB5C7"/>
                          </a:solidFill>
                        </a:rPr>
                        <a:t>Lineage</a:t>
                      </a:r>
                    </a:p>
                  </a:txBody>
                  <a:tcPr>
                    <a:solidFill>
                      <a:srgbClr val="E3ECE7"/>
                    </a:solidFill>
                  </a:tcPr>
                </a:tc>
                <a:extLst>
                  <a:ext uri="{0D108BD9-81ED-4DB2-BD59-A6C34878D82A}">
                    <a16:rowId xmlns:a16="http://schemas.microsoft.com/office/drawing/2014/main" val="10006"/>
                  </a:ext>
                </a:extLst>
              </a:tr>
            </a:tbl>
          </a:graphicData>
        </a:graphic>
      </p:graphicFrame>
      <p:sp>
        <p:nvSpPr>
          <p:cNvPr id="23" name="5-Point Star 22"/>
          <p:cNvSpPr/>
          <p:nvPr/>
        </p:nvSpPr>
        <p:spPr>
          <a:xfrm>
            <a:off x="9127078" y="4548501"/>
            <a:ext cx="719137" cy="408722"/>
          </a:xfrm>
          <a:prstGeom prst="star5">
            <a:avLst/>
          </a:prstGeom>
          <a:solidFill>
            <a:srgbClr val="803B7B"/>
          </a:solidFill>
          <a:ln w="9950">
            <a:solidFill>
              <a:srgbClr val="C8DE8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4067187" y="5317770"/>
            <a:ext cx="1523830" cy="1236895"/>
          </a:xfrm>
          <a:custGeom>
            <a:avLst/>
            <a:gdLst/>
            <a:ahLst/>
            <a:cxnLst/>
            <a:rect l="l" t="t" r="r" b="b"/>
            <a:pathLst>
              <a:path w="1523830" h="1236895">
                <a:moveTo>
                  <a:pt x="761915" y="0"/>
                </a:moveTo>
                <a:lnTo>
                  <a:pt x="952393" y="309224"/>
                </a:lnTo>
                <a:lnTo>
                  <a:pt x="1428590" y="222641"/>
                </a:lnTo>
                <a:lnTo>
                  <a:pt x="1158745" y="618448"/>
                </a:lnTo>
                <a:lnTo>
                  <a:pt x="1523830" y="964778"/>
                </a:lnTo>
                <a:lnTo>
                  <a:pt x="952393" y="890565"/>
                </a:lnTo>
                <a:lnTo>
                  <a:pt x="761915" y="1236895"/>
                </a:lnTo>
                <a:lnTo>
                  <a:pt x="571436" y="890565"/>
                </a:lnTo>
                <a:lnTo>
                  <a:pt x="0" y="964778"/>
                </a:lnTo>
                <a:lnTo>
                  <a:pt x="365084" y="618448"/>
                </a:lnTo>
                <a:lnTo>
                  <a:pt x="95239" y="222641"/>
                </a:lnTo>
                <a:lnTo>
                  <a:pt x="571436" y="309224"/>
                </a:lnTo>
                <a:close/>
              </a:path>
            </a:pathLst>
          </a:custGeom>
          <a:solidFill>
            <a:srgbClr val="6E5489"/>
          </a:solidFill>
          <a:ln w="19268">
            <a:solidFill>
              <a:srgbClr val="9157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47184" y="3548077"/>
            <a:ext cx="1091058" cy="792340"/>
          </a:xfrm>
          <a:prstGeom prst="rect">
            <a:avLst/>
          </a:prstGeom>
          <a:noFill/>
        </p:spPr>
        <p:txBody>
          <a:bodyPr wrap="none" lIns="41407" tIns="41407" rIns="41407" bIns="41407">
            <a:spAutoFit/>
          </a:bodyPr>
          <a:lstStyle/>
          <a:p>
            <a:r>
              <a:rPr sz="2100" b="0" i="0" u="none">
                <a:solidFill>
                  <a:srgbClr val="245A55"/>
                </a:solidFill>
                <a:latin typeface="Arial"/>
              </a:rPr>
              <a:t>Library Engine Option Catalog Lineage Atlas Brief Span Foundation Buffer</a:t>
            </a:r>
          </a:p>
        </p:txBody>
      </p:sp>
      <p:graphicFrame>
        <p:nvGraphicFramePr>
          <p:cNvPr id="26" name="Table 25"/>
          <p:cNvGraphicFramePr>
            <a:graphicFrameLocks noGrp="1"/>
          </p:cNvGraphicFramePr>
          <p:nvPr/>
        </p:nvGraphicFramePr>
        <p:xfrm>
          <a:off x="266858" y="1478741"/>
          <a:ext cx="3584271" cy="1499262"/>
        </p:xfrm>
        <a:graphic>
          <a:graphicData uri="http://schemas.openxmlformats.org/drawingml/2006/table">
            <a:tbl>
              <a:tblPr firstRow="1" bandRow="1">
                <a:tableStyleId>{5C22544A-7EE6-4342-B048-85BDC9FD1C3A}</a:tableStyleId>
              </a:tblPr>
              <a:tblGrid>
                <a:gridCol w="896067">
                  <a:extLst>
                    <a:ext uri="{9D8B030D-6E8A-4147-A177-3AD203B41FA5}">
                      <a16:colId xmlns:a16="http://schemas.microsoft.com/office/drawing/2014/main" val="20000"/>
                    </a:ext>
                  </a:extLst>
                </a:gridCol>
                <a:gridCol w="896067">
                  <a:extLst>
                    <a:ext uri="{9D8B030D-6E8A-4147-A177-3AD203B41FA5}">
                      <a16:colId xmlns:a16="http://schemas.microsoft.com/office/drawing/2014/main" val="20001"/>
                    </a:ext>
                  </a:extLst>
                </a:gridCol>
                <a:gridCol w="896067">
                  <a:extLst>
                    <a:ext uri="{9D8B030D-6E8A-4147-A177-3AD203B41FA5}">
                      <a16:colId xmlns:a16="http://schemas.microsoft.com/office/drawing/2014/main" val="20002"/>
                    </a:ext>
                  </a:extLst>
                </a:gridCol>
                <a:gridCol w="896070">
                  <a:extLst>
                    <a:ext uri="{9D8B030D-6E8A-4147-A177-3AD203B41FA5}">
                      <a16:colId xmlns:a16="http://schemas.microsoft.com/office/drawing/2014/main" val="20003"/>
                    </a:ext>
                  </a:extLst>
                </a:gridCol>
              </a:tblGrid>
              <a:tr h="299852">
                <a:tc>
                  <a:txBody>
                    <a:bodyPr/>
                    <a:lstStyle/>
                    <a:p>
                      <a:r>
                        <a:rPr sz="800" b="0">
                          <a:solidFill>
                            <a:srgbClr val="82D9BE"/>
                          </a:solidFill>
                        </a:rPr>
                        <a:t>Harbor Agenda</a:t>
                      </a:r>
                    </a:p>
                  </a:txBody>
                  <a:tcPr>
                    <a:solidFill>
                      <a:srgbClr val="E3DBF2"/>
                    </a:solidFill>
                  </a:tcPr>
                </a:tc>
                <a:tc>
                  <a:txBody>
                    <a:bodyPr/>
                    <a:lstStyle/>
                    <a:p>
                      <a:r>
                        <a:rPr sz="800" b="0">
                          <a:solidFill>
                            <a:srgbClr val="82D9BE"/>
                          </a:solidFill>
                        </a:rPr>
                        <a:t>Priority Stack</a:t>
                      </a:r>
                    </a:p>
                  </a:txBody>
                  <a:tcPr>
                    <a:solidFill>
                      <a:srgbClr val="DBD1EF"/>
                    </a:solidFill>
                  </a:tcPr>
                </a:tc>
                <a:tc>
                  <a:txBody>
                    <a:bodyPr/>
                    <a:lstStyle/>
                    <a:p>
                      <a:r>
                        <a:rPr sz="800" b="0">
                          <a:solidFill>
                            <a:srgbClr val="82D9BE"/>
                          </a:solidFill>
                        </a:rPr>
                        <a:t>Craft Field</a:t>
                      </a:r>
                    </a:p>
                  </a:txBody>
                  <a:tcPr>
                    <a:solidFill>
                      <a:srgbClr val="E3DBF2"/>
                    </a:solidFill>
                  </a:tcPr>
                </a:tc>
                <a:tc>
                  <a:txBody>
                    <a:bodyPr/>
                    <a:lstStyle/>
                    <a:p>
                      <a:r>
                        <a:rPr sz="800" b="0">
                          <a:solidFill>
                            <a:srgbClr val="82D9BE"/>
                          </a:solidFill>
                        </a:rPr>
                        <a:t>Ratio Device</a:t>
                      </a:r>
                    </a:p>
                  </a:txBody>
                  <a:tcPr>
                    <a:solidFill>
                      <a:srgbClr val="DBD1EF"/>
                    </a:solidFill>
                  </a:tcPr>
                </a:tc>
                <a:extLst>
                  <a:ext uri="{0D108BD9-81ED-4DB2-BD59-A6C34878D82A}">
                    <a16:rowId xmlns:a16="http://schemas.microsoft.com/office/drawing/2014/main" val="10000"/>
                  </a:ext>
                </a:extLst>
              </a:tr>
              <a:tr h="299852">
                <a:tc>
                  <a:txBody>
                    <a:bodyPr/>
                    <a:lstStyle/>
                    <a:p>
                      <a:r>
                        <a:rPr sz="800" b="0">
                          <a:solidFill>
                            <a:srgbClr val="82D9BE"/>
                          </a:solidFill>
                        </a:rPr>
                        <a:t>Graph</a:t>
                      </a:r>
                    </a:p>
                  </a:txBody>
                  <a:tcPr>
                    <a:solidFill>
                      <a:srgbClr val="DBD1EF"/>
                    </a:solidFill>
                  </a:tcPr>
                </a:tc>
                <a:tc>
                  <a:txBody>
                    <a:bodyPr/>
                    <a:lstStyle/>
                    <a:p>
                      <a:r>
                        <a:rPr sz="800" b="0">
                          <a:solidFill>
                            <a:srgbClr val="82D9BE"/>
                          </a:solidFill>
                        </a:rPr>
                        <a:t>Path Drift</a:t>
                      </a:r>
                    </a:p>
                  </a:txBody>
                  <a:tcPr>
                    <a:solidFill>
                      <a:srgbClr val="DBD1EF"/>
                    </a:solidFill>
                  </a:tcPr>
                </a:tc>
                <a:tc>
                  <a:txBody>
                    <a:bodyPr/>
                    <a:lstStyle/>
                    <a:p>
                      <a:r>
                        <a:rPr sz="800" b="0">
                          <a:solidFill>
                            <a:srgbClr val="82D9BE"/>
                          </a:solidFill>
                        </a:rPr>
                        <a:t>Density</a:t>
                      </a:r>
                    </a:p>
                  </a:txBody>
                  <a:tcPr>
                    <a:solidFill>
                      <a:srgbClr val="DBD1EF"/>
                    </a:solidFill>
                  </a:tcPr>
                </a:tc>
                <a:tc>
                  <a:txBody>
                    <a:bodyPr/>
                    <a:lstStyle/>
                    <a:p>
                      <a:r>
                        <a:rPr sz="800" b="0">
                          <a:solidFill>
                            <a:srgbClr val="82D9BE"/>
                          </a:solidFill>
                        </a:rPr>
                        <a:t>Density</a:t>
                      </a:r>
                    </a:p>
                  </a:txBody>
                  <a:tcPr>
                    <a:solidFill>
                      <a:srgbClr val="DBD1EF"/>
                    </a:solidFill>
                  </a:tcPr>
                </a:tc>
                <a:extLst>
                  <a:ext uri="{0D108BD9-81ED-4DB2-BD59-A6C34878D82A}">
                    <a16:rowId xmlns:a16="http://schemas.microsoft.com/office/drawing/2014/main" val="10001"/>
                  </a:ext>
                </a:extLst>
              </a:tr>
              <a:tr h="299852">
                <a:tc>
                  <a:txBody>
                    <a:bodyPr/>
                    <a:lstStyle/>
                    <a:p>
                      <a:r>
                        <a:rPr sz="800" b="0">
                          <a:solidFill>
                            <a:srgbClr val="82D9BE"/>
                          </a:solidFill>
                        </a:rPr>
                        <a:t>Array</a:t>
                      </a:r>
                    </a:p>
                  </a:txBody>
                  <a:tcPr>
                    <a:solidFill>
                      <a:srgbClr val="E3DBF2"/>
                    </a:solidFill>
                  </a:tcPr>
                </a:tc>
                <a:tc>
                  <a:txBody>
                    <a:bodyPr/>
                    <a:lstStyle/>
                    <a:p>
                      <a:r>
                        <a:rPr sz="800" b="0">
                          <a:solidFill>
                            <a:srgbClr val="82D9BE"/>
                          </a:solidFill>
                        </a:rPr>
                        <a:t>Workflow</a:t>
                      </a:r>
                    </a:p>
                  </a:txBody>
                  <a:tcPr>
                    <a:solidFill>
                      <a:srgbClr val="DBD1EF"/>
                    </a:solidFill>
                  </a:tcPr>
                </a:tc>
                <a:tc>
                  <a:txBody>
                    <a:bodyPr/>
                    <a:lstStyle/>
                    <a:p>
                      <a:r>
                        <a:rPr sz="800" b="0">
                          <a:solidFill>
                            <a:srgbClr val="82D9BE"/>
                          </a:solidFill>
                        </a:rPr>
                        <a:t>Program</a:t>
                      </a:r>
                    </a:p>
                  </a:txBody>
                  <a:tcPr>
                    <a:solidFill>
                      <a:srgbClr val="E3DBF2"/>
                    </a:solidFill>
                  </a:tcPr>
                </a:tc>
                <a:tc>
                  <a:txBody>
                    <a:bodyPr/>
                    <a:lstStyle/>
                    <a:p>
                      <a:r>
                        <a:rPr sz="800" b="0">
                          <a:solidFill>
                            <a:srgbClr val="82D9BE"/>
                          </a:solidFill>
                        </a:rPr>
                        <a:t>Reference</a:t>
                      </a:r>
                    </a:p>
                  </a:txBody>
                  <a:tcPr>
                    <a:solidFill>
                      <a:srgbClr val="DBD1EF"/>
                    </a:solidFill>
                  </a:tcPr>
                </a:tc>
                <a:extLst>
                  <a:ext uri="{0D108BD9-81ED-4DB2-BD59-A6C34878D82A}">
                    <a16:rowId xmlns:a16="http://schemas.microsoft.com/office/drawing/2014/main" val="10002"/>
                  </a:ext>
                </a:extLst>
              </a:tr>
              <a:tr h="299852">
                <a:tc>
                  <a:txBody>
                    <a:bodyPr/>
                    <a:lstStyle/>
                    <a:p>
                      <a:r>
                        <a:rPr sz="800" b="0">
                          <a:solidFill>
                            <a:srgbClr val="82D9BE"/>
                          </a:solidFill>
                        </a:rPr>
                        <a:t>Structure Goal</a:t>
                      </a:r>
                    </a:p>
                  </a:txBody>
                  <a:tcPr>
                    <a:solidFill>
                      <a:srgbClr val="DBD1EF"/>
                    </a:solidFill>
                  </a:tcPr>
                </a:tc>
                <a:tc>
                  <a:txBody>
                    <a:bodyPr/>
                    <a:lstStyle/>
                    <a:p>
                      <a:r>
                        <a:rPr sz="800" b="0">
                          <a:solidFill>
                            <a:srgbClr val="82D9BE"/>
                          </a:solidFill>
                        </a:rPr>
                        <a:t>Element</a:t>
                      </a:r>
                    </a:p>
                  </a:txBody>
                  <a:tcPr>
                    <a:solidFill>
                      <a:srgbClr val="DBD1EF"/>
                    </a:solidFill>
                  </a:tcPr>
                </a:tc>
                <a:tc>
                  <a:txBody>
                    <a:bodyPr/>
                    <a:lstStyle/>
                    <a:p>
                      <a:r>
                        <a:rPr sz="800" b="0">
                          <a:solidFill>
                            <a:srgbClr val="82D9BE"/>
                          </a:solidFill>
                        </a:rPr>
                        <a:t>Tile Stage</a:t>
                      </a:r>
                    </a:p>
                  </a:txBody>
                  <a:tcPr>
                    <a:solidFill>
                      <a:srgbClr val="DBD1EF"/>
                    </a:solidFill>
                  </a:tcPr>
                </a:tc>
                <a:tc>
                  <a:txBody>
                    <a:bodyPr/>
                    <a:lstStyle/>
                    <a:p>
                      <a:r>
                        <a:rPr sz="800" b="0">
                          <a:solidFill>
                            <a:srgbClr val="82D9BE"/>
                          </a:solidFill>
                        </a:rPr>
                        <a:t>Asset Cortex</a:t>
                      </a:r>
                    </a:p>
                  </a:txBody>
                  <a:tcPr>
                    <a:solidFill>
                      <a:srgbClr val="DBD1EF"/>
                    </a:solidFill>
                  </a:tcPr>
                </a:tc>
                <a:extLst>
                  <a:ext uri="{0D108BD9-81ED-4DB2-BD59-A6C34878D82A}">
                    <a16:rowId xmlns:a16="http://schemas.microsoft.com/office/drawing/2014/main" val="10003"/>
                  </a:ext>
                </a:extLst>
              </a:tr>
              <a:tr h="299854">
                <a:tc>
                  <a:txBody>
                    <a:bodyPr/>
                    <a:lstStyle/>
                    <a:p>
                      <a:r>
                        <a:rPr sz="800" b="0">
                          <a:solidFill>
                            <a:srgbClr val="82D9BE"/>
                          </a:solidFill>
                        </a:rPr>
                        <a:t>Bridge Mesh</a:t>
                      </a:r>
                    </a:p>
                  </a:txBody>
                  <a:tcPr>
                    <a:solidFill>
                      <a:srgbClr val="E3DBF2"/>
                    </a:solidFill>
                  </a:tcPr>
                </a:tc>
                <a:tc>
                  <a:txBody>
                    <a:bodyPr/>
                    <a:lstStyle/>
                    <a:p>
                      <a:r>
                        <a:rPr sz="800" b="0">
                          <a:solidFill>
                            <a:srgbClr val="82D9BE"/>
                          </a:solidFill>
                        </a:rPr>
                        <a:t>Density</a:t>
                      </a:r>
                    </a:p>
                  </a:txBody>
                  <a:tcPr>
                    <a:solidFill>
                      <a:srgbClr val="DBD1EF"/>
                    </a:solidFill>
                  </a:tcPr>
                </a:tc>
                <a:tc>
                  <a:txBody>
                    <a:bodyPr/>
                    <a:lstStyle/>
                    <a:p>
                      <a:r>
                        <a:rPr sz="800" b="0">
                          <a:solidFill>
                            <a:srgbClr val="82D9BE"/>
                          </a:solidFill>
                        </a:rPr>
                        <a:t>Adaptive Echo</a:t>
                      </a:r>
                    </a:p>
                  </a:txBody>
                  <a:tcPr>
                    <a:solidFill>
                      <a:srgbClr val="E3DBF2"/>
                    </a:solidFill>
                  </a:tcPr>
                </a:tc>
                <a:tc>
                  <a:txBody>
                    <a:bodyPr/>
                    <a:lstStyle/>
                    <a:p>
                      <a:r>
                        <a:rPr sz="800" b="0">
                          <a:solidFill>
                            <a:srgbClr val="82D9BE"/>
                          </a:solidFill>
                        </a:rPr>
                        <a:t>Design</a:t>
                      </a:r>
                    </a:p>
                  </a:txBody>
                  <a:tcPr>
                    <a:solidFill>
                      <a:srgbClr val="DBD1EF"/>
                    </a:solidFill>
                  </a:tcPr>
                </a:tc>
                <a:extLst>
                  <a:ext uri="{0D108BD9-81ED-4DB2-BD59-A6C34878D82A}">
                    <a16:rowId xmlns:a16="http://schemas.microsoft.com/office/drawing/2014/main" val="10004"/>
                  </a:ext>
                </a:extLst>
              </a:tr>
            </a:tbl>
          </a:graphicData>
        </a:graphic>
      </p:graphicFrame>
      <p:sp>
        <p:nvSpPr>
          <p:cNvPr id="27" name="Cube 26"/>
          <p:cNvSpPr/>
          <p:nvPr/>
        </p:nvSpPr>
        <p:spPr>
          <a:xfrm>
            <a:off x="7508959" y="1594187"/>
            <a:ext cx="699832" cy="1769379"/>
          </a:xfrm>
          <a:prstGeom prst="cube">
            <a:avLst/>
          </a:prstGeom>
          <a:solidFill>
            <a:srgbClr val="636A54"/>
          </a:solidFill>
          <a:ln w="6984">
            <a:solidFill>
              <a:srgbClr val="61CAD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511351E8-27BD-86F1-1800-1E93085B3CF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20693" y="2807097"/>
            <a:ext cx="1752591" cy="1123970"/>
          </a:xfrm>
          <a:prstGeom prst="rect">
            <a:avLst/>
          </a:prstGeom>
        </p:spPr>
      </p:pic>
      <p:pic>
        <p:nvPicPr>
          <p:cNvPr id="31" name="Graphic 30">
            <a:extLst>
              <a:ext uri="{FF2B5EF4-FFF2-40B4-BE49-F238E27FC236}">
                <a16:creationId xmlns:a16="http://schemas.microsoft.com/office/drawing/2014/main" id="{78FF38B8-AB14-CF9A-C9FF-4BC3FE8590B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273590" y="1232041"/>
            <a:ext cx="1803604" cy="1222637"/>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6128" t="8082" r="18446" b="17904"/>
          <a:stretch>
            <a:fillRect/>
          </a:stretch>
        </p:blipFill>
        <p:spPr>
          <a:xfrm>
            <a:off x="6152845" y="3973359"/>
            <a:ext cx="1606633" cy="1073789"/>
          </a:xfrm>
          <a:prstGeom prst="rect">
            <a:avLst/>
          </a:prstGeom>
        </p:spPr>
      </p:pic>
      <p:graphicFrame>
        <p:nvGraphicFramePr>
          <p:cNvPr id="3" name="Chart 2"/>
          <p:cNvGraphicFramePr>
            <a:graphicFrameLocks noGrp="1"/>
          </p:cNvGraphicFramePr>
          <p:nvPr/>
        </p:nvGraphicFramePr>
        <p:xfrm>
          <a:off x="6803103" y="3880896"/>
          <a:ext cx="3045869" cy="1715499"/>
        </p:xfrm>
        <a:graphic>
          <a:graphicData uri="http://schemas.openxmlformats.org/drawingml/2006/chart">
            <c:chart xmlns:c="http://schemas.openxmlformats.org/drawingml/2006/chart" xmlns:r="http://schemas.openxmlformats.org/officeDocument/2006/relationships" r:id="rId3"/>
          </a:graphicData>
        </a:graphic>
      </p:graphicFrame>
      <p:sp>
        <p:nvSpPr>
          <p:cNvPr id="4" name="Freeform 3"/>
          <p:cNvSpPr/>
          <p:nvPr/>
        </p:nvSpPr>
        <p:spPr>
          <a:xfrm>
            <a:off x="2938325" y="5525800"/>
            <a:ext cx="2361342" cy="661373"/>
          </a:xfrm>
          <a:custGeom>
            <a:avLst/>
            <a:gdLst/>
            <a:ahLst/>
            <a:cxnLst/>
            <a:rect l="l" t="t" r="r" b="b"/>
            <a:pathLst>
              <a:path w="2361342" h="661373">
                <a:moveTo>
                  <a:pt x="1180671" y="0"/>
                </a:moveTo>
                <a:lnTo>
                  <a:pt x="1475839" y="165343"/>
                </a:lnTo>
                <a:lnTo>
                  <a:pt x="2213758" y="119047"/>
                </a:lnTo>
                <a:lnTo>
                  <a:pt x="1795604" y="330687"/>
                </a:lnTo>
                <a:lnTo>
                  <a:pt x="2361342" y="515871"/>
                </a:lnTo>
                <a:lnTo>
                  <a:pt x="1475839" y="476189"/>
                </a:lnTo>
                <a:lnTo>
                  <a:pt x="1180671" y="661373"/>
                </a:lnTo>
                <a:lnTo>
                  <a:pt x="885503" y="476189"/>
                </a:lnTo>
                <a:lnTo>
                  <a:pt x="0" y="515871"/>
                </a:lnTo>
                <a:lnTo>
                  <a:pt x="565738" y="330687"/>
                </a:lnTo>
                <a:lnTo>
                  <a:pt x="147584" y="119047"/>
                </a:lnTo>
                <a:lnTo>
                  <a:pt x="885503" y="165343"/>
                </a:lnTo>
                <a:close/>
              </a:path>
            </a:pathLst>
          </a:custGeom>
          <a:solidFill>
            <a:srgbClr val="4C1C2D"/>
          </a:solidFill>
          <a:ln w="7815">
            <a:solidFill>
              <a:srgbClr val="451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67900" y="2354006"/>
            <a:ext cx="430360" cy="1613510"/>
          </a:xfrm>
          <a:prstGeom prst="rect">
            <a:avLst/>
          </a:prstGeom>
          <a:noFill/>
        </p:spPr>
        <p:txBody>
          <a:bodyPr wrap="none" lIns="78810" tIns="78810" rIns="78810" bIns="78810">
            <a:spAutoFit/>
          </a:bodyPr>
          <a:lstStyle/>
          <a:p>
            <a:r>
              <a:rPr sz="900" b="0" i="0" u="none">
                <a:solidFill>
                  <a:srgbClr val="9AE6AF"/>
                </a:solidFill>
                <a:latin typeface="Calibri"/>
              </a:rPr>
              <a:t>Pixel Switch Flow</a:t>
            </a:r>
          </a:p>
        </p:txBody>
      </p:sp>
      <p:graphicFrame>
        <p:nvGraphicFramePr>
          <p:cNvPr id="6" name="Chart 5"/>
          <p:cNvGraphicFramePr>
            <a:graphicFrameLocks noGrp="1"/>
          </p:cNvGraphicFramePr>
          <p:nvPr/>
        </p:nvGraphicFramePr>
        <p:xfrm>
          <a:off x="8870047" y="276187"/>
          <a:ext cx="2527658" cy="1621418"/>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7845971" y="5286260"/>
            <a:ext cx="820553" cy="811064"/>
          </a:xfrm>
          <a:prstGeom prst="rect">
            <a:avLst/>
          </a:prstGeom>
          <a:noFill/>
        </p:spPr>
        <p:txBody>
          <a:bodyPr wrap="none" lIns="53437" tIns="53437" rIns="53437" bIns="53437">
            <a:spAutoFit/>
          </a:bodyPr>
          <a:lstStyle/>
          <a:p>
            <a:r>
              <a:rPr sz="1100" b="0" i="0" u="none">
                <a:solidFill>
                  <a:srgbClr val="65A71B"/>
                </a:solidFill>
                <a:latin typeface="Trebuchet MS"/>
              </a:rPr>
              <a:t>Phase</a:t>
            </a:r>
          </a:p>
        </p:txBody>
      </p:sp>
      <p:sp>
        <p:nvSpPr>
          <p:cNvPr id="8" name="Left Arrow 7"/>
          <p:cNvSpPr/>
          <p:nvPr/>
        </p:nvSpPr>
        <p:spPr>
          <a:xfrm>
            <a:off x="6699308" y="1788424"/>
            <a:ext cx="512835" cy="1182426"/>
          </a:xfrm>
          <a:prstGeom prst="leftArrow">
            <a:avLst/>
          </a:prstGeom>
          <a:solidFill>
            <a:srgbClr val="BB247D"/>
          </a:solidFill>
          <a:ln w="29609">
            <a:solidFill>
              <a:srgbClr val="DCCD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_example_image.jpg"/>
          <p:cNvPicPr>
            <a:picLocks noChangeAspect="1"/>
          </p:cNvPicPr>
          <p:nvPr/>
        </p:nvPicPr>
        <p:blipFill>
          <a:blip r:embed="rId2"/>
          <a:srcRect/>
          <a:stretch>
            <a:fillRect/>
          </a:stretch>
        </p:blipFill>
        <p:spPr>
          <a:xfrm>
            <a:off x="6046918" y="2251348"/>
            <a:ext cx="1038921" cy="1246780"/>
          </a:xfrm>
          <a:prstGeom prst="rect">
            <a:avLst/>
          </a:prstGeom>
        </p:spPr>
      </p:pic>
      <p:sp>
        <p:nvSpPr>
          <p:cNvPr id="10" name="Rounded Rectangle 9"/>
          <p:cNvSpPr/>
          <p:nvPr/>
        </p:nvSpPr>
        <p:spPr>
          <a:xfrm>
            <a:off x="6046918" y="2251348"/>
            <a:ext cx="1038921" cy="1246780"/>
          </a:xfrm>
          <a:prstGeom prst="roundRect">
            <a:avLst/>
          </a:prstGeom>
          <a:noFill/>
          <a:ln w="15240">
            <a:solidFill>
              <a:srgbClr val="DA6B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678299" y="5613628"/>
            <a:ext cx="2164612" cy="1009715"/>
          </a:xfrm>
          <a:prstGeom prst="line">
            <a:avLst/>
          </a:prstGeom>
          <a:ln w="49507">
            <a:solidFill>
              <a:srgbClr val="9333AC"/>
            </a:solidFill>
            <a:prstDash val="dot"/>
          </a:ln>
        </p:spPr>
        <p:style>
          <a:lnRef idx="2">
            <a:schemeClr val="accent1"/>
          </a:lnRef>
          <a:fillRef idx="0">
            <a:schemeClr val="accent1"/>
          </a:fillRef>
          <a:effectRef idx="1">
            <a:schemeClr val="accent1"/>
          </a:effectRef>
          <a:fontRef idx="minor">
            <a:schemeClr val="tx1"/>
          </a:fontRef>
        </p:style>
      </p:cxnSp>
      <p:sp>
        <p:nvSpPr>
          <p:cNvPr id="12" name="Explosion 11"/>
          <p:cNvSpPr/>
          <p:nvPr/>
        </p:nvSpPr>
        <p:spPr>
          <a:xfrm>
            <a:off x="837108" y="4386120"/>
            <a:ext cx="1768452" cy="802021"/>
          </a:xfrm>
          <a:prstGeom prst="irregularSeal1">
            <a:avLst/>
          </a:prstGeom>
          <a:solidFill>
            <a:srgbClr val="CADAB2"/>
          </a:solidFill>
          <a:ln w="17486">
            <a:solidFill>
              <a:srgbClr val="2747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9644" y="2562789"/>
            <a:ext cx="1220883" cy="2488760"/>
          </a:xfrm>
          <a:prstGeom prst="rect">
            <a:avLst/>
          </a:prstGeom>
          <a:noFill/>
        </p:spPr>
        <p:txBody>
          <a:bodyPr wrap="none" lIns="44923" tIns="44923" rIns="44923" bIns="44923">
            <a:spAutoFit/>
          </a:bodyPr>
          <a:lstStyle/>
          <a:p>
            <a:r>
              <a:rPr sz="1500" b="0" i="0" u="none">
                <a:solidFill>
                  <a:srgbClr val="648C55"/>
                </a:solidFill>
                <a:latin typeface="Trebuchet MS"/>
              </a:rPr>
              <a:t>Format Thread Velocity Drive Waypoint Field Table Design Queueing Group Lineage Cell Option Lens Catalog Output Review Scale</a:t>
            </a:r>
          </a:p>
        </p:txBody>
      </p:sp>
      <p:sp>
        <p:nvSpPr>
          <p:cNvPr id="14" name="16-Point Star 13"/>
          <p:cNvSpPr/>
          <p:nvPr/>
        </p:nvSpPr>
        <p:spPr>
          <a:xfrm>
            <a:off x="481720" y="2619358"/>
            <a:ext cx="1296404" cy="1481912"/>
          </a:xfrm>
          <a:prstGeom prst="star16">
            <a:avLst/>
          </a:prstGeom>
          <a:solidFill>
            <a:srgbClr val="93237F"/>
          </a:solidFill>
          <a:ln w="17445">
            <a:solidFill>
              <a:srgbClr val="CBDC9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an 14"/>
          <p:cNvSpPr/>
          <p:nvPr/>
        </p:nvSpPr>
        <p:spPr>
          <a:xfrm>
            <a:off x="8446447" y="622253"/>
            <a:ext cx="1503937" cy="1320630"/>
          </a:xfrm>
          <a:prstGeom prst="can">
            <a:avLst/>
          </a:prstGeom>
          <a:noFill/>
          <a:ln w="9387">
            <a:solidFill>
              <a:srgbClr val="B5717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5284833" y="786341"/>
          <a:ext cx="2126063" cy="1248238"/>
        </p:xfrm>
        <a:graphic>
          <a:graphicData uri="http://schemas.openxmlformats.org/drawingml/2006/table">
            <a:tbl>
              <a:tblPr firstRow="1" bandRow="1">
                <a:tableStyleId>{5C22544A-7EE6-4342-B048-85BDC9FD1C3A}</a:tableStyleId>
              </a:tblPr>
              <a:tblGrid>
                <a:gridCol w="1063031">
                  <a:extLst>
                    <a:ext uri="{9D8B030D-6E8A-4147-A177-3AD203B41FA5}">
                      <a16:colId xmlns:a16="http://schemas.microsoft.com/office/drawing/2014/main" val="20000"/>
                    </a:ext>
                  </a:extLst>
                </a:gridCol>
                <a:gridCol w="1063032">
                  <a:extLst>
                    <a:ext uri="{9D8B030D-6E8A-4147-A177-3AD203B41FA5}">
                      <a16:colId xmlns:a16="http://schemas.microsoft.com/office/drawing/2014/main" val="20001"/>
                    </a:ext>
                  </a:extLst>
                </a:gridCol>
              </a:tblGrid>
              <a:tr h="208039">
                <a:tc>
                  <a:txBody>
                    <a:bodyPr/>
                    <a:lstStyle/>
                    <a:p>
                      <a:r>
                        <a:rPr sz="600" b="1">
                          <a:solidFill>
                            <a:srgbClr val="9B62B4"/>
                          </a:solidFill>
                        </a:rPr>
                        <a:t>Object</a:t>
                      </a:r>
                    </a:p>
                  </a:txBody>
                  <a:tcPr>
                    <a:solidFill>
                      <a:srgbClr val="422FD2"/>
                    </a:solidFill>
                  </a:tcPr>
                </a:tc>
                <a:tc>
                  <a:txBody>
                    <a:bodyPr/>
                    <a:lstStyle/>
                    <a:p>
                      <a:r>
                        <a:rPr sz="600" b="1">
                          <a:solidFill>
                            <a:srgbClr val="9B62B4"/>
                          </a:solidFill>
                        </a:rPr>
                        <a:t>Result Scale</a:t>
                      </a:r>
                    </a:p>
                  </a:txBody>
                  <a:tcPr>
                    <a:solidFill>
                      <a:srgbClr val="422FD2"/>
                    </a:solidFill>
                  </a:tcPr>
                </a:tc>
                <a:extLst>
                  <a:ext uri="{0D108BD9-81ED-4DB2-BD59-A6C34878D82A}">
                    <a16:rowId xmlns:a16="http://schemas.microsoft.com/office/drawing/2014/main" val="10000"/>
                  </a:ext>
                </a:extLst>
              </a:tr>
              <a:tr h="208039">
                <a:tc>
                  <a:txBody>
                    <a:bodyPr/>
                    <a:lstStyle/>
                    <a:p>
                      <a:r>
                        <a:rPr sz="600" b="0">
                          <a:solidFill>
                            <a:srgbClr val="9B62B4"/>
                          </a:solidFill>
                        </a:rPr>
                        <a:t>Case Vertex</a:t>
                      </a:r>
                    </a:p>
                  </a:txBody>
                  <a:tcPr>
                    <a:solidFill>
                      <a:srgbClr val="EEEBF3"/>
                    </a:solidFill>
                  </a:tcPr>
                </a:tc>
                <a:tc>
                  <a:txBody>
                    <a:bodyPr/>
                    <a:lstStyle/>
                    <a:p>
                      <a:r>
                        <a:rPr sz="600" b="0">
                          <a:solidFill>
                            <a:srgbClr val="9B62B4"/>
                          </a:solidFill>
                        </a:rPr>
                        <a:t>Orbit Goal</a:t>
                      </a:r>
                    </a:p>
                  </a:txBody>
                  <a:tcPr>
                    <a:solidFill>
                      <a:srgbClr val="EEEBF3"/>
                    </a:solidFill>
                  </a:tcPr>
                </a:tc>
                <a:extLst>
                  <a:ext uri="{0D108BD9-81ED-4DB2-BD59-A6C34878D82A}">
                    <a16:rowId xmlns:a16="http://schemas.microsoft.com/office/drawing/2014/main" val="10001"/>
                  </a:ext>
                </a:extLst>
              </a:tr>
              <a:tr h="208039">
                <a:tc>
                  <a:txBody>
                    <a:bodyPr/>
                    <a:lstStyle/>
                    <a:p>
                      <a:r>
                        <a:rPr sz="600" b="0">
                          <a:solidFill>
                            <a:srgbClr val="9B62B4"/>
                          </a:solidFill>
                        </a:rPr>
                        <a:t>Segment Drive</a:t>
                      </a:r>
                    </a:p>
                  </a:txBody>
                  <a:tcPr>
                    <a:solidFill>
                      <a:srgbClr val="EEEBF3"/>
                    </a:solidFill>
                  </a:tcPr>
                </a:tc>
                <a:tc>
                  <a:txBody>
                    <a:bodyPr/>
                    <a:lstStyle/>
                    <a:p>
                      <a:r>
                        <a:rPr sz="600" b="0">
                          <a:solidFill>
                            <a:srgbClr val="9B62B4"/>
                          </a:solidFill>
                        </a:rPr>
                        <a:t>Detail North</a:t>
                      </a:r>
                    </a:p>
                  </a:txBody>
                  <a:tcPr>
                    <a:solidFill>
                      <a:srgbClr val="EEEBF3"/>
                    </a:solidFill>
                  </a:tcPr>
                </a:tc>
                <a:extLst>
                  <a:ext uri="{0D108BD9-81ED-4DB2-BD59-A6C34878D82A}">
                    <a16:rowId xmlns:a16="http://schemas.microsoft.com/office/drawing/2014/main" val="10002"/>
                  </a:ext>
                </a:extLst>
              </a:tr>
              <a:tr h="208039">
                <a:tc>
                  <a:txBody>
                    <a:bodyPr/>
                    <a:lstStyle/>
                    <a:p>
                      <a:r>
                        <a:rPr sz="600" b="0">
                          <a:solidFill>
                            <a:srgbClr val="9B62B4"/>
                          </a:solidFill>
                        </a:rPr>
                        <a:t>Keyline Journey</a:t>
                      </a:r>
                    </a:p>
                  </a:txBody>
                  <a:tcPr>
                    <a:solidFill>
                      <a:srgbClr val="EEEBF3"/>
                    </a:solidFill>
                  </a:tcPr>
                </a:tc>
                <a:tc>
                  <a:txBody>
                    <a:bodyPr/>
                    <a:lstStyle/>
                    <a:p>
                      <a:r>
                        <a:rPr sz="600" b="0">
                          <a:solidFill>
                            <a:srgbClr val="9B62B4"/>
                          </a:solidFill>
                        </a:rPr>
                        <a:t>Sample</a:t>
                      </a:r>
                    </a:p>
                  </a:txBody>
                  <a:tcPr>
                    <a:solidFill>
                      <a:srgbClr val="EEEBF3"/>
                    </a:solidFill>
                  </a:tcPr>
                </a:tc>
                <a:extLst>
                  <a:ext uri="{0D108BD9-81ED-4DB2-BD59-A6C34878D82A}">
                    <a16:rowId xmlns:a16="http://schemas.microsoft.com/office/drawing/2014/main" val="10003"/>
                  </a:ext>
                </a:extLst>
              </a:tr>
              <a:tr h="208039">
                <a:tc>
                  <a:txBody>
                    <a:bodyPr/>
                    <a:lstStyle/>
                    <a:p>
                      <a:r>
                        <a:rPr sz="600" b="0">
                          <a:solidFill>
                            <a:srgbClr val="9B62B4"/>
                          </a:solidFill>
                        </a:rPr>
                        <a:t>Dispatch Status</a:t>
                      </a:r>
                    </a:p>
                  </a:txBody>
                  <a:tcPr>
                    <a:solidFill>
                      <a:srgbClr val="EEEBF3"/>
                    </a:solidFill>
                  </a:tcPr>
                </a:tc>
                <a:tc>
                  <a:txBody>
                    <a:bodyPr/>
                    <a:lstStyle/>
                    <a:p>
                      <a:r>
                        <a:rPr sz="600" b="0">
                          <a:solidFill>
                            <a:srgbClr val="9B62B4"/>
                          </a:solidFill>
                        </a:rPr>
                        <a:t>Queue Route</a:t>
                      </a:r>
                    </a:p>
                  </a:txBody>
                  <a:tcPr>
                    <a:solidFill>
                      <a:srgbClr val="EEEBF3"/>
                    </a:solidFill>
                  </a:tcPr>
                </a:tc>
                <a:extLst>
                  <a:ext uri="{0D108BD9-81ED-4DB2-BD59-A6C34878D82A}">
                    <a16:rowId xmlns:a16="http://schemas.microsoft.com/office/drawing/2014/main" val="10004"/>
                  </a:ext>
                </a:extLst>
              </a:tr>
              <a:tr h="208043">
                <a:tc>
                  <a:txBody>
                    <a:bodyPr/>
                    <a:lstStyle/>
                    <a:p>
                      <a:r>
                        <a:rPr sz="600" b="0">
                          <a:solidFill>
                            <a:srgbClr val="9B62B4"/>
                          </a:solidFill>
                        </a:rPr>
                        <a:t>Orbit Thread</a:t>
                      </a:r>
                    </a:p>
                  </a:txBody>
                  <a:tcPr>
                    <a:solidFill>
                      <a:srgbClr val="EEEBF3"/>
                    </a:solidFill>
                  </a:tcPr>
                </a:tc>
                <a:tc>
                  <a:txBody>
                    <a:bodyPr/>
                    <a:lstStyle/>
                    <a:p>
                      <a:r>
                        <a:rPr sz="600" b="0">
                          <a:solidFill>
                            <a:srgbClr val="9B62B4"/>
                          </a:solidFill>
                        </a:rPr>
                        <a:t>Workflow</a:t>
                      </a:r>
                    </a:p>
                  </a:txBody>
                  <a:tcPr>
                    <a:solidFill>
                      <a:srgbClr val="EEEBF3"/>
                    </a:solidFill>
                  </a:tcPr>
                </a:tc>
                <a:extLst>
                  <a:ext uri="{0D108BD9-81ED-4DB2-BD59-A6C34878D82A}">
                    <a16:rowId xmlns:a16="http://schemas.microsoft.com/office/drawing/2014/main" val="10005"/>
                  </a:ext>
                </a:extLst>
              </a:tr>
            </a:tbl>
          </a:graphicData>
        </a:graphic>
      </p:graphicFrame>
      <p:pic>
        <p:nvPicPr>
          <p:cNvPr id="17" name="Picture 16" descr="_example_image.jpg"/>
          <p:cNvPicPr>
            <a:picLocks noChangeAspect="1"/>
          </p:cNvPicPr>
          <p:nvPr/>
        </p:nvPicPr>
        <p:blipFill>
          <a:blip r:embed="rId2"/>
          <a:srcRect/>
          <a:stretch>
            <a:fillRect/>
          </a:stretch>
        </p:blipFill>
        <p:spPr>
          <a:xfrm>
            <a:off x="7438292" y="1882952"/>
            <a:ext cx="1007892" cy="789546"/>
          </a:xfrm>
          <a:prstGeom prst="rect">
            <a:avLst/>
          </a:prstGeom>
        </p:spPr>
      </p:pic>
      <p:sp>
        <p:nvSpPr>
          <p:cNvPr id="18" name="Rounded Rectangle 17"/>
          <p:cNvSpPr/>
          <p:nvPr/>
        </p:nvSpPr>
        <p:spPr>
          <a:xfrm>
            <a:off x="7438292" y="1882952"/>
            <a:ext cx="1007892" cy="789546"/>
          </a:xfrm>
          <a:prstGeom prst="roundRect">
            <a:avLst/>
          </a:prstGeom>
          <a:noFill/>
          <a:ln w="15240">
            <a:solidFill>
              <a:srgbClr val="D73B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arallelogram 18"/>
          <p:cNvSpPr/>
          <p:nvPr/>
        </p:nvSpPr>
        <p:spPr>
          <a:xfrm>
            <a:off x="2180296" y="419690"/>
            <a:ext cx="2648871" cy="553946"/>
          </a:xfrm>
          <a:prstGeom prst="parallelogram">
            <a:avLst/>
          </a:prstGeom>
          <a:noFill/>
          <a:ln w="7100">
            <a:solidFill>
              <a:srgbClr val="3C3DB8"/>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5653589" y="5425632"/>
            <a:ext cx="958885" cy="898623"/>
          </a:xfrm>
          <a:custGeom>
            <a:avLst/>
            <a:gdLst/>
            <a:ahLst/>
            <a:cxnLst/>
            <a:rect l="l" t="t" r="r" b="b"/>
            <a:pathLst>
              <a:path w="958885" h="898623">
                <a:moveTo>
                  <a:pt x="0" y="436831"/>
                </a:moveTo>
                <a:lnTo>
                  <a:pt x="164969" y="0"/>
                </a:lnTo>
                <a:lnTo>
                  <a:pt x="340249" y="374426"/>
                </a:lnTo>
                <a:lnTo>
                  <a:pt x="515529" y="748852"/>
                </a:lnTo>
                <a:lnTo>
                  <a:pt x="701120" y="312022"/>
                </a:lnTo>
                <a:lnTo>
                  <a:pt x="958885" y="474273"/>
                </a:lnTo>
                <a:lnTo>
                  <a:pt x="958885" y="898623"/>
                </a:lnTo>
                <a:lnTo>
                  <a:pt x="0" y="898623"/>
                </a:lnTo>
                <a:close/>
              </a:path>
            </a:pathLst>
          </a:custGeom>
          <a:solidFill>
            <a:srgbClr val="827373"/>
          </a:solidFill>
          <a:ln w="25504">
            <a:solidFill>
              <a:srgbClr val="A4C0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ie 20"/>
          <p:cNvSpPr/>
          <p:nvPr/>
        </p:nvSpPr>
        <p:spPr>
          <a:xfrm>
            <a:off x="9651847" y="4955099"/>
            <a:ext cx="1498200" cy="1267367"/>
          </a:xfrm>
          <a:prstGeom prst="pie">
            <a:avLst/>
          </a:prstGeom>
          <a:solidFill>
            <a:srgbClr val="6D1DC5"/>
          </a:solidFill>
          <a:ln w="15949">
            <a:solidFill>
              <a:srgbClr val="32B58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21141" y="3072361"/>
            <a:ext cx="1151318" cy="2543402"/>
          </a:xfrm>
          <a:prstGeom prst="rect">
            <a:avLst/>
          </a:prstGeom>
          <a:noFill/>
        </p:spPr>
        <p:txBody>
          <a:bodyPr wrap="none" lIns="45125" tIns="45125" rIns="45125" bIns="45125">
            <a:spAutoFit/>
          </a:bodyPr>
          <a:lstStyle/>
          <a:p>
            <a:r>
              <a:rPr sz="4800" b="1" i="0" u="none">
                <a:solidFill>
                  <a:srgbClr val="B0D821"/>
                </a:solidFill>
                <a:latin typeface="Verdana"/>
              </a:rPr>
              <a:t>Kernel Gateway</a:t>
            </a:r>
          </a:p>
        </p:txBody>
      </p:sp>
      <p:cxnSp>
        <p:nvCxnSpPr>
          <p:cNvPr id="23" name="Connector 22"/>
          <p:cNvCxnSpPr/>
          <p:nvPr/>
        </p:nvCxnSpPr>
        <p:spPr>
          <a:xfrm flipV="1">
            <a:off x="1915891" y="3345404"/>
            <a:ext cx="1839851" cy="542122"/>
          </a:xfrm>
          <a:prstGeom prst="line">
            <a:avLst/>
          </a:prstGeom>
          <a:ln w="33901">
            <a:solidFill>
              <a:srgbClr val="C7D5D9"/>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24" name="Table 23"/>
          <p:cNvGraphicFramePr>
            <a:graphicFrameLocks noGrp="1"/>
          </p:cNvGraphicFramePr>
          <p:nvPr/>
        </p:nvGraphicFramePr>
        <p:xfrm>
          <a:off x="2605529" y="1309345"/>
          <a:ext cx="3064479" cy="1030482"/>
        </p:xfrm>
        <a:graphic>
          <a:graphicData uri="http://schemas.openxmlformats.org/drawingml/2006/table">
            <a:tbl>
              <a:tblPr firstRow="1" bandRow="1">
                <a:tableStyleId>{5C22544A-7EE6-4342-B048-85BDC9FD1C3A}</a:tableStyleId>
              </a:tblPr>
              <a:tblGrid>
                <a:gridCol w="510746">
                  <a:extLst>
                    <a:ext uri="{9D8B030D-6E8A-4147-A177-3AD203B41FA5}">
                      <a16:colId xmlns:a16="http://schemas.microsoft.com/office/drawing/2014/main" val="20000"/>
                    </a:ext>
                  </a:extLst>
                </a:gridCol>
                <a:gridCol w="510746">
                  <a:extLst>
                    <a:ext uri="{9D8B030D-6E8A-4147-A177-3AD203B41FA5}">
                      <a16:colId xmlns:a16="http://schemas.microsoft.com/office/drawing/2014/main" val="20001"/>
                    </a:ext>
                  </a:extLst>
                </a:gridCol>
                <a:gridCol w="510746">
                  <a:extLst>
                    <a:ext uri="{9D8B030D-6E8A-4147-A177-3AD203B41FA5}">
                      <a16:colId xmlns:a16="http://schemas.microsoft.com/office/drawing/2014/main" val="20002"/>
                    </a:ext>
                  </a:extLst>
                </a:gridCol>
                <a:gridCol w="510746">
                  <a:extLst>
                    <a:ext uri="{9D8B030D-6E8A-4147-A177-3AD203B41FA5}">
                      <a16:colId xmlns:a16="http://schemas.microsoft.com/office/drawing/2014/main" val="20003"/>
                    </a:ext>
                  </a:extLst>
                </a:gridCol>
                <a:gridCol w="510746">
                  <a:extLst>
                    <a:ext uri="{9D8B030D-6E8A-4147-A177-3AD203B41FA5}">
                      <a16:colId xmlns:a16="http://schemas.microsoft.com/office/drawing/2014/main" val="20004"/>
                    </a:ext>
                  </a:extLst>
                </a:gridCol>
                <a:gridCol w="510749">
                  <a:extLst>
                    <a:ext uri="{9D8B030D-6E8A-4147-A177-3AD203B41FA5}">
                      <a16:colId xmlns:a16="http://schemas.microsoft.com/office/drawing/2014/main" val="20005"/>
                    </a:ext>
                  </a:extLst>
                </a:gridCol>
              </a:tblGrid>
              <a:tr h="515241">
                <a:tc>
                  <a:txBody>
                    <a:bodyPr/>
                    <a:lstStyle/>
                    <a:p>
                      <a:r>
                        <a:rPr sz="1200" b="1">
                          <a:solidFill>
                            <a:srgbClr val="C6502A"/>
                          </a:solidFill>
                        </a:rPr>
                        <a:t>Cadence</a:t>
                      </a:r>
                    </a:p>
                  </a:txBody>
                  <a:tcPr>
                    <a:solidFill>
                      <a:srgbClr val="AEB5CF"/>
                    </a:solidFill>
                  </a:tcPr>
                </a:tc>
                <a:tc>
                  <a:txBody>
                    <a:bodyPr/>
                    <a:lstStyle/>
                    <a:p>
                      <a:r>
                        <a:rPr sz="1200" b="1">
                          <a:solidFill>
                            <a:srgbClr val="C6502A"/>
                          </a:solidFill>
                        </a:rPr>
                        <a:t>Orbit Memory</a:t>
                      </a:r>
                    </a:p>
                  </a:txBody>
                  <a:tcPr>
                    <a:solidFill>
                      <a:srgbClr val="AEB5CF"/>
                    </a:solidFill>
                  </a:tcPr>
                </a:tc>
                <a:tc>
                  <a:txBody>
                    <a:bodyPr/>
                    <a:lstStyle/>
                    <a:p>
                      <a:r>
                        <a:rPr sz="1200" b="1">
                          <a:solidFill>
                            <a:srgbClr val="C6502A"/>
                          </a:solidFill>
                        </a:rPr>
                        <a:t>North Column</a:t>
                      </a:r>
                    </a:p>
                  </a:txBody>
                  <a:tcPr>
                    <a:solidFill>
                      <a:srgbClr val="AEB5CF"/>
                    </a:solidFill>
                  </a:tcPr>
                </a:tc>
                <a:tc>
                  <a:txBody>
                    <a:bodyPr/>
                    <a:lstStyle/>
                    <a:p>
                      <a:r>
                        <a:rPr sz="1200" b="1">
                          <a:solidFill>
                            <a:srgbClr val="C6502A"/>
                          </a:solidFill>
                        </a:rPr>
                        <a:t>Format</a:t>
                      </a:r>
                    </a:p>
                  </a:txBody>
                  <a:tcPr>
                    <a:solidFill>
                      <a:srgbClr val="AEB5CF"/>
                    </a:solidFill>
                  </a:tcPr>
                </a:tc>
                <a:tc>
                  <a:txBody>
                    <a:bodyPr/>
                    <a:lstStyle/>
                    <a:p>
                      <a:r>
                        <a:rPr sz="1200" b="1">
                          <a:solidFill>
                            <a:srgbClr val="C6502A"/>
                          </a:solidFill>
                        </a:rPr>
                        <a:t>Adaptive</a:t>
                      </a:r>
                    </a:p>
                  </a:txBody>
                  <a:tcPr>
                    <a:solidFill>
                      <a:srgbClr val="AEB5CF"/>
                    </a:solidFill>
                  </a:tcPr>
                </a:tc>
                <a:tc>
                  <a:txBody>
                    <a:bodyPr/>
                    <a:lstStyle/>
                    <a:p>
                      <a:r>
                        <a:rPr sz="1200" b="1">
                          <a:solidFill>
                            <a:srgbClr val="C6502A"/>
                          </a:solidFill>
                        </a:rPr>
                        <a:t>Variant</a:t>
                      </a:r>
                    </a:p>
                  </a:txBody>
                  <a:tcPr>
                    <a:solidFill>
                      <a:srgbClr val="AEB5CF"/>
                    </a:solidFill>
                  </a:tcPr>
                </a:tc>
                <a:extLst>
                  <a:ext uri="{0D108BD9-81ED-4DB2-BD59-A6C34878D82A}">
                    <a16:rowId xmlns:a16="http://schemas.microsoft.com/office/drawing/2014/main" val="10000"/>
                  </a:ext>
                </a:extLst>
              </a:tr>
              <a:tr h="515241">
                <a:tc>
                  <a:txBody>
                    <a:bodyPr/>
                    <a:lstStyle/>
                    <a:p>
                      <a:r>
                        <a:rPr sz="1200" b="0">
                          <a:solidFill>
                            <a:srgbClr val="C6502A"/>
                          </a:solidFill>
                        </a:rPr>
                        <a:t>Device Process</a:t>
                      </a:r>
                    </a:p>
                  </a:txBody>
                  <a:tcPr>
                    <a:solidFill>
                      <a:srgbClr val="B6CEC3"/>
                    </a:solidFill>
                  </a:tcPr>
                </a:tc>
                <a:tc>
                  <a:txBody>
                    <a:bodyPr/>
                    <a:lstStyle/>
                    <a:p>
                      <a:r>
                        <a:rPr sz="1200" b="0">
                          <a:solidFill>
                            <a:srgbClr val="C6502A"/>
                          </a:solidFill>
                        </a:rPr>
                        <a:t>Analysis</a:t>
                      </a:r>
                    </a:p>
                  </a:txBody>
                  <a:tcPr>
                    <a:solidFill>
                      <a:srgbClr val="B6CEC3"/>
                    </a:solidFill>
                  </a:tcPr>
                </a:tc>
                <a:tc>
                  <a:txBody>
                    <a:bodyPr/>
                    <a:lstStyle/>
                    <a:p>
                      <a:r>
                        <a:rPr sz="1200" b="0">
                          <a:solidFill>
                            <a:srgbClr val="C6502A"/>
                          </a:solidFill>
                        </a:rPr>
                        <a:t>Snapshot Proof</a:t>
                      </a:r>
                    </a:p>
                  </a:txBody>
                  <a:tcPr>
                    <a:solidFill>
                      <a:srgbClr val="B6CEC3"/>
                    </a:solidFill>
                  </a:tcPr>
                </a:tc>
                <a:tc>
                  <a:txBody>
                    <a:bodyPr/>
                    <a:lstStyle/>
                    <a:p>
                      <a:r>
                        <a:rPr sz="1200" b="0">
                          <a:solidFill>
                            <a:srgbClr val="C6502A"/>
                          </a:solidFill>
                        </a:rPr>
                        <a:t>Model Volume</a:t>
                      </a:r>
                    </a:p>
                  </a:txBody>
                  <a:tcPr>
                    <a:solidFill>
                      <a:srgbClr val="B6CEC3"/>
                    </a:solidFill>
                  </a:tcPr>
                </a:tc>
                <a:tc>
                  <a:txBody>
                    <a:bodyPr/>
                    <a:lstStyle/>
                    <a:p>
                      <a:r>
                        <a:rPr sz="1200" b="0">
                          <a:solidFill>
                            <a:srgbClr val="C6502A"/>
                          </a:solidFill>
                        </a:rPr>
                        <a:t>Action</a:t>
                      </a:r>
                    </a:p>
                  </a:txBody>
                  <a:tcPr>
                    <a:solidFill>
                      <a:srgbClr val="B6CEC3"/>
                    </a:solidFill>
                  </a:tcPr>
                </a:tc>
                <a:tc>
                  <a:txBody>
                    <a:bodyPr/>
                    <a:lstStyle/>
                    <a:p>
                      <a:r>
                        <a:rPr sz="1200" b="0">
                          <a:solidFill>
                            <a:srgbClr val="C6502A"/>
                          </a:solidFill>
                        </a:rPr>
                        <a:t>Queueing Apex</a:t>
                      </a:r>
                    </a:p>
                  </a:txBody>
                  <a:tcPr>
                    <a:solidFill>
                      <a:srgbClr val="B6CEC3"/>
                    </a:solidFill>
                  </a:tcPr>
                </a:tc>
                <a:extLst>
                  <a:ext uri="{0D108BD9-81ED-4DB2-BD59-A6C34878D82A}">
                    <a16:rowId xmlns:a16="http://schemas.microsoft.com/office/drawing/2014/main" val="10001"/>
                  </a:ext>
                </a:extLst>
              </a:tr>
            </a:tbl>
          </a:graphicData>
        </a:graphic>
      </p:graphicFrame>
      <p:sp>
        <p:nvSpPr>
          <p:cNvPr id="25" name="Pentagon 24"/>
          <p:cNvSpPr/>
          <p:nvPr/>
        </p:nvSpPr>
        <p:spPr>
          <a:xfrm>
            <a:off x="9979632" y="3965119"/>
            <a:ext cx="1894710" cy="538599"/>
          </a:xfrm>
          <a:prstGeom prst="homePlate">
            <a:avLst/>
          </a:prstGeom>
          <a:noFill/>
          <a:ln w="12805">
            <a:solidFill>
              <a:srgbClr val="1996C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a:off x="296285" y="331586"/>
            <a:ext cx="1594958" cy="1899231"/>
          </a:xfrm>
          <a:prstGeom prst="curvedConnector3">
            <a:avLst/>
          </a:prstGeom>
          <a:ln w="11075">
            <a:solidFill>
              <a:srgbClr val="1FA5BA"/>
            </a:solidFill>
            <a:prstDash val="soli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840064" y="5005407"/>
            <a:ext cx="494711" cy="930647"/>
          </a:xfrm>
          <a:prstGeom prst="rect">
            <a:avLst/>
          </a:prstGeom>
          <a:noFill/>
        </p:spPr>
        <p:txBody>
          <a:bodyPr wrap="none" lIns="26231" tIns="26231" rIns="26231" bIns="26231">
            <a:spAutoFit/>
          </a:bodyPr>
          <a:lstStyle/>
          <a:p>
            <a:r>
              <a:rPr sz="1600" b="0" i="1" u="none">
                <a:solidFill>
                  <a:srgbClr val="BD7767"/>
                </a:solidFill>
                <a:latin typeface="Trebuchet MS"/>
              </a:rPr>
              <a:t>Model Program Stage Report Cluster Timeline</a:t>
            </a:r>
          </a:p>
        </p:txBody>
      </p:sp>
      <p:sp>
        <p:nvSpPr>
          <p:cNvPr id="28" name="TextBox 27"/>
          <p:cNvSpPr txBox="1"/>
          <p:nvPr/>
        </p:nvSpPr>
        <p:spPr>
          <a:xfrm>
            <a:off x="8806154" y="2061450"/>
            <a:ext cx="2989611" cy="1447336"/>
          </a:xfrm>
          <a:prstGeom prst="rect">
            <a:avLst/>
          </a:prstGeom>
          <a:noFill/>
        </p:spPr>
        <p:txBody>
          <a:bodyPr wrap="none" lIns="28164" tIns="28164" rIns="28164" bIns="28164">
            <a:spAutoFit/>
          </a:bodyPr>
          <a:lstStyle/>
          <a:p>
            <a:r>
              <a:rPr sz="5200" b="1" i="0" u="sng">
                <a:solidFill>
                  <a:srgbClr val="D26E92"/>
                </a:solidFill>
                <a:latin typeface="Aptos"/>
              </a:rPr>
              <a:t>Build Control Control Archive</a:t>
            </a:r>
          </a:p>
        </p:txBody>
      </p:sp>
      <p:pic>
        <p:nvPicPr>
          <p:cNvPr id="30" name="Graphic 29">
            <a:extLst>
              <a:ext uri="{FF2B5EF4-FFF2-40B4-BE49-F238E27FC236}">
                <a16:creationId xmlns:a16="http://schemas.microsoft.com/office/drawing/2014/main" id="{A0662687-B227-30FF-F5A4-FA81A02B7DFC}"/>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007102" y="3181490"/>
            <a:ext cx="980784" cy="756392"/>
          </a:xfrm>
          <a:prstGeom prst="rect">
            <a:avLst/>
          </a:prstGeom>
        </p:spPr>
      </p:pic>
      <p:pic>
        <p:nvPicPr>
          <p:cNvPr id="32" name="Graphic 31">
            <a:extLst>
              <a:ext uri="{FF2B5EF4-FFF2-40B4-BE49-F238E27FC236}">
                <a16:creationId xmlns:a16="http://schemas.microsoft.com/office/drawing/2014/main" id="{F0A54BF3-B708-E488-2724-06599908DFDF}"/>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579685" y="1198608"/>
            <a:ext cx="1085992" cy="1451411"/>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7893032" y="5612964"/>
          <a:ext cx="2307635" cy="975832"/>
        </p:xfrm>
        <a:graphic>
          <a:graphicData uri="http://schemas.openxmlformats.org/drawingml/2006/table">
            <a:tbl>
              <a:tblPr firstRow="1" bandRow="1">
                <a:tableStyleId>{5C22544A-7EE6-4342-B048-85BDC9FD1C3A}</a:tableStyleId>
              </a:tblPr>
              <a:tblGrid>
                <a:gridCol w="384605">
                  <a:extLst>
                    <a:ext uri="{9D8B030D-6E8A-4147-A177-3AD203B41FA5}">
                      <a16:colId xmlns:a16="http://schemas.microsoft.com/office/drawing/2014/main" val="20000"/>
                    </a:ext>
                  </a:extLst>
                </a:gridCol>
                <a:gridCol w="384605">
                  <a:extLst>
                    <a:ext uri="{9D8B030D-6E8A-4147-A177-3AD203B41FA5}">
                      <a16:colId xmlns:a16="http://schemas.microsoft.com/office/drawing/2014/main" val="20001"/>
                    </a:ext>
                  </a:extLst>
                </a:gridCol>
                <a:gridCol w="384605">
                  <a:extLst>
                    <a:ext uri="{9D8B030D-6E8A-4147-A177-3AD203B41FA5}">
                      <a16:colId xmlns:a16="http://schemas.microsoft.com/office/drawing/2014/main" val="20002"/>
                    </a:ext>
                  </a:extLst>
                </a:gridCol>
                <a:gridCol w="384605">
                  <a:extLst>
                    <a:ext uri="{9D8B030D-6E8A-4147-A177-3AD203B41FA5}">
                      <a16:colId xmlns:a16="http://schemas.microsoft.com/office/drawing/2014/main" val="20003"/>
                    </a:ext>
                  </a:extLst>
                </a:gridCol>
                <a:gridCol w="384605">
                  <a:extLst>
                    <a:ext uri="{9D8B030D-6E8A-4147-A177-3AD203B41FA5}">
                      <a16:colId xmlns:a16="http://schemas.microsoft.com/office/drawing/2014/main" val="20004"/>
                    </a:ext>
                  </a:extLst>
                </a:gridCol>
                <a:gridCol w="384610">
                  <a:extLst>
                    <a:ext uri="{9D8B030D-6E8A-4147-A177-3AD203B41FA5}">
                      <a16:colId xmlns:a16="http://schemas.microsoft.com/office/drawing/2014/main" val="20005"/>
                    </a:ext>
                  </a:extLst>
                </a:gridCol>
              </a:tblGrid>
              <a:tr h="162638">
                <a:tc>
                  <a:txBody>
                    <a:bodyPr/>
                    <a:lstStyle/>
                    <a:p>
                      <a:r>
                        <a:rPr sz="1300" b="1">
                          <a:solidFill>
                            <a:srgbClr val="71D84D"/>
                          </a:solidFill>
                        </a:rPr>
                        <a:t>Context Token</a:t>
                      </a:r>
                    </a:p>
                  </a:txBody>
                  <a:tcPr>
                    <a:solidFill>
                      <a:srgbClr val="3B8368"/>
                    </a:solidFill>
                  </a:tcPr>
                </a:tc>
                <a:tc>
                  <a:txBody>
                    <a:bodyPr/>
                    <a:lstStyle/>
                    <a:p>
                      <a:r>
                        <a:rPr sz="1300" b="1">
                          <a:solidFill>
                            <a:srgbClr val="71D84D"/>
                          </a:solidFill>
                        </a:rPr>
                        <a:t>Target Handle</a:t>
                      </a:r>
                    </a:p>
                  </a:txBody>
                  <a:tcPr>
                    <a:solidFill>
                      <a:srgbClr val="3B8368"/>
                    </a:solidFill>
                  </a:tcPr>
                </a:tc>
                <a:tc>
                  <a:txBody>
                    <a:bodyPr/>
                    <a:lstStyle/>
                    <a:p>
                      <a:r>
                        <a:rPr sz="1300" b="1">
                          <a:solidFill>
                            <a:srgbClr val="71D84D"/>
                          </a:solidFill>
                        </a:rPr>
                        <a:t>Compass</a:t>
                      </a:r>
                    </a:p>
                  </a:txBody>
                  <a:tcPr>
                    <a:solidFill>
                      <a:srgbClr val="3B8368"/>
                    </a:solidFill>
                  </a:tcPr>
                </a:tc>
                <a:tc>
                  <a:txBody>
                    <a:bodyPr/>
                    <a:lstStyle/>
                    <a:p>
                      <a:r>
                        <a:rPr sz="1300" b="1">
                          <a:solidFill>
                            <a:srgbClr val="71D84D"/>
                          </a:solidFill>
                        </a:rPr>
                        <a:t>Method</a:t>
                      </a:r>
                    </a:p>
                  </a:txBody>
                  <a:tcPr>
                    <a:solidFill>
                      <a:srgbClr val="3B8368"/>
                    </a:solidFill>
                  </a:tcPr>
                </a:tc>
                <a:tc>
                  <a:txBody>
                    <a:bodyPr/>
                    <a:lstStyle/>
                    <a:p>
                      <a:r>
                        <a:rPr sz="1300" b="1">
                          <a:solidFill>
                            <a:srgbClr val="71D84D"/>
                          </a:solidFill>
                        </a:rPr>
                        <a:t>Queueing</a:t>
                      </a:r>
                    </a:p>
                  </a:txBody>
                  <a:tcPr>
                    <a:solidFill>
                      <a:srgbClr val="3B8368"/>
                    </a:solidFill>
                  </a:tcPr>
                </a:tc>
                <a:tc>
                  <a:txBody>
                    <a:bodyPr/>
                    <a:lstStyle/>
                    <a:p>
                      <a:r>
                        <a:rPr sz="1300" b="1">
                          <a:solidFill>
                            <a:srgbClr val="71D84D"/>
                          </a:solidFill>
                        </a:rPr>
                        <a:t>Briefing</a:t>
                      </a:r>
                    </a:p>
                  </a:txBody>
                  <a:tcPr>
                    <a:solidFill>
                      <a:srgbClr val="3B8368"/>
                    </a:solidFill>
                  </a:tcPr>
                </a:tc>
                <a:extLst>
                  <a:ext uri="{0D108BD9-81ED-4DB2-BD59-A6C34878D82A}">
                    <a16:rowId xmlns:a16="http://schemas.microsoft.com/office/drawing/2014/main" val="10000"/>
                  </a:ext>
                </a:extLst>
              </a:tr>
              <a:tr h="162638">
                <a:tc>
                  <a:txBody>
                    <a:bodyPr/>
                    <a:lstStyle/>
                    <a:p>
                      <a:r>
                        <a:rPr sz="1300" b="0">
                          <a:solidFill>
                            <a:srgbClr val="71D84D"/>
                          </a:solidFill>
                        </a:rPr>
                        <a:t>Kernel</a:t>
                      </a:r>
                    </a:p>
                  </a:txBody>
                  <a:tcPr>
                    <a:solidFill>
                      <a:srgbClr val="F2F1BD"/>
                    </a:solidFill>
                  </a:tcPr>
                </a:tc>
                <a:tc>
                  <a:txBody>
                    <a:bodyPr/>
                    <a:lstStyle/>
                    <a:p>
                      <a:r>
                        <a:rPr sz="1300" b="0">
                          <a:solidFill>
                            <a:srgbClr val="71D84D"/>
                          </a:solidFill>
                        </a:rPr>
                        <a:t>Feature</a:t>
                      </a:r>
                    </a:p>
                  </a:txBody>
                  <a:tcPr>
                    <a:solidFill>
                      <a:srgbClr val="F2F1BD"/>
                    </a:solidFill>
                  </a:tcPr>
                </a:tc>
                <a:tc>
                  <a:txBody>
                    <a:bodyPr/>
                    <a:lstStyle/>
                    <a:p>
                      <a:r>
                        <a:rPr sz="1300" b="0">
                          <a:solidFill>
                            <a:srgbClr val="71D84D"/>
                          </a:solidFill>
                        </a:rPr>
                        <a:t>Node</a:t>
                      </a:r>
                    </a:p>
                  </a:txBody>
                  <a:tcPr>
                    <a:solidFill>
                      <a:srgbClr val="F2F1BD"/>
                    </a:solidFill>
                  </a:tcPr>
                </a:tc>
                <a:tc>
                  <a:txBody>
                    <a:bodyPr/>
                    <a:lstStyle/>
                    <a:p>
                      <a:r>
                        <a:rPr sz="1300" b="0">
                          <a:solidFill>
                            <a:srgbClr val="71D84D"/>
                          </a:solidFill>
                        </a:rPr>
                        <a:t>Reference</a:t>
                      </a:r>
                    </a:p>
                  </a:txBody>
                  <a:tcPr>
                    <a:solidFill>
                      <a:srgbClr val="F2F1BD"/>
                    </a:solidFill>
                  </a:tcPr>
                </a:tc>
                <a:tc>
                  <a:txBody>
                    <a:bodyPr/>
                    <a:lstStyle/>
                    <a:p>
                      <a:r>
                        <a:rPr sz="1300" b="0">
                          <a:solidFill>
                            <a:srgbClr val="71D84D"/>
                          </a:solidFill>
                        </a:rPr>
                        <a:t>Packet State</a:t>
                      </a:r>
                    </a:p>
                  </a:txBody>
                  <a:tcPr>
                    <a:solidFill>
                      <a:srgbClr val="F2F1BD"/>
                    </a:solidFill>
                  </a:tcPr>
                </a:tc>
                <a:tc>
                  <a:txBody>
                    <a:bodyPr/>
                    <a:lstStyle/>
                    <a:p>
                      <a:r>
                        <a:rPr sz="1300" b="0">
                          <a:solidFill>
                            <a:srgbClr val="71D84D"/>
                          </a:solidFill>
                        </a:rPr>
                        <a:t>Point Range</a:t>
                      </a:r>
                    </a:p>
                  </a:txBody>
                  <a:tcPr>
                    <a:solidFill>
                      <a:srgbClr val="F2F1BD"/>
                    </a:solidFill>
                  </a:tcPr>
                </a:tc>
                <a:extLst>
                  <a:ext uri="{0D108BD9-81ED-4DB2-BD59-A6C34878D82A}">
                    <a16:rowId xmlns:a16="http://schemas.microsoft.com/office/drawing/2014/main" val="10001"/>
                  </a:ext>
                </a:extLst>
              </a:tr>
              <a:tr h="162638">
                <a:tc>
                  <a:txBody>
                    <a:bodyPr/>
                    <a:lstStyle/>
                    <a:p>
                      <a:r>
                        <a:rPr sz="1300" b="0">
                          <a:solidFill>
                            <a:srgbClr val="71D84D"/>
                          </a:solidFill>
                        </a:rPr>
                        <a:t>Feature Deployment</a:t>
                      </a:r>
                    </a:p>
                  </a:txBody>
                  <a:tcPr>
                    <a:solidFill>
                      <a:srgbClr val="FCFBF0"/>
                    </a:solidFill>
                  </a:tcPr>
                </a:tc>
                <a:tc>
                  <a:txBody>
                    <a:bodyPr/>
                    <a:lstStyle/>
                    <a:p>
                      <a:r>
                        <a:rPr sz="1300" b="0">
                          <a:solidFill>
                            <a:srgbClr val="71D84D"/>
                          </a:solidFill>
                        </a:rPr>
                        <a:t>Workflow Source</a:t>
                      </a:r>
                    </a:p>
                  </a:txBody>
                  <a:tcPr>
                    <a:solidFill>
                      <a:srgbClr val="FCFBF0"/>
                    </a:solidFill>
                  </a:tcPr>
                </a:tc>
                <a:tc>
                  <a:txBody>
                    <a:bodyPr/>
                    <a:lstStyle/>
                    <a:p>
                      <a:r>
                        <a:rPr sz="1300" b="0">
                          <a:solidFill>
                            <a:srgbClr val="71D84D"/>
                          </a:solidFill>
                        </a:rPr>
                        <a:t>Object</a:t>
                      </a:r>
                    </a:p>
                  </a:txBody>
                  <a:tcPr>
                    <a:solidFill>
                      <a:srgbClr val="FCFBF0"/>
                    </a:solidFill>
                  </a:tcPr>
                </a:tc>
                <a:tc>
                  <a:txBody>
                    <a:bodyPr/>
                    <a:lstStyle/>
                    <a:p>
                      <a:r>
                        <a:rPr sz="1300" b="0">
                          <a:solidFill>
                            <a:srgbClr val="71D84D"/>
                          </a:solidFill>
                        </a:rPr>
                        <a:t>Tile</a:t>
                      </a:r>
                    </a:p>
                  </a:txBody>
                  <a:tcPr>
                    <a:solidFill>
                      <a:srgbClr val="FCFBF0"/>
                    </a:solidFill>
                  </a:tcPr>
                </a:tc>
                <a:tc>
                  <a:txBody>
                    <a:bodyPr/>
                    <a:lstStyle/>
                    <a:p>
                      <a:r>
                        <a:rPr sz="1300" b="0">
                          <a:solidFill>
                            <a:srgbClr val="71D84D"/>
                          </a:solidFill>
                        </a:rPr>
                        <a:t>Cell</a:t>
                      </a:r>
                    </a:p>
                  </a:txBody>
                  <a:tcPr>
                    <a:solidFill>
                      <a:srgbClr val="FCFBF0"/>
                    </a:solidFill>
                  </a:tcPr>
                </a:tc>
                <a:tc>
                  <a:txBody>
                    <a:bodyPr/>
                    <a:lstStyle/>
                    <a:p>
                      <a:r>
                        <a:rPr sz="1300" b="0">
                          <a:solidFill>
                            <a:srgbClr val="71D84D"/>
                          </a:solidFill>
                        </a:rPr>
                        <a:t>Loop</a:t>
                      </a:r>
                    </a:p>
                  </a:txBody>
                  <a:tcPr>
                    <a:solidFill>
                      <a:srgbClr val="FCFBF0"/>
                    </a:solidFill>
                  </a:tcPr>
                </a:tc>
                <a:extLst>
                  <a:ext uri="{0D108BD9-81ED-4DB2-BD59-A6C34878D82A}">
                    <a16:rowId xmlns:a16="http://schemas.microsoft.com/office/drawing/2014/main" val="10002"/>
                  </a:ext>
                </a:extLst>
              </a:tr>
              <a:tr h="162638">
                <a:tc>
                  <a:txBody>
                    <a:bodyPr/>
                    <a:lstStyle/>
                    <a:p>
                      <a:r>
                        <a:rPr sz="1300" b="0">
                          <a:solidFill>
                            <a:srgbClr val="71D84D"/>
                          </a:solidFill>
                        </a:rPr>
                        <a:t>Compass Density</a:t>
                      </a:r>
                    </a:p>
                  </a:txBody>
                  <a:tcPr>
                    <a:solidFill>
                      <a:srgbClr val="F2F1BD"/>
                    </a:solidFill>
                  </a:tcPr>
                </a:tc>
                <a:tc>
                  <a:txBody>
                    <a:bodyPr/>
                    <a:lstStyle/>
                    <a:p>
                      <a:r>
                        <a:rPr sz="1300" b="0">
                          <a:solidFill>
                            <a:srgbClr val="71D84D"/>
                          </a:solidFill>
                        </a:rPr>
                        <a:t>Dispatch</a:t>
                      </a:r>
                    </a:p>
                  </a:txBody>
                  <a:tcPr>
                    <a:solidFill>
                      <a:srgbClr val="F2F1BD"/>
                    </a:solidFill>
                  </a:tcPr>
                </a:tc>
                <a:tc>
                  <a:txBody>
                    <a:bodyPr/>
                    <a:lstStyle/>
                    <a:p>
                      <a:r>
                        <a:rPr sz="1300" b="0">
                          <a:solidFill>
                            <a:srgbClr val="71D84D"/>
                          </a:solidFill>
                        </a:rPr>
                        <a:t>Concept</a:t>
                      </a:r>
                    </a:p>
                  </a:txBody>
                  <a:tcPr>
                    <a:solidFill>
                      <a:srgbClr val="F2F1BD"/>
                    </a:solidFill>
                  </a:tcPr>
                </a:tc>
                <a:tc>
                  <a:txBody>
                    <a:bodyPr/>
                    <a:lstStyle/>
                    <a:p>
                      <a:r>
                        <a:rPr sz="1300" b="0">
                          <a:solidFill>
                            <a:srgbClr val="71D84D"/>
                          </a:solidFill>
                        </a:rPr>
                        <a:t>Node Level</a:t>
                      </a:r>
                    </a:p>
                  </a:txBody>
                  <a:tcPr>
                    <a:solidFill>
                      <a:srgbClr val="F2F1BD"/>
                    </a:solidFill>
                  </a:tcPr>
                </a:tc>
                <a:tc>
                  <a:txBody>
                    <a:bodyPr/>
                    <a:lstStyle/>
                    <a:p>
                      <a:r>
                        <a:rPr sz="1300" b="0">
                          <a:solidFill>
                            <a:srgbClr val="71D84D"/>
                          </a:solidFill>
                        </a:rPr>
                        <a:t>Level</a:t>
                      </a:r>
                    </a:p>
                  </a:txBody>
                  <a:tcPr>
                    <a:solidFill>
                      <a:srgbClr val="F2F1BD"/>
                    </a:solidFill>
                  </a:tcPr>
                </a:tc>
                <a:tc>
                  <a:txBody>
                    <a:bodyPr/>
                    <a:lstStyle/>
                    <a:p>
                      <a:r>
                        <a:rPr sz="1300" b="0">
                          <a:solidFill>
                            <a:srgbClr val="71D84D"/>
                          </a:solidFill>
                        </a:rPr>
                        <a:t>Horizon Engine</a:t>
                      </a:r>
                    </a:p>
                  </a:txBody>
                  <a:tcPr>
                    <a:solidFill>
                      <a:srgbClr val="F2F1BD"/>
                    </a:solidFill>
                  </a:tcPr>
                </a:tc>
                <a:extLst>
                  <a:ext uri="{0D108BD9-81ED-4DB2-BD59-A6C34878D82A}">
                    <a16:rowId xmlns:a16="http://schemas.microsoft.com/office/drawing/2014/main" val="10003"/>
                  </a:ext>
                </a:extLst>
              </a:tr>
              <a:tr h="162638">
                <a:tc>
                  <a:txBody>
                    <a:bodyPr/>
                    <a:lstStyle/>
                    <a:p>
                      <a:r>
                        <a:rPr sz="1300" b="0">
                          <a:solidFill>
                            <a:srgbClr val="71D84D"/>
                          </a:solidFill>
                        </a:rPr>
                        <a:t>Horizon Pulse</a:t>
                      </a:r>
                    </a:p>
                  </a:txBody>
                  <a:tcPr>
                    <a:solidFill>
                      <a:srgbClr val="FCFBF0"/>
                    </a:solidFill>
                  </a:tcPr>
                </a:tc>
                <a:tc>
                  <a:txBody>
                    <a:bodyPr/>
                    <a:lstStyle/>
                    <a:p>
                      <a:r>
                        <a:rPr sz="1300" b="0">
                          <a:solidFill>
                            <a:srgbClr val="71D84D"/>
                          </a:solidFill>
                        </a:rPr>
                        <a:t>Moment</a:t>
                      </a:r>
                    </a:p>
                  </a:txBody>
                  <a:tcPr>
                    <a:solidFill>
                      <a:srgbClr val="FCFBF0"/>
                    </a:solidFill>
                  </a:tcPr>
                </a:tc>
                <a:tc>
                  <a:txBody>
                    <a:bodyPr/>
                    <a:lstStyle/>
                    <a:p>
                      <a:r>
                        <a:rPr sz="1300" b="0">
                          <a:solidFill>
                            <a:srgbClr val="71D84D"/>
                          </a:solidFill>
                        </a:rPr>
                        <a:t>Access</a:t>
                      </a:r>
                    </a:p>
                  </a:txBody>
                  <a:tcPr>
                    <a:solidFill>
                      <a:srgbClr val="FCFBF0"/>
                    </a:solidFill>
                  </a:tcPr>
                </a:tc>
                <a:tc>
                  <a:txBody>
                    <a:bodyPr/>
                    <a:lstStyle/>
                    <a:p>
                      <a:r>
                        <a:rPr sz="1300" b="0">
                          <a:solidFill>
                            <a:srgbClr val="71D84D"/>
                          </a:solidFill>
                        </a:rPr>
                        <a:t>Interface Summary</a:t>
                      </a:r>
                    </a:p>
                  </a:txBody>
                  <a:tcPr>
                    <a:solidFill>
                      <a:srgbClr val="FCFBF0"/>
                    </a:solidFill>
                  </a:tcPr>
                </a:tc>
                <a:tc>
                  <a:txBody>
                    <a:bodyPr/>
                    <a:lstStyle/>
                    <a:p>
                      <a:r>
                        <a:rPr sz="1300" b="0">
                          <a:solidFill>
                            <a:srgbClr val="71D84D"/>
                          </a:solidFill>
                        </a:rPr>
                        <a:t>Bridge</a:t>
                      </a:r>
                    </a:p>
                  </a:txBody>
                  <a:tcPr>
                    <a:solidFill>
                      <a:srgbClr val="FCFBF0"/>
                    </a:solidFill>
                  </a:tcPr>
                </a:tc>
                <a:tc>
                  <a:txBody>
                    <a:bodyPr/>
                    <a:lstStyle/>
                    <a:p>
                      <a:r>
                        <a:rPr sz="1300" b="0">
                          <a:solidFill>
                            <a:srgbClr val="71D84D"/>
                          </a:solidFill>
                        </a:rPr>
                        <a:t>Feature</a:t>
                      </a:r>
                    </a:p>
                  </a:txBody>
                  <a:tcPr>
                    <a:solidFill>
                      <a:srgbClr val="FCFBF0"/>
                    </a:solidFill>
                  </a:tcPr>
                </a:tc>
                <a:extLst>
                  <a:ext uri="{0D108BD9-81ED-4DB2-BD59-A6C34878D82A}">
                    <a16:rowId xmlns:a16="http://schemas.microsoft.com/office/drawing/2014/main" val="10004"/>
                  </a:ext>
                </a:extLst>
              </a:tr>
              <a:tr h="162642">
                <a:tc>
                  <a:txBody>
                    <a:bodyPr/>
                    <a:lstStyle/>
                    <a:p>
                      <a:r>
                        <a:rPr sz="1300" b="0">
                          <a:solidFill>
                            <a:srgbClr val="71D84D"/>
                          </a:solidFill>
                        </a:rPr>
                        <a:t>Link</a:t>
                      </a:r>
                    </a:p>
                  </a:txBody>
                  <a:tcPr>
                    <a:solidFill>
                      <a:srgbClr val="F2F1BD"/>
                    </a:solidFill>
                  </a:tcPr>
                </a:tc>
                <a:tc>
                  <a:txBody>
                    <a:bodyPr/>
                    <a:lstStyle/>
                    <a:p>
                      <a:r>
                        <a:rPr sz="1300" b="0">
                          <a:solidFill>
                            <a:srgbClr val="71D84D"/>
                          </a:solidFill>
                        </a:rPr>
                        <a:t>Signal Delta</a:t>
                      </a:r>
                    </a:p>
                  </a:txBody>
                  <a:tcPr>
                    <a:solidFill>
                      <a:srgbClr val="F2F1BD"/>
                    </a:solidFill>
                  </a:tcPr>
                </a:tc>
                <a:tc>
                  <a:txBody>
                    <a:bodyPr/>
                    <a:lstStyle/>
                    <a:p>
                      <a:r>
                        <a:rPr sz="1300" b="0">
                          <a:solidFill>
                            <a:srgbClr val="71D84D"/>
                          </a:solidFill>
                        </a:rPr>
                        <a:t>Edge Needle</a:t>
                      </a:r>
                    </a:p>
                  </a:txBody>
                  <a:tcPr>
                    <a:solidFill>
                      <a:srgbClr val="F2F1BD"/>
                    </a:solidFill>
                  </a:tcPr>
                </a:tc>
                <a:tc>
                  <a:txBody>
                    <a:bodyPr/>
                    <a:lstStyle/>
                    <a:p>
                      <a:r>
                        <a:rPr sz="1300" b="0">
                          <a:solidFill>
                            <a:srgbClr val="71D84D"/>
                          </a:solidFill>
                        </a:rPr>
                        <a:t>Drift Resource</a:t>
                      </a:r>
                    </a:p>
                  </a:txBody>
                  <a:tcPr>
                    <a:solidFill>
                      <a:srgbClr val="F2F1BD"/>
                    </a:solidFill>
                  </a:tcPr>
                </a:tc>
                <a:tc>
                  <a:txBody>
                    <a:bodyPr/>
                    <a:lstStyle/>
                    <a:p>
                      <a:r>
                        <a:rPr sz="1300" b="0">
                          <a:solidFill>
                            <a:srgbClr val="71D84D"/>
                          </a:solidFill>
                        </a:rPr>
                        <a:t>Channel</a:t>
                      </a:r>
                    </a:p>
                  </a:txBody>
                  <a:tcPr>
                    <a:solidFill>
                      <a:srgbClr val="F2F1BD"/>
                    </a:solidFill>
                  </a:tcPr>
                </a:tc>
                <a:tc>
                  <a:txBody>
                    <a:bodyPr/>
                    <a:lstStyle/>
                    <a:p>
                      <a:r>
                        <a:rPr sz="1300" b="0">
                          <a:solidFill>
                            <a:srgbClr val="71D84D"/>
                          </a:solidFill>
                        </a:rPr>
                        <a:t>Foundation Iteration</a:t>
                      </a:r>
                    </a:p>
                  </a:txBody>
                  <a:tcPr>
                    <a:solidFill>
                      <a:srgbClr val="F2F1BD"/>
                    </a:solidFill>
                  </a:tcPr>
                </a:tc>
                <a:extLst>
                  <a:ext uri="{0D108BD9-81ED-4DB2-BD59-A6C34878D82A}">
                    <a16:rowId xmlns:a16="http://schemas.microsoft.com/office/drawing/2014/main" val="10005"/>
                  </a:ext>
                </a:extLst>
              </a:tr>
            </a:tbl>
          </a:graphicData>
        </a:graphic>
      </p:graphicFrame>
      <p:sp>
        <p:nvSpPr>
          <p:cNvPr id="3" name="Oval Callout 2"/>
          <p:cNvSpPr/>
          <p:nvPr/>
        </p:nvSpPr>
        <p:spPr>
          <a:xfrm>
            <a:off x="337554" y="3582341"/>
            <a:ext cx="2445391" cy="915570"/>
          </a:xfrm>
          <a:prstGeom prst="wedgeEllipseCallout">
            <a:avLst/>
          </a:prstGeom>
          <a:noFill/>
          <a:ln w="11244">
            <a:solidFill>
              <a:srgbClr val="1EB53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2981724" y="3805731"/>
            <a:ext cx="1325111" cy="817810"/>
          </a:xfrm>
          <a:prstGeom prst="line">
            <a:avLst/>
          </a:prstGeom>
          <a:ln w="14029">
            <a:solidFill>
              <a:srgbClr val="844659"/>
            </a:solidFill>
            <a:prstDash val="dot"/>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289523" y="600563"/>
            <a:ext cx="846497" cy="1161462"/>
          </a:xfrm>
          <a:prstGeom prst="rect">
            <a:avLst/>
          </a:prstGeom>
          <a:noFill/>
        </p:spPr>
        <p:txBody>
          <a:bodyPr wrap="none" lIns="21905" tIns="21905" rIns="21905" bIns="21905">
            <a:spAutoFit/>
          </a:bodyPr>
          <a:lstStyle/>
          <a:p>
            <a:r>
              <a:rPr sz="2500" b="0" i="1" u="none">
                <a:solidFill>
                  <a:srgbClr val="B44259"/>
                </a:solidFill>
                <a:latin typeface="Trebuchet MS"/>
              </a:rPr>
              <a:t>Narrative Table Dimension Duration Concept Asset Sequence</a:t>
            </a:r>
          </a:p>
        </p:txBody>
      </p:sp>
      <p:sp>
        <p:nvSpPr>
          <p:cNvPr id="6" name="TextBox 5"/>
          <p:cNvSpPr txBox="1"/>
          <p:nvPr/>
        </p:nvSpPr>
        <p:spPr>
          <a:xfrm>
            <a:off x="7105396" y="3021766"/>
            <a:ext cx="2597503" cy="1055188"/>
          </a:xfrm>
          <a:prstGeom prst="rect">
            <a:avLst/>
          </a:prstGeom>
          <a:noFill/>
        </p:spPr>
        <p:txBody>
          <a:bodyPr wrap="none" lIns="27185" tIns="27185" rIns="27185" bIns="27185">
            <a:spAutoFit/>
          </a:bodyPr>
          <a:lstStyle/>
          <a:p>
            <a:r>
              <a:rPr sz="4500" b="1" i="0" u="none">
                <a:solidFill>
                  <a:srgbClr val="9C903B"/>
                </a:solidFill>
                <a:latin typeface="Georgia"/>
              </a:rPr>
              <a:t>Limit Signal Dimension Method Strategy</a:t>
            </a:r>
          </a:p>
        </p:txBody>
      </p:sp>
      <p:sp>
        <p:nvSpPr>
          <p:cNvPr id="7" name="TextBox 6"/>
          <p:cNvSpPr txBox="1"/>
          <p:nvPr/>
        </p:nvSpPr>
        <p:spPr>
          <a:xfrm>
            <a:off x="4699948" y="2041360"/>
            <a:ext cx="1508318" cy="1703380"/>
          </a:xfrm>
          <a:prstGeom prst="rect">
            <a:avLst/>
          </a:prstGeom>
          <a:noFill/>
        </p:spPr>
        <p:txBody>
          <a:bodyPr wrap="none" lIns="67098" tIns="67098" rIns="67098" bIns="67098">
            <a:spAutoFit/>
          </a:bodyPr>
          <a:lstStyle/>
          <a:p>
            <a:r>
              <a:rPr sz="1700" b="0" i="0" u="none">
                <a:solidFill>
                  <a:srgbClr val="B736B9"/>
                </a:solidFill>
                <a:latin typeface="Calibri"/>
              </a:rPr>
              <a:t>Vertex Keyline View Order Data Scope Strategy Concept</a:t>
            </a:r>
          </a:p>
        </p:txBody>
      </p:sp>
      <p:sp>
        <p:nvSpPr>
          <p:cNvPr id="8" name="Cloud Callout 7"/>
          <p:cNvSpPr/>
          <p:nvPr/>
        </p:nvSpPr>
        <p:spPr>
          <a:xfrm>
            <a:off x="6850898" y="4550836"/>
            <a:ext cx="378614" cy="469265"/>
          </a:xfrm>
          <a:prstGeom prst="cloudCallout">
            <a:avLst/>
          </a:prstGeom>
          <a:solidFill>
            <a:srgbClr val="C47031"/>
          </a:solidFill>
          <a:ln w="10503">
            <a:solidFill>
              <a:srgbClr val="596EA6"/>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p:cNvCxnSpPr/>
          <p:nvPr/>
        </p:nvCxnSpPr>
        <p:spPr>
          <a:xfrm>
            <a:off x="11094392" y="4460980"/>
            <a:ext cx="887775" cy="1190756"/>
          </a:xfrm>
          <a:prstGeom prst="bentConnector3">
            <a:avLst/>
          </a:prstGeom>
          <a:ln w="7932">
            <a:solidFill>
              <a:srgbClr val="E55ECC"/>
            </a:solidFill>
            <a:prstDash val="lgDash"/>
          </a:ln>
        </p:spPr>
        <p:style>
          <a:lnRef idx="2">
            <a:schemeClr val="accent1"/>
          </a:lnRef>
          <a:fillRef idx="0">
            <a:schemeClr val="accent1"/>
          </a:fillRef>
          <a:effectRef idx="1">
            <a:schemeClr val="accent1"/>
          </a:effectRef>
          <a:fontRef idx="minor">
            <a:schemeClr val="tx1"/>
          </a:fontRef>
        </p:style>
      </p:cxnSp>
      <p:sp>
        <p:nvSpPr>
          <p:cNvPr id="10" name="Cloud Callout 9"/>
          <p:cNvSpPr/>
          <p:nvPr/>
        </p:nvSpPr>
        <p:spPr>
          <a:xfrm>
            <a:off x="7092959" y="300424"/>
            <a:ext cx="2711623" cy="1143881"/>
          </a:xfrm>
          <a:prstGeom prst="cloudCallout">
            <a:avLst/>
          </a:prstGeom>
          <a:solidFill>
            <a:srgbClr val="BFCBB5"/>
          </a:solidFill>
          <a:ln w="22492">
            <a:solidFill>
              <a:srgbClr val="729B1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1" name="Table 10"/>
          <p:cNvGraphicFramePr>
            <a:graphicFrameLocks noGrp="1"/>
          </p:cNvGraphicFramePr>
          <p:nvPr/>
        </p:nvGraphicFramePr>
        <p:xfrm>
          <a:off x="2215400" y="1005389"/>
          <a:ext cx="2585602" cy="945519"/>
        </p:xfrm>
        <a:graphic>
          <a:graphicData uri="http://schemas.openxmlformats.org/drawingml/2006/table">
            <a:tbl>
              <a:tblPr firstRow="1" bandRow="1">
                <a:tableStyleId>{5C22544A-7EE6-4342-B048-85BDC9FD1C3A}</a:tableStyleId>
              </a:tblPr>
              <a:tblGrid>
                <a:gridCol w="646400">
                  <a:extLst>
                    <a:ext uri="{9D8B030D-6E8A-4147-A177-3AD203B41FA5}">
                      <a16:colId xmlns:a16="http://schemas.microsoft.com/office/drawing/2014/main" val="20000"/>
                    </a:ext>
                  </a:extLst>
                </a:gridCol>
                <a:gridCol w="646400">
                  <a:extLst>
                    <a:ext uri="{9D8B030D-6E8A-4147-A177-3AD203B41FA5}">
                      <a16:colId xmlns:a16="http://schemas.microsoft.com/office/drawing/2014/main" val="20001"/>
                    </a:ext>
                  </a:extLst>
                </a:gridCol>
                <a:gridCol w="646400">
                  <a:extLst>
                    <a:ext uri="{9D8B030D-6E8A-4147-A177-3AD203B41FA5}">
                      <a16:colId xmlns:a16="http://schemas.microsoft.com/office/drawing/2014/main" val="20002"/>
                    </a:ext>
                  </a:extLst>
                </a:gridCol>
                <a:gridCol w="646402">
                  <a:extLst>
                    <a:ext uri="{9D8B030D-6E8A-4147-A177-3AD203B41FA5}">
                      <a16:colId xmlns:a16="http://schemas.microsoft.com/office/drawing/2014/main" val="20003"/>
                    </a:ext>
                  </a:extLst>
                </a:gridCol>
              </a:tblGrid>
              <a:tr h="157586">
                <a:tc>
                  <a:txBody>
                    <a:bodyPr/>
                    <a:lstStyle/>
                    <a:p>
                      <a:r>
                        <a:rPr sz="1000" b="0">
                          <a:solidFill>
                            <a:srgbClr val="A27D44"/>
                          </a:solidFill>
                        </a:rPr>
                        <a:t>Segment</a:t>
                      </a:r>
                    </a:p>
                  </a:txBody>
                  <a:tcPr>
                    <a:solidFill>
                      <a:srgbClr val="F8FAF6"/>
                    </a:solidFill>
                  </a:tcPr>
                </a:tc>
                <a:tc>
                  <a:txBody>
                    <a:bodyPr/>
                    <a:lstStyle/>
                    <a:p>
                      <a:r>
                        <a:rPr sz="1000" b="0">
                          <a:solidFill>
                            <a:srgbClr val="A27D44"/>
                          </a:solidFill>
                        </a:rPr>
                        <a:t>Table Estimate</a:t>
                      </a:r>
                    </a:p>
                  </a:txBody>
                  <a:tcPr>
                    <a:solidFill>
                      <a:srgbClr val="F8FAF6"/>
                    </a:solidFill>
                  </a:tcPr>
                </a:tc>
                <a:tc>
                  <a:txBody>
                    <a:bodyPr/>
                    <a:lstStyle/>
                    <a:p>
                      <a:r>
                        <a:rPr sz="1000" b="0">
                          <a:solidFill>
                            <a:srgbClr val="A27D44"/>
                          </a:solidFill>
                        </a:rPr>
                        <a:t>Checkpoint Focus</a:t>
                      </a:r>
                    </a:p>
                  </a:txBody>
                  <a:tcPr>
                    <a:solidFill>
                      <a:srgbClr val="F8FAF6"/>
                    </a:solidFill>
                  </a:tcPr>
                </a:tc>
                <a:tc>
                  <a:txBody>
                    <a:bodyPr/>
                    <a:lstStyle/>
                    <a:p>
                      <a:r>
                        <a:rPr sz="1000" b="0">
                          <a:solidFill>
                            <a:srgbClr val="A27D44"/>
                          </a:solidFill>
                        </a:rPr>
                        <a:t>State</a:t>
                      </a:r>
                    </a:p>
                  </a:txBody>
                  <a:tcPr>
                    <a:solidFill>
                      <a:srgbClr val="F8FAF6"/>
                    </a:solidFill>
                  </a:tcPr>
                </a:tc>
                <a:extLst>
                  <a:ext uri="{0D108BD9-81ED-4DB2-BD59-A6C34878D82A}">
                    <a16:rowId xmlns:a16="http://schemas.microsoft.com/office/drawing/2014/main" val="10000"/>
                  </a:ext>
                </a:extLst>
              </a:tr>
              <a:tr h="157586">
                <a:tc>
                  <a:txBody>
                    <a:bodyPr/>
                    <a:lstStyle/>
                    <a:p>
                      <a:r>
                        <a:rPr sz="1000" b="0">
                          <a:solidFill>
                            <a:srgbClr val="A27D44"/>
                          </a:solidFill>
                        </a:rPr>
                        <a:t>Deck Span</a:t>
                      </a:r>
                    </a:p>
                  </a:txBody>
                  <a:tcPr>
                    <a:solidFill>
                      <a:srgbClr val="DFE9D7"/>
                    </a:solidFill>
                  </a:tcPr>
                </a:tc>
                <a:tc>
                  <a:txBody>
                    <a:bodyPr/>
                    <a:lstStyle/>
                    <a:p>
                      <a:r>
                        <a:rPr sz="1000" b="0">
                          <a:solidFill>
                            <a:srgbClr val="A27D44"/>
                          </a:solidFill>
                        </a:rPr>
                        <a:t>Function</a:t>
                      </a:r>
                    </a:p>
                  </a:txBody>
                  <a:tcPr>
                    <a:solidFill>
                      <a:srgbClr val="DFE9D7"/>
                    </a:solidFill>
                  </a:tcPr>
                </a:tc>
                <a:tc>
                  <a:txBody>
                    <a:bodyPr/>
                    <a:lstStyle/>
                    <a:p>
                      <a:r>
                        <a:rPr sz="1000" b="0">
                          <a:solidFill>
                            <a:srgbClr val="A27D44"/>
                          </a:solidFill>
                        </a:rPr>
                        <a:t>Circuit</a:t>
                      </a:r>
                    </a:p>
                  </a:txBody>
                  <a:tcPr>
                    <a:solidFill>
                      <a:srgbClr val="DFE9D7"/>
                    </a:solidFill>
                  </a:tcPr>
                </a:tc>
                <a:tc>
                  <a:txBody>
                    <a:bodyPr/>
                    <a:lstStyle/>
                    <a:p>
                      <a:r>
                        <a:rPr sz="1000" b="0">
                          <a:solidFill>
                            <a:srgbClr val="A27D44"/>
                          </a:solidFill>
                        </a:rPr>
                        <a:t>Summary</a:t>
                      </a:r>
                    </a:p>
                  </a:txBody>
                  <a:tcPr>
                    <a:solidFill>
                      <a:srgbClr val="DFE9D7"/>
                    </a:solidFill>
                  </a:tcPr>
                </a:tc>
                <a:extLst>
                  <a:ext uri="{0D108BD9-81ED-4DB2-BD59-A6C34878D82A}">
                    <a16:rowId xmlns:a16="http://schemas.microsoft.com/office/drawing/2014/main" val="10001"/>
                  </a:ext>
                </a:extLst>
              </a:tr>
              <a:tr h="157586">
                <a:tc>
                  <a:txBody>
                    <a:bodyPr/>
                    <a:lstStyle/>
                    <a:p>
                      <a:r>
                        <a:rPr sz="1000" b="0">
                          <a:solidFill>
                            <a:srgbClr val="A27D44"/>
                          </a:solidFill>
                        </a:rPr>
                        <a:t>Stack</a:t>
                      </a:r>
                    </a:p>
                  </a:txBody>
                  <a:tcPr>
                    <a:solidFill>
                      <a:srgbClr val="F8FAF6"/>
                    </a:solidFill>
                  </a:tcPr>
                </a:tc>
                <a:tc>
                  <a:txBody>
                    <a:bodyPr/>
                    <a:lstStyle/>
                    <a:p>
                      <a:r>
                        <a:rPr sz="1000" b="0">
                          <a:solidFill>
                            <a:srgbClr val="A27D44"/>
                          </a:solidFill>
                        </a:rPr>
                        <a:t>Gateway Trend</a:t>
                      </a:r>
                    </a:p>
                  </a:txBody>
                  <a:tcPr>
                    <a:solidFill>
                      <a:srgbClr val="F8FAF6"/>
                    </a:solidFill>
                  </a:tcPr>
                </a:tc>
                <a:tc>
                  <a:txBody>
                    <a:bodyPr/>
                    <a:lstStyle/>
                    <a:p>
                      <a:r>
                        <a:rPr sz="1000" b="0">
                          <a:solidFill>
                            <a:srgbClr val="A27D44"/>
                          </a:solidFill>
                        </a:rPr>
                        <a:t>Trace</a:t>
                      </a:r>
                    </a:p>
                  </a:txBody>
                  <a:tcPr>
                    <a:solidFill>
                      <a:srgbClr val="F8FAF6"/>
                    </a:solidFill>
                  </a:tcPr>
                </a:tc>
                <a:tc>
                  <a:txBody>
                    <a:bodyPr/>
                    <a:lstStyle/>
                    <a:p>
                      <a:r>
                        <a:rPr sz="1000" b="0">
                          <a:solidFill>
                            <a:srgbClr val="A27D44"/>
                          </a:solidFill>
                        </a:rPr>
                        <a:t>Graph Archive</a:t>
                      </a:r>
                    </a:p>
                  </a:txBody>
                  <a:tcPr>
                    <a:solidFill>
                      <a:srgbClr val="F8FAF6"/>
                    </a:solidFill>
                  </a:tcPr>
                </a:tc>
                <a:extLst>
                  <a:ext uri="{0D108BD9-81ED-4DB2-BD59-A6C34878D82A}">
                    <a16:rowId xmlns:a16="http://schemas.microsoft.com/office/drawing/2014/main" val="10002"/>
                  </a:ext>
                </a:extLst>
              </a:tr>
              <a:tr h="157586">
                <a:tc>
                  <a:txBody>
                    <a:bodyPr/>
                    <a:lstStyle/>
                    <a:p>
                      <a:r>
                        <a:rPr sz="1000" b="0">
                          <a:solidFill>
                            <a:srgbClr val="A27D44"/>
                          </a:solidFill>
                        </a:rPr>
                        <a:t>Ratio Package</a:t>
                      </a:r>
                    </a:p>
                  </a:txBody>
                  <a:tcPr>
                    <a:solidFill>
                      <a:srgbClr val="DFE9D7"/>
                    </a:solidFill>
                  </a:tcPr>
                </a:tc>
                <a:tc>
                  <a:txBody>
                    <a:bodyPr/>
                    <a:lstStyle/>
                    <a:p>
                      <a:r>
                        <a:rPr sz="1000" b="0">
                          <a:solidFill>
                            <a:srgbClr val="A27D44"/>
                          </a:solidFill>
                        </a:rPr>
                        <a:t>Baseline Coverage</a:t>
                      </a:r>
                    </a:p>
                  </a:txBody>
                  <a:tcPr>
                    <a:solidFill>
                      <a:srgbClr val="DFE9D7"/>
                    </a:solidFill>
                  </a:tcPr>
                </a:tc>
                <a:tc>
                  <a:txBody>
                    <a:bodyPr/>
                    <a:lstStyle/>
                    <a:p>
                      <a:r>
                        <a:rPr sz="1000" b="0">
                          <a:solidFill>
                            <a:srgbClr val="A27D44"/>
                          </a:solidFill>
                        </a:rPr>
                        <a:t>Energy Method</a:t>
                      </a:r>
                    </a:p>
                  </a:txBody>
                  <a:tcPr>
                    <a:solidFill>
                      <a:srgbClr val="DFE9D7"/>
                    </a:solidFill>
                  </a:tcPr>
                </a:tc>
                <a:tc>
                  <a:txBody>
                    <a:bodyPr/>
                    <a:lstStyle/>
                    <a:p>
                      <a:r>
                        <a:rPr sz="1000" b="0">
                          <a:solidFill>
                            <a:srgbClr val="A27D44"/>
                          </a:solidFill>
                        </a:rPr>
                        <a:t>Reference Transit</a:t>
                      </a:r>
                    </a:p>
                  </a:txBody>
                  <a:tcPr>
                    <a:solidFill>
                      <a:srgbClr val="DFE9D7"/>
                    </a:solidFill>
                  </a:tcPr>
                </a:tc>
                <a:extLst>
                  <a:ext uri="{0D108BD9-81ED-4DB2-BD59-A6C34878D82A}">
                    <a16:rowId xmlns:a16="http://schemas.microsoft.com/office/drawing/2014/main" val="10003"/>
                  </a:ext>
                </a:extLst>
              </a:tr>
              <a:tr h="157586">
                <a:tc>
                  <a:txBody>
                    <a:bodyPr/>
                    <a:lstStyle/>
                    <a:p>
                      <a:r>
                        <a:rPr sz="1000" b="0">
                          <a:solidFill>
                            <a:srgbClr val="A27D44"/>
                          </a:solidFill>
                        </a:rPr>
                        <a:t>Schema Frequency</a:t>
                      </a:r>
                    </a:p>
                  </a:txBody>
                  <a:tcPr>
                    <a:solidFill>
                      <a:srgbClr val="F8FAF6"/>
                    </a:solidFill>
                  </a:tcPr>
                </a:tc>
                <a:tc>
                  <a:txBody>
                    <a:bodyPr/>
                    <a:lstStyle/>
                    <a:p>
                      <a:r>
                        <a:rPr sz="1000" b="0">
                          <a:solidFill>
                            <a:srgbClr val="A27D44"/>
                          </a:solidFill>
                        </a:rPr>
                        <a:t>Velocity Frame</a:t>
                      </a:r>
                    </a:p>
                  </a:txBody>
                  <a:tcPr>
                    <a:solidFill>
                      <a:srgbClr val="F8FAF6"/>
                    </a:solidFill>
                  </a:tcPr>
                </a:tc>
                <a:tc>
                  <a:txBody>
                    <a:bodyPr/>
                    <a:lstStyle/>
                    <a:p>
                      <a:r>
                        <a:rPr sz="1000" b="0">
                          <a:solidFill>
                            <a:srgbClr val="A27D44"/>
                          </a:solidFill>
                        </a:rPr>
                        <a:t>Density</a:t>
                      </a:r>
                    </a:p>
                  </a:txBody>
                  <a:tcPr>
                    <a:solidFill>
                      <a:srgbClr val="F8FAF6"/>
                    </a:solidFill>
                  </a:tcPr>
                </a:tc>
                <a:tc>
                  <a:txBody>
                    <a:bodyPr/>
                    <a:lstStyle/>
                    <a:p>
                      <a:r>
                        <a:rPr sz="1000" b="0">
                          <a:solidFill>
                            <a:srgbClr val="A27D44"/>
                          </a:solidFill>
                        </a:rPr>
                        <a:t>Capacity Diagram</a:t>
                      </a:r>
                    </a:p>
                  </a:txBody>
                  <a:tcPr>
                    <a:solidFill>
                      <a:srgbClr val="F8FAF6"/>
                    </a:solidFill>
                  </a:tcPr>
                </a:tc>
                <a:extLst>
                  <a:ext uri="{0D108BD9-81ED-4DB2-BD59-A6C34878D82A}">
                    <a16:rowId xmlns:a16="http://schemas.microsoft.com/office/drawing/2014/main" val="10004"/>
                  </a:ext>
                </a:extLst>
              </a:tr>
              <a:tr h="157589">
                <a:tc>
                  <a:txBody>
                    <a:bodyPr/>
                    <a:lstStyle/>
                    <a:p>
                      <a:r>
                        <a:rPr sz="1000" b="0">
                          <a:solidFill>
                            <a:srgbClr val="A27D44"/>
                          </a:solidFill>
                        </a:rPr>
                        <a:t>Story Gradient</a:t>
                      </a:r>
                    </a:p>
                  </a:txBody>
                  <a:tcPr>
                    <a:solidFill>
                      <a:srgbClr val="DFE9D7"/>
                    </a:solidFill>
                  </a:tcPr>
                </a:tc>
                <a:tc>
                  <a:txBody>
                    <a:bodyPr/>
                    <a:lstStyle/>
                    <a:p>
                      <a:r>
                        <a:rPr sz="1000" b="0">
                          <a:solidFill>
                            <a:srgbClr val="A27D44"/>
                          </a:solidFill>
                        </a:rPr>
                        <a:t>Field Data</a:t>
                      </a:r>
                    </a:p>
                  </a:txBody>
                  <a:tcPr>
                    <a:solidFill>
                      <a:srgbClr val="DFE9D7"/>
                    </a:solidFill>
                  </a:tcPr>
                </a:tc>
                <a:tc>
                  <a:txBody>
                    <a:bodyPr/>
                    <a:lstStyle/>
                    <a:p>
                      <a:r>
                        <a:rPr sz="1000" b="0">
                          <a:solidFill>
                            <a:srgbClr val="A27D44"/>
                          </a:solidFill>
                        </a:rPr>
                        <a:t>Gradient Grid</a:t>
                      </a:r>
                    </a:p>
                  </a:txBody>
                  <a:tcPr>
                    <a:solidFill>
                      <a:srgbClr val="DFE9D7"/>
                    </a:solidFill>
                  </a:tcPr>
                </a:tc>
                <a:tc>
                  <a:txBody>
                    <a:bodyPr/>
                    <a:lstStyle/>
                    <a:p>
                      <a:r>
                        <a:rPr sz="1000" b="0">
                          <a:solidFill>
                            <a:srgbClr val="A27D44"/>
                          </a:solidFill>
                        </a:rPr>
                        <a:t>Cell Packet</a:t>
                      </a:r>
                    </a:p>
                  </a:txBody>
                  <a:tcPr>
                    <a:solidFill>
                      <a:srgbClr val="DFE9D7"/>
                    </a:solidFill>
                  </a:tcPr>
                </a:tc>
                <a:extLst>
                  <a:ext uri="{0D108BD9-81ED-4DB2-BD59-A6C34878D82A}">
                    <a16:rowId xmlns:a16="http://schemas.microsoft.com/office/drawing/2014/main" val="10005"/>
                  </a:ext>
                </a:extLst>
              </a:tr>
            </a:tbl>
          </a:graphicData>
        </a:graphic>
      </p:graphicFrame>
      <p:sp>
        <p:nvSpPr>
          <p:cNvPr id="12" name="Gear 6 11"/>
          <p:cNvSpPr/>
          <p:nvPr/>
        </p:nvSpPr>
        <p:spPr>
          <a:xfrm>
            <a:off x="5803023" y="1122426"/>
            <a:ext cx="667643" cy="576389"/>
          </a:xfrm>
          <a:prstGeom prst="gear6">
            <a:avLst/>
          </a:prstGeom>
          <a:solidFill>
            <a:srgbClr val="A16C85"/>
          </a:solidFill>
          <a:ln w="13864">
            <a:solidFill>
              <a:srgbClr val="5B37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_example_image.jpg"/>
          <p:cNvPicPr>
            <a:picLocks noChangeAspect="1"/>
          </p:cNvPicPr>
          <p:nvPr/>
        </p:nvPicPr>
        <p:blipFill>
          <a:blip r:embed="rId2"/>
          <a:srcRect l="17157" t="6863" r="8620" b="3000"/>
          <a:stretch>
            <a:fillRect/>
          </a:stretch>
        </p:blipFill>
        <p:spPr>
          <a:xfrm>
            <a:off x="10608208" y="1432491"/>
            <a:ext cx="1229876" cy="761915"/>
          </a:xfrm>
          <a:prstGeom prst="rect">
            <a:avLst/>
          </a:prstGeom>
        </p:spPr>
      </p:pic>
      <p:sp>
        <p:nvSpPr>
          <p:cNvPr id="14" name="TextBox 13"/>
          <p:cNvSpPr txBox="1"/>
          <p:nvPr/>
        </p:nvSpPr>
        <p:spPr>
          <a:xfrm>
            <a:off x="3213818" y="4680358"/>
            <a:ext cx="1069138" cy="1087615"/>
          </a:xfrm>
          <a:prstGeom prst="rect">
            <a:avLst/>
          </a:prstGeom>
          <a:noFill/>
        </p:spPr>
        <p:txBody>
          <a:bodyPr wrap="none" lIns="50152" tIns="50152" rIns="50152" bIns="50152">
            <a:spAutoFit/>
          </a:bodyPr>
          <a:lstStyle/>
          <a:p>
            <a:r>
              <a:rPr sz="2800" b="1" i="0" u="none">
                <a:solidFill>
                  <a:srgbClr val="78AD3F"/>
                </a:solidFill>
                <a:latin typeface="Trebuchet MS"/>
              </a:rPr>
              <a:t>Atlas Alpha Schema Signal Asset</a:t>
            </a:r>
          </a:p>
        </p:txBody>
      </p:sp>
      <p:sp>
        <p:nvSpPr>
          <p:cNvPr id="15" name="TextBox 14"/>
          <p:cNvSpPr txBox="1"/>
          <p:nvPr/>
        </p:nvSpPr>
        <p:spPr>
          <a:xfrm>
            <a:off x="9647404" y="1577887"/>
            <a:ext cx="483625" cy="984464"/>
          </a:xfrm>
          <a:prstGeom prst="rect">
            <a:avLst/>
          </a:prstGeom>
          <a:solidFill>
            <a:srgbClr val="3BA349"/>
          </a:solidFill>
        </p:spPr>
        <p:txBody>
          <a:bodyPr wrap="none" lIns="87642" tIns="87642" rIns="87642" bIns="87642">
            <a:spAutoFit/>
          </a:bodyPr>
          <a:lstStyle/>
          <a:p>
            <a:r>
              <a:rPr sz="3700" b="1" i="0" u="none">
                <a:solidFill>
                  <a:srgbClr val="B0C023"/>
                </a:solidFill>
                <a:latin typeface="Aptos"/>
              </a:rPr>
              <a:t>Strategy Register Result Schema Order Strategy Process</a:t>
            </a:r>
          </a:p>
        </p:txBody>
      </p:sp>
      <p:graphicFrame>
        <p:nvGraphicFramePr>
          <p:cNvPr id="16" name="Chart 15"/>
          <p:cNvGraphicFramePr>
            <a:graphicFrameLocks noGrp="1"/>
          </p:cNvGraphicFramePr>
          <p:nvPr/>
        </p:nvGraphicFramePr>
        <p:xfrm>
          <a:off x="3724590" y="324048"/>
          <a:ext cx="2589055" cy="13866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p:cNvGraphicFramePr>
            <a:graphicFrameLocks noGrp="1"/>
          </p:cNvGraphicFramePr>
          <p:nvPr/>
        </p:nvGraphicFramePr>
        <p:xfrm>
          <a:off x="7670596" y="3810351"/>
          <a:ext cx="3088929" cy="1843850"/>
        </p:xfrm>
        <a:graphic>
          <a:graphicData uri="http://schemas.openxmlformats.org/drawingml/2006/chart">
            <c:chart xmlns:c="http://schemas.openxmlformats.org/drawingml/2006/chart" xmlns:r="http://schemas.openxmlformats.org/officeDocument/2006/relationships" r:id="rId4"/>
          </a:graphicData>
        </a:graphic>
      </p:graphicFrame>
      <p:pic>
        <p:nvPicPr>
          <p:cNvPr id="18" name="Picture 17" descr="_example_image.jpg"/>
          <p:cNvPicPr>
            <a:picLocks noChangeAspect="1"/>
          </p:cNvPicPr>
          <p:nvPr/>
        </p:nvPicPr>
        <p:blipFill>
          <a:blip r:embed="rId2"/>
          <a:srcRect l="273" t="19947" r="11156" b="1892"/>
          <a:stretch>
            <a:fillRect/>
          </a:stretch>
        </p:blipFill>
        <p:spPr>
          <a:xfrm>
            <a:off x="4378199" y="5733935"/>
            <a:ext cx="1798492" cy="782009"/>
          </a:xfrm>
          <a:prstGeom prst="rect">
            <a:avLst/>
          </a:prstGeom>
        </p:spPr>
      </p:pic>
      <p:sp>
        <p:nvSpPr>
          <p:cNvPr id="19" name="Rounded Rectangle 18"/>
          <p:cNvSpPr/>
          <p:nvPr/>
        </p:nvSpPr>
        <p:spPr>
          <a:xfrm>
            <a:off x="4378199" y="5733935"/>
            <a:ext cx="1798492" cy="782009"/>
          </a:xfrm>
          <a:prstGeom prst="roundRect">
            <a:avLst/>
          </a:prstGeom>
          <a:noFill/>
          <a:ln w="15240">
            <a:solidFill>
              <a:srgbClr val="DDD8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ata 19"/>
          <p:cNvSpPr/>
          <p:nvPr/>
        </p:nvSpPr>
        <p:spPr>
          <a:xfrm>
            <a:off x="4895392" y="3883112"/>
            <a:ext cx="951276" cy="1616538"/>
          </a:xfrm>
          <a:prstGeom prst="flowChartInputOutput">
            <a:avLst/>
          </a:prstGeom>
          <a:noFill/>
          <a:ln w="16050">
            <a:solidFill>
              <a:srgbClr val="A7256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8519622" y="2450875"/>
            <a:ext cx="3107206" cy="509149"/>
          </a:xfrm>
          <a:prstGeom prst="line">
            <a:avLst/>
          </a:prstGeom>
          <a:ln w="50726">
            <a:solidFill>
              <a:srgbClr val="34515F"/>
            </a:solidFill>
            <a:prstDash val="dashDot"/>
          </a:ln>
        </p:spPr>
        <p:style>
          <a:lnRef idx="2">
            <a:schemeClr val="accent1"/>
          </a:lnRef>
          <a:fillRef idx="0">
            <a:schemeClr val="accent1"/>
          </a:fillRef>
          <a:effectRef idx="1">
            <a:schemeClr val="accent1"/>
          </a:effectRef>
          <a:fontRef idx="minor">
            <a:schemeClr val="tx1"/>
          </a:fontRef>
        </p:style>
      </p:cxnSp>
      <p:sp>
        <p:nvSpPr>
          <p:cNvPr id="22" name="Freeform 21"/>
          <p:cNvSpPr/>
          <p:nvPr/>
        </p:nvSpPr>
        <p:spPr>
          <a:xfrm>
            <a:off x="6621948" y="1750299"/>
            <a:ext cx="716078" cy="1066133"/>
          </a:xfrm>
          <a:custGeom>
            <a:avLst/>
            <a:gdLst/>
            <a:ahLst/>
            <a:cxnLst/>
            <a:rect l="l" t="t" r="r" b="b"/>
            <a:pathLst>
              <a:path w="716078" h="1066133">
                <a:moveTo>
                  <a:pt x="358039" y="0"/>
                </a:moveTo>
                <a:lnTo>
                  <a:pt x="447549" y="266533"/>
                </a:lnTo>
                <a:lnTo>
                  <a:pt x="671323" y="191904"/>
                </a:lnTo>
                <a:lnTo>
                  <a:pt x="544518" y="533067"/>
                </a:lnTo>
                <a:lnTo>
                  <a:pt x="716078" y="831584"/>
                </a:lnTo>
                <a:lnTo>
                  <a:pt x="447549" y="767616"/>
                </a:lnTo>
                <a:lnTo>
                  <a:pt x="358039" y="1066133"/>
                </a:lnTo>
                <a:lnTo>
                  <a:pt x="268530" y="767616"/>
                </a:lnTo>
                <a:lnTo>
                  <a:pt x="0" y="831584"/>
                </a:lnTo>
                <a:lnTo>
                  <a:pt x="171561" y="533067"/>
                </a:lnTo>
                <a:lnTo>
                  <a:pt x="44755" y="191904"/>
                </a:lnTo>
                <a:lnTo>
                  <a:pt x="268530" y="266533"/>
                </a:lnTo>
                <a:close/>
              </a:path>
            </a:pathLst>
          </a:custGeom>
          <a:solidFill>
            <a:srgbClr val="D25459"/>
          </a:solidFill>
          <a:ln w="18467">
            <a:solidFill>
              <a:srgbClr val="88D3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_example_image.jpg"/>
          <p:cNvPicPr>
            <a:picLocks noChangeAspect="1"/>
          </p:cNvPicPr>
          <p:nvPr/>
        </p:nvPicPr>
        <p:blipFill>
          <a:blip r:embed="rId2"/>
          <a:srcRect l="15363" t="18677" r="12943" b="1581"/>
          <a:stretch>
            <a:fillRect/>
          </a:stretch>
        </p:blipFill>
        <p:spPr>
          <a:xfrm>
            <a:off x="199617" y="5233221"/>
            <a:ext cx="2454596" cy="1470911"/>
          </a:xfrm>
          <a:prstGeom prst="rect">
            <a:avLst/>
          </a:prstGeom>
        </p:spPr>
      </p:pic>
      <p:sp>
        <p:nvSpPr>
          <p:cNvPr id="24" name="Cloud Callout 23"/>
          <p:cNvSpPr/>
          <p:nvPr/>
        </p:nvSpPr>
        <p:spPr>
          <a:xfrm>
            <a:off x="9846479" y="3464096"/>
            <a:ext cx="481249" cy="521541"/>
          </a:xfrm>
          <a:prstGeom prst="cloudCallout">
            <a:avLst/>
          </a:prstGeom>
          <a:solidFill>
            <a:srgbClr val="C18EA4"/>
          </a:solidFill>
          <a:ln w="28130">
            <a:solidFill>
              <a:srgbClr val="2A5A2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6866400" y="1231894"/>
            <a:ext cx="841506" cy="691426"/>
          </a:xfrm>
          <a:custGeom>
            <a:avLst/>
            <a:gdLst/>
            <a:ahLst/>
            <a:cxnLst/>
            <a:rect l="l" t="t" r="r" b="b"/>
            <a:pathLst>
              <a:path w="841506" h="691426">
                <a:moveTo>
                  <a:pt x="90484" y="117689"/>
                </a:moveTo>
                <a:lnTo>
                  <a:pt x="298599" y="0"/>
                </a:lnTo>
                <a:lnTo>
                  <a:pt x="615294" y="58844"/>
                </a:lnTo>
                <a:lnTo>
                  <a:pt x="841506" y="279512"/>
                </a:lnTo>
                <a:lnTo>
                  <a:pt x="723876" y="573737"/>
                </a:lnTo>
                <a:lnTo>
                  <a:pt x="389083" y="691426"/>
                </a:lnTo>
                <a:lnTo>
                  <a:pt x="54290" y="500180"/>
                </a:lnTo>
                <a:lnTo>
                  <a:pt x="0" y="250090"/>
                </a:lnTo>
                <a:close/>
              </a:path>
            </a:pathLst>
          </a:custGeom>
          <a:solidFill>
            <a:srgbClr val="72B1AD"/>
          </a:solidFill>
          <a:ln w="31825">
            <a:solidFill>
              <a:srgbClr val="4E75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isplay 25"/>
          <p:cNvSpPr/>
          <p:nvPr/>
        </p:nvSpPr>
        <p:spPr>
          <a:xfrm>
            <a:off x="9845079" y="4967880"/>
            <a:ext cx="1066106" cy="371206"/>
          </a:xfrm>
          <a:prstGeom prst="flowChartDisplay">
            <a:avLst/>
          </a:prstGeom>
          <a:solidFill>
            <a:srgbClr val="A0BE9C"/>
          </a:solidFill>
          <a:ln w="30510">
            <a:solidFill>
              <a:srgbClr val="E14E5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595760" y="2203404"/>
            <a:ext cx="2993193" cy="963834"/>
          </a:xfrm>
          <a:prstGeom prst="rect">
            <a:avLst/>
          </a:prstGeom>
          <a:noFill/>
        </p:spPr>
        <p:txBody>
          <a:bodyPr wrap="none" lIns="33112" tIns="33112" rIns="33112" bIns="33112">
            <a:spAutoFit/>
          </a:bodyPr>
          <a:lstStyle/>
          <a:p>
            <a:r>
              <a:rPr sz="900" b="0" i="1" u="sng">
                <a:solidFill>
                  <a:srgbClr val="5D3C1C"/>
                </a:solidFill>
                <a:latin typeface="Aptos"/>
              </a:rPr>
              <a:t>Orbit Audit Texture</a:t>
            </a:r>
          </a:p>
        </p:txBody>
      </p:sp>
      <p:pic>
        <p:nvPicPr>
          <p:cNvPr id="29" name="Graphic 28">
            <a:extLst>
              <a:ext uri="{FF2B5EF4-FFF2-40B4-BE49-F238E27FC236}">
                <a16:creationId xmlns:a16="http://schemas.microsoft.com/office/drawing/2014/main" id="{56963422-106F-A006-2DF4-91295E861C0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084165" y="2822357"/>
            <a:ext cx="1289767" cy="764790"/>
          </a:xfrm>
          <a:prstGeom prst="rect">
            <a:avLst/>
          </a:prstGeom>
        </p:spPr>
      </p:pic>
      <p:pic>
        <p:nvPicPr>
          <p:cNvPr id="31" name="Graphic 30">
            <a:extLst>
              <a:ext uri="{FF2B5EF4-FFF2-40B4-BE49-F238E27FC236}">
                <a16:creationId xmlns:a16="http://schemas.microsoft.com/office/drawing/2014/main" id="{86ABBD33-D6A7-A912-925F-EF09D0163BF7}"/>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39273" y="4700935"/>
            <a:ext cx="2354790" cy="824904"/>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35043" y="886579"/>
            <a:ext cx="721620" cy="1200173"/>
          </a:xfrm>
          <a:prstGeom prst="rect">
            <a:avLst/>
          </a:prstGeom>
          <a:noFill/>
        </p:spPr>
        <p:txBody>
          <a:bodyPr wrap="none" lIns="46808" tIns="46808" rIns="46808" bIns="46808">
            <a:spAutoFit/>
          </a:bodyPr>
          <a:lstStyle/>
          <a:p>
            <a:r>
              <a:rPr sz="6300" b="1" i="0" u="none">
                <a:solidFill>
                  <a:srgbClr val="4C8795"/>
                </a:solidFill>
                <a:latin typeface="Georgia"/>
              </a:rPr>
              <a:t>Journey Envelope Story</a:t>
            </a:r>
          </a:p>
        </p:txBody>
      </p:sp>
      <p:graphicFrame>
        <p:nvGraphicFramePr>
          <p:cNvPr id="3" name="Chart 2"/>
          <p:cNvGraphicFramePr>
            <a:graphicFrameLocks noGrp="1"/>
          </p:cNvGraphicFramePr>
          <p:nvPr/>
        </p:nvGraphicFramePr>
        <p:xfrm>
          <a:off x="2659896" y="4094790"/>
          <a:ext cx="2183828" cy="2229213"/>
        </p:xfrm>
        <a:graphic>
          <a:graphicData uri="http://schemas.openxmlformats.org/drawingml/2006/chart">
            <c:chart xmlns:c="http://schemas.openxmlformats.org/drawingml/2006/chart" xmlns:r="http://schemas.openxmlformats.org/officeDocument/2006/relationships" r:id="rId2"/>
          </a:graphicData>
        </a:graphic>
      </p:graphicFrame>
      <p:sp>
        <p:nvSpPr>
          <p:cNvPr id="4" name="Wave 3"/>
          <p:cNvSpPr/>
          <p:nvPr/>
        </p:nvSpPr>
        <p:spPr>
          <a:xfrm>
            <a:off x="10934741" y="2324144"/>
            <a:ext cx="883664" cy="1997823"/>
          </a:xfrm>
          <a:prstGeom prst="wave">
            <a:avLst/>
          </a:prstGeom>
          <a:solidFill>
            <a:srgbClr val="31AC7A"/>
          </a:solidFill>
          <a:ln w="27624">
            <a:solidFill>
              <a:srgbClr val="B5E4A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loud 4"/>
          <p:cNvSpPr/>
          <p:nvPr/>
        </p:nvSpPr>
        <p:spPr>
          <a:xfrm>
            <a:off x="1214890" y="410543"/>
            <a:ext cx="1474479" cy="760758"/>
          </a:xfrm>
          <a:prstGeom prst="cloud">
            <a:avLst/>
          </a:prstGeom>
          <a:solidFill>
            <a:srgbClr val="4F632D"/>
          </a:solidFill>
          <a:ln w="17042">
            <a:solidFill>
              <a:srgbClr val="8043C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335187" y="153387"/>
          <a:ext cx="4754735" cy="955188"/>
        </p:xfrm>
        <a:graphic>
          <a:graphicData uri="http://schemas.openxmlformats.org/drawingml/2006/table">
            <a:tbl>
              <a:tblPr firstRow="1" bandRow="1">
                <a:tableStyleId>{5C22544A-7EE6-4342-B048-85BDC9FD1C3A}</a:tableStyleId>
              </a:tblPr>
              <a:tblGrid>
                <a:gridCol w="1584911">
                  <a:extLst>
                    <a:ext uri="{9D8B030D-6E8A-4147-A177-3AD203B41FA5}">
                      <a16:colId xmlns:a16="http://schemas.microsoft.com/office/drawing/2014/main" val="20000"/>
                    </a:ext>
                  </a:extLst>
                </a:gridCol>
                <a:gridCol w="1584911">
                  <a:extLst>
                    <a:ext uri="{9D8B030D-6E8A-4147-A177-3AD203B41FA5}">
                      <a16:colId xmlns:a16="http://schemas.microsoft.com/office/drawing/2014/main" val="20001"/>
                    </a:ext>
                  </a:extLst>
                </a:gridCol>
                <a:gridCol w="1584913">
                  <a:extLst>
                    <a:ext uri="{9D8B030D-6E8A-4147-A177-3AD203B41FA5}">
                      <a16:colId xmlns:a16="http://schemas.microsoft.com/office/drawing/2014/main" val="20002"/>
                    </a:ext>
                  </a:extLst>
                </a:gridCol>
              </a:tblGrid>
              <a:tr h="477594">
                <a:tc>
                  <a:txBody>
                    <a:bodyPr/>
                    <a:lstStyle/>
                    <a:p>
                      <a:r>
                        <a:rPr sz="700" b="1">
                          <a:solidFill>
                            <a:srgbClr val="41CA73"/>
                          </a:solidFill>
                        </a:rPr>
                        <a:t>Stream</a:t>
                      </a:r>
                    </a:p>
                  </a:txBody>
                  <a:tcPr>
                    <a:solidFill>
                      <a:srgbClr val="4BBD57"/>
                    </a:solidFill>
                  </a:tcPr>
                </a:tc>
                <a:tc>
                  <a:txBody>
                    <a:bodyPr/>
                    <a:lstStyle/>
                    <a:p>
                      <a:r>
                        <a:rPr sz="700" b="1">
                          <a:solidFill>
                            <a:srgbClr val="41CA73"/>
                          </a:solidFill>
                        </a:rPr>
                        <a:t>Milestone</a:t>
                      </a:r>
                    </a:p>
                  </a:txBody>
                  <a:tcPr>
                    <a:solidFill>
                      <a:srgbClr val="4BBD57"/>
                    </a:solidFill>
                  </a:tcPr>
                </a:tc>
                <a:tc>
                  <a:txBody>
                    <a:bodyPr/>
                    <a:lstStyle/>
                    <a:p>
                      <a:r>
                        <a:rPr sz="700" b="1">
                          <a:solidFill>
                            <a:srgbClr val="41CA73"/>
                          </a:solidFill>
                        </a:rPr>
                        <a:t>Metric</a:t>
                      </a:r>
                    </a:p>
                  </a:txBody>
                  <a:tcPr>
                    <a:solidFill>
                      <a:srgbClr val="4BBD57"/>
                    </a:solidFill>
                  </a:tcPr>
                </a:tc>
                <a:extLst>
                  <a:ext uri="{0D108BD9-81ED-4DB2-BD59-A6C34878D82A}">
                    <a16:rowId xmlns:a16="http://schemas.microsoft.com/office/drawing/2014/main" val="10000"/>
                  </a:ext>
                </a:extLst>
              </a:tr>
              <a:tr h="477594">
                <a:tc>
                  <a:txBody>
                    <a:bodyPr/>
                    <a:lstStyle/>
                    <a:p>
                      <a:r>
                        <a:rPr sz="700" b="0">
                          <a:solidFill>
                            <a:srgbClr val="41CA73"/>
                          </a:solidFill>
                        </a:rPr>
                        <a:t>Packet Concept</a:t>
                      </a:r>
                    </a:p>
                  </a:txBody>
                  <a:tcPr>
                    <a:solidFill>
                      <a:srgbClr val="D6E2E3"/>
                    </a:solidFill>
                  </a:tcPr>
                </a:tc>
                <a:tc>
                  <a:txBody>
                    <a:bodyPr/>
                    <a:lstStyle/>
                    <a:p>
                      <a:r>
                        <a:rPr sz="700" b="0">
                          <a:solidFill>
                            <a:srgbClr val="41CA73"/>
                          </a:solidFill>
                        </a:rPr>
                        <a:t>Lens</a:t>
                      </a:r>
                    </a:p>
                  </a:txBody>
                  <a:tcPr>
                    <a:solidFill>
                      <a:srgbClr val="D6E2E3"/>
                    </a:solidFill>
                  </a:tcPr>
                </a:tc>
                <a:tc>
                  <a:txBody>
                    <a:bodyPr/>
                    <a:lstStyle/>
                    <a:p>
                      <a:r>
                        <a:rPr sz="700" b="0">
                          <a:solidFill>
                            <a:srgbClr val="41CA73"/>
                          </a:solidFill>
                        </a:rPr>
                        <a:t>Dimension</a:t>
                      </a:r>
                    </a:p>
                  </a:txBody>
                  <a:tcPr>
                    <a:solidFill>
                      <a:srgbClr val="D6E2E3"/>
                    </a:solidFill>
                  </a:tcPr>
                </a:tc>
                <a:extLst>
                  <a:ext uri="{0D108BD9-81ED-4DB2-BD59-A6C34878D82A}">
                    <a16:rowId xmlns:a16="http://schemas.microsoft.com/office/drawing/2014/main" val="10001"/>
                  </a:ext>
                </a:extLst>
              </a:tr>
            </a:tbl>
          </a:graphicData>
        </a:graphic>
      </p:graphicFrame>
      <p:sp>
        <p:nvSpPr>
          <p:cNvPr id="7" name="Quad Arrow 6"/>
          <p:cNvSpPr/>
          <p:nvPr/>
        </p:nvSpPr>
        <p:spPr>
          <a:xfrm>
            <a:off x="8840324" y="2918901"/>
            <a:ext cx="1703122" cy="296127"/>
          </a:xfrm>
          <a:prstGeom prst="quadArrow">
            <a:avLst/>
          </a:prstGeom>
          <a:noFill/>
          <a:ln w="12885">
            <a:solidFill>
              <a:srgbClr val="98296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3"/>
          <a:srcRect l="18915" t="15061" r="16571" b="7514"/>
          <a:stretch>
            <a:fillRect/>
          </a:stretch>
        </p:blipFill>
        <p:spPr>
          <a:xfrm>
            <a:off x="2434728" y="2047457"/>
            <a:ext cx="1595881" cy="801258"/>
          </a:xfrm>
          <a:prstGeom prst="rect">
            <a:avLst/>
          </a:prstGeom>
        </p:spPr>
      </p:pic>
      <p:pic>
        <p:nvPicPr>
          <p:cNvPr id="9" name="Picture 8" descr="_example_image.jpg"/>
          <p:cNvPicPr>
            <a:picLocks noChangeAspect="1"/>
          </p:cNvPicPr>
          <p:nvPr/>
        </p:nvPicPr>
        <p:blipFill>
          <a:blip r:embed="rId3"/>
          <a:srcRect l="21303" t="15367" r="11157" b="4737"/>
          <a:stretch>
            <a:fillRect/>
          </a:stretch>
        </p:blipFill>
        <p:spPr>
          <a:xfrm>
            <a:off x="150979" y="1636519"/>
            <a:ext cx="1190962" cy="1452085"/>
          </a:xfrm>
          <a:prstGeom prst="rect">
            <a:avLst/>
          </a:prstGeom>
        </p:spPr>
      </p:pic>
      <p:sp>
        <p:nvSpPr>
          <p:cNvPr id="10" name="TextBox 9"/>
          <p:cNvSpPr txBox="1"/>
          <p:nvPr/>
        </p:nvSpPr>
        <p:spPr>
          <a:xfrm>
            <a:off x="10603060" y="511522"/>
            <a:ext cx="1198850" cy="1150763"/>
          </a:xfrm>
          <a:prstGeom prst="rect">
            <a:avLst/>
          </a:prstGeom>
          <a:noFill/>
        </p:spPr>
        <p:txBody>
          <a:bodyPr wrap="none" lIns="25162" tIns="25162" rIns="25162" bIns="25162">
            <a:spAutoFit/>
          </a:bodyPr>
          <a:lstStyle/>
          <a:p>
            <a:r>
              <a:rPr sz="2600" b="0" i="0" u="none">
                <a:solidFill>
                  <a:srgbClr val="5C1940"/>
                </a:solidFill>
                <a:latin typeface="Georgia"/>
              </a:rPr>
              <a:t>Logic Range Motion Status Element</a:t>
            </a:r>
          </a:p>
        </p:txBody>
      </p:sp>
      <p:sp>
        <p:nvSpPr>
          <p:cNvPr id="11" name="Left-Right Arrow Callout 10"/>
          <p:cNvSpPr/>
          <p:nvPr/>
        </p:nvSpPr>
        <p:spPr>
          <a:xfrm>
            <a:off x="4854246" y="502091"/>
            <a:ext cx="1442384" cy="301955"/>
          </a:xfrm>
          <a:prstGeom prst="leftRightArrowCallout">
            <a:avLst/>
          </a:prstGeom>
          <a:solidFill>
            <a:srgbClr val="DC5167"/>
          </a:solidFill>
          <a:ln w="18226">
            <a:solidFill>
              <a:srgbClr val="413EA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7729126" y="2826783"/>
            <a:ext cx="976050" cy="518922"/>
          </a:xfrm>
          <a:prstGeom prst="bentConnector3">
            <a:avLst/>
          </a:prstGeom>
          <a:ln w="10342">
            <a:solidFill>
              <a:srgbClr val="63DB3C"/>
            </a:solidFill>
            <a:prstDash val="lgDash"/>
          </a:ln>
        </p:spPr>
        <p:style>
          <a:lnRef idx="2">
            <a:schemeClr val="accent1"/>
          </a:lnRef>
          <a:fillRef idx="0">
            <a:schemeClr val="accent1"/>
          </a:fillRef>
          <a:effectRef idx="1">
            <a:schemeClr val="accent1"/>
          </a:effectRef>
          <a:fontRef idx="minor">
            <a:schemeClr val="tx1"/>
          </a:fontRef>
        </p:style>
      </p:cxnSp>
      <p:sp>
        <p:nvSpPr>
          <p:cNvPr id="13" name="Left-Right Arrow Callout 12"/>
          <p:cNvSpPr/>
          <p:nvPr/>
        </p:nvSpPr>
        <p:spPr>
          <a:xfrm>
            <a:off x="4789727" y="4589890"/>
            <a:ext cx="2258173" cy="1496000"/>
          </a:xfrm>
          <a:prstGeom prst="leftRightArrowCallout">
            <a:avLst/>
          </a:prstGeom>
          <a:solidFill>
            <a:srgbClr val="CBD134"/>
          </a:solidFill>
          <a:ln w="16736">
            <a:solidFill>
              <a:srgbClr val="2FCAA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7638164" y="3973837"/>
          <a:ext cx="3162586" cy="1688319"/>
        </p:xfrm>
        <a:graphic>
          <a:graphicData uri="http://schemas.openxmlformats.org/drawingml/2006/table">
            <a:tbl>
              <a:tblPr firstRow="1" bandRow="1">
                <a:tableStyleId>{5C22544A-7EE6-4342-B048-85BDC9FD1C3A}</a:tableStyleId>
              </a:tblPr>
              <a:tblGrid>
                <a:gridCol w="527097">
                  <a:extLst>
                    <a:ext uri="{9D8B030D-6E8A-4147-A177-3AD203B41FA5}">
                      <a16:colId xmlns:a16="http://schemas.microsoft.com/office/drawing/2014/main" val="20000"/>
                    </a:ext>
                  </a:extLst>
                </a:gridCol>
                <a:gridCol w="527097">
                  <a:extLst>
                    <a:ext uri="{9D8B030D-6E8A-4147-A177-3AD203B41FA5}">
                      <a16:colId xmlns:a16="http://schemas.microsoft.com/office/drawing/2014/main" val="20001"/>
                    </a:ext>
                  </a:extLst>
                </a:gridCol>
                <a:gridCol w="527097">
                  <a:extLst>
                    <a:ext uri="{9D8B030D-6E8A-4147-A177-3AD203B41FA5}">
                      <a16:colId xmlns:a16="http://schemas.microsoft.com/office/drawing/2014/main" val="20002"/>
                    </a:ext>
                  </a:extLst>
                </a:gridCol>
                <a:gridCol w="527097">
                  <a:extLst>
                    <a:ext uri="{9D8B030D-6E8A-4147-A177-3AD203B41FA5}">
                      <a16:colId xmlns:a16="http://schemas.microsoft.com/office/drawing/2014/main" val="20003"/>
                    </a:ext>
                  </a:extLst>
                </a:gridCol>
                <a:gridCol w="527097">
                  <a:extLst>
                    <a:ext uri="{9D8B030D-6E8A-4147-A177-3AD203B41FA5}">
                      <a16:colId xmlns:a16="http://schemas.microsoft.com/office/drawing/2014/main" val="20004"/>
                    </a:ext>
                  </a:extLst>
                </a:gridCol>
                <a:gridCol w="527101">
                  <a:extLst>
                    <a:ext uri="{9D8B030D-6E8A-4147-A177-3AD203B41FA5}">
                      <a16:colId xmlns:a16="http://schemas.microsoft.com/office/drawing/2014/main" val="20005"/>
                    </a:ext>
                  </a:extLst>
                </a:gridCol>
              </a:tblGrid>
              <a:tr h="422079">
                <a:tc>
                  <a:txBody>
                    <a:bodyPr/>
                    <a:lstStyle/>
                    <a:p>
                      <a:r>
                        <a:rPr sz="1100" b="1">
                          <a:solidFill>
                            <a:srgbClr val="6DA59E"/>
                          </a:solidFill>
                        </a:rPr>
                        <a:t>Path Queue</a:t>
                      </a:r>
                    </a:p>
                  </a:txBody>
                  <a:tcPr>
                    <a:solidFill>
                      <a:srgbClr val="CC9484"/>
                    </a:solidFill>
                  </a:tcPr>
                </a:tc>
                <a:tc>
                  <a:txBody>
                    <a:bodyPr/>
                    <a:lstStyle/>
                    <a:p>
                      <a:r>
                        <a:rPr sz="1100" b="1">
                          <a:solidFill>
                            <a:srgbClr val="6DA59E"/>
                          </a:solidFill>
                        </a:rPr>
                        <a:t>Strategy Moment</a:t>
                      </a:r>
                    </a:p>
                  </a:txBody>
                  <a:tcPr>
                    <a:solidFill>
                      <a:srgbClr val="CC9484"/>
                    </a:solidFill>
                  </a:tcPr>
                </a:tc>
                <a:tc>
                  <a:txBody>
                    <a:bodyPr/>
                    <a:lstStyle/>
                    <a:p>
                      <a:r>
                        <a:rPr sz="1100" b="1">
                          <a:solidFill>
                            <a:srgbClr val="6DA59E"/>
                          </a:solidFill>
                        </a:rPr>
                        <a:t>Entity</a:t>
                      </a:r>
                    </a:p>
                  </a:txBody>
                  <a:tcPr>
                    <a:solidFill>
                      <a:srgbClr val="CC9484"/>
                    </a:solidFill>
                  </a:tcPr>
                </a:tc>
                <a:tc>
                  <a:txBody>
                    <a:bodyPr/>
                    <a:lstStyle/>
                    <a:p>
                      <a:r>
                        <a:rPr sz="1100" b="1">
                          <a:solidFill>
                            <a:srgbClr val="6DA59E"/>
                          </a:solidFill>
                        </a:rPr>
                        <a:t>Topology</a:t>
                      </a:r>
                    </a:p>
                  </a:txBody>
                  <a:tcPr>
                    <a:solidFill>
                      <a:srgbClr val="CC9484"/>
                    </a:solidFill>
                  </a:tcPr>
                </a:tc>
                <a:tc>
                  <a:txBody>
                    <a:bodyPr/>
                    <a:lstStyle/>
                    <a:p>
                      <a:r>
                        <a:rPr sz="1100" b="1">
                          <a:solidFill>
                            <a:srgbClr val="6DA59E"/>
                          </a:solidFill>
                        </a:rPr>
                        <a:t>Command</a:t>
                      </a:r>
                    </a:p>
                  </a:txBody>
                  <a:tcPr>
                    <a:solidFill>
                      <a:srgbClr val="CC9484"/>
                    </a:solidFill>
                  </a:tcPr>
                </a:tc>
                <a:tc>
                  <a:txBody>
                    <a:bodyPr/>
                    <a:lstStyle/>
                    <a:p>
                      <a:r>
                        <a:rPr sz="1100" b="1">
                          <a:solidFill>
                            <a:srgbClr val="6DA59E"/>
                          </a:solidFill>
                        </a:rPr>
                        <a:t>Mode</a:t>
                      </a:r>
                    </a:p>
                  </a:txBody>
                  <a:tcPr>
                    <a:solidFill>
                      <a:srgbClr val="CC9484"/>
                    </a:solidFill>
                  </a:tcPr>
                </a:tc>
                <a:extLst>
                  <a:ext uri="{0D108BD9-81ED-4DB2-BD59-A6C34878D82A}">
                    <a16:rowId xmlns:a16="http://schemas.microsoft.com/office/drawing/2014/main" val="10000"/>
                  </a:ext>
                </a:extLst>
              </a:tr>
              <a:tr h="422079">
                <a:tc>
                  <a:txBody>
                    <a:bodyPr/>
                    <a:lstStyle/>
                    <a:p>
                      <a:r>
                        <a:rPr sz="1100" b="0">
                          <a:solidFill>
                            <a:srgbClr val="6DA59E"/>
                          </a:solidFill>
                        </a:rPr>
                        <a:t>Harbor Library</a:t>
                      </a:r>
                    </a:p>
                  </a:txBody>
                  <a:tcPr>
                    <a:solidFill>
                      <a:srgbClr val="D1D5B0"/>
                    </a:solidFill>
                  </a:tcPr>
                </a:tc>
                <a:tc>
                  <a:txBody>
                    <a:bodyPr/>
                    <a:lstStyle/>
                    <a:p>
                      <a:r>
                        <a:rPr sz="1100" b="0">
                          <a:solidFill>
                            <a:srgbClr val="6DA59E"/>
                          </a:solidFill>
                        </a:rPr>
                        <a:t>Region</a:t>
                      </a:r>
                    </a:p>
                  </a:txBody>
                  <a:tcPr>
                    <a:solidFill>
                      <a:srgbClr val="D1D5B0"/>
                    </a:solidFill>
                  </a:tcPr>
                </a:tc>
                <a:tc>
                  <a:txBody>
                    <a:bodyPr/>
                    <a:lstStyle/>
                    <a:p>
                      <a:r>
                        <a:rPr sz="1100" b="0">
                          <a:solidFill>
                            <a:srgbClr val="6DA59E"/>
                          </a:solidFill>
                        </a:rPr>
                        <a:t>Field</a:t>
                      </a:r>
                    </a:p>
                  </a:txBody>
                  <a:tcPr>
                    <a:solidFill>
                      <a:srgbClr val="D1D5B0"/>
                    </a:solidFill>
                  </a:tcPr>
                </a:tc>
                <a:tc>
                  <a:txBody>
                    <a:bodyPr/>
                    <a:lstStyle/>
                    <a:p>
                      <a:r>
                        <a:rPr sz="1100" b="0">
                          <a:solidFill>
                            <a:srgbClr val="6DA59E"/>
                          </a:solidFill>
                        </a:rPr>
                        <a:t>Story</a:t>
                      </a:r>
                    </a:p>
                  </a:txBody>
                  <a:tcPr>
                    <a:solidFill>
                      <a:srgbClr val="D1D5B0"/>
                    </a:solidFill>
                  </a:tcPr>
                </a:tc>
                <a:tc>
                  <a:txBody>
                    <a:bodyPr/>
                    <a:lstStyle/>
                    <a:p>
                      <a:r>
                        <a:rPr sz="1100" b="0">
                          <a:solidFill>
                            <a:srgbClr val="6DA59E"/>
                          </a:solidFill>
                        </a:rPr>
                        <a:t>Channel</a:t>
                      </a:r>
                    </a:p>
                  </a:txBody>
                  <a:tcPr>
                    <a:solidFill>
                      <a:srgbClr val="D1D5B0"/>
                    </a:solidFill>
                  </a:tcPr>
                </a:tc>
                <a:tc>
                  <a:txBody>
                    <a:bodyPr/>
                    <a:lstStyle/>
                    <a:p>
                      <a:r>
                        <a:rPr sz="1100" b="0">
                          <a:solidFill>
                            <a:srgbClr val="6DA59E"/>
                          </a:solidFill>
                        </a:rPr>
                        <a:t>Sample</a:t>
                      </a:r>
                    </a:p>
                  </a:txBody>
                  <a:tcPr>
                    <a:solidFill>
                      <a:srgbClr val="D1D5B0"/>
                    </a:solidFill>
                  </a:tcPr>
                </a:tc>
                <a:extLst>
                  <a:ext uri="{0D108BD9-81ED-4DB2-BD59-A6C34878D82A}">
                    <a16:rowId xmlns:a16="http://schemas.microsoft.com/office/drawing/2014/main" val="10001"/>
                  </a:ext>
                </a:extLst>
              </a:tr>
              <a:tr h="422079">
                <a:tc>
                  <a:txBody>
                    <a:bodyPr/>
                    <a:lstStyle/>
                    <a:p>
                      <a:r>
                        <a:rPr sz="1100" b="0">
                          <a:solidFill>
                            <a:srgbClr val="6DA59E"/>
                          </a:solidFill>
                        </a:rPr>
                        <a:t>Capacity Hub</a:t>
                      </a:r>
                    </a:p>
                  </a:txBody>
                  <a:tcPr>
                    <a:solidFill>
                      <a:srgbClr val="E5E7D3"/>
                    </a:solidFill>
                  </a:tcPr>
                </a:tc>
                <a:tc>
                  <a:txBody>
                    <a:bodyPr/>
                    <a:lstStyle/>
                    <a:p>
                      <a:r>
                        <a:rPr sz="1100" b="0">
                          <a:solidFill>
                            <a:srgbClr val="6DA59E"/>
                          </a:solidFill>
                        </a:rPr>
                        <a:t>Account Precision</a:t>
                      </a:r>
                    </a:p>
                  </a:txBody>
                  <a:tcPr>
                    <a:solidFill>
                      <a:srgbClr val="E5E7D3"/>
                    </a:solidFill>
                  </a:tcPr>
                </a:tc>
                <a:tc>
                  <a:txBody>
                    <a:bodyPr/>
                    <a:lstStyle/>
                    <a:p>
                      <a:r>
                        <a:rPr sz="1100" b="0">
                          <a:solidFill>
                            <a:srgbClr val="6DA59E"/>
                          </a:solidFill>
                        </a:rPr>
                        <a:t>Access Portal</a:t>
                      </a:r>
                    </a:p>
                  </a:txBody>
                  <a:tcPr>
                    <a:solidFill>
                      <a:srgbClr val="E5E7D3"/>
                    </a:solidFill>
                  </a:tcPr>
                </a:tc>
                <a:tc>
                  <a:txBody>
                    <a:bodyPr/>
                    <a:lstStyle/>
                    <a:p>
                      <a:r>
                        <a:rPr sz="1100" b="0">
                          <a:solidFill>
                            <a:srgbClr val="6DA59E"/>
                          </a:solidFill>
                        </a:rPr>
                        <a:t>Delta Draft</a:t>
                      </a:r>
                    </a:p>
                  </a:txBody>
                  <a:tcPr>
                    <a:solidFill>
                      <a:srgbClr val="E5E7D3"/>
                    </a:solidFill>
                  </a:tcPr>
                </a:tc>
                <a:tc>
                  <a:txBody>
                    <a:bodyPr/>
                    <a:lstStyle/>
                    <a:p>
                      <a:r>
                        <a:rPr sz="1100" b="0">
                          <a:solidFill>
                            <a:srgbClr val="6DA59E"/>
                          </a:solidFill>
                        </a:rPr>
                        <a:t>Ledger</a:t>
                      </a:r>
                    </a:p>
                  </a:txBody>
                  <a:tcPr>
                    <a:solidFill>
                      <a:srgbClr val="E5E7D3"/>
                    </a:solidFill>
                  </a:tcPr>
                </a:tc>
                <a:tc>
                  <a:txBody>
                    <a:bodyPr/>
                    <a:lstStyle/>
                    <a:p>
                      <a:r>
                        <a:rPr sz="1100" b="0">
                          <a:solidFill>
                            <a:srgbClr val="6DA59E"/>
                          </a:solidFill>
                        </a:rPr>
                        <a:t>Intent</a:t>
                      </a:r>
                    </a:p>
                  </a:txBody>
                  <a:tcPr>
                    <a:solidFill>
                      <a:srgbClr val="E5E7D3"/>
                    </a:solidFill>
                  </a:tcPr>
                </a:tc>
                <a:extLst>
                  <a:ext uri="{0D108BD9-81ED-4DB2-BD59-A6C34878D82A}">
                    <a16:rowId xmlns:a16="http://schemas.microsoft.com/office/drawing/2014/main" val="10002"/>
                  </a:ext>
                </a:extLst>
              </a:tr>
              <a:tr h="422082">
                <a:tc>
                  <a:txBody>
                    <a:bodyPr/>
                    <a:lstStyle/>
                    <a:p>
                      <a:r>
                        <a:rPr sz="1100" b="0">
                          <a:solidFill>
                            <a:srgbClr val="6DA59E"/>
                          </a:solidFill>
                        </a:rPr>
                        <a:t>Intent</a:t>
                      </a:r>
                    </a:p>
                  </a:txBody>
                  <a:tcPr>
                    <a:solidFill>
                      <a:srgbClr val="D1D5B0"/>
                    </a:solidFill>
                  </a:tcPr>
                </a:tc>
                <a:tc>
                  <a:txBody>
                    <a:bodyPr/>
                    <a:lstStyle/>
                    <a:p>
                      <a:r>
                        <a:rPr sz="1100" b="0">
                          <a:solidFill>
                            <a:srgbClr val="6DA59E"/>
                          </a:solidFill>
                        </a:rPr>
                        <a:t>Epoch</a:t>
                      </a:r>
                    </a:p>
                  </a:txBody>
                  <a:tcPr>
                    <a:solidFill>
                      <a:srgbClr val="D1D5B0"/>
                    </a:solidFill>
                  </a:tcPr>
                </a:tc>
                <a:tc>
                  <a:txBody>
                    <a:bodyPr/>
                    <a:lstStyle/>
                    <a:p>
                      <a:r>
                        <a:rPr sz="1100" b="0">
                          <a:solidFill>
                            <a:srgbClr val="6DA59E"/>
                          </a:solidFill>
                        </a:rPr>
                        <a:t>Review</a:t>
                      </a:r>
                    </a:p>
                  </a:txBody>
                  <a:tcPr>
                    <a:solidFill>
                      <a:srgbClr val="D1D5B0"/>
                    </a:solidFill>
                  </a:tcPr>
                </a:tc>
                <a:tc>
                  <a:txBody>
                    <a:bodyPr/>
                    <a:lstStyle/>
                    <a:p>
                      <a:r>
                        <a:rPr sz="1100" b="0">
                          <a:solidFill>
                            <a:srgbClr val="6DA59E"/>
                          </a:solidFill>
                        </a:rPr>
                        <a:t>Switch</a:t>
                      </a:r>
                    </a:p>
                  </a:txBody>
                  <a:tcPr>
                    <a:solidFill>
                      <a:srgbClr val="D1D5B0"/>
                    </a:solidFill>
                  </a:tcPr>
                </a:tc>
                <a:tc>
                  <a:txBody>
                    <a:bodyPr/>
                    <a:lstStyle/>
                    <a:p>
                      <a:r>
                        <a:rPr sz="1100" b="0">
                          <a:solidFill>
                            <a:srgbClr val="6DA59E"/>
                          </a:solidFill>
                        </a:rPr>
                        <a:t>Viewport</a:t>
                      </a:r>
                    </a:p>
                  </a:txBody>
                  <a:tcPr>
                    <a:solidFill>
                      <a:srgbClr val="D1D5B0"/>
                    </a:solidFill>
                  </a:tcPr>
                </a:tc>
                <a:tc>
                  <a:txBody>
                    <a:bodyPr/>
                    <a:lstStyle/>
                    <a:p>
                      <a:r>
                        <a:rPr sz="1100" b="0">
                          <a:solidFill>
                            <a:srgbClr val="6DA59E"/>
                          </a:solidFill>
                        </a:rPr>
                        <a:t>Sample</a:t>
                      </a:r>
                    </a:p>
                  </a:txBody>
                  <a:tcPr>
                    <a:solidFill>
                      <a:srgbClr val="D1D5B0"/>
                    </a:solidFill>
                  </a:tcPr>
                </a:tc>
                <a:extLst>
                  <a:ext uri="{0D108BD9-81ED-4DB2-BD59-A6C34878D82A}">
                    <a16:rowId xmlns:a16="http://schemas.microsoft.com/office/drawing/2014/main" val="10003"/>
                  </a:ext>
                </a:extLst>
              </a:tr>
            </a:tbl>
          </a:graphicData>
        </a:graphic>
      </p:graphicFrame>
      <p:cxnSp>
        <p:nvCxnSpPr>
          <p:cNvPr id="15" name="Connector 14"/>
          <p:cNvCxnSpPr/>
          <p:nvPr/>
        </p:nvCxnSpPr>
        <p:spPr>
          <a:xfrm flipV="1">
            <a:off x="1641339" y="1238570"/>
            <a:ext cx="1089255" cy="959915"/>
          </a:xfrm>
          <a:prstGeom prst="line">
            <a:avLst/>
          </a:prstGeom>
          <a:ln w="21191">
            <a:solidFill>
              <a:srgbClr val="DB46B3"/>
            </a:solidFill>
            <a:prstDash val="lgDash"/>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4081914" y="1103061"/>
            <a:ext cx="1355615" cy="586112"/>
          </a:xfrm>
          <a:custGeom>
            <a:avLst/>
            <a:gdLst/>
            <a:ahLst/>
            <a:cxnLst/>
            <a:rect l="l" t="t" r="r" b="b"/>
            <a:pathLst>
              <a:path w="1355615" h="586112">
                <a:moveTo>
                  <a:pt x="0" y="284916"/>
                </a:moveTo>
                <a:lnTo>
                  <a:pt x="233224" y="0"/>
                </a:lnTo>
                <a:lnTo>
                  <a:pt x="481025" y="244213"/>
                </a:lnTo>
                <a:lnTo>
                  <a:pt x="728825" y="488427"/>
                </a:lnTo>
                <a:lnTo>
                  <a:pt x="991202" y="203511"/>
                </a:lnTo>
                <a:lnTo>
                  <a:pt x="1355615" y="309337"/>
                </a:lnTo>
                <a:lnTo>
                  <a:pt x="1355615" y="586112"/>
                </a:lnTo>
                <a:lnTo>
                  <a:pt x="0" y="586112"/>
                </a:lnTo>
                <a:close/>
              </a:path>
            </a:pathLst>
          </a:custGeom>
          <a:solidFill>
            <a:srgbClr val="BA214D"/>
          </a:solidFill>
          <a:ln w="26823">
            <a:solidFill>
              <a:srgbClr val="9DC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35173" y="3008666"/>
            <a:ext cx="1022479" cy="2117600"/>
          </a:xfrm>
          <a:prstGeom prst="rect">
            <a:avLst/>
          </a:prstGeom>
          <a:noFill/>
        </p:spPr>
        <p:txBody>
          <a:bodyPr wrap="none" lIns="19630" tIns="19630" rIns="19630" bIns="19630">
            <a:spAutoFit/>
          </a:bodyPr>
          <a:lstStyle/>
          <a:p>
            <a:r>
              <a:rPr sz="5700" b="1" i="0" u="none">
                <a:solidFill>
                  <a:srgbClr val="728464"/>
                </a:solidFill>
                <a:latin typeface="Georgia"/>
              </a:rPr>
              <a:t>Summary Pixel</a:t>
            </a:r>
          </a:p>
        </p:txBody>
      </p:sp>
      <p:sp>
        <p:nvSpPr>
          <p:cNvPr id="18" name="Rounded Rectangular Callout 17"/>
          <p:cNvSpPr/>
          <p:nvPr/>
        </p:nvSpPr>
        <p:spPr>
          <a:xfrm>
            <a:off x="9507620" y="3262458"/>
            <a:ext cx="1220882" cy="689961"/>
          </a:xfrm>
          <a:prstGeom prst="wedgeRoundRectCallout">
            <a:avLst/>
          </a:prstGeom>
          <a:solidFill>
            <a:srgbClr val="60E267"/>
          </a:solidFill>
          <a:ln w="19039">
            <a:solidFill>
              <a:srgbClr val="6EE49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9" name="Chart 18"/>
          <p:cNvGraphicFramePr>
            <a:graphicFrameLocks noGrp="1"/>
          </p:cNvGraphicFramePr>
          <p:nvPr/>
        </p:nvGraphicFramePr>
        <p:xfrm>
          <a:off x="5674966" y="966742"/>
          <a:ext cx="2116371" cy="2391092"/>
        </p:xfrm>
        <a:graphic>
          <a:graphicData uri="http://schemas.openxmlformats.org/drawingml/2006/chart">
            <c:chart xmlns:c="http://schemas.openxmlformats.org/drawingml/2006/chart" xmlns:r="http://schemas.openxmlformats.org/officeDocument/2006/relationships" r:id="rId4"/>
          </a:graphicData>
        </a:graphic>
      </p:graphicFrame>
      <p:pic>
        <p:nvPicPr>
          <p:cNvPr id="20" name="Picture 19" descr="_example_image.jpg"/>
          <p:cNvPicPr>
            <a:picLocks noChangeAspect="1"/>
          </p:cNvPicPr>
          <p:nvPr/>
        </p:nvPicPr>
        <p:blipFill>
          <a:blip r:embed="rId3"/>
          <a:srcRect l="8856" t="7327" r="10116" b="3663"/>
          <a:stretch>
            <a:fillRect/>
          </a:stretch>
        </p:blipFill>
        <p:spPr>
          <a:xfrm>
            <a:off x="241556" y="5105276"/>
            <a:ext cx="2447276" cy="1029131"/>
          </a:xfrm>
          <a:prstGeom prst="rect">
            <a:avLst/>
          </a:prstGeom>
        </p:spPr>
      </p:pic>
      <p:sp>
        <p:nvSpPr>
          <p:cNvPr id="21" name="TextBox 20"/>
          <p:cNvSpPr txBox="1"/>
          <p:nvPr/>
        </p:nvSpPr>
        <p:spPr>
          <a:xfrm>
            <a:off x="9211677" y="1584740"/>
            <a:ext cx="973930" cy="1242816"/>
          </a:xfrm>
          <a:prstGeom prst="rect">
            <a:avLst/>
          </a:prstGeom>
          <a:noFill/>
        </p:spPr>
        <p:txBody>
          <a:bodyPr wrap="none" lIns="33884" tIns="33884" rIns="33884" bIns="33884">
            <a:spAutoFit/>
          </a:bodyPr>
          <a:lstStyle/>
          <a:p>
            <a:r>
              <a:rPr sz="1400" b="1" i="0" u="none">
                <a:solidFill>
                  <a:srgbClr val="97949E"/>
                </a:solidFill>
                <a:latin typeface="Aptos"/>
              </a:rPr>
              <a:t>Frequency Stack Alignment Velocity Scope Frame Report Token Factor Phase Depth Trigger Function Column Relay Foundation Array Benchmark Vertex Motion Status Access Layer Collection Loop Canvas Deployment</a:t>
            </a:r>
          </a:p>
        </p:txBody>
      </p:sp>
      <p:sp>
        <p:nvSpPr>
          <p:cNvPr id="22" name="TextBox 21"/>
          <p:cNvSpPr txBox="1"/>
          <p:nvPr/>
        </p:nvSpPr>
        <p:spPr>
          <a:xfrm>
            <a:off x="3934203" y="2191083"/>
            <a:ext cx="3680016" cy="2383992"/>
          </a:xfrm>
          <a:prstGeom prst="rect">
            <a:avLst/>
          </a:prstGeom>
          <a:solidFill>
            <a:srgbClr val="986D25"/>
          </a:solidFill>
        </p:spPr>
        <p:txBody>
          <a:bodyPr wrap="none" lIns="51863" tIns="51863" rIns="51863" bIns="51863">
            <a:spAutoFit/>
          </a:bodyPr>
          <a:lstStyle/>
          <a:p>
            <a:r>
              <a:rPr sz="1100" b="1" i="1" u="sng">
                <a:solidFill>
                  <a:srgbClr val="7FE582"/>
                </a:solidFill>
                <a:latin typeface="Calibri"/>
              </a:rPr>
              <a:t>Map Sequence Flow Metric Frequency Core Region Range Signal Viewport Interval Signal Switch Story Review Module Drive Needle</a:t>
            </a:r>
          </a:p>
        </p:txBody>
      </p:sp>
      <p:cxnSp>
        <p:nvCxnSpPr>
          <p:cNvPr id="23" name="Connector 22"/>
          <p:cNvCxnSpPr/>
          <p:nvPr/>
        </p:nvCxnSpPr>
        <p:spPr>
          <a:xfrm flipV="1">
            <a:off x="7696297" y="2139404"/>
            <a:ext cx="875012" cy="518892"/>
          </a:xfrm>
          <a:prstGeom prst="line">
            <a:avLst/>
          </a:prstGeom>
          <a:ln w="36640">
            <a:solidFill>
              <a:srgbClr val="C32693"/>
            </a:solidFill>
            <a:prstDash val="lgDash"/>
          </a:ln>
        </p:spPr>
        <p:style>
          <a:lnRef idx="2">
            <a:schemeClr val="accent1"/>
          </a:lnRef>
          <a:fillRef idx="0">
            <a:schemeClr val="accent1"/>
          </a:fillRef>
          <a:effectRef idx="1">
            <a:schemeClr val="accent1"/>
          </a:effectRef>
          <a:fontRef idx="minor">
            <a:schemeClr val="tx1"/>
          </a:fontRef>
        </p:style>
      </p:cxnSp>
      <p:sp>
        <p:nvSpPr>
          <p:cNvPr id="24" name="Freeform 23"/>
          <p:cNvSpPr/>
          <p:nvPr/>
        </p:nvSpPr>
        <p:spPr>
          <a:xfrm>
            <a:off x="3243403" y="2655764"/>
            <a:ext cx="729823" cy="1291713"/>
          </a:xfrm>
          <a:custGeom>
            <a:avLst/>
            <a:gdLst/>
            <a:ahLst/>
            <a:cxnLst/>
            <a:rect l="l" t="t" r="r" b="b"/>
            <a:pathLst>
              <a:path w="729823" h="1291713">
                <a:moveTo>
                  <a:pt x="78475" y="219866"/>
                </a:moveTo>
                <a:lnTo>
                  <a:pt x="258969" y="0"/>
                </a:lnTo>
                <a:lnTo>
                  <a:pt x="533634" y="109933"/>
                </a:lnTo>
                <a:lnTo>
                  <a:pt x="729823" y="522182"/>
                </a:lnTo>
                <a:lnTo>
                  <a:pt x="627804" y="1071847"/>
                </a:lnTo>
                <a:lnTo>
                  <a:pt x="337445" y="1291713"/>
                </a:lnTo>
                <a:lnTo>
                  <a:pt x="47085" y="934431"/>
                </a:lnTo>
                <a:lnTo>
                  <a:pt x="0" y="467216"/>
                </a:lnTo>
                <a:close/>
              </a:path>
            </a:pathLst>
          </a:custGeom>
          <a:solidFill>
            <a:srgbClr val="4E7165"/>
          </a:solidFill>
          <a:ln w="30426">
            <a:solidFill>
              <a:srgbClr val="3C7C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64185" y="5238008"/>
            <a:ext cx="998511" cy="1064134"/>
          </a:xfrm>
          <a:prstGeom prst="rect">
            <a:avLst/>
          </a:prstGeom>
          <a:noFill/>
        </p:spPr>
        <p:txBody>
          <a:bodyPr wrap="none" lIns="83596" tIns="83596" rIns="83596" bIns="83596">
            <a:spAutoFit/>
          </a:bodyPr>
          <a:lstStyle/>
          <a:p>
            <a:r>
              <a:rPr sz="1900" b="0" i="0" u="none">
                <a:solidFill>
                  <a:srgbClr val="1CA655"/>
                </a:solidFill>
                <a:latin typeface="Arial"/>
              </a:rPr>
              <a:t>Option Craft Sequence Volume Index Marker Sample Snapshot Milestone Register Workflow Version Inventory</a:t>
            </a:r>
          </a:p>
        </p:txBody>
      </p:sp>
      <p:sp>
        <p:nvSpPr>
          <p:cNvPr id="26" name="8-Point Star 25"/>
          <p:cNvSpPr/>
          <p:nvPr/>
        </p:nvSpPr>
        <p:spPr>
          <a:xfrm>
            <a:off x="10564677" y="4521517"/>
            <a:ext cx="856708" cy="1079929"/>
          </a:xfrm>
          <a:prstGeom prst="star8">
            <a:avLst/>
          </a:prstGeom>
          <a:solidFill>
            <a:srgbClr val="244097"/>
          </a:solidFill>
          <a:ln w="9209">
            <a:solidFill>
              <a:srgbClr val="BC6D7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B2C32C25-BF08-31BE-EA4B-916B4C642B1F}"/>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681364" y="3150243"/>
            <a:ext cx="919835" cy="884271"/>
          </a:xfrm>
          <a:prstGeom prst="rect">
            <a:avLst/>
          </a:prstGeom>
        </p:spPr>
      </p:pic>
      <p:pic>
        <p:nvPicPr>
          <p:cNvPr id="30" name="Graphic 29">
            <a:extLst>
              <a:ext uri="{FF2B5EF4-FFF2-40B4-BE49-F238E27FC236}">
                <a16:creationId xmlns:a16="http://schemas.microsoft.com/office/drawing/2014/main" id="{1632439D-3998-9172-7B4C-F825244088A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112124" y="5694431"/>
            <a:ext cx="1491705" cy="85763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_example_image.jpg"/>
          <p:cNvPicPr>
            <a:picLocks noChangeAspect="1"/>
          </p:cNvPicPr>
          <p:nvPr/>
        </p:nvPicPr>
        <p:blipFill>
          <a:blip r:embed="rId2"/>
          <a:srcRect l="13027" t="12474" r="7103" b="19380"/>
          <a:stretch>
            <a:fillRect/>
          </a:stretch>
        </p:blipFill>
        <p:spPr>
          <a:xfrm>
            <a:off x="1613432" y="3159322"/>
            <a:ext cx="1085531" cy="897674"/>
          </a:xfrm>
          <a:prstGeom prst="rect">
            <a:avLst/>
          </a:prstGeom>
        </p:spPr>
      </p:pic>
      <p:sp>
        <p:nvSpPr>
          <p:cNvPr id="3" name="TextBox 2"/>
          <p:cNvSpPr txBox="1"/>
          <p:nvPr/>
        </p:nvSpPr>
        <p:spPr>
          <a:xfrm>
            <a:off x="2620738" y="2922599"/>
            <a:ext cx="1195653" cy="1870860"/>
          </a:xfrm>
          <a:prstGeom prst="rect">
            <a:avLst/>
          </a:prstGeom>
          <a:noFill/>
        </p:spPr>
        <p:txBody>
          <a:bodyPr wrap="none" lIns="31028" tIns="31028" rIns="31028" bIns="31028">
            <a:spAutoFit/>
          </a:bodyPr>
          <a:lstStyle/>
          <a:p>
            <a:r>
              <a:rPr sz="6400" b="1" i="0" u="sng">
                <a:solidFill>
                  <a:srgbClr val="D7244E"/>
                </a:solidFill>
                <a:latin typeface="Aptos"/>
              </a:rPr>
              <a:t>Friction Interval Table Trigger Trigger Path</a:t>
            </a:r>
          </a:p>
        </p:txBody>
      </p:sp>
      <p:cxnSp>
        <p:nvCxnSpPr>
          <p:cNvPr id="4" name="Connector 3"/>
          <p:cNvCxnSpPr/>
          <p:nvPr/>
        </p:nvCxnSpPr>
        <p:spPr>
          <a:xfrm>
            <a:off x="3981277" y="3011312"/>
            <a:ext cx="2650429" cy="631167"/>
          </a:xfrm>
          <a:prstGeom prst="line">
            <a:avLst/>
          </a:prstGeom>
          <a:ln w="29522">
            <a:solidFill>
              <a:srgbClr val="53DB7B"/>
            </a:solidFill>
            <a:prstDash val="dot"/>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038460" y="1019136"/>
            <a:ext cx="417242" cy="2232248"/>
          </a:xfrm>
          <a:prstGeom prst="rect">
            <a:avLst/>
          </a:prstGeom>
          <a:noFill/>
        </p:spPr>
        <p:txBody>
          <a:bodyPr wrap="none" lIns="51413" tIns="51413" rIns="51413" bIns="51413">
            <a:spAutoFit/>
          </a:bodyPr>
          <a:lstStyle/>
          <a:p>
            <a:r>
              <a:rPr sz="1400" b="1" i="1" u="none">
                <a:solidFill>
                  <a:srgbClr val="2D9B64"/>
                </a:solidFill>
                <a:latin typeface="Verdana"/>
              </a:rPr>
              <a:t>Frame Profile Envelope Coverage Estimate Runtime Canvas Expansion Graph North Precision Archive Impact Chart Trend Catalog Release Diagram Cortex Graph Command Group Pipeline Precision Column Strategy Draft Intent Function Result Graph Matrix Concept Structure Command Path Span Priority Density</a:t>
            </a:r>
          </a:p>
        </p:txBody>
      </p:sp>
      <p:cxnSp>
        <p:nvCxnSpPr>
          <p:cNvPr id="6" name="Connector 5"/>
          <p:cNvCxnSpPr/>
          <p:nvPr/>
        </p:nvCxnSpPr>
        <p:spPr>
          <a:xfrm>
            <a:off x="5710290" y="489013"/>
            <a:ext cx="2253563" cy="594902"/>
          </a:xfrm>
          <a:prstGeom prst="bentConnector3">
            <a:avLst/>
          </a:prstGeom>
          <a:ln w="8501">
            <a:solidFill>
              <a:srgbClr val="5343A1"/>
            </a:solidFill>
            <a:prstDash val="lgDash"/>
          </a:ln>
        </p:spPr>
        <p:style>
          <a:lnRef idx="2">
            <a:schemeClr val="accent1"/>
          </a:lnRef>
          <a:fillRef idx="0">
            <a:schemeClr val="accent1"/>
          </a:fillRef>
          <a:effectRef idx="1">
            <a:schemeClr val="accent1"/>
          </a:effectRef>
          <a:fontRef idx="minor">
            <a:schemeClr val="tx1"/>
          </a:fontRef>
        </p:style>
      </p:cxnSp>
      <p:sp>
        <p:nvSpPr>
          <p:cNvPr id="7" name="Freeform 6"/>
          <p:cNvSpPr/>
          <p:nvPr/>
        </p:nvSpPr>
        <p:spPr>
          <a:xfrm>
            <a:off x="7406285" y="585599"/>
            <a:ext cx="1090130" cy="397593"/>
          </a:xfrm>
          <a:custGeom>
            <a:avLst/>
            <a:gdLst/>
            <a:ahLst/>
            <a:cxnLst/>
            <a:rect l="l" t="t" r="r" b="b"/>
            <a:pathLst>
              <a:path w="1090130" h="397593">
                <a:moveTo>
                  <a:pt x="0" y="193275"/>
                </a:moveTo>
                <a:lnTo>
                  <a:pt x="187550" y="0"/>
                </a:lnTo>
                <a:lnTo>
                  <a:pt x="386821" y="165664"/>
                </a:lnTo>
                <a:lnTo>
                  <a:pt x="586092" y="331328"/>
                </a:lnTo>
                <a:lnTo>
                  <a:pt x="797085" y="138053"/>
                </a:lnTo>
                <a:lnTo>
                  <a:pt x="1090130" y="209841"/>
                </a:lnTo>
                <a:lnTo>
                  <a:pt x="1090130" y="397593"/>
                </a:lnTo>
                <a:lnTo>
                  <a:pt x="0" y="397593"/>
                </a:lnTo>
                <a:close/>
              </a:path>
            </a:pathLst>
          </a:custGeom>
          <a:solidFill>
            <a:srgbClr val="419D1F"/>
          </a:solidFill>
          <a:ln w="10825">
            <a:solidFill>
              <a:srgbClr val="4C2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854006" y="4736891"/>
          <a:ext cx="2342717" cy="1141357"/>
        </p:xfrm>
        <a:graphic>
          <a:graphicData uri="http://schemas.openxmlformats.org/drawingml/2006/table">
            <a:tbl>
              <a:tblPr firstRow="1" bandRow="1">
                <a:tableStyleId>{5C22544A-7EE6-4342-B048-85BDC9FD1C3A}</a:tableStyleId>
              </a:tblPr>
              <a:tblGrid>
                <a:gridCol w="390452">
                  <a:extLst>
                    <a:ext uri="{9D8B030D-6E8A-4147-A177-3AD203B41FA5}">
                      <a16:colId xmlns:a16="http://schemas.microsoft.com/office/drawing/2014/main" val="20000"/>
                    </a:ext>
                  </a:extLst>
                </a:gridCol>
                <a:gridCol w="390452">
                  <a:extLst>
                    <a:ext uri="{9D8B030D-6E8A-4147-A177-3AD203B41FA5}">
                      <a16:colId xmlns:a16="http://schemas.microsoft.com/office/drawing/2014/main" val="20001"/>
                    </a:ext>
                  </a:extLst>
                </a:gridCol>
                <a:gridCol w="390452">
                  <a:extLst>
                    <a:ext uri="{9D8B030D-6E8A-4147-A177-3AD203B41FA5}">
                      <a16:colId xmlns:a16="http://schemas.microsoft.com/office/drawing/2014/main" val="20002"/>
                    </a:ext>
                  </a:extLst>
                </a:gridCol>
                <a:gridCol w="390452">
                  <a:extLst>
                    <a:ext uri="{9D8B030D-6E8A-4147-A177-3AD203B41FA5}">
                      <a16:colId xmlns:a16="http://schemas.microsoft.com/office/drawing/2014/main" val="20003"/>
                    </a:ext>
                  </a:extLst>
                </a:gridCol>
                <a:gridCol w="390452">
                  <a:extLst>
                    <a:ext uri="{9D8B030D-6E8A-4147-A177-3AD203B41FA5}">
                      <a16:colId xmlns:a16="http://schemas.microsoft.com/office/drawing/2014/main" val="20004"/>
                    </a:ext>
                  </a:extLst>
                </a:gridCol>
                <a:gridCol w="390457">
                  <a:extLst>
                    <a:ext uri="{9D8B030D-6E8A-4147-A177-3AD203B41FA5}">
                      <a16:colId xmlns:a16="http://schemas.microsoft.com/office/drawing/2014/main" val="20005"/>
                    </a:ext>
                  </a:extLst>
                </a:gridCol>
              </a:tblGrid>
              <a:tr h="285339">
                <a:tc>
                  <a:txBody>
                    <a:bodyPr/>
                    <a:lstStyle/>
                    <a:p>
                      <a:r>
                        <a:rPr sz="1200" b="0">
                          <a:solidFill>
                            <a:srgbClr val="BAC296"/>
                          </a:solidFill>
                        </a:rPr>
                        <a:t>Insight Volume</a:t>
                      </a:r>
                    </a:p>
                  </a:txBody>
                  <a:tcPr>
                    <a:solidFill>
                      <a:srgbClr val="E6DBD6"/>
                    </a:solidFill>
                  </a:tcPr>
                </a:tc>
                <a:tc>
                  <a:txBody>
                    <a:bodyPr/>
                    <a:lstStyle/>
                    <a:p>
                      <a:r>
                        <a:rPr sz="1200" b="0">
                          <a:solidFill>
                            <a:srgbClr val="BAC296"/>
                          </a:solidFill>
                        </a:rPr>
                        <a:t>Threshold Spectrum</a:t>
                      </a:r>
                    </a:p>
                  </a:txBody>
                  <a:tcPr>
                    <a:solidFill>
                      <a:srgbClr val="E6DBD6"/>
                    </a:solidFill>
                  </a:tcPr>
                </a:tc>
                <a:tc>
                  <a:txBody>
                    <a:bodyPr/>
                    <a:lstStyle/>
                    <a:p>
                      <a:r>
                        <a:rPr sz="1200" b="0">
                          <a:solidFill>
                            <a:srgbClr val="BAC296"/>
                          </a:solidFill>
                        </a:rPr>
                        <a:t>Priority</a:t>
                      </a:r>
                    </a:p>
                  </a:txBody>
                  <a:tcPr>
                    <a:solidFill>
                      <a:srgbClr val="E6DBD6"/>
                    </a:solidFill>
                  </a:tcPr>
                </a:tc>
                <a:tc>
                  <a:txBody>
                    <a:bodyPr/>
                    <a:lstStyle/>
                    <a:p>
                      <a:r>
                        <a:rPr sz="1200" b="0">
                          <a:solidFill>
                            <a:srgbClr val="BAC296"/>
                          </a:solidFill>
                        </a:rPr>
                        <a:t>Process</a:t>
                      </a:r>
                    </a:p>
                  </a:txBody>
                  <a:tcPr>
                    <a:solidFill>
                      <a:srgbClr val="E6DBD6"/>
                    </a:solidFill>
                  </a:tcPr>
                </a:tc>
                <a:tc>
                  <a:txBody>
                    <a:bodyPr/>
                    <a:lstStyle/>
                    <a:p>
                      <a:r>
                        <a:rPr sz="1200" b="0">
                          <a:solidFill>
                            <a:srgbClr val="BAC296"/>
                          </a:solidFill>
                        </a:rPr>
                        <a:t>Compass Packet</a:t>
                      </a:r>
                    </a:p>
                  </a:txBody>
                  <a:tcPr>
                    <a:solidFill>
                      <a:srgbClr val="E6DBD6"/>
                    </a:solidFill>
                  </a:tcPr>
                </a:tc>
                <a:tc>
                  <a:txBody>
                    <a:bodyPr/>
                    <a:lstStyle/>
                    <a:p>
                      <a:r>
                        <a:rPr sz="1200" b="0">
                          <a:solidFill>
                            <a:srgbClr val="BAC296"/>
                          </a:solidFill>
                        </a:rPr>
                        <a:t>Harbor Duration</a:t>
                      </a:r>
                    </a:p>
                  </a:txBody>
                  <a:tcPr>
                    <a:solidFill>
                      <a:srgbClr val="E6DBD6"/>
                    </a:solidFill>
                  </a:tcPr>
                </a:tc>
                <a:extLst>
                  <a:ext uri="{0D108BD9-81ED-4DB2-BD59-A6C34878D82A}">
                    <a16:rowId xmlns:a16="http://schemas.microsoft.com/office/drawing/2014/main" val="10000"/>
                  </a:ext>
                </a:extLst>
              </a:tr>
              <a:tr h="285339">
                <a:tc>
                  <a:txBody>
                    <a:bodyPr/>
                    <a:lstStyle/>
                    <a:p>
                      <a:r>
                        <a:rPr sz="1200" b="0">
                          <a:solidFill>
                            <a:srgbClr val="BAC296"/>
                          </a:solidFill>
                        </a:rPr>
                        <a:t>Pulse Estimate</a:t>
                      </a:r>
                    </a:p>
                  </a:txBody>
                  <a:tcPr>
                    <a:solidFill>
                      <a:srgbClr val="E6DBD6"/>
                    </a:solidFill>
                  </a:tcPr>
                </a:tc>
                <a:tc>
                  <a:txBody>
                    <a:bodyPr/>
                    <a:lstStyle/>
                    <a:p>
                      <a:r>
                        <a:rPr sz="1200" b="0">
                          <a:solidFill>
                            <a:srgbClr val="BAC296"/>
                          </a:solidFill>
                        </a:rPr>
                        <a:t>Source</a:t>
                      </a:r>
                    </a:p>
                  </a:txBody>
                  <a:tcPr>
                    <a:solidFill>
                      <a:srgbClr val="E6DBD6"/>
                    </a:solidFill>
                  </a:tcPr>
                </a:tc>
                <a:tc>
                  <a:txBody>
                    <a:bodyPr/>
                    <a:lstStyle/>
                    <a:p>
                      <a:r>
                        <a:rPr sz="1200" b="0">
                          <a:solidFill>
                            <a:srgbClr val="BAC296"/>
                          </a:solidFill>
                        </a:rPr>
                        <a:t>Context</a:t>
                      </a:r>
                    </a:p>
                  </a:txBody>
                  <a:tcPr>
                    <a:solidFill>
                      <a:srgbClr val="E6DBD6"/>
                    </a:solidFill>
                  </a:tcPr>
                </a:tc>
                <a:tc>
                  <a:txBody>
                    <a:bodyPr/>
                    <a:lstStyle/>
                    <a:p>
                      <a:r>
                        <a:rPr sz="1200" b="0">
                          <a:solidFill>
                            <a:srgbClr val="BAC296"/>
                          </a:solidFill>
                        </a:rPr>
                        <a:t>Baseline</a:t>
                      </a:r>
                    </a:p>
                  </a:txBody>
                  <a:tcPr>
                    <a:solidFill>
                      <a:srgbClr val="E6DBD6"/>
                    </a:solidFill>
                  </a:tcPr>
                </a:tc>
                <a:tc>
                  <a:txBody>
                    <a:bodyPr/>
                    <a:lstStyle/>
                    <a:p>
                      <a:r>
                        <a:rPr sz="1200" b="0">
                          <a:solidFill>
                            <a:srgbClr val="BAC296"/>
                          </a:solidFill>
                        </a:rPr>
                        <a:t>Briefing</a:t>
                      </a:r>
                    </a:p>
                  </a:txBody>
                  <a:tcPr>
                    <a:solidFill>
                      <a:srgbClr val="E6DBD6"/>
                    </a:solidFill>
                  </a:tcPr>
                </a:tc>
                <a:tc>
                  <a:txBody>
                    <a:bodyPr/>
                    <a:lstStyle/>
                    <a:p>
                      <a:r>
                        <a:rPr sz="1200" b="0">
                          <a:solidFill>
                            <a:srgbClr val="BAC296"/>
                          </a:solidFill>
                        </a:rPr>
                        <a:t>Alignment Plan</a:t>
                      </a:r>
                    </a:p>
                  </a:txBody>
                  <a:tcPr>
                    <a:solidFill>
                      <a:srgbClr val="E6DBD6"/>
                    </a:solidFill>
                  </a:tcPr>
                </a:tc>
                <a:extLst>
                  <a:ext uri="{0D108BD9-81ED-4DB2-BD59-A6C34878D82A}">
                    <a16:rowId xmlns:a16="http://schemas.microsoft.com/office/drawing/2014/main" val="10001"/>
                  </a:ext>
                </a:extLst>
              </a:tr>
              <a:tr h="285339">
                <a:tc>
                  <a:txBody>
                    <a:bodyPr/>
                    <a:lstStyle/>
                    <a:p>
                      <a:r>
                        <a:rPr sz="1200" b="0">
                          <a:solidFill>
                            <a:srgbClr val="BAC296"/>
                          </a:solidFill>
                        </a:rPr>
                        <a:t>Envelope Story</a:t>
                      </a:r>
                    </a:p>
                  </a:txBody>
                  <a:tcPr>
                    <a:solidFill>
                      <a:srgbClr val="E6DBD6"/>
                    </a:solidFill>
                  </a:tcPr>
                </a:tc>
                <a:tc>
                  <a:txBody>
                    <a:bodyPr/>
                    <a:lstStyle/>
                    <a:p>
                      <a:r>
                        <a:rPr sz="1200" b="0">
                          <a:solidFill>
                            <a:srgbClr val="BAC296"/>
                          </a:solidFill>
                        </a:rPr>
                        <a:t>Context Device</a:t>
                      </a:r>
                    </a:p>
                  </a:txBody>
                  <a:tcPr>
                    <a:solidFill>
                      <a:srgbClr val="E6DBD6"/>
                    </a:solidFill>
                  </a:tcPr>
                </a:tc>
                <a:tc>
                  <a:txBody>
                    <a:bodyPr/>
                    <a:lstStyle/>
                    <a:p>
                      <a:r>
                        <a:rPr sz="1200" b="0">
                          <a:solidFill>
                            <a:srgbClr val="BAC296"/>
                          </a:solidFill>
                        </a:rPr>
                        <a:t>Stack</a:t>
                      </a:r>
                    </a:p>
                  </a:txBody>
                  <a:tcPr>
                    <a:solidFill>
                      <a:srgbClr val="E6DBD6"/>
                    </a:solidFill>
                  </a:tcPr>
                </a:tc>
                <a:tc>
                  <a:txBody>
                    <a:bodyPr/>
                    <a:lstStyle/>
                    <a:p>
                      <a:r>
                        <a:rPr sz="1200" b="0">
                          <a:solidFill>
                            <a:srgbClr val="BAC296"/>
                          </a:solidFill>
                        </a:rPr>
                        <a:t>Strategy Review</a:t>
                      </a:r>
                    </a:p>
                  </a:txBody>
                  <a:tcPr>
                    <a:solidFill>
                      <a:srgbClr val="E6DBD6"/>
                    </a:solidFill>
                  </a:tcPr>
                </a:tc>
                <a:tc>
                  <a:txBody>
                    <a:bodyPr/>
                    <a:lstStyle/>
                    <a:p>
                      <a:r>
                        <a:rPr sz="1200" b="0">
                          <a:solidFill>
                            <a:srgbClr val="BAC296"/>
                          </a:solidFill>
                        </a:rPr>
                        <a:t>Capacity Channel</a:t>
                      </a:r>
                    </a:p>
                  </a:txBody>
                  <a:tcPr>
                    <a:solidFill>
                      <a:srgbClr val="E6DBD6"/>
                    </a:solidFill>
                  </a:tcPr>
                </a:tc>
                <a:tc>
                  <a:txBody>
                    <a:bodyPr/>
                    <a:lstStyle/>
                    <a:p>
                      <a:r>
                        <a:rPr sz="1200" b="0">
                          <a:solidFill>
                            <a:srgbClr val="BAC296"/>
                          </a:solidFill>
                        </a:rPr>
                        <a:t>Precision</a:t>
                      </a:r>
                    </a:p>
                  </a:txBody>
                  <a:tcPr>
                    <a:solidFill>
                      <a:srgbClr val="E6DBD6"/>
                    </a:solidFill>
                  </a:tcPr>
                </a:tc>
                <a:extLst>
                  <a:ext uri="{0D108BD9-81ED-4DB2-BD59-A6C34878D82A}">
                    <a16:rowId xmlns:a16="http://schemas.microsoft.com/office/drawing/2014/main" val="10002"/>
                  </a:ext>
                </a:extLst>
              </a:tr>
              <a:tr h="285340">
                <a:tc>
                  <a:txBody>
                    <a:bodyPr/>
                    <a:lstStyle/>
                    <a:p>
                      <a:r>
                        <a:rPr sz="1200" b="0">
                          <a:solidFill>
                            <a:srgbClr val="BAC296"/>
                          </a:solidFill>
                        </a:rPr>
                        <a:t>Trend Column</a:t>
                      </a:r>
                    </a:p>
                  </a:txBody>
                  <a:tcPr>
                    <a:solidFill>
                      <a:srgbClr val="E6DBD6"/>
                    </a:solidFill>
                  </a:tcPr>
                </a:tc>
                <a:tc>
                  <a:txBody>
                    <a:bodyPr/>
                    <a:lstStyle/>
                    <a:p>
                      <a:r>
                        <a:rPr sz="1200" b="0">
                          <a:solidFill>
                            <a:srgbClr val="BAC296"/>
                          </a:solidFill>
                        </a:rPr>
                        <a:t>Register</a:t>
                      </a:r>
                    </a:p>
                  </a:txBody>
                  <a:tcPr>
                    <a:solidFill>
                      <a:srgbClr val="E6DBD6"/>
                    </a:solidFill>
                  </a:tcPr>
                </a:tc>
                <a:tc>
                  <a:txBody>
                    <a:bodyPr/>
                    <a:lstStyle/>
                    <a:p>
                      <a:r>
                        <a:rPr sz="1200" b="0">
                          <a:solidFill>
                            <a:srgbClr val="BAC296"/>
                          </a:solidFill>
                        </a:rPr>
                        <a:t>Spectrum</a:t>
                      </a:r>
                    </a:p>
                  </a:txBody>
                  <a:tcPr>
                    <a:solidFill>
                      <a:srgbClr val="E6DBD6"/>
                    </a:solidFill>
                  </a:tcPr>
                </a:tc>
                <a:tc>
                  <a:txBody>
                    <a:bodyPr/>
                    <a:lstStyle/>
                    <a:p>
                      <a:r>
                        <a:rPr sz="1200" b="0">
                          <a:solidFill>
                            <a:srgbClr val="BAC296"/>
                          </a:solidFill>
                        </a:rPr>
                        <a:t>Threshold Brief</a:t>
                      </a:r>
                    </a:p>
                  </a:txBody>
                  <a:tcPr>
                    <a:solidFill>
                      <a:srgbClr val="E6DBD6"/>
                    </a:solidFill>
                  </a:tcPr>
                </a:tc>
                <a:tc>
                  <a:txBody>
                    <a:bodyPr/>
                    <a:lstStyle/>
                    <a:p>
                      <a:r>
                        <a:rPr sz="1200" b="0">
                          <a:solidFill>
                            <a:srgbClr val="BAC296"/>
                          </a:solidFill>
                        </a:rPr>
                        <a:t>Focus</a:t>
                      </a:r>
                    </a:p>
                  </a:txBody>
                  <a:tcPr>
                    <a:solidFill>
                      <a:srgbClr val="E6DBD6"/>
                    </a:solidFill>
                  </a:tcPr>
                </a:tc>
                <a:tc>
                  <a:txBody>
                    <a:bodyPr/>
                    <a:lstStyle/>
                    <a:p>
                      <a:r>
                        <a:rPr sz="1200" b="0">
                          <a:solidFill>
                            <a:srgbClr val="BAC296"/>
                          </a:solidFill>
                        </a:rPr>
                        <a:t>Status</a:t>
                      </a:r>
                    </a:p>
                  </a:txBody>
                  <a:tcPr>
                    <a:solidFill>
                      <a:srgbClr val="E6DBD6"/>
                    </a:solidFill>
                  </a:tcPr>
                </a:tc>
                <a:extLst>
                  <a:ext uri="{0D108BD9-81ED-4DB2-BD59-A6C34878D82A}">
                    <a16:rowId xmlns:a16="http://schemas.microsoft.com/office/drawing/2014/main" val="10003"/>
                  </a:ext>
                </a:extLst>
              </a:tr>
            </a:tbl>
          </a:graphicData>
        </a:graphic>
      </p:graphicFrame>
      <p:sp>
        <p:nvSpPr>
          <p:cNvPr id="9" name="Rectangular Callout 8"/>
          <p:cNvSpPr/>
          <p:nvPr/>
        </p:nvSpPr>
        <p:spPr>
          <a:xfrm>
            <a:off x="4557596" y="4015242"/>
            <a:ext cx="2125005" cy="318384"/>
          </a:xfrm>
          <a:prstGeom prst="wedgeRectCallout">
            <a:avLst/>
          </a:prstGeom>
          <a:solidFill>
            <a:srgbClr val="34AABD"/>
          </a:solidFill>
          <a:ln w="27176">
            <a:solidFill>
              <a:srgbClr val="30522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lus 9"/>
          <p:cNvSpPr/>
          <p:nvPr/>
        </p:nvSpPr>
        <p:spPr>
          <a:xfrm>
            <a:off x="387146" y="5762980"/>
            <a:ext cx="2726143" cy="796332"/>
          </a:xfrm>
          <a:prstGeom prst="mathPlus">
            <a:avLst/>
          </a:prstGeom>
          <a:solidFill>
            <a:srgbClr val="36B2A6"/>
          </a:solidFill>
          <a:ln w="22103">
            <a:solidFill>
              <a:srgbClr val="D42FD6"/>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10548735" y="1506752"/>
            <a:ext cx="1158230" cy="1276460"/>
          </a:xfrm>
          <a:custGeom>
            <a:avLst/>
            <a:gdLst/>
            <a:ahLst/>
            <a:cxnLst/>
            <a:rect l="l" t="t" r="r" b="b"/>
            <a:pathLst>
              <a:path w="1158230" h="1276460">
                <a:moveTo>
                  <a:pt x="579115" y="0"/>
                </a:moveTo>
                <a:lnTo>
                  <a:pt x="723893" y="319115"/>
                </a:lnTo>
                <a:lnTo>
                  <a:pt x="1085840" y="229763"/>
                </a:lnTo>
                <a:lnTo>
                  <a:pt x="880737" y="638230"/>
                </a:lnTo>
                <a:lnTo>
                  <a:pt x="1158230" y="995639"/>
                </a:lnTo>
                <a:lnTo>
                  <a:pt x="723893" y="919051"/>
                </a:lnTo>
                <a:lnTo>
                  <a:pt x="579115" y="1276460"/>
                </a:lnTo>
                <a:lnTo>
                  <a:pt x="434336" y="919051"/>
                </a:lnTo>
                <a:lnTo>
                  <a:pt x="0" y="995639"/>
                </a:lnTo>
                <a:lnTo>
                  <a:pt x="277492" y="638230"/>
                </a:lnTo>
                <a:lnTo>
                  <a:pt x="72389" y="229763"/>
                </a:lnTo>
                <a:lnTo>
                  <a:pt x="434336" y="319115"/>
                </a:lnTo>
                <a:close/>
              </a:path>
            </a:pathLst>
          </a:custGeom>
          <a:solidFill>
            <a:srgbClr val="83789D"/>
          </a:solidFill>
          <a:ln w="32906">
            <a:solidFill>
              <a:srgbClr val="B63F1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loud 11"/>
          <p:cNvSpPr/>
          <p:nvPr/>
        </p:nvSpPr>
        <p:spPr>
          <a:xfrm>
            <a:off x="3817866" y="705403"/>
            <a:ext cx="1582628" cy="441344"/>
          </a:xfrm>
          <a:prstGeom prst="cloud">
            <a:avLst/>
          </a:prstGeom>
          <a:solidFill>
            <a:srgbClr val="94A175"/>
          </a:solidFill>
          <a:ln w="12593">
            <a:solidFill>
              <a:srgbClr val="493B8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Explosion 12"/>
          <p:cNvSpPr/>
          <p:nvPr/>
        </p:nvSpPr>
        <p:spPr>
          <a:xfrm>
            <a:off x="9178105" y="475333"/>
            <a:ext cx="1694670" cy="1020954"/>
          </a:xfrm>
          <a:prstGeom prst="irregularSeal2">
            <a:avLst/>
          </a:prstGeom>
          <a:noFill/>
          <a:ln w="12438">
            <a:solidFill>
              <a:srgbClr val="6CA77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_example_image.jpg"/>
          <p:cNvPicPr>
            <a:picLocks noChangeAspect="1"/>
          </p:cNvPicPr>
          <p:nvPr/>
        </p:nvPicPr>
        <p:blipFill>
          <a:blip r:embed="rId2"/>
          <a:srcRect/>
          <a:stretch>
            <a:fillRect/>
          </a:stretch>
        </p:blipFill>
        <p:spPr>
          <a:xfrm>
            <a:off x="575739" y="2088609"/>
            <a:ext cx="2026886" cy="1014468"/>
          </a:xfrm>
          <a:prstGeom prst="rect">
            <a:avLst/>
          </a:prstGeom>
        </p:spPr>
      </p:pic>
      <p:sp>
        <p:nvSpPr>
          <p:cNvPr id="15" name="Rectangle 14"/>
          <p:cNvSpPr/>
          <p:nvPr/>
        </p:nvSpPr>
        <p:spPr>
          <a:xfrm>
            <a:off x="5970098" y="1739702"/>
            <a:ext cx="1025373" cy="1313787"/>
          </a:xfrm>
          <a:prstGeom prst="rect">
            <a:avLst/>
          </a:prstGeom>
          <a:solidFill>
            <a:srgbClr val="2B52E6"/>
          </a:solidFill>
          <a:ln w="21001">
            <a:solidFill>
              <a:srgbClr val="7F3920"/>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47596" y="1940758"/>
            <a:ext cx="628727" cy="2062320"/>
          </a:xfrm>
          <a:prstGeom prst="rect">
            <a:avLst/>
          </a:prstGeom>
          <a:noFill/>
        </p:spPr>
        <p:txBody>
          <a:bodyPr wrap="none" lIns="69592" tIns="69592" rIns="69592" bIns="69592">
            <a:spAutoFit/>
          </a:bodyPr>
          <a:lstStyle/>
          <a:p>
            <a:r>
              <a:rPr sz="2500" b="0" i="0" u="none">
                <a:solidFill>
                  <a:srgbClr val="A5BD67"/>
                </a:solidFill>
                <a:latin typeface="Verdana"/>
              </a:rPr>
              <a:t>Echo Needle Iteration Heading Layer Column Estimate Bundle Region Transit Input</a:t>
            </a:r>
          </a:p>
        </p:txBody>
      </p:sp>
      <p:sp>
        <p:nvSpPr>
          <p:cNvPr id="17" name="TextBox 16"/>
          <p:cNvSpPr txBox="1"/>
          <p:nvPr/>
        </p:nvSpPr>
        <p:spPr>
          <a:xfrm>
            <a:off x="3362499" y="5127976"/>
            <a:ext cx="3461334" cy="1275599"/>
          </a:xfrm>
          <a:prstGeom prst="rect">
            <a:avLst/>
          </a:prstGeom>
          <a:noFill/>
        </p:spPr>
        <p:txBody>
          <a:bodyPr wrap="none" lIns="84002" tIns="84002" rIns="84002" bIns="84002">
            <a:spAutoFit/>
          </a:bodyPr>
          <a:lstStyle/>
          <a:p>
            <a:r>
              <a:rPr sz="900" b="1" i="0" u="none">
                <a:solidFill>
                  <a:srgbClr val="588E61"/>
                </a:solidFill>
                <a:latin typeface="Calibri"/>
              </a:rPr>
              <a:t>Clarity Pulse Cluster Energy Benchmark Aspect Report Depth Process Filter Memory</a:t>
            </a:r>
          </a:p>
        </p:txBody>
      </p:sp>
      <p:graphicFrame>
        <p:nvGraphicFramePr>
          <p:cNvPr id="18" name="Chart 17"/>
          <p:cNvGraphicFramePr>
            <a:graphicFrameLocks noGrp="1"/>
          </p:cNvGraphicFramePr>
          <p:nvPr/>
        </p:nvGraphicFramePr>
        <p:xfrm>
          <a:off x="618411" y="658042"/>
          <a:ext cx="2880440" cy="1412841"/>
        </p:xfrm>
        <a:graphic>
          <a:graphicData uri="http://schemas.openxmlformats.org/drawingml/2006/chart">
            <c:chart xmlns:c="http://schemas.openxmlformats.org/drawingml/2006/chart" xmlns:r="http://schemas.openxmlformats.org/officeDocument/2006/relationships" r:id="rId3"/>
          </a:graphicData>
        </a:graphic>
      </p:graphicFrame>
      <p:pic>
        <p:nvPicPr>
          <p:cNvPr id="19" name="Picture 18" descr="_example_image.jpg"/>
          <p:cNvPicPr>
            <a:picLocks noChangeAspect="1"/>
          </p:cNvPicPr>
          <p:nvPr/>
        </p:nvPicPr>
        <p:blipFill>
          <a:blip r:embed="rId2"/>
          <a:srcRect/>
          <a:stretch>
            <a:fillRect/>
          </a:stretch>
        </p:blipFill>
        <p:spPr>
          <a:xfrm>
            <a:off x="8461415" y="5392324"/>
            <a:ext cx="1693084" cy="817978"/>
          </a:xfrm>
          <a:prstGeom prst="rect">
            <a:avLst/>
          </a:prstGeom>
        </p:spPr>
      </p:pic>
      <p:sp>
        <p:nvSpPr>
          <p:cNvPr id="20" name="Rounded Rectangle 19"/>
          <p:cNvSpPr/>
          <p:nvPr/>
        </p:nvSpPr>
        <p:spPr>
          <a:xfrm>
            <a:off x="8461415" y="5392324"/>
            <a:ext cx="1693084" cy="817978"/>
          </a:xfrm>
          <a:prstGeom prst="roundRect">
            <a:avLst/>
          </a:prstGeom>
          <a:noFill/>
          <a:ln w="15240">
            <a:solidFill>
              <a:srgbClr val="614C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5441945" y="4318099"/>
          <a:ext cx="2575819" cy="940940"/>
        </p:xfrm>
        <a:graphic>
          <a:graphicData uri="http://schemas.openxmlformats.org/drawingml/2006/table">
            <a:tbl>
              <a:tblPr firstRow="1" bandRow="1">
                <a:tableStyleId>{5C22544A-7EE6-4342-B048-85BDC9FD1C3A}</a:tableStyleId>
              </a:tblPr>
              <a:tblGrid>
                <a:gridCol w="429303">
                  <a:extLst>
                    <a:ext uri="{9D8B030D-6E8A-4147-A177-3AD203B41FA5}">
                      <a16:colId xmlns:a16="http://schemas.microsoft.com/office/drawing/2014/main" val="20000"/>
                    </a:ext>
                  </a:extLst>
                </a:gridCol>
                <a:gridCol w="429303">
                  <a:extLst>
                    <a:ext uri="{9D8B030D-6E8A-4147-A177-3AD203B41FA5}">
                      <a16:colId xmlns:a16="http://schemas.microsoft.com/office/drawing/2014/main" val="20001"/>
                    </a:ext>
                  </a:extLst>
                </a:gridCol>
                <a:gridCol w="429303">
                  <a:extLst>
                    <a:ext uri="{9D8B030D-6E8A-4147-A177-3AD203B41FA5}">
                      <a16:colId xmlns:a16="http://schemas.microsoft.com/office/drawing/2014/main" val="20002"/>
                    </a:ext>
                  </a:extLst>
                </a:gridCol>
                <a:gridCol w="429303">
                  <a:extLst>
                    <a:ext uri="{9D8B030D-6E8A-4147-A177-3AD203B41FA5}">
                      <a16:colId xmlns:a16="http://schemas.microsoft.com/office/drawing/2014/main" val="20003"/>
                    </a:ext>
                  </a:extLst>
                </a:gridCol>
                <a:gridCol w="429303">
                  <a:extLst>
                    <a:ext uri="{9D8B030D-6E8A-4147-A177-3AD203B41FA5}">
                      <a16:colId xmlns:a16="http://schemas.microsoft.com/office/drawing/2014/main" val="20004"/>
                    </a:ext>
                  </a:extLst>
                </a:gridCol>
                <a:gridCol w="429304">
                  <a:extLst>
                    <a:ext uri="{9D8B030D-6E8A-4147-A177-3AD203B41FA5}">
                      <a16:colId xmlns:a16="http://schemas.microsoft.com/office/drawing/2014/main" val="20005"/>
                    </a:ext>
                  </a:extLst>
                </a:gridCol>
              </a:tblGrid>
              <a:tr h="188188">
                <a:tc>
                  <a:txBody>
                    <a:bodyPr/>
                    <a:lstStyle/>
                    <a:p>
                      <a:r>
                        <a:rPr sz="1100" b="1">
                          <a:solidFill>
                            <a:srgbClr val="509449"/>
                          </a:solidFill>
                        </a:rPr>
                        <a:t>Packet Segment</a:t>
                      </a:r>
                    </a:p>
                  </a:txBody>
                  <a:tcPr>
                    <a:solidFill>
                      <a:srgbClr val="C2D279"/>
                    </a:solidFill>
                  </a:tcPr>
                </a:tc>
                <a:tc>
                  <a:txBody>
                    <a:bodyPr/>
                    <a:lstStyle/>
                    <a:p>
                      <a:r>
                        <a:rPr sz="1100" b="1">
                          <a:solidFill>
                            <a:srgbClr val="509449"/>
                          </a:solidFill>
                        </a:rPr>
                        <a:t>Track</a:t>
                      </a:r>
                    </a:p>
                  </a:txBody>
                  <a:tcPr>
                    <a:solidFill>
                      <a:srgbClr val="C2D279"/>
                    </a:solidFill>
                  </a:tcPr>
                </a:tc>
                <a:tc>
                  <a:txBody>
                    <a:bodyPr/>
                    <a:lstStyle/>
                    <a:p>
                      <a:r>
                        <a:rPr sz="1100" b="1">
                          <a:solidFill>
                            <a:srgbClr val="509449"/>
                          </a:solidFill>
                        </a:rPr>
                        <a:t>Canvas Pattern</a:t>
                      </a:r>
                    </a:p>
                  </a:txBody>
                  <a:tcPr>
                    <a:solidFill>
                      <a:srgbClr val="C2D279"/>
                    </a:solidFill>
                  </a:tcPr>
                </a:tc>
                <a:tc>
                  <a:txBody>
                    <a:bodyPr/>
                    <a:lstStyle/>
                    <a:p>
                      <a:r>
                        <a:rPr sz="1100" b="1">
                          <a:solidFill>
                            <a:srgbClr val="509449"/>
                          </a:solidFill>
                        </a:rPr>
                        <a:t>Expansion</a:t>
                      </a:r>
                    </a:p>
                  </a:txBody>
                  <a:tcPr>
                    <a:solidFill>
                      <a:srgbClr val="C2D279"/>
                    </a:solidFill>
                  </a:tcPr>
                </a:tc>
                <a:tc>
                  <a:txBody>
                    <a:bodyPr/>
                    <a:lstStyle/>
                    <a:p>
                      <a:r>
                        <a:rPr sz="1100" b="1">
                          <a:solidFill>
                            <a:srgbClr val="509449"/>
                          </a:solidFill>
                        </a:rPr>
                        <a:t>Segment Exchange</a:t>
                      </a:r>
                    </a:p>
                  </a:txBody>
                  <a:tcPr>
                    <a:solidFill>
                      <a:srgbClr val="C2D279"/>
                    </a:solidFill>
                  </a:tcPr>
                </a:tc>
                <a:tc>
                  <a:txBody>
                    <a:bodyPr/>
                    <a:lstStyle/>
                    <a:p>
                      <a:r>
                        <a:rPr sz="1100" b="1">
                          <a:solidFill>
                            <a:srgbClr val="509449"/>
                          </a:solidFill>
                        </a:rPr>
                        <a:t>Trigger</a:t>
                      </a:r>
                    </a:p>
                  </a:txBody>
                  <a:tcPr>
                    <a:solidFill>
                      <a:srgbClr val="C2D279"/>
                    </a:solidFill>
                  </a:tcPr>
                </a:tc>
                <a:extLst>
                  <a:ext uri="{0D108BD9-81ED-4DB2-BD59-A6C34878D82A}">
                    <a16:rowId xmlns:a16="http://schemas.microsoft.com/office/drawing/2014/main" val="10000"/>
                  </a:ext>
                </a:extLst>
              </a:tr>
              <a:tr h="188188">
                <a:tc>
                  <a:txBody>
                    <a:bodyPr/>
                    <a:lstStyle/>
                    <a:p>
                      <a:r>
                        <a:rPr sz="1100" b="0">
                          <a:solidFill>
                            <a:srgbClr val="509449"/>
                          </a:solidFill>
                        </a:rPr>
                        <a:t>Loop Alignment</a:t>
                      </a:r>
                    </a:p>
                  </a:txBody>
                  <a:tcPr>
                    <a:solidFill>
                      <a:srgbClr val="EBF7EE"/>
                    </a:solidFill>
                  </a:tcPr>
                </a:tc>
                <a:tc>
                  <a:txBody>
                    <a:bodyPr/>
                    <a:lstStyle/>
                    <a:p>
                      <a:r>
                        <a:rPr sz="1100" b="0">
                          <a:solidFill>
                            <a:srgbClr val="509449"/>
                          </a:solidFill>
                        </a:rPr>
                        <a:t>Envelope Level</a:t>
                      </a:r>
                    </a:p>
                  </a:txBody>
                  <a:tcPr>
                    <a:solidFill>
                      <a:srgbClr val="EBF7EE"/>
                    </a:solidFill>
                  </a:tcPr>
                </a:tc>
                <a:tc>
                  <a:txBody>
                    <a:bodyPr/>
                    <a:lstStyle/>
                    <a:p>
                      <a:r>
                        <a:rPr sz="1100" b="0">
                          <a:solidFill>
                            <a:srgbClr val="509449"/>
                          </a:solidFill>
                        </a:rPr>
                        <a:t>Edge</a:t>
                      </a:r>
                    </a:p>
                  </a:txBody>
                  <a:tcPr>
                    <a:solidFill>
                      <a:srgbClr val="EBF7EE"/>
                    </a:solidFill>
                  </a:tcPr>
                </a:tc>
                <a:tc>
                  <a:txBody>
                    <a:bodyPr/>
                    <a:lstStyle/>
                    <a:p>
                      <a:r>
                        <a:rPr sz="1100" b="0">
                          <a:solidFill>
                            <a:srgbClr val="509449"/>
                          </a:solidFill>
                        </a:rPr>
                        <a:t>Lineage Bridge</a:t>
                      </a:r>
                    </a:p>
                  </a:txBody>
                  <a:tcPr>
                    <a:solidFill>
                      <a:srgbClr val="EBF7EE"/>
                    </a:solidFill>
                  </a:tcPr>
                </a:tc>
                <a:tc>
                  <a:txBody>
                    <a:bodyPr/>
                    <a:lstStyle/>
                    <a:p>
                      <a:r>
                        <a:rPr sz="1100" b="0">
                          <a:solidFill>
                            <a:srgbClr val="509449"/>
                          </a:solidFill>
                        </a:rPr>
                        <a:t>Case Guide</a:t>
                      </a:r>
                    </a:p>
                  </a:txBody>
                  <a:tcPr>
                    <a:solidFill>
                      <a:srgbClr val="EBF7EE"/>
                    </a:solidFill>
                  </a:tcPr>
                </a:tc>
                <a:tc>
                  <a:txBody>
                    <a:bodyPr/>
                    <a:lstStyle/>
                    <a:p>
                      <a:r>
                        <a:rPr sz="1100" b="0">
                          <a:solidFill>
                            <a:srgbClr val="509449"/>
                          </a:solidFill>
                        </a:rPr>
                        <a:t>Target Signal</a:t>
                      </a:r>
                    </a:p>
                  </a:txBody>
                  <a:tcPr>
                    <a:solidFill>
                      <a:srgbClr val="EBF7EE"/>
                    </a:solidFill>
                  </a:tcPr>
                </a:tc>
                <a:extLst>
                  <a:ext uri="{0D108BD9-81ED-4DB2-BD59-A6C34878D82A}">
                    <a16:rowId xmlns:a16="http://schemas.microsoft.com/office/drawing/2014/main" val="10001"/>
                  </a:ext>
                </a:extLst>
              </a:tr>
              <a:tr h="188188">
                <a:tc>
                  <a:txBody>
                    <a:bodyPr/>
                    <a:lstStyle/>
                    <a:p>
                      <a:r>
                        <a:rPr sz="1100" b="0">
                          <a:solidFill>
                            <a:srgbClr val="509449"/>
                          </a:solidFill>
                        </a:rPr>
                        <a:t>Command Explorer</a:t>
                      </a:r>
                    </a:p>
                  </a:txBody>
                  <a:tcPr>
                    <a:solidFill>
                      <a:srgbClr val="EBF7EE"/>
                    </a:solidFill>
                  </a:tcPr>
                </a:tc>
                <a:tc>
                  <a:txBody>
                    <a:bodyPr/>
                    <a:lstStyle/>
                    <a:p>
                      <a:r>
                        <a:rPr sz="1100" b="0">
                          <a:solidFill>
                            <a:srgbClr val="509449"/>
                          </a:solidFill>
                        </a:rPr>
                        <a:t>Keyline Texture</a:t>
                      </a:r>
                    </a:p>
                  </a:txBody>
                  <a:tcPr>
                    <a:solidFill>
                      <a:srgbClr val="EBF7EE"/>
                    </a:solidFill>
                  </a:tcPr>
                </a:tc>
                <a:tc>
                  <a:txBody>
                    <a:bodyPr/>
                    <a:lstStyle/>
                    <a:p>
                      <a:r>
                        <a:rPr sz="1100" b="0">
                          <a:solidFill>
                            <a:srgbClr val="509449"/>
                          </a:solidFill>
                        </a:rPr>
                        <a:t>Indicator</a:t>
                      </a:r>
                    </a:p>
                  </a:txBody>
                  <a:tcPr>
                    <a:solidFill>
                      <a:srgbClr val="EBF7EE"/>
                    </a:solidFill>
                  </a:tcPr>
                </a:tc>
                <a:tc>
                  <a:txBody>
                    <a:bodyPr/>
                    <a:lstStyle/>
                    <a:p>
                      <a:r>
                        <a:rPr sz="1100" b="0">
                          <a:solidFill>
                            <a:srgbClr val="509449"/>
                          </a:solidFill>
                        </a:rPr>
                        <a:t>North</a:t>
                      </a:r>
                    </a:p>
                  </a:txBody>
                  <a:tcPr>
                    <a:solidFill>
                      <a:srgbClr val="EBF7EE"/>
                    </a:solidFill>
                  </a:tcPr>
                </a:tc>
                <a:tc>
                  <a:txBody>
                    <a:bodyPr/>
                    <a:lstStyle/>
                    <a:p>
                      <a:r>
                        <a:rPr sz="1100" b="0">
                          <a:solidFill>
                            <a:srgbClr val="509449"/>
                          </a:solidFill>
                        </a:rPr>
                        <a:t>Signal Timeline</a:t>
                      </a:r>
                    </a:p>
                  </a:txBody>
                  <a:tcPr>
                    <a:solidFill>
                      <a:srgbClr val="EBF7EE"/>
                    </a:solidFill>
                  </a:tcPr>
                </a:tc>
                <a:tc>
                  <a:txBody>
                    <a:bodyPr/>
                    <a:lstStyle/>
                    <a:p>
                      <a:r>
                        <a:rPr sz="1100" b="0">
                          <a:solidFill>
                            <a:srgbClr val="509449"/>
                          </a:solidFill>
                        </a:rPr>
                        <a:t>Waypoint</a:t>
                      </a:r>
                    </a:p>
                  </a:txBody>
                  <a:tcPr>
                    <a:solidFill>
                      <a:srgbClr val="EBF7EE"/>
                    </a:solidFill>
                  </a:tcPr>
                </a:tc>
                <a:extLst>
                  <a:ext uri="{0D108BD9-81ED-4DB2-BD59-A6C34878D82A}">
                    <a16:rowId xmlns:a16="http://schemas.microsoft.com/office/drawing/2014/main" val="10002"/>
                  </a:ext>
                </a:extLst>
              </a:tr>
              <a:tr h="188188">
                <a:tc>
                  <a:txBody>
                    <a:bodyPr/>
                    <a:lstStyle/>
                    <a:p>
                      <a:r>
                        <a:rPr sz="1100" b="0">
                          <a:solidFill>
                            <a:srgbClr val="509449"/>
                          </a:solidFill>
                        </a:rPr>
                        <a:t>Cadence Frequency</a:t>
                      </a:r>
                    </a:p>
                  </a:txBody>
                  <a:tcPr>
                    <a:solidFill>
                      <a:srgbClr val="EBF7EE"/>
                    </a:solidFill>
                  </a:tcPr>
                </a:tc>
                <a:tc>
                  <a:txBody>
                    <a:bodyPr/>
                    <a:lstStyle/>
                    <a:p>
                      <a:r>
                        <a:rPr sz="1100" b="0">
                          <a:solidFill>
                            <a:srgbClr val="509449"/>
                          </a:solidFill>
                        </a:rPr>
                        <a:t>Entity</a:t>
                      </a:r>
                    </a:p>
                  </a:txBody>
                  <a:tcPr>
                    <a:solidFill>
                      <a:srgbClr val="EBF7EE"/>
                    </a:solidFill>
                  </a:tcPr>
                </a:tc>
                <a:tc>
                  <a:txBody>
                    <a:bodyPr/>
                    <a:lstStyle/>
                    <a:p>
                      <a:r>
                        <a:rPr sz="1100" b="0">
                          <a:solidFill>
                            <a:srgbClr val="509449"/>
                          </a:solidFill>
                        </a:rPr>
                        <a:t>Vertex</a:t>
                      </a:r>
                    </a:p>
                  </a:txBody>
                  <a:tcPr>
                    <a:solidFill>
                      <a:srgbClr val="EBF7EE"/>
                    </a:solidFill>
                  </a:tcPr>
                </a:tc>
                <a:tc>
                  <a:txBody>
                    <a:bodyPr/>
                    <a:lstStyle/>
                    <a:p>
                      <a:r>
                        <a:rPr sz="1100" b="0">
                          <a:solidFill>
                            <a:srgbClr val="509449"/>
                          </a:solidFill>
                        </a:rPr>
                        <a:t>Cluster Program</a:t>
                      </a:r>
                    </a:p>
                  </a:txBody>
                  <a:tcPr>
                    <a:solidFill>
                      <a:srgbClr val="EBF7EE"/>
                    </a:solidFill>
                  </a:tcPr>
                </a:tc>
                <a:tc>
                  <a:txBody>
                    <a:bodyPr/>
                    <a:lstStyle/>
                    <a:p>
                      <a:r>
                        <a:rPr sz="1100" b="0">
                          <a:solidFill>
                            <a:srgbClr val="509449"/>
                          </a:solidFill>
                        </a:rPr>
                        <a:t>Circuit Clarity</a:t>
                      </a:r>
                    </a:p>
                  </a:txBody>
                  <a:tcPr>
                    <a:solidFill>
                      <a:srgbClr val="EBF7EE"/>
                    </a:solidFill>
                  </a:tcPr>
                </a:tc>
                <a:tc>
                  <a:txBody>
                    <a:bodyPr/>
                    <a:lstStyle/>
                    <a:p>
                      <a:r>
                        <a:rPr sz="1100" b="0">
                          <a:solidFill>
                            <a:srgbClr val="509449"/>
                          </a:solidFill>
                        </a:rPr>
                        <a:t>Surface</a:t>
                      </a:r>
                    </a:p>
                  </a:txBody>
                  <a:tcPr>
                    <a:solidFill>
                      <a:srgbClr val="EBF7EE"/>
                    </a:solidFill>
                  </a:tcPr>
                </a:tc>
                <a:extLst>
                  <a:ext uri="{0D108BD9-81ED-4DB2-BD59-A6C34878D82A}">
                    <a16:rowId xmlns:a16="http://schemas.microsoft.com/office/drawing/2014/main" val="10003"/>
                  </a:ext>
                </a:extLst>
              </a:tr>
              <a:tr h="188188">
                <a:tc>
                  <a:txBody>
                    <a:bodyPr/>
                    <a:lstStyle/>
                    <a:p>
                      <a:r>
                        <a:rPr sz="1100" b="0">
                          <a:solidFill>
                            <a:srgbClr val="509449"/>
                          </a:solidFill>
                        </a:rPr>
                        <a:t>Point Object</a:t>
                      </a:r>
                    </a:p>
                  </a:txBody>
                  <a:tcPr>
                    <a:solidFill>
                      <a:srgbClr val="EBF7EE"/>
                    </a:solidFill>
                  </a:tcPr>
                </a:tc>
                <a:tc>
                  <a:txBody>
                    <a:bodyPr/>
                    <a:lstStyle/>
                    <a:p>
                      <a:r>
                        <a:rPr sz="1100" b="0">
                          <a:solidFill>
                            <a:srgbClr val="509449"/>
                          </a:solidFill>
                        </a:rPr>
                        <a:t>Thread</a:t>
                      </a:r>
                    </a:p>
                  </a:txBody>
                  <a:tcPr>
                    <a:solidFill>
                      <a:srgbClr val="EBF7EE"/>
                    </a:solidFill>
                  </a:tcPr>
                </a:tc>
                <a:tc>
                  <a:txBody>
                    <a:bodyPr/>
                    <a:lstStyle/>
                    <a:p>
                      <a:r>
                        <a:rPr sz="1100" b="0">
                          <a:solidFill>
                            <a:srgbClr val="509449"/>
                          </a:solidFill>
                        </a:rPr>
                        <a:t>Precision Loop</a:t>
                      </a:r>
                    </a:p>
                  </a:txBody>
                  <a:tcPr>
                    <a:solidFill>
                      <a:srgbClr val="EBF7EE"/>
                    </a:solidFill>
                  </a:tcPr>
                </a:tc>
                <a:tc>
                  <a:txBody>
                    <a:bodyPr/>
                    <a:lstStyle/>
                    <a:p>
                      <a:r>
                        <a:rPr sz="1100" b="0">
                          <a:solidFill>
                            <a:srgbClr val="509449"/>
                          </a:solidFill>
                        </a:rPr>
                        <a:t>Profile Path</a:t>
                      </a:r>
                    </a:p>
                  </a:txBody>
                  <a:tcPr>
                    <a:solidFill>
                      <a:srgbClr val="EBF7EE"/>
                    </a:solidFill>
                  </a:tcPr>
                </a:tc>
                <a:tc>
                  <a:txBody>
                    <a:bodyPr/>
                    <a:lstStyle/>
                    <a:p>
                      <a:r>
                        <a:rPr sz="1100" b="0">
                          <a:solidFill>
                            <a:srgbClr val="509449"/>
                          </a:solidFill>
                        </a:rPr>
                        <a:t>Marker Handle</a:t>
                      </a:r>
                    </a:p>
                  </a:txBody>
                  <a:tcPr>
                    <a:solidFill>
                      <a:srgbClr val="EBF7EE"/>
                    </a:solidFill>
                  </a:tcPr>
                </a:tc>
                <a:tc>
                  <a:txBody>
                    <a:bodyPr/>
                    <a:lstStyle/>
                    <a:p>
                      <a:r>
                        <a:rPr sz="1100" b="0">
                          <a:solidFill>
                            <a:srgbClr val="509449"/>
                          </a:solidFill>
                        </a:rPr>
                        <a:t>Query</a:t>
                      </a:r>
                    </a:p>
                  </a:txBody>
                  <a:tcPr>
                    <a:solidFill>
                      <a:srgbClr val="EBF7EE"/>
                    </a:solidFill>
                  </a:tcPr>
                </a:tc>
                <a:extLst>
                  <a:ext uri="{0D108BD9-81ED-4DB2-BD59-A6C34878D82A}">
                    <a16:rowId xmlns:a16="http://schemas.microsoft.com/office/drawing/2014/main" val="10004"/>
                  </a:ext>
                </a:extLst>
              </a:tr>
            </a:tbl>
          </a:graphicData>
        </a:graphic>
      </p:graphicFrame>
      <p:sp>
        <p:nvSpPr>
          <p:cNvPr id="22" name="TextBox 21"/>
          <p:cNvSpPr txBox="1"/>
          <p:nvPr/>
        </p:nvSpPr>
        <p:spPr>
          <a:xfrm>
            <a:off x="9570767" y="3252432"/>
            <a:ext cx="2107471" cy="1663057"/>
          </a:xfrm>
          <a:prstGeom prst="rect">
            <a:avLst/>
          </a:prstGeom>
          <a:noFill/>
        </p:spPr>
        <p:txBody>
          <a:bodyPr wrap="none" lIns="53438" tIns="53438" rIns="53438" bIns="53438">
            <a:spAutoFit/>
          </a:bodyPr>
          <a:lstStyle/>
          <a:p>
            <a:r>
              <a:rPr sz="1200" b="1" i="1" u="none">
                <a:solidFill>
                  <a:srgbClr val="DC2196"/>
                </a:solidFill>
                <a:latin typeface="Georgia"/>
              </a:rPr>
              <a:t>Region Drift Exchange</a:t>
            </a:r>
          </a:p>
        </p:txBody>
      </p:sp>
      <p:cxnSp>
        <p:nvCxnSpPr>
          <p:cNvPr id="23" name="Connector 22"/>
          <p:cNvCxnSpPr/>
          <p:nvPr/>
        </p:nvCxnSpPr>
        <p:spPr>
          <a:xfrm flipV="1">
            <a:off x="3840957" y="1870331"/>
            <a:ext cx="1467200" cy="378029"/>
          </a:xfrm>
          <a:prstGeom prst="curvedConnector3">
            <a:avLst/>
          </a:prstGeom>
          <a:ln w="10998">
            <a:solidFill>
              <a:srgbClr val="A9E685"/>
            </a:solidFill>
            <a:prstDash val="solid"/>
          </a:ln>
        </p:spPr>
        <p:style>
          <a:lnRef idx="2">
            <a:schemeClr val="accent1"/>
          </a:lnRef>
          <a:fillRef idx="0">
            <a:schemeClr val="accent1"/>
          </a:fillRef>
          <a:effectRef idx="1">
            <a:schemeClr val="accent1"/>
          </a:effectRef>
          <a:fontRef idx="minor">
            <a:schemeClr val="tx1"/>
          </a:fontRef>
        </p:style>
      </p:cxnSp>
      <p:sp>
        <p:nvSpPr>
          <p:cNvPr id="24" name="Predefined Process 23"/>
          <p:cNvSpPr/>
          <p:nvPr/>
        </p:nvSpPr>
        <p:spPr>
          <a:xfrm>
            <a:off x="1702194" y="875385"/>
            <a:ext cx="674666" cy="542034"/>
          </a:xfrm>
          <a:prstGeom prst="flowChartPredefinedProcess">
            <a:avLst/>
          </a:prstGeom>
          <a:noFill/>
          <a:ln w="11576">
            <a:solidFill>
              <a:srgbClr val="DE1944"/>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99509" y="1496396"/>
            <a:ext cx="653154" cy="989121"/>
          </a:xfrm>
          <a:prstGeom prst="rect">
            <a:avLst/>
          </a:prstGeom>
          <a:noFill/>
        </p:spPr>
        <p:txBody>
          <a:bodyPr wrap="none" lIns="81644" tIns="81644" rIns="81644" bIns="81644">
            <a:spAutoFit/>
          </a:bodyPr>
          <a:lstStyle/>
          <a:p>
            <a:r>
              <a:rPr sz="1300" b="1" i="0" u="none">
                <a:solidFill>
                  <a:srgbClr val="487427"/>
                </a:solidFill>
                <a:latin typeface="Verdana"/>
              </a:rPr>
              <a:t>Factor Alpha Keyline Core Reference Center Adaptive Harbor Precision Moment Expansion Slice Direction Trace Panel Collection Iteration Register Cluster Release Precision Strategy Brief Library Review Trigger Metric Factor Option Link Bridge Table Memory Estimate Lineage Record Mesh Payload Checkpoint Spectrum Payload Archive Concept Sequence</a:t>
            </a:r>
          </a:p>
        </p:txBody>
      </p:sp>
      <p:graphicFrame>
        <p:nvGraphicFramePr>
          <p:cNvPr id="26" name="Chart 25"/>
          <p:cNvGraphicFramePr>
            <a:graphicFrameLocks noGrp="1"/>
          </p:cNvGraphicFramePr>
          <p:nvPr/>
        </p:nvGraphicFramePr>
        <p:xfrm>
          <a:off x="3984584" y="1200455"/>
          <a:ext cx="2190675" cy="1712535"/>
        </p:xfrm>
        <a:graphic>
          <a:graphicData uri="http://schemas.openxmlformats.org/drawingml/2006/chart">
            <c:chart xmlns:c="http://schemas.openxmlformats.org/drawingml/2006/chart" xmlns:r="http://schemas.openxmlformats.org/officeDocument/2006/relationships" r:id="rId4"/>
          </a:graphicData>
        </a:graphic>
      </p:graphicFrame>
      <p:sp>
        <p:nvSpPr>
          <p:cNvPr id="27" name="Octagon 26"/>
          <p:cNvSpPr/>
          <p:nvPr/>
        </p:nvSpPr>
        <p:spPr>
          <a:xfrm>
            <a:off x="682269" y="1154740"/>
            <a:ext cx="635528" cy="818764"/>
          </a:xfrm>
          <a:prstGeom prst="octagon">
            <a:avLst/>
          </a:prstGeom>
          <a:solidFill>
            <a:srgbClr val="B86A59"/>
          </a:solidFill>
          <a:ln w="16658">
            <a:solidFill>
              <a:srgbClr val="846B5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94E46314-6F3D-B505-B14C-A7AC15F8ECD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831077" y="2875648"/>
            <a:ext cx="1146623" cy="1113398"/>
          </a:xfrm>
          <a:prstGeom prst="rect">
            <a:avLst/>
          </a:prstGeom>
        </p:spPr>
      </p:pic>
      <p:pic>
        <p:nvPicPr>
          <p:cNvPr id="31" name="Graphic 30">
            <a:extLst>
              <a:ext uri="{FF2B5EF4-FFF2-40B4-BE49-F238E27FC236}">
                <a16:creationId xmlns:a16="http://schemas.microsoft.com/office/drawing/2014/main" id="{AB0854CA-D213-6C10-EC35-87A68282BD78}"/>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31137" y="3341920"/>
            <a:ext cx="1181662" cy="123946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63537" y="3808528"/>
            <a:ext cx="1584533" cy="261565"/>
          </a:xfrm>
          <a:prstGeom prst="rect">
            <a:avLst/>
          </a:prstGeom>
          <a:noFill/>
        </p:spPr>
        <p:txBody>
          <a:bodyPr wrap="none" lIns="45864" tIns="45864" rIns="45864" bIns="45864">
            <a:spAutoFit/>
          </a:bodyPr>
          <a:lstStyle/>
          <a:p>
            <a:r>
              <a:rPr sz="2300" b="0" i="1" u="none">
                <a:solidFill>
                  <a:srgbClr val="BF7AB0"/>
                </a:solidFill>
                <a:latin typeface="Trebuchet MS"/>
              </a:rPr>
              <a:t>Map Path Array Harbor Report Circuit Slice Dispatch Hub</a:t>
            </a:r>
          </a:p>
        </p:txBody>
      </p:sp>
      <p:sp>
        <p:nvSpPr>
          <p:cNvPr id="3" name="Rectangle 2"/>
          <p:cNvSpPr/>
          <p:nvPr/>
        </p:nvSpPr>
        <p:spPr>
          <a:xfrm>
            <a:off x="1682611" y="2690245"/>
            <a:ext cx="530291" cy="1295082"/>
          </a:xfrm>
          <a:prstGeom prst="rect">
            <a:avLst/>
          </a:prstGeom>
          <a:solidFill>
            <a:srgbClr val="D958D0"/>
          </a:solidFill>
          <a:ln w="17594">
            <a:solidFill>
              <a:srgbClr val="8EC3D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_example_image.jpg"/>
          <p:cNvPicPr>
            <a:picLocks noChangeAspect="1"/>
          </p:cNvPicPr>
          <p:nvPr/>
        </p:nvPicPr>
        <p:blipFill>
          <a:blip r:embed="rId2"/>
          <a:srcRect/>
          <a:stretch>
            <a:fillRect/>
          </a:stretch>
        </p:blipFill>
        <p:spPr>
          <a:xfrm>
            <a:off x="8754350" y="492080"/>
            <a:ext cx="1825474" cy="1029928"/>
          </a:xfrm>
          <a:prstGeom prst="rect">
            <a:avLst/>
          </a:prstGeom>
        </p:spPr>
      </p:pic>
      <p:graphicFrame>
        <p:nvGraphicFramePr>
          <p:cNvPr id="5" name="Chart 4"/>
          <p:cNvGraphicFramePr>
            <a:graphicFrameLocks noGrp="1"/>
          </p:cNvGraphicFramePr>
          <p:nvPr/>
        </p:nvGraphicFramePr>
        <p:xfrm>
          <a:off x="8387272" y="4481452"/>
          <a:ext cx="2433579" cy="156447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p:cNvGraphicFramePr>
            <a:graphicFrameLocks noGrp="1"/>
          </p:cNvGraphicFramePr>
          <p:nvPr/>
        </p:nvGraphicFramePr>
        <p:xfrm>
          <a:off x="906586" y="3303287"/>
          <a:ext cx="2083696" cy="1196176"/>
        </p:xfrm>
        <a:graphic>
          <a:graphicData uri="http://schemas.openxmlformats.org/drawingml/2006/table">
            <a:tbl>
              <a:tblPr firstRow="1" bandRow="1">
                <a:tableStyleId>{5C22544A-7EE6-4342-B048-85BDC9FD1C3A}</a:tableStyleId>
              </a:tblPr>
              <a:tblGrid>
                <a:gridCol w="694565">
                  <a:extLst>
                    <a:ext uri="{9D8B030D-6E8A-4147-A177-3AD203B41FA5}">
                      <a16:colId xmlns:a16="http://schemas.microsoft.com/office/drawing/2014/main" val="20000"/>
                    </a:ext>
                  </a:extLst>
                </a:gridCol>
                <a:gridCol w="694565">
                  <a:extLst>
                    <a:ext uri="{9D8B030D-6E8A-4147-A177-3AD203B41FA5}">
                      <a16:colId xmlns:a16="http://schemas.microsoft.com/office/drawing/2014/main" val="20001"/>
                    </a:ext>
                  </a:extLst>
                </a:gridCol>
                <a:gridCol w="694566">
                  <a:extLst>
                    <a:ext uri="{9D8B030D-6E8A-4147-A177-3AD203B41FA5}">
                      <a16:colId xmlns:a16="http://schemas.microsoft.com/office/drawing/2014/main" val="20002"/>
                    </a:ext>
                  </a:extLst>
                </a:gridCol>
              </a:tblGrid>
              <a:tr h="299044">
                <a:tc>
                  <a:txBody>
                    <a:bodyPr/>
                    <a:lstStyle/>
                    <a:p>
                      <a:r>
                        <a:rPr sz="1200" b="1">
                          <a:solidFill>
                            <a:srgbClr val="E28CC8"/>
                          </a:solidFill>
                        </a:rPr>
                        <a:t>Narrative</a:t>
                      </a:r>
                    </a:p>
                  </a:txBody>
                  <a:tcPr>
                    <a:solidFill>
                      <a:srgbClr val="AF2E35"/>
                    </a:solidFill>
                  </a:tcPr>
                </a:tc>
                <a:tc>
                  <a:txBody>
                    <a:bodyPr/>
                    <a:lstStyle/>
                    <a:p>
                      <a:r>
                        <a:rPr sz="1200" b="1">
                          <a:solidFill>
                            <a:srgbClr val="E28CC8"/>
                          </a:solidFill>
                        </a:rPr>
                        <a:t>Craft</a:t>
                      </a:r>
                    </a:p>
                  </a:txBody>
                  <a:tcPr>
                    <a:solidFill>
                      <a:srgbClr val="AF2E35"/>
                    </a:solidFill>
                  </a:tcPr>
                </a:tc>
                <a:tc>
                  <a:txBody>
                    <a:bodyPr/>
                    <a:lstStyle/>
                    <a:p>
                      <a:r>
                        <a:rPr sz="1200" b="1">
                          <a:solidFill>
                            <a:srgbClr val="E28CC8"/>
                          </a:solidFill>
                        </a:rPr>
                        <a:t>View</a:t>
                      </a:r>
                    </a:p>
                  </a:txBody>
                  <a:tcPr>
                    <a:solidFill>
                      <a:srgbClr val="AF2E35"/>
                    </a:solidFill>
                  </a:tcPr>
                </a:tc>
                <a:extLst>
                  <a:ext uri="{0D108BD9-81ED-4DB2-BD59-A6C34878D82A}">
                    <a16:rowId xmlns:a16="http://schemas.microsoft.com/office/drawing/2014/main" val="10000"/>
                  </a:ext>
                </a:extLst>
              </a:tr>
              <a:tr h="299044">
                <a:tc>
                  <a:txBody>
                    <a:bodyPr/>
                    <a:lstStyle/>
                    <a:p>
                      <a:r>
                        <a:rPr sz="1200" b="0">
                          <a:solidFill>
                            <a:srgbClr val="E28CC8"/>
                          </a:solidFill>
                        </a:rPr>
                        <a:t>Grid Intent</a:t>
                      </a:r>
                    </a:p>
                  </a:txBody>
                  <a:tcPr>
                    <a:solidFill>
                      <a:srgbClr val="C7C8F3"/>
                    </a:solidFill>
                  </a:tcPr>
                </a:tc>
                <a:tc>
                  <a:txBody>
                    <a:bodyPr/>
                    <a:lstStyle/>
                    <a:p>
                      <a:r>
                        <a:rPr sz="1200" b="0">
                          <a:solidFill>
                            <a:srgbClr val="E28CC8"/>
                          </a:solidFill>
                        </a:rPr>
                        <a:t>Segment</a:t>
                      </a:r>
                    </a:p>
                  </a:txBody>
                  <a:tcPr>
                    <a:solidFill>
                      <a:srgbClr val="C7C8F3"/>
                    </a:solidFill>
                  </a:tcPr>
                </a:tc>
                <a:tc>
                  <a:txBody>
                    <a:bodyPr/>
                    <a:lstStyle/>
                    <a:p>
                      <a:r>
                        <a:rPr sz="1200" b="0">
                          <a:solidFill>
                            <a:srgbClr val="E28CC8"/>
                          </a:solidFill>
                        </a:rPr>
                        <a:t>Grid</a:t>
                      </a:r>
                    </a:p>
                  </a:txBody>
                  <a:tcPr>
                    <a:solidFill>
                      <a:srgbClr val="C7C8F3"/>
                    </a:solidFill>
                  </a:tcPr>
                </a:tc>
                <a:extLst>
                  <a:ext uri="{0D108BD9-81ED-4DB2-BD59-A6C34878D82A}">
                    <a16:rowId xmlns:a16="http://schemas.microsoft.com/office/drawing/2014/main" val="10001"/>
                  </a:ext>
                </a:extLst>
              </a:tr>
              <a:tr h="299044">
                <a:tc>
                  <a:txBody>
                    <a:bodyPr/>
                    <a:lstStyle/>
                    <a:p>
                      <a:r>
                        <a:rPr sz="1200" b="0">
                          <a:solidFill>
                            <a:srgbClr val="E28CC8"/>
                          </a:solidFill>
                        </a:rPr>
                        <a:t>Data</a:t>
                      </a:r>
                    </a:p>
                  </a:txBody>
                  <a:tcPr>
                    <a:solidFill>
                      <a:srgbClr val="D9D9F7"/>
                    </a:solidFill>
                  </a:tcPr>
                </a:tc>
                <a:tc>
                  <a:txBody>
                    <a:bodyPr/>
                    <a:lstStyle/>
                    <a:p>
                      <a:r>
                        <a:rPr sz="1200" b="0">
                          <a:solidFill>
                            <a:srgbClr val="E28CC8"/>
                          </a:solidFill>
                        </a:rPr>
                        <a:t>Viewport Forecast</a:t>
                      </a:r>
                    </a:p>
                  </a:txBody>
                  <a:tcPr>
                    <a:solidFill>
                      <a:srgbClr val="D9D9F7"/>
                    </a:solidFill>
                  </a:tcPr>
                </a:tc>
                <a:tc>
                  <a:txBody>
                    <a:bodyPr/>
                    <a:lstStyle/>
                    <a:p>
                      <a:r>
                        <a:rPr sz="1200" b="0">
                          <a:solidFill>
                            <a:srgbClr val="E28CC8"/>
                          </a:solidFill>
                        </a:rPr>
                        <a:t>Access</a:t>
                      </a:r>
                    </a:p>
                  </a:txBody>
                  <a:tcPr>
                    <a:solidFill>
                      <a:srgbClr val="D9D9F7"/>
                    </a:solidFill>
                  </a:tcPr>
                </a:tc>
                <a:extLst>
                  <a:ext uri="{0D108BD9-81ED-4DB2-BD59-A6C34878D82A}">
                    <a16:rowId xmlns:a16="http://schemas.microsoft.com/office/drawing/2014/main" val="10002"/>
                  </a:ext>
                </a:extLst>
              </a:tr>
              <a:tr h="299044">
                <a:tc>
                  <a:txBody>
                    <a:bodyPr/>
                    <a:lstStyle/>
                    <a:p>
                      <a:r>
                        <a:rPr sz="1200" b="0">
                          <a:solidFill>
                            <a:srgbClr val="E28CC8"/>
                          </a:solidFill>
                        </a:rPr>
                        <a:t>Mode Archive</a:t>
                      </a:r>
                    </a:p>
                  </a:txBody>
                  <a:tcPr>
                    <a:solidFill>
                      <a:srgbClr val="C7C8F3"/>
                    </a:solidFill>
                  </a:tcPr>
                </a:tc>
                <a:tc>
                  <a:txBody>
                    <a:bodyPr/>
                    <a:lstStyle/>
                    <a:p>
                      <a:r>
                        <a:rPr sz="1200" b="0">
                          <a:solidFill>
                            <a:srgbClr val="E28CC8"/>
                          </a:solidFill>
                        </a:rPr>
                        <a:t>Interval</a:t>
                      </a:r>
                    </a:p>
                  </a:txBody>
                  <a:tcPr>
                    <a:solidFill>
                      <a:srgbClr val="C7C8F3"/>
                    </a:solidFill>
                  </a:tcPr>
                </a:tc>
                <a:tc>
                  <a:txBody>
                    <a:bodyPr/>
                    <a:lstStyle/>
                    <a:p>
                      <a:r>
                        <a:rPr sz="1200" b="0">
                          <a:solidFill>
                            <a:srgbClr val="E28CC8"/>
                          </a:solidFill>
                        </a:rPr>
                        <a:t>Packet Feature</a:t>
                      </a:r>
                    </a:p>
                  </a:txBody>
                  <a:tcPr>
                    <a:solidFill>
                      <a:srgbClr val="C7C8F3"/>
                    </a:solidFill>
                  </a:tcPr>
                </a:tc>
                <a:extLst>
                  <a:ext uri="{0D108BD9-81ED-4DB2-BD59-A6C34878D82A}">
                    <a16:rowId xmlns:a16="http://schemas.microsoft.com/office/drawing/2014/main" val="10003"/>
                  </a:ext>
                </a:extLst>
              </a:tr>
            </a:tbl>
          </a:graphicData>
        </a:graphic>
      </p:graphicFrame>
      <p:sp>
        <p:nvSpPr>
          <p:cNvPr id="7" name="Parallelogram 6"/>
          <p:cNvSpPr/>
          <p:nvPr/>
        </p:nvSpPr>
        <p:spPr>
          <a:xfrm>
            <a:off x="3241461" y="3801332"/>
            <a:ext cx="630251" cy="588694"/>
          </a:xfrm>
          <a:prstGeom prst="parallelogram">
            <a:avLst/>
          </a:prstGeom>
          <a:solidFill>
            <a:srgbClr val="3126BE"/>
          </a:solidFill>
          <a:ln w="19881">
            <a:solidFill>
              <a:srgbClr val="CEB01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lock Arc 7"/>
          <p:cNvSpPr/>
          <p:nvPr/>
        </p:nvSpPr>
        <p:spPr>
          <a:xfrm>
            <a:off x="1274428" y="1571938"/>
            <a:ext cx="1491648" cy="1101709"/>
          </a:xfrm>
          <a:prstGeom prst="blockArc">
            <a:avLst/>
          </a:prstGeom>
          <a:noFill/>
          <a:ln w="26281">
            <a:solidFill>
              <a:srgbClr val="40617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92011" y="3461655"/>
            <a:ext cx="2149286" cy="2557499"/>
          </a:xfrm>
          <a:prstGeom prst="rect">
            <a:avLst/>
          </a:prstGeom>
          <a:solidFill>
            <a:srgbClr val="78771B"/>
          </a:solidFill>
        </p:spPr>
        <p:txBody>
          <a:bodyPr wrap="none" lIns="22463" tIns="22463" rIns="22463" bIns="22463">
            <a:spAutoFit/>
          </a:bodyPr>
          <a:lstStyle/>
          <a:p>
            <a:r>
              <a:rPr sz="6000" b="1" i="0" u="none">
                <a:solidFill>
                  <a:srgbClr val="B3E53B"/>
                </a:solidFill>
                <a:latin typeface="Trebuchet MS"/>
              </a:rPr>
              <a:t>Network Reserve Agenda Chart Indicator Action Object</a:t>
            </a:r>
          </a:p>
        </p:txBody>
      </p:sp>
      <p:sp>
        <p:nvSpPr>
          <p:cNvPr id="10" name="TextBox 9"/>
          <p:cNvSpPr txBox="1"/>
          <p:nvPr/>
        </p:nvSpPr>
        <p:spPr>
          <a:xfrm>
            <a:off x="6812206" y="1768798"/>
            <a:ext cx="1234227" cy="1567639"/>
          </a:xfrm>
          <a:prstGeom prst="rect">
            <a:avLst/>
          </a:prstGeom>
          <a:noFill/>
        </p:spPr>
        <p:txBody>
          <a:bodyPr wrap="none" lIns="57885" tIns="57885" rIns="57885" bIns="57885">
            <a:spAutoFit/>
          </a:bodyPr>
          <a:lstStyle/>
          <a:p>
            <a:r>
              <a:rPr sz="800" b="1" i="0" u="none">
                <a:solidFill>
                  <a:srgbClr val="D94357"/>
                </a:solidFill>
                <a:latin typeface="Arial"/>
              </a:rPr>
              <a:t>Clarity Device Variant</a:t>
            </a:r>
          </a:p>
        </p:txBody>
      </p:sp>
      <p:sp>
        <p:nvSpPr>
          <p:cNvPr id="11" name="Line Callout 2 10"/>
          <p:cNvSpPr/>
          <p:nvPr/>
        </p:nvSpPr>
        <p:spPr>
          <a:xfrm>
            <a:off x="9983504" y="4364626"/>
            <a:ext cx="627686" cy="1122986"/>
          </a:xfrm>
          <a:prstGeom prst="borderCallout2">
            <a:avLst/>
          </a:prstGeom>
          <a:solidFill>
            <a:srgbClr val="A59ACB"/>
          </a:solidFill>
          <a:ln w="20034">
            <a:solidFill>
              <a:srgbClr val="558B8E"/>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_example_image.jpg"/>
          <p:cNvPicPr>
            <a:picLocks noChangeAspect="1"/>
          </p:cNvPicPr>
          <p:nvPr/>
        </p:nvPicPr>
        <p:blipFill>
          <a:blip r:embed="rId2"/>
          <a:srcRect l="2030" t="3580" r="18576" b="17879"/>
          <a:stretch>
            <a:fillRect/>
          </a:stretch>
        </p:blipFill>
        <p:spPr>
          <a:xfrm>
            <a:off x="4113788" y="992970"/>
            <a:ext cx="2334113" cy="1481570"/>
          </a:xfrm>
          <a:prstGeom prst="rect">
            <a:avLst/>
          </a:prstGeom>
        </p:spPr>
      </p:pic>
      <p:sp>
        <p:nvSpPr>
          <p:cNvPr id="13" name="Rounded Rectangle 12"/>
          <p:cNvSpPr/>
          <p:nvPr/>
        </p:nvSpPr>
        <p:spPr>
          <a:xfrm>
            <a:off x="4113788" y="992970"/>
            <a:ext cx="2334113" cy="1481570"/>
          </a:xfrm>
          <a:prstGeom prst="roundRect">
            <a:avLst/>
          </a:prstGeom>
          <a:noFill/>
          <a:ln w="15240">
            <a:solidFill>
              <a:srgbClr val="3993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Chart 13"/>
          <p:cNvGraphicFramePr>
            <a:graphicFrameLocks noGrp="1"/>
          </p:cNvGraphicFramePr>
          <p:nvPr/>
        </p:nvGraphicFramePr>
        <p:xfrm>
          <a:off x="7894494" y="2878174"/>
          <a:ext cx="2261154" cy="1471840"/>
        </p:xfrm>
        <a:graphic>
          <a:graphicData uri="http://schemas.openxmlformats.org/drawingml/2006/chart">
            <c:chart xmlns:c="http://schemas.openxmlformats.org/drawingml/2006/chart" xmlns:r="http://schemas.openxmlformats.org/officeDocument/2006/relationships" r:id="rId4"/>
          </a:graphicData>
        </a:graphic>
      </p:graphicFrame>
      <p:cxnSp>
        <p:nvCxnSpPr>
          <p:cNvPr id="15" name="Connector 14"/>
          <p:cNvCxnSpPr/>
          <p:nvPr/>
        </p:nvCxnSpPr>
        <p:spPr>
          <a:xfrm flipV="1">
            <a:off x="6629266" y="802824"/>
            <a:ext cx="1207120" cy="406297"/>
          </a:xfrm>
          <a:prstGeom prst="line">
            <a:avLst/>
          </a:prstGeom>
          <a:ln w="33779">
            <a:solidFill>
              <a:srgbClr val="37D997"/>
            </a:solidFill>
            <a:prstDash val="soli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46227" y="5432259"/>
            <a:ext cx="1119589" cy="883392"/>
          </a:xfrm>
          <a:prstGeom prst="bentConnector3">
            <a:avLst/>
          </a:prstGeom>
          <a:ln w="9489">
            <a:solidFill>
              <a:srgbClr val="68A01F"/>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3213002" y="2394670"/>
          <a:ext cx="2479696" cy="1349126"/>
        </p:xfrm>
        <a:graphic>
          <a:graphicData uri="http://schemas.openxmlformats.org/drawingml/2006/table">
            <a:tbl>
              <a:tblPr firstRow="1" bandRow="1">
                <a:tableStyleId>{5C22544A-7EE6-4342-B048-85BDC9FD1C3A}</a:tableStyleId>
              </a:tblPr>
              <a:tblGrid>
                <a:gridCol w="1239848">
                  <a:extLst>
                    <a:ext uri="{9D8B030D-6E8A-4147-A177-3AD203B41FA5}">
                      <a16:colId xmlns:a16="http://schemas.microsoft.com/office/drawing/2014/main" val="20000"/>
                    </a:ext>
                  </a:extLst>
                </a:gridCol>
                <a:gridCol w="1239848">
                  <a:extLst>
                    <a:ext uri="{9D8B030D-6E8A-4147-A177-3AD203B41FA5}">
                      <a16:colId xmlns:a16="http://schemas.microsoft.com/office/drawing/2014/main" val="20001"/>
                    </a:ext>
                  </a:extLst>
                </a:gridCol>
              </a:tblGrid>
              <a:tr h="449708">
                <a:tc>
                  <a:txBody>
                    <a:bodyPr/>
                    <a:lstStyle/>
                    <a:p>
                      <a:r>
                        <a:rPr sz="1000" b="1">
                          <a:solidFill>
                            <a:srgbClr val="767C67"/>
                          </a:solidFill>
                        </a:rPr>
                        <a:t>Edge</a:t>
                      </a:r>
                    </a:p>
                  </a:txBody>
                  <a:tcPr>
                    <a:solidFill>
                      <a:srgbClr val="96624A"/>
                    </a:solidFill>
                  </a:tcPr>
                </a:tc>
                <a:tc>
                  <a:txBody>
                    <a:bodyPr/>
                    <a:lstStyle/>
                    <a:p>
                      <a:r>
                        <a:rPr sz="1000" b="1">
                          <a:solidFill>
                            <a:srgbClr val="767C67"/>
                          </a:solidFill>
                        </a:rPr>
                        <a:t>Register</a:t>
                      </a:r>
                    </a:p>
                  </a:txBody>
                  <a:tcPr>
                    <a:solidFill>
                      <a:srgbClr val="96624A"/>
                    </a:solidFill>
                  </a:tcPr>
                </a:tc>
                <a:extLst>
                  <a:ext uri="{0D108BD9-81ED-4DB2-BD59-A6C34878D82A}">
                    <a16:rowId xmlns:a16="http://schemas.microsoft.com/office/drawing/2014/main" val="10000"/>
                  </a:ext>
                </a:extLst>
              </a:tr>
              <a:tr h="449708">
                <a:tc>
                  <a:txBody>
                    <a:bodyPr/>
                    <a:lstStyle/>
                    <a:p>
                      <a:r>
                        <a:rPr sz="1000" b="0">
                          <a:solidFill>
                            <a:srgbClr val="767C67"/>
                          </a:solidFill>
                        </a:rPr>
                        <a:t>Result</a:t>
                      </a:r>
                    </a:p>
                  </a:txBody>
                  <a:tcPr>
                    <a:solidFill>
                      <a:srgbClr val="C5DEC1"/>
                    </a:solidFill>
                  </a:tcPr>
                </a:tc>
                <a:tc>
                  <a:txBody>
                    <a:bodyPr/>
                    <a:lstStyle/>
                    <a:p>
                      <a:r>
                        <a:rPr sz="1000" b="0">
                          <a:solidFill>
                            <a:srgbClr val="767C67"/>
                          </a:solidFill>
                        </a:rPr>
                        <a:t>Ratio</a:t>
                      </a:r>
                    </a:p>
                  </a:txBody>
                  <a:tcPr>
                    <a:solidFill>
                      <a:srgbClr val="C5DEC1"/>
                    </a:solidFill>
                  </a:tcPr>
                </a:tc>
                <a:extLst>
                  <a:ext uri="{0D108BD9-81ED-4DB2-BD59-A6C34878D82A}">
                    <a16:rowId xmlns:a16="http://schemas.microsoft.com/office/drawing/2014/main" val="10001"/>
                  </a:ext>
                </a:extLst>
              </a:tr>
              <a:tr h="449710">
                <a:tc>
                  <a:txBody>
                    <a:bodyPr/>
                    <a:lstStyle/>
                    <a:p>
                      <a:r>
                        <a:rPr sz="1000" b="0">
                          <a:solidFill>
                            <a:srgbClr val="767C67"/>
                          </a:solidFill>
                        </a:rPr>
                        <a:t>Core</a:t>
                      </a:r>
                    </a:p>
                  </a:txBody>
                  <a:tcPr>
                    <a:solidFill>
                      <a:srgbClr val="F4F9F4"/>
                    </a:solidFill>
                  </a:tcPr>
                </a:tc>
                <a:tc>
                  <a:txBody>
                    <a:bodyPr/>
                    <a:lstStyle/>
                    <a:p>
                      <a:r>
                        <a:rPr sz="1000" b="0">
                          <a:solidFill>
                            <a:srgbClr val="767C67"/>
                          </a:solidFill>
                        </a:rPr>
                        <a:t>Stage</a:t>
                      </a:r>
                    </a:p>
                  </a:txBody>
                  <a:tcPr>
                    <a:solidFill>
                      <a:srgbClr val="C5DEC1"/>
                    </a:solidFill>
                  </a:tcPr>
                </a:tc>
                <a:extLst>
                  <a:ext uri="{0D108BD9-81ED-4DB2-BD59-A6C34878D82A}">
                    <a16:rowId xmlns:a16="http://schemas.microsoft.com/office/drawing/2014/main" val="10002"/>
                  </a:ext>
                </a:extLst>
              </a:tr>
            </a:tbl>
          </a:graphicData>
        </a:graphic>
      </p:graphicFrame>
      <p:sp>
        <p:nvSpPr>
          <p:cNvPr id="18" name="Display 17"/>
          <p:cNvSpPr/>
          <p:nvPr/>
        </p:nvSpPr>
        <p:spPr>
          <a:xfrm>
            <a:off x="2911559" y="1444488"/>
            <a:ext cx="1422667" cy="438876"/>
          </a:xfrm>
          <a:prstGeom prst="flowChartDisplay">
            <a:avLst/>
          </a:prstGeom>
          <a:solidFill>
            <a:srgbClr val="9936AC"/>
          </a:solidFill>
          <a:ln w="22993">
            <a:solidFill>
              <a:srgbClr val="46886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3791350" y="5599813"/>
            <a:ext cx="1629497" cy="795734"/>
          </a:xfrm>
          <a:custGeom>
            <a:avLst/>
            <a:gdLst/>
            <a:ahLst/>
            <a:cxnLst/>
            <a:rect l="l" t="t" r="r" b="b"/>
            <a:pathLst>
              <a:path w="1629497" h="795734">
                <a:moveTo>
                  <a:pt x="175214" y="135444"/>
                </a:moveTo>
                <a:lnTo>
                  <a:pt x="578208" y="0"/>
                </a:lnTo>
                <a:lnTo>
                  <a:pt x="1191460" y="67722"/>
                </a:lnTo>
                <a:lnTo>
                  <a:pt x="1629497" y="321680"/>
                </a:lnTo>
                <a:lnTo>
                  <a:pt x="1401718" y="660290"/>
                </a:lnTo>
                <a:lnTo>
                  <a:pt x="753423" y="795734"/>
                </a:lnTo>
                <a:lnTo>
                  <a:pt x="105129" y="575638"/>
                </a:lnTo>
                <a:lnTo>
                  <a:pt x="0" y="287819"/>
                </a:lnTo>
                <a:close/>
              </a:path>
            </a:pathLst>
          </a:custGeom>
          <a:solidFill>
            <a:srgbClr val="4C2CA6"/>
          </a:solidFill>
          <a:ln w="29053">
            <a:solidFill>
              <a:srgbClr val="DA6F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10174540" y="2212806"/>
            <a:ext cx="1030657" cy="1515940"/>
          </a:xfrm>
          <a:custGeom>
            <a:avLst/>
            <a:gdLst/>
            <a:ahLst/>
            <a:cxnLst/>
            <a:rect l="l" t="t" r="r" b="b"/>
            <a:pathLst>
              <a:path w="1030657" h="1515940">
                <a:moveTo>
                  <a:pt x="0" y="736915"/>
                </a:moveTo>
                <a:lnTo>
                  <a:pt x="177317" y="0"/>
                </a:lnTo>
                <a:lnTo>
                  <a:pt x="365717" y="631642"/>
                </a:lnTo>
                <a:lnTo>
                  <a:pt x="554117" y="1263283"/>
                </a:lnTo>
                <a:lnTo>
                  <a:pt x="753599" y="526368"/>
                </a:lnTo>
                <a:lnTo>
                  <a:pt x="1030657" y="800079"/>
                </a:lnTo>
                <a:lnTo>
                  <a:pt x="1030657" y="1515940"/>
                </a:lnTo>
                <a:lnTo>
                  <a:pt x="0" y="1515940"/>
                </a:lnTo>
                <a:close/>
              </a:path>
            </a:pathLst>
          </a:custGeom>
          <a:solidFill>
            <a:srgbClr val="6AA31D"/>
          </a:solidFill>
          <a:ln w="31059">
            <a:solidFill>
              <a:srgbClr val="B5D9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66397" y="5006629"/>
            <a:ext cx="776919" cy="907932"/>
          </a:xfrm>
          <a:prstGeom prst="rect">
            <a:avLst/>
          </a:prstGeom>
          <a:noFill/>
        </p:spPr>
        <p:txBody>
          <a:bodyPr wrap="none" lIns="22232" tIns="22232" rIns="22232" bIns="22232">
            <a:spAutoFit/>
          </a:bodyPr>
          <a:lstStyle/>
          <a:p>
            <a:r>
              <a:rPr sz="700" b="0" i="0" u="none">
                <a:solidFill>
                  <a:srgbClr val="3DA1B8"/>
                </a:solidFill>
                <a:latin typeface="Georgia"/>
              </a:rPr>
              <a:t>Queue Design Impact Volume Scale Compass View Center Map Asset Cortex</a:t>
            </a:r>
          </a:p>
        </p:txBody>
      </p:sp>
      <p:sp>
        <p:nvSpPr>
          <p:cNvPr id="22" name="TextBox 21"/>
          <p:cNvSpPr txBox="1"/>
          <p:nvPr/>
        </p:nvSpPr>
        <p:spPr>
          <a:xfrm>
            <a:off x="3949504" y="4202461"/>
            <a:ext cx="2206610" cy="1259283"/>
          </a:xfrm>
          <a:prstGeom prst="rect">
            <a:avLst/>
          </a:prstGeom>
          <a:noFill/>
        </p:spPr>
        <p:txBody>
          <a:bodyPr wrap="none" lIns="81372" tIns="81372" rIns="81372" bIns="81372">
            <a:spAutoFit/>
          </a:bodyPr>
          <a:lstStyle/>
          <a:p>
            <a:r>
              <a:rPr sz="1100" b="1" i="0" u="none">
                <a:solidFill>
                  <a:srgbClr val="76D41E"/>
                </a:solidFill>
                <a:latin typeface="Verdana"/>
              </a:rPr>
              <a:t>Trend Energy Command Explorer Group Register Transit Estimate Snapshot Bundle Datum Segment Waypoint Span Control Relay Circuit Thread Input Transit Schema Sample Version Option Status Array Dimension Scope Object Expansion Source</a:t>
            </a:r>
          </a:p>
        </p:txBody>
      </p:sp>
      <p:pic>
        <p:nvPicPr>
          <p:cNvPr id="23" name="Picture 22" descr="_example_image.jpg"/>
          <p:cNvPicPr>
            <a:picLocks noChangeAspect="1"/>
          </p:cNvPicPr>
          <p:nvPr/>
        </p:nvPicPr>
        <p:blipFill>
          <a:blip r:embed="rId2"/>
          <a:srcRect l="12841" t="18609" r="17153" b="20818"/>
          <a:stretch>
            <a:fillRect/>
          </a:stretch>
        </p:blipFill>
        <p:spPr>
          <a:xfrm>
            <a:off x="8212776" y="1748098"/>
            <a:ext cx="1014442" cy="1497606"/>
          </a:xfrm>
          <a:prstGeom prst="rect">
            <a:avLst/>
          </a:prstGeom>
        </p:spPr>
      </p:pic>
      <p:sp>
        <p:nvSpPr>
          <p:cNvPr id="24" name="Data 23"/>
          <p:cNvSpPr/>
          <p:nvPr/>
        </p:nvSpPr>
        <p:spPr>
          <a:xfrm>
            <a:off x="1453464" y="835646"/>
            <a:ext cx="1947659" cy="573895"/>
          </a:xfrm>
          <a:prstGeom prst="flowChartInputOutput">
            <a:avLst/>
          </a:prstGeom>
          <a:noFill/>
          <a:ln w="21116">
            <a:solidFill>
              <a:srgbClr val="43A86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96638" y="2606021"/>
            <a:ext cx="1029054" cy="714235"/>
          </a:xfrm>
          <a:prstGeom prst="rect">
            <a:avLst/>
          </a:prstGeom>
          <a:solidFill>
            <a:srgbClr val="E384DA"/>
          </a:solidFill>
        </p:spPr>
        <p:txBody>
          <a:bodyPr wrap="none" lIns="27759" tIns="27759" rIns="27759" bIns="27759">
            <a:spAutoFit/>
          </a:bodyPr>
          <a:lstStyle/>
          <a:p>
            <a:r>
              <a:rPr sz="2400" b="1" i="0" u="none">
                <a:solidFill>
                  <a:srgbClr val="32AFB0"/>
                </a:solidFill>
                <a:latin typeface="Aptos"/>
              </a:rPr>
              <a:t>Resource Function Zone Moment Trigger Density Request Context Index</a:t>
            </a:r>
          </a:p>
        </p:txBody>
      </p:sp>
      <p:cxnSp>
        <p:nvCxnSpPr>
          <p:cNvPr id="26" name="Connector 25"/>
          <p:cNvCxnSpPr/>
          <p:nvPr/>
        </p:nvCxnSpPr>
        <p:spPr>
          <a:xfrm>
            <a:off x="3037145" y="1677365"/>
            <a:ext cx="836979" cy="457726"/>
          </a:xfrm>
          <a:prstGeom prst="curvedConnector3">
            <a:avLst/>
          </a:prstGeom>
          <a:ln w="18244">
            <a:solidFill>
              <a:srgbClr val="95B1A1"/>
            </a:solidFill>
            <a:prstDash val="dashDot"/>
          </a:ln>
        </p:spPr>
        <p:style>
          <a:lnRef idx="2">
            <a:schemeClr val="accent1"/>
          </a:lnRef>
          <a:fillRef idx="0">
            <a:schemeClr val="accent1"/>
          </a:fillRef>
          <a:effectRef idx="1">
            <a:schemeClr val="accent1"/>
          </a:effectRef>
          <a:fontRef idx="minor">
            <a:schemeClr val="tx1"/>
          </a:fontRef>
        </p:style>
      </p:cxnSp>
      <p:sp>
        <p:nvSpPr>
          <p:cNvPr id="27" name="U-Turn Arrow 26"/>
          <p:cNvSpPr/>
          <p:nvPr/>
        </p:nvSpPr>
        <p:spPr>
          <a:xfrm>
            <a:off x="11446756" y="2018219"/>
            <a:ext cx="355326" cy="1735140"/>
          </a:xfrm>
          <a:prstGeom prst="uturnArrow">
            <a:avLst/>
          </a:prstGeom>
          <a:solidFill>
            <a:srgbClr val="35499D"/>
          </a:solidFill>
          <a:ln w="17654">
            <a:solidFill>
              <a:srgbClr val="D1642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459EADD5-62CB-059A-F9A2-398CF01AEFA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673895" y="441334"/>
            <a:ext cx="1594820" cy="734319"/>
          </a:xfrm>
          <a:prstGeom prst="rect">
            <a:avLst/>
          </a:prstGeom>
        </p:spPr>
      </p:pic>
      <p:pic>
        <p:nvPicPr>
          <p:cNvPr id="31" name="Graphic 30">
            <a:extLst>
              <a:ext uri="{FF2B5EF4-FFF2-40B4-BE49-F238E27FC236}">
                <a16:creationId xmlns:a16="http://schemas.microsoft.com/office/drawing/2014/main" id="{44394C8E-F42E-ACF6-BE46-C89C52CB400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520434" y="2833112"/>
            <a:ext cx="1030647" cy="1030875"/>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640161" y="5499100"/>
          <a:ext cx="4428043" cy="1213857"/>
        </p:xfrm>
        <a:graphic>
          <a:graphicData uri="http://schemas.openxmlformats.org/drawingml/2006/table">
            <a:tbl>
              <a:tblPr firstRow="1" bandRow="1">
                <a:tableStyleId>{5C22544A-7EE6-4342-B048-85BDC9FD1C3A}</a:tableStyleId>
              </a:tblPr>
              <a:tblGrid>
                <a:gridCol w="2214021">
                  <a:extLst>
                    <a:ext uri="{9D8B030D-6E8A-4147-A177-3AD203B41FA5}">
                      <a16:colId xmlns:a16="http://schemas.microsoft.com/office/drawing/2014/main" val="20000"/>
                    </a:ext>
                  </a:extLst>
                </a:gridCol>
                <a:gridCol w="2214022">
                  <a:extLst>
                    <a:ext uri="{9D8B030D-6E8A-4147-A177-3AD203B41FA5}">
                      <a16:colId xmlns:a16="http://schemas.microsoft.com/office/drawing/2014/main" val="20001"/>
                    </a:ext>
                  </a:extLst>
                </a:gridCol>
              </a:tblGrid>
              <a:tr h="303464">
                <a:tc>
                  <a:txBody>
                    <a:bodyPr/>
                    <a:lstStyle/>
                    <a:p>
                      <a:r>
                        <a:rPr sz="700" b="1">
                          <a:solidFill>
                            <a:srgbClr val="BF7550"/>
                          </a:solidFill>
                        </a:rPr>
                        <a:t>State</a:t>
                      </a:r>
                    </a:p>
                  </a:txBody>
                  <a:tcPr>
                    <a:solidFill>
                      <a:srgbClr val="372B4B"/>
                    </a:solidFill>
                  </a:tcPr>
                </a:tc>
                <a:tc>
                  <a:txBody>
                    <a:bodyPr/>
                    <a:lstStyle/>
                    <a:p>
                      <a:r>
                        <a:rPr sz="700" b="1">
                          <a:solidFill>
                            <a:srgbClr val="BF7550"/>
                          </a:solidFill>
                        </a:rPr>
                        <a:t>Apex Slice</a:t>
                      </a:r>
                    </a:p>
                  </a:txBody>
                  <a:tcPr>
                    <a:solidFill>
                      <a:srgbClr val="372B4B"/>
                    </a:solidFill>
                  </a:tcPr>
                </a:tc>
                <a:extLst>
                  <a:ext uri="{0D108BD9-81ED-4DB2-BD59-A6C34878D82A}">
                    <a16:rowId xmlns:a16="http://schemas.microsoft.com/office/drawing/2014/main" val="10000"/>
                  </a:ext>
                </a:extLst>
              </a:tr>
              <a:tr h="303464">
                <a:tc>
                  <a:txBody>
                    <a:bodyPr/>
                    <a:lstStyle/>
                    <a:p>
                      <a:r>
                        <a:rPr sz="700" b="0">
                          <a:solidFill>
                            <a:srgbClr val="BF7550"/>
                          </a:solidFill>
                        </a:rPr>
                        <a:t>Journey</a:t>
                      </a:r>
                    </a:p>
                  </a:txBody>
                  <a:tcPr>
                    <a:solidFill>
                      <a:srgbClr val="A7CFDD"/>
                    </a:solidFill>
                  </a:tcPr>
                </a:tc>
                <a:tc>
                  <a:txBody>
                    <a:bodyPr/>
                    <a:lstStyle/>
                    <a:p>
                      <a:r>
                        <a:rPr sz="700" b="0">
                          <a:solidFill>
                            <a:srgbClr val="BF7550"/>
                          </a:solidFill>
                        </a:rPr>
                        <a:t>Lineage Filter</a:t>
                      </a:r>
                    </a:p>
                  </a:txBody>
                  <a:tcPr>
                    <a:solidFill>
                      <a:srgbClr val="A7CFDD"/>
                    </a:solidFill>
                  </a:tcPr>
                </a:tc>
                <a:extLst>
                  <a:ext uri="{0D108BD9-81ED-4DB2-BD59-A6C34878D82A}">
                    <a16:rowId xmlns:a16="http://schemas.microsoft.com/office/drawing/2014/main" val="10001"/>
                  </a:ext>
                </a:extLst>
              </a:tr>
              <a:tr h="303464">
                <a:tc>
                  <a:txBody>
                    <a:bodyPr/>
                    <a:lstStyle/>
                    <a:p>
                      <a:r>
                        <a:rPr sz="700" b="0">
                          <a:solidFill>
                            <a:srgbClr val="BF7550"/>
                          </a:solidFill>
                        </a:rPr>
                        <a:t>Focus Request</a:t>
                      </a:r>
                    </a:p>
                  </a:txBody>
                  <a:tcPr>
                    <a:solidFill>
                      <a:srgbClr val="D9EAF0"/>
                    </a:solidFill>
                  </a:tcPr>
                </a:tc>
                <a:tc>
                  <a:txBody>
                    <a:bodyPr/>
                    <a:lstStyle/>
                    <a:p>
                      <a:r>
                        <a:rPr sz="700" b="0">
                          <a:solidFill>
                            <a:srgbClr val="BF7550"/>
                          </a:solidFill>
                        </a:rPr>
                        <a:t>Summary</a:t>
                      </a:r>
                    </a:p>
                  </a:txBody>
                  <a:tcPr>
                    <a:solidFill>
                      <a:srgbClr val="D9EAF0"/>
                    </a:solidFill>
                  </a:tcPr>
                </a:tc>
                <a:extLst>
                  <a:ext uri="{0D108BD9-81ED-4DB2-BD59-A6C34878D82A}">
                    <a16:rowId xmlns:a16="http://schemas.microsoft.com/office/drawing/2014/main" val="10002"/>
                  </a:ext>
                </a:extLst>
              </a:tr>
              <a:tr h="303465">
                <a:tc>
                  <a:txBody>
                    <a:bodyPr/>
                    <a:lstStyle/>
                    <a:p>
                      <a:r>
                        <a:rPr sz="700" b="0">
                          <a:solidFill>
                            <a:srgbClr val="BF7550"/>
                          </a:solidFill>
                        </a:rPr>
                        <a:t>Draft</a:t>
                      </a:r>
                    </a:p>
                  </a:txBody>
                  <a:tcPr>
                    <a:solidFill>
                      <a:srgbClr val="A7CFDD"/>
                    </a:solidFill>
                  </a:tcPr>
                </a:tc>
                <a:tc>
                  <a:txBody>
                    <a:bodyPr/>
                    <a:lstStyle/>
                    <a:p>
                      <a:r>
                        <a:rPr sz="700" b="0">
                          <a:solidFill>
                            <a:srgbClr val="BF7550"/>
                          </a:solidFill>
                        </a:rPr>
                        <a:t>Position</a:t>
                      </a:r>
                    </a:p>
                  </a:txBody>
                  <a:tcPr>
                    <a:solidFill>
                      <a:srgbClr val="A7CFDD"/>
                    </a:solidFill>
                  </a:tcPr>
                </a:tc>
                <a:extLst>
                  <a:ext uri="{0D108BD9-81ED-4DB2-BD59-A6C34878D82A}">
                    <a16:rowId xmlns:a16="http://schemas.microsoft.com/office/drawing/2014/main" val="10003"/>
                  </a:ext>
                </a:extLst>
              </a:tr>
            </a:tbl>
          </a:graphicData>
        </a:graphic>
      </p:graphicFrame>
      <p:graphicFrame>
        <p:nvGraphicFramePr>
          <p:cNvPr id="3" name="Chart 2"/>
          <p:cNvGraphicFramePr>
            <a:graphicFrameLocks noGrp="1"/>
          </p:cNvGraphicFramePr>
          <p:nvPr/>
        </p:nvGraphicFramePr>
        <p:xfrm>
          <a:off x="6088909" y="1623746"/>
          <a:ext cx="2712767" cy="1389044"/>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p:cNvSpPr txBox="1"/>
          <p:nvPr/>
        </p:nvSpPr>
        <p:spPr>
          <a:xfrm>
            <a:off x="7285753" y="2913360"/>
            <a:ext cx="514980" cy="2238955"/>
          </a:xfrm>
          <a:prstGeom prst="rect">
            <a:avLst/>
          </a:prstGeom>
          <a:noFill/>
        </p:spPr>
        <p:txBody>
          <a:bodyPr wrap="none" lIns="62844" tIns="62844" rIns="62844" bIns="62844">
            <a:spAutoFit/>
          </a:bodyPr>
          <a:lstStyle/>
          <a:p>
            <a:r>
              <a:rPr sz="1300" b="0" i="0" u="none">
                <a:solidFill>
                  <a:srgbClr val="CDCEDD"/>
                </a:solidFill>
                <a:latin typeface="Calibri"/>
              </a:rPr>
              <a:t>Texture Runtime Release Spectrum Zone Target Indicator Baseline Beta Cycle Exchange Interface Connector Position Dimension State Balance Atlas Inventory Gateway Memory Point Thread Trigger Rhythm Review Balance Matrix Alpha Device Focus Concept Circuit Benchmark Volume Beta Insight Response Audit</a:t>
            </a:r>
          </a:p>
        </p:txBody>
      </p:sp>
      <p:sp>
        <p:nvSpPr>
          <p:cNvPr id="5" name="Not Equal 4"/>
          <p:cNvSpPr/>
          <p:nvPr/>
        </p:nvSpPr>
        <p:spPr>
          <a:xfrm>
            <a:off x="1720710" y="4962470"/>
            <a:ext cx="1945643" cy="727750"/>
          </a:xfrm>
          <a:prstGeom prst="mathNotEqual">
            <a:avLst/>
          </a:prstGeom>
          <a:solidFill>
            <a:srgbClr val="4ED11F"/>
          </a:solidFill>
          <a:ln w="20017">
            <a:solidFill>
              <a:srgbClr val="6EA17F"/>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 name="Connector 5"/>
          <p:cNvCxnSpPr/>
          <p:nvPr/>
        </p:nvCxnSpPr>
        <p:spPr>
          <a:xfrm flipV="1">
            <a:off x="1896477" y="4078829"/>
            <a:ext cx="1653088" cy="757323"/>
          </a:xfrm>
          <a:prstGeom prst="bentConnector3">
            <a:avLst/>
          </a:prstGeom>
          <a:ln w="27923">
            <a:solidFill>
              <a:srgbClr val="33241F"/>
            </a:solidFill>
            <a:prstDash val="lgDash"/>
          </a:ln>
        </p:spPr>
        <p:style>
          <a:lnRef idx="2">
            <a:schemeClr val="accent1"/>
          </a:lnRef>
          <a:fillRef idx="0">
            <a:schemeClr val="accent1"/>
          </a:fillRef>
          <a:effectRef idx="1">
            <a:schemeClr val="accent1"/>
          </a:effectRef>
          <a:fontRef idx="minor">
            <a:schemeClr val="tx1"/>
          </a:fontRef>
        </p:style>
      </p:cxnSp>
      <p:sp>
        <p:nvSpPr>
          <p:cNvPr id="7" name="Sun 6"/>
          <p:cNvSpPr/>
          <p:nvPr/>
        </p:nvSpPr>
        <p:spPr>
          <a:xfrm>
            <a:off x="5645406" y="4048774"/>
            <a:ext cx="1476825" cy="481201"/>
          </a:xfrm>
          <a:prstGeom prst="sun">
            <a:avLst/>
          </a:prstGeom>
          <a:solidFill>
            <a:srgbClr val="907E9E"/>
          </a:solidFill>
          <a:ln w="25296">
            <a:solidFill>
              <a:srgbClr val="31419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3"/>
          <a:srcRect l="17707" t="5542" r="20963" b="3347"/>
          <a:stretch>
            <a:fillRect/>
          </a:stretch>
        </p:blipFill>
        <p:spPr>
          <a:xfrm>
            <a:off x="8966666" y="4580383"/>
            <a:ext cx="2536183" cy="1728103"/>
          </a:xfrm>
          <a:prstGeom prst="rect">
            <a:avLst/>
          </a:prstGeom>
        </p:spPr>
      </p:pic>
      <p:sp>
        <p:nvSpPr>
          <p:cNvPr id="9" name="Rounded Rectangle 8"/>
          <p:cNvSpPr/>
          <p:nvPr/>
        </p:nvSpPr>
        <p:spPr>
          <a:xfrm>
            <a:off x="8966666" y="4580383"/>
            <a:ext cx="2536183" cy="1728103"/>
          </a:xfrm>
          <a:prstGeom prst="roundRect">
            <a:avLst/>
          </a:prstGeom>
          <a:noFill/>
          <a:ln w="15240">
            <a:solidFill>
              <a:srgbClr val="C552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_example_image.jpg"/>
          <p:cNvPicPr>
            <a:picLocks noChangeAspect="1"/>
          </p:cNvPicPr>
          <p:nvPr/>
        </p:nvPicPr>
        <p:blipFill>
          <a:blip r:embed="rId3"/>
          <a:srcRect l="17182" t="14003" r="5793" b="14106"/>
          <a:stretch>
            <a:fillRect/>
          </a:stretch>
        </p:blipFill>
        <p:spPr>
          <a:xfrm>
            <a:off x="9625047" y="769752"/>
            <a:ext cx="1612177" cy="747166"/>
          </a:xfrm>
          <a:prstGeom prst="rect">
            <a:avLst/>
          </a:prstGeom>
        </p:spPr>
      </p:pic>
      <p:cxnSp>
        <p:nvCxnSpPr>
          <p:cNvPr id="11" name="Connector 10"/>
          <p:cNvCxnSpPr/>
          <p:nvPr/>
        </p:nvCxnSpPr>
        <p:spPr>
          <a:xfrm flipV="1">
            <a:off x="3733615" y="4594126"/>
            <a:ext cx="1888919" cy="755609"/>
          </a:xfrm>
          <a:prstGeom prst="bentConnector3">
            <a:avLst/>
          </a:prstGeom>
          <a:ln w="50462">
            <a:solidFill>
              <a:srgbClr val="551E83"/>
            </a:solidFill>
            <a:prstDash val="dashDot"/>
          </a:ln>
        </p:spPr>
        <p:style>
          <a:lnRef idx="2">
            <a:schemeClr val="accent1"/>
          </a:lnRef>
          <a:fillRef idx="0">
            <a:schemeClr val="accent1"/>
          </a:fillRef>
          <a:effectRef idx="1">
            <a:schemeClr val="accent1"/>
          </a:effectRef>
          <a:fontRef idx="minor">
            <a:schemeClr val="tx1"/>
          </a:fontRef>
        </p:style>
      </p:cxnSp>
      <p:sp>
        <p:nvSpPr>
          <p:cNvPr id="12" name="Parallelogram 11"/>
          <p:cNvSpPr/>
          <p:nvPr/>
        </p:nvSpPr>
        <p:spPr>
          <a:xfrm>
            <a:off x="8017589" y="2203790"/>
            <a:ext cx="2500231" cy="1740975"/>
          </a:xfrm>
          <a:prstGeom prst="parallelogram">
            <a:avLst/>
          </a:prstGeom>
          <a:solidFill>
            <a:srgbClr val="2E8B83"/>
          </a:solidFill>
          <a:ln w="26301">
            <a:solidFill>
              <a:srgbClr val="369B8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02342" y="2690205"/>
            <a:ext cx="1124472" cy="1077483"/>
          </a:xfrm>
          <a:prstGeom prst="rect">
            <a:avLst/>
          </a:prstGeom>
          <a:noFill/>
        </p:spPr>
        <p:txBody>
          <a:bodyPr wrap="none" lIns="71291" tIns="71291" rIns="71291" bIns="71291">
            <a:spAutoFit/>
          </a:bodyPr>
          <a:lstStyle/>
          <a:p>
            <a:r>
              <a:rPr sz="1000" b="0" i="1" u="none">
                <a:solidFill>
                  <a:srgbClr val="CB3654"/>
                </a:solidFill>
                <a:latin typeface="Trebuchet MS"/>
              </a:rPr>
              <a:t>Option</a:t>
            </a:r>
          </a:p>
        </p:txBody>
      </p:sp>
      <p:pic>
        <p:nvPicPr>
          <p:cNvPr id="14" name="Picture 13" descr="_example_image.jpg"/>
          <p:cNvPicPr>
            <a:picLocks noChangeAspect="1"/>
          </p:cNvPicPr>
          <p:nvPr/>
        </p:nvPicPr>
        <p:blipFill>
          <a:blip r:embed="rId3"/>
          <a:srcRect l="15564" t="7593" r="21463" b="8117"/>
          <a:stretch>
            <a:fillRect/>
          </a:stretch>
        </p:blipFill>
        <p:spPr>
          <a:xfrm>
            <a:off x="323979" y="3143223"/>
            <a:ext cx="1249606" cy="2354623"/>
          </a:xfrm>
          <a:prstGeom prst="rect">
            <a:avLst/>
          </a:prstGeom>
        </p:spPr>
      </p:pic>
      <p:sp>
        <p:nvSpPr>
          <p:cNvPr id="15" name="Rounded Rectangle 14"/>
          <p:cNvSpPr/>
          <p:nvPr/>
        </p:nvSpPr>
        <p:spPr>
          <a:xfrm>
            <a:off x="323979" y="3143223"/>
            <a:ext cx="1249606" cy="2354623"/>
          </a:xfrm>
          <a:prstGeom prst="roundRect">
            <a:avLst/>
          </a:prstGeom>
          <a:noFill/>
          <a:ln w="15240">
            <a:solidFill>
              <a:srgbClr val="AE5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8598087" y="3809968"/>
            <a:ext cx="1106051" cy="767046"/>
          </a:xfrm>
          <a:custGeom>
            <a:avLst/>
            <a:gdLst/>
            <a:ahLst/>
            <a:cxnLst/>
            <a:rect l="l" t="t" r="r" b="b"/>
            <a:pathLst>
              <a:path w="1106051" h="767046">
                <a:moveTo>
                  <a:pt x="118931" y="130561"/>
                </a:moveTo>
                <a:lnTo>
                  <a:pt x="392470" y="0"/>
                </a:lnTo>
                <a:lnTo>
                  <a:pt x="808725" y="65280"/>
                </a:lnTo>
                <a:lnTo>
                  <a:pt x="1106051" y="310082"/>
                </a:lnTo>
                <a:lnTo>
                  <a:pt x="951442" y="636485"/>
                </a:lnTo>
                <a:lnTo>
                  <a:pt x="511400" y="767046"/>
                </a:lnTo>
                <a:lnTo>
                  <a:pt x="71358" y="554884"/>
                </a:lnTo>
                <a:lnTo>
                  <a:pt x="0" y="277442"/>
                </a:lnTo>
                <a:close/>
              </a:path>
            </a:pathLst>
          </a:custGeom>
          <a:solidFill>
            <a:srgbClr val="748CD0"/>
          </a:solidFill>
          <a:ln w="14490">
            <a:solidFill>
              <a:srgbClr val="8ADC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1125462" y="6068072"/>
            <a:ext cx="2330409" cy="603772"/>
          </a:xfrm>
          <a:custGeom>
            <a:avLst/>
            <a:gdLst/>
            <a:ahLst/>
            <a:cxnLst/>
            <a:rect l="l" t="t" r="r" b="b"/>
            <a:pathLst>
              <a:path w="2330409" h="603772">
                <a:moveTo>
                  <a:pt x="250581" y="102770"/>
                </a:moveTo>
                <a:lnTo>
                  <a:pt x="826919" y="0"/>
                </a:lnTo>
                <a:lnTo>
                  <a:pt x="1703955" y="51385"/>
                </a:lnTo>
                <a:lnTo>
                  <a:pt x="2330409" y="244078"/>
                </a:lnTo>
                <a:lnTo>
                  <a:pt x="2004653" y="501002"/>
                </a:lnTo>
                <a:lnTo>
                  <a:pt x="1077501" y="603772"/>
                </a:lnTo>
                <a:lnTo>
                  <a:pt x="150349" y="436771"/>
                </a:lnTo>
                <a:lnTo>
                  <a:pt x="0" y="218386"/>
                </a:lnTo>
                <a:close/>
              </a:path>
            </a:pathLst>
          </a:custGeom>
          <a:solidFill>
            <a:srgbClr val="5D40D3"/>
          </a:solidFill>
          <a:ln w="18753">
            <a:solidFill>
              <a:srgbClr val="6CB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9047210" y="5963721"/>
            <a:ext cx="1480366" cy="439628"/>
          </a:xfrm>
          <a:prstGeom prst="bentConnector3">
            <a:avLst/>
          </a:prstGeom>
          <a:ln w="44481">
            <a:solidFill>
              <a:srgbClr val="288B23"/>
            </a:solidFill>
            <a:prstDash val="soli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1215678" y="672921"/>
            <a:ext cx="596648" cy="1793354"/>
          </a:xfrm>
          <a:prstGeom prst="rect">
            <a:avLst/>
          </a:prstGeom>
          <a:solidFill>
            <a:srgbClr val="95B68D"/>
          </a:solidFill>
          <a:ln w="6464">
            <a:solidFill>
              <a:srgbClr val="C93C6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1335" y="635452"/>
            <a:ext cx="984176" cy="2456538"/>
          </a:xfrm>
          <a:prstGeom prst="rect">
            <a:avLst/>
          </a:prstGeom>
          <a:noFill/>
        </p:spPr>
        <p:txBody>
          <a:bodyPr wrap="none" lIns="40178" tIns="40178" rIns="40178" bIns="40178">
            <a:spAutoFit/>
          </a:bodyPr>
          <a:lstStyle/>
          <a:p>
            <a:r>
              <a:rPr sz="3900" b="1" i="0" u="none">
                <a:solidFill>
                  <a:srgbClr val="D290AB"/>
                </a:solidFill>
                <a:latin typeface="Arial"/>
              </a:rPr>
              <a:t>Response Runtime Cadence</a:t>
            </a:r>
          </a:p>
        </p:txBody>
      </p:sp>
      <p:sp>
        <p:nvSpPr>
          <p:cNvPr id="21" name="Rounded Rectangle 20"/>
          <p:cNvSpPr/>
          <p:nvPr/>
        </p:nvSpPr>
        <p:spPr>
          <a:xfrm>
            <a:off x="2424774" y="3278567"/>
            <a:ext cx="1172661" cy="610219"/>
          </a:xfrm>
          <a:prstGeom prst="roundRect">
            <a:avLst/>
          </a:prstGeom>
          <a:solidFill>
            <a:srgbClr val="4484AB"/>
          </a:solidFill>
          <a:ln w="15095">
            <a:solidFill>
              <a:srgbClr val="C0B620"/>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unnel 21"/>
          <p:cNvSpPr/>
          <p:nvPr/>
        </p:nvSpPr>
        <p:spPr>
          <a:xfrm>
            <a:off x="1691252" y="663832"/>
            <a:ext cx="337715" cy="1830686"/>
          </a:xfrm>
          <a:prstGeom prst="funnel">
            <a:avLst/>
          </a:prstGeom>
          <a:noFill/>
          <a:ln w="16617">
            <a:solidFill>
              <a:srgbClr val="DAC64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74561" y="4930369"/>
            <a:ext cx="667920" cy="933268"/>
          </a:xfrm>
          <a:prstGeom prst="rect">
            <a:avLst/>
          </a:prstGeom>
          <a:noFill/>
        </p:spPr>
        <p:txBody>
          <a:bodyPr wrap="none" lIns="91301" tIns="91301" rIns="91301" bIns="91301">
            <a:spAutoFit/>
          </a:bodyPr>
          <a:lstStyle/>
          <a:p>
            <a:r>
              <a:rPr sz="1600" b="0" i="0" u="none">
                <a:solidFill>
                  <a:srgbClr val="E5461A"/>
                </a:solidFill>
                <a:latin typeface="Verdana"/>
              </a:rPr>
              <a:t>Trigger Track Vertex Graph Snapshot Impact Record Collection Blueprint Cycle Map Beacon</a:t>
            </a:r>
          </a:p>
        </p:txBody>
      </p:sp>
      <p:graphicFrame>
        <p:nvGraphicFramePr>
          <p:cNvPr id="24" name="Chart 23"/>
          <p:cNvGraphicFramePr>
            <a:graphicFrameLocks noGrp="1"/>
          </p:cNvGraphicFramePr>
          <p:nvPr/>
        </p:nvGraphicFramePr>
        <p:xfrm>
          <a:off x="1748257" y="423623"/>
          <a:ext cx="2625707" cy="1862344"/>
        </p:xfrm>
        <a:graphic>
          <a:graphicData uri="http://schemas.openxmlformats.org/drawingml/2006/chart">
            <c:chart xmlns:c="http://schemas.openxmlformats.org/drawingml/2006/chart" xmlns:r="http://schemas.openxmlformats.org/officeDocument/2006/relationships" r:id="rId4"/>
          </a:graphicData>
        </a:graphic>
      </p:graphicFrame>
      <p:sp>
        <p:nvSpPr>
          <p:cNvPr id="25" name="5-Point Star 24"/>
          <p:cNvSpPr/>
          <p:nvPr/>
        </p:nvSpPr>
        <p:spPr>
          <a:xfrm>
            <a:off x="10661147" y="720921"/>
            <a:ext cx="438847" cy="299849"/>
          </a:xfrm>
          <a:prstGeom prst="star5">
            <a:avLst/>
          </a:prstGeom>
          <a:solidFill>
            <a:srgbClr val="49CB70"/>
          </a:solidFill>
          <a:ln w="26873">
            <a:solidFill>
              <a:srgbClr val="1AE43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720506" y="2921110"/>
            <a:ext cx="732718" cy="1705536"/>
          </a:xfrm>
          <a:prstGeom prst="rect">
            <a:avLst/>
          </a:prstGeom>
          <a:noFill/>
        </p:spPr>
        <p:txBody>
          <a:bodyPr wrap="none" lIns="41692" tIns="41692" rIns="41692" bIns="41692">
            <a:spAutoFit/>
          </a:bodyPr>
          <a:lstStyle/>
          <a:p>
            <a:r>
              <a:rPr sz="800" b="0" i="0" u="none">
                <a:solidFill>
                  <a:srgbClr val="6D476D"/>
                </a:solidFill>
                <a:latin typeface="Georgia"/>
              </a:rPr>
              <a:t>Order Story Gateway Expansion Frame Report Gateway Connector Register Concept Friction Detail</a:t>
            </a:r>
          </a:p>
        </p:txBody>
      </p:sp>
      <p:graphicFrame>
        <p:nvGraphicFramePr>
          <p:cNvPr id="27" name="Table 26"/>
          <p:cNvGraphicFramePr>
            <a:graphicFrameLocks noGrp="1"/>
          </p:cNvGraphicFramePr>
          <p:nvPr/>
        </p:nvGraphicFramePr>
        <p:xfrm>
          <a:off x="5478274" y="833318"/>
          <a:ext cx="4301978" cy="984731"/>
        </p:xfrm>
        <a:graphic>
          <a:graphicData uri="http://schemas.openxmlformats.org/drawingml/2006/table">
            <a:tbl>
              <a:tblPr firstRow="1" bandRow="1">
                <a:tableStyleId>{5C22544A-7EE6-4342-B048-85BDC9FD1C3A}</a:tableStyleId>
              </a:tblPr>
              <a:tblGrid>
                <a:gridCol w="860395">
                  <a:extLst>
                    <a:ext uri="{9D8B030D-6E8A-4147-A177-3AD203B41FA5}">
                      <a16:colId xmlns:a16="http://schemas.microsoft.com/office/drawing/2014/main" val="20000"/>
                    </a:ext>
                  </a:extLst>
                </a:gridCol>
                <a:gridCol w="860395">
                  <a:extLst>
                    <a:ext uri="{9D8B030D-6E8A-4147-A177-3AD203B41FA5}">
                      <a16:colId xmlns:a16="http://schemas.microsoft.com/office/drawing/2014/main" val="20001"/>
                    </a:ext>
                  </a:extLst>
                </a:gridCol>
                <a:gridCol w="860395">
                  <a:extLst>
                    <a:ext uri="{9D8B030D-6E8A-4147-A177-3AD203B41FA5}">
                      <a16:colId xmlns:a16="http://schemas.microsoft.com/office/drawing/2014/main" val="20002"/>
                    </a:ext>
                  </a:extLst>
                </a:gridCol>
                <a:gridCol w="860395">
                  <a:extLst>
                    <a:ext uri="{9D8B030D-6E8A-4147-A177-3AD203B41FA5}">
                      <a16:colId xmlns:a16="http://schemas.microsoft.com/office/drawing/2014/main" val="20003"/>
                    </a:ext>
                  </a:extLst>
                </a:gridCol>
                <a:gridCol w="860398">
                  <a:extLst>
                    <a:ext uri="{9D8B030D-6E8A-4147-A177-3AD203B41FA5}">
                      <a16:colId xmlns:a16="http://schemas.microsoft.com/office/drawing/2014/main" val="20004"/>
                    </a:ext>
                  </a:extLst>
                </a:gridCol>
              </a:tblGrid>
              <a:tr h="140675">
                <a:tc>
                  <a:txBody>
                    <a:bodyPr/>
                    <a:lstStyle/>
                    <a:p>
                      <a:r>
                        <a:rPr sz="1300" b="1">
                          <a:solidFill>
                            <a:srgbClr val="84E050"/>
                          </a:solidFill>
                        </a:rPr>
                        <a:t>Asset</a:t>
                      </a:r>
                    </a:p>
                  </a:txBody>
                  <a:tcPr>
                    <a:solidFill>
                      <a:srgbClr val="BE8F8B"/>
                    </a:solidFill>
                  </a:tcPr>
                </a:tc>
                <a:tc>
                  <a:txBody>
                    <a:bodyPr/>
                    <a:lstStyle/>
                    <a:p>
                      <a:r>
                        <a:rPr sz="1300" b="1">
                          <a:solidFill>
                            <a:srgbClr val="84E050"/>
                          </a:solidFill>
                        </a:rPr>
                        <a:t>Friction</a:t>
                      </a:r>
                    </a:p>
                  </a:txBody>
                  <a:tcPr>
                    <a:solidFill>
                      <a:srgbClr val="BE8F8B"/>
                    </a:solidFill>
                  </a:tcPr>
                </a:tc>
                <a:tc>
                  <a:txBody>
                    <a:bodyPr/>
                    <a:lstStyle/>
                    <a:p>
                      <a:r>
                        <a:rPr sz="1300" b="1">
                          <a:solidFill>
                            <a:srgbClr val="84E050"/>
                          </a:solidFill>
                        </a:rPr>
                        <a:t>Impact</a:t>
                      </a:r>
                    </a:p>
                  </a:txBody>
                  <a:tcPr>
                    <a:solidFill>
                      <a:srgbClr val="BE8F8B"/>
                    </a:solidFill>
                  </a:tcPr>
                </a:tc>
                <a:tc>
                  <a:txBody>
                    <a:bodyPr/>
                    <a:lstStyle/>
                    <a:p>
                      <a:r>
                        <a:rPr sz="1300" b="1">
                          <a:solidFill>
                            <a:srgbClr val="84E050"/>
                          </a:solidFill>
                        </a:rPr>
                        <a:t>Beta Blueprint</a:t>
                      </a:r>
                    </a:p>
                  </a:txBody>
                  <a:tcPr>
                    <a:solidFill>
                      <a:srgbClr val="BE8F8B"/>
                    </a:solidFill>
                  </a:tcPr>
                </a:tc>
                <a:tc>
                  <a:txBody>
                    <a:bodyPr/>
                    <a:lstStyle/>
                    <a:p>
                      <a:r>
                        <a:rPr sz="1300" b="1">
                          <a:solidFill>
                            <a:srgbClr val="84E050"/>
                          </a:solidFill>
                        </a:rPr>
                        <a:t>Vertex</a:t>
                      </a:r>
                    </a:p>
                  </a:txBody>
                  <a:tcPr>
                    <a:solidFill>
                      <a:srgbClr val="BE8F8B"/>
                    </a:solidFill>
                  </a:tcPr>
                </a:tc>
                <a:extLst>
                  <a:ext uri="{0D108BD9-81ED-4DB2-BD59-A6C34878D82A}">
                    <a16:rowId xmlns:a16="http://schemas.microsoft.com/office/drawing/2014/main" val="10000"/>
                  </a:ext>
                </a:extLst>
              </a:tr>
              <a:tr h="140675">
                <a:tc>
                  <a:txBody>
                    <a:bodyPr/>
                    <a:lstStyle/>
                    <a:p>
                      <a:r>
                        <a:rPr sz="1300" b="0">
                          <a:solidFill>
                            <a:srgbClr val="84E050"/>
                          </a:solidFill>
                        </a:rPr>
                        <a:t>Diagram Asset</a:t>
                      </a:r>
                    </a:p>
                  </a:txBody>
                  <a:tcPr>
                    <a:solidFill>
                      <a:srgbClr val="F4D5C7"/>
                    </a:solidFill>
                  </a:tcPr>
                </a:tc>
                <a:tc>
                  <a:txBody>
                    <a:bodyPr/>
                    <a:lstStyle/>
                    <a:p>
                      <a:r>
                        <a:rPr sz="1300" b="0">
                          <a:solidFill>
                            <a:srgbClr val="84E050"/>
                          </a:solidFill>
                        </a:rPr>
                        <a:t>Case</a:t>
                      </a:r>
                    </a:p>
                  </a:txBody>
                  <a:tcPr>
                    <a:solidFill>
                      <a:srgbClr val="F4D5C7"/>
                    </a:solidFill>
                  </a:tcPr>
                </a:tc>
                <a:tc>
                  <a:txBody>
                    <a:bodyPr/>
                    <a:lstStyle/>
                    <a:p>
                      <a:r>
                        <a:rPr sz="1300" b="0">
                          <a:solidFill>
                            <a:srgbClr val="84E050"/>
                          </a:solidFill>
                        </a:rPr>
                        <a:t>Instance Matrix</a:t>
                      </a:r>
                    </a:p>
                  </a:txBody>
                  <a:tcPr>
                    <a:solidFill>
                      <a:srgbClr val="F4D5C7"/>
                    </a:solidFill>
                  </a:tcPr>
                </a:tc>
                <a:tc>
                  <a:txBody>
                    <a:bodyPr/>
                    <a:lstStyle/>
                    <a:p>
                      <a:r>
                        <a:rPr sz="1300" b="0">
                          <a:solidFill>
                            <a:srgbClr val="84E050"/>
                          </a:solidFill>
                        </a:rPr>
                        <a:t>Briefing</a:t>
                      </a:r>
                    </a:p>
                  </a:txBody>
                  <a:tcPr>
                    <a:solidFill>
                      <a:srgbClr val="F4D5C7"/>
                    </a:solidFill>
                  </a:tcPr>
                </a:tc>
                <a:tc>
                  <a:txBody>
                    <a:bodyPr/>
                    <a:lstStyle/>
                    <a:p>
                      <a:r>
                        <a:rPr sz="1300" b="0">
                          <a:solidFill>
                            <a:srgbClr val="84E050"/>
                          </a:solidFill>
                        </a:rPr>
                        <a:t>Signal</a:t>
                      </a:r>
                    </a:p>
                  </a:txBody>
                  <a:tcPr>
                    <a:solidFill>
                      <a:srgbClr val="F4D5C7"/>
                    </a:solidFill>
                  </a:tcPr>
                </a:tc>
                <a:extLst>
                  <a:ext uri="{0D108BD9-81ED-4DB2-BD59-A6C34878D82A}">
                    <a16:rowId xmlns:a16="http://schemas.microsoft.com/office/drawing/2014/main" val="10001"/>
                  </a:ext>
                </a:extLst>
              </a:tr>
              <a:tr h="140675">
                <a:tc>
                  <a:txBody>
                    <a:bodyPr/>
                    <a:lstStyle/>
                    <a:p>
                      <a:r>
                        <a:rPr sz="1300" b="0">
                          <a:solidFill>
                            <a:srgbClr val="84E050"/>
                          </a:solidFill>
                        </a:rPr>
                        <a:t>Memory Model</a:t>
                      </a:r>
                    </a:p>
                  </a:txBody>
                  <a:tcPr>
                    <a:solidFill>
                      <a:srgbClr val="F9E7DF"/>
                    </a:solidFill>
                  </a:tcPr>
                </a:tc>
                <a:tc>
                  <a:txBody>
                    <a:bodyPr/>
                    <a:lstStyle/>
                    <a:p>
                      <a:r>
                        <a:rPr sz="1300" b="0">
                          <a:solidFill>
                            <a:srgbClr val="84E050"/>
                          </a:solidFill>
                        </a:rPr>
                        <a:t>Blueprint</a:t>
                      </a:r>
                    </a:p>
                  </a:txBody>
                  <a:tcPr>
                    <a:solidFill>
                      <a:srgbClr val="F9E7DF"/>
                    </a:solidFill>
                  </a:tcPr>
                </a:tc>
                <a:tc>
                  <a:txBody>
                    <a:bodyPr/>
                    <a:lstStyle/>
                    <a:p>
                      <a:r>
                        <a:rPr sz="1300" b="0">
                          <a:solidFill>
                            <a:srgbClr val="84E050"/>
                          </a:solidFill>
                        </a:rPr>
                        <a:t>Proof Handle</a:t>
                      </a:r>
                    </a:p>
                  </a:txBody>
                  <a:tcPr>
                    <a:solidFill>
                      <a:srgbClr val="F9E7DF"/>
                    </a:solidFill>
                  </a:tcPr>
                </a:tc>
                <a:tc>
                  <a:txBody>
                    <a:bodyPr/>
                    <a:lstStyle/>
                    <a:p>
                      <a:r>
                        <a:rPr sz="1300" b="0">
                          <a:solidFill>
                            <a:srgbClr val="84E050"/>
                          </a:solidFill>
                        </a:rPr>
                        <a:t>Design</a:t>
                      </a:r>
                    </a:p>
                  </a:txBody>
                  <a:tcPr>
                    <a:solidFill>
                      <a:srgbClr val="F9E7DF"/>
                    </a:solidFill>
                  </a:tcPr>
                </a:tc>
                <a:tc>
                  <a:txBody>
                    <a:bodyPr/>
                    <a:lstStyle/>
                    <a:p>
                      <a:r>
                        <a:rPr sz="1300" b="0">
                          <a:solidFill>
                            <a:srgbClr val="84E050"/>
                          </a:solidFill>
                        </a:rPr>
                        <a:t>Network</a:t>
                      </a:r>
                    </a:p>
                  </a:txBody>
                  <a:tcPr>
                    <a:solidFill>
                      <a:srgbClr val="F9E7DF"/>
                    </a:solidFill>
                  </a:tcPr>
                </a:tc>
                <a:extLst>
                  <a:ext uri="{0D108BD9-81ED-4DB2-BD59-A6C34878D82A}">
                    <a16:rowId xmlns:a16="http://schemas.microsoft.com/office/drawing/2014/main" val="10002"/>
                  </a:ext>
                </a:extLst>
              </a:tr>
              <a:tr h="140675">
                <a:tc>
                  <a:txBody>
                    <a:bodyPr/>
                    <a:lstStyle/>
                    <a:p>
                      <a:r>
                        <a:rPr sz="1300" b="0">
                          <a:solidFill>
                            <a:srgbClr val="84E050"/>
                          </a:solidFill>
                        </a:rPr>
                        <a:t>Span Topology</a:t>
                      </a:r>
                    </a:p>
                  </a:txBody>
                  <a:tcPr>
                    <a:solidFill>
                      <a:srgbClr val="F4D5C7"/>
                    </a:solidFill>
                  </a:tcPr>
                </a:tc>
                <a:tc>
                  <a:txBody>
                    <a:bodyPr/>
                    <a:lstStyle/>
                    <a:p>
                      <a:r>
                        <a:rPr sz="1300" b="0">
                          <a:solidFill>
                            <a:srgbClr val="84E050"/>
                          </a:solidFill>
                        </a:rPr>
                        <a:t>Edge</a:t>
                      </a:r>
                    </a:p>
                  </a:txBody>
                  <a:tcPr>
                    <a:solidFill>
                      <a:srgbClr val="F4D5C7"/>
                    </a:solidFill>
                  </a:tcPr>
                </a:tc>
                <a:tc>
                  <a:txBody>
                    <a:bodyPr/>
                    <a:lstStyle/>
                    <a:p>
                      <a:r>
                        <a:rPr sz="1300" b="0">
                          <a:solidFill>
                            <a:srgbClr val="84E050"/>
                          </a:solidFill>
                        </a:rPr>
                        <a:t>Estimate Core</a:t>
                      </a:r>
                    </a:p>
                  </a:txBody>
                  <a:tcPr>
                    <a:solidFill>
                      <a:srgbClr val="F4D5C7"/>
                    </a:solidFill>
                  </a:tcPr>
                </a:tc>
                <a:tc>
                  <a:txBody>
                    <a:bodyPr/>
                    <a:lstStyle/>
                    <a:p>
                      <a:r>
                        <a:rPr sz="1300" b="0">
                          <a:solidFill>
                            <a:srgbClr val="84E050"/>
                          </a:solidFill>
                        </a:rPr>
                        <a:t>Chart</a:t>
                      </a:r>
                    </a:p>
                  </a:txBody>
                  <a:tcPr>
                    <a:solidFill>
                      <a:srgbClr val="F4D5C7"/>
                    </a:solidFill>
                  </a:tcPr>
                </a:tc>
                <a:tc>
                  <a:txBody>
                    <a:bodyPr/>
                    <a:lstStyle/>
                    <a:p>
                      <a:r>
                        <a:rPr sz="1300" b="0">
                          <a:solidFill>
                            <a:srgbClr val="84E050"/>
                          </a:solidFill>
                        </a:rPr>
                        <a:t>Option Token</a:t>
                      </a:r>
                    </a:p>
                  </a:txBody>
                  <a:tcPr>
                    <a:solidFill>
                      <a:srgbClr val="F4D5C7"/>
                    </a:solidFill>
                  </a:tcPr>
                </a:tc>
                <a:extLst>
                  <a:ext uri="{0D108BD9-81ED-4DB2-BD59-A6C34878D82A}">
                    <a16:rowId xmlns:a16="http://schemas.microsoft.com/office/drawing/2014/main" val="10003"/>
                  </a:ext>
                </a:extLst>
              </a:tr>
              <a:tr h="140675">
                <a:tc>
                  <a:txBody>
                    <a:bodyPr/>
                    <a:lstStyle/>
                    <a:p>
                      <a:r>
                        <a:rPr sz="1300" b="0">
                          <a:solidFill>
                            <a:srgbClr val="84E050"/>
                          </a:solidFill>
                        </a:rPr>
                        <a:t>Lens</a:t>
                      </a:r>
                    </a:p>
                  </a:txBody>
                  <a:tcPr>
                    <a:solidFill>
                      <a:srgbClr val="F9E7DF"/>
                    </a:solidFill>
                  </a:tcPr>
                </a:tc>
                <a:tc>
                  <a:txBody>
                    <a:bodyPr/>
                    <a:lstStyle/>
                    <a:p>
                      <a:r>
                        <a:rPr sz="1300" b="0">
                          <a:solidFill>
                            <a:srgbClr val="84E050"/>
                          </a:solidFill>
                        </a:rPr>
                        <a:t>Clarity</a:t>
                      </a:r>
                    </a:p>
                  </a:txBody>
                  <a:tcPr>
                    <a:solidFill>
                      <a:srgbClr val="F9E7DF"/>
                    </a:solidFill>
                  </a:tcPr>
                </a:tc>
                <a:tc>
                  <a:txBody>
                    <a:bodyPr/>
                    <a:lstStyle/>
                    <a:p>
                      <a:r>
                        <a:rPr sz="1300" b="0">
                          <a:solidFill>
                            <a:srgbClr val="84E050"/>
                          </a:solidFill>
                        </a:rPr>
                        <a:t>Loop</a:t>
                      </a:r>
                    </a:p>
                  </a:txBody>
                  <a:tcPr>
                    <a:solidFill>
                      <a:srgbClr val="F9E7DF"/>
                    </a:solidFill>
                  </a:tcPr>
                </a:tc>
                <a:tc>
                  <a:txBody>
                    <a:bodyPr/>
                    <a:lstStyle/>
                    <a:p>
                      <a:r>
                        <a:rPr sz="1300" b="0">
                          <a:solidFill>
                            <a:srgbClr val="84E050"/>
                          </a:solidFill>
                        </a:rPr>
                        <a:t>Exchange</a:t>
                      </a:r>
                    </a:p>
                  </a:txBody>
                  <a:tcPr>
                    <a:solidFill>
                      <a:srgbClr val="F9E7DF"/>
                    </a:solidFill>
                  </a:tcPr>
                </a:tc>
                <a:tc>
                  <a:txBody>
                    <a:bodyPr/>
                    <a:lstStyle/>
                    <a:p>
                      <a:r>
                        <a:rPr sz="1300" b="0">
                          <a:solidFill>
                            <a:srgbClr val="84E050"/>
                          </a:solidFill>
                        </a:rPr>
                        <a:t>Asset Iteration</a:t>
                      </a:r>
                    </a:p>
                  </a:txBody>
                  <a:tcPr>
                    <a:solidFill>
                      <a:srgbClr val="F9E7DF"/>
                    </a:solidFill>
                  </a:tcPr>
                </a:tc>
                <a:extLst>
                  <a:ext uri="{0D108BD9-81ED-4DB2-BD59-A6C34878D82A}">
                    <a16:rowId xmlns:a16="http://schemas.microsoft.com/office/drawing/2014/main" val="10004"/>
                  </a:ext>
                </a:extLst>
              </a:tr>
              <a:tr h="140675">
                <a:tc>
                  <a:txBody>
                    <a:bodyPr/>
                    <a:lstStyle/>
                    <a:p>
                      <a:r>
                        <a:rPr sz="1300" b="0">
                          <a:solidFill>
                            <a:srgbClr val="84E050"/>
                          </a:solidFill>
                        </a:rPr>
                        <a:t>Window Thread</a:t>
                      </a:r>
                    </a:p>
                  </a:txBody>
                  <a:tcPr>
                    <a:solidFill>
                      <a:srgbClr val="F4D5C7"/>
                    </a:solidFill>
                  </a:tcPr>
                </a:tc>
                <a:tc>
                  <a:txBody>
                    <a:bodyPr/>
                    <a:lstStyle/>
                    <a:p>
                      <a:r>
                        <a:rPr sz="1300" b="0">
                          <a:solidFill>
                            <a:srgbClr val="84E050"/>
                          </a:solidFill>
                        </a:rPr>
                        <a:t>Intent</a:t>
                      </a:r>
                    </a:p>
                  </a:txBody>
                  <a:tcPr>
                    <a:solidFill>
                      <a:srgbClr val="F4D5C7"/>
                    </a:solidFill>
                  </a:tcPr>
                </a:tc>
                <a:tc>
                  <a:txBody>
                    <a:bodyPr/>
                    <a:lstStyle/>
                    <a:p>
                      <a:r>
                        <a:rPr sz="1300" b="0">
                          <a:solidFill>
                            <a:srgbClr val="84E050"/>
                          </a:solidFill>
                        </a:rPr>
                        <a:t>Topology</a:t>
                      </a:r>
                    </a:p>
                  </a:txBody>
                  <a:tcPr>
                    <a:solidFill>
                      <a:srgbClr val="F4D5C7"/>
                    </a:solidFill>
                  </a:tcPr>
                </a:tc>
                <a:tc>
                  <a:txBody>
                    <a:bodyPr/>
                    <a:lstStyle/>
                    <a:p>
                      <a:r>
                        <a:rPr sz="1300" b="0">
                          <a:solidFill>
                            <a:srgbClr val="84E050"/>
                          </a:solidFill>
                        </a:rPr>
                        <a:t>Ratio</a:t>
                      </a:r>
                    </a:p>
                  </a:txBody>
                  <a:tcPr>
                    <a:solidFill>
                      <a:srgbClr val="F4D5C7"/>
                    </a:solidFill>
                  </a:tcPr>
                </a:tc>
                <a:tc>
                  <a:txBody>
                    <a:bodyPr/>
                    <a:lstStyle/>
                    <a:p>
                      <a:r>
                        <a:rPr sz="1300" b="0">
                          <a:solidFill>
                            <a:srgbClr val="84E050"/>
                          </a:solidFill>
                        </a:rPr>
                        <a:t>Report</a:t>
                      </a:r>
                    </a:p>
                  </a:txBody>
                  <a:tcPr>
                    <a:solidFill>
                      <a:srgbClr val="F4D5C7"/>
                    </a:solidFill>
                  </a:tcPr>
                </a:tc>
                <a:extLst>
                  <a:ext uri="{0D108BD9-81ED-4DB2-BD59-A6C34878D82A}">
                    <a16:rowId xmlns:a16="http://schemas.microsoft.com/office/drawing/2014/main" val="10005"/>
                  </a:ext>
                </a:extLst>
              </a:tr>
              <a:tr h="140681">
                <a:tc>
                  <a:txBody>
                    <a:bodyPr/>
                    <a:lstStyle/>
                    <a:p>
                      <a:r>
                        <a:rPr sz="1300" b="0">
                          <a:solidFill>
                            <a:srgbClr val="84E050"/>
                          </a:solidFill>
                        </a:rPr>
                        <a:t>Model</a:t>
                      </a:r>
                    </a:p>
                  </a:txBody>
                  <a:tcPr>
                    <a:solidFill>
                      <a:srgbClr val="F9E7DF"/>
                    </a:solidFill>
                  </a:tcPr>
                </a:tc>
                <a:tc>
                  <a:txBody>
                    <a:bodyPr/>
                    <a:lstStyle/>
                    <a:p>
                      <a:r>
                        <a:rPr sz="1300" b="0">
                          <a:solidFill>
                            <a:srgbClr val="84E050"/>
                          </a:solidFill>
                        </a:rPr>
                        <a:t>Direction</a:t>
                      </a:r>
                    </a:p>
                  </a:txBody>
                  <a:tcPr>
                    <a:solidFill>
                      <a:srgbClr val="F9E7DF"/>
                    </a:solidFill>
                  </a:tcPr>
                </a:tc>
                <a:tc>
                  <a:txBody>
                    <a:bodyPr/>
                    <a:lstStyle/>
                    <a:p>
                      <a:r>
                        <a:rPr sz="1300" b="0">
                          <a:solidFill>
                            <a:srgbClr val="84E050"/>
                          </a:solidFill>
                        </a:rPr>
                        <a:t>Memory Terminal</a:t>
                      </a:r>
                    </a:p>
                  </a:txBody>
                  <a:tcPr>
                    <a:solidFill>
                      <a:srgbClr val="F9E7DF"/>
                    </a:solidFill>
                  </a:tcPr>
                </a:tc>
                <a:tc>
                  <a:txBody>
                    <a:bodyPr/>
                    <a:lstStyle/>
                    <a:p>
                      <a:r>
                        <a:rPr sz="1300" b="0">
                          <a:solidFill>
                            <a:srgbClr val="84E050"/>
                          </a:solidFill>
                        </a:rPr>
                        <a:t>Version Briefing</a:t>
                      </a:r>
                    </a:p>
                  </a:txBody>
                  <a:tcPr>
                    <a:solidFill>
                      <a:srgbClr val="F9E7DF"/>
                    </a:solidFill>
                  </a:tcPr>
                </a:tc>
                <a:tc>
                  <a:txBody>
                    <a:bodyPr/>
                    <a:lstStyle/>
                    <a:p>
                      <a:r>
                        <a:rPr sz="1300" b="0">
                          <a:solidFill>
                            <a:srgbClr val="84E050"/>
                          </a:solidFill>
                        </a:rPr>
                        <a:t>Object</a:t>
                      </a:r>
                    </a:p>
                  </a:txBody>
                  <a:tcPr>
                    <a:solidFill>
                      <a:srgbClr val="F9E7DF"/>
                    </a:solidFill>
                  </a:tcPr>
                </a:tc>
                <a:extLst>
                  <a:ext uri="{0D108BD9-81ED-4DB2-BD59-A6C34878D82A}">
                    <a16:rowId xmlns:a16="http://schemas.microsoft.com/office/drawing/2014/main" val="10006"/>
                  </a:ext>
                </a:extLst>
              </a:tr>
            </a:tbl>
          </a:graphicData>
        </a:graphic>
      </p:graphicFrame>
      <p:sp>
        <p:nvSpPr>
          <p:cNvPr id="28" name="TextBox 27"/>
          <p:cNvSpPr txBox="1"/>
          <p:nvPr/>
        </p:nvSpPr>
        <p:spPr>
          <a:xfrm>
            <a:off x="2829985" y="889397"/>
            <a:ext cx="2873646" cy="873653"/>
          </a:xfrm>
          <a:prstGeom prst="rect">
            <a:avLst/>
          </a:prstGeom>
          <a:noFill/>
        </p:spPr>
        <p:txBody>
          <a:bodyPr wrap="none" lIns="90182" tIns="90182" rIns="90182" bIns="90182">
            <a:spAutoFit/>
          </a:bodyPr>
          <a:lstStyle/>
          <a:p>
            <a:r>
              <a:rPr sz="1200" b="0" i="1" u="none">
                <a:solidFill>
                  <a:srgbClr val="A89774"/>
                </a:solidFill>
                <a:latin typeface="Calibri"/>
              </a:rPr>
              <a:t>Envelope Story Measure Snapshot Guide Proof Delta Result Command Feature Variant Stage Gateway Position Lens Apex Wave Frame Thread Horizon Format Alpha View Group Proof Atlas Stream Checkpoint Version Segment Interval Range Marker Frame Origin Lineage Edge Transit Concept Alpha Cluster Forecast Interface North</a:t>
            </a:r>
          </a:p>
        </p:txBody>
      </p:sp>
      <p:pic>
        <p:nvPicPr>
          <p:cNvPr id="30" name="Graphic 29">
            <a:extLst>
              <a:ext uri="{FF2B5EF4-FFF2-40B4-BE49-F238E27FC236}">
                <a16:creationId xmlns:a16="http://schemas.microsoft.com/office/drawing/2014/main" id="{F188D196-1F02-8F08-1774-56A2099CE4CA}"/>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592036" y="3734616"/>
            <a:ext cx="1541227" cy="886102"/>
          </a:xfrm>
          <a:prstGeom prst="rect">
            <a:avLst/>
          </a:prstGeom>
        </p:spPr>
      </p:pic>
      <p:pic>
        <p:nvPicPr>
          <p:cNvPr id="32" name="Graphic 31">
            <a:extLst>
              <a:ext uri="{FF2B5EF4-FFF2-40B4-BE49-F238E27FC236}">
                <a16:creationId xmlns:a16="http://schemas.microsoft.com/office/drawing/2014/main" id="{A34E2473-5CF5-3801-7C03-68F13DF02806}"/>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673121" y="4420200"/>
            <a:ext cx="1604306" cy="1092339"/>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d Right Arrow 1"/>
          <p:cNvSpPr/>
          <p:nvPr/>
        </p:nvSpPr>
        <p:spPr>
          <a:xfrm>
            <a:off x="4293502" y="1956148"/>
            <a:ext cx="1209809" cy="1515375"/>
          </a:xfrm>
          <a:prstGeom prst="stripedRightArrow">
            <a:avLst/>
          </a:prstGeom>
          <a:solidFill>
            <a:srgbClr val="B14D2D"/>
          </a:solidFill>
          <a:ln w="15426">
            <a:solidFill>
              <a:srgbClr val="9FB75B"/>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flipV="1">
            <a:off x="7434402" y="1246392"/>
            <a:ext cx="1292286" cy="846821"/>
          </a:xfrm>
          <a:prstGeom prst="curvedConnector3">
            <a:avLst/>
          </a:prstGeom>
          <a:ln w="48345">
            <a:solidFill>
              <a:srgbClr val="7331C0"/>
            </a:solidFill>
            <a:prstDash val="dot"/>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9594061" y="2625445"/>
            <a:ext cx="866000" cy="431110"/>
          </a:xfrm>
          <a:prstGeom prst="line">
            <a:avLst/>
          </a:prstGeom>
          <a:ln w="24574">
            <a:solidFill>
              <a:srgbClr val="8D8AAF"/>
            </a:solidFill>
            <a:prstDash val="solid"/>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09231" y="1358033"/>
            <a:ext cx="1448397" cy="2438663"/>
          </a:xfrm>
          <a:prstGeom prst="rect">
            <a:avLst/>
          </a:prstGeom>
          <a:noFill/>
        </p:spPr>
        <p:txBody>
          <a:bodyPr wrap="none" lIns="56516" tIns="56516" rIns="56516" bIns="56516">
            <a:spAutoFit/>
          </a:bodyPr>
          <a:lstStyle/>
          <a:p>
            <a:r>
              <a:rPr sz="1300" b="1" i="0" u="none">
                <a:solidFill>
                  <a:srgbClr val="5F9F23"/>
                </a:solidFill>
                <a:latin typeface="Aptos"/>
              </a:rPr>
              <a:t>Portal Transit</a:t>
            </a:r>
          </a:p>
        </p:txBody>
      </p:sp>
      <p:sp>
        <p:nvSpPr>
          <p:cNvPr id="6" name="TextBox 5"/>
          <p:cNvSpPr txBox="1"/>
          <p:nvPr/>
        </p:nvSpPr>
        <p:spPr>
          <a:xfrm>
            <a:off x="2409178" y="1847357"/>
            <a:ext cx="1141221" cy="1261762"/>
          </a:xfrm>
          <a:prstGeom prst="rect">
            <a:avLst/>
          </a:prstGeom>
          <a:noFill/>
        </p:spPr>
        <p:txBody>
          <a:bodyPr wrap="none" lIns="50554" tIns="50554" rIns="50554" bIns="50554">
            <a:spAutoFit/>
          </a:bodyPr>
          <a:lstStyle/>
          <a:p>
            <a:r>
              <a:rPr sz="2500" b="0" i="0" u="sng">
                <a:solidFill>
                  <a:srgbClr val="5D74D1"/>
                </a:solidFill>
                <a:latin typeface="Calibri"/>
              </a:rPr>
              <a:t>Transform Library Dashboard Alpha Control Switch Filter Version Inventory Deployment Harbor</a:t>
            </a:r>
          </a:p>
        </p:txBody>
      </p:sp>
      <p:graphicFrame>
        <p:nvGraphicFramePr>
          <p:cNvPr id="7" name="Chart 6"/>
          <p:cNvGraphicFramePr>
            <a:graphicFrameLocks noGrp="1"/>
          </p:cNvGraphicFramePr>
          <p:nvPr/>
        </p:nvGraphicFramePr>
        <p:xfrm>
          <a:off x="5178491" y="4982534"/>
          <a:ext cx="2405602" cy="16509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Table 7"/>
          <p:cNvGraphicFramePr>
            <a:graphicFrameLocks noGrp="1"/>
          </p:cNvGraphicFramePr>
          <p:nvPr/>
        </p:nvGraphicFramePr>
        <p:xfrm>
          <a:off x="9104483" y="4328903"/>
          <a:ext cx="2640788" cy="2257181"/>
        </p:xfrm>
        <a:graphic>
          <a:graphicData uri="http://schemas.openxmlformats.org/drawingml/2006/table">
            <a:tbl>
              <a:tblPr firstRow="1" bandRow="1">
                <a:tableStyleId>{5C22544A-7EE6-4342-B048-85BDC9FD1C3A}</a:tableStyleId>
              </a:tblPr>
              <a:tblGrid>
                <a:gridCol w="880262">
                  <a:extLst>
                    <a:ext uri="{9D8B030D-6E8A-4147-A177-3AD203B41FA5}">
                      <a16:colId xmlns:a16="http://schemas.microsoft.com/office/drawing/2014/main" val="20000"/>
                    </a:ext>
                  </a:extLst>
                </a:gridCol>
                <a:gridCol w="880262">
                  <a:extLst>
                    <a:ext uri="{9D8B030D-6E8A-4147-A177-3AD203B41FA5}">
                      <a16:colId xmlns:a16="http://schemas.microsoft.com/office/drawing/2014/main" val="20001"/>
                    </a:ext>
                  </a:extLst>
                </a:gridCol>
                <a:gridCol w="880264">
                  <a:extLst>
                    <a:ext uri="{9D8B030D-6E8A-4147-A177-3AD203B41FA5}">
                      <a16:colId xmlns:a16="http://schemas.microsoft.com/office/drawing/2014/main" val="20002"/>
                    </a:ext>
                  </a:extLst>
                </a:gridCol>
              </a:tblGrid>
              <a:tr h="564295">
                <a:tc>
                  <a:txBody>
                    <a:bodyPr/>
                    <a:lstStyle/>
                    <a:p>
                      <a:r>
                        <a:rPr sz="1300" b="0">
                          <a:solidFill>
                            <a:srgbClr val="9B64DB"/>
                          </a:solidFill>
                        </a:rPr>
                        <a:t>Level</a:t>
                      </a:r>
                    </a:p>
                  </a:txBody>
                  <a:tcPr>
                    <a:solidFill>
                      <a:srgbClr val="EDE9D3"/>
                    </a:solidFill>
                  </a:tcPr>
                </a:tc>
                <a:tc>
                  <a:txBody>
                    <a:bodyPr/>
                    <a:lstStyle/>
                    <a:p>
                      <a:r>
                        <a:rPr sz="1300" b="0">
                          <a:solidFill>
                            <a:srgbClr val="9B64DB"/>
                          </a:solidFill>
                        </a:rPr>
                        <a:t>Queue Measure</a:t>
                      </a:r>
                    </a:p>
                  </a:txBody>
                  <a:tcPr>
                    <a:solidFill>
                      <a:srgbClr val="E6E1C2"/>
                    </a:solidFill>
                  </a:tcPr>
                </a:tc>
                <a:tc>
                  <a:txBody>
                    <a:bodyPr/>
                    <a:lstStyle/>
                    <a:p>
                      <a:r>
                        <a:rPr sz="1300" b="0">
                          <a:solidFill>
                            <a:srgbClr val="9B64DB"/>
                          </a:solidFill>
                        </a:rPr>
                        <a:t>Asset Tile</a:t>
                      </a:r>
                    </a:p>
                  </a:txBody>
                  <a:tcPr>
                    <a:solidFill>
                      <a:srgbClr val="EDE9D3"/>
                    </a:solidFill>
                  </a:tcPr>
                </a:tc>
                <a:extLst>
                  <a:ext uri="{0D108BD9-81ED-4DB2-BD59-A6C34878D82A}">
                    <a16:rowId xmlns:a16="http://schemas.microsoft.com/office/drawing/2014/main" val="10000"/>
                  </a:ext>
                </a:extLst>
              </a:tr>
              <a:tr h="564295">
                <a:tc>
                  <a:txBody>
                    <a:bodyPr/>
                    <a:lstStyle/>
                    <a:p>
                      <a:r>
                        <a:rPr sz="1300" b="0">
                          <a:solidFill>
                            <a:srgbClr val="9B64DB"/>
                          </a:solidFill>
                        </a:rPr>
                        <a:t>Beta Needle</a:t>
                      </a:r>
                    </a:p>
                  </a:txBody>
                  <a:tcPr>
                    <a:solidFill>
                      <a:srgbClr val="EDE9D3"/>
                    </a:solidFill>
                  </a:tcPr>
                </a:tc>
                <a:tc>
                  <a:txBody>
                    <a:bodyPr/>
                    <a:lstStyle/>
                    <a:p>
                      <a:r>
                        <a:rPr sz="1300" b="0">
                          <a:solidFill>
                            <a:srgbClr val="9B64DB"/>
                          </a:solidFill>
                        </a:rPr>
                        <a:t>Goal Spectrum</a:t>
                      </a:r>
                    </a:p>
                  </a:txBody>
                  <a:tcPr>
                    <a:solidFill>
                      <a:srgbClr val="E6E1C2"/>
                    </a:solidFill>
                  </a:tcPr>
                </a:tc>
                <a:tc>
                  <a:txBody>
                    <a:bodyPr/>
                    <a:lstStyle/>
                    <a:p>
                      <a:r>
                        <a:rPr sz="1300" b="0">
                          <a:solidFill>
                            <a:srgbClr val="9B64DB"/>
                          </a:solidFill>
                        </a:rPr>
                        <a:t>Handle Explorer</a:t>
                      </a:r>
                    </a:p>
                  </a:txBody>
                  <a:tcPr>
                    <a:solidFill>
                      <a:srgbClr val="EDE9D3"/>
                    </a:solidFill>
                  </a:tcPr>
                </a:tc>
                <a:extLst>
                  <a:ext uri="{0D108BD9-81ED-4DB2-BD59-A6C34878D82A}">
                    <a16:rowId xmlns:a16="http://schemas.microsoft.com/office/drawing/2014/main" val="10001"/>
                  </a:ext>
                </a:extLst>
              </a:tr>
              <a:tr h="564295">
                <a:tc>
                  <a:txBody>
                    <a:bodyPr/>
                    <a:lstStyle/>
                    <a:p>
                      <a:r>
                        <a:rPr sz="1300" b="0">
                          <a:solidFill>
                            <a:srgbClr val="9B64DB"/>
                          </a:solidFill>
                        </a:rPr>
                        <a:t>Moment</a:t>
                      </a:r>
                    </a:p>
                  </a:txBody>
                  <a:tcPr>
                    <a:solidFill>
                      <a:srgbClr val="EDE9D3"/>
                    </a:solidFill>
                  </a:tcPr>
                </a:tc>
                <a:tc>
                  <a:txBody>
                    <a:bodyPr/>
                    <a:lstStyle/>
                    <a:p>
                      <a:r>
                        <a:rPr sz="1300" b="0">
                          <a:solidFill>
                            <a:srgbClr val="9B64DB"/>
                          </a:solidFill>
                        </a:rPr>
                        <a:t>Terminal</a:t>
                      </a:r>
                    </a:p>
                  </a:txBody>
                  <a:tcPr>
                    <a:solidFill>
                      <a:srgbClr val="E6E1C2"/>
                    </a:solidFill>
                  </a:tcPr>
                </a:tc>
                <a:tc>
                  <a:txBody>
                    <a:bodyPr/>
                    <a:lstStyle/>
                    <a:p>
                      <a:r>
                        <a:rPr sz="1300" b="0">
                          <a:solidFill>
                            <a:srgbClr val="9B64DB"/>
                          </a:solidFill>
                        </a:rPr>
                        <a:t>Pixel</a:t>
                      </a:r>
                    </a:p>
                  </a:txBody>
                  <a:tcPr>
                    <a:solidFill>
                      <a:srgbClr val="EDE9D3"/>
                    </a:solidFill>
                  </a:tcPr>
                </a:tc>
                <a:extLst>
                  <a:ext uri="{0D108BD9-81ED-4DB2-BD59-A6C34878D82A}">
                    <a16:rowId xmlns:a16="http://schemas.microsoft.com/office/drawing/2014/main" val="10002"/>
                  </a:ext>
                </a:extLst>
              </a:tr>
              <a:tr h="564296">
                <a:tc>
                  <a:txBody>
                    <a:bodyPr/>
                    <a:lstStyle/>
                    <a:p>
                      <a:r>
                        <a:rPr sz="1300" b="0">
                          <a:solidFill>
                            <a:srgbClr val="9B64DB"/>
                          </a:solidFill>
                        </a:rPr>
                        <a:t>Path Density</a:t>
                      </a:r>
                    </a:p>
                  </a:txBody>
                  <a:tcPr>
                    <a:solidFill>
                      <a:srgbClr val="EDE9D3"/>
                    </a:solidFill>
                  </a:tcPr>
                </a:tc>
                <a:tc>
                  <a:txBody>
                    <a:bodyPr/>
                    <a:lstStyle/>
                    <a:p>
                      <a:r>
                        <a:rPr sz="1300" b="0">
                          <a:solidFill>
                            <a:srgbClr val="9B64DB"/>
                          </a:solidFill>
                        </a:rPr>
                        <a:t>Drive</a:t>
                      </a:r>
                    </a:p>
                  </a:txBody>
                  <a:tcPr>
                    <a:solidFill>
                      <a:srgbClr val="E6E1C2"/>
                    </a:solidFill>
                  </a:tcPr>
                </a:tc>
                <a:tc>
                  <a:txBody>
                    <a:bodyPr/>
                    <a:lstStyle/>
                    <a:p>
                      <a:r>
                        <a:rPr sz="1300" b="0">
                          <a:solidFill>
                            <a:srgbClr val="9B64DB"/>
                          </a:solidFill>
                        </a:rPr>
                        <a:t>North Panel</a:t>
                      </a:r>
                    </a:p>
                  </a:txBody>
                  <a:tcPr>
                    <a:solidFill>
                      <a:srgbClr val="EDE9D3"/>
                    </a:solidFill>
                  </a:tcPr>
                </a:tc>
                <a:extLst>
                  <a:ext uri="{0D108BD9-81ED-4DB2-BD59-A6C34878D82A}">
                    <a16:rowId xmlns:a16="http://schemas.microsoft.com/office/drawing/2014/main" val="10003"/>
                  </a:ext>
                </a:extLst>
              </a:tr>
            </a:tbl>
          </a:graphicData>
        </a:graphic>
      </p:graphicFrame>
      <p:sp>
        <p:nvSpPr>
          <p:cNvPr id="9" name="Predefined Process 8"/>
          <p:cNvSpPr/>
          <p:nvPr/>
        </p:nvSpPr>
        <p:spPr>
          <a:xfrm>
            <a:off x="6476003" y="4631070"/>
            <a:ext cx="1577894" cy="1043321"/>
          </a:xfrm>
          <a:prstGeom prst="flowChartPredefinedProcess">
            <a:avLst/>
          </a:prstGeom>
          <a:solidFill>
            <a:srgbClr val="9EE12B"/>
          </a:solidFill>
          <a:ln w="11387">
            <a:solidFill>
              <a:srgbClr val="CF84D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Callout 9"/>
          <p:cNvSpPr/>
          <p:nvPr/>
        </p:nvSpPr>
        <p:spPr>
          <a:xfrm>
            <a:off x="4416710" y="389661"/>
            <a:ext cx="2602621" cy="815157"/>
          </a:xfrm>
          <a:prstGeom prst="rightArrowCallout">
            <a:avLst/>
          </a:prstGeom>
          <a:solidFill>
            <a:srgbClr val="CE5FB0"/>
          </a:solidFill>
          <a:ln w="13396">
            <a:solidFill>
              <a:srgbClr val="3130D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_example_image.jpg"/>
          <p:cNvPicPr>
            <a:picLocks noChangeAspect="1"/>
          </p:cNvPicPr>
          <p:nvPr/>
        </p:nvPicPr>
        <p:blipFill>
          <a:blip r:embed="rId3"/>
          <a:srcRect l="7040" t="14886" r="9511" b="12184"/>
          <a:stretch>
            <a:fillRect/>
          </a:stretch>
        </p:blipFill>
        <p:spPr>
          <a:xfrm>
            <a:off x="871506" y="2817834"/>
            <a:ext cx="1106968" cy="1579576"/>
          </a:xfrm>
          <a:prstGeom prst="rect">
            <a:avLst/>
          </a:prstGeom>
        </p:spPr>
      </p:pic>
      <p:sp>
        <p:nvSpPr>
          <p:cNvPr id="12" name="Rounded Rectangle 11"/>
          <p:cNvSpPr/>
          <p:nvPr/>
        </p:nvSpPr>
        <p:spPr>
          <a:xfrm>
            <a:off x="871506" y="2817834"/>
            <a:ext cx="1106968" cy="1579576"/>
          </a:xfrm>
          <a:prstGeom prst="roundRect">
            <a:avLst/>
          </a:prstGeom>
          <a:noFill/>
          <a:ln w="15240">
            <a:solidFill>
              <a:srgbClr val="434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Not Equal 12"/>
          <p:cNvSpPr/>
          <p:nvPr/>
        </p:nvSpPr>
        <p:spPr>
          <a:xfrm>
            <a:off x="11418086" y="1455832"/>
            <a:ext cx="323221" cy="1747432"/>
          </a:xfrm>
          <a:prstGeom prst="mathNotEqual">
            <a:avLst/>
          </a:prstGeom>
          <a:noFill/>
          <a:ln w="31367">
            <a:solidFill>
              <a:srgbClr val="68912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Chart 13"/>
          <p:cNvGraphicFramePr>
            <a:graphicFrameLocks noGrp="1"/>
          </p:cNvGraphicFramePr>
          <p:nvPr/>
        </p:nvGraphicFramePr>
        <p:xfrm>
          <a:off x="381616" y="1411234"/>
          <a:ext cx="2502502" cy="1840087"/>
        </p:xfrm>
        <a:graphic>
          <a:graphicData uri="http://schemas.openxmlformats.org/drawingml/2006/chart">
            <c:chart xmlns:c="http://schemas.openxmlformats.org/drawingml/2006/chart" xmlns:r="http://schemas.openxmlformats.org/officeDocument/2006/relationships" r:id="rId4"/>
          </a:graphicData>
        </a:graphic>
      </p:graphicFrame>
      <p:sp>
        <p:nvSpPr>
          <p:cNvPr id="15" name="Decision 14"/>
          <p:cNvSpPr/>
          <p:nvPr/>
        </p:nvSpPr>
        <p:spPr>
          <a:xfrm>
            <a:off x="8178311" y="1999006"/>
            <a:ext cx="2200229" cy="847446"/>
          </a:xfrm>
          <a:prstGeom prst="flowChartDecision">
            <a:avLst/>
          </a:prstGeom>
          <a:solidFill>
            <a:srgbClr val="66CA9A"/>
          </a:solidFill>
          <a:ln w="28268">
            <a:solidFill>
              <a:srgbClr val="27C65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1758685" y="5943194"/>
            <a:ext cx="922853" cy="642770"/>
          </a:xfrm>
          <a:custGeom>
            <a:avLst/>
            <a:gdLst/>
            <a:ahLst/>
            <a:cxnLst/>
            <a:rect l="l" t="t" r="r" b="b"/>
            <a:pathLst>
              <a:path w="922853" h="642770">
                <a:moveTo>
                  <a:pt x="99232" y="109408"/>
                </a:moveTo>
                <a:lnTo>
                  <a:pt x="327464" y="0"/>
                </a:lnTo>
                <a:lnTo>
                  <a:pt x="674775" y="54704"/>
                </a:lnTo>
                <a:lnTo>
                  <a:pt x="922853" y="259843"/>
                </a:lnTo>
                <a:lnTo>
                  <a:pt x="793852" y="533362"/>
                </a:lnTo>
                <a:lnTo>
                  <a:pt x="426696" y="642770"/>
                </a:lnTo>
                <a:lnTo>
                  <a:pt x="59539" y="464983"/>
                </a:lnTo>
                <a:lnTo>
                  <a:pt x="0" y="232491"/>
                </a:lnTo>
                <a:close/>
              </a:path>
            </a:pathLst>
          </a:custGeom>
          <a:solidFill>
            <a:srgbClr val="2149A7"/>
          </a:solidFill>
          <a:ln w="16617">
            <a:solidFill>
              <a:srgbClr val="397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3043" y="4799865"/>
            <a:ext cx="1885700" cy="1656659"/>
          </a:xfrm>
          <a:prstGeom prst="rect">
            <a:avLst/>
          </a:prstGeom>
          <a:noFill/>
        </p:spPr>
        <p:txBody>
          <a:bodyPr wrap="none" lIns="58783" tIns="58783" rIns="58783" bIns="58783">
            <a:spAutoFit/>
          </a:bodyPr>
          <a:lstStyle/>
          <a:p>
            <a:r>
              <a:rPr sz="2800" b="0" i="0" u="none">
                <a:solidFill>
                  <a:srgbClr val="2ECC75"/>
                </a:solidFill>
                <a:latin typeface="Trebuchet MS"/>
              </a:rPr>
              <a:t>Transit Dashboard Level Canvas Precision Orbit</a:t>
            </a:r>
          </a:p>
        </p:txBody>
      </p:sp>
      <p:sp>
        <p:nvSpPr>
          <p:cNvPr id="18" name="TextBox 17"/>
          <p:cNvSpPr txBox="1"/>
          <p:nvPr/>
        </p:nvSpPr>
        <p:spPr>
          <a:xfrm>
            <a:off x="3149234" y="3994529"/>
            <a:ext cx="2979782" cy="2064186"/>
          </a:xfrm>
          <a:prstGeom prst="rect">
            <a:avLst/>
          </a:prstGeom>
          <a:noFill/>
        </p:spPr>
        <p:txBody>
          <a:bodyPr wrap="none" lIns="64451" tIns="64451" rIns="64451" bIns="64451">
            <a:spAutoFit/>
          </a:bodyPr>
          <a:lstStyle/>
          <a:p>
            <a:r>
              <a:rPr sz="3000" b="1" i="1" u="none">
                <a:solidFill>
                  <a:srgbClr val="6A41A6"/>
                </a:solidFill>
                <a:latin typeface="Trebuchet MS"/>
              </a:rPr>
              <a:t>Depth Slice Proof</a:t>
            </a:r>
          </a:p>
        </p:txBody>
      </p:sp>
      <p:sp>
        <p:nvSpPr>
          <p:cNvPr id="19" name="Circular Arrow 18"/>
          <p:cNvSpPr/>
          <p:nvPr/>
        </p:nvSpPr>
        <p:spPr>
          <a:xfrm>
            <a:off x="7354727" y="5933380"/>
            <a:ext cx="1209706" cy="270081"/>
          </a:xfrm>
          <a:prstGeom prst="circularArrow">
            <a:avLst/>
          </a:prstGeom>
          <a:solidFill>
            <a:srgbClr val="31BA74"/>
          </a:solidFill>
          <a:ln w="14887">
            <a:solidFill>
              <a:srgbClr val="307BC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9811689" y="1024787"/>
            <a:ext cx="2100321" cy="508723"/>
          </a:xfrm>
          <a:prstGeom prst="curvedConnector3">
            <a:avLst/>
          </a:prstGeom>
          <a:ln w="16668">
            <a:solidFill>
              <a:srgbClr val="D11A2F"/>
            </a:solidFill>
            <a:prstDash val="dash"/>
          </a:ln>
        </p:spPr>
        <p:style>
          <a:lnRef idx="2">
            <a:schemeClr val="accent1"/>
          </a:lnRef>
          <a:fillRef idx="0">
            <a:schemeClr val="accent1"/>
          </a:fillRef>
          <a:effectRef idx="1">
            <a:schemeClr val="accent1"/>
          </a:effectRef>
          <a:fontRef idx="minor">
            <a:schemeClr val="tx1"/>
          </a:fontRef>
        </p:style>
      </p:cxnSp>
      <p:graphicFrame>
        <p:nvGraphicFramePr>
          <p:cNvPr id="21" name="Table 20"/>
          <p:cNvGraphicFramePr>
            <a:graphicFrameLocks noGrp="1"/>
          </p:cNvGraphicFramePr>
          <p:nvPr/>
        </p:nvGraphicFramePr>
        <p:xfrm>
          <a:off x="1291397" y="297038"/>
          <a:ext cx="3700939" cy="1708669"/>
        </p:xfrm>
        <a:graphic>
          <a:graphicData uri="http://schemas.openxmlformats.org/drawingml/2006/table">
            <a:tbl>
              <a:tblPr firstRow="1" bandRow="1">
                <a:tableStyleId>{5C22544A-7EE6-4342-B048-85BDC9FD1C3A}</a:tableStyleId>
              </a:tblPr>
              <a:tblGrid>
                <a:gridCol w="616823">
                  <a:extLst>
                    <a:ext uri="{9D8B030D-6E8A-4147-A177-3AD203B41FA5}">
                      <a16:colId xmlns:a16="http://schemas.microsoft.com/office/drawing/2014/main" val="20000"/>
                    </a:ext>
                  </a:extLst>
                </a:gridCol>
                <a:gridCol w="616823">
                  <a:extLst>
                    <a:ext uri="{9D8B030D-6E8A-4147-A177-3AD203B41FA5}">
                      <a16:colId xmlns:a16="http://schemas.microsoft.com/office/drawing/2014/main" val="20001"/>
                    </a:ext>
                  </a:extLst>
                </a:gridCol>
                <a:gridCol w="616823">
                  <a:extLst>
                    <a:ext uri="{9D8B030D-6E8A-4147-A177-3AD203B41FA5}">
                      <a16:colId xmlns:a16="http://schemas.microsoft.com/office/drawing/2014/main" val="20002"/>
                    </a:ext>
                  </a:extLst>
                </a:gridCol>
                <a:gridCol w="616823">
                  <a:extLst>
                    <a:ext uri="{9D8B030D-6E8A-4147-A177-3AD203B41FA5}">
                      <a16:colId xmlns:a16="http://schemas.microsoft.com/office/drawing/2014/main" val="20003"/>
                    </a:ext>
                  </a:extLst>
                </a:gridCol>
                <a:gridCol w="616823">
                  <a:extLst>
                    <a:ext uri="{9D8B030D-6E8A-4147-A177-3AD203B41FA5}">
                      <a16:colId xmlns:a16="http://schemas.microsoft.com/office/drawing/2014/main" val="20004"/>
                    </a:ext>
                  </a:extLst>
                </a:gridCol>
                <a:gridCol w="616824">
                  <a:extLst>
                    <a:ext uri="{9D8B030D-6E8A-4147-A177-3AD203B41FA5}">
                      <a16:colId xmlns:a16="http://schemas.microsoft.com/office/drawing/2014/main" val="20005"/>
                    </a:ext>
                  </a:extLst>
                </a:gridCol>
              </a:tblGrid>
              <a:tr h="341733">
                <a:tc>
                  <a:txBody>
                    <a:bodyPr/>
                    <a:lstStyle/>
                    <a:p>
                      <a:r>
                        <a:rPr sz="1100" b="1">
                          <a:solidFill>
                            <a:srgbClr val="2B464A"/>
                          </a:solidFill>
                        </a:rPr>
                        <a:t>Heading</a:t>
                      </a:r>
                    </a:p>
                  </a:txBody>
                  <a:tcPr>
                    <a:solidFill>
                      <a:srgbClr val="4E5D4D"/>
                    </a:solidFill>
                  </a:tcPr>
                </a:tc>
                <a:tc>
                  <a:txBody>
                    <a:bodyPr/>
                    <a:lstStyle/>
                    <a:p>
                      <a:r>
                        <a:rPr sz="1100" b="1">
                          <a:solidFill>
                            <a:srgbClr val="2B464A"/>
                          </a:solidFill>
                        </a:rPr>
                        <a:t>Scale</a:t>
                      </a:r>
                    </a:p>
                  </a:txBody>
                  <a:tcPr>
                    <a:solidFill>
                      <a:srgbClr val="4E5D4D"/>
                    </a:solidFill>
                  </a:tcPr>
                </a:tc>
                <a:tc>
                  <a:txBody>
                    <a:bodyPr/>
                    <a:lstStyle/>
                    <a:p>
                      <a:r>
                        <a:rPr sz="1100" b="1">
                          <a:solidFill>
                            <a:srgbClr val="2B464A"/>
                          </a:solidFill>
                        </a:rPr>
                        <a:t>Blueprint</a:t>
                      </a:r>
                    </a:p>
                  </a:txBody>
                  <a:tcPr>
                    <a:solidFill>
                      <a:srgbClr val="4E5D4D"/>
                    </a:solidFill>
                  </a:tcPr>
                </a:tc>
                <a:tc>
                  <a:txBody>
                    <a:bodyPr/>
                    <a:lstStyle/>
                    <a:p>
                      <a:r>
                        <a:rPr sz="1100" b="1">
                          <a:solidFill>
                            <a:srgbClr val="2B464A"/>
                          </a:solidFill>
                        </a:rPr>
                        <a:t>Adaptive Echo</a:t>
                      </a:r>
                    </a:p>
                  </a:txBody>
                  <a:tcPr>
                    <a:solidFill>
                      <a:srgbClr val="4E5D4D"/>
                    </a:solidFill>
                  </a:tcPr>
                </a:tc>
                <a:tc>
                  <a:txBody>
                    <a:bodyPr/>
                    <a:lstStyle/>
                    <a:p>
                      <a:r>
                        <a:rPr sz="1100" b="1">
                          <a:solidFill>
                            <a:srgbClr val="2B464A"/>
                          </a:solidFill>
                        </a:rPr>
                        <a:t>Canvas Harbor</a:t>
                      </a:r>
                    </a:p>
                  </a:txBody>
                  <a:tcPr>
                    <a:solidFill>
                      <a:srgbClr val="4E5D4D"/>
                    </a:solidFill>
                  </a:tcPr>
                </a:tc>
                <a:tc>
                  <a:txBody>
                    <a:bodyPr/>
                    <a:lstStyle/>
                    <a:p>
                      <a:r>
                        <a:rPr sz="1100" b="1">
                          <a:solidFill>
                            <a:srgbClr val="2B464A"/>
                          </a:solidFill>
                        </a:rPr>
                        <a:t>Package</a:t>
                      </a:r>
                    </a:p>
                  </a:txBody>
                  <a:tcPr>
                    <a:solidFill>
                      <a:srgbClr val="4E5D4D"/>
                    </a:solidFill>
                  </a:tcPr>
                </a:tc>
                <a:extLst>
                  <a:ext uri="{0D108BD9-81ED-4DB2-BD59-A6C34878D82A}">
                    <a16:rowId xmlns:a16="http://schemas.microsoft.com/office/drawing/2014/main" val="10000"/>
                  </a:ext>
                </a:extLst>
              </a:tr>
              <a:tr h="341733">
                <a:tc>
                  <a:txBody>
                    <a:bodyPr/>
                    <a:lstStyle/>
                    <a:p>
                      <a:r>
                        <a:rPr sz="1100" b="0">
                          <a:solidFill>
                            <a:srgbClr val="2B464A"/>
                          </a:solidFill>
                        </a:rPr>
                        <a:t>Clarity</a:t>
                      </a:r>
                    </a:p>
                  </a:txBody>
                  <a:tcPr>
                    <a:solidFill>
                      <a:srgbClr val="F2F0EA"/>
                    </a:solidFill>
                  </a:tcPr>
                </a:tc>
                <a:tc>
                  <a:txBody>
                    <a:bodyPr/>
                    <a:lstStyle/>
                    <a:p>
                      <a:r>
                        <a:rPr sz="1100" b="0">
                          <a:solidFill>
                            <a:srgbClr val="2B464A"/>
                          </a:solidFill>
                        </a:rPr>
                        <a:t>Graph Payload</a:t>
                      </a:r>
                    </a:p>
                  </a:txBody>
                  <a:tcPr>
                    <a:solidFill>
                      <a:srgbClr val="F2F0EA"/>
                    </a:solidFill>
                  </a:tcPr>
                </a:tc>
                <a:tc>
                  <a:txBody>
                    <a:bodyPr/>
                    <a:lstStyle/>
                    <a:p>
                      <a:r>
                        <a:rPr sz="1100" b="0">
                          <a:solidFill>
                            <a:srgbClr val="2B464A"/>
                          </a:solidFill>
                        </a:rPr>
                        <a:t>Path</a:t>
                      </a:r>
                    </a:p>
                  </a:txBody>
                  <a:tcPr>
                    <a:solidFill>
                      <a:srgbClr val="F2F0EA"/>
                    </a:solidFill>
                  </a:tcPr>
                </a:tc>
                <a:tc>
                  <a:txBody>
                    <a:bodyPr/>
                    <a:lstStyle/>
                    <a:p>
                      <a:r>
                        <a:rPr sz="1100" b="0">
                          <a:solidFill>
                            <a:srgbClr val="2B464A"/>
                          </a:solidFill>
                        </a:rPr>
                        <a:t>Report</a:t>
                      </a:r>
                    </a:p>
                  </a:txBody>
                  <a:tcPr>
                    <a:solidFill>
                      <a:srgbClr val="F2F0EA"/>
                    </a:solidFill>
                  </a:tcPr>
                </a:tc>
                <a:tc>
                  <a:txBody>
                    <a:bodyPr/>
                    <a:lstStyle/>
                    <a:p>
                      <a:r>
                        <a:rPr sz="1100" b="0">
                          <a:solidFill>
                            <a:srgbClr val="2B464A"/>
                          </a:solidFill>
                        </a:rPr>
                        <a:t>Milestone</a:t>
                      </a:r>
                    </a:p>
                  </a:txBody>
                  <a:tcPr>
                    <a:solidFill>
                      <a:srgbClr val="F2F0EA"/>
                    </a:solidFill>
                  </a:tcPr>
                </a:tc>
                <a:tc>
                  <a:txBody>
                    <a:bodyPr/>
                    <a:lstStyle/>
                    <a:p>
                      <a:r>
                        <a:rPr sz="1100" b="0">
                          <a:solidFill>
                            <a:srgbClr val="2B464A"/>
                          </a:solidFill>
                        </a:rPr>
                        <a:t>Coverage Tile</a:t>
                      </a:r>
                    </a:p>
                  </a:txBody>
                  <a:tcPr>
                    <a:solidFill>
                      <a:srgbClr val="F2F0EA"/>
                    </a:solidFill>
                  </a:tcPr>
                </a:tc>
                <a:extLst>
                  <a:ext uri="{0D108BD9-81ED-4DB2-BD59-A6C34878D82A}">
                    <a16:rowId xmlns:a16="http://schemas.microsoft.com/office/drawing/2014/main" val="10001"/>
                  </a:ext>
                </a:extLst>
              </a:tr>
              <a:tr h="341733">
                <a:tc>
                  <a:txBody>
                    <a:bodyPr/>
                    <a:lstStyle/>
                    <a:p>
                      <a:r>
                        <a:rPr sz="1100" b="0">
                          <a:solidFill>
                            <a:srgbClr val="2B464A"/>
                          </a:solidFill>
                        </a:rPr>
                        <a:t>Event</a:t>
                      </a:r>
                    </a:p>
                  </a:txBody>
                  <a:tcPr>
                    <a:solidFill>
                      <a:srgbClr val="F2F0EA"/>
                    </a:solidFill>
                  </a:tcPr>
                </a:tc>
                <a:tc>
                  <a:txBody>
                    <a:bodyPr/>
                    <a:lstStyle/>
                    <a:p>
                      <a:r>
                        <a:rPr sz="1100" b="0">
                          <a:solidFill>
                            <a:srgbClr val="2B464A"/>
                          </a:solidFill>
                        </a:rPr>
                        <a:t>Format Queueing</a:t>
                      </a:r>
                    </a:p>
                  </a:txBody>
                  <a:tcPr>
                    <a:solidFill>
                      <a:srgbClr val="F2F0EA"/>
                    </a:solidFill>
                  </a:tcPr>
                </a:tc>
                <a:tc>
                  <a:txBody>
                    <a:bodyPr/>
                    <a:lstStyle/>
                    <a:p>
                      <a:r>
                        <a:rPr sz="1100" b="0">
                          <a:solidFill>
                            <a:srgbClr val="2B464A"/>
                          </a:solidFill>
                        </a:rPr>
                        <a:t>Impact Inventory</a:t>
                      </a:r>
                    </a:p>
                  </a:txBody>
                  <a:tcPr>
                    <a:solidFill>
                      <a:srgbClr val="F2F0EA"/>
                    </a:solidFill>
                  </a:tcPr>
                </a:tc>
                <a:tc>
                  <a:txBody>
                    <a:bodyPr/>
                    <a:lstStyle/>
                    <a:p>
                      <a:r>
                        <a:rPr sz="1100" b="0">
                          <a:solidFill>
                            <a:srgbClr val="2B464A"/>
                          </a:solidFill>
                        </a:rPr>
                        <a:t>Path</a:t>
                      </a:r>
                    </a:p>
                  </a:txBody>
                  <a:tcPr>
                    <a:solidFill>
                      <a:srgbClr val="F2F0EA"/>
                    </a:solidFill>
                  </a:tcPr>
                </a:tc>
                <a:tc>
                  <a:txBody>
                    <a:bodyPr/>
                    <a:lstStyle/>
                    <a:p>
                      <a:r>
                        <a:rPr sz="1100" b="0">
                          <a:solidFill>
                            <a:srgbClr val="2B464A"/>
                          </a:solidFill>
                        </a:rPr>
                        <a:t>Frame Module</a:t>
                      </a:r>
                    </a:p>
                  </a:txBody>
                  <a:tcPr>
                    <a:solidFill>
                      <a:srgbClr val="F2F0EA"/>
                    </a:solidFill>
                  </a:tcPr>
                </a:tc>
                <a:tc>
                  <a:txBody>
                    <a:bodyPr/>
                    <a:lstStyle/>
                    <a:p>
                      <a:r>
                        <a:rPr sz="1100" b="0">
                          <a:solidFill>
                            <a:srgbClr val="2B464A"/>
                          </a:solidFill>
                        </a:rPr>
                        <a:t>Method</a:t>
                      </a:r>
                    </a:p>
                  </a:txBody>
                  <a:tcPr>
                    <a:solidFill>
                      <a:srgbClr val="F2F0EA"/>
                    </a:solidFill>
                  </a:tcPr>
                </a:tc>
                <a:extLst>
                  <a:ext uri="{0D108BD9-81ED-4DB2-BD59-A6C34878D82A}">
                    <a16:rowId xmlns:a16="http://schemas.microsoft.com/office/drawing/2014/main" val="10002"/>
                  </a:ext>
                </a:extLst>
              </a:tr>
              <a:tr h="341733">
                <a:tc>
                  <a:txBody>
                    <a:bodyPr/>
                    <a:lstStyle/>
                    <a:p>
                      <a:r>
                        <a:rPr sz="1100" b="0">
                          <a:solidFill>
                            <a:srgbClr val="2B464A"/>
                          </a:solidFill>
                        </a:rPr>
                        <a:t>Structure Waypoint</a:t>
                      </a:r>
                    </a:p>
                  </a:txBody>
                  <a:tcPr>
                    <a:solidFill>
                      <a:srgbClr val="F2F0EA"/>
                    </a:solidFill>
                  </a:tcPr>
                </a:tc>
                <a:tc>
                  <a:txBody>
                    <a:bodyPr/>
                    <a:lstStyle/>
                    <a:p>
                      <a:r>
                        <a:rPr sz="1100" b="0">
                          <a:solidFill>
                            <a:srgbClr val="2B464A"/>
                          </a:solidFill>
                        </a:rPr>
                        <a:t>Portal</a:t>
                      </a:r>
                    </a:p>
                  </a:txBody>
                  <a:tcPr>
                    <a:solidFill>
                      <a:srgbClr val="F2F0EA"/>
                    </a:solidFill>
                  </a:tcPr>
                </a:tc>
                <a:tc>
                  <a:txBody>
                    <a:bodyPr/>
                    <a:lstStyle/>
                    <a:p>
                      <a:r>
                        <a:rPr sz="1100" b="0">
                          <a:solidFill>
                            <a:srgbClr val="2B464A"/>
                          </a:solidFill>
                        </a:rPr>
                        <a:t>Report Case</a:t>
                      </a:r>
                    </a:p>
                  </a:txBody>
                  <a:tcPr>
                    <a:solidFill>
                      <a:srgbClr val="F2F0EA"/>
                    </a:solidFill>
                  </a:tcPr>
                </a:tc>
                <a:tc>
                  <a:txBody>
                    <a:bodyPr/>
                    <a:lstStyle/>
                    <a:p>
                      <a:r>
                        <a:rPr sz="1100" b="0">
                          <a:solidFill>
                            <a:srgbClr val="2B464A"/>
                          </a:solidFill>
                        </a:rPr>
                        <a:t>Moment Foundation</a:t>
                      </a:r>
                    </a:p>
                  </a:txBody>
                  <a:tcPr>
                    <a:solidFill>
                      <a:srgbClr val="F2F0EA"/>
                    </a:solidFill>
                  </a:tcPr>
                </a:tc>
                <a:tc>
                  <a:txBody>
                    <a:bodyPr/>
                    <a:lstStyle/>
                    <a:p>
                      <a:r>
                        <a:rPr sz="1100" b="0">
                          <a:solidFill>
                            <a:srgbClr val="2B464A"/>
                          </a:solidFill>
                        </a:rPr>
                        <a:t>Mesh</a:t>
                      </a:r>
                    </a:p>
                  </a:txBody>
                  <a:tcPr>
                    <a:solidFill>
                      <a:srgbClr val="F2F0EA"/>
                    </a:solidFill>
                  </a:tcPr>
                </a:tc>
                <a:tc>
                  <a:txBody>
                    <a:bodyPr/>
                    <a:lstStyle/>
                    <a:p>
                      <a:r>
                        <a:rPr sz="1100" b="0">
                          <a:solidFill>
                            <a:srgbClr val="2B464A"/>
                          </a:solidFill>
                        </a:rPr>
                        <a:t>Waypoint</a:t>
                      </a:r>
                    </a:p>
                  </a:txBody>
                  <a:tcPr>
                    <a:solidFill>
                      <a:srgbClr val="F2F0EA"/>
                    </a:solidFill>
                  </a:tcPr>
                </a:tc>
                <a:extLst>
                  <a:ext uri="{0D108BD9-81ED-4DB2-BD59-A6C34878D82A}">
                    <a16:rowId xmlns:a16="http://schemas.microsoft.com/office/drawing/2014/main" val="10003"/>
                  </a:ext>
                </a:extLst>
              </a:tr>
              <a:tr h="341737">
                <a:tc>
                  <a:txBody>
                    <a:bodyPr/>
                    <a:lstStyle/>
                    <a:p>
                      <a:r>
                        <a:rPr sz="1100" b="0">
                          <a:solidFill>
                            <a:srgbClr val="2B464A"/>
                          </a:solidFill>
                        </a:rPr>
                        <a:t>Range Level</a:t>
                      </a:r>
                    </a:p>
                  </a:txBody>
                  <a:tcPr>
                    <a:solidFill>
                      <a:srgbClr val="F2F0EA"/>
                    </a:solidFill>
                  </a:tcPr>
                </a:tc>
                <a:tc>
                  <a:txBody>
                    <a:bodyPr/>
                    <a:lstStyle/>
                    <a:p>
                      <a:r>
                        <a:rPr sz="1100" b="0">
                          <a:solidFill>
                            <a:srgbClr val="2B464A"/>
                          </a:solidFill>
                        </a:rPr>
                        <a:t>Draft</a:t>
                      </a:r>
                    </a:p>
                  </a:txBody>
                  <a:tcPr>
                    <a:solidFill>
                      <a:srgbClr val="F2F0EA"/>
                    </a:solidFill>
                  </a:tcPr>
                </a:tc>
                <a:tc>
                  <a:txBody>
                    <a:bodyPr/>
                    <a:lstStyle/>
                    <a:p>
                      <a:r>
                        <a:rPr sz="1100" b="0">
                          <a:solidFill>
                            <a:srgbClr val="2B464A"/>
                          </a:solidFill>
                        </a:rPr>
                        <a:t>Hub</a:t>
                      </a:r>
                    </a:p>
                  </a:txBody>
                  <a:tcPr>
                    <a:solidFill>
                      <a:srgbClr val="F2F0EA"/>
                    </a:solidFill>
                  </a:tcPr>
                </a:tc>
                <a:tc>
                  <a:txBody>
                    <a:bodyPr/>
                    <a:lstStyle/>
                    <a:p>
                      <a:r>
                        <a:rPr sz="1100" b="0">
                          <a:solidFill>
                            <a:srgbClr val="2B464A"/>
                          </a:solidFill>
                        </a:rPr>
                        <a:t>Handle</a:t>
                      </a:r>
                    </a:p>
                  </a:txBody>
                  <a:tcPr>
                    <a:solidFill>
                      <a:srgbClr val="F2F0EA"/>
                    </a:solidFill>
                  </a:tcPr>
                </a:tc>
                <a:tc>
                  <a:txBody>
                    <a:bodyPr/>
                    <a:lstStyle/>
                    <a:p>
                      <a:r>
                        <a:rPr sz="1100" b="0">
                          <a:solidFill>
                            <a:srgbClr val="2B464A"/>
                          </a:solidFill>
                        </a:rPr>
                        <a:t>Window</a:t>
                      </a:r>
                    </a:p>
                  </a:txBody>
                  <a:tcPr>
                    <a:solidFill>
                      <a:srgbClr val="F2F0EA"/>
                    </a:solidFill>
                  </a:tcPr>
                </a:tc>
                <a:tc>
                  <a:txBody>
                    <a:bodyPr/>
                    <a:lstStyle/>
                    <a:p>
                      <a:r>
                        <a:rPr sz="1100" b="0">
                          <a:solidFill>
                            <a:srgbClr val="2B464A"/>
                          </a:solidFill>
                        </a:rPr>
                        <a:t>Agenda</a:t>
                      </a:r>
                    </a:p>
                  </a:txBody>
                  <a:tcPr>
                    <a:solidFill>
                      <a:srgbClr val="F2F0EA"/>
                    </a:solidFill>
                  </a:tcPr>
                </a:tc>
                <a:extLst>
                  <a:ext uri="{0D108BD9-81ED-4DB2-BD59-A6C34878D82A}">
                    <a16:rowId xmlns:a16="http://schemas.microsoft.com/office/drawing/2014/main" val="10004"/>
                  </a:ext>
                </a:extLst>
              </a:tr>
            </a:tbl>
          </a:graphicData>
        </a:graphic>
      </p:graphicFrame>
      <p:pic>
        <p:nvPicPr>
          <p:cNvPr id="22" name="Picture 21" descr="_example_image.jpg"/>
          <p:cNvPicPr>
            <a:picLocks noChangeAspect="1"/>
          </p:cNvPicPr>
          <p:nvPr/>
        </p:nvPicPr>
        <p:blipFill>
          <a:blip r:embed="rId3"/>
          <a:srcRect l="7965" t="20709" r="1881" b="3713"/>
          <a:stretch>
            <a:fillRect/>
          </a:stretch>
        </p:blipFill>
        <p:spPr>
          <a:xfrm>
            <a:off x="6926966" y="2654218"/>
            <a:ext cx="1125859" cy="745363"/>
          </a:xfrm>
          <a:prstGeom prst="rect">
            <a:avLst/>
          </a:prstGeom>
        </p:spPr>
      </p:pic>
      <p:sp>
        <p:nvSpPr>
          <p:cNvPr id="23" name="Rounded Rectangle 22"/>
          <p:cNvSpPr/>
          <p:nvPr/>
        </p:nvSpPr>
        <p:spPr>
          <a:xfrm>
            <a:off x="6926966" y="2654218"/>
            <a:ext cx="1125859" cy="745363"/>
          </a:xfrm>
          <a:prstGeom prst="roundRect">
            <a:avLst/>
          </a:prstGeom>
          <a:noFill/>
          <a:ln w="15240">
            <a:solidFill>
              <a:srgbClr val="CF99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33631" y="3266439"/>
            <a:ext cx="3808426" cy="1296559"/>
          </a:xfrm>
          <a:prstGeom prst="rect">
            <a:avLst/>
          </a:prstGeom>
          <a:noFill/>
        </p:spPr>
        <p:txBody>
          <a:bodyPr wrap="none" lIns="37131" tIns="37131" rIns="37131" bIns="37131">
            <a:spAutoFit/>
          </a:bodyPr>
          <a:lstStyle/>
          <a:p>
            <a:r>
              <a:rPr sz="800" b="1" i="0" u="none">
                <a:solidFill>
                  <a:srgbClr val="8D5E31"/>
                </a:solidFill>
                <a:latin typeface="Arial"/>
              </a:rPr>
              <a:t>Link Memory Beacon Viewport Apex Path Query Cortex Summary</a:t>
            </a:r>
          </a:p>
        </p:txBody>
      </p:sp>
      <p:sp>
        <p:nvSpPr>
          <p:cNvPr id="25" name="TextBox 24"/>
          <p:cNvSpPr txBox="1"/>
          <p:nvPr/>
        </p:nvSpPr>
        <p:spPr>
          <a:xfrm>
            <a:off x="7304555" y="293173"/>
            <a:ext cx="1637290" cy="783086"/>
          </a:xfrm>
          <a:prstGeom prst="rect">
            <a:avLst/>
          </a:prstGeom>
          <a:noFill/>
        </p:spPr>
        <p:txBody>
          <a:bodyPr wrap="none" lIns="82567" tIns="82567" rIns="82567" bIns="82567">
            <a:spAutoFit/>
          </a:bodyPr>
          <a:lstStyle/>
          <a:p>
            <a:r>
              <a:rPr sz="1800" b="0" i="0" u="none">
                <a:solidFill>
                  <a:srgbClr val="5E936A"/>
                </a:solidFill>
                <a:latin typeface="Aptos"/>
              </a:rPr>
              <a:t>Collection Agenda Measure Interval Case Phase Signal Audit Bridge Graph Origin Domain</a:t>
            </a:r>
          </a:p>
        </p:txBody>
      </p:sp>
      <p:sp>
        <p:nvSpPr>
          <p:cNvPr id="26" name="Freeform 25"/>
          <p:cNvSpPr/>
          <p:nvPr/>
        </p:nvSpPr>
        <p:spPr>
          <a:xfrm>
            <a:off x="7975782" y="5025778"/>
            <a:ext cx="1233560" cy="759985"/>
          </a:xfrm>
          <a:custGeom>
            <a:avLst/>
            <a:gdLst/>
            <a:ahLst/>
            <a:cxnLst/>
            <a:rect l="l" t="t" r="r" b="b"/>
            <a:pathLst>
              <a:path w="1233560" h="759985">
                <a:moveTo>
                  <a:pt x="0" y="369437"/>
                </a:moveTo>
                <a:lnTo>
                  <a:pt x="212225" y="0"/>
                </a:lnTo>
                <a:lnTo>
                  <a:pt x="437715" y="316661"/>
                </a:lnTo>
                <a:lnTo>
                  <a:pt x="663204" y="633321"/>
                </a:lnTo>
                <a:lnTo>
                  <a:pt x="901958" y="263884"/>
                </a:lnTo>
                <a:lnTo>
                  <a:pt x="1233560" y="401103"/>
                </a:lnTo>
                <a:lnTo>
                  <a:pt x="1233560" y="759985"/>
                </a:lnTo>
                <a:lnTo>
                  <a:pt x="0" y="759985"/>
                </a:lnTo>
                <a:close/>
              </a:path>
            </a:pathLst>
          </a:custGeom>
          <a:solidFill>
            <a:srgbClr val="E1D9E6"/>
          </a:solidFill>
          <a:ln w="13295">
            <a:solidFill>
              <a:srgbClr val="8095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_example_image.jpg"/>
          <p:cNvPicPr>
            <a:picLocks noChangeAspect="1"/>
          </p:cNvPicPr>
          <p:nvPr/>
        </p:nvPicPr>
        <p:blipFill>
          <a:blip r:embed="rId3"/>
          <a:srcRect l="13154" t="10319" r="10897" b="14304"/>
          <a:stretch>
            <a:fillRect/>
          </a:stretch>
        </p:blipFill>
        <p:spPr>
          <a:xfrm>
            <a:off x="9143045" y="145435"/>
            <a:ext cx="2408991" cy="1024294"/>
          </a:xfrm>
          <a:prstGeom prst="rect">
            <a:avLst/>
          </a:prstGeom>
        </p:spPr>
      </p:pic>
      <p:sp>
        <p:nvSpPr>
          <p:cNvPr id="28" name="Octagon 27"/>
          <p:cNvSpPr/>
          <p:nvPr/>
        </p:nvSpPr>
        <p:spPr>
          <a:xfrm>
            <a:off x="1930680" y="3341238"/>
            <a:ext cx="1002183" cy="1091821"/>
          </a:xfrm>
          <a:prstGeom prst="octagon">
            <a:avLst/>
          </a:prstGeom>
          <a:solidFill>
            <a:srgbClr val="A0C59A"/>
          </a:solidFill>
          <a:ln w="7204">
            <a:solidFill>
              <a:srgbClr val="467C96"/>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D1664FB7-7331-0FE5-A03D-FAC65B45254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119722" y="1192049"/>
            <a:ext cx="1123733" cy="971878"/>
          </a:xfrm>
          <a:prstGeom prst="rect">
            <a:avLst/>
          </a:prstGeom>
        </p:spPr>
      </p:pic>
      <p:pic>
        <p:nvPicPr>
          <p:cNvPr id="32" name="Graphic 31">
            <a:extLst>
              <a:ext uri="{FF2B5EF4-FFF2-40B4-BE49-F238E27FC236}">
                <a16:creationId xmlns:a16="http://schemas.microsoft.com/office/drawing/2014/main" id="{42E5D1C7-0A8F-63C5-42B2-B895E87194BD}"/>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3947187" y="5558324"/>
            <a:ext cx="936151" cy="766407"/>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own Arrow 1"/>
          <p:cNvSpPr/>
          <p:nvPr/>
        </p:nvSpPr>
        <p:spPr>
          <a:xfrm>
            <a:off x="7436612" y="2847313"/>
            <a:ext cx="1638400" cy="643573"/>
          </a:xfrm>
          <a:prstGeom prst="downArrow">
            <a:avLst/>
          </a:prstGeom>
          <a:solidFill>
            <a:srgbClr val="B83E8C"/>
          </a:solidFill>
          <a:ln w="25542">
            <a:solidFill>
              <a:srgbClr val="9C4D2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Explosion 2"/>
          <p:cNvSpPr/>
          <p:nvPr/>
        </p:nvSpPr>
        <p:spPr>
          <a:xfrm>
            <a:off x="9943299" y="5581218"/>
            <a:ext cx="1459846" cy="594983"/>
          </a:xfrm>
          <a:prstGeom prst="irregularSeal2">
            <a:avLst/>
          </a:prstGeom>
          <a:solidFill>
            <a:srgbClr val="5EC329"/>
          </a:solidFill>
          <a:ln w="17935">
            <a:solidFill>
              <a:srgbClr val="E16DB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ular Callout 3"/>
          <p:cNvSpPr/>
          <p:nvPr/>
        </p:nvSpPr>
        <p:spPr>
          <a:xfrm>
            <a:off x="2950294" y="3027502"/>
            <a:ext cx="1089876" cy="833010"/>
          </a:xfrm>
          <a:prstGeom prst="wedgeRectCallout">
            <a:avLst/>
          </a:prstGeom>
          <a:solidFill>
            <a:srgbClr val="CD394C"/>
          </a:solidFill>
          <a:ln w="8781">
            <a:solidFill>
              <a:srgbClr val="C3A7D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4740181" y="1965106"/>
          <a:ext cx="2282873" cy="1315222"/>
        </p:xfrm>
        <a:graphic>
          <a:graphicData uri="http://schemas.openxmlformats.org/drawingml/2006/table">
            <a:tbl>
              <a:tblPr firstRow="1" bandRow="1">
                <a:tableStyleId>{5C22544A-7EE6-4342-B048-85BDC9FD1C3A}</a:tableStyleId>
              </a:tblPr>
              <a:tblGrid>
                <a:gridCol w="1141436">
                  <a:extLst>
                    <a:ext uri="{9D8B030D-6E8A-4147-A177-3AD203B41FA5}">
                      <a16:colId xmlns:a16="http://schemas.microsoft.com/office/drawing/2014/main" val="20000"/>
                    </a:ext>
                  </a:extLst>
                </a:gridCol>
                <a:gridCol w="1141437">
                  <a:extLst>
                    <a:ext uri="{9D8B030D-6E8A-4147-A177-3AD203B41FA5}">
                      <a16:colId xmlns:a16="http://schemas.microsoft.com/office/drawing/2014/main" val="20001"/>
                    </a:ext>
                  </a:extLst>
                </a:gridCol>
              </a:tblGrid>
              <a:tr h="187888">
                <a:tc>
                  <a:txBody>
                    <a:bodyPr/>
                    <a:lstStyle/>
                    <a:p>
                      <a:r>
                        <a:rPr sz="800" b="1">
                          <a:solidFill>
                            <a:srgbClr val="9C8D84"/>
                          </a:solidFill>
                        </a:rPr>
                        <a:t>Signal</a:t>
                      </a:r>
                    </a:p>
                  </a:txBody>
                  <a:tcPr>
                    <a:solidFill>
                      <a:srgbClr val="9272D5"/>
                    </a:solidFill>
                  </a:tcPr>
                </a:tc>
                <a:tc>
                  <a:txBody>
                    <a:bodyPr/>
                    <a:lstStyle/>
                    <a:p>
                      <a:r>
                        <a:rPr sz="800" b="1">
                          <a:solidFill>
                            <a:srgbClr val="9C8D84"/>
                          </a:solidFill>
                        </a:rPr>
                        <a:t>Velocity</a:t>
                      </a:r>
                    </a:p>
                  </a:txBody>
                  <a:tcPr>
                    <a:solidFill>
                      <a:srgbClr val="9272D5"/>
                    </a:solidFill>
                  </a:tcPr>
                </a:tc>
                <a:extLst>
                  <a:ext uri="{0D108BD9-81ED-4DB2-BD59-A6C34878D82A}">
                    <a16:rowId xmlns:a16="http://schemas.microsoft.com/office/drawing/2014/main" val="10000"/>
                  </a:ext>
                </a:extLst>
              </a:tr>
              <a:tr h="187888">
                <a:tc>
                  <a:txBody>
                    <a:bodyPr/>
                    <a:lstStyle/>
                    <a:p>
                      <a:r>
                        <a:rPr sz="800" b="0">
                          <a:solidFill>
                            <a:srgbClr val="9C8D84"/>
                          </a:solidFill>
                        </a:rPr>
                        <a:t>Brief</a:t>
                      </a:r>
                    </a:p>
                  </a:txBody>
                  <a:tcPr>
                    <a:solidFill>
                      <a:srgbClr val="F2ECF3"/>
                    </a:solidFill>
                  </a:tcPr>
                </a:tc>
                <a:tc>
                  <a:txBody>
                    <a:bodyPr/>
                    <a:lstStyle/>
                    <a:p>
                      <a:r>
                        <a:rPr sz="800" b="0">
                          <a:solidFill>
                            <a:srgbClr val="9C8D84"/>
                          </a:solidFill>
                        </a:rPr>
                        <a:t>Checkpoint Pipeline</a:t>
                      </a:r>
                    </a:p>
                  </a:txBody>
                  <a:tcPr>
                    <a:solidFill>
                      <a:srgbClr val="F2ECF3"/>
                    </a:solidFill>
                  </a:tcPr>
                </a:tc>
                <a:extLst>
                  <a:ext uri="{0D108BD9-81ED-4DB2-BD59-A6C34878D82A}">
                    <a16:rowId xmlns:a16="http://schemas.microsoft.com/office/drawing/2014/main" val="10001"/>
                  </a:ext>
                </a:extLst>
              </a:tr>
              <a:tr h="187888">
                <a:tc>
                  <a:txBody>
                    <a:bodyPr/>
                    <a:lstStyle/>
                    <a:p>
                      <a:r>
                        <a:rPr sz="800" b="0">
                          <a:solidFill>
                            <a:srgbClr val="9C8D84"/>
                          </a:solidFill>
                        </a:rPr>
                        <a:t>Goal</a:t>
                      </a:r>
                    </a:p>
                  </a:txBody>
                  <a:tcPr>
                    <a:solidFill>
                      <a:srgbClr val="F2ECF3"/>
                    </a:solidFill>
                  </a:tcPr>
                </a:tc>
                <a:tc>
                  <a:txBody>
                    <a:bodyPr/>
                    <a:lstStyle/>
                    <a:p>
                      <a:r>
                        <a:rPr sz="800" b="0">
                          <a:solidFill>
                            <a:srgbClr val="9C8D84"/>
                          </a:solidFill>
                        </a:rPr>
                        <a:t>Engine</a:t>
                      </a:r>
                    </a:p>
                  </a:txBody>
                  <a:tcPr>
                    <a:solidFill>
                      <a:srgbClr val="F2ECF3"/>
                    </a:solidFill>
                  </a:tcPr>
                </a:tc>
                <a:extLst>
                  <a:ext uri="{0D108BD9-81ED-4DB2-BD59-A6C34878D82A}">
                    <a16:rowId xmlns:a16="http://schemas.microsoft.com/office/drawing/2014/main" val="10002"/>
                  </a:ext>
                </a:extLst>
              </a:tr>
              <a:tr h="187888">
                <a:tc>
                  <a:txBody>
                    <a:bodyPr/>
                    <a:lstStyle/>
                    <a:p>
                      <a:r>
                        <a:rPr sz="800" b="0">
                          <a:solidFill>
                            <a:srgbClr val="9C8D84"/>
                          </a:solidFill>
                        </a:rPr>
                        <a:t>Track Limit</a:t>
                      </a:r>
                    </a:p>
                  </a:txBody>
                  <a:tcPr>
                    <a:solidFill>
                      <a:srgbClr val="F2ECF3"/>
                    </a:solidFill>
                  </a:tcPr>
                </a:tc>
                <a:tc>
                  <a:txBody>
                    <a:bodyPr/>
                    <a:lstStyle/>
                    <a:p>
                      <a:r>
                        <a:rPr sz="800" b="0">
                          <a:solidFill>
                            <a:srgbClr val="9C8D84"/>
                          </a:solidFill>
                        </a:rPr>
                        <a:t>Runtime</a:t>
                      </a:r>
                    </a:p>
                  </a:txBody>
                  <a:tcPr>
                    <a:solidFill>
                      <a:srgbClr val="F2ECF3"/>
                    </a:solidFill>
                  </a:tcPr>
                </a:tc>
                <a:extLst>
                  <a:ext uri="{0D108BD9-81ED-4DB2-BD59-A6C34878D82A}">
                    <a16:rowId xmlns:a16="http://schemas.microsoft.com/office/drawing/2014/main" val="10003"/>
                  </a:ext>
                </a:extLst>
              </a:tr>
              <a:tr h="187888">
                <a:tc>
                  <a:txBody>
                    <a:bodyPr/>
                    <a:lstStyle/>
                    <a:p>
                      <a:r>
                        <a:rPr sz="800" b="0">
                          <a:solidFill>
                            <a:srgbClr val="9C8D84"/>
                          </a:solidFill>
                        </a:rPr>
                        <a:t>Concept</a:t>
                      </a:r>
                    </a:p>
                  </a:txBody>
                  <a:tcPr>
                    <a:solidFill>
                      <a:srgbClr val="F2ECF3"/>
                    </a:solidFill>
                  </a:tcPr>
                </a:tc>
                <a:tc>
                  <a:txBody>
                    <a:bodyPr/>
                    <a:lstStyle/>
                    <a:p>
                      <a:r>
                        <a:rPr sz="800" b="0">
                          <a:solidFill>
                            <a:srgbClr val="9C8D84"/>
                          </a:solidFill>
                        </a:rPr>
                        <a:t>Grid Ratio</a:t>
                      </a:r>
                    </a:p>
                  </a:txBody>
                  <a:tcPr>
                    <a:solidFill>
                      <a:srgbClr val="F2ECF3"/>
                    </a:solidFill>
                  </a:tcPr>
                </a:tc>
                <a:extLst>
                  <a:ext uri="{0D108BD9-81ED-4DB2-BD59-A6C34878D82A}">
                    <a16:rowId xmlns:a16="http://schemas.microsoft.com/office/drawing/2014/main" val="10004"/>
                  </a:ext>
                </a:extLst>
              </a:tr>
              <a:tr h="187888">
                <a:tc>
                  <a:txBody>
                    <a:bodyPr/>
                    <a:lstStyle/>
                    <a:p>
                      <a:r>
                        <a:rPr sz="800" b="0">
                          <a:solidFill>
                            <a:srgbClr val="9C8D84"/>
                          </a:solidFill>
                        </a:rPr>
                        <a:t>Filter</a:t>
                      </a:r>
                    </a:p>
                  </a:txBody>
                  <a:tcPr>
                    <a:solidFill>
                      <a:srgbClr val="F2ECF3"/>
                    </a:solidFill>
                  </a:tcPr>
                </a:tc>
                <a:tc>
                  <a:txBody>
                    <a:bodyPr/>
                    <a:lstStyle/>
                    <a:p>
                      <a:r>
                        <a:rPr sz="800" b="0">
                          <a:solidFill>
                            <a:srgbClr val="9C8D84"/>
                          </a:solidFill>
                        </a:rPr>
                        <a:t>Terminal</a:t>
                      </a:r>
                    </a:p>
                  </a:txBody>
                  <a:tcPr>
                    <a:solidFill>
                      <a:srgbClr val="F2ECF3"/>
                    </a:solidFill>
                  </a:tcPr>
                </a:tc>
                <a:extLst>
                  <a:ext uri="{0D108BD9-81ED-4DB2-BD59-A6C34878D82A}">
                    <a16:rowId xmlns:a16="http://schemas.microsoft.com/office/drawing/2014/main" val="10005"/>
                  </a:ext>
                </a:extLst>
              </a:tr>
              <a:tr h="187894">
                <a:tc>
                  <a:txBody>
                    <a:bodyPr/>
                    <a:lstStyle/>
                    <a:p>
                      <a:r>
                        <a:rPr sz="800" b="0">
                          <a:solidFill>
                            <a:srgbClr val="9C8D84"/>
                          </a:solidFill>
                        </a:rPr>
                        <a:t>Library Horizon</a:t>
                      </a:r>
                    </a:p>
                  </a:txBody>
                  <a:tcPr>
                    <a:solidFill>
                      <a:srgbClr val="F2ECF3"/>
                    </a:solidFill>
                  </a:tcPr>
                </a:tc>
                <a:tc>
                  <a:txBody>
                    <a:bodyPr/>
                    <a:lstStyle/>
                    <a:p>
                      <a:r>
                        <a:rPr sz="800" b="0">
                          <a:solidFill>
                            <a:srgbClr val="9C8D84"/>
                          </a:solidFill>
                        </a:rPr>
                        <a:t>Exchange System</a:t>
                      </a:r>
                    </a:p>
                  </a:txBody>
                  <a:tcPr>
                    <a:solidFill>
                      <a:srgbClr val="F2ECF3"/>
                    </a:solidFill>
                  </a:tcPr>
                </a:tc>
                <a:extLst>
                  <a:ext uri="{0D108BD9-81ED-4DB2-BD59-A6C34878D82A}">
                    <a16:rowId xmlns:a16="http://schemas.microsoft.com/office/drawing/2014/main" val="10006"/>
                  </a:ext>
                </a:extLst>
              </a:tr>
            </a:tbl>
          </a:graphicData>
        </a:graphic>
      </p:graphicFrame>
      <p:pic>
        <p:nvPicPr>
          <p:cNvPr id="6" name="Picture 5" descr="_example_image.jpg"/>
          <p:cNvPicPr>
            <a:picLocks noChangeAspect="1"/>
          </p:cNvPicPr>
          <p:nvPr/>
        </p:nvPicPr>
        <p:blipFill>
          <a:blip r:embed="rId2"/>
          <a:srcRect/>
          <a:stretch>
            <a:fillRect/>
          </a:stretch>
        </p:blipFill>
        <p:spPr>
          <a:xfrm>
            <a:off x="8248943" y="5499230"/>
            <a:ext cx="1313228" cy="1190170"/>
          </a:xfrm>
          <a:prstGeom prst="rect">
            <a:avLst/>
          </a:prstGeom>
        </p:spPr>
      </p:pic>
      <p:sp>
        <p:nvSpPr>
          <p:cNvPr id="7" name="TextBox 6"/>
          <p:cNvSpPr txBox="1"/>
          <p:nvPr/>
        </p:nvSpPr>
        <p:spPr>
          <a:xfrm>
            <a:off x="7126437" y="4219386"/>
            <a:ext cx="3622395" cy="1209355"/>
          </a:xfrm>
          <a:prstGeom prst="rect">
            <a:avLst/>
          </a:prstGeom>
          <a:noFill/>
        </p:spPr>
        <p:txBody>
          <a:bodyPr wrap="none" lIns="64796" tIns="64796" rIns="64796" bIns="64796">
            <a:spAutoFit/>
          </a:bodyPr>
          <a:lstStyle/>
          <a:p>
            <a:r>
              <a:rPr sz="900" b="0" i="0" u="none">
                <a:solidFill>
                  <a:srgbClr val="4B89E5"/>
                </a:solidFill>
                <a:latin typeface="Trebuchet MS"/>
              </a:rPr>
              <a:t>Epoch</a:t>
            </a:r>
          </a:p>
        </p:txBody>
      </p:sp>
      <p:sp>
        <p:nvSpPr>
          <p:cNvPr id="8" name="Data 7"/>
          <p:cNvSpPr/>
          <p:nvPr/>
        </p:nvSpPr>
        <p:spPr>
          <a:xfrm>
            <a:off x="1942997" y="1512471"/>
            <a:ext cx="1382830" cy="317478"/>
          </a:xfrm>
          <a:prstGeom prst="flowChartInputOutput">
            <a:avLst/>
          </a:prstGeom>
          <a:solidFill>
            <a:srgbClr val="3C7B3A"/>
          </a:solidFill>
          <a:ln w="21786">
            <a:solidFill>
              <a:srgbClr val="A0809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cess 8"/>
          <p:cNvSpPr/>
          <p:nvPr/>
        </p:nvSpPr>
        <p:spPr>
          <a:xfrm>
            <a:off x="611865" y="2598603"/>
            <a:ext cx="543879" cy="335259"/>
          </a:xfrm>
          <a:prstGeom prst="flowChartProcess">
            <a:avLst/>
          </a:prstGeom>
          <a:solidFill>
            <a:srgbClr val="1E2A24"/>
          </a:solidFill>
          <a:ln w="7893">
            <a:solidFill>
              <a:srgbClr val="23197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854083" y="811074"/>
            <a:ext cx="957204" cy="2558231"/>
          </a:xfrm>
          <a:prstGeom prst="rect">
            <a:avLst/>
          </a:prstGeom>
          <a:solidFill>
            <a:srgbClr val="5227CF"/>
          </a:solidFill>
        </p:spPr>
        <p:txBody>
          <a:bodyPr wrap="none" lIns="55736" tIns="55736" rIns="55736" bIns="55736">
            <a:spAutoFit/>
          </a:bodyPr>
          <a:lstStyle/>
          <a:p>
            <a:r>
              <a:rPr sz="1100" b="1" i="0" u="sng">
                <a:solidFill>
                  <a:srgbClr val="ABB97F"/>
                </a:solidFill>
                <a:latin typeface="Aptos"/>
              </a:rPr>
              <a:t>Service Factor Drive Diagram Benchmark North Entity Aspect Proof Station Object Transform Track Data Module System Indicator Input Position Kernel Logic Method Depth Adaptive Account Grid Register Asset Dispatch Index Threshold Runtime Limit Alpha Canvas Journey Trigger Status Ledger Instance Canvas Signal Network</a:t>
            </a:r>
          </a:p>
        </p:txBody>
      </p:sp>
      <p:sp>
        <p:nvSpPr>
          <p:cNvPr id="11" name="TextBox 10"/>
          <p:cNvSpPr txBox="1"/>
          <p:nvPr/>
        </p:nvSpPr>
        <p:spPr>
          <a:xfrm>
            <a:off x="1245167" y="783346"/>
            <a:ext cx="550072" cy="1599711"/>
          </a:xfrm>
          <a:prstGeom prst="rect">
            <a:avLst/>
          </a:prstGeom>
          <a:noFill/>
        </p:spPr>
        <p:txBody>
          <a:bodyPr wrap="none" lIns="55479" tIns="55479" rIns="55479" bIns="55479">
            <a:spAutoFit/>
          </a:bodyPr>
          <a:lstStyle/>
          <a:p>
            <a:r>
              <a:rPr sz="5300" b="1" i="0" u="sng">
                <a:solidFill>
                  <a:srgbClr val="D2BEE1"/>
                </a:solidFill>
                <a:latin typeface="Arial"/>
              </a:rPr>
              <a:t>Goal Compass Level Trend Service Slice Forecast</a:t>
            </a:r>
          </a:p>
        </p:txBody>
      </p:sp>
      <p:cxnSp>
        <p:nvCxnSpPr>
          <p:cNvPr id="12" name="Connector 11"/>
          <p:cNvCxnSpPr/>
          <p:nvPr/>
        </p:nvCxnSpPr>
        <p:spPr>
          <a:xfrm flipV="1">
            <a:off x="5572740" y="5365058"/>
            <a:ext cx="2452738" cy="1202673"/>
          </a:xfrm>
          <a:prstGeom prst="curvedConnector3">
            <a:avLst/>
          </a:prstGeom>
          <a:ln w="26205">
            <a:solidFill>
              <a:srgbClr val="6E899E"/>
            </a:solidFill>
            <a:prstDash val="solid"/>
          </a:ln>
        </p:spPr>
        <p:style>
          <a:lnRef idx="2">
            <a:schemeClr val="accent1"/>
          </a:lnRef>
          <a:fillRef idx="0">
            <a:schemeClr val="accent1"/>
          </a:fillRef>
          <a:effectRef idx="1">
            <a:schemeClr val="accent1"/>
          </a:effectRef>
          <a:fontRef idx="minor">
            <a:schemeClr val="tx1"/>
          </a:fontRef>
        </p:style>
      </p:cxnSp>
      <p:sp>
        <p:nvSpPr>
          <p:cNvPr id="13" name="Parallelogram 12"/>
          <p:cNvSpPr/>
          <p:nvPr/>
        </p:nvSpPr>
        <p:spPr>
          <a:xfrm>
            <a:off x="8856492" y="1606898"/>
            <a:ext cx="1277286" cy="717946"/>
          </a:xfrm>
          <a:prstGeom prst="parallelogram">
            <a:avLst/>
          </a:prstGeom>
          <a:solidFill>
            <a:srgbClr val="CA4CB8"/>
          </a:solidFill>
          <a:ln w="23750">
            <a:solidFill>
              <a:srgbClr val="CF7B7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38100" y="4330192"/>
            <a:ext cx="1160711" cy="1306555"/>
          </a:xfrm>
          <a:prstGeom prst="rect">
            <a:avLst/>
          </a:prstGeom>
          <a:noFill/>
        </p:spPr>
        <p:txBody>
          <a:bodyPr wrap="none" lIns="70902" tIns="70902" rIns="70902" bIns="70902">
            <a:spAutoFit/>
          </a:bodyPr>
          <a:lstStyle/>
          <a:p>
            <a:r>
              <a:rPr sz="1400" b="0" i="0" u="none">
                <a:solidFill>
                  <a:srgbClr val="B67ED1"/>
                </a:solidFill>
                <a:latin typeface="Verdana"/>
              </a:rPr>
              <a:t>Velocity Entity Spectrum Mode Function Draft Phase Atlas Region Slice Region Record Goal Region Expansion Record Instance Review State Timeline Brief Hub Sequence Timeline Viewport Brief Velocity Circuit Motion Friction Journey Vertex Engine Ledger Record Strategy Impact</a:t>
            </a:r>
          </a:p>
        </p:txBody>
      </p:sp>
      <p:graphicFrame>
        <p:nvGraphicFramePr>
          <p:cNvPr id="15" name="Chart 14"/>
          <p:cNvGraphicFramePr>
            <a:graphicFrameLocks noGrp="1"/>
          </p:cNvGraphicFramePr>
          <p:nvPr/>
        </p:nvGraphicFramePr>
        <p:xfrm>
          <a:off x="1959010" y="2418212"/>
          <a:ext cx="2045362" cy="2008059"/>
        </p:xfrm>
        <a:graphic>
          <a:graphicData uri="http://schemas.openxmlformats.org/drawingml/2006/chart">
            <c:chart xmlns:c="http://schemas.openxmlformats.org/drawingml/2006/chart" xmlns:r="http://schemas.openxmlformats.org/officeDocument/2006/relationships" r:id="rId3"/>
          </a:graphicData>
        </a:graphic>
      </p:graphicFrame>
      <p:sp>
        <p:nvSpPr>
          <p:cNvPr id="16" name="Freeform 15"/>
          <p:cNvSpPr/>
          <p:nvPr/>
        </p:nvSpPr>
        <p:spPr>
          <a:xfrm>
            <a:off x="183706" y="4951449"/>
            <a:ext cx="1390680" cy="1080964"/>
          </a:xfrm>
          <a:custGeom>
            <a:avLst/>
            <a:gdLst/>
            <a:ahLst/>
            <a:cxnLst/>
            <a:rect l="l" t="t" r="r" b="b"/>
            <a:pathLst>
              <a:path w="1390680" h="1080964">
                <a:moveTo>
                  <a:pt x="0" y="525469"/>
                </a:moveTo>
                <a:lnTo>
                  <a:pt x="239257" y="0"/>
                </a:lnTo>
                <a:lnTo>
                  <a:pt x="493467" y="450402"/>
                </a:lnTo>
                <a:lnTo>
                  <a:pt x="747677" y="900803"/>
                </a:lnTo>
                <a:lnTo>
                  <a:pt x="1016841" y="375335"/>
                </a:lnTo>
                <a:lnTo>
                  <a:pt x="1390680" y="570509"/>
                </a:lnTo>
                <a:lnTo>
                  <a:pt x="1390680" y="1080964"/>
                </a:lnTo>
                <a:lnTo>
                  <a:pt x="0" y="1080964"/>
                </a:lnTo>
                <a:close/>
              </a:path>
            </a:pathLst>
          </a:custGeom>
          <a:solidFill>
            <a:srgbClr val="544B39"/>
          </a:solidFill>
          <a:ln w="30908">
            <a:solidFill>
              <a:srgbClr val="D7E1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 name="Connector 16"/>
          <p:cNvCxnSpPr/>
          <p:nvPr/>
        </p:nvCxnSpPr>
        <p:spPr>
          <a:xfrm>
            <a:off x="9141594" y="2343612"/>
            <a:ext cx="1671113" cy="862683"/>
          </a:xfrm>
          <a:prstGeom prst="bentConnector3">
            <a:avLst/>
          </a:prstGeom>
          <a:ln w="36791">
            <a:solidFill>
              <a:srgbClr val="396787"/>
            </a:solidFill>
            <a:prstDash val="lgDash"/>
          </a:ln>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1639946" y="5706088"/>
            <a:ext cx="1570738" cy="920346"/>
          </a:xfrm>
          <a:custGeom>
            <a:avLst/>
            <a:gdLst/>
            <a:ahLst/>
            <a:cxnLst/>
            <a:rect l="l" t="t" r="r" b="b"/>
            <a:pathLst>
              <a:path w="1570738" h="920346">
                <a:moveTo>
                  <a:pt x="0" y="204521"/>
                </a:moveTo>
                <a:lnTo>
                  <a:pt x="337793" y="0"/>
                </a:lnTo>
                <a:lnTo>
                  <a:pt x="675586" y="276104"/>
                </a:lnTo>
                <a:lnTo>
                  <a:pt x="1013379" y="30678"/>
                </a:lnTo>
                <a:lnTo>
                  <a:pt x="1570738" y="715825"/>
                </a:lnTo>
                <a:lnTo>
                  <a:pt x="1182276" y="920346"/>
                </a:lnTo>
                <a:lnTo>
                  <a:pt x="810704" y="613564"/>
                </a:lnTo>
                <a:lnTo>
                  <a:pt x="388462" y="889668"/>
                </a:lnTo>
                <a:close/>
              </a:path>
            </a:pathLst>
          </a:custGeom>
          <a:solidFill>
            <a:srgbClr val="D2D6A4"/>
          </a:solidFill>
          <a:ln w="30788">
            <a:solidFill>
              <a:srgbClr val="3147B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_example_image.jpg"/>
          <p:cNvPicPr>
            <a:picLocks noChangeAspect="1"/>
          </p:cNvPicPr>
          <p:nvPr/>
        </p:nvPicPr>
        <p:blipFill>
          <a:blip r:embed="rId2"/>
          <a:srcRect/>
          <a:stretch>
            <a:fillRect/>
          </a:stretch>
        </p:blipFill>
        <p:spPr>
          <a:xfrm>
            <a:off x="6981955" y="535286"/>
            <a:ext cx="2001972" cy="994995"/>
          </a:xfrm>
          <a:prstGeom prst="rect">
            <a:avLst/>
          </a:prstGeom>
        </p:spPr>
      </p:pic>
      <p:sp>
        <p:nvSpPr>
          <p:cNvPr id="20" name="Parallelogram 19"/>
          <p:cNvSpPr/>
          <p:nvPr/>
        </p:nvSpPr>
        <p:spPr>
          <a:xfrm>
            <a:off x="3373484" y="991443"/>
            <a:ext cx="777334" cy="753489"/>
          </a:xfrm>
          <a:prstGeom prst="parallelogram">
            <a:avLst/>
          </a:prstGeom>
          <a:solidFill>
            <a:srgbClr val="4FA6A8"/>
          </a:solidFill>
          <a:ln w="25117">
            <a:solidFill>
              <a:srgbClr val="2D9E3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2072390" y="946797"/>
            <a:ext cx="1812255" cy="388567"/>
          </a:xfrm>
          <a:prstGeom prst="bentConnector3">
            <a:avLst/>
          </a:prstGeom>
          <a:ln w="45213">
            <a:solidFill>
              <a:srgbClr val="AE4C42"/>
            </a:solidFill>
            <a:prstDash val="dash"/>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2"/>
          <a:srcRect l="125" t="7668" r="19895" b="2858"/>
          <a:stretch>
            <a:fillRect/>
          </a:stretch>
        </p:blipFill>
        <p:spPr>
          <a:xfrm>
            <a:off x="6914769" y="3309313"/>
            <a:ext cx="1272656" cy="738712"/>
          </a:xfrm>
          <a:prstGeom prst="rect">
            <a:avLst/>
          </a:prstGeom>
        </p:spPr>
      </p:pic>
      <p:sp>
        <p:nvSpPr>
          <p:cNvPr id="23" name="TextBox 22"/>
          <p:cNvSpPr txBox="1"/>
          <p:nvPr/>
        </p:nvSpPr>
        <p:spPr>
          <a:xfrm>
            <a:off x="3490046" y="4633956"/>
            <a:ext cx="521815" cy="1693417"/>
          </a:xfrm>
          <a:prstGeom prst="rect">
            <a:avLst/>
          </a:prstGeom>
          <a:noFill/>
        </p:spPr>
        <p:txBody>
          <a:bodyPr wrap="none" lIns="55014" tIns="55014" rIns="55014" bIns="55014">
            <a:spAutoFit/>
          </a:bodyPr>
          <a:lstStyle/>
          <a:p>
            <a:r>
              <a:rPr sz="1800" b="1" i="0" u="none">
                <a:solidFill>
                  <a:srgbClr val="E33FAF"/>
                </a:solidFill>
                <a:latin typeface="Georgia"/>
              </a:rPr>
              <a:t>Agenda Module Ratio Depth Connector Cluster Packet Canvas Beacon Payload Marker Queue Density Pattern Schema Balance Payload Template Diagram Wave Horizon Context Index Station Instance Report Range System</a:t>
            </a:r>
          </a:p>
        </p:txBody>
      </p:sp>
      <p:graphicFrame>
        <p:nvGraphicFramePr>
          <p:cNvPr id="24" name="Chart 23"/>
          <p:cNvGraphicFramePr>
            <a:graphicFrameLocks noGrp="1"/>
          </p:cNvGraphicFramePr>
          <p:nvPr/>
        </p:nvGraphicFramePr>
        <p:xfrm>
          <a:off x="6169617" y="1725028"/>
          <a:ext cx="2576144" cy="146991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Table 24"/>
          <p:cNvGraphicFramePr>
            <a:graphicFrameLocks noGrp="1"/>
          </p:cNvGraphicFramePr>
          <p:nvPr/>
        </p:nvGraphicFramePr>
        <p:xfrm>
          <a:off x="236205" y="2919007"/>
          <a:ext cx="2035281" cy="1696980"/>
        </p:xfrm>
        <a:graphic>
          <a:graphicData uri="http://schemas.openxmlformats.org/drawingml/2006/table">
            <a:tbl>
              <a:tblPr firstRow="1" bandRow="1">
                <a:tableStyleId>{5C22544A-7EE6-4342-B048-85BDC9FD1C3A}</a:tableStyleId>
              </a:tblPr>
              <a:tblGrid>
                <a:gridCol w="1017640">
                  <a:extLst>
                    <a:ext uri="{9D8B030D-6E8A-4147-A177-3AD203B41FA5}">
                      <a16:colId xmlns:a16="http://schemas.microsoft.com/office/drawing/2014/main" val="20000"/>
                    </a:ext>
                  </a:extLst>
                </a:gridCol>
                <a:gridCol w="1017641">
                  <a:extLst>
                    <a:ext uri="{9D8B030D-6E8A-4147-A177-3AD203B41FA5}">
                      <a16:colId xmlns:a16="http://schemas.microsoft.com/office/drawing/2014/main" val="20001"/>
                    </a:ext>
                  </a:extLst>
                </a:gridCol>
              </a:tblGrid>
              <a:tr h="282830">
                <a:tc>
                  <a:txBody>
                    <a:bodyPr/>
                    <a:lstStyle/>
                    <a:p>
                      <a:r>
                        <a:rPr sz="1200" b="0">
                          <a:solidFill>
                            <a:srgbClr val="B08BC9"/>
                          </a:solidFill>
                        </a:rPr>
                        <a:t>Deployment</a:t>
                      </a:r>
                    </a:p>
                  </a:txBody>
                  <a:tcPr>
                    <a:solidFill>
                      <a:srgbClr val="F3F8FB"/>
                    </a:solidFill>
                  </a:tcPr>
                </a:tc>
                <a:tc>
                  <a:txBody>
                    <a:bodyPr/>
                    <a:lstStyle/>
                    <a:p>
                      <a:r>
                        <a:rPr sz="1200" b="0">
                          <a:solidFill>
                            <a:srgbClr val="B08BC9"/>
                          </a:solidFill>
                        </a:rPr>
                        <a:t>Sequence</a:t>
                      </a:r>
                    </a:p>
                  </a:txBody>
                  <a:tcPr>
                    <a:solidFill>
                      <a:srgbClr val="F3F8FB"/>
                    </a:solidFill>
                  </a:tcPr>
                </a:tc>
                <a:extLst>
                  <a:ext uri="{0D108BD9-81ED-4DB2-BD59-A6C34878D82A}">
                    <a16:rowId xmlns:a16="http://schemas.microsoft.com/office/drawing/2014/main" val="10000"/>
                  </a:ext>
                </a:extLst>
              </a:tr>
              <a:tr h="282830">
                <a:tc>
                  <a:txBody>
                    <a:bodyPr/>
                    <a:lstStyle/>
                    <a:p>
                      <a:r>
                        <a:rPr sz="1200" b="0">
                          <a:solidFill>
                            <a:srgbClr val="B08BC9"/>
                          </a:solidFill>
                        </a:rPr>
                        <a:t>Capacity</a:t>
                      </a:r>
                    </a:p>
                  </a:txBody>
                  <a:tcPr>
                    <a:solidFill>
                      <a:srgbClr val="F3F8FB"/>
                    </a:solidFill>
                  </a:tcPr>
                </a:tc>
                <a:tc>
                  <a:txBody>
                    <a:bodyPr/>
                    <a:lstStyle/>
                    <a:p>
                      <a:r>
                        <a:rPr sz="1200" b="0">
                          <a:solidFill>
                            <a:srgbClr val="B08BC9"/>
                          </a:solidFill>
                        </a:rPr>
                        <a:t>Kernel Region</a:t>
                      </a:r>
                    </a:p>
                  </a:txBody>
                  <a:tcPr>
                    <a:solidFill>
                      <a:srgbClr val="F3F8FB"/>
                    </a:solidFill>
                  </a:tcPr>
                </a:tc>
                <a:extLst>
                  <a:ext uri="{0D108BD9-81ED-4DB2-BD59-A6C34878D82A}">
                    <a16:rowId xmlns:a16="http://schemas.microsoft.com/office/drawing/2014/main" val="10001"/>
                  </a:ext>
                </a:extLst>
              </a:tr>
              <a:tr h="282830">
                <a:tc>
                  <a:txBody>
                    <a:bodyPr/>
                    <a:lstStyle/>
                    <a:p>
                      <a:r>
                        <a:rPr sz="1200" b="0">
                          <a:solidFill>
                            <a:srgbClr val="B08BC9"/>
                          </a:solidFill>
                        </a:rPr>
                        <a:t>Control Orbit</a:t>
                      </a:r>
                    </a:p>
                  </a:txBody>
                  <a:tcPr>
                    <a:solidFill>
                      <a:srgbClr val="F3F8FB"/>
                    </a:solidFill>
                  </a:tcPr>
                </a:tc>
                <a:tc>
                  <a:txBody>
                    <a:bodyPr/>
                    <a:lstStyle/>
                    <a:p>
                      <a:r>
                        <a:rPr sz="1200" b="0">
                          <a:solidFill>
                            <a:srgbClr val="B08BC9"/>
                          </a:solidFill>
                        </a:rPr>
                        <a:t>Inventory</a:t>
                      </a:r>
                    </a:p>
                  </a:txBody>
                  <a:tcPr>
                    <a:solidFill>
                      <a:srgbClr val="F3F8FB"/>
                    </a:solidFill>
                  </a:tcPr>
                </a:tc>
                <a:extLst>
                  <a:ext uri="{0D108BD9-81ED-4DB2-BD59-A6C34878D82A}">
                    <a16:rowId xmlns:a16="http://schemas.microsoft.com/office/drawing/2014/main" val="10002"/>
                  </a:ext>
                </a:extLst>
              </a:tr>
              <a:tr h="282830">
                <a:tc>
                  <a:txBody>
                    <a:bodyPr/>
                    <a:lstStyle/>
                    <a:p>
                      <a:r>
                        <a:rPr sz="1200" b="0">
                          <a:solidFill>
                            <a:srgbClr val="B08BC9"/>
                          </a:solidFill>
                        </a:rPr>
                        <a:t>Draft Bundle</a:t>
                      </a:r>
                    </a:p>
                  </a:txBody>
                  <a:tcPr>
                    <a:solidFill>
                      <a:srgbClr val="F3F8FB"/>
                    </a:solidFill>
                  </a:tcPr>
                </a:tc>
                <a:tc>
                  <a:txBody>
                    <a:bodyPr/>
                    <a:lstStyle/>
                    <a:p>
                      <a:r>
                        <a:rPr sz="1200" b="0">
                          <a:solidFill>
                            <a:srgbClr val="B08BC9"/>
                          </a:solidFill>
                        </a:rPr>
                        <a:t>Vertex Epoch</a:t>
                      </a:r>
                    </a:p>
                  </a:txBody>
                  <a:tcPr>
                    <a:solidFill>
                      <a:srgbClr val="F3F8FB"/>
                    </a:solidFill>
                  </a:tcPr>
                </a:tc>
                <a:extLst>
                  <a:ext uri="{0D108BD9-81ED-4DB2-BD59-A6C34878D82A}">
                    <a16:rowId xmlns:a16="http://schemas.microsoft.com/office/drawing/2014/main" val="10003"/>
                  </a:ext>
                </a:extLst>
              </a:tr>
              <a:tr h="282830">
                <a:tc>
                  <a:txBody>
                    <a:bodyPr/>
                    <a:lstStyle/>
                    <a:p>
                      <a:r>
                        <a:rPr sz="1200" b="0">
                          <a:solidFill>
                            <a:srgbClr val="B08BC9"/>
                          </a:solidFill>
                        </a:rPr>
                        <a:t>Discovery</a:t>
                      </a:r>
                    </a:p>
                  </a:txBody>
                  <a:tcPr>
                    <a:solidFill>
                      <a:srgbClr val="F3F8FB"/>
                    </a:solidFill>
                  </a:tcPr>
                </a:tc>
                <a:tc>
                  <a:txBody>
                    <a:bodyPr/>
                    <a:lstStyle/>
                    <a:p>
                      <a:r>
                        <a:rPr sz="1200" b="0">
                          <a:solidFill>
                            <a:srgbClr val="B08BC9"/>
                          </a:solidFill>
                        </a:rPr>
                        <a:t>Queueing Frequency</a:t>
                      </a:r>
                    </a:p>
                  </a:txBody>
                  <a:tcPr>
                    <a:solidFill>
                      <a:srgbClr val="F3F8FB"/>
                    </a:solidFill>
                  </a:tcPr>
                </a:tc>
                <a:extLst>
                  <a:ext uri="{0D108BD9-81ED-4DB2-BD59-A6C34878D82A}">
                    <a16:rowId xmlns:a16="http://schemas.microsoft.com/office/drawing/2014/main" val="10004"/>
                  </a:ext>
                </a:extLst>
              </a:tr>
              <a:tr h="282830">
                <a:tc>
                  <a:txBody>
                    <a:bodyPr/>
                    <a:lstStyle/>
                    <a:p>
                      <a:r>
                        <a:rPr sz="1200" b="0">
                          <a:solidFill>
                            <a:srgbClr val="B08BC9"/>
                          </a:solidFill>
                        </a:rPr>
                        <a:t>Topology Event</a:t>
                      </a:r>
                    </a:p>
                  </a:txBody>
                  <a:tcPr>
                    <a:solidFill>
                      <a:srgbClr val="F3F8FB"/>
                    </a:solidFill>
                  </a:tcPr>
                </a:tc>
                <a:tc>
                  <a:txBody>
                    <a:bodyPr/>
                    <a:lstStyle/>
                    <a:p>
                      <a:r>
                        <a:rPr sz="1200" b="0">
                          <a:solidFill>
                            <a:srgbClr val="B08BC9"/>
                          </a:solidFill>
                        </a:rPr>
                        <a:t>Spectrum Archive</a:t>
                      </a:r>
                    </a:p>
                  </a:txBody>
                  <a:tcPr>
                    <a:solidFill>
                      <a:srgbClr val="F3F8FB"/>
                    </a:solidFill>
                  </a:tcPr>
                </a:tc>
                <a:extLst>
                  <a:ext uri="{0D108BD9-81ED-4DB2-BD59-A6C34878D82A}">
                    <a16:rowId xmlns:a16="http://schemas.microsoft.com/office/drawing/2014/main" val="10005"/>
                  </a:ext>
                </a:extLst>
              </a:tr>
            </a:tbl>
          </a:graphicData>
        </a:graphic>
      </p:graphicFrame>
      <p:sp>
        <p:nvSpPr>
          <p:cNvPr id="26" name="TextBox 25"/>
          <p:cNvSpPr txBox="1"/>
          <p:nvPr/>
        </p:nvSpPr>
        <p:spPr>
          <a:xfrm>
            <a:off x="5559167" y="3291951"/>
            <a:ext cx="1157793" cy="1526245"/>
          </a:xfrm>
          <a:prstGeom prst="rect">
            <a:avLst/>
          </a:prstGeom>
          <a:noFill/>
        </p:spPr>
        <p:txBody>
          <a:bodyPr wrap="none" lIns="46175" tIns="46175" rIns="46175" bIns="46175">
            <a:spAutoFit/>
          </a:bodyPr>
          <a:lstStyle/>
          <a:p>
            <a:r>
              <a:rPr sz="4500" b="1" i="0" u="none">
                <a:solidFill>
                  <a:srgbClr val="621BDB"/>
                </a:solidFill>
                <a:latin typeface="Calibri"/>
              </a:rPr>
              <a:t>Intent Field Service Element Order Briefing Ledger</a:t>
            </a:r>
          </a:p>
        </p:txBody>
      </p:sp>
      <p:pic>
        <p:nvPicPr>
          <p:cNvPr id="28" name="Graphic 27">
            <a:extLst>
              <a:ext uri="{FF2B5EF4-FFF2-40B4-BE49-F238E27FC236}">
                <a16:creationId xmlns:a16="http://schemas.microsoft.com/office/drawing/2014/main" id="{F5833D80-B3E6-8F8D-0CC6-AE15DC932828}"/>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10002196" y="3381097"/>
            <a:ext cx="1865853" cy="982964"/>
          </a:xfrm>
          <a:prstGeom prst="rect">
            <a:avLst/>
          </a:prstGeom>
        </p:spPr>
      </p:pic>
      <p:pic>
        <p:nvPicPr>
          <p:cNvPr id="30" name="Graphic 29">
            <a:extLst>
              <a:ext uri="{FF2B5EF4-FFF2-40B4-BE49-F238E27FC236}">
                <a16:creationId xmlns:a16="http://schemas.microsoft.com/office/drawing/2014/main" id="{909F49FA-D755-6AAD-570C-7BEBC0356002}"/>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387733" y="325140"/>
            <a:ext cx="2975212" cy="89205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Callout 1"/>
          <p:cNvSpPr/>
          <p:nvPr/>
        </p:nvSpPr>
        <p:spPr>
          <a:xfrm>
            <a:off x="1108834" y="3493812"/>
            <a:ext cx="420757" cy="939060"/>
          </a:xfrm>
          <a:prstGeom prst="wedgeEllipseCallout">
            <a:avLst/>
          </a:prstGeom>
          <a:solidFill>
            <a:srgbClr val="247A19"/>
          </a:solidFill>
          <a:ln w="25384">
            <a:solidFill>
              <a:srgbClr val="1F302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flipV="1">
            <a:off x="8394297" y="1588495"/>
            <a:ext cx="2778359" cy="613911"/>
          </a:xfrm>
          <a:prstGeom prst="bentConnector3">
            <a:avLst/>
          </a:prstGeom>
          <a:ln w="23726">
            <a:solidFill>
              <a:srgbClr val="4B2739"/>
            </a:solidFill>
            <a:prstDash val="lgDash"/>
          </a:ln>
        </p:spPr>
        <p:style>
          <a:lnRef idx="2">
            <a:schemeClr val="accent1"/>
          </a:lnRef>
          <a:fillRef idx="0">
            <a:schemeClr val="accent1"/>
          </a:fillRef>
          <a:effectRef idx="1">
            <a:schemeClr val="accent1"/>
          </a:effectRef>
          <a:fontRef idx="minor">
            <a:schemeClr val="tx1"/>
          </a:fontRef>
        </p:style>
      </p:cxnSp>
      <p:pic>
        <p:nvPicPr>
          <p:cNvPr id="4" name="Picture 3" descr="_example_image.jpg"/>
          <p:cNvPicPr>
            <a:picLocks noChangeAspect="1"/>
          </p:cNvPicPr>
          <p:nvPr/>
        </p:nvPicPr>
        <p:blipFill>
          <a:blip r:embed="rId2"/>
          <a:srcRect l="6277" t="16669" r="12963" b="6218"/>
          <a:stretch>
            <a:fillRect/>
          </a:stretch>
        </p:blipFill>
        <p:spPr>
          <a:xfrm>
            <a:off x="5639168" y="1415163"/>
            <a:ext cx="2701431" cy="1025048"/>
          </a:xfrm>
          <a:prstGeom prst="rect">
            <a:avLst/>
          </a:prstGeom>
        </p:spPr>
      </p:pic>
      <p:sp>
        <p:nvSpPr>
          <p:cNvPr id="5" name="Right Arrow 4"/>
          <p:cNvSpPr/>
          <p:nvPr/>
        </p:nvSpPr>
        <p:spPr>
          <a:xfrm>
            <a:off x="6098720" y="668145"/>
            <a:ext cx="1393512" cy="457916"/>
          </a:xfrm>
          <a:prstGeom prst="rightArrow">
            <a:avLst/>
          </a:prstGeom>
          <a:solidFill>
            <a:srgbClr val="1A7C84"/>
          </a:solidFill>
          <a:ln w="20698">
            <a:solidFill>
              <a:srgbClr val="D64532"/>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6649189" y="773871"/>
            <a:ext cx="1002749" cy="548819"/>
          </a:xfrm>
          <a:custGeom>
            <a:avLst/>
            <a:gdLst/>
            <a:ahLst/>
            <a:cxnLst/>
            <a:rect l="l" t="t" r="r" b="b"/>
            <a:pathLst>
              <a:path w="1002749" h="548819">
                <a:moveTo>
                  <a:pt x="107822" y="93416"/>
                </a:moveTo>
                <a:lnTo>
                  <a:pt x="355814" y="0"/>
                </a:lnTo>
                <a:lnTo>
                  <a:pt x="733193" y="46708"/>
                </a:lnTo>
                <a:lnTo>
                  <a:pt x="1002749" y="221863"/>
                </a:lnTo>
                <a:lnTo>
                  <a:pt x="862579" y="455403"/>
                </a:lnTo>
                <a:lnTo>
                  <a:pt x="463636" y="548819"/>
                </a:lnTo>
                <a:lnTo>
                  <a:pt x="64693" y="397018"/>
                </a:lnTo>
                <a:lnTo>
                  <a:pt x="0" y="198509"/>
                </a:lnTo>
                <a:close/>
              </a:path>
            </a:pathLst>
          </a:custGeom>
          <a:solidFill>
            <a:srgbClr val="40D0D3"/>
          </a:solidFill>
          <a:ln w="27601">
            <a:solidFill>
              <a:srgbClr val="E486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9342677" y="5204758"/>
          <a:ext cx="2439093" cy="1481919"/>
        </p:xfrm>
        <a:graphic>
          <a:graphicData uri="http://schemas.openxmlformats.org/drawingml/2006/table">
            <a:tbl>
              <a:tblPr firstRow="1" bandRow="1">
                <a:tableStyleId>{5C22544A-7EE6-4342-B048-85BDC9FD1C3A}</a:tableStyleId>
              </a:tblPr>
              <a:tblGrid>
                <a:gridCol w="1219546">
                  <a:extLst>
                    <a:ext uri="{9D8B030D-6E8A-4147-A177-3AD203B41FA5}">
                      <a16:colId xmlns:a16="http://schemas.microsoft.com/office/drawing/2014/main" val="20000"/>
                    </a:ext>
                  </a:extLst>
                </a:gridCol>
                <a:gridCol w="1219547">
                  <a:extLst>
                    <a:ext uri="{9D8B030D-6E8A-4147-A177-3AD203B41FA5}">
                      <a16:colId xmlns:a16="http://schemas.microsoft.com/office/drawing/2014/main" val="20001"/>
                    </a:ext>
                  </a:extLst>
                </a:gridCol>
              </a:tblGrid>
              <a:tr h="740959">
                <a:tc>
                  <a:txBody>
                    <a:bodyPr/>
                    <a:lstStyle/>
                    <a:p>
                      <a:r>
                        <a:rPr sz="700" b="1">
                          <a:solidFill>
                            <a:srgbClr val="B4DC79"/>
                          </a:solidFill>
                        </a:rPr>
                        <a:t>Group Harbor</a:t>
                      </a:r>
                    </a:p>
                  </a:txBody>
                  <a:tcPr>
                    <a:solidFill>
                      <a:srgbClr val="259D49"/>
                    </a:solidFill>
                  </a:tcPr>
                </a:tc>
                <a:tc>
                  <a:txBody>
                    <a:bodyPr/>
                    <a:lstStyle/>
                    <a:p>
                      <a:r>
                        <a:rPr sz="700" b="1">
                          <a:solidFill>
                            <a:srgbClr val="B4DC79"/>
                          </a:solidFill>
                        </a:rPr>
                        <a:t>Release Program</a:t>
                      </a:r>
                    </a:p>
                  </a:txBody>
                  <a:tcPr>
                    <a:solidFill>
                      <a:srgbClr val="259D49"/>
                    </a:solidFill>
                  </a:tcPr>
                </a:tc>
                <a:extLst>
                  <a:ext uri="{0D108BD9-81ED-4DB2-BD59-A6C34878D82A}">
                    <a16:rowId xmlns:a16="http://schemas.microsoft.com/office/drawing/2014/main" val="10000"/>
                  </a:ext>
                </a:extLst>
              </a:tr>
              <a:tr h="740960">
                <a:tc>
                  <a:txBody>
                    <a:bodyPr/>
                    <a:lstStyle/>
                    <a:p>
                      <a:r>
                        <a:rPr sz="700" b="0">
                          <a:solidFill>
                            <a:srgbClr val="B4DC79"/>
                          </a:solidFill>
                        </a:rPr>
                        <a:t>Scope Clarity</a:t>
                      </a:r>
                    </a:p>
                  </a:txBody>
                  <a:tcPr>
                    <a:solidFill>
                      <a:srgbClr val="F0D5F4"/>
                    </a:solidFill>
                  </a:tcPr>
                </a:tc>
                <a:tc>
                  <a:txBody>
                    <a:bodyPr/>
                    <a:lstStyle/>
                    <a:p>
                      <a:r>
                        <a:rPr sz="700" b="0">
                          <a:solidFill>
                            <a:srgbClr val="B4DC79"/>
                          </a:solidFill>
                        </a:rPr>
                        <a:t>Cluster Layer</a:t>
                      </a:r>
                    </a:p>
                  </a:txBody>
                  <a:tcPr>
                    <a:solidFill>
                      <a:srgbClr val="F0D5F4"/>
                    </a:solidFill>
                  </a:tcPr>
                </a:tc>
                <a:extLst>
                  <a:ext uri="{0D108BD9-81ED-4DB2-BD59-A6C34878D82A}">
                    <a16:rowId xmlns:a16="http://schemas.microsoft.com/office/drawing/2014/main" val="10001"/>
                  </a:ext>
                </a:extLst>
              </a:tr>
            </a:tbl>
          </a:graphicData>
        </a:graphic>
      </p:graphicFrame>
      <p:sp>
        <p:nvSpPr>
          <p:cNvPr id="8" name="TextBox 7"/>
          <p:cNvSpPr txBox="1"/>
          <p:nvPr/>
        </p:nvSpPr>
        <p:spPr>
          <a:xfrm>
            <a:off x="1155957" y="5137975"/>
            <a:ext cx="1868284" cy="609815"/>
          </a:xfrm>
          <a:prstGeom prst="rect">
            <a:avLst/>
          </a:prstGeom>
          <a:noFill/>
        </p:spPr>
        <p:txBody>
          <a:bodyPr wrap="none" lIns="26629" tIns="26629" rIns="26629" bIns="26629">
            <a:spAutoFit/>
          </a:bodyPr>
          <a:lstStyle/>
          <a:p>
            <a:r>
              <a:rPr sz="1300" b="0" i="0" u="none">
                <a:solidFill>
                  <a:srgbClr val="C7D463"/>
                </a:solidFill>
                <a:latin typeface="Verdana"/>
              </a:rPr>
              <a:t>Circuit Route Atlas Query Logic Texture System Variant Array Baseline Object View Instance Process Buffer Portal Keyline Mode Graph Catalog Region Slice Order Function Review Portal Record Ratio Filter Command</a:t>
            </a:r>
          </a:p>
        </p:txBody>
      </p:sp>
      <p:pic>
        <p:nvPicPr>
          <p:cNvPr id="9" name="Picture 8" descr="_example_image.jpg"/>
          <p:cNvPicPr>
            <a:picLocks noChangeAspect="1"/>
          </p:cNvPicPr>
          <p:nvPr/>
        </p:nvPicPr>
        <p:blipFill>
          <a:blip r:embed="rId2"/>
          <a:srcRect/>
          <a:stretch>
            <a:fillRect/>
          </a:stretch>
        </p:blipFill>
        <p:spPr>
          <a:xfrm>
            <a:off x="6265477" y="4158767"/>
            <a:ext cx="1296735" cy="1895189"/>
          </a:xfrm>
          <a:prstGeom prst="rect">
            <a:avLst/>
          </a:prstGeom>
        </p:spPr>
      </p:pic>
      <p:sp>
        <p:nvSpPr>
          <p:cNvPr id="10" name="Rounded Rectangle 9"/>
          <p:cNvSpPr/>
          <p:nvPr/>
        </p:nvSpPr>
        <p:spPr>
          <a:xfrm>
            <a:off x="6265477" y="4158767"/>
            <a:ext cx="1296735" cy="1895189"/>
          </a:xfrm>
          <a:prstGeom prst="roundRect">
            <a:avLst/>
          </a:prstGeom>
          <a:noFill/>
          <a:ln w="15240">
            <a:solidFill>
              <a:srgbClr val="496B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rocess 10"/>
          <p:cNvSpPr/>
          <p:nvPr/>
        </p:nvSpPr>
        <p:spPr>
          <a:xfrm>
            <a:off x="1084318" y="4501218"/>
            <a:ext cx="487213" cy="455404"/>
          </a:xfrm>
          <a:prstGeom prst="flowChartProcess">
            <a:avLst/>
          </a:prstGeom>
          <a:solidFill>
            <a:srgbClr val="E6CD33"/>
          </a:solidFill>
          <a:ln w="23248">
            <a:solidFill>
              <a:srgbClr val="6143A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 11"/>
          <p:cNvGraphicFramePr>
            <a:graphicFrameLocks noGrp="1"/>
          </p:cNvGraphicFramePr>
          <p:nvPr/>
        </p:nvGraphicFramePr>
        <p:xfrm>
          <a:off x="779895" y="462282"/>
          <a:ext cx="2163450" cy="2250537"/>
        </p:xfrm>
        <a:graphic>
          <a:graphicData uri="http://schemas.openxmlformats.org/drawingml/2006/chart">
            <c:chart xmlns:c="http://schemas.openxmlformats.org/drawingml/2006/chart" xmlns:r="http://schemas.openxmlformats.org/officeDocument/2006/relationships" r:id="rId3"/>
          </a:graphicData>
        </a:graphic>
      </p:graphicFrame>
      <p:sp>
        <p:nvSpPr>
          <p:cNvPr id="13" name="Terminator 12"/>
          <p:cNvSpPr/>
          <p:nvPr/>
        </p:nvSpPr>
        <p:spPr>
          <a:xfrm>
            <a:off x="5061823" y="4586048"/>
            <a:ext cx="844869" cy="888914"/>
          </a:xfrm>
          <a:prstGeom prst="flowChartTerminator">
            <a:avLst/>
          </a:prstGeom>
          <a:solidFill>
            <a:srgbClr val="A596CA"/>
          </a:solidFill>
          <a:ln w="21446">
            <a:solidFill>
              <a:srgbClr val="43D69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4" name="Table 13"/>
          <p:cNvGraphicFramePr>
            <a:graphicFrameLocks noGrp="1"/>
          </p:cNvGraphicFramePr>
          <p:nvPr/>
        </p:nvGraphicFramePr>
        <p:xfrm>
          <a:off x="2084038" y="1124069"/>
          <a:ext cx="2297157" cy="1270203"/>
        </p:xfrm>
        <a:graphic>
          <a:graphicData uri="http://schemas.openxmlformats.org/drawingml/2006/table">
            <a:tbl>
              <a:tblPr firstRow="1" bandRow="1">
                <a:tableStyleId>{5C22544A-7EE6-4342-B048-85BDC9FD1C3A}</a:tableStyleId>
              </a:tblPr>
              <a:tblGrid>
                <a:gridCol w="459431">
                  <a:extLst>
                    <a:ext uri="{9D8B030D-6E8A-4147-A177-3AD203B41FA5}">
                      <a16:colId xmlns:a16="http://schemas.microsoft.com/office/drawing/2014/main" val="20000"/>
                    </a:ext>
                  </a:extLst>
                </a:gridCol>
                <a:gridCol w="459431">
                  <a:extLst>
                    <a:ext uri="{9D8B030D-6E8A-4147-A177-3AD203B41FA5}">
                      <a16:colId xmlns:a16="http://schemas.microsoft.com/office/drawing/2014/main" val="20001"/>
                    </a:ext>
                  </a:extLst>
                </a:gridCol>
                <a:gridCol w="459431">
                  <a:extLst>
                    <a:ext uri="{9D8B030D-6E8A-4147-A177-3AD203B41FA5}">
                      <a16:colId xmlns:a16="http://schemas.microsoft.com/office/drawing/2014/main" val="20002"/>
                    </a:ext>
                  </a:extLst>
                </a:gridCol>
                <a:gridCol w="459431">
                  <a:extLst>
                    <a:ext uri="{9D8B030D-6E8A-4147-A177-3AD203B41FA5}">
                      <a16:colId xmlns:a16="http://schemas.microsoft.com/office/drawing/2014/main" val="20003"/>
                    </a:ext>
                  </a:extLst>
                </a:gridCol>
                <a:gridCol w="459433">
                  <a:extLst>
                    <a:ext uri="{9D8B030D-6E8A-4147-A177-3AD203B41FA5}">
                      <a16:colId xmlns:a16="http://schemas.microsoft.com/office/drawing/2014/main" val="20004"/>
                    </a:ext>
                  </a:extLst>
                </a:gridCol>
              </a:tblGrid>
              <a:tr h="211700">
                <a:tc>
                  <a:txBody>
                    <a:bodyPr/>
                    <a:lstStyle/>
                    <a:p>
                      <a:r>
                        <a:rPr sz="700" b="1">
                          <a:solidFill>
                            <a:srgbClr val="1E6430"/>
                          </a:solidFill>
                        </a:rPr>
                        <a:t>Alpha Resource</a:t>
                      </a:r>
                    </a:p>
                  </a:txBody>
                  <a:tcPr>
                    <a:solidFill>
                      <a:srgbClr val="397FD0"/>
                    </a:solidFill>
                  </a:tcPr>
                </a:tc>
                <a:tc>
                  <a:txBody>
                    <a:bodyPr/>
                    <a:lstStyle/>
                    <a:p>
                      <a:r>
                        <a:rPr sz="700" b="1">
                          <a:solidFill>
                            <a:srgbClr val="1E6430"/>
                          </a:solidFill>
                        </a:rPr>
                        <a:t>Focus</a:t>
                      </a:r>
                    </a:p>
                  </a:txBody>
                  <a:tcPr>
                    <a:solidFill>
                      <a:srgbClr val="397FD0"/>
                    </a:solidFill>
                  </a:tcPr>
                </a:tc>
                <a:tc>
                  <a:txBody>
                    <a:bodyPr/>
                    <a:lstStyle/>
                    <a:p>
                      <a:r>
                        <a:rPr sz="700" b="1">
                          <a:solidFill>
                            <a:srgbClr val="1E6430"/>
                          </a:solidFill>
                        </a:rPr>
                        <a:t>Craft</a:t>
                      </a:r>
                    </a:p>
                  </a:txBody>
                  <a:tcPr>
                    <a:solidFill>
                      <a:srgbClr val="397FD0"/>
                    </a:solidFill>
                  </a:tcPr>
                </a:tc>
                <a:tc>
                  <a:txBody>
                    <a:bodyPr/>
                    <a:lstStyle/>
                    <a:p>
                      <a:r>
                        <a:rPr sz="700" b="1">
                          <a:solidFill>
                            <a:srgbClr val="1E6430"/>
                          </a:solidFill>
                        </a:rPr>
                        <a:t>Insight</a:t>
                      </a:r>
                    </a:p>
                  </a:txBody>
                  <a:tcPr>
                    <a:solidFill>
                      <a:srgbClr val="397FD0"/>
                    </a:solidFill>
                  </a:tcPr>
                </a:tc>
                <a:tc>
                  <a:txBody>
                    <a:bodyPr/>
                    <a:lstStyle/>
                    <a:p>
                      <a:r>
                        <a:rPr sz="700" b="1">
                          <a:solidFill>
                            <a:srgbClr val="1E6430"/>
                          </a:solidFill>
                        </a:rPr>
                        <a:t>Workflow</a:t>
                      </a:r>
                    </a:p>
                  </a:txBody>
                  <a:tcPr>
                    <a:solidFill>
                      <a:srgbClr val="397FD0"/>
                    </a:solidFill>
                  </a:tcPr>
                </a:tc>
                <a:extLst>
                  <a:ext uri="{0D108BD9-81ED-4DB2-BD59-A6C34878D82A}">
                    <a16:rowId xmlns:a16="http://schemas.microsoft.com/office/drawing/2014/main" val="10000"/>
                  </a:ext>
                </a:extLst>
              </a:tr>
              <a:tr h="211700">
                <a:tc>
                  <a:txBody>
                    <a:bodyPr/>
                    <a:lstStyle/>
                    <a:p>
                      <a:r>
                        <a:rPr sz="700" b="0">
                          <a:solidFill>
                            <a:srgbClr val="1E6430"/>
                          </a:solidFill>
                        </a:rPr>
                        <a:t>Factor Order</a:t>
                      </a:r>
                    </a:p>
                  </a:txBody>
                  <a:tcPr>
                    <a:solidFill>
                      <a:srgbClr val="EFBDBF"/>
                    </a:solidFill>
                  </a:tcPr>
                </a:tc>
                <a:tc>
                  <a:txBody>
                    <a:bodyPr/>
                    <a:lstStyle/>
                    <a:p>
                      <a:r>
                        <a:rPr sz="700" b="0">
                          <a:solidFill>
                            <a:srgbClr val="1E6430"/>
                          </a:solidFill>
                        </a:rPr>
                        <a:t>Interface Library</a:t>
                      </a:r>
                    </a:p>
                  </a:txBody>
                  <a:tcPr>
                    <a:solidFill>
                      <a:srgbClr val="EFBDBF"/>
                    </a:solidFill>
                  </a:tcPr>
                </a:tc>
                <a:tc>
                  <a:txBody>
                    <a:bodyPr/>
                    <a:lstStyle/>
                    <a:p>
                      <a:r>
                        <a:rPr sz="700" b="0">
                          <a:solidFill>
                            <a:srgbClr val="1E6430"/>
                          </a:solidFill>
                        </a:rPr>
                        <a:t>Benchmark Buffer</a:t>
                      </a:r>
                    </a:p>
                  </a:txBody>
                  <a:tcPr>
                    <a:solidFill>
                      <a:srgbClr val="EFBDBF"/>
                    </a:solidFill>
                  </a:tcPr>
                </a:tc>
                <a:tc>
                  <a:txBody>
                    <a:bodyPr/>
                    <a:lstStyle/>
                    <a:p>
                      <a:r>
                        <a:rPr sz="700" b="0">
                          <a:solidFill>
                            <a:srgbClr val="1E6430"/>
                          </a:solidFill>
                        </a:rPr>
                        <a:t>Energy Chart</a:t>
                      </a:r>
                    </a:p>
                  </a:txBody>
                  <a:tcPr>
                    <a:solidFill>
                      <a:srgbClr val="EFBDBF"/>
                    </a:solidFill>
                  </a:tcPr>
                </a:tc>
                <a:tc>
                  <a:txBody>
                    <a:bodyPr/>
                    <a:lstStyle/>
                    <a:p>
                      <a:r>
                        <a:rPr sz="700" b="0">
                          <a:solidFill>
                            <a:srgbClr val="1E6430"/>
                          </a:solidFill>
                        </a:rPr>
                        <a:t>Trace Cycle</a:t>
                      </a:r>
                    </a:p>
                  </a:txBody>
                  <a:tcPr>
                    <a:solidFill>
                      <a:srgbClr val="EFBDBF"/>
                    </a:solidFill>
                  </a:tcPr>
                </a:tc>
                <a:extLst>
                  <a:ext uri="{0D108BD9-81ED-4DB2-BD59-A6C34878D82A}">
                    <a16:rowId xmlns:a16="http://schemas.microsoft.com/office/drawing/2014/main" val="10001"/>
                  </a:ext>
                </a:extLst>
              </a:tr>
              <a:tr h="211700">
                <a:tc>
                  <a:txBody>
                    <a:bodyPr/>
                    <a:lstStyle/>
                    <a:p>
                      <a:r>
                        <a:rPr sz="700" b="0">
                          <a:solidFill>
                            <a:srgbClr val="1E6430"/>
                          </a:solidFill>
                        </a:rPr>
                        <a:t>Plan</a:t>
                      </a:r>
                    </a:p>
                  </a:txBody>
                  <a:tcPr>
                    <a:solidFill>
                      <a:srgbClr val="F9E8E9"/>
                    </a:solidFill>
                  </a:tcPr>
                </a:tc>
                <a:tc>
                  <a:txBody>
                    <a:bodyPr/>
                    <a:lstStyle/>
                    <a:p>
                      <a:r>
                        <a:rPr sz="700" b="0">
                          <a:solidFill>
                            <a:srgbClr val="1E6430"/>
                          </a:solidFill>
                        </a:rPr>
                        <a:t>Surface Proof</a:t>
                      </a:r>
                    </a:p>
                  </a:txBody>
                  <a:tcPr>
                    <a:solidFill>
                      <a:srgbClr val="EFBDBF"/>
                    </a:solidFill>
                  </a:tcPr>
                </a:tc>
                <a:tc>
                  <a:txBody>
                    <a:bodyPr/>
                    <a:lstStyle/>
                    <a:p>
                      <a:r>
                        <a:rPr sz="700" b="0">
                          <a:solidFill>
                            <a:srgbClr val="1E6430"/>
                          </a:solidFill>
                        </a:rPr>
                        <a:t>Surface Review</a:t>
                      </a:r>
                    </a:p>
                  </a:txBody>
                  <a:tcPr>
                    <a:solidFill>
                      <a:srgbClr val="F9E8E9"/>
                    </a:solidFill>
                  </a:tcPr>
                </a:tc>
                <a:tc>
                  <a:txBody>
                    <a:bodyPr/>
                    <a:lstStyle/>
                    <a:p>
                      <a:r>
                        <a:rPr sz="700" b="0">
                          <a:solidFill>
                            <a:srgbClr val="1E6430"/>
                          </a:solidFill>
                        </a:rPr>
                        <a:t>Module Network</a:t>
                      </a:r>
                    </a:p>
                  </a:txBody>
                  <a:tcPr>
                    <a:solidFill>
                      <a:srgbClr val="EFBDBF"/>
                    </a:solidFill>
                  </a:tcPr>
                </a:tc>
                <a:tc>
                  <a:txBody>
                    <a:bodyPr/>
                    <a:lstStyle/>
                    <a:p>
                      <a:r>
                        <a:rPr sz="700" b="0">
                          <a:solidFill>
                            <a:srgbClr val="1E6430"/>
                          </a:solidFill>
                        </a:rPr>
                        <a:t>Intent</a:t>
                      </a:r>
                    </a:p>
                  </a:txBody>
                  <a:tcPr>
                    <a:solidFill>
                      <a:srgbClr val="F9E8E9"/>
                    </a:solidFill>
                  </a:tcPr>
                </a:tc>
                <a:extLst>
                  <a:ext uri="{0D108BD9-81ED-4DB2-BD59-A6C34878D82A}">
                    <a16:rowId xmlns:a16="http://schemas.microsoft.com/office/drawing/2014/main" val="10002"/>
                  </a:ext>
                </a:extLst>
              </a:tr>
              <a:tr h="211700">
                <a:tc>
                  <a:txBody>
                    <a:bodyPr/>
                    <a:lstStyle/>
                    <a:p>
                      <a:r>
                        <a:rPr sz="700" b="0">
                          <a:solidFill>
                            <a:srgbClr val="1E6430"/>
                          </a:solidFill>
                        </a:rPr>
                        <a:t>Story Handle</a:t>
                      </a:r>
                    </a:p>
                  </a:txBody>
                  <a:tcPr>
                    <a:solidFill>
                      <a:srgbClr val="EFBDBF"/>
                    </a:solidFill>
                  </a:tcPr>
                </a:tc>
                <a:tc>
                  <a:txBody>
                    <a:bodyPr/>
                    <a:lstStyle/>
                    <a:p>
                      <a:r>
                        <a:rPr sz="700" b="0">
                          <a:solidFill>
                            <a:srgbClr val="1E6430"/>
                          </a:solidFill>
                        </a:rPr>
                        <a:t>Memory Channel</a:t>
                      </a:r>
                    </a:p>
                  </a:txBody>
                  <a:tcPr>
                    <a:solidFill>
                      <a:srgbClr val="EFBDBF"/>
                    </a:solidFill>
                  </a:tcPr>
                </a:tc>
                <a:tc>
                  <a:txBody>
                    <a:bodyPr/>
                    <a:lstStyle/>
                    <a:p>
                      <a:r>
                        <a:rPr sz="700" b="0">
                          <a:solidFill>
                            <a:srgbClr val="1E6430"/>
                          </a:solidFill>
                        </a:rPr>
                        <a:t>Table</a:t>
                      </a:r>
                    </a:p>
                  </a:txBody>
                  <a:tcPr>
                    <a:solidFill>
                      <a:srgbClr val="EFBDBF"/>
                    </a:solidFill>
                  </a:tcPr>
                </a:tc>
                <a:tc>
                  <a:txBody>
                    <a:bodyPr/>
                    <a:lstStyle/>
                    <a:p>
                      <a:r>
                        <a:rPr sz="700" b="0">
                          <a:solidFill>
                            <a:srgbClr val="1E6430"/>
                          </a:solidFill>
                        </a:rPr>
                        <a:t>Variant Epoch</a:t>
                      </a:r>
                    </a:p>
                  </a:txBody>
                  <a:tcPr>
                    <a:solidFill>
                      <a:srgbClr val="EFBDBF"/>
                    </a:solidFill>
                  </a:tcPr>
                </a:tc>
                <a:tc>
                  <a:txBody>
                    <a:bodyPr/>
                    <a:lstStyle/>
                    <a:p>
                      <a:r>
                        <a:rPr sz="700" b="0">
                          <a:solidFill>
                            <a:srgbClr val="1E6430"/>
                          </a:solidFill>
                        </a:rPr>
                        <a:t>Goal</a:t>
                      </a:r>
                    </a:p>
                  </a:txBody>
                  <a:tcPr>
                    <a:solidFill>
                      <a:srgbClr val="EFBDBF"/>
                    </a:solidFill>
                  </a:tcPr>
                </a:tc>
                <a:extLst>
                  <a:ext uri="{0D108BD9-81ED-4DB2-BD59-A6C34878D82A}">
                    <a16:rowId xmlns:a16="http://schemas.microsoft.com/office/drawing/2014/main" val="10003"/>
                  </a:ext>
                </a:extLst>
              </a:tr>
              <a:tr h="211700">
                <a:tc>
                  <a:txBody>
                    <a:bodyPr/>
                    <a:lstStyle/>
                    <a:p>
                      <a:r>
                        <a:rPr sz="700" b="0">
                          <a:solidFill>
                            <a:srgbClr val="1E6430"/>
                          </a:solidFill>
                        </a:rPr>
                        <a:t>Track Pipeline</a:t>
                      </a:r>
                    </a:p>
                  </a:txBody>
                  <a:tcPr>
                    <a:solidFill>
                      <a:srgbClr val="F9E8E9"/>
                    </a:solidFill>
                  </a:tcPr>
                </a:tc>
                <a:tc>
                  <a:txBody>
                    <a:bodyPr/>
                    <a:lstStyle/>
                    <a:p>
                      <a:r>
                        <a:rPr sz="700" b="0">
                          <a:solidFill>
                            <a:srgbClr val="1E6430"/>
                          </a:solidFill>
                        </a:rPr>
                        <a:t>Span Report</a:t>
                      </a:r>
                    </a:p>
                  </a:txBody>
                  <a:tcPr>
                    <a:solidFill>
                      <a:srgbClr val="EFBDBF"/>
                    </a:solidFill>
                  </a:tcPr>
                </a:tc>
                <a:tc>
                  <a:txBody>
                    <a:bodyPr/>
                    <a:lstStyle/>
                    <a:p>
                      <a:r>
                        <a:rPr sz="700" b="0">
                          <a:solidFill>
                            <a:srgbClr val="1E6430"/>
                          </a:solidFill>
                        </a:rPr>
                        <a:t>Track Point</a:t>
                      </a:r>
                    </a:p>
                  </a:txBody>
                  <a:tcPr>
                    <a:solidFill>
                      <a:srgbClr val="F9E8E9"/>
                    </a:solidFill>
                  </a:tcPr>
                </a:tc>
                <a:tc>
                  <a:txBody>
                    <a:bodyPr/>
                    <a:lstStyle/>
                    <a:p>
                      <a:r>
                        <a:rPr sz="700" b="0">
                          <a:solidFill>
                            <a:srgbClr val="1E6430"/>
                          </a:solidFill>
                        </a:rPr>
                        <a:t>Trend</a:t>
                      </a:r>
                    </a:p>
                  </a:txBody>
                  <a:tcPr>
                    <a:solidFill>
                      <a:srgbClr val="EFBDBF"/>
                    </a:solidFill>
                  </a:tcPr>
                </a:tc>
                <a:tc>
                  <a:txBody>
                    <a:bodyPr/>
                    <a:lstStyle/>
                    <a:p>
                      <a:r>
                        <a:rPr sz="700" b="0">
                          <a:solidFill>
                            <a:srgbClr val="1E6430"/>
                          </a:solidFill>
                        </a:rPr>
                        <a:t>Option</a:t>
                      </a:r>
                    </a:p>
                  </a:txBody>
                  <a:tcPr>
                    <a:solidFill>
                      <a:srgbClr val="F9E8E9"/>
                    </a:solidFill>
                  </a:tcPr>
                </a:tc>
                <a:extLst>
                  <a:ext uri="{0D108BD9-81ED-4DB2-BD59-A6C34878D82A}">
                    <a16:rowId xmlns:a16="http://schemas.microsoft.com/office/drawing/2014/main" val="10004"/>
                  </a:ext>
                </a:extLst>
              </a:tr>
              <a:tr h="211703">
                <a:tc>
                  <a:txBody>
                    <a:bodyPr/>
                    <a:lstStyle/>
                    <a:p>
                      <a:r>
                        <a:rPr sz="700" b="0">
                          <a:solidFill>
                            <a:srgbClr val="1E6430"/>
                          </a:solidFill>
                        </a:rPr>
                        <a:t>State</a:t>
                      </a:r>
                    </a:p>
                  </a:txBody>
                  <a:tcPr>
                    <a:solidFill>
                      <a:srgbClr val="EFBDBF"/>
                    </a:solidFill>
                  </a:tcPr>
                </a:tc>
                <a:tc>
                  <a:txBody>
                    <a:bodyPr/>
                    <a:lstStyle/>
                    <a:p>
                      <a:r>
                        <a:rPr sz="700" b="0">
                          <a:solidFill>
                            <a:srgbClr val="1E6430"/>
                          </a:solidFill>
                        </a:rPr>
                        <a:t>Node Estimate</a:t>
                      </a:r>
                    </a:p>
                  </a:txBody>
                  <a:tcPr>
                    <a:solidFill>
                      <a:srgbClr val="EFBDBF"/>
                    </a:solidFill>
                  </a:tcPr>
                </a:tc>
                <a:tc>
                  <a:txBody>
                    <a:bodyPr/>
                    <a:lstStyle/>
                    <a:p>
                      <a:r>
                        <a:rPr sz="700" b="0">
                          <a:solidFill>
                            <a:srgbClr val="1E6430"/>
                          </a:solidFill>
                        </a:rPr>
                        <a:t>Limit</a:t>
                      </a:r>
                    </a:p>
                  </a:txBody>
                  <a:tcPr>
                    <a:solidFill>
                      <a:srgbClr val="EFBDBF"/>
                    </a:solidFill>
                  </a:tcPr>
                </a:tc>
                <a:tc>
                  <a:txBody>
                    <a:bodyPr/>
                    <a:lstStyle/>
                    <a:p>
                      <a:r>
                        <a:rPr sz="700" b="0">
                          <a:solidFill>
                            <a:srgbClr val="1E6430"/>
                          </a:solidFill>
                        </a:rPr>
                        <a:t>Ledger</a:t>
                      </a:r>
                    </a:p>
                  </a:txBody>
                  <a:tcPr>
                    <a:solidFill>
                      <a:srgbClr val="EFBDBF"/>
                    </a:solidFill>
                  </a:tcPr>
                </a:tc>
                <a:tc>
                  <a:txBody>
                    <a:bodyPr/>
                    <a:lstStyle/>
                    <a:p>
                      <a:r>
                        <a:rPr sz="700" b="0">
                          <a:solidFill>
                            <a:srgbClr val="1E6430"/>
                          </a:solidFill>
                        </a:rPr>
                        <a:t>Plan</a:t>
                      </a:r>
                    </a:p>
                  </a:txBody>
                  <a:tcPr>
                    <a:solidFill>
                      <a:srgbClr val="EFBDBF"/>
                    </a:solidFill>
                  </a:tcPr>
                </a:tc>
                <a:extLst>
                  <a:ext uri="{0D108BD9-81ED-4DB2-BD59-A6C34878D82A}">
                    <a16:rowId xmlns:a16="http://schemas.microsoft.com/office/drawing/2014/main" val="10005"/>
                  </a:ext>
                </a:extLst>
              </a:tr>
            </a:tbl>
          </a:graphicData>
        </a:graphic>
      </p:graphicFrame>
      <p:sp>
        <p:nvSpPr>
          <p:cNvPr id="15" name="TextBox 14"/>
          <p:cNvSpPr txBox="1"/>
          <p:nvPr/>
        </p:nvSpPr>
        <p:spPr>
          <a:xfrm>
            <a:off x="8138765" y="2560225"/>
            <a:ext cx="2412829" cy="1606684"/>
          </a:xfrm>
          <a:prstGeom prst="rect">
            <a:avLst/>
          </a:prstGeom>
          <a:noFill/>
        </p:spPr>
        <p:txBody>
          <a:bodyPr wrap="none" lIns="79448" tIns="79448" rIns="79448" bIns="79448">
            <a:spAutoFit/>
          </a:bodyPr>
          <a:lstStyle/>
          <a:p>
            <a:r>
              <a:rPr sz="1500" b="0" i="1" u="none">
                <a:solidFill>
                  <a:srgbClr val="495E74"/>
                </a:solidFill>
                <a:latin typeface="Arial"/>
              </a:rPr>
              <a:t>Result Drive Trigger Entity Drive Profile Token Template Radius Reference Target Texture Threshold Indicator Reserve Apex Order Flow Dispatch Relay Checkpoint Anchor Direction</a:t>
            </a:r>
          </a:p>
        </p:txBody>
      </p:sp>
      <p:sp>
        <p:nvSpPr>
          <p:cNvPr id="16" name="TextBox 15"/>
          <p:cNvSpPr txBox="1"/>
          <p:nvPr/>
        </p:nvSpPr>
        <p:spPr>
          <a:xfrm>
            <a:off x="7915162" y="565316"/>
            <a:ext cx="3791776" cy="924757"/>
          </a:xfrm>
          <a:prstGeom prst="rect">
            <a:avLst/>
          </a:prstGeom>
          <a:noFill/>
        </p:spPr>
        <p:txBody>
          <a:bodyPr wrap="none" lIns="22476" tIns="22476" rIns="22476" bIns="22476">
            <a:spAutoFit/>
          </a:bodyPr>
          <a:lstStyle/>
          <a:p>
            <a:r>
              <a:rPr sz="1400" b="0" i="1" u="sng">
                <a:solidFill>
                  <a:srgbClr val="36309D"/>
                </a:solidFill>
                <a:latin typeface="Calibri"/>
              </a:rPr>
              <a:t>System</a:t>
            </a:r>
          </a:p>
        </p:txBody>
      </p:sp>
      <p:sp>
        <p:nvSpPr>
          <p:cNvPr id="17" name="Rectangular Callout 16"/>
          <p:cNvSpPr/>
          <p:nvPr/>
        </p:nvSpPr>
        <p:spPr>
          <a:xfrm>
            <a:off x="9700403" y="4452037"/>
            <a:ext cx="736675" cy="524137"/>
          </a:xfrm>
          <a:prstGeom prst="wedgeRectCallout">
            <a:avLst/>
          </a:prstGeom>
          <a:solidFill>
            <a:srgbClr val="4A21AE"/>
          </a:solidFill>
          <a:ln w="9614">
            <a:solidFill>
              <a:srgbClr val="4C4FA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_example_image.jpg"/>
          <p:cNvPicPr>
            <a:picLocks noChangeAspect="1"/>
          </p:cNvPicPr>
          <p:nvPr/>
        </p:nvPicPr>
        <p:blipFill>
          <a:blip r:embed="rId2"/>
          <a:srcRect/>
          <a:stretch>
            <a:fillRect/>
          </a:stretch>
        </p:blipFill>
        <p:spPr>
          <a:xfrm>
            <a:off x="2836148" y="182856"/>
            <a:ext cx="2448386" cy="805504"/>
          </a:xfrm>
          <a:prstGeom prst="rect">
            <a:avLst/>
          </a:prstGeom>
        </p:spPr>
      </p:pic>
      <p:graphicFrame>
        <p:nvGraphicFramePr>
          <p:cNvPr id="19" name="Chart 18"/>
          <p:cNvGraphicFramePr>
            <a:graphicFrameLocks noGrp="1"/>
          </p:cNvGraphicFramePr>
          <p:nvPr/>
        </p:nvGraphicFramePr>
        <p:xfrm>
          <a:off x="2818869" y="3099083"/>
          <a:ext cx="3255101" cy="1580079"/>
        </p:xfrm>
        <a:graphic>
          <a:graphicData uri="http://schemas.openxmlformats.org/drawingml/2006/chart">
            <c:chart xmlns:c="http://schemas.openxmlformats.org/drawingml/2006/chart" xmlns:r="http://schemas.openxmlformats.org/officeDocument/2006/relationships" r:id="rId4"/>
          </a:graphicData>
        </a:graphic>
      </p:graphicFrame>
      <p:cxnSp>
        <p:nvCxnSpPr>
          <p:cNvPr id="20" name="Connector 19"/>
          <p:cNvCxnSpPr/>
          <p:nvPr/>
        </p:nvCxnSpPr>
        <p:spPr>
          <a:xfrm flipV="1">
            <a:off x="2151542" y="2614085"/>
            <a:ext cx="766756" cy="751559"/>
          </a:xfrm>
          <a:prstGeom prst="bentConnector3">
            <a:avLst/>
          </a:prstGeom>
          <a:ln w="43641">
            <a:solidFill>
              <a:srgbClr val="A3E2B9"/>
            </a:solidFill>
            <a:prstDash val="lg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87313" y="2312312"/>
            <a:ext cx="1113666" cy="1791741"/>
          </a:xfrm>
          <a:prstGeom prst="rect">
            <a:avLst/>
          </a:prstGeom>
          <a:noFill/>
        </p:spPr>
        <p:txBody>
          <a:bodyPr wrap="none" lIns="85531" tIns="85531" rIns="85531" bIns="85531">
            <a:spAutoFit/>
          </a:bodyPr>
          <a:lstStyle/>
          <a:p>
            <a:r>
              <a:rPr sz="2900" b="0" i="0" u="none">
                <a:solidFill>
                  <a:srgbClr val="47C2D9"/>
                </a:solidFill>
                <a:latin typeface="Verdana"/>
              </a:rPr>
              <a:t>Sequence Factor Resource Entity Result Focus Command Group Archive Account</a:t>
            </a:r>
          </a:p>
        </p:txBody>
      </p:sp>
      <p:sp>
        <p:nvSpPr>
          <p:cNvPr id="22" name="Freeform 21"/>
          <p:cNvSpPr/>
          <p:nvPr/>
        </p:nvSpPr>
        <p:spPr>
          <a:xfrm>
            <a:off x="2529568" y="4727417"/>
            <a:ext cx="1396041" cy="595792"/>
          </a:xfrm>
          <a:custGeom>
            <a:avLst/>
            <a:gdLst/>
            <a:ahLst/>
            <a:cxnLst/>
            <a:rect l="l" t="t" r="r" b="b"/>
            <a:pathLst>
              <a:path w="1396041" h="595792">
                <a:moveTo>
                  <a:pt x="150112" y="101411"/>
                </a:moveTo>
                <a:lnTo>
                  <a:pt x="495369" y="0"/>
                </a:lnTo>
                <a:lnTo>
                  <a:pt x="1020761" y="50705"/>
                </a:lnTo>
                <a:lnTo>
                  <a:pt x="1396041" y="240852"/>
                </a:lnTo>
                <a:lnTo>
                  <a:pt x="1200896" y="494380"/>
                </a:lnTo>
                <a:lnTo>
                  <a:pt x="645481" y="595792"/>
                </a:lnTo>
                <a:lnTo>
                  <a:pt x="90067" y="430998"/>
                </a:lnTo>
                <a:lnTo>
                  <a:pt x="0" y="215499"/>
                </a:lnTo>
                <a:close/>
              </a:path>
            </a:pathLst>
          </a:custGeom>
          <a:solidFill>
            <a:srgbClr val="D6D4A9"/>
          </a:solidFill>
          <a:ln w="12131">
            <a:solidFill>
              <a:srgbClr val="306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501386" y="1718569"/>
            <a:ext cx="472552" cy="1703746"/>
          </a:xfrm>
          <a:prstGeom prst="rect">
            <a:avLst/>
          </a:prstGeom>
          <a:solidFill>
            <a:srgbClr val="96B149"/>
          </a:solidFill>
        </p:spPr>
        <p:txBody>
          <a:bodyPr wrap="none" lIns="41230" tIns="41230" rIns="41230" bIns="41230">
            <a:spAutoFit/>
          </a:bodyPr>
          <a:lstStyle/>
          <a:p>
            <a:r>
              <a:rPr sz="1800" b="1" i="0" u="none">
                <a:solidFill>
                  <a:srgbClr val="34AAA1"/>
                </a:solidFill>
                <a:latin typeface="Aptos"/>
              </a:rPr>
              <a:t>Topology Edge Pixel Viewport Group Access Analysis Flow Volume Element Column Anchor Summary Surface Foundation Pipeline Lens Array Path Depth Depth Map Milestone Expansion Option Order Cluster Balance Timeline Metric Pulse Scale Proof Result Segment North Point Interface Mesh Register Texture Station</a:t>
            </a:r>
          </a:p>
        </p:txBody>
      </p:sp>
      <p:sp>
        <p:nvSpPr>
          <p:cNvPr id="24" name="TextBox 23"/>
          <p:cNvSpPr txBox="1"/>
          <p:nvPr/>
        </p:nvSpPr>
        <p:spPr>
          <a:xfrm>
            <a:off x="4177294" y="1480537"/>
            <a:ext cx="1053419" cy="2522140"/>
          </a:xfrm>
          <a:prstGeom prst="rect">
            <a:avLst/>
          </a:prstGeom>
          <a:noFill/>
        </p:spPr>
        <p:txBody>
          <a:bodyPr wrap="none" lIns="85026" tIns="85026" rIns="85026" bIns="85026">
            <a:spAutoFit/>
          </a:bodyPr>
          <a:lstStyle/>
          <a:p>
            <a:r>
              <a:rPr sz="700" b="1" i="0" u="none">
                <a:solidFill>
                  <a:srgbClr val="6AD86E"/>
                </a:solidFill>
                <a:latin typeface="Verdana"/>
              </a:rPr>
              <a:t>Schema Payload Panel Cadence Window Channel Datum Field Proof Library</a:t>
            </a:r>
          </a:p>
        </p:txBody>
      </p:sp>
      <p:cxnSp>
        <p:nvCxnSpPr>
          <p:cNvPr id="25" name="Connector 24"/>
          <p:cNvCxnSpPr/>
          <p:nvPr/>
        </p:nvCxnSpPr>
        <p:spPr>
          <a:xfrm flipV="1">
            <a:off x="1477281" y="3799186"/>
            <a:ext cx="2784348" cy="601683"/>
          </a:xfrm>
          <a:prstGeom prst="bentConnector3">
            <a:avLst/>
          </a:prstGeom>
          <a:ln w="13032">
            <a:solidFill>
              <a:srgbClr val="D15071"/>
            </a:solidFill>
            <a:prstDash val="lgDash"/>
          </a:ln>
        </p:spPr>
        <p:style>
          <a:lnRef idx="2">
            <a:schemeClr val="accent1"/>
          </a:lnRef>
          <a:fillRef idx="0">
            <a:schemeClr val="accent1"/>
          </a:fillRef>
          <a:effectRef idx="1">
            <a:schemeClr val="accent1"/>
          </a:effectRef>
          <a:fontRef idx="minor">
            <a:schemeClr val="tx1"/>
          </a:fontRef>
        </p:style>
      </p:cxnSp>
      <p:sp>
        <p:nvSpPr>
          <p:cNvPr id="26" name="Right Triangle 25"/>
          <p:cNvSpPr/>
          <p:nvPr/>
        </p:nvSpPr>
        <p:spPr>
          <a:xfrm>
            <a:off x="3567582" y="5505614"/>
            <a:ext cx="2026332" cy="738117"/>
          </a:xfrm>
          <a:prstGeom prst="rtTriangle">
            <a:avLst/>
          </a:prstGeom>
          <a:solidFill>
            <a:srgbClr val="3721D8"/>
          </a:solidFill>
          <a:ln w="27564">
            <a:solidFill>
              <a:srgbClr val="B6B1C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Curved Down Ribbon 26"/>
          <p:cNvSpPr/>
          <p:nvPr/>
        </p:nvSpPr>
        <p:spPr>
          <a:xfrm>
            <a:off x="8105176" y="4694187"/>
            <a:ext cx="674704" cy="1111436"/>
          </a:xfrm>
          <a:prstGeom prst="ellipseRibbon">
            <a:avLst/>
          </a:prstGeom>
          <a:solidFill>
            <a:srgbClr val="236C30"/>
          </a:solidFill>
          <a:ln w="22110">
            <a:solidFill>
              <a:srgbClr val="BD3B4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704D4716-0C72-D1A0-15CA-A200B60E16C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7390911" y="3998437"/>
            <a:ext cx="1019410" cy="1232236"/>
          </a:xfrm>
          <a:prstGeom prst="rect">
            <a:avLst/>
          </a:prstGeom>
        </p:spPr>
      </p:pic>
      <p:pic>
        <p:nvPicPr>
          <p:cNvPr id="31" name="Graphic 30">
            <a:extLst>
              <a:ext uri="{FF2B5EF4-FFF2-40B4-BE49-F238E27FC236}">
                <a16:creationId xmlns:a16="http://schemas.microsoft.com/office/drawing/2014/main" id="{DBDA0C80-5B14-7448-782B-54BF9E51F60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0177704" y="2048165"/>
            <a:ext cx="1558439" cy="790656"/>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2183131" y="5821648"/>
            <a:ext cx="1724056" cy="768348"/>
          </a:xfrm>
          <a:custGeom>
            <a:avLst/>
            <a:gdLst/>
            <a:ahLst/>
            <a:cxnLst/>
            <a:rect l="l" t="t" r="r" b="b"/>
            <a:pathLst>
              <a:path w="1724056" h="768348">
                <a:moveTo>
                  <a:pt x="0" y="373503"/>
                </a:moveTo>
                <a:lnTo>
                  <a:pt x="296612" y="0"/>
                </a:lnTo>
                <a:lnTo>
                  <a:pt x="611762" y="320145"/>
                </a:lnTo>
                <a:lnTo>
                  <a:pt x="926912" y="640290"/>
                </a:lnTo>
                <a:lnTo>
                  <a:pt x="1260600" y="266787"/>
                </a:lnTo>
                <a:lnTo>
                  <a:pt x="1724056" y="405517"/>
                </a:lnTo>
                <a:lnTo>
                  <a:pt x="1724056" y="768348"/>
                </a:lnTo>
                <a:lnTo>
                  <a:pt x="0" y="768348"/>
                </a:lnTo>
                <a:close/>
              </a:path>
            </a:pathLst>
          </a:custGeom>
          <a:solidFill>
            <a:srgbClr val="A8409B"/>
          </a:solidFill>
          <a:ln w="15863">
            <a:solidFill>
              <a:srgbClr val="88C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ctagon 2"/>
          <p:cNvSpPr/>
          <p:nvPr/>
        </p:nvSpPr>
        <p:spPr>
          <a:xfrm>
            <a:off x="10293273" y="2499256"/>
            <a:ext cx="1404404" cy="1858321"/>
          </a:xfrm>
          <a:prstGeom prst="octagon">
            <a:avLst/>
          </a:prstGeom>
          <a:solidFill>
            <a:srgbClr val="A23D1F"/>
          </a:solidFill>
          <a:ln w="10603">
            <a:solidFill>
              <a:srgbClr val="9FD25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25770" y="3517372"/>
            <a:ext cx="3362848" cy="1518865"/>
          </a:xfrm>
          <a:prstGeom prst="rect">
            <a:avLst/>
          </a:prstGeom>
          <a:noFill/>
        </p:spPr>
        <p:txBody>
          <a:bodyPr wrap="none" lIns="53806" tIns="53806" rIns="53806" bIns="53806">
            <a:spAutoFit/>
          </a:bodyPr>
          <a:lstStyle/>
          <a:p>
            <a:r>
              <a:rPr sz="900" b="0" i="0" u="sng">
                <a:solidFill>
                  <a:srgbClr val="74CF35"/>
                </a:solidFill>
                <a:latin typeface="Arial"/>
              </a:rPr>
              <a:t>Analysis Drive Chart Tile Build Edge Account Terminal</a:t>
            </a:r>
          </a:p>
        </p:txBody>
      </p:sp>
      <p:sp>
        <p:nvSpPr>
          <p:cNvPr id="5" name="Cloud Callout 4"/>
          <p:cNvSpPr/>
          <p:nvPr/>
        </p:nvSpPr>
        <p:spPr>
          <a:xfrm>
            <a:off x="9350705" y="5787484"/>
            <a:ext cx="832073" cy="714994"/>
          </a:xfrm>
          <a:prstGeom prst="cloudCallout">
            <a:avLst/>
          </a:prstGeom>
          <a:solidFill>
            <a:srgbClr val="8A2498"/>
          </a:solidFill>
          <a:ln w="29093">
            <a:solidFill>
              <a:srgbClr val="AAABE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_example_image.jpg"/>
          <p:cNvPicPr>
            <a:picLocks noChangeAspect="1"/>
          </p:cNvPicPr>
          <p:nvPr/>
        </p:nvPicPr>
        <p:blipFill>
          <a:blip r:embed="rId2"/>
          <a:srcRect/>
          <a:stretch>
            <a:fillRect/>
          </a:stretch>
        </p:blipFill>
        <p:spPr>
          <a:xfrm>
            <a:off x="716855" y="1080201"/>
            <a:ext cx="1160952" cy="1588675"/>
          </a:xfrm>
          <a:prstGeom prst="rect">
            <a:avLst/>
          </a:prstGeom>
        </p:spPr>
      </p:pic>
      <p:sp>
        <p:nvSpPr>
          <p:cNvPr id="7" name="Rectangle 6"/>
          <p:cNvSpPr/>
          <p:nvPr/>
        </p:nvSpPr>
        <p:spPr>
          <a:xfrm>
            <a:off x="4766473" y="4628231"/>
            <a:ext cx="521418" cy="246626"/>
          </a:xfrm>
          <a:prstGeom prst="rect">
            <a:avLst/>
          </a:prstGeom>
          <a:solidFill>
            <a:srgbClr val="945A80"/>
          </a:solidFill>
          <a:ln w="28951">
            <a:solidFill>
              <a:srgbClr val="2E785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4022598" y="4178470"/>
          <a:ext cx="2150279" cy="1602475"/>
        </p:xfrm>
        <a:graphic>
          <a:graphicData uri="http://schemas.openxmlformats.org/drawingml/2006/chart">
            <c:chart xmlns:c="http://schemas.openxmlformats.org/drawingml/2006/chart" xmlns:r="http://schemas.openxmlformats.org/officeDocument/2006/relationships" r:id="rId3"/>
          </a:graphicData>
        </a:graphic>
      </p:graphicFrame>
      <p:sp>
        <p:nvSpPr>
          <p:cNvPr id="9" name="Freeform 8"/>
          <p:cNvSpPr/>
          <p:nvPr/>
        </p:nvSpPr>
        <p:spPr>
          <a:xfrm>
            <a:off x="7034614" y="2617630"/>
            <a:ext cx="1058382" cy="953143"/>
          </a:xfrm>
          <a:custGeom>
            <a:avLst/>
            <a:gdLst/>
            <a:ahLst/>
            <a:cxnLst/>
            <a:rect l="l" t="t" r="r" b="b"/>
            <a:pathLst>
              <a:path w="1058382" h="953143">
                <a:moveTo>
                  <a:pt x="529191" y="0"/>
                </a:moveTo>
                <a:lnTo>
                  <a:pt x="661489" y="238286"/>
                </a:lnTo>
                <a:lnTo>
                  <a:pt x="992233" y="171566"/>
                </a:lnTo>
                <a:lnTo>
                  <a:pt x="804812" y="476572"/>
                </a:lnTo>
                <a:lnTo>
                  <a:pt x="1058382" y="743452"/>
                </a:lnTo>
                <a:lnTo>
                  <a:pt x="661489" y="686263"/>
                </a:lnTo>
                <a:lnTo>
                  <a:pt x="529191" y="953143"/>
                </a:lnTo>
                <a:lnTo>
                  <a:pt x="396894" y="686263"/>
                </a:lnTo>
                <a:lnTo>
                  <a:pt x="0" y="743452"/>
                </a:lnTo>
                <a:lnTo>
                  <a:pt x="253571" y="476572"/>
                </a:lnTo>
                <a:lnTo>
                  <a:pt x="66149" y="171566"/>
                </a:lnTo>
                <a:lnTo>
                  <a:pt x="396894" y="238286"/>
                </a:lnTo>
                <a:close/>
              </a:path>
            </a:pathLst>
          </a:custGeom>
          <a:solidFill>
            <a:srgbClr val="DF99C1"/>
          </a:solidFill>
          <a:ln w="19651">
            <a:solidFill>
              <a:srgbClr val="8D6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p:cNvGraphicFramePr>
            <a:graphicFrameLocks noGrp="1"/>
          </p:cNvGraphicFramePr>
          <p:nvPr/>
        </p:nvGraphicFramePr>
        <p:xfrm>
          <a:off x="4517978" y="2646992"/>
          <a:ext cx="2770344" cy="934484"/>
        </p:xfrm>
        <a:graphic>
          <a:graphicData uri="http://schemas.openxmlformats.org/drawingml/2006/table">
            <a:tbl>
              <a:tblPr firstRow="1" bandRow="1">
                <a:tableStyleId>{5C22544A-7EE6-4342-B048-85BDC9FD1C3A}</a:tableStyleId>
              </a:tblPr>
              <a:tblGrid>
                <a:gridCol w="1385172">
                  <a:extLst>
                    <a:ext uri="{9D8B030D-6E8A-4147-A177-3AD203B41FA5}">
                      <a16:colId xmlns:a16="http://schemas.microsoft.com/office/drawing/2014/main" val="20000"/>
                    </a:ext>
                  </a:extLst>
                </a:gridCol>
                <a:gridCol w="1385172">
                  <a:extLst>
                    <a:ext uri="{9D8B030D-6E8A-4147-A177-3AD203B41FA5}">
                      <a16:colId xmlns:a16="http://schemas.microsoft.com/office/drawing/2014/main" val="20001"/>
                    </a:ext>
                  </a:extLst>
                </a:gridCol>
              </a:tblGrid>
              <a:tr h="133497">
                <a:tc>
                  <a:txBody>
                    <a:bodyPr/>
                    <a:lstStyle/>
                    <a:p>
                      <a:r>
                        <a:rPr sz="1200" b="1">
                          <a:solidFill>
                            <a:srgbClr val="C34ABE"/>
                          </a:solidFill>
                        </a:rPr>
                        <a:t>Logic Deployment</a:t>
                      </a:r>
                    </a:p>
                  </a:txBody>
                  <a:tcPr>
                    <a:solidFill>
                      <a:srgbClr val="994B5F"/>
                    </a:solidFill>
                  </a:tcPr>
                </a:tc>
                <a:tc>
                  <a:txBody>
                    <a:bodyPr/>
                    <a:lstStyle/>
                    <a:p>
                      <a:r>
                        <a:rPr sz="1200" b="1">
                          <a:solidFill>
                            <a:srgbClr val="C34ABE"/>
                          </a:solidFill>
                        </a:rPr>
                        <a:t>Track</a:t>
                      </a:r>
                    </a:p>
                  </a:txBody>
                  <a:tcPr>
                    <a:solidFill>
                      <a:srgbClr val="994B5F"/>
                    </a:solidFill>
                  </a:tcPr>
                </a:tc>
                <a:extLst>
                  <a:ext uri="{0D108BD9-81ED-4DB2-BD59-A6C34878D82A}">
                    <a16:rowId xmlns:a16="http://schemas.microsoft.com/office/drawing/2014/main" val="10000"/>
                  </a:ext>
                </a:extLst>
              </a:tr>
              <a:tr h="133497">
                <a:tc>
                  <a:txBody>
                    <a:bodyPr/>
                    <a:lstStyle/>
                    <a:p>
                      <a:r>
                        <a:rPr sz="1200" b="0">
                          <a:solidFill>
                            <a:srgbClr val="C34ABE"/>
                          </a:solidFill>
                        </a:rPr>
                        <a:t>Rhythm</a:t>
                      </a:r>
                    </a:p>
                  </a:txBody>
                  <a:tcPr>
                    <a:solidFill>
                      <a:srgbClr val="F0D1E5"/>
                    </a:solidFill>
                  </a:tcPr>
                </a:tc>
                <a:tc>
                  <a:txBody>
                    <a:bodyPr/>
                    <a:lstStyle/>
                    <a:p>
                      <a:r>
                        <a:rPr sz="1200" b="0">
                          <a:solidFill>
                            <a:srgbClr val="C34ABE"/>
                          </a:solidFill>
                        </a:rPr>
                        <a:t>Build</a:t>
                      </a:r>
                    </a:p>
                  </a:txBody>
                  <a:tcPr>
                    <a:solidFill>
                      <a:srgbClr val="F0D1E5"/>
                    </a:solidFill>
                  </a:tcPr>
                </a:tc>
                <a:extLst>
                  <a:ext uri="{0D108BD9-81ED-4DB2-BD59-A6C34878D82A}">
                    <a16:rowId xmlns:a16="http://schemas.microsoft.com/office/drawing/2014/main" val="10001"/>
                  </a:ext>
                </a:extLst>
              </a:tr>
              <a:tr h="133497">
                <a:tc>
                  <a:txBody>
                    <a:bodyPr/>
                    <a:lstStyle/>
                    <a:p>
                      <a:r>
                        <a:rPr sz="1200" b="0">
                          <a:solidFill>
                            <a:srgbClr val="C34ABE"/>
                          </a:solidFill>
                        </a:rPr>
                        <a:t>Vector Template</a:t>
                      </a:r>
                    </a:p>
                  </a:txBody>
                  <a:tcPr>
                    <a:solidFill>
                      <a:srgbClr val="F0D1E5"/>
                    </a:solidFill>
                  </a:tcPr>
                </a:tc>
                <a:tc>
                  <a:txBody>
                    <a:bodyPr/>
                    <a:lstStyle/>
                    <a:p>
                      <a:r>
                        <a:rPr sz="1200" b="0">
                          <a:solidFill>
                            <a:srgbClr val="C34ABE"/>
                          </a:solidFill>
                        </a:rPr>
                        <a:t>Trace</a:t>
                      </a:r>
                    </a:p>
                  </a:txBody>
                  <a:tcPr>
                    <a:solidFill>
                      <a:srgbClr val="F0D1E5"/>
                    </a:solidFill>
                  </a:tcPr>
                </a:tc>
                <a:extLst>
                  <a:ext uri="{0D108BD9-81ED-4DB2-BD59-A6C34878D82A}">
                    <a16:rowId xmlns:a16="http://schemas.microsoft.com/office/drawing/2014/main" val="10002"/>
                  </a:ext>
                </a:extLst>
              </a:tr>
              <a:tr h="133497">
                <a:tc>
                  <a:txBody>
                    <a:bodyPr/>
                    <a:lstStyle/>
                    <a:p>
                      <a:r>
                        <a:rPr sz="1200" b="0">
                          <a:solidFill>
                            <a:srgbClr val="C34ABE"/>
                          </a:solidFill>
                        </a:rPr>
                        <a:t>Runtime</a:t>
                      </a:r>
                    </a:p>
                  </a:txBody>
                  <a:tcPr>
                    <a:solidFill>
                      <a:srgbClr val="F0D1E5"/>
                    </a:solidFill>
                  </a:tcPr>
                </a:tc>
                <a:tc>
                  <a:txBody>
                    <a:bodyPr/>
                    <a:lstStyle/>
                    <a:p>
                      <a:r>
                        <a:rPr sz="1200" b="0">
                          <a:solidFill>
                            <a:srgbClr val="C34ABE"/>
                          </a:solidFill>
                        </a:rPr>
                        <a:t>Dashboard</a:t>
                      </a:r>
                    </a:p>
                  </a:txBody>
                  <a:tcPr>
                    <a:solidFill>
                      <a:srgbClr val="F0D1E5"/>
                    </a:solidFill>
                  </a:tcPr>
                </a:tc>
                <a:extLst>
                  <a:ext uri="{0D108BD9-81ED-4DB2-BD59-A6C34878D82A}">
                    <a16:rowId xmlns:a16="http://schemas.microsoft.com/office/drawing/2014/main" val="10003"/>
                  </a:ext>
                </a:extLst>
              </a:tr>
              <a:tr h="133497">
                <a:tc>
                  <a:txBody>
                    <a:bodyPr/>
                    <a:lstStyle/>
                    <a:p>
                      <a:r>
                        <a:rPr sz="1200" b="0">
                          <a:solidFill>
                            <a:srgbClr val="C34ABE"/>
                          </a:solidFill>
                        </a:rPr>
                        <a:t>Account</a:t>
                      </a:r>
                    </a:p>
                  </a:txBody>
                  <a:tcPr>
                    <a:solidFill>
                      <a:srgbClr val="F0D1E5"/>
                    </a:solidFill>
                  </a:tcPr>
                </a:tc>
                <a:tc>
                  <a:txBody>
                    <a:bodyPr/>
                    <a:lstStyle/>
                    <a:p>
                      <a:r>
                        <a:rPr sz="1200" b="0">
                          <a:solidFill>
                            <a:srgbClr val="C34ABE"/>
                          </a:solidFill>
                        </a:rPr>
                        <a:t>Array</a:t>
                      </a:r>
                    </a:p>
                  </a:txBody>
                  <a:tcPr>
                    <a:solidFill>
                      <a:srgbClr val="F0D1E5"/>
                    </a:solidFill>
                  </a:tcPr>
                </a:tc>
                <a:extLst>
                  <a:ext uri="{0D108BD9-81ED-4DB2-BD59-A6C34878D82A}">
                    <a16:rowId xmlns:a16="http://schemas.microsoft.com/office/drawing/2014/main" val="10004"/>
                  </a:ext>
                </a:extLst>
              </a:tr>
              <a:tr h="133497">
                <a:tc>
                  <a:txBody>
                    <a:bodyPr/>
                    <a:lstStyle/>
                    <a:p>
                      <a:r>
                        <a:rPr sz="1200" b="0">
                          <a:solidFill>
                            <a:srgbClr val="C34ABE"/>
                          </a:solidFill>
                        </a:rPr>
                        <a:t>Method</a:t>
                      </a:r>
                    </a:p>
                  </a:txBody>
                  <a:tcPr>
                    <a:solidFill>
                      <a:srgbClr val="F0D1E5"/>
                    </a:solidFill>
                  </a:tcPr>
                </a:tc>
                <a:tc>
                  <a:txBody>
                    <a:bodyPr/>
                    <a:lstStyle/>
                    <a:p>
                      <a:r>
                        <a:rPr sz="1200" b="0">
                          <a:solidFill>
                            <a:srgbClr val="C34ABE"/>
                          </a:solidFill>
                        </a:rPr>
                        <a:t>Resource</a:t>
                      </a:r>
                    </a:p>
                  </a:txBody>
                  <a:tcPr>
                    <a:solidFill>
                      <a:srgbClr val="F0D1E5"/>
                    </a:solidFill>
                  </a:tcPr>
                </a:tc>
                <a:extLst>
                  <a:ext uri="{0D108BD9-81ED-4DB2-BD59-A6C34878D82A}">
                    <a16:rowId xmlns:a16="http://schemas.microsoft.com/office/drawing/2014/main" val="10005"/>
                  </a:ext>
                </a:extLst>
              </a:tr>
              <a:tr h="133502">
                <a:tc>
                  <a:txBody>
                    <a:bodyPr/>
                    <a:lstStyle/>
                    <a:p>
                      <a:r>
                        <a:rPr sz="1200" b="0">
                          <a:solidFill>
                            <a:srgbClr val="C34ABE"/>
                          </a:solidFill>
                        </a:rPr>
                        <a:t>Delta Buffer</a:t>
                      </a:r>
                    </a:p>
                  </a:txBody>
                  <a:tcPr>
                    <a:solidFill>
                      <a:srgbClr val="F0D1E5"/>
                    </a:solidFill>
                  </a:tcPr>
                </a:tc>
                <a:tc>
                  <a:txBody>
                    <a:bodyPr/>
                    <a:lstStyle/>
                    <a:p>
                      <a:r>
                        <a:rPr sz="1200" b="0">
                          <a:solidFill>
                            <a:srgbClr val="C34ABE"/>
                          </a:solidFill>
                        </a:rPr>
                        <a:t>Vector Foundation</a:t>
                      </a:r>
                    </a:p>
                  </a:txBody>
                  <a:tcPr>
                    <a:solidFill>
                      <a:srgbClr val="F0D1E5"/>
                    </a:solidFill>
                  </a:tcPr>
                </a:tc>
                <a:extLst>
                  <a:ext uri="{0D108BD9-81ED-4DB2-BD59-A6C34878D82A}">
                    <a16:rowId xmlns:a16="http://schemas.microsoft.com/office/drawing/2014/main" val="10006"/>
                  </a:ext>
                </a:extLst>
              </a:tr>
            </a:tbl>
          </a:graphicData>
        </a:graphic>
      </p:graphicFrame>
      <p:cxnSp>
        <p:nvCxnSpPr>
          <p:cNvPr id="11" name="Connector 10"/>
          <p:cNvCxnSpPr/>
          <p:nvPr/>
        </p:nvCxnSpPr>
        <p:spPr>
          <a:xfrm flipV="1">
            <a:off x="10448678" y="4408339"/>
            <a:ext cx="922252" cy="1185776"/>
          </a:xfrm>
          <a:prstGeom prst="bentConnector3">
            <a:avLst/>
          </a:prstGeom>
          <a:ln w="19758">
            <a:solidFill>
              <a:srgbClr val="393FBC"/>
            </a:solidFill>
            <a:prstDash val="solid"/>
          </a:ln>
        </p:spPr>
        <p:style>
          <a:lnRef idx="2">
            <a:schemeClr val="accent1"/>
          </a:lnRef>
          <a:fillRef idx="0">
            <a:schemeClr val="accent1"/>
          </a:fillRef>
          <a:effectRef idx="1">
            <a:schemeClr val="accent1"/>
          </a:effectRef>
          <a:fontRef idx="minor">
            <a:schemeClr val="tx1"/>
          </a:fontRef>
        </p:style>
      </p:cxnSp>
      <p:sp>
        <p:nvSpPr>
          <p:cNvPr id="12" name="Rectangular Callout 11"/>
          <p:cNvSpPr/>
          <p:nvPr/>
        </p:nvSpPr>
        <p:spPr>
          <a:xfrm>
            <a:off x="10646243" y="350128"/>
            <a:ext cx="409791" cy="1284879"/>
          </a:xfrm>
          <a:prstGeom prst="wedgeRectCallout">
            <a:avLst/>
          </a:prstGeom>
          <a:noFill/>
          <a:ln w="16076">
            <a:solidFill>
              <a:srgbClr val="9A2D54"/>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flipV="1">
            <a:off x="3955686" y="5947664"/>
            <a:ext cx="2840816" cy="504882"/>
          </a:xfrm>
          <a:prstGeom prst="line">
            <a:avLst/>
          </a:prstGeom>
          <a:ln w="21111">
            <a:solidFill>
              <a:srgbClr val="3BBD85"/>
            </a:solidFill>
            <a:prstDash val="dashDot"/>
          </a:ln>
        </p:spPr>
        <p:style>
          <a:lnRef idx="2">
            <a:schemeClr val="accent1"/>
          </a:lnRef>
          <a:fillRef idx="0">
            <a:schemeClr val="accent1"/>
          </a:fillRef>
          <a:effectRef idx="1">
            <a:schemeClr val="accent1"/>
          </a:effectRef>
          <a:fontRef idx="minor">
            <a:schemeClr val="tx1"/>
          </a:fontRef>
        </p:style>
      </p:cxnSp>
      <p:graphicFrame>
        <p:nvGraphicFramePr>
          <p:cNvPr id="14" name="Chart 13"/>
          <p:cNvGraphicFramePr>
            <a:graphicFrameLocks noGrp="1"/>
          </p:cNvGraphicFramePr>
          <p:nvPr/>
        </p:nvGraphicFramePr>
        <p:xfrm>
          <a:off x="2660022" y="1150548"/>
          <a:ext cx="2104698" cy="2301311"/>
        </p:xfrm>
        <a:graphic>
          <a:graphicData uri="http://schemas.openxmlformats.org/drawingml/2006/chart">
            <c:chart xmlns:c="http://schemas.openxmlformats.org/drawingml/2006/chart" xmlns:r="http://schemas.openxmlformats.org/officeDocument/2006/relationships" r:id="rId4"/>
          </a:graphicData>
        </a:graphic>
      </p:graphicFrame>
      <p:sp>
        <p:nvSpPr>
          <p:cNvPr id="15" name="Hexagon 14"/>
          <p:cNvSpPr/>
          <p:nvPr/>
        </p:nvSpPr>
        <p:spPr>
          <a:xfrm>
            <a:off x="5289773" y="1188687"/>
            <a:ext cx="708248" cy="244642"/>
          </a:xfrm>
          <a:prstGeom prst="hexagon">
            <a:avLst/>
          </a:prstGeom>
          <a:solidFill>
            <a:srgbClr val="2DD167"/>
          </a:solidFill>
          <a:ln w="18477">
            <a:solidFill>
              <a:srgbClr val="ABB292"/>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Hexagon 15"/>
          <p:cNvSpPr/>
          <p:nvPr/>
        </p:nvSpPr>
        <p:spPr>
          <a:xfrm>
            <a:off x="8955012" y="2266719"/>
            <a:ext cx="510175" cy="748643"/>
          </a:xfrm>
          <a:prstGeom prst="hexagon">
            <a:avLst/>
          </a:prstGeom>
          <a:noFill/>
          <a:ln w="18147">
            <a:solidFill>
              <a:srgbClr val="97617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Table 16"/>
          <p:cNvGraphicFramePr>
            <a:graphicFrameLocks noGrp="1"/>
          </p:cNvGraphicFramePr>
          <p:nvPr/>
        </p:nvGraphicFramePr>
        <p:xfrm>
          <a:off x="7207588" y="390754"/>
          <a:ext cx="4728108" cy="979481"/>
        </p:xfrm>
        <a:graphic>
          <a:graphicData uri="http://schemas.openxmlformats.org/drawingml/2006/table">
            <a:tbl>
              <a:tblPr firstRow="1" bandRow="1">
                <a:tableStyleId>{5C22544A-7EE6-4342-B048-85BDC9FD1C3A}</a:tableStyleId>
              </a:tblPr>
              <a:tblGrid>
                <a:gridCol w="788018">
                  <a:extLst>
                    <a:ext uri="{9D8B030D-6E8A-4147-A177-3AD203B41FA5}">
                      <a16:colId xmlns:a16="http://schemas.microsoft.com/office/drawing/2014/main" val="20000"/>
                    </a:ext>
                  </a:extLst>
                </a:gridCol>
                <a:gridCol w="788018">
                  <a:extLst>
                    <a:ext uri="{9D8B030D-6E8A-4147-A177-3AD203B41FA5}">
                      <a16:colId xmlns:a16="http://schemas.microsoft.com/office/drawing/2014/main" val="20001"/>
                    </a:ext>
                  </a:extLst>
                </a:gridCol>
                <a:gridCol w="788018">
                  <a:extLst>
                    <a:ext uri="{9D8B030D-6E8A-4147-A177-3AD203B41FA5}">
                      <a16:colId xmlns:a16="http://schemas.microsoft.com/office/drawing/2014/main" val="20002"/>
                    </a:ext>
                  </a:extLst>
                </a:gridCol>
                <a:gridCol w="788018">
                  <a:extLst>
                    <a:ext uri="{9D8B030D-6E8A-4147-A177-3AD203B41FA5}">
                      <a16:colId xmlns:a16="http://schemas.microsoft.com/office/drawing/2014/main" val="20003"/>
                    </a:ext>
                  </a:extLst>
                </a:gridCol>
                <a:gridCol w="788018">
                  <a:extLst>
                    <a:ext uri="{9D8B030D-6E8A-4147-A177-3AD203B41FA5}">
                      <a16:colId xmlns:a16="http://schemas.microsoft.com/office/drawing/2014/main" val="20004"/>
                    </a:ext>
                  </a:extLst>
                </a:gridCol>
                <a:gridCol w="788018">
                  <a:extLst>
                    <a:ext uri="{9D8B030D-6E8A-4147-A177-3AD203B41FA5}">
                      <a16:colId xmlns:a16="http://schemas.microsoft.com/office/drawing/2014/main" val="20005"/>
                    </a:ext>
                  </a:extLst>
                </a:gridCol>
              </a:tblGrid>
              <a:tr h="489740">
                <a:tc>
                  <a:txBody>
                    <a:bodyPr/>
                    <a:lstStyle/>
                    <a:p>
                      <a:r>
                        <a:rPr sz="1100" b="1">
                          <a:solidFill>
                            <a:srgbClr val="64D591"/>
                          </a:solidFill>
                        </a:rPr>
                        <a:t>Template</a:t>
                      </a:r>
                    </a:p>
                  </a:txBody>
                  <a:tcPr>
                    <a:solidFill>
                      <a:srgbClr val="646FCA"/>
                    </a:solidFill>
                  </a:tcPr>
                </a:tc>
                <a:tc>
                  <a:txBody>
                    <a:bodyPr/>
                    <a:lstStyle/>
                    <a:p>
                      <a:r>
                        <a:rPr sz="1100" b="1">
                          <a:solidFill>
                            <a:srgbClr val="64D591"/>
                          </a:solidFill>
                        </a:rPr>
                        <a:t>Ratio Detail</a:t>
                      </a:r>
                    </a:p>
                  </a:txBody>
                  <a:tcPr>
                    <a:solidFill>
                      <a:srgbClr val="646FCA"/>
                    </a:solidFill>
                  </a:tcPr>
                </a:tc>
                <a:tc>
                  <a:txBody>
                    <a:bodyPr/>
                    <a:lstStyle/>
                    <a:p>
                      <a:r>
                        <a:rPr sz="1100" b="1">
                          <a:solidFill>
                            <a:srgbClr val="64D591"/>
                          </a:solidFill>
                        </a:rPr>
                        <a:t>Transform Texture</a:t>
                      </a:r>
                    </a:p>
                  </a:txBody>
                  <a:tcPr>
                    <a:solidFill>
                      <a:srgbClr val="646FCA"/>
                    </a:solidFill>
                  </a:tcPr>
                </a:tc>
                <a:tc>
                  <a:txBody>
                    <a:bodyPr/>
                    <a:lstStyle/>
                    <a:p>
                      <a:r>
                        <a:rPr sz="1100" b="1">
                          <a:solidFill>
                            <a:srgbClr val="64D591"/>
                          </a:solidFill>
                        </a:rPr>
                        <a:t>Pipeline Token</a:t>
                      </a:r>
                    </a:p>
                  </a:txBody>
                  <a:tcPr>
                    <a:solidFill>
                      <a:srgbClr val="646FCA"/>
                    </a:solidFill>
                  </a:tcPr>
                </a:tc>
                <a:tc>
                  <a:txBody>
                    <a:bodyPr/>
                    <a:lstStyle/>
                    <a:p>
                      <a:r>
                        <a:rPr sz="1100" b="1">
                          <a:solidFill>
                            <a:srgbClr val="64D591"/>
                          </a:solidFill>
                        </a:rPr>
                        <a:t>Checkpoint</a:t>
                      </a:r>
                    </a:p>
                  </a:txBody>
                  <a:tcPr>
                    <a:solidFill>
                      <a:srgbClr val="646FCA"/>
                    </a:solidFill>
                  </a:tcPr>
                </a:tc>
                <a:tc>
                  <a:txBody>
                    <a:bodyPr/>
                    <a:lstStyle/>
                    <a:p>
                      <a:r>
                        <a:rPr sz="1100" b="1">
                          <a:solidFill>
                            <a:srgbClr val="64D591"/>
                          </a:solidFill>
                        </a:rPr>
                        <a:t>Balance Column</a:t>
                      </a:r>
                    </a:p>
                  </a:txBody>
                  <a:tcPr>
                    <a:solidFill>
                      <a:srgbClr val="646FCA"/>
                    </a:solidFill>
                  </a:tcPr>
                </a:tc>
                <a:extLst>
                  <a:ext uri="{0D108BD9-81ED-4DB2-BD59-A6C34878D82A}">
                    <a16:rowId xmlns:a16="http://schemas.microsoft.com/office/drawing/2014/main" val="10000"/>
                  </a:ext>
                </a:extLst>
              </a:tr>
              <a:tr h="489741">
                <a:tc>
                  <a:txBody>
                    <a:bodyPr/>
                    <a:lstStyle/>
                    <a:p>
                      <a:r>
                        <a:rPr sz="1100" b="0">
                          <a:solidFill>
                            <a:srgbClr val="64D591"/>
                          </a:solidFill>
                        </a:rPr>
                        <a:t>Viewport Query</a:t>
                      </a:r>
                    </a:p>
                  </a:txBody>
                  <a:tcPr>
                    <a:solidFill>
                      <a:srgbClr val="E6E3D7"/>
                    </a:solidFill>
                  </a:tcPr>
                </a:tc>
                <a:tc>
                  <a:txBody>
                    <a:bodyPr/>
                    <a:lstStyle/>
                    <a:p>
                      <a:r>
                        <a:rPr sz="1100" b="0">
                          <a:solidFill>
                            <a:srgbClr val="64D591"/>
                          </a:solidFill>
                        </a:rPr>
                        <a:t>Plan Vector</a:t>
                      </a:r>
                    </a:p>
                  </a:txBody>
                  <a:tcPr>
                    <a:solidFill>
                      <a:srgbClr val="E6E3D7"/>
                    </a:solidFill>
                  </a:tcPr>
                </a:tc>
                <a:tc>
                  <a:txBody>
                    <a:bodyPr/>
                    <a:lstStyle/>
                    <a:p>
                      <a:r>
                        <a:rPr sz="1100" b="0">
                          <a:solidFill>
                            <a:srgbClr val="64D591"/>
                          </a:solidFill>
                        </a:rPr>
                        <a:t>Explorer</a:t>
                      </a:r>
                    </a:p>
                  </a:txBody>
                  <a:tcPr>
                    <a:solidFill>
                      <a:srgbClr val="E6E3D7"/>
                    </a:solidFill>
                  </a:tcPr>
                </a:tc>
                <a:tc>
                  <a:txBody>
                    <a:bodyPr/>
                    <a:lstStyle/>
                    <a:p>
                      <a:r>
                        <a:rPr sz="1100" b="0">
                          <a:solidFill>
                            <a:srgbClr val="64D591"/>
                          </a:solidFill>
                        </a:rPr>
                        <a:t>Gradient</a:t>
                      </a:r>
                    </a:p>
                  </a:txBody>
                  <a:tcPr>
                    <a:solidFill>
                      <a:srgbClr val="E6E3D7"/>
                    </a:solidFill>
                  </a:tcPr>
                </a:tc>
                <a:tc>
                  <a:txBody>
                    <a:bodyPr/>
                    <a:lstStyle/>
                    <a:p>
                      <a:r>
                        <a:rPr sz="1100" b="0">
                          <a:solidFill>
                            <a:srgbClr val="64D591"/>
                          </a:solidFill>
                        </a:rPr>
                        <a:t>Discovery</a:t>
                      </a:r>
                    </a:p>
                  </a:txBody>
                  <a:tcPr>
                    <a:solidFill>
                      <a:srgbClr val="E6E3D7"/>
                    </a:solidFill>
                  </a:tcPr>
                </a:tc>
                <a:tc>
                  <a:txBody>
                    <a:bodyPr/>
                    <a:lstStyle/>
                    <a:p>
                      <a:r>
                        <a:rPr sz="1100" b="0">
                          <a:solidFill>
                            <a:srgbClr val="64D591"/>
                          </a:solidFill>
                        </a:rPr>
                        <a:t>Density</a:t>
                      </a:r>
                    </a:p>
                  </a:txBody>
                  <a:tcPr>
                    <a:solidFill>
                      <a:srgbClr val="E6E3D7"/>
                    </a:solidFill>
                  </a:tcPr>
                </a:tc>
                <a:extLst>
                  <a:ext uri="{0D108BD9-81ED-4DB2-BD59-A6C34878D82A}">
                    <a16:rowId xmlns:a16="http://schemas.microsoft.com/office/drawing/2014/main" val="10001"/>
                  </a:ext>
                </a:extLst>
              </a:tr>
            </a:tbl>
          </a:graphicData>
        </a:graphic>
      </p:graphicFrame>
      <p:sp>
        <p:nvSpPr>
          <p:cNvPr id="18" name="TextBox 17"/>
          <p:cNvSpPr txBox="1"/>
          <p:nvPr/>
        </p:nvSpPr>
        <p:spPr>
          <a:xfrm>
            <a:off x="3957174" y="607183"/>
            <a:ext cx="1275845" cy="2297244"/>
          </a:xfrm>
          <a:prstGeom prst="rect">
            <a:avLst/>
          </a:prstGeom>
          <a:noFill/>
        </p:spPr>
        <p:txBody>
          <a:bodyPr wrap="none" lIns="25415" tIns="25415" rIns="25415" bIns="25415">
            <a:spAutoFit/>
          </a:bodyPr>
          <a:lstStyle/>
          <a:p>
            <a:r>
              <a:rPr sz="1000" b="1" i="0" u="none">
                <a:solidFill>
                  <a:srgbClr val="4C838B"/>
                </a:solidFill>
                <a:latin typeface="Arial"/>
              </a:rPr>
              <a:t>Version Entity Pipeline Scope Domain Explorer Version Echo Cycle Panel Event Queue Ratio Heading Flow Array Expansion Lineage</a:t>
            </a:r>
          </a:p>
        </p:txBody>
      </p:sp>
      <p:sp>
        <p:nvSpPr>
          <p:cNvPr id="19" name="TextBox 18"/>
          <p:cNvSpPr txBox="1"/>
          <p:nvPr/>
        </p:nvSpPr>
        <p:spPr>
          <a:xfrm>
            <a:off x="6890125" y="1473175"/>
            <a:ext cx="3662144" cy="783761"/>
          </a:xfrm>
          <a:prstGeom prst="rect">
            <a:avLst/>
          </a:prstGeom>
          <a:noFill/>
        </p:spPr>
        <p:txBody>
          <a:bodyPr wrap="none" lIns="37982" tIns="37982" rIns="37982" bIns="37982">
            <a:spAutoFit/>
          </a:bodyPr>
          <a:lstStyle/>
          <a:p>
            <a:r>
              <a:rPr sz="2800" b="1" i="0" u="sng">
                <a:solidFill>
                  <a:srgbClr val="46B2D6"/>
                </a:solidFill>
                <a:latin typeface="Verdana"/>
              </a:rPr>
              <a:t>Slice Matrix Packet Bundle Spectrum Anchor Account Deployment</a:t>
            </a:r>
          </a:p>
        </p:txBody>
      </p:sp>
      <p:cxnSp>
        <p:nvCxnSpPr>
          <p:cNvPr id="20" name="Connector 19"/>
          <p:cNvCxnSpPr/>
          <p:nvPr/>
        </p:nvCxnSpPr>
        <p:spPr>
          <a:xfrm>
            <a:off x="4551283" y="3699882"/>
            <a:ext cx="909664" cy="613658"/>
          </a:xfrm>
          <a:prstGeom prst="line">
            <a:avLst/>
          </a:prstGeom>
          <a:ln w="44225">
            <a:solidFill>
              <a:srgbClr val="893C7D"/>
            </a:solidFill>
            <a:prstDash val="soli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113871" y="612039"/>
            <a:ext cx="464484" cy="1583725"/>
          </a:xfrm>
          <a:prstGeom prst="rect">
            <a:avLst/>
          </a:prstGeom>
          <a:noFill/>
        </p:spPr>
        <p:txBody>
          <a:bodyPr wrap="none" lIns="68501" tIns="68501" rIns="68501" bIns="68501">
            <a:spAutoFit/>
          </a:bodyPr>
          <a:lstStyle/>
          <a:p>
            <a:r>
              <a:rPr sz="1000" b="0" i="0" u="none">
                <a:solidFill>
                  <a:srgbClr val="C29A48"/>
                </a:solidFill>
                <a:latin typeface="Calibri"/>
              </a:rPr>
              <a:t>Orbit Needle Range Radius Stage Layer Register Plan Bridge Horizon Index Baseline Vertex Tile Limit Report Hub Mode Echo Zone Topology Checkpoint Kernel Access Ratio Column Interface Grid Span Query</a:t>
            </a:r>
          </a:p>
        </p:txBody>
      </p:sp>
      <p:pic>
        <p:nvPicPr>
          <p:cNvPr id="22" name="Picture 21" descr="_example_image.jpg"/>
          <p:cNvPicPr>
            <a:picLocks noChangeAspect="1"/>
          </p:cNvPicPr>
          <p:nvPr/>
        </p:nvPicPr>
        <p:blipFill>
          <a:blip r:embed="rId2"/>
          <a:srcRect l="4689" t="3208" r="21682" b="465"/>
          <a:stretch>
            <a:fillRect/>
          </a:stretch>
        </p:blipFill>
        <p:spPr>
          <a:xfrm>
            <a:off x="5202064" y="179673"/>
            <a:ext cx="1042947" cy="1341547"/>
          </a:xfrm>
          <a:prstGeom prst="rect">
            <a:avLst/>
          </a:prstGeom>
        </p:spPr>
      </p:pic>
      <p:sp>
        <p:nvSpPr>
          <p:cNvPr id="23" name="TextBox 22"/>
          <p:cNvSpPr txBox="1"/>
          <p:nvPr/>
        </p:nvSpPr>
        <p:spPr>
          <a:xfrm>
            <a:off x="1320261" y="2203869"/>
            <a:ext cx="1361550" cy="565548"/>
          </a:xfrm>
          <a:prstGeom prst="rect">
            <a:avLst/>
          </a:prstGeom>
          <a:noFill/>
        </p:spPr>
        <p:txBody>
          <a:bodyPr wrap="none" lIns="26972" tIns="26972" rIns="26972" bIns="26972">
            <a:spAutoFit/>
          </a:bodyPr>
          <a:lstStyle/>
          <a:p>
            <a:r>
              <a:rPr sz="900" b="0" i="0" u="none">
                <a:solidFill>
                  <a:srgbClr val="54B471"/>
                </a:solidFill>
                <a:latin typeface="Arial"/>
              </a:rPr>
              <a:t>Friction Envelope Function Engine Thread Source Scope Schema Signal Control Direction Milestone Loop Origin Group Threshold Coverage Path Compass Engine Release Topology Impact Input Account Bridge Topology Discovery Range Column Limit Buffer Craft Hub Friction Method</a:t>
            </a:r>
          </a:p>
        </p:txBody>
      </p:sp>
      <p:sp>
        <p:nvSpPr>
          <p:cNvPr id="24" name="Swoosh Arrow 23"/>
          <p:cNvSpPr/>
          <p:nvPr/>
        </p:nvSpPr>
        <p:spPr>
          <a:xfrm>
            <a:off x="481185" y="2562363"/>
            <a:ext cx="703549" cy="766216"/>
          </a:xfrm>
          <a:prstGeom prst="swooshArrow">
            <a:avLst/>
          </a:prstGeom>
          <a:solidFill>
            <a:srgbClr val="913DD8"/>
          </a:solidFill>
          <a:ln w="31546">
            <a:solidFill>
              <a:srgbClr val="A694E3"/>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03437" y="3784060"/>
            <a:ext cx="3484997" cy="2168969"/>
          </a:xfrm>
          <a:prstGeom prst="rect">
            <a:avLst/>
          </a:prstGeom>
          <a:noFill/>
        </p:spPr>
        <p:txBody>
          <a:bodyPr wrap="none" lIns="39382" tIns="39382" rIns="39382" bIns="39382">
            <a:spAutoFit/>
          </a:bodyPr>
          <a:lstStyle/>
          <a:p>
            <a:r>
              <a:rPr sz="1000" b="0" i="0" u="none">
                <a:solidFill>
                  <a:srgbClr val="D21C48"/>
                </a:solidFill>
                <a:latin typeface="Aptos"/>
              </a:rPr>
              <a:t>Portal Checkpoint Epoch Harbor Core</a:t>
            </a:r>
          </a:p>
        </p:txBody>
      </p:sp>
      <p:pic>
        <p:nvPicPr>
          <p:cNvPr id="26" name="Picture 25" descr="_example_image.jpg"/>
          <p:cNvPicPr>
            <a:picLocks noChangeAspect="1"/>
          </p:cNvPicPr>
          <p:nvPr/>
        </p:nvPicPr>
        <p:blipFill>
          <a:blip r:embed="rId2"/>
          <a:srcRect l="12944" t="16757" r="18004" b="10236"/>
          <a:stretch>
            <a:fillRect/>
          </a:stretch>
        </p:blipFill>
        <p:spPr>
          <a:xfrm>
            <a:off x="805721" y="5209393"/>
            <a:ext cx="1178049" cy="1432082"/>
          </a:xfrm>
          <a:prstGeom prst="rect">
            <a:avLst/>
          </a:prstGeom>
        </p:spPr>
      </p:pic>
      <p:sp>
        <p:nvSpPr>
          <p:cNvPr id="27" name="Rounded Rectangle 26"/>
          <p:cNvSpPr/>
          <p:nvPr/>
        </p:nvSpPr>
        <p:spPr>
          <a:xfrm>
            <a:off x="805721" y="5209393"/>
            <a:ext cx="1178049" cy="1432082"/>
          </a:xfrm>
          <a:prstGeom prst="roundRect">
            <a:avLst/>
          </a:prstGeom>
          <a:noFill/>
          <a:ln w="15240">
            <a:solidFill>
              <a:srgbClr val="8833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0D89BD83-2829-0CD3-8C92-1CBA0140F5E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060484" y="3637591"/>
            <a:ext cx="1072362" cy="1095823"/>
          </a:xfrm>
          <a:prstGeom prst="rect">
            <a:avLst/>
          </a:prstGeom>
        </p:spPr>
      </p:pic>
      <p:pic>
        <p:nvPicPr>
          <p:cNvPr id="31" name="Graphic 30">
            <a:extLst>
              <a:ext uri="{FF2B5EF4-FFF2-40B4-BE49-F238E27FC236}">
                <a16:creationId xmlns:a16="http://schemas.microsoft.com/office/drawing/2014/main" id="{0F836F93-A5CD-5235-D8C9-A5D1EADF160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369281" y="2712914"/>
            <a:ext cx="1657474" cy="116641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86553" y="3593244"/>
            <a:ext cx="438737" cy="2132939"/>
          </a:xfrm>
          <a:prstGeom prst="rect">
            <a:avLst/>
          </a:prstGeom>
          <a:noFill/>
        </p:spPr>
        <p:txBody>
          <a:bodyPr wrap="none" lIns="35104" tIns="35104" rIns="35104" bIns="35104">
            <a:spAutoFit/>
          </a:bodyPr>
          <a:lstStyle/>
          <a:p>
            <a:r>
              <a:rPr sz="4000" b="1" i="1" u="none">
                <a:solidFill>
                  <a:srgbClr val="98D24A"/>
                </a:solidFill>
                <a:latin typeface="Arial"/>
              </a:rPr>
              <a:t>Dashboard Horizon Design Pixel Grid Goal</a:t>
            </a:r>
          </a:p>
        </p:txBody>
      </p:sp>
      <p:graphicFrame>
        <p:nvGraphicFramePr>
          <p:cNvPr id="3" name="Chart 2"/>
          <p:cNvGraphicFramePr>
            <a:graphicFrameLocks noGrp="1"/>
          </p:cNvGraphicFramePr>
          <p:nvPr/>
        </p:nvGraphicFramePr>
        <p:xfrm>
          <a:off x="836038" y="788413"/>
          <a:ext cx="3113543" cy="1417910"/>
        </p:xfrm>
        <a:graphic>
          <a:graphicData uri="http://schemas.openxmlformats.org/drawingml/2006/chart">
            <c:chart xmlns:c="http://schemas.openxmlformats.org/drawingml/2006/chart" xmlns:r="http://schemas.openxmlformats.org/officeDocument/2006/relationships" r:id="rId2"/>
          </a:graphicData>
        </a:graphic>
      </p:graphicFrame>
      <p:sp>
        <p:nvSpPr>
          <p:cNvPr id="4" name="Freeform 3"/>
          <p:cNvSpPr/>
          <p:nvPr/>
        </p:nvSpPr>
        <p:spPr>
          <a:xfrm>
            <a:off x="2471182" y="2484111"/>
            <a:ext cx="2529880" cy="497259"/>
          </a:xfrm>
          <a:custGeom>
            <a:avLst/>
            <a:gdLst/>
            <a:ahLst/>
            <a:cxnLst/>
            <a:rect l="l" t="t" r="r" b="b"/>
            <a:pathLst>
              <a:path w="2529880" h="497259">
                <a:moveTo>
                  <a:pt x="0" y="241723"/>
                </a:moveTo>
                <a:lnTo>
                  <a:pt x="435248" y="0"/>
                </a:lnTo>
                <a:lnTo>
                  <a:pt x="897699" y="207191"/>
                </a:lnTo>
                <a:lnTo>
                  <a:pt x="1360150" y="414383"/>
                </a:lnTo>
                <a:lnTo>
                  <a:pt x="1849805" y="172659"/>
                </a:lnTo>
                <a:lnTo>
                  <a:pt x="2529880" y="262442"/>
                </a:lnTo>
                <a:lnTo>
                  <a:pt x="2529880" y="497259"/>
                </a:lnTo>
                <a:lnTo>
                  <a:pt x="0" y="497259"/>
                </a:lnTo>
                <a:close/>
              </a:path>
            </a:pathLst>
          </a:custGeom>
          <a:solidFill>
            <a:srgbClr val="D84E40"/>
          </a:solidFill>
          <a:ln w="35514">
            <a:solidFill>
              <a:srgbClr val="29D8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2641229" y="5375354"/>
          <a:ext cx="2754770" cy="1129637"/>
        </p:xfrm>
        <a:graphic>
          <a:graphicData uri="http://schemas.openxmlformats.org/drawingml/2006/table">
            <a:tbl>
              <a:tblPr firstRow="1" bandRow="1">
                <a:tableStyleId>{5C22544A-7EE6-4342-B048-85BDC9FD1C3A}</a:tableStyleId>
              </a:tblPr>
              <a:tblGrid>
                <a:gridCol w="459128">
                  <a:extLst>
                    <a:ext uri="{9D8B030D-6E8A-4147-A177-3AD203B41FA5}">
                      <a16:colId xmlns:a16="http://schemas.microsoft.com/office/drawing/2014/main" val="20000"/>
                    </a:ext>
                  </a:extLst>
                </a:gridCol>
                <a:gridCol w="459128">
                  <a:extLst>
                    <a:ext uri="{9D8B030D-6E8A-4147-A177-3AD203B41FA5}">
                      <a16:colId xmlns:a16="http://schemas.microsoft.com/office/drawing/2014/main" val="20001"/>
                    </a:ext>
                  </a:extLst>
                </a:gridCol>
                <a:gridCol w="459128">
                  <a:extLst>
                    <a:ext uri="{9D8B030D-6E8A-4147-A177-3AD203B41FA5}">
                      <a16:colId xmlns:a16="http://schemas.microsoft.com/office/drawing/2014/main" val="20002"/>
                    </a:ext>
                  </a:extLst>
                </a:gridCol>
                <a:gridCol w="459128">
                  <a:extLst>
                    <a:ext uri="{9D8B030D-6E8A-4147-A177-3AD203B41FA5}">
                      <a16:colId xmlns:a16="http://schemas.microsoft.com/office/drawing/2014/main" val="20003"/>
                    </a:ext>
                  </a:extLst>
                </a:gridCol>
                <a:gridCol w="459128">
                  <a:extLst>
                    <a:ext uri="{9D8B030D-6E8A-4147-A177-3AD203B41FA5}">
                      <a16:colId xmlns:a16="http://schemas.microsoft.com/office/drawing/2014/main" val="20004"/>
                    </a:ext>
                  </a:extLst>
                </a:gridCol>
                <a:gridCol w="459130">
                  <a:extLst>
                    <a:ext uri="{9D8B030D-6E8A-4147-A177-3AD203B41FA5}">
                      <a16:colId xmlns:a16="http://schemas.microsoft.com/office/drawing/2014/main" val="20005"/>
                    </a:ext>
                  </a:extLst>
                </a:gridCol>
              </a:tblGrid>
              <a:tr h="376545">
                <a:tc>
                  <a:txBody>
                    <a:bodyPr/>
                    <a:lstStyle/>
                    <a:p>
                      <a:r>
                        <a:rPr sz="800" b="1">
                          <a:solidFill>
                            <a:srgbClr val="3FC382"/>
                          </a:solidFill>
                        </a:rPr>
                        <a:t>Interface</a:t>
                      </a:r>
                    </a:p>
                  </a:txBody>
                  <a:tcPr>
                    <a:solidFill>
                      <a:srgbClr val="193970"/>
                    </a:solidFill>
                  </a:tcPr>
                </a:tc>
                <a:tc>
                  <a:txBody>
                    <a:bodyPr/>
                    <a:lstStyle/>
                    <a:p>
                      <a:r>
                        <a:rPr sz="800" b="1">
                          <a:solidFill>
                            <a:srgbClr val="3FC382"/>
                          </a:solidFill>
                        </a:rPr>
                        <a:t>Aspect Trigger</a:t>
                      </a:r>
                    </a:p>
                  </a:txBody>
                  <a:tcPr>
                    <a:solidFill>
                      <a:srgbClr val="193970"/>
                    </a:solidFill>
                  </a:tcPr>
                </a:tc>
                <a:tc>
                  <a:txBody>
                    <a:bodyPr/>
                    <a:lstStyle/>
                    <a:p>
                      <a:r>
                        <a:rPr sz="800" b="1">
                          <a:solidFill>
                            <a:srgbClr val="3FC382"/>
                          </a:solidFill>
                        </a:rPr>
                        <a:t>Trace</a:t>
                      </a:r>
                    </a:p>
                  </a:txBody>
                  <a:tcPr>
                    <a:solidFill>
                      <a:srgbClr val="193970"/>
                    </a:solidFill>
                  </a:tcPr>
                </a:tc>
                <a:tc>
                  <a:txBody>
                    <a:bodyPr/>
                    <a:lstStyle/>
                    <a:p>
                      <a:r>
                        <a:rPr sz="800" b="1">
                          <a:solidFill>
                            <a:srgbClr val="3FC382"/>
                          </a:solidFill>
                        </a:rPr>
                        <a:t>Channel</a:t>
                      </a:r>
                    </a:p>
                  </a:txBody>
                  <a:tcPr>
                    <a:solidFill>
                      <a:srgbClr val="193970"/>
                    </a:solidFill>
                  </a:tcPr>
                </a:tc>
                <a:tc>
                  <a:txBody>
                    <a:bodyPr/>
                    <a:lstStyle/>
                    <a:p>
                      <a:r>
                        <a:rPr sz="800" b="1">
                          <a:solidFill>
                            <a:srgbClr val="3FC382"/>
                          </a:solidFill>
                        </a:rPr>
                        <a:t>Panel Agenda</a:t>
                      </a:r>
                    </a:p>
                  </a:txBody>
                  <a:tcPr>
                    <a:solidFill>
                      <a:srgbClr val="193970"/>
                    </a:solidFill>
                  </a:tcPr>
                </a:tc>
                <a:tc>
                  <a:txBody>
                    <a:bodyPr/>
                    <a:lstStyle/>
                    <a:p>
                      <a:r>
                        <a:rPr sz="800" b="1">
                          <a:solidFill>
                            <a:srgbClr val="3FC382"/>
                          </a:solidFill>
                        </a:rPr>
                        <a:t>Briefing</a:t>
                      </a:r>
                    </a:p>
                  </a:txBody>
                  <a:tcPr>
                    <a:solidFill>
                      <a:srgbClr val="193970"/>
                    </a:solidFill>
                  </a:tcPr>
                </a:tc>
                <a:extLst>
                  <a:ext uri="{0D108BD9-81ED-4DB2-BD59-A6C34878D82A}">
                    <a16:rowId xmlns:a16="http://schemas.microsoft.com/office/drawing/2014/main" val="10000"/>
                  </a:ext>
                </a:extLst>
              </a:tr>
              <a:tr h="376545">
                <a:tc>
                  <a:txBody>
                    <a:bodyPr/>
                    <a:lstStyle/>
                    <a:p>
                      <a:r>
                        <a:rPr sz="800" b="0">
                          <a:solidFill>
                            <a:srgbClr val="3FC382"/>
                          </a:solidFill>
                        </a:rPr>
                        <a:t>Apex</a:t>
                      </a:r>
                    </a:p>
                  </a:txBody>
                  <a:tcPr>
                    <a:solidFill>
                      <a:srgbClr val="DDDDEE"/>
                    </a:solidFill>
                  </a:tcPr>
                </a:tc>
                <a:tc>
                  <a:txBody>
                    <a:bodyPr/>
                    <a:lstStyle/>
                    <a:p>
                      <a:r>
                        <a:rPr sz="800" b="0">
                          <a:solidFill>
                            <a:srgbClr val="3FC382"/>
                          </a:solidFill>
                        </a:rPr>
                        <a:t>Velocity</a:t>
                      </a:r>
                    </a:p>
                  </a:txBody>
                  <a:tcPr>
                    <a:solidFill>
                      <a:srgbClr val="DDDDEE"/>
                    </a:solidFill>
                  </a:tcPr>
                </a:tc>
                <a:tc>
                  <a:txBody>
                    <a:bodyPr/>
                    <a:lstStyle/>
                    <a:p>
                      <a:r>
                        <a:rPr sz="800" b="0">
                          <a:solidFill>
                            <a:srgbClr val="3FC382"/>
                          </a:solidFill>
                        </a:rPr>
                        <a:t>Logic</a:t>
                      </a:r>
                    </a:p>
                  </a:txBody>
                  <a:tcPr>
                    <a:solidFill>
                      <a:srgbClr val="DDDDEE"/>
                    </a:solidFill>
                  </a:tcPr>
                </a:tc>
                <a:tc>
                  <a:txBody>
                    <a:bodyPr/>
                    <a:lstStyle/>
                    <a:p>
                      <a:r>
                        <a:rPr sz="800" b="0">
                          <a:solidFill>
                            <a:srgbClr val="3FC382"/>
                          </a:solidFill>
                        </a:rPr>
                        <a:t>Trace</a:t>
                      </a:r>
                    </a:p>
                  </a:txBody>
                  <a:tcPr>
                    <a:solidFill>
                      <a:srgbClr val="DDDDEE"/>
                    </a:solidFill>
                  </a:tcPr>
                </a:tc>
                <a:tc>
                  <a:txBody>
                    <a:bodyPr/>
                    <a:lstStyle/>
                    <a:p>
                      <a:r>
                        <a:rPr sz="800" b="0">
                          <a:solidFill>
                            <a:srgbClr val="3FC382"/>
                          </a:solidFill>
                        </a:rPr>
                        <a:t>Friction Output</a:t>
                      </a:r>
                    </a:p>
                  </a:txBody>
                  <a:tcPr>
                    <a:solidFill>
                      <a:srgbClr val="DDDDEE"/>
                    </a:solidFill>
                  </a:tcPr>
                </a:tc>
                <a:tc>
                  <a:txBody>
                    <a:bodyPr/>
                    <a:lstStyle/>
                    <a:p>
                      <a:r>
                        <a:rPr sz="800" b="0">
                          <a:solidFill>
                            <a:srgbClr val="3FC382"/>
                          </a:solidFill>
                        </a:rPr>
                        <a:t>Layer Iteration</a:t>
                      </a:r>
                    </a:p>
                  </a:txBody>
                  <a:tcPr>
                    <a:solidFill>
                      <a:srgbClr val="DDDDEE"/>
                    </a:solidFill>
                  </a:tcPr>
                </a:tc>
                <a:extLst>
                  <a:ext uri="{0D108BD9-81ED-4DB2-BD59-A6C34878D82A}">
                    <a16:rowId xmlns:a16="http://schemas.microsoft.com/office/drawing/2014/main" val="10001"/>
                  </a:ext>
                </a:extLst>
              </a:tr>
              <a:tr h="376547">
                <a:tc>
                  <a:txBody>
                    <a:bodyPr/>
                    <a:lstStyle/>
                    <a:p>
                      <a:r>
                        <a:rPr sz="800" b="0">
                          <a:solidFill>
                            <a:srgbClr val="3FC382"/>
                          </a:solidFill>
                        </a:rPr>
                        <a:t>Format</a:t>
                      </a:r>
                    </a:p>
                  </a:txBody>
                  <a:tcPr>
                    <a:solidFill>
                      <a:srgbClr val="EFEFF7"/>
                    </a:solidFill>
                  </a:tcPr>
                </a:tc>
                <a:tc>
                  <a:txBody>
                    <a:bodyPr/>
                    <a:lstStyle/>
                    <a:p>
                      <a:r>
                        <a:rPr sz="800" b="0">
                          <a:solidFill>
                            <a:srgbClr val="3FC382"/>
                          </a:solidFill>
                        </a:rPr>
                        <a:t>Runtime Asset</a:t>
                      </a:r>
                    </a:p>
                  </a:txBody>
                  <a:tcPr>
                    <a:solidFill>
                      <a:srgbClr val="DDDDEE"/>
                    </a:solidFill>
                  </a:tcPr>
                </a:tc>
                <a:tc>
                  <a:txBody>
                    <a:bodyPr/>
                    <a:lstStyle/>
                    <a:p>
                      <a:r>
                        <a:rPr sz="800" b="0">
                          <a:solidFill>
                            <a:srgbClr val="3FC382"/>
                          </a:solidFill>
                        </a:rPr>
                        <a:t>Array</a:t>
                      </a:r>
                    </a:p>
                  </a:txBody>
                  <a:tcPr>
                    <a:solidFill>
                      <a:srgbClr val="EFEFF7"/>
                    </a:solidFill>
                  </a:tcPr>
                </a:tc>
                <a:tc>
                  <a:txBody>
                    <a:bodyPr/>
                    <a:lstStyle/>
                    <a:p>
                      <a:r>
                        <a:rPr sz="800" b="0">
                          <a:solidFill>
                            <a:srgbClr val="3FC382"/>
                          </a:solidFill>
                        </a:rPr>
                        <a:t>Journey Core</a:t>
                      </a:r>
                    </a:p>
                  </a:txBody>
                  <a:tcPr>
                    <a:solidFill>
                      <a:srgbClr val="DDDDEE"/>
                    </a:solidFill>
                  </a:tcPr>
                </a:tc>
                <a:tc>
                  <a:txBody>
                    <a:bodyPr/>
                    <a:lstStyle/>
                    <a:p>
                      <a:r>
                        <a:rPr sz="800" b="0">
                          <a:solidFill>
                            <a:srgbClr val="3FC382"/>
                          </a:solidFill>
                        </a:rPr>
                        <a:t>Result Function</a:t>
                      </a:r>
                    </a:p>
                  </a:txBody>
                  <a:tcPr>
                    <a:solidFill>
                      <a:srgbClr val="EFEFF7"/>
                    </a:solidFill>
                  </a:tcPr>
                </a:tc>
                <a:tc>
                  <a:txBody>
                    <a:bodyPr/>
                    <a:lstStyle/>
                    <a:p>
                      <a:r>
                        <a:rPr sz="800" b="0">
                          <a:solidFill>
                            <a:srgbClr val="3FC382"/>
                          </a:solidFill>
                        </a:rPr>
                        <a:t>Bridge</a:t>
                      </a:r>
                    </a:p>
                  </a:txBody>
                  <a:tcPr>
                    <a:solidFill>
                      <a:srgbClr val="DDDDEE"/>
                    </a:solidFill>
                  </a:tcPr>
                </a:tc>
                <a:extLst>
                  <a:ext uri="{0D108BD9-81ED-4DB2-BD59-A6C34878D82A}">
                    <a16:rowId xmlns:a16="http://schemas.microsoft.com/office/drawing/2014/main" val="10002"/>
                  </a:ext>
                </a:extLst>
              </a:tr>
            </a:tbl>
          </a:graphicData>
        </a:graphic>
      </p:graphicFrame>
      <p:sp>
        <p:nvSpPr>
          <p:cNvPr id="6" name="Can 5"/>
          <p:cNvSpPr/>
          <p:nvPr/>
        </p:nvSpPr>
        <p:spPr>
          <a:xfrm>
            <a:off x="5640092" y="5913636"/>
            <a:ext cx="1556245" cy="528301"/>
          </a:xfrm>
          <a:prstGeom prst="can">
            <a:avLst/>
          </a:prstGeom>
          <a:solidFill>
            <a:srgbClr val="661D3D"/>
          </a:solidFill>
          <a:ln w="6987">
            <a:solidFill>
              <a:srgbClr val="8DDC6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039886" y="1630263"/>
            <a:ext cx="848161" cy="504482"/>
          </a:xfrm>
          <a:prstGeom prst="curvedConnector3">
            <a:avLst/>
          </a:prstGeom>
          <a:ln w="38176">
            <a:solidFill>
              <a:srgbClr val="80D2CF"/>
            </a:solidFill>
            <a:prstDash val="dot"/>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025398" y="316810"/>
            <a:ext cx="463241" cy="286822"/>
          </a:xfrm>
          <a:prstGeom prst="rect">
            <a:avLst/>
          </a:prstGeom>
          <a:noFill/>
        </p:spPr>
        <p:txBody>
          <a:bodyPr wrap="none" lIns="43107" tIns="43107" rIns="43107" bIns="43107">
            <a:spAutoFit/>
          </a:bodyPr>
          <a:lstStyle/>
          <a:p>
            <a:r>
              <a:rPr sz="1100" b="1" i="0" u="none">
                <a:solidFill>
                  <a:srgbClr val="5CA0E1"/>
                </a:solidFill>
                <a:latin typeface="Georgia"/>
              </a:rPr>
              <a:t>Origin</a:t>
            </a:r>
          </a:p>
        </p:txBody>
      </p:sp>
      <p:pic>
        <p:nvPicPr>
          <p:cNvPr id="9" name="Picture 8" descr="_example_image.jpg"/>
          <p:cNvPicPr>
            <a:picLocks noChangeAspect="1"/>
          </p:cNvPicPr>
          <p:nvPr/>
        </p:nvPicPr>
        <p:blipFill>
          <a:blip r:embed="rId3"/>
          <a:srcRect/>
          <a:stretch>
            <a:fillRect/>
          </a:stretch>
        </p:blipFill>
        <p:spPr>
          <a:xfrm>
            <a:off x="9862137" y="3123595"/>
            <a:ext cx="1507665" cy="2372324"/>
          </a:xfrm>
          <a:prstGeom prst="rect">
            <a:avLst/>
          </a:prstGeom>
        </p:spPr>
      </p:pic>
      <p:sp>
        <p:nvSpPr>
          <p:cNvPr id="10" name="Freeform 9"/>
          <p:cNvSpPr/>
          <p:nvPr/>
        </p:nvSpPr>
        <p:spPr>
          <a:xfrm>
            <a:off x="8092193" y="3877435"/>
            <a:ext cx="1526401" cy="831452"/>
          </a:xfrm>
          <a:custGeom>
            <a:avLst/>
            <a:gdLst/>
            <a:ahLst/>
            <a:cxnLst/>
            <a:rect l="l" t="t" r="r" b="b"/>
            <a:pathLst>
              <a:path w="1526401" h="831452">
                <a:moveTo>
                  <a:pt x="164129" y="141524"/>
                </a:moveTo>
                <a:lnTo>
                  <a:pt x="541626" y="0"/>
                </a:lnTo>
                <a:lnTo>
                  <a:pt x="1116078" y="70762"/>
                </a:lnTo>
                <a:lnTo>
                  <a:pt x="1526401" y="336119"/>
                </a:lnTo>
                <a:lnTo>
                  <a:pt x="1313033" y="689928"/>
                </a:lnTo>
                <a:lnTo>
                  <a:pt x="705755" y="831452"/>
                </a:lnTo>
                <a:lnTo>
                  <a:pt x="98477" y="601476"/>
                </a:lnTo>
                <a:lnTo>
                  <a:pt x="0" y="300738"/>
                </a:lnTo>
                <a:close/>
              </a:path>
            </a:pathLst>
          </a:custGeom>
          <a:solidFill>
            <a:srgbClr val="D8C157"/>
          </a:solidFill>
          <a:ln w="10538">
            <a:solidFill>
              <a:srgbClr val="B8E6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ecision 10"/>
          <p:cNvSpPr/>
          <p:nvPr/>
        </p:nvSpPr>
        <p:spPr>
          <a:xfrm>
            <a:off x="3130604" y="3657773"/>
            <a:ext cx="1823962" cy="364184"/>
          </a:xfrm>
          <a:prstGeom prst="flowChartDecision">
            <a:avLst/>
          </a:prstGeom>
          <a:solidFill>
            <a:srgbClr val="B47E6B"/>
          </a:solidFill>
          <a:ln w="10230">
            <a:solidFill>
              <a:srgbClr val="9BE2A3"/>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55546" y="1457746"/>
            <a:ext cx="2724911" cy="853918"/>
          </a:xfrm>
          <a:prstGeom prst="rect">
            <a:avLst/>
          </a:prstGeom>
          <a:noFill/>
        </p:spPr>
        <p:txBody>
          <a:bodyPr wrap="none" lIns="90403" tIns="90403" rIns="90403" bIns="90403">
            <a:spAutoFit/>
          </a:bodyPr>
          <a:lstStyle/>
          <a:p>
            <a:r>
              <a:rPr sz="1200" b="1" i="0" u="none">
                <a:solidFill>
                  <a:srgbClr val="DD6257"/>
                </a:solidFill>
                <a:latin typeface="Georgia"/>
              </a:rPr>
              <a:t>Model Record Estimate Loop</a:t>
            </a:r>
          </a:p>
        </p:txBody>
      </p:sp>
      <p:sp>
        <p:nvSpPr>
          <p:cNvPr id="13" name="TextBox 12"/>
          <p:cNvSpPr txBox="1"/>
          <p:nvPr/>
        </p:nvSpPr>
        <p:spPr>
          <a:xfrm>
            <a:off x="614433" y="733580"/>
            <a:ext cx="582659" cy="717272"/>
          </a:xfrm>
          <a:prstGeom prst="rect">
            <a:avLst/>
          </a:prstGeom>
          <a:noFill/>
        </p:spPr>
        <p:txBody>
          <a:bodyPr wrap="none" lIns="23929" tIns="23929" rIns="23929" bIns="23929">
            <a:spAutoFit/>
          </a:bodyPr>
          <a:lstStyle/>
          <a:p>
            <a:r>
              <a:rPr sz="1800" b="0" i="1" u="none">
                <a:solidFill>
                  <a:srgbClr val="2E6355"/>
                </a:solidFill>
                <a:latin typeface="Georgia"/>
              </a:rPr>
              <a:t>Diagram Beacon Input Dimension Group Schema Deck Compass Delta Detail Report Strategy Packet Clarity Sample Indicator Measure Forecast Sample Hub Service Mesh Grid Stack Bridge Explorer Action Table System Beta Baseline Balance Level Reserve Schema Process Interval Snapshot Model Cluster</a:t>
            </a:r>
          </a:p>
        </p:txBody>
      </p:sp>
      <p:sp>
        <p:nvSpPr>
          <p:cNvPr id="14" name="U-Turn Arrow 13"/>
          <p:cNvSpPr/>
          <p:nvPr/>
        </p:nvSpPr>
        <p:spPr>
          <a:xfrm>
            <a:off x="4611750" y="527658"/>
            <a:ext cx="2151320" cy="507068"/>
          </a:xfrm>
          <a:prstGeom prst="uturnArrow">
            <a:avLst/>
          </a:prstGeom>
          <a:solidFill>
            <a:srgbClr val="628E4C"/>
          </a:solidFill>
          <a:ln w="17306">
            <a:solidFill>
              <a:srgbClr val="A9513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822323" y="5431794"/>
            <a:ext cx="1289246" cy="1216721"/>
          </a:xfrm>
          <a:prstGeom prst="curvedConnector3">
            <a:avLst/>
          </a:prstGeom>
          <a:ln w="24080">
            <a:solidFill>
              <a:srgbClr val="D1693E"/>
            </a:solidFill>
            <a:prstDash val="dot"/>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5584190" y="1991594"/>
          <a:ext cx="2679371" cy="1852033"/>
        </p:xfrm>
        <a:graphic>
          <a:graphicData uri="http://schemas.openxmlformats.org/drawingml/2006/table">
            <a:tbl>
              <a:tblPr firstRow="1" bandRow="1">
                <a:tableStyleId>{5C22544A-7EE6-4342-B048-85BDC9FD1C3A}</a:tableStyleId>
              </a:tblPr>
              <a:tblGrid>
                <a:gridCol w="535874">
                  <a:extLst>
                    <a:ext uri="{9D8B030D-6E8A-4147-A177-3AD203B41FA5}">
                      <a16:colId xmlns:a16="http://schemas.microsoft.com/office/drawing/2014/main" val="20000"/>
                    </a:ext>
                  </a:extLst>
                </a:gridCol>
                <a:gridCol w="535874">
                  <a:extLst>
                    <a:ext uri="{9D8B030D-6E8A-4147-A177-3AD203B41FA5}">
                      <a16:colId xmlns:a16="http://schemas.microsoft.com/office/drawing/2014/main" val="20001"/>
                    </a:ext>
                  </a:extLst>
                </a:gridCol>
                <a:gridCol w="535874">
                  <a:extLst>
                    <a:ext uri="{9D8B030D-6E8A-4147-A177-3AD203B41FA5}">
                      <a16:colId xmlns:a16="http://schemas.microsoft.com/office/drawing/2014/main" val="20002"/>
                    </a:ext>
                  </a:extLst>
                </a:gridCol>
                <a:gridCol w="535874">
                  <a:extLst>
                    <a:ext uri="{9D8B030D-6E8A-4147-A177-3AD203B41FA5}">
                      <a16:colId xmlns:a16="http://schemas.microsoft.com/office/drawing/2014/main" val="20003"/>
                    </a:ext>
                  </a:extLst>
                </a:gridCol>
                <a:gridCol w="535875">
                  <a:extLst>
                    <a:ext uri="{9D8B030D-6E8A-4147-A177-3AD203B41FA5}">
                      <a16:colId xmlns:a16="http://schemas.microsoft.com/office/drawing/2014/main" val="20004"/>
                    </a:ext>
                  </a:extLst>
                </a:gridCol>
              </a:tblGrid>
              <a:tr h="308672">
                <a:tc>
                  <a:txBody>
                    <a:bodyPr/>
                    <a:lstStyle/>
                    <a:p>
                      <a:r>
                        <a:rPr sz="1000" b="1">
                          <a:solidFill>
                            <a:srgbClr val="CCA3CF"/>
                          </a:solidFill>
                        </a:rPr>
                        <a:t>Drive Graph</a:t>
                      </a:r>
                    </a:p>
                  </a:txBody>
                  <a:tcPr>
                    <a:solidFill>
                      <a:srgbClr val="3C2548"/>
                    </a:solidFill>
                  </a:tcPr>
                </a:tc>
                <a:tc>
                  <a:txBody>
                    <a:bodyPr/>
                    <a:lstStyle/>
                    <a:p>
                      <a:r>
                        <a:rPr sz="1000" b="1">
                          <a:solidFill>
                            <a:srgbClr val="CCA3CF"/>
                          </a:solidFill>
                        </a:rPr>
                        <a:t>Blueprint Transform</a:t>
                      </a:r>
                    </a:p>
                  </a:txBody>
                  <a:tcPr>
                    <a:solidFill>
                      <a:srgbClr val="3C2548"/>
                    </a:solidFill>
                  </a:tcPr>
                </a:tc>
                <a:tc>
                  <a:txBody>
                    <a:bodyPr/>
                    <a:lstStyle/>
                    <a:p>
                      <a:r>
                        <a:rPr sz="1000" b="1">
                          <a:solidFill>
                            <a:srgbClr val="CCA3CF"/>
                          </a:solidFill>
                        </a:rPr>
                        <a:t>Layer Field</a:t>
                      </a:r>
                    </a:p>
                  </a:txBody>
                  <a:tcPr>
                    <a:solidFill>
                      <a:srgbClr val="3C2548"/>
                    </a:solidFill>
                  </a:tcPr>
                </a:tc>
                <a:tc>
                  <a:txBody>
                    <a:bodyPr/>
                    <a:lstStyle/>
                    <a:p>
                      <a:r>
                        <a:rPr sz="1000" b="1">
                          <a:solidFill>
                            <a:srgbClr val="CCA3CF"/>
                          </a:solidFill>
                        </a:rPr>
                        <a:t>Explorer</a:t>
                      </a:r>
                    </a:p>
                  </a:txBody>
                  <a:tcPr>
                    <a:solidFill>
                      <a:srgbClr val="3C2548"/>
                    </a:solidFill>
                  </a:tcPr>
                </a:tc>
                <a:tc>
                  <a:txBody>
                    <a:bodyPr/>
                    <a:lstStyle/>
                    <a:p>
                      <a:r>
                        <a:rPr sz="1000" b="1">
                          <a:solidFill>
                            <a:srgbClr val="CCA3CF"/>
                          </a:solidFill>
                        </a:rPr>
                        <a:t>Build Beta</a:t>
                      </a:r>
                    </a:p>
                  </a:txBody>
                  <a:tcPr>
                    <a:solidFill>
                      <a:srgbClr val="3C2548"/>
                    </a:solidFill>
                  </a:tcPr>
                </a:tc>
                <a:extLst>
                  <a:ext uri="{0D108BD9-81ED-4DB2-BD59-A6C34878D82A}">
                    <a16:rowId xmlns:a16="http://schemas.microsoft.com/office/drawing/2014/main" val="10000"/>
                  </a:ext>
                </a:extLst>
              </a:tr>
              <a:tr h="308672">
                <a:tc>
                  <a:txBody>
                    <a:bodyPr/>
                    <a:lstStyle/>
                    <a:p>
                      <a:r>
                        <a:rPr sz="1000" b="0">
                          <a:solidFill>
                            <a:srgbClr val="CCA3CF"/>
                          </a:solidFill>
                        </a:rPr>
                        <a:t>Vector Variant</a:t>
                      </a:r>
                    </a:p>
                  </a:txBody>
                  <a:tcPr>
                    <a:solidFill>
                      <a:srgbClr val="CFBDA8"/>
                    </a:solidFill>
                  </a:tcPr>
                </a:tc>
                <a:tc>
                  <a:txBody>
                    <a:bodyPr/>
                    <a:lstStyle/>
                    <a:p>
                      <a:r>
                        <a:rPr sz="1000" b="0">
                          <a:solidFill>
                            <a:srgbClr val="CCA3CF"/>
                          </a:solidFill>
                        </a:rPr>
                        <a:t>Switch</a:t>
                      </a:r>
                    </a:p>
                  </a:txBody>
                  <a:tcPr>
                    <a:solidFill>
                      <a:srgbClr val="CFBDA8"/>
                    </a:solidFill>
                  </a:tcPr>
                </a:tc>
                <a:tc>
                  <a:txBody>
                    <a:bodyPr/>
                    <a:lstStyle/>
                    <a:p>
                      <a:r>
                        <a:rPr sz="1000" b="0">
                          <a:solidFill>
                            <a:srgbClr val="CCA3CF"/>
                          </a:solidFill>
                        </a:rPr>
                        <a:t>Account</a:t>
                      </a:r>
                    </a:p>
                  </a:txBody>
                  <a:tcPr>
                    <a:solidFill>
                      <a:srgbClr val="CFBDA8"/>
                    </a:solidFill>
                  </a:tcPr>
                </a:tc>
                <a:tc>
                  <a:txBody>
                    <a:bodyPr/>
                    <a:lstStyle/>
                    <a:p>
                      <a:r>
                        <a:rPr sz="1000" b="0">
                          <a:solidFill>
                            <a:srgbClr val="CCA3CF"/>
                          </a:solidFill>
                        </a:rPr>
                        <a:t>Context</a:t>
                      </a:r>
                    </a:p>
                  </a:txBody>
                  <a:tcPr>
                    <a:solidFill>
                      <a:srgbClr val="CFBDA8"/>
                    </a:solidFill>
                  </a:tcPr>
                </a:tc>
                <a:tc>
                  <a:txBody>
                    <a:bodyPr/>
                    <a:lstStyle/>
                    <a:p>
                      <a:r>
                        <a:rPr sz="1000" b="0">
                          <a:solidFill>
                            <a:srgbClr val="CCA3CF"/>
                          </a:solidFill>
                        </a:rPr>
                        <a:t>State</a:t>
                      </a:r>
                    </a:p>
                  </a:txBody>
                  <a:tcPr>
                    <a:solidFill>
                      <a:srgbClr val="CFBDA8"/>
                    </a:solidFill>
                  </a:tcPr>
                </a:tc>
                <a:extLst>
                  <a:ext uri="{0D108BD9-81ED-4DB2-BD59-A6C34878D82A}">
                    <a16:rowId xmlns:a16="http://schemas.microsoft.com/office/drawing/2014/main" val="10001"/>
                  </a:ext>
                </a:extLst>
              </a:tr>
              <a:tr h="308672">
                <a:tc>
                  <a:txBody>
                    <a:bodyPr/>
                    <a:lstStyle/>
                    <a:p>
                      <a:r>
                        <a:rPr sz="1000" b="0">
                          <a:solidFill>
                            <a:srgbClr val="CCA3CF"/>
                          </a:solidFill>
                        </a:rPr>
                        <a:t>Brief</a:t>
                      </a:r>
                    </a:p>
                  </a:txBody>
                  <a:tcPr>
                    <a:solidFill>
                      <a:srgbClr val="F5F2EE"/>
                    </a:solidFill>
                  </a:tcPr>
                </a:tc>
                <a:tc>
                  <a:txBody>
                    <a:bodyPr/>
                    <a:lstStyle/>
                    <a:p>
                      <a:r>
                        <a:rPr sz="1000" b="0">
                          <a:solidFill>
                            <a:srgbClr val="CCA3CF"/>
                          </a:solidFill>
                        </a:rPr>
                        <a:t>Scope</a:t>
                      </a:r>
                    </a:p>
                  </a:txBody>
                  <a:tcPr>
                    <a:solidFill>
                      <a:srgbClr val="CFBDA8"/>
                    </a:solidFill>
                  </a:tcPr>
                </a:tc>
                <a:tc>
                  <a:txBody>
                    <a:bodyPr/>
                    <a:lstStyle/>
                    <a:p>
                      <a:r>
                        <a:rPr sz="1000" b="0">
                          <a:solidFill>
                            <a:srgbClr val="CCA3CF"/>
                          </a:solidFill>
                        </a:rPr>
                        <a:t>Atlas Friction</a:t>
                      </a:r>
                    </a:p>
                  </a:txBody>
                  <a:tcPr>
                    <a:solidFill>
                      <a:srgbClr val="F5F2EE"/>
                    </a:solidFill>
                  </a:tcPr>
                </a:tc>
                <a:tc>
                  <a:txBody>
                    <a:bodyPr/>
                    <a:lstStyle/>
                    <a:p>
                      <a:r>
                        <a:rPr sz="1000" b="0">
                          <a:solidFill>
                            <a:srgbClr val="CCA3CF"/>
                          </a:solidFill>
                        </a:rPr>
                        <a:t>Cell</a:t>
                      </a:r>
                    </a:p>
                  </a:txBody>
                  <a:tcPr>
                    <a:solidFill>
                      <a:srgbClr val="CFBDA8"/>
                    </a:solidFill>
                  </a:tcPr>
                </a:tc>
                <a:tc>
                  <a:txBody>
                    <a:bodyPr/>
                    <a:lstStyle/>
                    <a:p>
                      <a:r>
                        <a:rPr sz="1000" b="0">
                          <a:solidFill>
                            <a:srgbClr val="CCA3CF"/>
                          </a:solidFill>
                        </a:rPr>
                        <a:t>Cortex Harbor</a:t>
                      </a:r>
                    </a:p>
                  </a:txBody>
                  <a:tcPr>
                    <a:solidFill>
                      <a:srgbClr val="F5F2EE"/>
                    </a:solidFill>
                  </a:tcPr>
                </a:tc>
                <a:extLst>
                  <a:ext uri="{0D108BD9-81ED-4DB2-BD59-A6C34878D82A}">
                    <a16:rowId xmlns:a16="http://schemas.microsoft.com/office/drawing/2014/main" val="10002"/>
                  </a:ext>
                </a:extLst>
              </a:tr>
              <a:tr h="308672">
                <a:tc>
                  <a:txBody>
                    <a:bodyPr/>
                    <a:lstStyle/>
                    <a:p>
                      <a:r>
                        <a:rPr sz="1000" b="0">
                          <a:solidFill>
                            <a:srgbClr val="CCA3CF"/>
                          </a:solidFill>
                        </a:rPr>
                        <a:t>Trend Column</a:t>
                      </a:r>
                    </a:p>
                  </a:txBody>
                  <a:tcPr>
                    <a:solidFill>
                      <a:srgbClr val="CFBDA8"/>
                    </a:solidFill>
                  </a:tcPr>
                </a:tc>
                <a:tc>
                  <a:txBody>
                    <a:bodyPr/>
                    <a:lstStyle/>
                    <a:p>
                      <a:r>
                        <a:rPr sz="1000" b="0">
                          <a:solidFill>
                            <a:srgbClr val="CCA3CF"/>
                          </a:solidFill>
                        </a:rPr>
                        <a:t>Connector Plan</a:t>
                      </a:r>
                    </a:p>
                  </a:txBody>
                  <a:tcPr>
                    <a:solidFill>
                      <a:srgbClr val="CFBDA8"/>
                    </a:solidFill>
                  </a:tcPr>
                </a:tc>
                <a:tc>
                  <a:txBody>
                    <a:bodyPr/>
                    <a:lstStyle/>
                    <a:p>
                      <a:r>
                        <a:rPr sz="1000" b="0">
                          <a:solidFill>
                            <a:srgbClr val="CCA3CF"/>
                          </a:solidFill>
                        </a:rPr>
                        <a:t>Schema Runtime</a:t>
                      </a:r>
                    </a:p>
                  </a:txBody>
                  <a:tcPr>
                    <a:solidFill>
                      <a:srgbClr val="CFBDA8"/>
                    </a:solidFill>
                  </a:tcPr>
                </a:tc>
                <a:tc>
                  <a:txBody>
                    <a:bodyPr/>
                    <a:lstStyle/>
                    <a:p>
                      <a:r>
                        <a:rPr sz="1000" b="0">
                          <a:solidFill>
                            <a:srgbClr val="CCA3CF"/>
                          </a:solidFill>
                        </a:rPr>
                        <a:t>Route</a:t>
                      </a:r>
                    </a:p>
                  </a:txBody>
                  <a:tcPr>
                    <a:solidFill>
                      <a:srgbClr val="CFBDA8"/>
                    </a:solidFill>
                  </a:tcPr>
                </a:tc>
                <a:tc>
                  <a:txBody>
                    <a:bodyPr/>
                    <a:lstStyle/>
                    <a:p>
                      <a:r>
                        <a:rPr sz="1000" b="0">
                          <a:solidFill>
                            <a:srgbClr val="CCA3CF"/>
                          </a:solidFill>
                        </a:rPr>
                        <a:t>Cadence Foundation</a:t>
                      </a:r>
                    </a:p>
                  </a:txBody>
                  <a:tcPr>
                    <a:solidFill>
                      <a:srgbClr val="CFBDA8"/>
                    </a:solidFill>
                  </a:tcPr>
                </a:tc>
                <a:extLst>
                  <a:ext uri="{0D108BD9-81ED-4DB2-BD59-A6C34878D82A}">
                    <a16:rowId xmlns:a16="http://schemas.microsoft.com/office/drawing/2014/main" val="10003"/>
                  </a:ext>
                </a:extLst>
              </a:tr>
              <a:tr h="308672">
                <a:tc>
                  <a:txBody>
                    <a:bodyPr/>
                    <a:lstStyle/>
                    <a:p>
                      <a:r>
                        <a:rPr sz="1000" b="0">
                          <a:solidFill>
                            <a:srgbClr val="CCA3CF"/>
                          </a:solidFill>
                        </a:rPr>
                        <a:t>Channel</a:t>
                      </a:r>
                    </a:p>
                  </a:txBody>
                  <a:tcPr>
                    <a:solidFill>
                      <a:srgbClr val="F5F2EE"/>
                    </a:solidFill>
                  </a:tcPr>
                </a:tc>
                <a:tc>
                  <a:txBody>
                    <a:bodyPr/>
                    <a:lstStyle/>
                    <a:p>
                      <a:r>
                        <a:rPr sz="1000" b="0">
                          <a:solidFill>
                            <a:srgbClr val="CCA3CF"/>
                          </a:solidFill>
                        </a:rPr>
                        <a:t>Inventory</a:t>
                      </a:r>
                    </a:p>
                  </a:txBody>
                  <a:tcPr>
                    <a:solidFill>
                      <a:srgbClr val="CFBDA8"/>
                    </a:solidFill>
                  </a:tcPr>
                </a:tc>
                <a:tc>
                  <a:txBody>
                    <a:bodyPr/>
                    <a:lstStyle/>
                    <a:p>
                      <a:r>
                        <a:rPr sz="1000" b="0">
                          <a:solidFill>
                            <a:srgbClr val="CCA3CF"/>
                          </a:solidFill>
                        </a:rPr>
                        <a:t>Thread Lens</a:t>
                      </a:r>
                    </a:p>
                  </a:txBody>
                  <a:tcPr>
                    <a:solidFill>
                      <a:srgbClr val="F5F2EE"/>
                    </a:solidFill>
                  </a:tcPr>
                </a:tc>
                <a:tc>
                  <a:txBody>
                    <a:bodyPr/>
                    <a:lstStyle/>
                    <a:p>
                      <a:r>
                        <a:rPr sz="1000" b="0">
                          <a:solidFill>
                            <a:srgbClr val="CCA3CF"/>
                          </a:solidFill>
                        </a:rPr>
                        <a:t>Query Channel</a:t>
                      </a:r>
                    </a:p>
                  </a:txBody>
                  <a:tcPr>
                    <a:solidFill>
                      <a:srgbClr val="CFBDA8"/>
                    </a:solidFill>
                  </a:tcPr>
                </a:tc>
                <a:tc>
                  <a:txBody>
                    <a:bodyPr/>
                    <a:lstStyle/>
                    <a:p>
                      <a:r>
                        <a:rPr sz="1000" b="0">
                          <a:solidFill>
                            <a:srgbClr val="CCA3CF"/>
                          </a:solidFill>
                        </a:rPr>
                        <a:t>Network</a:t>
                      </a:r>
                    </a:p>
                  </a:txBody>
                  <a:tcPr>
                    <a:solidFill>
                      <a:srgbClr val="F5F2EE"/>
                    </a:solidFill>
                  </a:tcPr>
                </a:tc>
                <a:extLst>
                  <a:ext uri="{0D108BD9-81ED-4DB2-BD59-A6C34878D82A}">
                    <a16:rowId xmlns:a16="http://schemas.microsoft.com/office/drawing/2014/main" val="10004"/>
                  </a:ext>
                </a:extLst>
              </a:tr>
              <a:tr h="308673">
                <a:tc>
                  <a:txBody>
                    <a:bodyPr/>
                    <a:lstStyle/>
                    <a:p>
                      <a:r>
                        <a:rPr sz="1000" b="0">
                          <a:solidFill>
                            <a:srgbClr val="CCA3CF"/>
                          </a:solidFill>
                        </a:rPr>
                        <a:t>Asset Needle</a:t>
                      </a:r>
                    </a:p>
                  </a:txBody>
                  <a:tcPr>
                    <a:solidFill>
                      <a:srgbClr val="CFBDA8"/>
                    </a:solidFill>
                  </a:tcPr>
                </a:tc>
                <a:tc>
                  <a:txBody>
                    <a:bodyPr/>
                    <a:lstStyle/>
                    <a:p>
                      <a:r>
                        <a:rPr sz="1000" b="0">
                          <a:solidFill>
                            <a:srgbClr val="CCA3CF"/>
                          </a:solidFill>
                        </a:rPr>
                        <a:t>Frequency Duration</a:t>
                      </a:r>
                    </a:p>
                  </a:txBody>
                  <a:tcPr>
                    <a:solidFill>
                      <a:srgbClr val="CFBDA8"/>
                    </a:solidFill>
                  </a:tcPr>
                </a:tc>
                <a:tc>
                  <a:txBody>
                    <a:bodyPr/>
                    <a:lstStyle/>
                    <a:p>
                      <a:r>
                        <a:rPr sz="1000" b="0">
                          <a:solidFill>
                            <a:srgbClr val="CCA3CF"/>
                          </a:solidFill>
                        </a:rPr>
                        <a:t>Analysis</a:t>
                      </a:r>
                    </a:p>
                  </a:txBody>
                  <a:tcPr>
                    <a:solidFill>
                      <a:srgbClr val="CFBDA8"/>
                    </a:solidFill>
                  </a:tcPr>
                </a:tc>
                <a:tc>
                  <a:txBody>
                    <a:bodyPr/>
                    <a:lstStyle/>
                    <a:p>
                      <a:r>
                        <a:rPr sz="1000" b="0">
                          <a:solidFill>
                            <a:srgbClr val="CCA3CF"/>
                          </a:solidFill>
                        </a:rPr>
                        <a:t>Aspect Record</a:t>
                      </a:r>
                    </a:p>
                  </a:txBody>
                  <a:tcPr>
                    <a:solidFill>
                      <a:srgbClr val="CFBDA8"/>
                    </a:solidFill>
                  </a:tcPr>
                </a:tc>
                <a:tc>
                  <a:txBody>
                    <a:bodyPr/>
                    <a:lstStyle/>
                    <a:p>
                      <a:r>
                        <a:rPr sz="1000" b="0">
                          <a:solidFill>
                            <a:srgbClr val="CCA3CF"/>
                          </a:solidFill>
                        </a:rPr>
                        <a:t>Event Bridge</a:t>
                      </a:r>
                    </a:p>
                  </a:txBody>
                  <a:tcPr>
                    <a:solidFill>
                      <a:srgbClr val="CFBDA8"/>
                    </a:solidFill>
                  </a:tcPr>
                </a:tc>
                <a:extLst>
                  <a:ext uri="{0D108BD9-81ED-4DB2-BD59-A6C34878D82A}">
                    <a16:rowId xmlns:a16="http://schemas.microsoft.com/office/drawing/2014/main" val="10005"/>
                  </a:ext>
                </a:extLst>
              </a:tr>
            </a:tbl>
          </a:graphicData>
        </a:graphic>
      </p:graphicFrame>
      <p:sp>
        <p:nvSpPr>
          <p:cNvPr id="17" name="Isosceles Triangle 16"/>
          <p:cNvSpPr/>
          <p:nvPr/>
        </p:nvSpPr>
        <p:spPr>
          <a:xfrm>
            <a:off x="11420932" y="767045"/>
            <a:ext cx="366052" cy="1959304"/>
          </a:xfrm>
          <a:prstGeom prst="triangle">
            <a:avLst/>
          </a:prstGeom>
          <a:solidFill>
            <a:srgbClr val="6B4796"/>
          </a:solidFill>
          <a:ln w="9116">
            <a:solidFill>
              <a:srgbClr val="30204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Multiply 17"/>
          <p:cNvSpPr/>
          <p:nvPr/>
        </p:nvSpPr>
        <p:spPr>
          <a:xfrm>
            <a:off x="1187509" y="2893428"/>
            <a:ext cx="1211188" cy="1015515"/>
          </a:xfrm>
          <a:prstGeom prst="mathMultiply">
            <a:avLst/>
          </a:prstGeom>
          <a:solidFill>
            <a:srgbClr val="2E68C0"/>
          </a:solidFill>
          <a:ln w="16958">
            <a:solidFill>
              <a:srgbClr val="2C2FA1"/>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arallelogram 18"/>
          <p:cNvSpPr/>
          <p:nvPr/>
        </p:nvSpPr>
        <p:spPr>
          <a:xfrm>
            <a:off x="9000614" y="1478056"/>
            <a:ext cx="615450" cy="1098518"/>
          </a:xfrm>
          <a:prstGeom prst="parallelogram">
            <a:avLst/>
          </a:prstGeom>
          <a:solidFill>
            <a:srgbClr val="3BC670"/>
          </a:solidFill>
          <a:ln w="23875">
            <a:solidFill>
              <a:srgbClr val="90222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_example_image.jpg"/>
          <p:cNvPicPr>
            <a:picLocks noChangeAspect="1"/>
          </p:cNvPicPr>
          <p:nvPr/>
        </p:nvPicPr>
        <p:blipFill>
          <a:blip r:embed="rId3"/>
          <a:srcRect l="10317" t="14036" r="6181" b="10029"/>
          <a:stretch>
            <a:fillRect/>
          </a:stretch>
        </p:blipFill>
        <p:spPr>
          <a:xfrm>
            <a:off x="1451099" y="4003791"/>
            <a:ext cx="1545897" cy="998725"/>
          </a:xfrm>
          <a:prstGeom prst="rect">
            <a:avLst/>
          </a:prstGeom>
        </p:spPr>
      </p:pic>
      <p:pic>
        <p:nvPicPr>
          <p:cNvPr id="21" name="Picture 20" descr="_example_image.jpg"/>
          <p:cNvPicPr>
            <a:picLocks noChangeAspect="1"/>
          </p:cNvPicPr>
          <p:nvPr/>
        </p:nvPicPr>
        <p:blipFill>
          <a:blip r:embed="rId3"/>
          <a:srcRect/>
          <a:stretch>
            <a:fillRect/>
          </a:stretch>
        </p:blipFill>
        <p:spPr>
          <a:xfrm>
            <a:off x="2734415" y="341072"/>
            <a:ext cx="1621530" cy="795014"/>
          </a:xfrm>
          <a:prstGeom prst="rect">
            <a:avLst/>
          </a:prstGeom>
        </p:spPr>
      </p:pic>
      <p:sp>
        <p:nvSpPr>
          <p:cNvPr id="22" name="TextBox 21"/>
          <p:cNvSpPr txBox="1"/>
          <p:nvPr/>
        </p:nvSpPr>
        <p:spPr>
          <a:xfrm>
            <a:off x="8257638" y="4340751"/>
            <a:ext cx="1303875" cy="1531462"/>
          </a:xfrm>
          <a:prstGeom prst="rect">
            <a:avLst/>
          </a:prstGeom>
          <a:solidFill>
            <a:srgbClr val="748228"/>
          </a:solidFill>
        </p:spPr>
        <p:txBody>
          <a:bodyPr wrap="none" lIns="84164" tIns="84164" rIns="84164" bIns="84164">
            <a:spAutoFit/>
          </a:bodyPr>
          <a:lstStyle/>
          <a:p>
            <a:r>
              <a:rPr sz="800" b="0" i="0" u="none">
                <a:solidFill>
                  <a:srgbClr val="E0CD8F"/>
                </a:solidFill>
                <a:latin typeface="Georgia"/>
              </a:rPr>
              <a:t>Depth Pulse Stack Heading Payload Aspect</a:t>
            </a:r>
          </a:p>
        </p:txBody>
      </p:sp>
      <p:cxnSp>
        <p:nvCxnSpPr>
          <p:cNvPr id="23" name="Connector 22"/>
          <p:cNvCxnSpPr/>
          <p:nvPr/>
        </p:nvCxnSpPr>
        <p:spPr>
          <a:xfrm>
            <a:off x="7088053" y="4532253"/>
            <a:ext cx="817524" cy="468027"/>
          </a:xfrm>
          <a:prstGeom prst="curvedConnector3">
            <a:avLst/>
          </a:prstGeom>
          <a:ln w="24204">
            <a:solidFill>
              <a:srgbClr val="9743C5"/>
            </a:solidFill>
            <a:prstDash val="soli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91250" y="3250431"/>
            <a:ext cx="520399" cy="2090355"/>
          </a:xfrm>
          <a:prstGeom prst="rect">
            <a:avLst/>
          </a:prstGeom>
          <a:noFill/>
        </p:spPr>
        <p:txBody>
          <a:bodyPr wrap="none" lIns="83147" tIns="83147" rIns="83147" bIns="83147">
            <a:spAutoFit/>
          </a:bodyPr>
          <a:lstStyle/>
          <a:p>
            <a:r>
              <a:rPr sz="3300" b="1" i="0" u="sng">
                <a:solidFill>
                  <a:srgbClr val="A0CE3B"/>
                </a:solidFill>
                <a:latin typeface="Arial"/>
              </a:rPr>
              <a:t>Array Journey Sync Response Target Mode Spectrum</a:t>
            </a:r>
          </a:p>
        </p:txBody>
      </p:sp>
      <p:graphicFrame>
        <p:nvGraphicFramePr>
          <p:cNvPr id="25" name="Chart 24"/>
          <p:cNvGraphicFramePr>
            <a:graphicFrameLocks noGrp="1"/>
          </p:cNvGraphicFramePr>
          <p:nvPr/>
        </p:nvGraphicFramePr>
        <p:xfrm>
          <a:off x="8159850" y="243905"/>
          <a:ext cx="3209521" cy="2887796"/>
        </p:xfrm>
        <a:graphic>
          <a:graphicData uri="http://schemas.openxmlformats.org/drawingml/2006/chart">
            <c:chart xmlns:c="http://schemas.openxmlformats.org/drawingml/2006/chart" xmlns:r="http://schemas.openxmlformats.org/officeDocument/2006/relationships" r:id="rId4"/>
          </a:graphicData>
        </a:graphic>
      </p:graphicFrame>
      <p:sp>
        <p:nvSpPr>
          <p:cNvPr id="26" name="Right Triangle 25"/>
          <p:cNvSpPr/>
          <p:nvPr/>
        </p:nvSpPr>
        <p:spPr>
          <a:xfrm>
            <a:off x="2083982" y="457126"/>
            <a:ext cx="412166" cy="381294"/>
          </a:xfrm>
          <a:prstGeom prst="rtTriangle">
            <a:avLst/>
          </a:prstGeom>
          <a:noFill/>
          <a:ln w="16491">
            <a:solidFill>
              <a:srgbClr val="DC3847"/>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Graphic 27">
            <a:extLst>
              <a:ext uri="{FF2B5EF4-FFF2-40B4-BE49-F238E27FC236}">
                <a16:creationId xmlns:a16="http://schemas.microsoft.com/office/drawing/2014/main" id="{BDCDD5FB-5A32-6F4A-5976-79810DE5EB59}"/>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458454" y="5274627"/>
            <a:ext cx="2212827" cy="1325271"/>
          </a:xfrm>
          <a:prstGeom prst="rect">
            <a:avLst/>
          </a:prstGeom>
        </p:spPr>
      </p:pic>
      <p:pic>
        <p:nvPicPr>
          <p:cNvPr id="30" name="Graphic 29">
            <a:extLst>
              <a:ext uri="{FF2B5EF4-FFF2-40B4-BE49-F238E27FC236}">
                <a16:creationId xmlns:a16="http://schemas.microsoft.com/office/drawing/2014/main" id="{71DF466A-DBA2-FDA6-2095-81B2DED9B00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11024442" y="3409833"/>
            <a:ext cx="1017241" cy="1272161"/>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1363072" y="2457727"/>
          <a:ext cx="2682829" cy="1552813"/>
        </p:xfrm>
        <a:graphic>
          <a:graphicData uri="http://schemas.openxmlformats.org/drawingml/2006/chart">
            <c:chart xmlns:c="http://schemas.openxmlformats.org/drawingml/2006/chart" xmlns:r="http://schemas.openxmlformats.org/officeDocument/2006/relationships" r:id="rId2"/>
          </a:graphicData>
        </a:graphic>
      </p:graphicFrame>
      <p:sp>
        <p:nvSpPr>
          <p:cNvPr id="3" name="Freeform 2"/>
          <p:cNvSpPr/>
          <p:nvPr/>
        </p:nvSpPr>
        <p:spPr>
          <a:xfrm>
            <a:off x="8644009" y="5533240"/>
            <a:ext cx="951388" cy="628885"/>
          </a:xfrm>
          <a:custGeom>
            <a:avLst/>
            <a:gdLst/>
            <a:ahLst/>
            <a:cxnLst/>
            <a:rect l="l" t="t" r="r" b="b"/>
            <a:pathLst>
              <a:path w="951388" h="628885">
                <a:moveTo>
                  <a:pt x="0" y="305708"/>
                </a:moveTo>
                <a:lnTo>
                  <a:pt x="163680" y="0"/>
                </a:lnTo>
                <a:lnTo>
                  <a:pt x="337589" y="262036"/>
                </a:lnTo>
                <a:lnTo>
                  <a:pt x="511499" y="524071"/>
                </a:lnTo>
                <a:lnTo>
                  <a:pt x="695638" y="218363"/>
                </a:lnTo>
                <a:lnTo>
                  <a:pt x="951388" y="331912"/>
                </a:lnTo>
                <a:lnTo>
                  <a:pt x="951388" y="628885"/>
                </a:lnTo>
                <a:lnTo>
                  <a:pt x="0" y="628885"/>
                </a:lnTo>
                <a:close/>
              </a:path>
            </a:pathLst>
          </a:custGeom>
          <a:solidFill>
            <a:srgbClr val="7B8E9F"/>
          </a:solidFill>
          <a:ln w="17886">
            <a:solidFill>
              <a:srgbClr val="3C54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7638" y="5776665"/>
            <a:ext cx="487823" cy="294673"/>
          </a:xfrm>
          <a:prstGeom prst="rect">
            <a:avLst/>
          </a:prstGeom>
          <a:solidFill>
            <a:srgbClr val="B977E0"/>
          </a:solidFill>
          <a:ln w="22890">
            <a:solidFill>
              <a:srgbClr val="427E6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279135" y="3732702"/>
          <a:ext cx="2486920" cy="2046325"/>
        </p:xfrm>
        <a:graphic>
          <a:graphicData uri="http://schemas.openxmlformats.org/drawingml/2006/table">
            <a:tbl>
              <a:tblPr firstRow="1" bandRow="1">
                <a:tableStyleId>{5C22544A-7EE6-4342-B048-85BDC9FD1C3A}</a:tableStyleId>
              </a:tblPr>
              <a:tblGrid>
                <a:gridCol w="621730">
                  <a:extLst>
                    <a:ext uri="{9D8B030D-6E8A-4147-A177-3AD203B41FA5}">
                      <a16:colId xmlns:a16="http://schemas.microsoft.com/office/drawing/2014/main" val="20000"/>
                    </a:ext>
                  </a:extLst>
                </a:gridCol>
                <a:gridCol w="621730">
                  <a:extLst>
                    <a:ext uri="{9D8B030D-6E8A-4147-A177-3AD203B41FA5}">
                      <a16:colId xmlns:a16="http://schemas.microsoft.com/office/drawing/2014/main" val="20001"/>
                    </a:ext>
                  </a:extLst>
                </a:gridCol>
                <a:gridCol w="621730">
                  <a:extLst>
                    <a:ext uri="{9D8B030D-6E8A-4147-A177-3AD203B41FA5}">
                      <a16:colId xmlns:a16="http://schemas.microsoft.com/office/drawing/2014/main" val="20002"/>
                    </a:ext>
                  </a:extLst>
                </a:gridCol>
                <a:gridCol w="621730">
                  <a:extLst>
                    <a:ext uri="{9D8B030D-6E8A-4147-A177-3AD203B41FA5}">
                      <a16:colId xmlns:a16="http://schemas.microsoft.com/office/drawing/2014/main" val="20003"/>
                    </a:ext>
                  </a:extLst>
                </a:gridCol>
              </a:tblGrid>
              <a:tr h="1023162">
                <a:tc>
                  <a:txBody>
                    <a:bodyPr/>
                    <a:lstStyle/>
                    <a:p>
                      <a:r>
                        <a:rPr sz="1100" b="1">
                          <a:solidFill>
                            <a:srgbClr val="A392A0"/>
                          </a:solidFill>
                        </a:rPr>
                        <a:t>Guide Center</a:t>
                      </a:r>
                    </a:p>
                  </a:txBody>
                  <a:tcPr>
                    <a:solidFill>
                      <a:srgbClr val="CC2D39"/>
                    </a:solidFill>
                  </a:tcPr>
                </a:tc>
                <a:tc>
                  <a:txBody>
                    <a:bodyPr/>
                    <a:lstStyle/>
                    <a:p>
                      <a:r>
                        <a:rPr sz="1100" b="1">
                          <a:solidFill>
                            <a:srgbClr val="A392A0"/>
                          </a:solidFill>
                        </a:rPr>
                        <a:t>Query</a:t>
                      </a:r>
                    </a:p>
                  </a:txBody>
                  <a:tcPr>
                    <a:solidFill>
                      <a:srgbClr val="CC2D39"/>
                    </a:solidFill>
                  </a:tcPr>
                </a:tc>
                <a:tc>
                  <a:txBody>
                    <a:bodyPr/>
                    <a:lstStyle/>
                    <a:p>
                      <a:r>
                        <a:rPr sz="1100" b="1">
                          <a:solidFill>
                            <a:srgbClr val="A392A0"/>
                          </a:solidFill>
                        </a:rPr>
                        <a:t>Group</a:t>
                      </a:r>
                    </a:p>
                  </a:txBody>
                  <a:tcPr>
                    <a:solidFill>
                      <a:srgbClr val="CC2D39"/>
                    </a:solidFill>
                  </a:tcPr>
                </a:tc>
                <a:tc>
                  <a:txBody>
                    <a:bodyPr/>
                    <a:lstStyle/>
                    <a:p>
                      <a:r>
                        <a:rPr sz="1100" b="1">
                          <a:solidFill>
                            <a:srgbClr val="A392A0"/>
                          </a:solidFill>
                        </a:rPr>
                        <a:t>Profile</a:t>
                      </a:r>
                    </a:p>
                  </a:txBody>
                  <a:tcPr>
                    <a:solidFill>
                      <a:srgbClr val="CC2D39"/>
                    </a:solidFill>
                  </a:tcPr>
                </a:tc>
                <a:extLst>
                  <a:ext uri="{0D108BD9-81ED-4DB2-BD59-A6C34878D82A}">
                    <a16:rowId xmlns:a16="http://schemas.microsoft.com/office/drawing/2014/main" val="10000"/>
                  </a:ext>
                </a:extLst>
              </a:tr>
              <a:tr h="1023163">
                <a:tc>
                  <a:txBody>
                    <a:bodyPr/>
                    <a:lstStyle/>
                    <a:p>
                      <a:r>
                        <a:rPr sz="1100" b="0">
                          <a:solidFill>
                            <a:srgbClr val="A392A0"/>
                          </a:solidFill>
                        </a:rPr>
                        <a:t>Goal Pipeline</a:t>
                      </a:r>
                    </a:p>
                  </a:txBody>
                  <a:tcPr>
                    <a:solidFill>
                      <a:srgbClr val="E2E7F3"/>
                    </a:solidFill>
                  </a:tcPr>
                </a:tc>
                <a:tc>
                  <a:txBody>
                    <a:bodyPr/>
                    <a:lstStyle/>
                    <a:p>
                      <a:r>
                        <a:rPr sz="1100" b="0">
                          <a:solidFill>
                            <a:srgbClr val="A392A0"/>
                          </a:solidFill>
                        </a:rPr>
                        <a:t>Surface</a:t>
                      </a:r>
                    </a:p>
                  </a:txBody>
                  <a:tcPr>
                    <a:solidFill>
                      <a:srgbClr val="C3CDE6"/>
                    </a:solidFill>
                  </a:tcPr>
                </a:tc>
                <a:tc>
                  <a:txBody>
                    <a:bodyPr/>
                    <a:lstStyle/>
                    <a:p>
                      <a:r>
                        <a:rPr sz="1100" b="0">
                          <a:solidFill>
                            <a:srgbClr val="A392A0"/>
                          </a:solidFill>
                        </a:rPr>
                        <a:t>Viewport Drive</a:t>
                      </a:r>
                    </a:p>
                  </a:txBody>
                  <a:tcPr>
                    <a:solidFill>
                      <a:srgbClr val="E2E7F3"/>
                    </a:solidFill>
                  </a:tcPr>
                </a:tc>
                <a:tc>
                  <a:txBody>
                    <a:bodyPr/>
                    <a:lstStyle/>
                    <a:p>
                      <a:r>
                        <a:rPr sz="1100" b="0">
                          <a:solidFill>
                            <a:srgbClr val="A392A0"/>
                          </a:solidFill>
                        </a:rPr>
                        <a:t>Sync</a:t>
                      </a:r>
                    </a:p>
                  </a:txBody>
                  <a:tcPr>
                    <a:solidFill>
                      <a:srgbClr val="C3CDE6"/>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9821514" y="3738926"/>
            <a:ext cx="974340" cy="1920899"/>
          </a:xfrm>
          <a:prstGeom prst="rect">
            <a:avLst/>
          </a:prstGeom>
          <a:noFill/>
        </p:spPr>
        <p:txBody>
          <a:bodyPr wrap="none" lIns="73419" tIns="73419" rIns="73419" bIns="73419">
            <a:spAutoFit/>
          </a:bodyPr>
          <a:lstStyle/>
          <a:p>
            <a:r>
              <a:rPr sz="800" b="0" i="0" u="none">
                <a:solidFill>
                  <a:srgbClr val="48CA3A"/>
                </a:solidFill>
                <a:latin typeface="Verdana"/>
              </a:rPr>
              <a:t>Energy Pipeline</a:t>
            </a:r>
          </a:p>
        </p:txBody>
      </p:sp>
      <p:graphicFrame>
        <p:nvGraphicFramePr>
          <p:cNvPr id="7" name="Chart 6"/>
          <p:cNvGraphicFramePr>
            <a:graphicFrameLocks noGrp="1"/>
          </p:cNvGraphicFramePr>
          <p:nvPr/>
        </p:nvGraphicFramePr>
        <p:xfrm>
          <a:off x="4241692" y="1768315"/>
          <a:ext cx="2553497" cy="1442482"/>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8417775" y="724860"/>
            <a:ext cx="2054494" cy="888407"/>
          </a:xfrm>
          <a:prstGeom prst="rect">
            <a:avLst/>
          </a:prstGeom>
          <a:noFill/>
        </p:spPr>
        <p:txBody>
          <a:bodyPr wrap="none" lIns="39022" tIns="39022" rIns="39022" bIns="39022">
            <a:spAutoFit/>
          </a:bodyPr>
          <a:lstStyle/>
          <a:p>
            <a:r>
              <a:rPr sz="1200" b="0" i="1" u="none">
                <a:solidFill>
                  <a:srgbClr val="3CDB64"/>
                </a:solidFill>
                <a:latin typeface="Verdana"/>
              </a:rPr>
              <a:t>Zone Dispatch Frequency Query Envelope Journey Buffer Spectrum Concept Estimate Gateway Origin Frame Panel Estimate Intent Horizon Package Stack Bridge Echo Review Precision Envelope Option Benchmark Result Wave Engine Mesh Circuit Guide Cell Queue Level Texture Track Anchor</a:t>
            </a:r>
          </a:p>
        </p:txBody>
      </p:sp>
      <p:sp>
        <p:nvSpPr>
          <p:cNvPr id="9" name="TextBox 8"/>
          <p:cNvSpPr txBox="1"/>
          <p:nvPr/>
        </p:nvSpPr>
        <p:spPr>
          <a:xfrm>
            <a:off x="4452474" y="5682490"/>
            <a:ext cx="2856372" cy="619632"/>
          </a:xfrm>
          <a:prstGeom prst="rect">
            <a:avLst/>
          </a:prstGeom>
          <a:noFill/>
        </p:spPr>
        <p:txBody>
          <a:bodyPr wrap="none" lIns="22175" tIns="22175" rIns="22175" bIns="22175">
            <a:spAutoFit/>
          </a:bodyPr>
          <a:lstStyle/>
          <a:p>
            <a:r>
              <a:rPr sz="2700" b="0" i="1" u="none">
                <a:solidFill>
                  <a:srgbClr val="202B2B"/>
                </a:solidFill>
                <a:latin typeface="Trebuchet MS"/>
              </a:rPr>
              <a:t>Feature Account Epoch Path Signal Point Forecast Adaptive Instance Switch Case Target Array</a:t>
            </a:r>
          </a:p>
        </p:txBody>
      </p:sp>
      <p:sp>
        <p:nvSpPr>
          <p:cNvPr id="10" name="Right Arrow Callout 9"/>
          <p:cNvSpPr/>
          <p:nvPr/>
        </p:nvSpPr>
        <p:spPr>
          <a:xfrm>
            <a:off x="6775458" y="1552602"/>
            <a:ext cx="1503860" cy="1351692"/>
          </a:xfrm>
          <a:prstGeom prst="rightArrowCallout">
            <a:avLst/>
          </a:prstGeom>
          <a:solidFill>
            <a:srgbClr val="B8AC5B"/>
          </a:solidFill>
          <a:ln w="28876">
            <a:solidFill>
              <a:srgbClr val="5F4FB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Connector 10"/>
          <p:cNvCxnSpPr/>
          <p:nvPr/>
        </p:nvCxnSpPr>
        <p:spPr>
          <a:xfrm>
            <a:off x="9671384" y="5841026"/>
            <a:ext cx="1895544" cy="448231"/>
          </a:xfrm>
          <a:prstGeom prst="line">
            <a:avLst/>
          </a:prstGeom>
          <a:ln w="50631">
            <a:solidFill>
              <a:srgbClr val="AC4A42"/>
            </a:solidFill>
            <a:prstDash val="dot"/>
          </a:ln>
        </p:spPr>
        <p:style>
          <a:lnRef idx="2">
            <a:schemeClr val="accent1"/>
          </a:lnRef>
          <a:fillRef idx="0">
            <a:schemeClr val="accent1"/>
          </a:fillRef>
          <a:effectRef idx="1">
            <a:schemeClr val="accent1"/>
          </a:effectRef>
          <a:fontRef idx="minor">
            <a:schemeClr val="tx1"/>
          </a:fontRef>
        </p:style>
      </p:cxnSp>
      <p:pic>
        <p:nvPicPr>
          <p:cNvPr id="12" name="Picture 11" descr="_example_image.jpg"/>
          <p:cNvPicPr>
            <a:picLocks noChangeAspect="1"/>
          </p:cNvPicPr>
          <p:nvPr/>
        </p:nvPicPr>
        <p:blipFill>
          <a:blip r:embed="rId4"/>
          <a:srcRect/>
          <a:stretch>
            <a:fillRect/>
          </a:stretch>
        </p:blipFill>
        <p:spPr>
          <a:xfrm>
            <a:off x="3489479" y="4913751"/>
            <a:ext cx="2810147" cy="965164"/>
          </a:xfrm>
          <a:prstGeom prst="rect">
            <a:avLst/>
          </a:prstGeom>
        </p:spPr>
      </p:pic>
      <p:sp>
        <p:nvSpPr>
          <p:cNvPr id="13" name="TextBox 12"/>
          <p:cNvSpPr txBox="1"/>
          <p:nvPr/>
        </p:nvSpPr>
        <p:spPr>
          <a:xfrm>
            <a:off x="3331242" y="2793134"/>
            <a:ext cx="3136078" cy="657439"/>
          </a:xfrm>
          <a:prstGeom prst="rect">
            <a:avLst/>
          </a:prstGeom>
          <a:solidFill>
            <a:srgbClr val="6CD0DE"/>
          </a:solidFill>
        </p:spPr>
        <p:txBody>
          <a:bodyPr wrap="none" lIns="38521" tIns="38521" rIns="38521" bIns="38521">
            <a:spAutoFit/>
          </a:bodyPr>
          <a:lstStyle/>
          <a:p>
            <a:r>
              <a:rPr sz="4800" b="1" i="0" u="none">
                <a:solidFill>
                  <a:srgbClr val="4A5124"/>
                </a:solidFill>
                <a:latin typeface="Verdana"/>
              </a:rPr>
              <a:t>Explorer Station Drive Column Switch Payload Level</a:t>
            </a:r>
          </a:p>
        </p:txBody>
      </p:sp>
      <p:sp>
        <p:nvSpPr>
          <p:cNvPr id="14" name="16-Point Star 13"/>
          <p:cNvSpPr/>
          <p:nvPr/>
        </p:nvSpPr>
        <p:spPr>
          <a:xfrm>
            <a:off x="10679961" y="1770848"/>
            <a:ext cx="870704" cy="686687"/>
          </a:xfrm>
          <a:prstGeom prst="star16">
            <a:avLst/>
          </a:prstGeom>
          <a:solidFill>
            <a:srgbClr val="3B205D"/>
          </a:solidFill>
          <a:ln w="13836">
            <a:solidFill>
              <a:srgbClr val="33B8A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_example_image.jpg"/>
          <p:cNvPicPr>
            <a:picLocks noChangeAspect="1"/>
          </p:cNvPicPr>
          <p:nvPr/>
        </p:nvPicPr>
        <p:blipFill>
          <a:blip r:embed="rId4"/>
          <a:srcRect l="4250" t="144" r="7144" b="5786"/>
          <a:stretch>
            <a:fillRect/>
          </a:stretch>
        </p:blipFill>
        <p:spPr>
          <a:xfrm>
            <a:off x="357501" y="2466274"/>
            <a:ext cx="1514512" cy="2344875"/>
          </a:xfrm>
          <a:prstGeom prst="rect">
            <a:avLst/>
          </a:prstGeom>
        </p:spPr>
      </p:pic>
      <p:sp>
        <p:nvSpPr>
          <p:cNvPr id="16" name="Rounded Rectangle 15"/>
          <p:cNvSpPr/>
          <p:nvPr/>
        </p:nvSpPr>
        <p:spPr>
          <a:xfrm>
            <a:off x="357501" y="2466274"/>
            <a:ext cx="1514512" cy="2344875"/>
          </a:xfrm>
          <a:prstGeom prst="roundRect">
            <a:avLst/>
          </a:prstGeom>
          <a:noFill/>
          <a:ln w="15240">
            <a:solidFill>
              <a:srgbClr val="B5BE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1875892" y="3897503"/>
            <a:ext cx="640396" cy="1389272"/>
          </a:xfrm>
          <a:prstGeom prst="rightArrow">
            <a:avLst/>
          </a:prstGeom>
          <a:solidFill>
            <a:srgbClr val="48BF55"/>
          </a:solidFill>
          <a:ln w="9423">
            <a:solidFill>
              <a:srgbClr val="604F1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3590448" y="4240534"/>
            <a:ext cx="3174839" cy="483139"/>
          </a:xfrm>
          <a:prstGeom prst="bentConnector3">
            <a:avLst/>
          </a:prstGeom>
          <a:ln w="50743">
            <a:solidFill>
              <a:srgbClr val="23573D"/>
            </a:solidFill>
            <a:prstDash val="lgDash"/>
          </a:ln>
        </p:spPr>
        <p:style>
          <a:lnRef idx="2">
            <a:schemeClr val="accent1"/>
          </a:lnRef>
          <a:fillRef idx="0">
            <a:schemeClr val="accent1"/>
          </a:fillRef>
          <a:effectRef idx="1">
            <a:schemeClr val="accent1"/>
          </a:effectRef>
          <a:fontRef idx="minor">
            <a:schemeClr val="tx1"/>
          </a:fontRef>
        </p:style>
      </p:cxnSp>
      <p:sp>
        <p:nvSpPr>
          <p:cNvPr id="19" name="Donut 18"/>
          <p:cNvSpPr/>
          <p:nvPr/>
        </p:nvSpPr>
        <p:spPr>
          <a:xfrm>
            <a:off x="8496184" y="2591568"/>
            <a:ext cx="2587309" cy="1086453"/>
          </a:xfrm>
          <a:prstGeom prst="donut">
            <a:avLst/>
          </a:prstGeom>
          <a:solidFill>
            <a:srgbClr val="B81BD8"/>
          </a:solidFill>
          <a:ln w="27918">
            <a:solidFill>
              <a:srgbClr val="2BC98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15362" y="4075542"/>
            <a:ext cx="771064" cy="2281265"/>
          </a:xfrm>
          <a:prstGeom prst="rect">
            <a:avLst/>
          </a:prstGeom>
          <a:noFill/>
        </p:spPr>
        <p:txBody>
          <a:bodyPr wrap="none" lIns="34828" tIns="34828" rIns="34828" bIns="34828">
            <a:spAutoFit/>
          </a:bodyPr>
          <a:lstStyle/>
          <a:p>
            <a:r>
              <a:rPr sz="1600" b="0" i="1" u="none">
                <a:solidFill>
                  <a:srgbClr val="B17F5C"/>
                </a:solidFill>
                <a:latin typeface="Calibri"/>
              </a:rPr>
              <a:t>Baseline Draft Mesh Compass Response Adaptive Pulse Order Discovery Map Trend Alpha Story Scope Forecast Topology Feature Gateway Thread Connector</a:t>
            </a:r>
          </a:p>
        </p:txBody>
      </p:sp>
      <p:sp>
        <p:nvSpPr>
          <p:cNvPr id="21" name="Down Arrow 20"/>
          <p:cNvSpPr/>
          <p:nvPr/>
        </p:nvSpPr>
        <p:spPr>
          <a:xfrm>
            <a:off x="2787525" y="692614"/>
            <a:ext cx="2139160" cy="355625"/>
          </a:xfrm>
          <a:prstGeom prst="downArrow">
            <a:avLst/>
          </a:prstGeom>
          <a:solidFill>
            <a:srgbClr val="5D483E"/>
          </a:solidFill>
          <a:ln w="22976">
            <a:solidFill>
              <a:srgbClr val="40307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11014774" y="300910"/>
            <a:ext cx="762144" cy="1595819"/>
          </a:xfrm>
          <a:custGeom>
            <a:avLst/>
            <a:gdLst/>
            <a:ahLst/>
            <a:cxnLst/>
            <a:rect l="l" t="t" r="r" b="b"/>
            <a:pathLst>
              <a:path w="762144" h="1595819">
                <a:moveTo>
                  <a:pt x="381072" y="0"/>
                </a:moveTo>
                <a:lnTo>
                  <a:pt x="476340" y="398955"/>
                </a:lnTo>
                <a:lnTo>
                  <a:pt x="714510" y="287248"/>
                </a:lnTo>
                <a:lnTo>
                  <a:pt x="579547" y="797909"/>
                </a:lnTo>
                <a:lnTo>
                  <a:pt x="762144" y="1244739"/>
                </a:lnTo>
                <a:lnTo>
                  <a:pt x="476340" y="1148989"/>
                </a:lnTo>
                <a:lnTo>
                  <a:pt x="381072" y="1595819"/>
                </a:lnTo>
                <a:lnTo>
                  <a:pt x="285804" y="1148989"/>
                </a:lnTo>
                <a:lnTo>
                  <a:pt x="0" y="1244739"/>
                </a:lnTo>
                <a:lnTo>
                  <a:pt x="182597" y="797909"/>
                </a:lnTo>
                <a:lnTo>
                  <a:pt x="47634" y="287248"/>
                </a:lnTo>
                <a:lnTo>
                  <a:pt x="285804" y="398955"/>
                </a:lnTo>
                <a:close/>
              </a:path>
            </a:pathLst>
          </a:custGeom>
          <a:solidFill>
            <a:srgbClr val="D3204C"/>
          </a:solidFill>
          <a:ln w="14823">
            <a:solidFill>
              <a:srgbClr val="993F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14252" y="1467675"/>
            <a:ext cx="1216860" cy="1245955"/>
          </a:xfrm>
          <a:prstGeom prst="rect">
            <a:avLst/>
          </a:prstGeom>
          <a:noFill/>
        </p:spPr>
        <p:txBody>
          <a:bodyPr wrap="none" lIns="47812" tIns="47812" rIns="47812" bIns="47812">
            <a:spAutoFit/>
          </a:bodyPr>
          <a:lstStyle/>
          <a:p>
            <a:r>
              <a:rPr sz="4500" b="1" i="0" u="none">
                <a:solidFill>
                  <a:srgbClr val="935D23"/>
                </a:solidFill>
                <a:latin typeface="Georgia"/>
              </a:rPr>
              <a:t>Pulse Query Target Program Packet Result Path</a:t>
            </a:r>
          </a:p>
        </p:txBody>
      </p:sp>
      <p:cxnSp>
        <p:nvCxnSpPr>
          <p:cNvPr id="24" name="Connector 23"/>
          <p:cNvCxnSpPr/>
          <p:nvPr/>
        </p:nvCxnSpPr>
        <p:spPr>
          <a:xfrm>
            <a:off x="4194718" y="3439279"/>
            <a:ext cx="1975594" cy="845472"/>
          </a:xfrm>
          <a:prstGeom prst="line">
            <a:avLst/>
          </a:prstGeom>
          <a:ln w="43023">
            <a:solidFill>
              <a:srgbClr val="A6DF19"/>
            </a:solidFill>
            <a:prstDash val="dot"/>
          </a:ln>
        </p:spPr>
        <p:style>
          <a:lnRef idx="2">
            <a:schemeClr val="accent1"/>
          </a:lnRef>
          <a:fillRef idx="0">
            <a:schemeClr val="accent1"/>
          </a:fillRef>
          <a:effectRef idx="1">
            <a:schemeClr val="accent1"/>
          </a:effectRef>
          <a:fontRef idx="minor">
            <a:schemeClr val="tx1"/>
          </a:fontRef>
        </p:style>
      </p:cxnSp>
      <p:pic>
        <p:nvPicPr>
          <p:cNvPr id="25" name="Picture 24" descr="_example_image.jpg"/>
          <p:cNvPicPr>
            <a:picLocks noChangeAspect="1"/>
          </p:cNvPicPr>
          <p:nvPr/>
        </p:nvPicPr>
        <p:blipFill>
          <a:blip r:embed="rId4"/>
          <a:srcRect/>
          <a:stretch>
            <a:fillRect/>
          </a:stretch>
        </p:blipFill>
        <p:spPr>
          <a:xfrm>
            <a:off x="965884" y="279580"/>
            <a:ext cx="1673527" cy="2210641"/>
          </a:xfrm>
          <a:prstGeom prst="rect">
            <a:avLst/>
          </a:prstGeom>
        </p:spPr>
      </p:pic>
      <p:sp>
        <p:nvSpPr>
          <p:cNvPr id="26" name="Left Arrow 25"/>
          <p:cNvSpPr/>
          <p:nvPr/>
        </p:nvSpPr>
        <p:spPr>
          <a:xfrm>
            <a:off x="11153355" y="2914594"/>
            <a:ext cx="492833" cy="1844108"/>
          </a:xfrm>
          <a:prstGeom prst="leftArrow">
            <a:avLst/>
          </a:prstGeom>
          <a:solidFill>
            <a:srgbClr val="5B5E6F"/>
          </a:solidFill>
          <a:ln w="19095">
            <a:solidFill>
              <a:srgbClr val="48E35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7" name="Table 26"/>
          <p:cNvGraphicFramePr>
            <a:graphicFrameLocks noGrp="1"/>
          </p:cNvGraphicFramePr>
          <p:nvPr/>
        </p:nvGraphicFramePr>
        <p:xfrm>
          <a:off x="4493951" y="327524"/>
          <a:ext cx="2654685" cy="1709386"/>
        </p:xfrm>
        <a:graphic>
          <a:graphicData uri="http://schemas.openxmlformats.org/drawingml/2006/table">
            <a:tbl>
              <a:tblPr firstRow="1" bandRow="1">
                <a:tableStyleId>{5C22544A-7EE6-4342-B048-85BDC9FD1C3A}</a:tableStyleId>
              </a:tblPr>
              <a:tblGrid>
                <a:gridCol w="442447">
                  <a:extLst>
                    <a:ext uri="{9D8B030D-6E8A-4147-A177-3AD203B41FA5}">
                      <a16:colId xmlns:a16="http://schemas.microsoft.com/office/drawing/2014/main" val="20000"/>
                    </a:ext>
                  </a:extLst>
                </a:gridCol>
                <a:gridCol w="442447">
                  <a:extLst>
                    <a:ext uri="{9D8B030D-6E8A-4147-A177-3AD203B41FA5}">
                      <a16:colId xmlns:a16="http://schemas.microsoft.com/office/drawing/2014/main" val="20001"/>
                    </a:ext>
                  </a:extLst>
                </a:gridCol>
                <a:gridCol w="442447">
                  <a:extLst>
                    <a:ext uri="{9D8B030D-6E8A-4147-A177-3AD203B41FA5}">
                      <a16:colId xmlns:a16="http://schemas.microsoft.com/office/drawing/2014/main" val="20002"/>
                    </a:ext>
                  </a:extLst>
                </a:gridCol>
                <a:gridCol w="442447">
                  <a:extLst>
                    <a:ext uri="{9D8B030D-6E8A-4147-A177-3AD203B41FA5}">
                      <a16:colId xmlns:a16="http://schemas.microsoft.com/office/drawing/2014/main" val="20003"/>
                    </a:ext>
                  </a:extLst>
                </a:gridCol>
                <a:gridCol w="442447">
                  <a:extLst>
                    <a:ext uri="{9D8B030D-6E8A-4147-A177-3AD203B41FA5}">
                      <a16:colId xmlns:a16="http://schemas.microsoft.com/office/drawing/2014/main" val="20004"/>
                    </a:ext>
                  </a:extLst>
                </a:gridCol>
                <a:gridCol w="442450">
                  <a:extLst>
                    <a:ext uri="{9D8B030D-6E8A-4147-A177-3AD203B41FA5}">
                      <a16:colId xmlns:a16="http://schemas.microsoft.com/office/drawing/2014/main" val="20005"/>
                    </a:ext>
                  </a:extLst>
                </a:gridCol>
              </a:tblGrid>
              <a:tr h="341877">
                <a:tc>
                  <a:txBody>
                    <a:bodyPr/>
                    <a:lstStyle/>
                    <a:p>
                      <a:r>
                        <a:rPr sz="1300" b="1">
                          <a:solidFill>
                            <a:srgbClr val="C8DB45"/>
                          </a:solidFill>
                        </a:rPr>
                        <a:t>Switch Method</a:t>
                      </a:r>
                    </a:p>
                  </a:txBody>
                  <a:tcPr>
                    <a:solidFill>
                      <a:srgbClr val="95A1C8"/>
                    </a:solidFill>
                  </a:tcPr>
                </a:tc>
                <a:tc>
                  <a:txBody>
                    <a:bodyPr/>
                    <a:lstStyle/>
                    <a:p>
                      <a:r>
                        <a:rPr sz="1300" b="1">
                          <a:solidFill>
                            <a:srgbClr val="C8DB45"/>
                          </a:solidFill>
                        </a:rPr>
                        <a:t>Trigger</a:t>
                      </a:r>
                    </a:p>
                  </a:txBody>
                  <a:tcPr>
                    <a:solidFill>
                      <a:srgbClr val="95A1C8"/>
                    </a:solidFill>
                  </a:tcPr>
                </a:tc>
                <a:tc>
                  <a:txBody>
                    <a:bodyPr/>
                    <a:lstStyle/>
                    <a:p>
                      <a:r>
                        <a:rPr sz="1300" b="1">
                          <a:solidFill>
                            <a:srgbClr val="C8DB45"/>
                          </a:solidFill>
                        </a:rPr>
                        <a:t>Archive Stage</a:t>
                      </a:r>
                    </a:p>
                  </a:txBody>
                  <a:tcPr>
                    <a:solidFill>
                      <a:srgbClr val="95A1C8"/>
                    </a:solidFill>
                  </a:tcPr>
                </a:tc>
                <a:tc>
                  <a:txBody>
                    <a:bodyPr/>
                    <a:lstStyle/>
                    <a:p>
                      <a:r>
                        <a:rPr sz="1300" b="1">
                          <a:solidFill>
                            <a:srgbClr val="C8DB45"/>
                          </a:solidFill>
                        </a:rPr>
                        <a:t>Anchor</a:t>
                      </a:r>
                    </a:p>
                  </a:txBody>
                  <a:tcPr>
                    <a:solidFill>
                      <a:srgbClr val="95A1C8"/>
                    </a:solidFill>
                  </a:tcPr>
                </a:tc>
                <a:tc>
                  <a:txBody>
                    <a:bodyPr/>
                    <a:lstStyle/>
                    <a:p>
                      <a:r>
                        <a:rPr sz="1300" b="1">
                          <a:solidFill>
                            <a:srgbClr val="C8DB45"/>
                          </a:solidFill>
                        </a:rPr>
                        <a:t>Stack</a:t>
                      </a:r>
                    </a:p>
                  </a:txBody>
                  <a:tcPr>
                    <a:solidFill>
                      <a:srgbClr val="95A1C8"/>
                    </a:solidFill>
                  </a:tcPr>
                </a:tc>
                <a:tc>
                  <a:txBody>
                    <a:bodyPr/>
                    <a:lstStyle/>
                    <a:p>
                      <a:r>
                        <a:rPr sz="1300" b="1">
                          <a:solidFill>
                            <a:srgbClr val="C8DB45"/>
                          </a:solidFill>
                        </a:rPr>
                        <a:t>Track Dispatch</a:t>
                      </a:r>
                    </a:p>
                  </a:txBody>
                  <a:tcPr>
                    <a:solidFill>
                      <a:srgbClr val="95A1C8"/>
                    </a:solidFill>
                  </a:tcPr>
                </a:tc>
                <a:extLst>
                  <a:ext uri="{0D108BD9-81ED-4DB2-BD59-A6C34878D82A}">
                    <a16:rowId xmlns:a16="http://schemas.microsoft.com/office/drawing/2014/main" val="10000"/>
                  </a:ext>
                </a:extLst>
              </a:tr>
              <a:tr h="341877">
                <a:tc>
                  <a:txBody>
                    <a:bodyPr/>
                    <a:lstStyle/>
                    <a:p>
                      <a:r>
                        <a:rPr sz="1300" b="0">
                          <a:solidFill>
                            <a:srgbClr val="C8DB45"/>
                          </a:solidFill>
                        </a:rPr>
                        <a:t>Waypoint</a:t>
                      </a:r>
                    </a:p>
                  </a:txBody>
                  <a:tcPr>
                    <a:solidFill>
                      <a:srgbClr val="F2C8F3"/>
                    </a:solidFill>
                  </a:tcPr>
                </a:tc>
                <a:tc>
                  <a:txBody>
                    <a:bodyPr/>
                    <a:lstStyle/>
                    <a:p>
                      <a:r>
                        <a:rPr sz="1300" b="0">
                          <a:solidFill>
                            <a:srgbClr val="C8DB45"/>
                          </a:solidFill>
                        </a:rPr>
                        <a:t>Control Dimension</a:t>
                      </a:r>
                    </a:p>
                  </a:txBody>
                  <a:tcPr>
                    <a:solidFill>
                      <a:srgbClr val="F2C8F3"/>
                    </a:solidFill>
                  </a:tcPr>
                </a:tc>
                <a:tc>
                  <a:txBody>
                    <a:bodyPr/>
                    <a:lstStyle/>
                    <a:p>
                      <a:r>
                        <a:rPr sz="1300" b="0">
                          <a:solidFill>
                            <a:srgbClr val="C8DB45"/>
                          </a:solidFill>
                        </a:rPr>
                        <a:t>Narrative</a:t>
                      </a:r>
                    </a:p>
                  </a:txBody>
                  <a:tcPr>
                    <a:solidFill>
                      <a:srgbClr val="F2C8F3"/>
                    </a:solidFill>
                  </a:tcPr>
                </a:tc>
                <a:tc>
                  <a:txBody>
                    <a:bodyPr/>
                    <a:lstStyle/>
                    <a:p>
                      <a:r>
                        <a:rPr sz="1300" b="0">
                          <a:solidFill>
                            <a:srgbClr val="C8DB45"/>
                          </a:solidFill>
                        </a:rPr>
                        <a:t>Sample</a:t>
                      </a:r>
                    </a:p>
                  </a:txBody>
                  <a:tcPr>
                    <a:solidFill>
                      <a:srgbClr val="F2C8F3"/>
                    </a:solidFill>
                  </a:tcPr>
                </a:tc>
                <a:tc>
                  <a:txBody>
                    <a:bodyPr/>
                    <a:lstStyle/>
                    <a:p>
                      <a:r>
                        <a:rPr sz="1300" b="0">
                          <a:solidFill>
                            <a:srgbClr val="C8DB45"/>
                          </a:solidFill>
                        </a:rPr>
                        <a:t>Token Anchor</a:t>
                      </a:r>
                    </a:p>
                  </a:txBody>
                  <a:tcPr>
                    <a:solidFill>
                      <a:srgbClr val="F2C8F3"/>
                    </a:solidFill>
                  </a:tcPr>
                </a:tc>
                <a:tc>
                  <a:txBody>
                    <a:bodyPr/>
                    <a:lstStyle/>
                    <a:p>
                      <a:r>
                        <a:rPr sz="1300" b="0">
                          <a:solidFill>
                            <a:srgbClr val="C8DB45"/>
                          </a:solidFill>
                        </a:rPr>
                        <a:t>Deck Trace</a:t>
                      </a:r>
                    </a:p>
                  </a:txBody>
                  <a:tcPr>
                    <a:solidFill>
                      <a:srgbClr val="F2C8F3"/>
                    </a:solidFill>
                  </a:tcPr>
                </a:tc>
                <a:extLst>
                  <a:ext uri="{0D108BD9-81ED-4DB2-BD59-A6C34878D82A}">
                    <a16:rowId xmlns:a16="http://schemas.microsoft.com/office/drawing/2014/main" val="10001"/>
                  </a:ext>
                </a:extLst>
              </a:tr>
              <a:tr h="341877">
                <a:tc>
                  <a:txBody>
                    <a:bodyPr/>
                    <a:lstStyle/>
                    <a:p>
                      <a:r>
                        <a:rPr sz="1300" b="0">
                          <a:solidFill>
                            <a:srgbClr val="C8DB45"/>
                          </a:solidFill>
                        </a:rPr>
                        <a:t>Transit Baseline</a:t>
                      </a:r>
                    </a:p>
                  </a:txBody>
                  <a:tcPr>
                    <a:solidFill>
                      <a:srgbClr val="FCF2FC"/>
                    </a:solidFill>
                  </a:tcPr>
                </a:tc>
                <a:tc>
                  <a:txBody>
                    <a:bodyPr/>
                    <a:lstStyle/>
                    <a:p>
                      <a:r>
                        <a:rPr sz="1300" b="0">
                          <a:solidFill>
                            <a:srgbClr val="C8DB45"/>
                          </a:solidFill>
                        </a:rPr>
                        <a:t>Source Topology</a:t>
                      </a:r>
                    </a:p>
                  </a:txBody>
                  <a:tcPr>
                    <a:solidFill>
                      <a:srgbClr val="FCF2FC"/>
                    </a:solidFill>
                  </a:tcPr>
                </a:tc>
                <a:tc>
                  <a:txBody>
                    <a:bodyPr/>
                    <a:lstStyle/>
                    <a:p>
                      <a:r>
                        <a:rPr sz="1300" b="0">
                          <a:solidFill>
                            <a:srgbClr val="C8DB45"/>
                          </a:solidFill>
                        </a:rPr>
                        <a:t>Stage</a:t>
                      </a:r>
                    </a:p>
                  </a:txBody>
                  <a:tcPr>
                    <a:solidFill>
                      <a:srgbClr val="FCF2FC"/>
                    </a:solidFill>
                  </a:tcPr>
                </a:tc>
                <a:tc>
                  <a:txBody>
                    <a:bodyPr/>
                    <a:lstStyle/>
                    <a:p>
                      <a:r>
                        <a:rPr sz="1300" b="0">
                          <a:solidFill>
                            <a:srgbClr val="C8DB45"/>
                          </a:solidFill>
                        </a:rPr>
                        <a:t>Checkpoint</a:t>
                      </a:r>
                    </a:p>
                  </a:txBody>
                  <a:tcPr>
                    <a:solidFill>
                      <a:srgbClr val="FCF2FC"/>
                    </a:solidFill>
                  </a:tcPr>
                </a:tc>
                <a:tc>
                  <a:txBody>
                    <a:bodyPr/>
                    <a:lstStyle/>
                    <a:p>
                      <a:r>
                        <a:rPr sz="1300" b="0">
                          <a:solidFill>
                            <a:srgbClr val="C8DB45"/>
                          </a:solidFill>
                        </a:rPr>
                        <a:t>Friction State</a:t>
                      </a:r>
                    </a:p>
                  </a:txBody>
                  <a:tcPr>
                    <a:solidFill>
                      <a:srgbClr val="FCF2FC"/>
                    </a:solidFill>
                  </a:tcPr>
                </a:tc>
                <a:tc>
                  <a:txBody>
                    <a:bodyPr/>
                    <a:lstStyle/>
                    <a:p>
                      <a:r>
                        <a:rPr sz="1300" b="0">
                          <a:solidFill>
                            <a:srgbClr val="C8DB45"/>
                          </a:solidFill>
                        </a:rPr>
                        <a:t>Cadence Audit</a:t>
                      </a:r>
                    </a:p>
                  </a:txBody>
                  <a:tcPr>
                    <a:solidFill>
                      <a:srgbClr val="FCF2FC"/>
                    </a:solidFill>
                  </a:tcPr>
                </a:tc>
                <a:extLst>
                  <a:ext uri="{0D108BD9-81ED-4DB2-BD59-A6C34878D82A}">
                    <a16:rowId xmlns:a16="http://schemas.microsoft.com/office/drawing/2014/main" val="10002"/>
                  </a:ext>
                </a:extLst>
              </a:tr>
              <a:tr h="341877">
                <a:tc>
                  <a:txBody>
                    <a:bodyPr/>
                    <a:lstStyle/>
                    <a:p>
                      <a:r>
                        <a:rPr sz="1300" b="0">
                          <a:solidFill>
                            <a:srgbClr val="C8DB45"/>
                          </a:solidFill>
                        </a:rPr>
                        <a:t>Cycle Estimate</a:t>
                      </a:r>
                    </a:p>
                  </a:txBody>
                  <a:tcPr>
                    <a:solidFill>
                      <a:srgbClr val="F2C8F3"/>
                    </a:solidFill>
                  </a:tcPr>
                </a:tc>
                <a:tc>
                  <a:txBody>
                    <a:bodyPr/>
                    <a:lstStyle/>
                    <a:p>
                      <a:r>
                        <a:rPr sz="1300" b="0">
                          <a:solidFill>
                            <a:srgbClr val="C8DB45"/>
                          </a:solidFill>
                        </a:rPr>
                        <a:t>Center</a:t>
                      </a:r>
                    </a:p>
                  </a:txBody>
                  <a:tcPr>
                    <a:solidFill>
                      <a:srgbClr val="F2C8F3"/>
                    </a:solidFill>
                  </a:tcPr>
                </a:tc>
                <a:tc>
                  <a:txBody>
                    <a:bodyPr/>
                    <a:lstStyle/>
                    <a:p>
                      <a:r>
                        <a:rPr sz="1300" b="0">
                          <a:solidFill>
                            <a:srgbClr val="C8DB45"/>
                          </a:solidFill>
                        </a:rPr>
                        <a:t>Briefing Origin</a:t>
                      </a:r>
                    </a:p>
                  </a:txBody>
                  <a:tcPr>
                    <a:solidFill>
                      <a:srgbClr val="F2C8F3"/>
                    </a:solidFill>
                  </a:tcPr>
                </a:tc>
                <a:tc>
                  <a:txBody>
                    <a:bodyPr/>
                    <a:lstStyle/>
                    <a:p>
                      <a:r>
                        <a:rPr sz="1300" b="0">
                          <a:solidFill>
                            <a:srgbClr val="C8DB45"/>
                          </a:solidFill>
                        </a:rPr>
                        <a:t>North Report</a:t>
                      </a:r>
                    </a:p>
                  </a:txBody>
                  <a:tcPr>
                    <a:solidFill>
                      <a:srgbClr val="F2C8F3"/>
                    </a:solidFill>
                  </a:tcPr>
                </a:tc>
                <a:tc>
                  <a:txBody>
                    <a:bodyPr/>
                    <a:lstStyle/>
                    <a:p>
                      <a:r>
                        <a:rPr sz="1300" b="0">
                          <a:solidFill>
                            <a:srgbClr val="C8DB45"/>
                          </a:solidFill>
                        </a:rPr>
                        <a:t>Switch Echo</a:t>
                      </a:r>
                    </a:p>
                  </a:txBody>
                  <a:tcPr>
                    <a:solidFill>
                      <a:srgbClr val="F2C8F3"/>
                    </a:solidFill>
                  </a:tcPr>
                </a:tc>
                <a:tc>
                  <a:txBody>
                    <a:bodyPr/>
                    <a:lstStyle/>
                    <a:p>
                      <a:r>
                        <a:rPr sz="1300" b="0">
                          <a:solidFill>
                            <a:srgbClr val="C8DB45"/>
                          </a:solidFill>
                        </a:rPr>
                        <a:t>Request Vector</a:t>
                      </a:r>
                    </a:p>
                  </a:txBody>
                  <a:tcPr>
                    <a:solidFill>
                      <a:srgbClr val="F2C8F3"/>
                    </a:solidFill>
                  </a:tcPr>
                </a:tc>
                <a:extLst>
                  <a:ext uri="{0D108BD9-81ED-4DB2-BD59-A6C34878D82A}">
                    <a16:rowId xmlns:a16="http://schemas.microsoft.com/office/drawing/2014/main" val="10003"/>
                  </a:ext>
                </a:extLst>
              </a:tr>
              <a:tr h="341878">
                <a:tc>
                  <a:txBody>
                    <a:bodyPr/>
                    <a:lstStyle/>
                    <a:p>
                      <a:r>
                        <a:rPr sz="1300" b="0">
                          <a:solidFill>
                            <a:srgbClr val="C8DB45"/>
                          </a:solidFill>
                        </a:rPr>
                        <a:t>Route</a:t>
                      </a:r>
                    </a:p>
                  </a:txBody>
                  <a:tcPr>
                    <a:solidFill>
                      <a:srgbClr val="FCF2FC"/>
                    </a:solidFill>
                  </a:tcPr>
                </a:tc>
                <a:tc>
                  <a:txBody>
                    <a:bodyPr/>
                    <a:lstStyle/>
                    <a:p>
                      <a:r>
                        <a:rPr sz="1300" b="0">
                          <a:solidFill>
                            <a:srgbClr val="C8DB45"/>
                          </a:solidFill>
                        </a:rPr>
                        <a:t>Cortex</a:t>
                      </a:r>
                    </a:p>
                  </a:txBody>
                  <a:tcPr>
                    <a:solidFill>
                      <a:srgbClr val="FCF2FC"/>
                    </a:solidFill>
                  </a:tcPr>
                </a:tc>
                <a:tc>
                  <a:txBody>
                    <a:bodyPr/>
                    <a:lstStyle/>
                    <a:p>
                      <a:r>
                        <a:rPr sz="1300" b="0">
                          <a:solidFill>
                            <a:srgbClr val="C8DB45"/>
                          </a:solidFill>
                        </a:rPr>
                        <a:t>Spectrum</a:t>
                      </a:r>
                    </a:p>
                  </a:txBody>
                  <a:tcPr>
                    <a:solidFill>
                      <a:srgbClr val="FCF2FC"/>
                    </a:solidFill>
                  </a:tcPr>
                </a:tc>
                <a:tc>
                  <a:txBody>
                    <a:bodyPr/>
                    <a:lstStyle/>
                    <a:p>
                      <a:r>
                        <a:rPr sz="1300" b="0">
                          <a:solidFill>
                            <a:srgbClr val="C8DB45"/>
                          </a:solidFill>
                        </a:rPr>
                        <a:t>Engine</a:t>
                      </a:r>
                    </a:p>
                  </a:txBody>
                  <a:tcPr>
                    <a:solidFill>
                      <a:srgbClr val="FCF2FC"/>
                    </a:solidFill>
                  </a:tcPr>
                </a:tc>
                <a:tc>
                  <a:txBody>
                    <a:bodyPr/>
                    <a:lstStyle/>
                    <a:p>
                      <a:r>
                        <a:rPr sz="1300" b="0">
                          <a:solidFill>
                            <a:srgbClr val="C8DB45"/>
                          </a:solidFill>
                        </a:rPr>
                        <a:t>Metric Review</a:t>
                      </a:r>
                    </a:p>
                  </a:txBody>
                  <a:tcPr>
                    <a:solidFill>
                      <a:srgbClr val="FCF2FC"/>
                    </a:solidFill>
                  </a:tcPr>
                </a:tc>
                <a:tc>
                  <a:txBody>
                    <a:bodyPr/>
                    <a:lstStyle/>
                    <a:p>
                      <a:r>
                        <a:rPr sz="1300" b="0">
                          <a:solidFill>
                            <a:srgbClr val="C8DB45"/>
                          </a:solidFill>
                        </a:rPr>
                        <a:t>Array</a:t>
                      </a:r>
                    </a:p>
                  </a:txBody>
                  <a:tcPr>
                    <a:solidFill>
                      <a:srgbClr val="FCF2FC"/>
                    </a:solidFill>
                  </a:tcPr>
                </a:tc>
                <a:extLst>
                  <a:ext uri="{0D108BD9-81ED-4DB2-BD59-A6C34878D82A}">
                    <a16:rowId xmlns:a16="http://schemas.microsoft.com/office/drawing/2014/main" val="10004"/>
                  </a:ext>
                </a:extLst>
              </a:tr>
            </a:tbl>
          </a:graphicData>
        </a:graphic>
      </p:graphicFrame>
      <p:pic>
        <p:nvPicPr>
          <p:cNvPr id="29" name="Graphic 28">
            <a:extLst>
              <a:ext uri="{FF2B5EF4-FFF2-40B4-BE49-F238E27FC236}">
                <a16:creationId xmlns:a16="http://schemas.microsoft.com/office/drawing/2014/main" id="{16EAEFFB-2E89-44C2-99AC-3AF625AAC47E}"/>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590347" y="4873339"/>
            <a:ext cx="2030088" cy="937426"/>
          </a:xfrm>
          <a:prstGeom prst="rect">
            <a:avLst/>
          </a:prstGeom>
        </p:spPr>
      </p:pic>
      <p:pic>
        <p:nvPicPr>
          <p:cNvPr id="31" name="Graphic 30">
            <a:extLst>
              <a:ext uri="{FF2B5EF4-FFF2-40B4-BE49-F238E27FC236}">
                <a16:creationId xmlns:a16="http://schemas.microsoft.com/office/drawing/2014/main" id="{D6AA951A-79CF-049C-14F3-0A0E8C89CF4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378055" y="5652053"/>
            <a:ext cx="1320554" cy="1030326"/>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10813641" y="1102802"/>
            <a:ext cx="820399" cy="746527"/>
          </a:xfrm>
          <a:custGeom>
            <a:avLst/>
            <a:gdLst/>
            <a:ahLst/>
            <a:cxnLst/>
            <a:rect l="l" t="t" r="r" b="b"/>
            <a:pathLst>
              <a:path w="820399" h="746527">
                <a:moveTo>
                  <a:pt x="0" y="165895"/>
                </a:moveTo>
                <a:lnTo>
                  <a:pt x="176430" y="0"/>
                </a:lnTo>
                <a:lnTo>
                  <a:pt x="352860" y="223958"/>
                </a:lnTo>
                <a:lnTo>
                  <a:pt x="529290" y="24884"/>
                </a:lnTo>
                <a:lnTo>
                  <a:pt x="820399" y="580632"/>
                </a:lnTo>
                <a:lnTo>
                  <a:pt x="617505" y="746527"/>
                </a:lnTo>
                <a:lnTo>
                  <a:pt x="423432" y="497685"/>
                </a:lnTo>
                <a:lnTo>
                  <a:pt x="202895" y="721643"/>
                </a:lnTo>
                <a:close/>
              </a:path>
            </a:pathLst>
          </a:custGeom>
          <a:solidFill>
            <a:srgbClr val="1A81A7"/>
          </a:solidFill>
          <a:ln w="19172">
            <a:solidFill>
              <a:srgbClr val="B740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8-Point Star 2"/>
          <p:cNvSpPr/>
          <p:nvPr/>
        </p:nvSpPr>
        <p:spPr>
          <a:xfrm>
            <a:off x="2810132" y="3218423"/>
            <a:ext cx="973264" cy="832774"/>
          </a:xfrm>
          <a:prstGeom prst="star8">
            <a:avLst/>
          </a:prstGeom>
          <a:noFill/>
          <a:ln w="7248">
            <a:solidFill>
              <a:srgbClr val="7060B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13584" y="4369780"/>
            <a:ext cx="906805" cy="1664239"/>
          </a:xfrm>
          <a:prstGeom prst="rect">
            <a:avLst/>
          </a:prstGeom>
          <a:solidFill>
            <a:srgbClr val="C85392"/>
          </a:solidFill>
        </p:spPr>
        <p:txBody>
          <a:bodyPr wrap="none" lIns="46826" tIns="46826" rIns="46826" bIns="46826">
            <a:spAutoFit/>
          </a:bodyPr>
          <a:lstStyle/>
          <a:p>
            <a:r>
              <a:rPr sz="1800" b="0" i="0" u="none">
                <a:solidFill>
                  <a:srgbClr val="3F4BCB"/>
                </a:solidFill>
                <a:latin typeface="Arial"/>
              </a:rPr>
              <a:t>Route Estimate Channel Grid Package</a:t>
            </a:r>
          </a:p>
        </p:txBody>
      </p:sp>
      <p:pic>
        <p:nvPicPr>
          <p:cNvPr id="5" name="Picture 4" descr="_example_image.jpg"/>
          <p:cNvPicPr>
            <a:picLocks noChangeAspect="1"/>
          </p:cNvPicPr>
          <p:nvPr/>
        </p:nvPicPr>
        <p:blipFill>
          <a:blip r:embed="rId2"/>
          <a:srcRect l="16021" t="7291" r="14299" b="19848"/>
          <a:stretch>
            <a:fillRect/>
          </a:stretch>
        </p:blipFill>
        <p:spPr>
          <a:xfrm>
            <a:off x="9872143" y="4294293"/>
            <a:ext cx="1242519" cy="1601555"/>
          </a:xfrm>
          <a:prstGeom prst="rect">
            <a:avLst/>
          </a:prstGeom>
        </p:spPr>
      </p:pic>
      <p:sp>
        <p:nvSpPr>
          <p:cNvPr id="6" name="TextBox 5"/>
          <p:cNvSpPr txBox="1"/>
          <p:nvPr/>
        </p:nvSpPr>
        <p:spPr>
          <a:xfrm>
            <a:off x="3466876" y="4130271"/>
            <a:ext cx="738000" cy="1203461"/>
          </a:xfrm>
          <a:prstGeom prst="rect">
            <a:avLst/>
          </a:prstGeom>
          <a:solidFill>
            <a:srgbClr val="B920A5"/>
          </a:solidFill>
        </p:spPr>
        <p:txBody>
          <a:bodyPr wrap="none" lIns="81319" tIns="81319" rIns="81319" bIns="81319">
            <a:spAutoFit/>
          </a:bodyPr>
          <a:lstStyle/>
          <a:p>
            <a:r>
              <a:rPr sz="1600" b="1" i="0" u="none">
                <a:solidFill>
                  <a:srgbClr val="8C9C45"/>
                </a:solidFill>
                <a:latin typeface="Trebuchet MS"/>
              </a:rPr>
              <a:t>Blueprint Flow Field Epoch Process Duration Station Sequence Summary Group Heading Map Layer Wave Envelope Ratio Velocity Order Result Ratio Memory Viewport Target Matrix Pattern Insight Runtime Proof Context Entity Device Keyline Token Memory Scope Intent Keyline Trend Discovery Signal Checkpoint</a:t>
            </a:r>
          </a:p>
        </p:txBody>
      </p:sp>
      <p:sp>
        <p:nvSpPr>
          <p:cNvPr id="7" name="Bent Arrow 6"/>
          <p:cNvSpPr/>
          <p:nvPr/>
        </p:nvSpPr>
        <p:spPr>
          <a:xfrm>
            <a:off x="9967058" y="1812341"/>
            <a:ext cx="379453" cy="968492"/>
          </a:xfrm>
          <a:prstGeom prst="bentArrow">
            <a:avLst/>
          </a:prstGeom>
          <a:noFill/>
          <a:ln w="7098">
            <a:solidFill>
              <a:srgbClr val="D19BC8"/>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example_image.jpg"/>
          <p:cNvPicPr>
            <a:picLocks noChangeAspect="1"/>
          </p:cNvPicPr>
          <p:nvPr/>
        </p:nvPicPr>
        <p:blipFill>
          <a:blip r:embed="rId2"/>
          <a:srcRect l="4689" t="15634" r="4162" b="17193"/>
          <a:stretch>
            <a:fillRect/>
          </a:stretch>
        </p:blipFill>
        <p:spPr>
          <a:xfrm>
            <a:off x="8698123" y="4954089"/>
            <a:ext cx="1096830" cy="905837"/>
          </a:xfrm>
          <a:prstGeom prst="rect">
            <a:avLst/>
          </a:prstGeom>
        </p:spPr>
      </p:pic>
      <p:cxnSp>
        <p:nvCxnSpPr>
          <p:cNvPr id="9" name="Connector 8"/>
          <p:cNvCxnSpPr/>
          <p:nvPr/>
        </p:nvCxnSpPr>
        <p:spPr>
          <a:xfrm>
            <a:off x="650831" y="5394950"/>
            <a:ext cx="2578206" cy="540798"/>
          </a:xfrm>
          <a:prstGeom prst="bentConnector3">
            <a:avLst/>
          </a:prstGeom>
          <a:ln w="45154">
            <a:solidFill>
              <a:srgbClr val="C8665E"/>
            </a:solidFill>
            <a:prstDash val="solid"/>
          </a:ln>
        </p:spPr>
        <p:style>
          <a:lnRef idx="2">
            <a:schemeClr val="accent1"/>
          </a:lnRef>
          <a:fillRef idx="0">
            <a:schemeClr val="accent1"/>
          </a:fillRef>
          <a:effectRef idx="1">
            <a:schemeClr val="accent1"/>
          </a:effectRef>
          <a:fontRef idx="minor">
            <a:schemeClr val="tx1"/>
          </a:fontRef>
        </p:style>
      </p:cxnSp>
      <p:sp>
        <p:nvSpPr>
          <p:cNvPr id="10" name="Not Equal 9"/>
          <p:cNvSpPr/>
          <p:nvPr/>
        </p:nvSpPr>
        <p:spPr>
          <a:xfrm>
            <a:off x="1984703" y="4051049"/>
            <a:ext cx="752312" cy="600295"/>
          </a:xfrm>
          <a:prstGeom prst="mathNotEqual">
            <a:avLst/>
          </a:prstGeom>
          <a:solidFill>
            <a:srgbClr val="6A3F49"/>
          </a:solidFill>
          <a:ln w="10367">
            <a:solidFill>
              <a:srgbClr val="3B611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6188" y="311704"/>
            <a:ext cx="1179606" cy="1019624"/>
          </a:xfrm>
          <a:prstGeom prst="rect">
            <a:avLst/>
          </a:prstGeom>
          <a:noFill/>
        </p:spPr>
        <p:txBody>
          <a:bodyPr wrap="none" lIns="71430" tIns="71430" rIns="71430" bIns="71430">
            <a:spAutoFit/>
          </a:bodyPr>
          <a:lstStyle/>
          <a:p>
            <a:r>
              <a:rPr sz="4700" b="1" i="0" u="none">
                <a:solidFill>
                  <a:srgbClr val="4F9D6C"/>
                </a:solidFill>
                <a:latin typeface="Georgia"/>
              </a:rPr>
              <a:t>Foundation Duration Schema Logic Story</a:t>
            </a:r>
          </a:p>
        </p:txBody>
      </p:sp>
      <p:cxnSp>
        <p:nvCxnSpPr>
          <p:cNvPr id="12" name="Connector 11"/>
          <p:cNvCxnSpPr/>
          <p:nvPr/>
        </p:nvCxnSpPr>
        <p:spPr>
          <a:xfrm flipV="1">
            <a:off x="1489515" y="4746373"/>
            <a:ext cx="1432880" cy="511412"/>
          </a:xfrm>
          <a:prstGeom prst="curvedConnector3">
            <a:avLst/>
          </a:prstGeom>
          <a:ln w="6534">
            <a:solidFill>
              <a:srgbClr val="D0A986"/>
            </a:solidFill>
            <a:prstDash val="solid"/>
          </a:ln>
        </p:spPr>
        <p:style>
          <a:lnRef idx="2">
            <a:schemeClr val="accent1"/>
          </a:lnRef>
          <a:fillRef idx="0">
            <a:schemeClr val="accent1"/>
          </a:fillRef>
          <a:effectRef idx="1">
            <a:schemeClr val="accent1"/>
          </a:effectRef>
          <a:fontRef idx="minor">
            <a:schemeClr val="tx1"/>
          </a:fontRef>
        </p:style>
      </p:cxnSp>
      <p:sp>
        <p:nvSpPr>
          <p:cNvPr id="13" name="Minus 12"/>
          <p:cNvSpPr/>
          <p:nvPr/>
        </p:nvSpPr>
        <p:spPr>
          <a:xfrm>
            <a:off x="1554212" y="6224885"/>
            <a:ext cx="1342713" cy="352652"/>
          </a:xfrm>
          <a:prstGeom prst="mathMinus">
            <a:avLst/>
          </a:prstGeom>
          <a:solidFill>
            <a:srgbClr val="CE5267"/>
          </a:solidFill>
          <a:ln w="26847">
            <a:solidFill>
              <a:srgbClr val="838DA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632848" y="211658"/>
            <a:ext cx="816845" cy="1049410"/>
          </a:xfrm>
          <a:prstGeom prst="curvedConnector3">
            <a:avLst/>
          </a:prstGeom>
          <a:ln w="10755">
            <a:solidFill>
              <a:srgbClr val="B7C2AE"/>
            </a:solidFill>
            <a:prstDash val="dot"/>
          </a:ln>
        </p:spPr>
        <p:style>
          <a:lnRef idx="2">
            <a:schemeClr val="accent1"/>
          </a:lnRef>
          <a:fillRef idx="0">
            <a:schemeClr val="accent1"/>
          </a:fillRef>
          <a:effectRef idx="1">
            <a:schemeClr val="accent1"/>
          </a:effectRef>
          <a:fontRef idx="minor">
            <a:schemeClr val="tx1"/>
          </a:fontRef>
        </p:style>
      </p:cxnSp>
      <p:sp>
        <p:nvSpPr>
          <p:cNvPr id="15" name="Right Arrow Callout 14"/>
          <p:cNvSpPr/>
          <p:nvPr/>
        </p:nvSpPr>
        <p:spPr>
          <a:xfrm>
            <a:off x="10678062" y="1513168"/>
            <a:ext cx="562437" cy="236951"/>
          </a:xfrm>
          <a:prstGeom prst="rightArrowCallout">
            <a:avLst/>
          </a:prstGeom>
          <a:solidFill>
            <a:srgbClr val="925219"/>
          </a:solidFill>
          <a:ln w="6598">
            <a:solidFill>
              <a:srgbClr val="B38ED1"/>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arallelogram 15"/>
          <p:cNvSpPr/>
          <p:nvPr/>
        </p:nvSpPr>
        <p:spPr>
          <a:xfrm>
            <a:off x="4258866" y="519209"/>
            <a:ext cx="2367292" cy="1192243"/>
          </a:xfrm>
          <a:prstGeom prst="parallelogram">
            <a:avLst/>
          </a:prstGeom>
          <a:solidFill>
            <a:srgbClr val="C5B867"/>
          </a:solidFill>
          <a:ln w="29235">
            <a:solidFill>
              <a:srgbClr val="B51C7D"/>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7" name="Chart 16"/>
          <p:cNvGraphicFramePr>
            <a:graphicFrameLocks noGrp="1"/>
          </p:cNvGraphicFramePr>
          <p:nvPr/>
        </p:nvGraphicFramePr>
        <p:xfrm>
          <a:off x="1832851" y="2392594"/>
          <a:ext cx="2832936" cy="2236998"/>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p:cNvSpPr txBox="1"/>
          <p:nvPr/>
        </p:nvSpPr>
        <p:spPr>
          <a:xfrm>
            <a:off x="8119224" y="844170"/>
            <a:ext cx="562390" cy="1335105"/>
          </a:xfrm>
          <a:prstGeom prst="rect">
            <a:avLst/>
          </a:prstGeom>
          <a:noFill/>
        </p:spPr>
        <p:txBody>
          <a:bodyPr wrap="none" lIns="20159" tIns="20159" rIns="20159" bIns="20159">
            <a:spAutoFit/>
          </a:bodyPr>
          <a:lstStyle/>
          <a:p>
            <a:r>
              <a:rPr sz="1400" b="0" i="0" u="none">
                <a:solidFill>
                  <a:srgbClr val="97AC2C"/>
                </a:solidFill>
                <a:latin typeface="Calibri"/>
              </a:rPr>
              <a:t>Echo Scope Needle</a:t>
            </a:r>
          </a:p>
        </p:txBody>
      </p:sp>
      <p:pic>
        <p:nvPicPr>
          <p:cNvPr id="19" name="Picture 18" descr="_example_image.jpg"/>
          <p:cNvPicPr>
            <a:picLocks noChangeAspect="1"/>
          </p:cNvPicPr>
          <p:nvPr/>
        </p:nvPicPr>
        <p:blipFill>
          <a:blip r:embed="rId2"/>
          <a:srcRect l="21835" t="21568" r="1654" b="13501"/>
          <a:stretch>
            <a:fillRect/>
          </a:stretch>
        </p:blipFill>
        <p:spPr>
          <a:xfrm>
            <a:off x="6705705" y="1168934"/>
            <a:ext cx="1485536" cy="775535"/>
          </a:xfrm>
          <a:prstGeom prst="rect">
            <a:avLst/>
          </a:prstGeom>
        </p:spPr>
      </p:pic>
      <p:graphicFrame>
        <p:nvGraphicFramePr>
          <p:cNvPr id="20" name="Table 19"/>
          <p:cNvGraphicFramePr>
            <a:graphicFrameLocks noGrp="1"/>
          </p:cNvGraphicFramePr>
          <p:nvPr/>
        </p:nvGraphicFramePr>
        <p:xfrm>
          <a:off x="5866865" y="4255819"/>
          <a:ext cx="2784672" cy="1629105"/>
        </p:xfrm>
        <a:graphic>
          <a:graphicData uri="http://schemas.openxmlformats.org/drawingml/2006/table">
            <a:tbl>
              <a:tblPr firstRow="1" bandRow="1">
                <a:tableStyleId>{5C22544A-7EE6-4342-B048-85BDC9FD1C3A}</a:tableStyleId>
              </a:tblPr>
              <a:tblGrid>
                <a:gridCol w="1392336">
                  <a:extLst>
                    <a:ext uri="{9D8B030D-6E8A-4147-A177-3AD203B41FA5}">
                      <a16:colId xmlns:a16="http://schemas.microsoft.com/office/drawing/2014/main" val="20000"/>
                    </a:ext>
                  </a:extLst>
                </a:gridCol>
                <a:gridCol w="1392336">
                  <a:extLst>
                    <a:ext uri="{9D8B030D-6E8A-4147-A177-3AD203B41FA5}">
                      <a16:colId xmlns:a16="http://schemas.microsoft.com/office/drawing/2014/main" val="20001"/>
                    </a:ext>
                  </a:extLst>
                </a:gridCol>
              </a:tblGrid>
              <a:tr h="543035">
                <a:tc>
                  <a:txBody>
                    <a:bodyPr/>
                    <a:lstStyle/>
                    <a:p>
                      <a:r>
                        <a:rPr sz="700" b="1">
                          <a:solidFill>
                            <a:srgbClr val="2ADC96"/>
                          </a:solidFill>
                        </a:rPr>
                        <a:t>Map</a:t>
                      </a:r>
                    </a:p>
                  </a:txBody>
                  <a:tcPr>
                    <a:solidFill>
                      <a:srgbClr val="D6D5E1"/>
                    </a:solidFill>
                  </a:tcPr>
                </a:tc>
                <a:tc>
                  <a:txBody>
                    <a:bodyPr/>
                    <a:lstStyle/>
                    <a:p>
                      <a:r>
                        <a:rPr sz="700" b="1">
                          <a:solidFill>
                            <a:srgbClr val="2ADC96"/>
                          </a:solidFill>
                        </a:rPr>
                        <a:t>Stack Handle</a:t>
                      </a:r>
                    </a:p>
                  </a:txBody>
                  <a:tcPr>
                    <a:solidFill>
                      <a:srgbClr val="D6D5E1"/>
                    </a:solidFill>
                  </a:tcPr>
                </a:tc>
                <a:extLst>
                  <a:ext uri="{0D108BD9-81ED-4DB2-BD59-A6C34878D82A}">
                    <a16:rowId xmlns:a16="http://schemas.microsoft.com/office/drawing/2014/main" val="10000"/>
                  </a:ext>
                </a:extLst>
              </a:tr>
              <a:tr h="543035">
                <a:tc>
                  <a:txBody>
                    <a:bodyPr/>
                    <a:lstStyle/>
                    <a:p>
                      <a:r>
                        <a:rPr sz="700" b="0">
                          <a:solidFill>
                            <a:srgbClr val="2ADC96"/>
                          </a:solidFill>
                        </a:rPr>
                        <a:t>Iteration Topology</a:t>
                      </a:r>
                    </a:p>
                  </a:txBody>
                  <a:tcPr>
                    <a:solidFill>
                      <a:srgbClr val="E8EBE9"/>
                    </a:solidFill>
                  </a:tcPr>
                </a:tc>
                <a:tc>
                  <a:txBody>
                    <a:bodyPr/>
                    <a:lstStyle/>
                    <a:p>
                      <a:r>
                        <a:rPr sz="700" b="0">
                          <a:solidFill>
                            <a:srgbClr val="2ADC96"/>
                          </a:solidFill>
                        </a:rPr>
                        <a:t>Scope</a:t>
                      </a:r>
                    </a:p>
                  </a:txBody>
                  <a:tcPr>
                    <a:solidFill>
                      <a:srgbClr val="E8EBE9"/>
                    </a:solidFill>
                  </a:tcPr>
                </a:tc>
                <a:extLst>
                  <a:ext uri="{0D108BD9-81ED-4DB2-BD59-A6C34878D82A}">
                    <a16:rowId xmlns:a16="http://schemas.microsoft.com/office/drawing/2014/main" val="10001"/>
                  </a:ext>
                </a:extLst>
              </a:tr>
              <a:tr h="543035">
                <a:tc>
                  <a:txBody>
                    <a:bodyPr/>
                    <a:lstStyle/>
                    <a:p>
                      <a:r>
                        <a:rPr sz="700" b="0">
                          <a:solidFill>
                            <a:srgbClr val="2ADC96"/>
                          </a:solidFill>
                        </a:rPr>
                        <a:t>Column Plan</a:t>
                      </a:r>
                    </a:p>
                  </a:txBody>
                  <a:tcPr>
                    <a:solidFill>
                      <a:srgbClr val="E8EBE9"/>
                    </a:solidFill>
                  </a:tcPr>
                </a:tc>
                <a:tc>
                  <a:txBody>
                    <a:bodyPr/>
                    <a:lstStyle/>
                    <a:p>
                      <a:r>
                        <a:rPr sz="700" b="0">
                          <a:solidFill>
                            <a:srgbClr val="2ADC96"/>
                          </a:solidFill>
                        </a:rPr>
                        <a:t>Status</a:t>
                      </a:r>
                    </a:p>
                  </a:txBody>
                  <a:tcPr>
                    <a:solidFill>
                      <a:srgbClr val="E8EBE9"/>
                    </a:solidFill>
                  </a:tcPr>
                </a:tc>
                <a:extLst>
                  <a:ext uri="{0D108BD9-81ED-4DB2-BD59-A6C34878D82A}">
                    <a16:rowId xmlns:a16="http://schemas.microsoft.com/office/drawing/2014/main" val="10002"/>
                  </a:ext>
                </a:extLst>
              </a:tr>
            </a:tbl>
          </a:graphicData>
        </a:graphic>
      </p:graphicFrame>
      <p:graphicFrame>
        <p:nvGraphicFramePr>
          <p:cNvPr id="21" name="Chart 20"/>
          <p:cNvGraphicFramePr>
            <a:graphicFrameLocks noGrp="1"/>
          </p:cNvGraphicFramePr>
          <p:nvPr/>
        </p:nvGraphicFramePr>
        <p:xfrm>
          <a:off x="8427887" y="1114396"/>
          <a:ext cx="2487627" cy="1600334"/>
        </p:xfrm>
        <a:graphic>
          <a:graphicData uri="http://schemas.openxmlformats.org/drawingml/2006/chart">
            <c:chart xmlns:c="http://schemas.openxmlformats.org/drawingml/2006/chart" xmlns:r="http://schemas.openxmlformats.org/officeDocument/2006/relationships" r:id="rId4"/>
          </a:graphicData>
        </a:graphic>
      </p:graphicFrame>
      <p:sp>
        <p:nvSpPr>
          <p:cNvPr id="22" name="Freeform 21"/>
          <p:cNvSpPr/>
          <p:nvPr/>
        </p:nvSpPr>
        <p:spPr>
          <a:xfrm>
            <a:off x="253373" y="3730627"/>
            <a:ext cx="810731" cy="1418843"/>
          </a:xfrm>
          <a:custGeom>
            <a:avLst/>
            <a:gdLst/>
            <a:ahLst/>
            <a:cxnLst/>
            <a:rect l="l" t="t" r="r" b="b"/>
            <a:pathLst>
              <a:path w="810731" h="1418843">
                <a:moveTo>
                  <a:pt x="87176" y="241506"/>
                </a:moveTo>
                <a:lnTo>
                  <a:pt x="287679" y="0"/>
                </a:lnTo>
                <a:lnTo>
                  <a:pt x="592793" y="120753"/>
                </a:lnTo>
                <a:lnTo>
                  <a:pt x="810731" y="573575"/>
                </a:lnTo>
                <a:lnTo>
                  <a:pt x="697403" y="1177338"/>
                </a:lnTo>
                <a:lnTo>
                  <a:pt x="374855" y="1418843"/>
                </a:lnTo>
                <a:lnTo>
                  <a:pt x="52306" y="1026397"/>
                </a:lnTo>
                <a:lnTo>
                  <a:pt x="0" y="513199"/>
                </a:lnTo>
                <a:close/>
              </a:path>
            </a:pathLst>
          </a:custGeom>
          <a:solidFill>
            <a:srgbClr val="A0408E"/>
          </a:solidFill>
          <a:ln w="24245">
            <a:solidFill>
              <a:srgbClr val="42E48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ata 22"/>
          <p:cNvSpPr/>
          <p:nvPr/>
        </p:nvSpPr>
        <p:spPr>
          <a:xfrm>
            <a:off x="6104069" y="2616415"/>
            <a:ext cx="2641878" cy="1184617"/>
          </a:xfrm>
          <a:prstGeom prst="flowChartInputOutput">
            <a:avLst/>
          </a:prstGeom>
          <a:solidFill>
            <a:srgbClr val="4A7419"/>
          </a:solidFill>
          <a:ln w="12953">
            <a:solidFill>
              <a:srgbClr val="DC2AD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nvGraphicFramePr>
        <p:xfrm>
          <a:off x="8755316" y="3045871"/>
          <a:ext cx="2506064" cy="992062"/>
        </p:xfrm>
        <a:graphic>
          <a:graphicData uri="http://schemas.openxmlformats.org/drawingml/2006/table">
            <a:tbl>
              <a:tblPr firstRow="1" bandRow="1">
                <a:tableStyleId>{5C22544A-7EE6-4342-B048-85BDC9FD1C3A}</a:tableStyleId>
              </a:tblPr>
              <a:tblGrid>
                <a:gridCol w="1253032">
                  <a:extLst>
                    <a:ext uri="{9D8B030D-6E8A-4147-A177-3AD203B41FA5}">
                      <a16:colId xmlns:a16="http://schemas.microsoft.com/office/drawing/2014/main" val="20000"/>
                    </a:ext>
                  </a:extLst>
                </a:gridCol>
                <a:gridCol w="1253032">
                  <a:extLst>
                    <a:ext uri="{9D8B030D-6E8A-4147-A177-3AD203B41FA5}">
                      <a16:colId xmlns:a16="http://schemas.microsoft.com/office/drawing/2014/main" val="20001"/>
                    </a:ext>
                  </a:extLst>
                </a:gridCol>
              </a:tblGrid>
              <a:tr h="141723">
                <a:tc>
                  <a:txBody>
                    <a:bodyPr/>
                    <a:lstStyle/>
                    <a:p>
                      <a:r>
                        <a:rPr sz="1000" b="1">
                          <a:solidFill>
                            <a:srgbClr val="D5CA60"/>
                          </a:solidFill>
                        </a:rPr>
                        <a:t>Energy</a:t>
                      </a:r>
                    </a:p>
                  </a:txBody>
                  <a:tcPr>
                    <a:solidFill>
                      <a:srgbClr val="72D758"/>
                    </a:solidFill>
                  </a:tcPr>
                </a:tc>
                <a:tc>
                  <a:txBody>
                    <a:bodyPr/>
                    <a:lstStyle/>
                    <a:p>
                      <a:r>
                        <a:rPr sz="1000" b="1">
                          <a:solidFill>
                            <a:srgbClr val="D5CA60"/>
                          </a:solidFill>
                        </a:rPr>
                        <a:t>Release Region</a:t>
                      </a:r>
                    </a:p>
                  </a:txBody>
                  <a:tcPr>
                    <a:solidFill>
                      <a:srgbClr val="72D758"/>
                    </a:solidFill>
                  </a:tcPr>
                </a:tc>
                <a:extLst>
                  <a:ext uri="{0D108BD9-81ED-4DB2-BD59-A6C34878D82A}">
                    <a16:rowId xmlns:a16="http://schemas.microsoft.com/office/drawing/2014/main" val="10000"/>
                  </a:ext>
                </a:extLst>
              </a:tr>
              <a:tr h="141723">
                <a:tc>
                  <a:txBody>
                    <a:bodyPr/>
                    <a:lstStyle/>
                    <a:p>
                      <a:r>
                        <a:rPr sz="1000" b="0">
                          <a:solidFill>
                            <a:srgbClr val="D5CA60"/>
                          </a:solidFill>
                        </a:rPr>
                        <a:t>Query</a:t>
                      </a:r>
                    </a:p>
                  </a:txBody>
                  <a:tcPr>
                    <a:solidFill>
                      <a:srgbClr val="ECE0ED"/>
                    </a:solidFill>
                  </a:tcPr>
                </a:tc>
                <a:tc>
                  <a:txBody>
                    <a:bodyPr/>
                    <a:lstStyle/>
                    <a:p>
                      <a:r>
                        <a:rPr sz="1000" b="0">
                          <a:solidFill>
                            <a:srgbClr val="D5CA60"/>
                          </a:solidFill>
                        </a:rPr>
                        <a:t>Cortex Moment</a:t>
                      </a:r>
                    </a:p>
                  </a:txBody>
                  <a:tcPr>
                    <a:solidFill>
                      <a:srgbClr val="DCC6DE"/>
                    </a:solidFill>
                  </a:tcPr>
                </a:tc>
                <a:extLst>
                  <a:ext uri="{0D108BD9-81ED-4DB2-BD59-A6C34878D82A}">
                    <a16:rowId xmlns:a16="http://schemas.microsoft.com/office/drawing/2014/main" val="10001"/>
                  </a:ext>
                </a:extLst>
              </a:tr>
              <a:tr h="141723">
                <a:tc>
                  <a:txBody>
                    <a:bodyPr/>
                    <a:lstStyle/>
                    <a:p>
                      <a:r>
                        <a:rPr sz="1000" b="0">
                          <a:solidFill>
                            <a:srgbClr val="D5CA60"/>
                          </a:solidFill>
                        </a:rPr>
                        <a:t>Discovery</a:t>
                      </a:r>
                    </a:p>
                  </a:txBody>
                  <a:tcPr>
                    <a:solidFill>
                      <a:srgbClr val="ECE0ED"/>
                    </a:solidFill>
                  </a:tcPr>
                </a:tc>
                <a:tc>
                  <a:txBody>
                    <a:bodyPr/>
                    <a:lstStyle/>
                    <a:p>
                      <a:r>
                        <a:rPr sz="1000" b="0">
                          <a:solidFill>
                            <a:srgbClr val="D5CA60"/>
                          </a:solidFill>
                        </a:rPr>
                        <a:t>Terminal</a:t>
                      </a:r>
                    </a:p>
                  </a:txBody>
                  <a:tcPr>
                    <a:solidFill>
                      <a:srgbClr val="DCC6DE"/>
                    </a:solidFill>
                  </a:tcPr>
                </a:tc>
                <a:extLst>
                  <a:ext uri="{0D108BD9-81ED-4DB2-BD59-A6C34878D82A}">
                    <a16:rowId xmlns:a16="http://schemas.microsoft.com/office/drawing/2014/main" val="10002"/>
                  </a:ext>
                </a:extLst>
              </a:tr>
              <a:tr h="141723">
                <a:tc>
                  <a:txBody>
                    <a:bodyPr/>
                    <a:lstStyle/>
                    <a:p>
                      <a:r>
                        <a:rPr sz="1000" b="0">
                          <a:solidFill>
                            <a:srgbClr val="D5CA60"/>
                          </a:solidFill>
                        </a:rPr>
                        <a:t>Bridge</a:t>
                      </a:r>
                    </a:p>
                  </a:txBody>
                  <a:tcPr>
                    <a:solidFill>
                      <a:srgbClr val="ECE0ED"/>
                    </a:solidFill>
                  </a:tcPr>
                </a:tc>
                <a:tc>
                  <a:txBody>
                    <a:bodyPr/>
                    <a:lstStyle/>
                    <a:p>
                      <a:r>
                        <a:rPr sz="1000" b="0">
                          <a:solidFill>
                            <a:srgbClr val="D5CA60"/>
                          </a:solidFill>
                        </a:rPr>
                        <a:t>Panel Anchor</a:t>
                      </a:r>
                    </a:p>
                  </a:txBody>
                  <a:tcPr>
                    <a:solidFill>
                      <a:srgbClr val="DCC6DE"/>
                    </a:solidFill>
                  </a:tcPr>
                </a:tc>
                <a:extLst>
                  <a:ext uri="{0D108BD9-81ED-4DB2-BD59-A6C34878D82A}">
                    <a16:rowId xmlns:a16="http://schemas.microsoft.com/office/drawing/2014/main" val="10003"/>
                  </a:ext>
                </a:extLst>
              </a:tr>
              <a:tr h="141723">
                <a:tc>
                  <a:txBody>
                    <a:bodyPr/>
                    <a:lstStyle/>
                    <a:p>
                      <a:r>
                        <a:rPr sz="1000" b="0">
                          <a:solidFill>
                            <a:srgbClr val="D5CA60"/>
                          </a:solidFill>
                        </a:rPr>
                        <a:t>Cluster</a:t>
                      </a:r>
                    </a:p>
                  </a:txBody>
                  <a:tcPr>
                    <a:solidFill>
                      <a:srgbClr val="ECE0ED"/>
                    </a:solidFill>
                  </a:tcPr>
                </a:tc>
                <a:tc>
                  <a:txBody>
                    <a:bodyPr/>
                    <a:lstStyle/>
                    <a:p>
                      <a:r>
                        <a:rPr sz="1000" b="0">
                          <a:solidFill>
                            <a:srgbClr val="D5CA60"/>
                          </a:solidFill>
                        </a:rPr>
                        <a:t>Signal Estimate</a:t>
                      </a:r>
                    </a:p>
                  </a:txBody>
                  <a:tcPr>
                    <a:solidFill>
                      <a:srgbClr val="DCC6DE"/>
                    </a:solidFill>
                  </a:tcPr>
                </a:tc>
                <a:extLst>
                  <a:ext uri="{0D108BD9-81ED-4DB2-BD59-A6C34878D82A}">
                    <a16:rowId xmlns:a16="http://schemas.microsoft.com/office/drawing/2014/main" val="10004"/>
                  </a:ext>
                </a:extLst>
              </a:tr>
              <a:tr h="141723">
                <a:tc>
                  <a:txBody>
                    <a:bodyPr/>
                    <a:lstStyle/>
                    <a:p>
                      <a:r>
                        <a:rPr sz="1000" b="0">
                          <a:solidFill>
                            <a:srgbClr val="D5CA60"/>
                          </a:solidFill>
                        </a:rPr>
                        <a:t>Summary</a:t>
                      </a:r>
                    </a:p>
                  </a:txBody>
                  <a:tcPr>
                    <a:solidFill>
                      <a:srgbClr val="ECE0ED"/>
                    </a:solidFill>
                  </a:tcPr>
                </a:tc>
                <a:tc>
                  <a:txBody>
                    <a:bodyPr/>
                    <a:lstStyle/>
                    <a:p>
                      <a:r>
                        <a:rPr sz="1000" b="0">
                          <a:solidFill>
                            <a:srgbClr val="D5CA60"/>
                          </a:solidFill>
                        </a:rPr>
                        <a:t>Brief</a:t>
                      </a:r>
                    </a:p>
                  </a:txBody>
                  <a:tcPr>
                    <a:solidFill>
                      <a:srgbClr val="DCC6DE"/>
                    </a:solidFill>
                  </a:tcPr>
                </a:tc>
                <a:extLst>
                  <a:ext uri="{0D108BD9-81ED-4DB2-BD59-A6C34878D82A}">
                    <a16:rowId xmlns:a16="http://schemas.microsoft.com/office/drawing/2014/main" val="10005"/>
                  </a:ext>
                </a:extLst>
              </a:tr>
              <a:tr h="141724">
                <a:tc>
                  <a:txBody>
                    <a:bodyPr/>
                    <a:lstStyle/>
                    <a:p>
                      <a:r>
                        <a:rPr sz="1000" b="0">
                          <a:solidFill>
                            <a:srgbClr val="D5CA60"/>
                          </a:solidFill>
                        </a:rPr>
                        <a:t>Cortex</a:t>
                      </a:r>
                    </a:p>
                  </a:txBody>
                  <a:tcPr>
                    <a:solidFill>
                      <a:srgbClr val="ECE0ED"/>
                    </a:solidFill>
                  </a:tcPr>
                </a:tc>
                <a:tc>
                  <a:txBody>
                    <a:bodyPr/>
                    <a:lstStyle/>
                    <a:p>
                      <a:r>
                        <a:rPr sz="1000" b="0">
                          <a:solidFill>
                            <a:srgbClr val="D5CA60"/>
                          </a:solidFill>
                        </a:rPr>
                        <a:t>Capacity Asset</a:t>
                      </a:r>
                    </a:p>
                  </a:txBody>
                  <a:tcPr>
                    <a:solidFill>
                      <a:srgbClr val="DCC6DE"/>
                    </a:solidFill>
                  </a:tcPr>
                </a:tc>
                <a:extLst>
                  <a:ext uri="{0D108BD9-81ED-4DB2-BD59-A6C34878D82A}">
                    <a16:rowId xmlns:a16="http://schemas.microsoft.com/office/drawing/2014/main" val="10006"/>
                  </a:ext>
                </a:extLst>
              </a:tr>
            </a:tbl>
          </a:graphicData>
        </a:graphic>
      </p:graphicFrame>
      <p:sp>
        <p:nvSpPr>
          <p:cNvPr id="25" name="TextBox 24"/>
          <p:cNvSpPr txBox="1"/>
          <p:nvPr/>
        </p:nvSpPr>
        <p:spPr>
          <a:xfrm>
            <a:off x="4649509" y="1795019"/>
            <a:ext cx="922094" cy="1397890"/>
          </a:xfrm>
          <a:prstGeom prst="rect">
            <a:avLst/>
          </a:prstGeom>
          <a:noFill/>
        </p:spPr>
        <p:txBody>
          <a:bodyPr wrap="none" lIns="84466" tIns="84466" rIns="84466" bIns="84466">
            <a:spAutoFit/>
          </a:bodyPr>
          <a:lstStyle/>
          <a:p>
            <a:r>
              <a:rPr sz="1600" b="0" i="0" u="none">
                <a:solidFill>
                  <a:srgbClr val="9FA089"/>
                </a:solidFill>
                <a:latin typeface="Arial"/>
              </a:rPr>
              <a:t>Dimension Heading Layer Transit Energy Node Span Flow Friction Inventory Indicator Record</a:t>
            </a:r>
          </a:p>
        </p:txBody>
      </p:sp>
      <p:sp>
        <p:nvSpPr>
          <p:cNvPr id="26" name="TextBox 25"/>
          <p:cNvSpPr txBox="1"/>
          <p:nvPr/>
        </p:nvSpPr>
        <p:spPr>
          <a:xfrm>
            <a:off x="1346031" y="1846560"/>
            <a:ext cx="1078161" cy="1629222"/>
          </a:xfrm>
          <a:prstGeom prst="rect">
            <a:avLst/>
          </a:prstGeom>
          <a:noFill/>
        </p:spPr>
        <p:txBody>
          <a:bodyPr wrap="none" lIns="25909" tIns="25909" rIns="25909" bIns="25909">
            <a:spAutoFit/>
          </a:bodyPr>
          <a:lstStyle/>
          <a:p>
            <a:r>
              <a:rPr sz="1500" b="0" i="0" u="none">
                <a:solidFill>
                  <a:srgbClr val="7C2F85"/>
                </a:solidFill>
                <a:latin typeface="Verdana"/>
              </a:rPr>
              <a:t>Benchmark Position Object Process Trace Grid Connector Proof Bundle Viewport Cell Exchange Origin Measure Moment Detail Anchor Resource Terminal Segment Circuit Level Template Build Metric Query</a:t>
            </a:r>
          </a:p>
        </p:txBody>
      </p:sp>
      <p:pic>
        <p:nvPicPr>
          <p:cNvPr id="28" name="Graphic 27">
            <a:extLst>
              <a:ext uri="{FF2B5EF4-FFF2-40B4-BE49-F238E27FC236}">
                <a16:creationId xmlns:a16="http://schemas.microsoft.com/office/drawing/2014/main" id="{FB975B6C-BBB5-FD82-BAE0-6EB4E2D846D2}"/>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3863394" y="163544"/>
            <a:ext cx="1030625" cy="1085513"/>
          </a:xfrm>
          <a:prstGeom prst="rect">
            <a:avLst/>
          </a:prstGeom>
        </p:spPr>
      </p:pic>
      <p:pic>
        <p:nvPicPr>
          <p:cNvPr id="30" name="Graphic 29">
            <a:extLst>
              <a:ext uri="{FF2B5EF4-FFF2-40B4-BE49-F238E27FC236}">
                <a16:creationId xmlns:a16="http://schemas.microsoft.com/office/drawing/2014/main" id="{DA7DF332-393E-71E7-43FB-E91488EA8FE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6740489" y="5451465"/>
            <a:ext cx="947172" cy="804198"/>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7796476" y="5841177"/>
            <a:ext cx="2009924" cy="821447"/>
          </a:xfrm>
          <a:custGeom>
            <a:avLst/>
            <a:gdLst/>
            <a:ahLst/>
            <a:cxnLst/>
            <a:rect l="l" t="t" r="r" b="b"/>
            <a:pathLst>
              <a:path w="2009924" h="821447">
                <a:moveTo>
                  <a:pt x="1004962" y="0"/>
                </a:moveTo>
                <a:lnTo>
                  <a:pt x="1256202" y="205362"/>
                </a:lnTo>
                <a:lnTo>
                  <a:pt x="1884304" y="147860"/>
                </a:lnTo>
                <a:lnTo>
                  <a:pt x="1528380" y="410723"/>
                </a:lnTo>
                <a:lnTo>
                  <a:pt x="2009924" y="640729"/>
                </a:lnTo>
                <a:lnTo>
                  <a:pt x="1256202" y="591442"/>
                </a:lnTo>
                <a:lnTo>
                  <a:pt x="1004962" y="821447"/>
                </a:lnTo>
                <a:lnTo>
                  <a:pt x="753722" y="591442"/>
                </a:lnTo>
                <a:lnTo>
                  <a:pt x="0" y="640729"/>
                </a:lnTo>
                <a:lnTo>
                  <a:pt x="481544" y="410723"/>
                </a:lnTo>
                <a:lnTo>
                  <a:pt x="125620" y="147860"/>
                </a:lnTo>
                <a:lnTo>
                  <a:pt x="753722" y="205362"/>
                </a:lnTo>
                <a:close/>
              </a:path>
            </a:pathLst>
          </a:custGeom>
          <a:solidFill>
            <a:srgbClr val="331E54"/>
          </a:solidFill>
          <a:ln w="22817">
            <a:solidFill>
              <a:srgbClr val="256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74982" y="337461"/>
            <a:ext cx="1068974" cy="728227"/>
          </a:xfrm>
          <a:prstGeom prst="rect">
            <a:avLst/>
          </a:prstGeom>
          <a:solidFill>
            <a:srgbClr val="59DF53"/>
          </a:solidFill>
        </p:spPr>
        <p:txBody>
          <a:bodyPr wrap="none" lIns="46952" tIns="46952" rIns="46952" bIns="46952">
            <a:spAutoFit/>
          </a:bodyPr>
          <a:lstStyle/>
          <a:p>
            <a:r>
              <a:rPr sz="1200" b="1" i="0" u="none">
                <a:solidFill>
                  <a:srgbClr val="943450"/>
                </a:solidFill>
                <a:latin typeface="Trebuchet MS"/>
              </a:rPr>
              <a:t>Payload Buffer Proof</a:t>
            </a:r>
          </a:p>
        </p:txBody>
      </p:sp>
      <p:sp>
        <p:nvSpPr>
          <p:cNvPr id="4" name="TextBox 3"/>
          <p:cNvSpPr txBox="1"/>
          <p:nvPr/>
        </p:nvSpPr>
        <p:spPr>
          <a:xfrm>
            <a:off x="420997" y="2628757"/>
            <a:ext cx="4038485" cy="1676241"/>
          </a:xfrm>
          <a:prstGeom prst="rect">
            <a:avLst/>
          </a:prstGeom>
          <a:noFill/>
        </p:spPr>
        <p:txBody>
          <a:bodyPr wrap="none" lIns="28481" tIns="28481" rIns="28481" bIns="28481">
            <a:spAutoFit/>
          </a:bodyPr>
          <a:lstStyle/>
          <a:p>
            <a:r>
              <a:rPr sz="6100" b="1" i="0" u="none">
                <a:solidFill>
                  <a:srgbClr val="BF1B73"/>
                </a:solidFill>
                <a:latin typeface="Georgia"/>
              </a:rPr>
              <a:t>Path Reserve Checkpoint Viewport Track Clarity Asset</a:t>
            </a:r>
          </a:p>
        </p:txBody>
      </p:sp>
      <p:sp>
        <p:nvSpPr>
          <p:cNvPr id="5" name="Cube 4"/>
          <p:cNvSpPr/>
          <p:nvPr/>
        </p:nvSpPr>
        <p:spPr>
          <a:xfrm>
            <a:off x="2766494" y="468878"/>
            <a:ext cx="2471135" cy="758877"/>
          </a:xfrm>
          <a:prstGeom prst="cube">
            <a:avLst/>
          </a:prstGeom>
          <a:solidFill>
            <a:srgbClr val="5CCC26"/>
          </a:solidFill>
          <a:ln w="13436">
            <a:solidFill>
              <a:srgbClr val="D6216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Chart 5"/>
          <p:cNvGraphicFramePr>
            <a:graphicFrameLocks noGrp="1"/>
          </p:cNvGraphicFramePr>
          <p:nvPr/>
        </p:nvGraphicFramePr>
        <p:xfrm>
          <a:off x="7500338" y="1922717"/>
          <a:ext cx="2435392" cy="1868075"/>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6" descr="_example_image.jpg"/>
          <p:cNvPicPr>
            <a:picLocks noChangeAspect="1"/>
          </p:cNvPicPr>
          <p:nvPr/>
        </p:nvPicPr>
        <p:blipFill>
          <a:blip r:embed="rId3"/>
          <a:srcRect l="7760" t="6723" r="4667" b="17793"/>
          <a:stretch>
            <a:fillRect/>
          </a:stretch>
        </p:blipFill>
        <p:spPr>
          <a:xfrm>
            <a:off x="8605154" y="273436"/>
            <a:ext cx="1836323" cy="1451640"/>
          </a:xfrm>
          <a:prstGeom prst="rect">
            <a:avLst/>
          </a:prstGeom>
        </p:spPr>
      </p:pic>
      <p:graphicFrame>
        <p:nvGraphicFramePr>
          <p:cNvPr id="8" name="Chart 7"/>
          <p:cNvGraphicFramePr>
            <a:graphicFrameLocks noGrp="1"/>
          </p:cNvGraphicFramePr>
          <p:nvPr/>
        </p:nvGraphicFramePr>
        <p:xfrm>
          <a:off x="3622607" y="2329085"/>
          <a:ext cx="2235025" cy="2267402"/>
        </p:xfrm>
        <a:graphic>
          <a:graphicData uri="http://schemas.openxmlformats.org/drawingml/2006/chart">
            <c:chart xmlns:c="http://schemas.openxmlformats.org/drawingml/2006/chart" xmlns:r="http://schemas.openxmlformats.org/officeDocument/2006/relationships" r:id="rId4"/>
          </a:graphicData>
        </a:graphic>
      </p:graphicFrame>
      <p:pic>
        <p:nvPicPr>
          <p:cNvPr id="9" name="Picture 8" descr="_example_image.jpg"/>
          <p:cNvPicPr>
            <a:picLocks noChangeAspect="1"/>
          </p:cNvPicPr>
          <p:nvPr/>
        </p:nvPicPr>
        <p:blipFill>
          <a:blip r:embed="rId3"/>
          <a:srcRect l="6316" t="18976" r="20734" b="13620"/>
          <a:stretch>
            <a:fillRect/>
          </a:stretch>
        </p:blipFill>
        <p:spPr>
          <a:xfrm>
            <a:off x="4759674" y="5168979"/>
            <a:ext cx="2540155" cy="1242397"/>
          </a:xfrm>
          <a:prstGeom prst="rect">
            <a:avLst/>
          </a:prstGeom>
        </p:spPr>
      </p:pic>
      <p:sp>
        <p:nvSpPr>
          <p:cNvPr id="10" name="TextBox 9"/>
          <p:cNvSpPr txBox="1"/>
          <p:nvPr/>
        </p:nvSpPr>
        <p:spPr>
          <a:xfrm>
            <a:off x="5701660" y="2917815"/>
            <a:ext cx="445283" cy="1537210"/>
          </a:xfrm>
          <a:prstGeom prst="rect">
            <a:avLst/>
          </a:prstGeom>
          <a:noFill/>
        </p:spPr>
        <p:txBody>
          <a:bodyPr wrap="none" lIns="72103" tIns="72103" rIns="72103" bIns="72103">
            <a:spAutoFit/>
          </a:bodyPr>
          <a:lstStyle/>
          <a:p>
            <a:r>
              <a:rPr sz="800" b="1" i="0" u="none">
                <a:solidFill>
                  <a:srgbClr val="3059A6"/>
                </a:solidFill>
                <a:latin typeface="Calibri"/>
              </a:rPr>
              <a:t>Energy Filter</a:t>
            </a:r>
          </a:p>
        </p:txBody>
      </p:sp>
      <p:cxnSp>
        <p:nvCxnSpPr>
          <p:cNvPr id="11" name="Connector 10"/>
          <p:cNvCxnSpPr/>
          <p:nvPr/>
        </p:nvCxnSpPr>
        <p:spPr>
          <a:xfrm flipV="1">
            <a:off x="7943721" y="5234305"/>
            <a:ext cx="984707" cy="605892"/>
          </a:xfrm>
          <a:prstGeom prst="curvedConnector3">
            <a:avLst/>
          </a:prstGeom>
          <a:ln w="48772">
            <a:solidFill>
              <a:srgbClr val="3EC6D0"/>
            </a:solidFill>
            <a:prstDash val="lgDash"/>
          </a:ln>
        </p:spPr>
        <p:style>
          <a:lnRef idx="2">
            <a:schemeClr val="accent1"/>
          </a:lnRef>
          <a:fillRef idx="0">
            <a:schemeClr val="accent1"/>
          </a:fillRef>
          <a:effectRef idx="1">
            <a:schemeClr val="accent1"/>
          </a:effectRef>
          <a:fontRef idx="minor">
            <a:schemeClr val="tx1"/>
          </a:fontRef>
        </p:style>
      </p:cxnSp>
      <p:sp>
        <p:nvSpPr>
          <p:cNvPr id="12" name="Freeform 11"/>
          <p:cNvSpPr/>
          <p:nvPr/>
        </p:nvSpPr>
        <p:spPr>
          <a:xfrm>
            <a:off x="1640072" y="1572361"/>
            <a:ext cx="1299316" cy="804033"/>
          </a:xfrm>
          <a:custGeom>
            <a:avLst/>
            <a:gdLst/>
            <a:ahLst/>
            <a:cxnLst/>
            <a:rect l="l" t="t" r="r" b="b"/>
            <a:pathLst>
              <a:path w="1299316" h="804033">
                <a:moveTo>
                  <a:pt x="0" y="178674"/>
                </a:moveTo>
                <a:lnTo>
                  <a:pt x="279423" y="0"/>
                </a:lnTo>
                <a:lnTo>
                  <a:pt x="558846" y="241210"/>
                </a:lnTo>
                <a:lnTo>
                  <a:pt x="838268" y="26801"/>
                </a:lnTo>
                <a:lnTo>
                  <a:pt x="1299316" y="625359"/>
                </a:lnTo>
                <a:lnTo>
                  <a:pt x="977980" y="804033"/>
                </a:lnTo>
                <a:lnTo>
                  <a:pt x="670615" y="536022"/>
                </a:lnTo>
                <a:lnTo>
                  <a:pt x="321336" y="777232"/>
                </a:lnTo>
                <a:close/>
              </a:path>
            </a:pathLst>
          </a:custGeom>
          <a:solidFill>
            <a:srgbClr val="6FCAAE"/>
          </a:solidFill>
          <a:ln w="15528">
            <a:solidFill>
              <a:srgbClr val="8A65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5945648" y="836341"/>
            <a:ext cx="1388158" cy="393388"/>
          </a:xfrm>
          <a:prstGeom prst="curvedConnector3">
            <a:avLst/>
          </a:prstGeom>
          <a:ln w="43288">
            <a:solidFill>
              <a:srgbClr val="422799"/>
            </a:solidFill>
            <a:prstDash val="dashDot"/>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5010" y="1115628"/>
            <a:ext cx="1145890" cy="1043619"/>
          </a:xfrm>
          <a:prstGeom prst="rect">
            <a:avLst/>
          </a:prstGeom>
          <a:noFill/>
        </p:spPr>
        <p:txBody>
          <a:bodyPr wrap="none" lIns="32545" tIns="32545" rIns="32545" bIns="32545">
            <a:spAutoFit/>
          </a:bodyPr>
          <a:lstStyle/>
          <a:p>
            <a:r>
              <a:rPr sz="1100" b="0" i="1" u="none">
                <a:solidFill>
                  <a:srgbClr val="4A42BE"/>
                </a:solidFill>
                <a:latin typeface="Trebuchet MS"/>
              </a:rPr>
              <a:t>Case</a:t>
            </a:r>
          </a:p>
        </p:txBody>
      </p:sp>
      <p:sp>
        <p:nvSpPr>
          <p:cNvPr id="15" name="TextBox 14"/>
          <p:cNvSpPr txBox="1"/>
          <p:nvPr/>
        </p:nvSpPr>
        <p:spPr>
          <a:xfrm>
            <a:off x="7157099" y="1346053"/>
            <a:ext cx="876814" cy="1111735"/>
          </a:xfrm>
          <a:prstGeom prst="rect">
            <a:avLst/>
          </a:prstGeom>
          <a:noFill/>
        </p:spPr>
        <p:txBody>
          <a:bodyPr wrap="none" lIns="33664" tIns="33664" rIns="33664" bIns="33664">
            <a:spAutoFit/>
          </a:bodyPr>
          <a:lstStyle/>
          <a:p>
            <a:r>
              <a:rPr sz="1200" b="1" i="0" u="none">
                <a:solidFill>
                  <a:srgbClr val="DC911F"/>
                </a:solidFill>
                <a:latin typeface="Trebuchet MS"/>
              </a:rPr>
              <a:t>Direction North Lens Agenda Range Span Balance Clarity Cadence Method Topology Ratio Insight Anchor Dimension Route Station Keyline Depth Bundle Volume Template Register Threshold Diagram Source Index Control Gateway Map Span Stream Motion Element Depth</a:t>
            </a:r>
          </a:p>
        </p:txBody>
      </p:sp>
      <p:cxnSp>
        <p:nvCxnSpPr>
          <p:cNvPr id="16" name="Connector 15"/>
          <p:cNvCxnSpPr/>
          <p:nvPr/>
        </p:nvCxnSpPr>
        <p:spPr>
          <a:xfrm flipV="1">
            <a:off x="7541572" y="4608775"/>
            <a:ext cx="1439122" cy="490793"/>
          </a:xfrm>
          <a:prstGeom prst="bentConnector3">
            <a:avLst/>
          </a:prstGeom>
          <a:ln w="35326">
            <a:solidFill>
              <a:srgbClr val="B35DBD"/>
            </a:solidFill>
            <a:prstDash val="dot"/>
          </a:ln>
        </p:spPr>
        <p:style>
          <a:lnRef idx="2">
            <a:schemeClr val="accent1"/>
          </a:lnRef>
          <a:fillRef idx="0">
            <a:schemeClr val="accent1"/>
          </a:fillRef>
          <a:effectRef idx="1">
            <a:schemeClr val="accent1"/>
          </a:effectRef>
          <a:fontRef idx="minor">
            <a:schemeClr val="tx1"/>
          </a:fontRef>
        </p:style>
      </p:cxnSp>
      <p:sp>
        <p:nvSpPr>
          <p:cNvPr id="17" name="Explosion 16"/>
          <p:cNvSpPr/>
          <p:nvPr/>
        </p:nvSpPr>
        <p:spPr>
          <a:xfrm>
            <a:off x="9297785" y="4002296"/>
            <a:ext cx="537785" cy="1614439"/>
          </a:xfrm>
          <a:prstGeom prst="irregularSeal1">
            <a:avLst/>
          </a:prstGeom>
          <a:solidFill>
            <a:srgbClr val="A0CD4D"/>
          </a:solidFill>
          <a:ln w="20554">
            <a:solidFill>
              <a:srgbClr val="CB34D8"/>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78221" y="4604554"/>
            <a:ext cx="2061279" cy="637468"/>
          </a:xfrm>
          <a:prstGeom prst="rect">
            <a:avLst/>
          </a:prstGeom>
          <a:noFill/>
        </p:spPr>
        <p:txBody>
          <a:bodyPr wrap="none" lIns="47320" tIns="47320" rIns="47320" bIns="47320">
            <a:spAutoFit/>
          </a:bodyPr>
          <a:lstStyle/>
          <a:p>
            <a:r>
              <a:rPr sz="2100" b="1" i="0" u="none">
                <a:solidFill>
                  <a:srgbClr val="9E6572"/>
                </a:solidFill>
                <a:latin typeface="Georgia"/>
              </a:rPr>
              <a:t>Stack Baseline Motion Frame Token Reference Token Layer Bridge Design Action Handle Deck</a:t>
            </a:r>
          </a:p>
        </p:txBody>
      </p:sp>
      <p:sp>
        <p:nvSpPr>
          <p:cNvPr id="19" name="Rounded Rectangle 18"/>
          <p:cNvSpPr/>
          <p:nvPr/>
        </p:nvSpPr>
        <p:spPr>
          <a:xfrm>
            <a:off x="7088011" y="3564776"/>
            <a:ext cx="442586" cy="837297"/>
          </a:xfrm>
          <a:prstGeom prst="roundRect">
            <a:avLst/>
          </a:prstGeom>
          <a:solidFill>
            <a:srgbClr val="A9C320"/>
          </a:solidFill>
          <a:ln w="11422">
            <a:solidFill>
              <a:srgbClr val="A8BE27"/>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ivision 19"/>
          <p:cNvSpPr/>
          <p:nvPr/>
        </p:nvSpPr>
        <p:spPr>
          <a:xfrm>
            <a:off x="6567780" y="2613099"/>
            <a:ext cx="2124958" cy="483197"/>
          </a:xfrm>
          <a:prstGeom prst="mathDivide">
            <a:avLst/>
          </a:prstGeom>
          <a:solidFill>
            <a:srgbClr val="B7E56E"/>
          </a:solidFill>
          <a:ln w="6737">
            <a:solidFill>
              <a:srgbClr val="691ACD"/>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2986506" y="1702211"/>
          <a:ext cx="2733069" cy="958270"/>
        </p:xfrm>
        <a:graphic>
          <a:graphicData uri="http://schemas.openxmlformats.org/drawingml/2006/table">
            <a:tbl>
              <a:tblPr firstRow="1" bandRow="1">
                <a:tableStyleId>{5C22544A-7EE6-4342-B048-85BDC9FD1C3A}</a:tableStyleId>
              </a:tblPr>
              <a:tblGrid>
                <a:gridCol w="546613">
                  <a:extLst>
                    <a:ext uri="{9D8B030D-6E8A-4147-A177-3AD203B41FA5}">
                      <a16:colId xmlns:a16="http://schemas.microsoft.com/office/drawing/2014/main" val="20000"/>
                    </a:ext>
                  </a:extLst>
                </a:gridCol>
                <a:gridCol w="546613">
                  <a:extLst>
                    <a:ext uri="{9D8B030D-6E8A-4147-A177-3AD203B41FA5}">
                      <a16:colId xmlns:a16="http://schemas.microsoft.com/office/drawing/2014/main" val="20001"/>
                    </a:ext>
                  </a:extLst>
                </a:gridCol>
                <a:gridCol w="546613">
                  <a:extLst>
                    <a:ext uri="{9D8B030D-6E8A-4147-A177-3AD203B41FA5}">
                      <a16:colId xmlns:a16="http://schemas.microsoft.com/office/drawing/2014/main" val="20002"/>
                    </a:ext>
                  </a:extLst>
                </a:gridCol>
                <a:gridCol w="546613">
                  <a:extLst>
                    <a:ext uri="{9D8B030D-6E8A-4147-A177-3AD203B41FA5}">
                      <a16:colId xmlns:a16="http://schemas.microsoft.com/office/drawing/2014/main" val="20003"/>
                    </a:ext>
                  </a:extLst>
                </a:gridCol>
                <a:gridCol w="546617">
                  <a:extLst>
                    <a:ext uri="{9D8B030D-6E8A-4147-A177-3AD203B41FA5}">
                      <a16:colId xmlns:a16="http://schemas.microsoft.com/office/drawing/2014/main" val="20004"/>
                    </a:ext>
                  </a:extLst>
                </a:gridCol>
              </a:tblGrid>
              <a:tr h="479135">
                <a:tc>
                  <a:txBody>
                    <a:bodyPr/>
                    <a:lstStyle/>
                    <a:p>
                      <a:r>
                        <a:rPr sz="1200" b="1">
                          <a:solidFill>
                            <a:srgbClr val="7FD07F"/>
                          </a:solidFill>
                        </a:rPr>
                        <a:t>Level</a:t>
                      </a:r>
                    </a:p>
                  </a:txBody>
                  <a:tcPr>
                    <a:solidFill>
                      <a:srgbClr val="BF8B79"/>
                    </a:solidFill>
                  </a:tcPr>
                </a:tc>
                <a:tc>
                  <a:txBody>
                    <a:bodyPr/>
                    <a:lstStyle/>
                    <a:p>
                      <a:r>
                        <a:rPr sz="1200" b="1">
                          <a:solidFill>
                            <a:srgbClr val="7FD07F"/>
                          </a:solidFill>
                        </a:rPr>
                        <a:t>Core Layer</a:t>
                      </a:r>
                    </a:p>
                  </a:txBody>
                  <a:tcPr>
                    <a:solidFill>
                      <a:srgbClr val="BF8B79"/>
                    </a:solidFill>
                  </a:tcPr>
                </a:tc>
                <a:tc>
                  <a:txBody>
                    <a:bodyPr/>
                    <a:lstStyle/>
                    <a:p>
                      <a:r>
                        <a:rPr sz="1200" b="1">
                          <a:solidFill>
                            <a:srgbClr val="7FD07F"/>
                          </a:solidFill>
                        </a:rPr>
                        <a:t>Case</a:t>
                      </a:r>
                    </a:p>
                  </a:txBody>
                  <a:tcPr>
                    <a:solidFill>
                      <a:srgbClr val="BF8B79"/>
                    </a:solidFill>
                  </a:tcPr>
                </a:tc>
                <a:tc>
                  <a:txBody>
                    <a:bodyPr/>
                    <a:lstStyle/>
                    <a:p>
                      <a:r>
                        <a:rPr sz="1200" b="1">
                          <a:solidFill>
                            <a:srgbClr val="7FD07F"/>
                          </a:solidFill>
                        </a:rPr>
                        <a:t>Reserve</a:t>
                      </a:r>
                    </a:p>
                  </a:txBody>
                  <a:tcPr>
                    <a:solidFill>
                      <a:srgbClr val="BF8B79"/>
                    </a:solidFill>
                  </a:tcPr>
                </a:tc>
                <a:tc>
                  <a:txBody>
                    <a:bodyPr/>
                    <a:lstStyle/>
                    <a:p>
                      <a:r>
                        <a:rPr sz="1200" b="1">
                          <a:solidFill>
                            <a:srgbClr val="7FD07F"/>
                          </a:solidFill>
                        </a:rPr>
                        <a:t>Signal Sequence</a:t>
                      </a:r>
                    </a:p>
                  </a:txBody>
                  <a:tcPr>
                    <a:solidFill>
                      <a:srgbClr val="BF8B79"/>
                    </a:solidFill>
                  </a:tcPr>
                </a:tc>
                <a:extLst>
                  <a:ext uri="{0D108BD9-81ED-4DB2-BD59-A6C34878D82A}">
                    <a16:rowId xmlns:a16="http://schemas.microsoft.com/office/drawing/2014/main" val="10000"/>
                  </a:ext>
                </a:extLst>
              </a:tr>
              <a:tr h="479135">
                <a:tc>
                  <a:txBody>
                    <a:bodyPr/>
                    <a:lstStyle/>
                    <a:p>
                      <a:r>
                        <a:rPr sz="1200" b="0">
                          <a:solidFill>
                            <a:srgbClr val="7FD07F"/>
                          </a:solidFill>
                        </a:rPr>
                        <a:t>Asset</a:t>
                      </a:r>
                    </a:p>
                  </a:txBody>
                  <a:tcPr>
                    <a:solidFill>
                      <a:srgbClr val="F2F5F5"/>
                    </a:solidFill>
                  </a:tcPr>
                </a:tc>
                <a:tc>
                  <a:txBody>
                    <a:bodyPr/>
                    <a:lstStyle/>
                    <a:p>
                      <a:r>
                        <a:rPr sz="1200" b="0">
                          <a:solidFill>
                            <a:srgbClr val="7FD07F"/>
                          </a:solidFill>
                        </a:rPr>
                        <a:t>Narrative Datum</a:t>
                      </a:r>
                    </a:p>
                  </a:txBody>
                  <a:tcPr>
                    <a:solidFill>
                      <a:srgbClr val="F2F5F5"/>
                    </a:solidFill>
                  </a:tcPr>
                </a:tc>
                <a:tc>
                  <a:txBody>
                    <a:bodyPr/>
                    <a:lstStyle/>
                    <a:p>
                      <a:r>
                        <a:rPr sz="1200" b="0">
                          <a:solidFill>
                            <a:srgbClr val="7FD07F"/>
                          </a:solidFill>
                        </a:rPr>
                        <a:t>Package</a:t>
                      </a:r>
                    </a:p>
                  </a:txBody>
                  <a:tcPr>
                    <a:solidFill>
                      <a:srgbClr val="F2F5F5"/>
                    </a:solidFill>
                  </a:tcPr>
                </a:tc>
                <a:tc>
                  <a:txBody>
                    <a:bodyPr/>
                    <a:lstStyle/>
                    <a:p>
                      <a:r>
                        <a:rPr sz="1200" b="0">
                          <a:solidFill>
                            <a:srgbClr val="7FD07F"/>
                          </a:solidFill>
                        </a:rPr>
                        <a:t>Profile Scale</a:t>
                      </a:r>
                    </a:p>
                  </a:txBody>
                  <a:tcPr>
                    <a:solidFill>
                      <a:srgbClr val="F2F5F5"/>
                    </a:solidFill>
                  </a:tcPr>
                </a:tc>
                <a:tc>
                  <a:txBody>
                    <a:bodyPr/>
                    <a:lstStyle/>
                    <a:p>
                      <a:r>
                        <a:rPr sz="1200" b="0">
                          <a:solidFill>
                            <a:srgbClr val="7FD07F"/>
                          </a:solidFill>
                        </a:rPr>
                        <a:t>Instance Moment</a:t>
                      </a:r>
                    </a:p>
                  </a:txBody>
                  <a:tcPr>
                    <a:solidFill>
                      <a:srgbClr val="F2F5F5"/>
                    </a:solidFill>
                  </a:tcPr>
                </a:tc>
                <a:extLst>
                  <a:ext uri="{0D108BD9-81ED-4DB2-BD59-A6C34878D82A}">
                    <a16:rowId xmlns:a16="http://schemas.microsoft.com/office/drawing/2014/main" val="10001"/>
                  </a:ext>
                </a:extLst>
              </a:tr>
            </a:tbl>
          </a:graphicData>
        </a:graphic>
      </p:graphicFrame>
      <p:sp>
        <p:nvSpPr>
          <p:cNvPr id="22" name="Display 21"/>
          <p:cNvSpPr/>
          <p:nvPr/>
        </p:nvSpPr>
        <p:spPr>
          <a:xfrm>
            <a:off x="9591829" y="2073604"/>
            <a:ext cx="772691" cy="790837"/>
          </a:xfrm>
          <a:prstGeom prst="flowChartDisplay">
            <a:avLst/>
          </a:prstGeom>
          <a:noFill/>
          <a:ln w="25108">
            <a:solidFill>
              <a:srgbClr val="9B264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3" name="Table 22"/>
          <p:cNvGraphicFramePr>
            <a:graphicFrameLocks noGrp="1"/>
          </p:cNvGraphicFramePr>
          <p:nvPr/>
        </p:nvGraphicFramePr>
        <p:xfrm>
          <a:off x="542115" y="4460262"/>
          <a:ext cx="4261232" cy="1661340"/>
        </p:xfrm>
        <a:graphic>
          <a:graphicData uri="http://schemas.openxmlformats.org/drawingml/2006/table">
            <a:tbl>
              <a:tblPr firstRow="1" bandRow="1">
                <a:tableStyleId>{5C22544A-7EE6-4342-B048-85BDC9FD1C3A}</a:tableStyleId>
              </a:tblPr>
              <a:tblGrid>
                <a:gridCol w="710205">
                  <a:extLst>
                    <a:ext uri="{9D8B030D-6E8A-4147-A177-3AD203B41FA5}">
                      <a16:colId xmlns:a16="http://schemas.microsoft.com/office/drawing/2014/main" val="20000"/>
                    </a:ext>
                  </a:extLst>
                </a:gridCol>
                <a:gridCol w="710205">
                  <a:extLst>
                    <a:ext uri="{9D8B030D-6E8A-4147-A177-3AD203B41FA5}">
                      <a16:colId xmlns:a16="http://schemas.microsoft.com/office/drawing/2014/main" val="20001"/>
                    </a:ext>
                  </a:extLst>
                </a:gridCol>
                <a:gridCol w="710205">
                  <a:extLst>
                    <a:ext uri="{9D8B030D-6E8A-4147-A177-3AD203B41FA5}">
                      <a16:colId xmlns:a16="http://schemas.microsoft.com/office/drawing/2014/main" val="20002"/>
                    </a:ext>
                  </a:extLst>
                </a:gridCol>
                <a:gridCol w="710205">
                  <a:extLst>
                    <a:ext uri="{9D8B030D-6E8A-4147-A177-3AD203B41FA5}">
                      <a16:colId xmlns:a16="http://schemas.microsoft.com/office/drawing/2014/main" val="20003"/>
                    </a:ext>
                  </a:extLst>
                </a:gridCol>
                <a:gridCol w="710205">
                  <a:extLst>
                    <a:ext uri="{9D8B030D-6E8A-4147-A177-3AD203B41FA5}">
                      <a16:colId xmlns:a16="http://schemas.microsoft.com/office/drawing/2014/main" val="20004"/>
                    </a:ext>
                  </a:extLst>
                </a:gridCol>
                <a:gridCol w="710207">
                  <a:extLst>
                    <a:ext uri="{9D8B030D-6E8A-4147-A177-3AD203B41FA5}">
                      <a16:colId xmlns:a16="http://schemas.microsoft.com/office/drawing/2014/main" val="20005"/>
                    </a:ext>
                  </a:extLst>
                </a:gridCol>
              </a:tblGrid>
              <a:tr h="830670">
                <a:tc>
                  <a:txBody>
                    <a:bodyPr/>
                    <a:lstStyle/>
                    <a:p>
                      <a:r>
                        <a:rPr sz="600" b="1">
                          <a:solidFill>
                            <a:srgbClr val="476079"/>
                          </a:solidFill>
                        </a:rPr>
                        <a:t>Sync Payload</a:t>
                      </a:r>
                    </a:p>
                  </a:txBody>
                  <a:tcPr>
                    <a:solidFill>
                      <a:srgbClr val="C376C5"/>
                    </a:solidFill>
                  </a:tcPr>
                </a:tc>
                <a:tc>
                  <a:txBody>
                    <a:bodyPr/>
                    <a:lstStyle/>
                    <a:p>
                      <a:r>
                        <a:rPr sz="600" b="1">
                          <a:solidFill>
                            <a:srgbClr val="476079"/>
                          </a:solidFill>
                        </a:rPr>
                        <a:t>Logic Library</a:t>
                      </a:r>
                    </a:p>
                  </a:txBody>
                  <a:tcPr>
                    <a:solidFill>
                      <a:srgbClr val="C376C5"/>
                    </a:solidFill>
                  </a:tcPr>
                </a:tc>
                <a:tc>
                  <a:txBody>
                    <a:bodyPr/>
                    <a:lstStyle/>
                    <a:p>
                      <a:r>
                        <a:rPr sz="600" b="1">
                          <a:solidFill>
                            <a:srgbClr val="476079"/>
                          </a:solidFill>
                        </a:rPr>
                        <a:t>Report Point</a:t>
                      </a:r>
                    </a:p>
                  </a:txBody>
                  <a:tcPr>
                    <a:solidFill>
                      <a:srgbClr val="C376C5"/>
                    </a:solidFill>
                  </a:tcPr>
                </a:tc>
                <a:tc>
                  <a:txBody>
                    <a:bodyPr/>
                    <a:lstStyle/>
                    <a:p>
                      <a:r>
                        <a:rPr sz="600" b="1">
                          <a:solidFill>
                            <a:srgbClr val="476079"/>
                          </a:solidFill>
                        </a:rPr>
                        <a:t>Template</a:t>
                      </a:r>
                    </a:p>
                  </a:txBody>
                  <a:tcPr>
                    <a:solidFill>
                      <a:srgbClr val="C376C5"/>
                    </a:solidFill>
                  </a:tcPr>
                </a:tc>
                <a:tc>
                  <a:txBody>
                    <a:bodyPr/>
                    <a:lstStyle/>
                    <a:p>
                      <a:r>
                        <a:rPr sz="600" b="1">
                          <a:solidFill>
                            <a:srgbClr val="476079"/>
                          </a:solidFill>
                        </a:rPr>
                        <a:t>Motion</a:t>
                      </a:r>
                    </a:p>
                  </a:txBody>
                  <a:tcPr>
                    <a:solidFill>
                      <a:srgbClr val="C376C5"/>
                    </a:solidFill>
                  </a:tcPr>
                </a:tc>
                <a:tc>
                  <a:txBody>
                    <a:bodyPr/>
                    <a:lstStyle/>
                    <a:p>
                      <a:r>
                        <a:rPr sz="600" b="1">
                          <a:solidFill>
                            <a:srgbClr val="476079"/>
                          </a:solidFill>
                        </a:rPr>
                        <a:t>Pattern</a:t>
                      </a:r>
                    </a:p>
                  </a:txBody>
                  <a:tcPr>
                    <a:solidFill>
                      <a:srgbClr val="C376C5"/>
                    </a:solidFill>
                  </a:tcPr>
                </a:tc>
                <a:extLst>
                  <a:ext uri="{0D108BD9-81ED-4DB2-BD59-A6C34878D82A}">
                    <a16:rowId xmlns:a16="http://schemas.microsoft.com/office/drawing/2014/main" val="10000"/>
                  </a:ext>
                </a:extLst>
              </a:tr>
              <a:tr h="830670">
                <a:tc>
                  <a:txBody>
                    <a:bodyPr/>
                    <a:lstStyle/>
                    <a:p>
                      <a:r>
                        <a:rPr sz="600" b="0">
                          <a:solidFill>
                            <a:srgbClr val="476079"/>
                          </a:solidFill>
                        </a:rPr>
                        <a:t>Element Model</a:t>
                      </a:r>
                    </a:p>
                  </a:txBody>
                  <a:tcPr>
                    <a:solidFill>
                      <a:srgbClr val="EBF9EC"/>
                    </a:solidFill>
                  </a:tcPr>
                </a:tc>
                <a:tc>
                  <a:txBody>
                    <a:bodyPr/>
                    <a:lstStyle/>
                    <a:p>
                      <a:r>
                        <a:rPr sz="600" b="0">
                          <a:solidFill>
                            <a:srgbClr val="476079"/>
                          </a:solidFill>
                        </a:rPr>
                        <a:t>Baseline Benchmark</a:t>
                      </a:r>
                    </a:p>
                  </a:txBody>
                  <a:tcPr>
                    <a:solidFill>
                      <a:srgbClr val="EBF9EC"/>
                    </a:solidFill>
                  </a:tcPr>
                </a:tc>
                <a:tc>
                  <a:txBody>
                    <a:bodyPr/>
                    <a:lstStyle/>
                    <a:p>
                      <a:r>
                        <a:rPr sz="600" b="0">
                          <a:solidFill>
                            <a:srgbClr val="476079"/>
                          </a:solidFill>
                        </a:rPr>
                        <a:t>Window</a:t>
                      </a:r>
                    </a:p>
                  </a:txBody>
                  <a:tcPr>
                    <a:solidFill>
                      <a:srgbClr val="EBF9EC"/>
                    </a:solidFill>
                  </a:tcPr>
                </a:tc>
                <a:tc>
                  <a:txBody>
                    <a:bodyPr/>
                    <a:lstStyle/>
                    <a:p>
                      <a:r>
                        <a:rPr sz="600" b="0">
                          <a:solidFill>
                            <a:srgbClr val="476079"/>
                          </a:solidFill>
                        </a:rPr>
                        <a:t>Signal Duration</a:t>
                      </a:r>
                    </a:p>
                  </a:txBody>
                  <a:tcPr>
                    <a:solidFill>
                      <a:srgbClr val="EBF9EC"/>
                    </a:solidFill>
                  </a:tcPr>
                </a:tc>
                <a:tc>
                  <a:txBody>
                    <a:bodyPr/>
                    <a:lstStyle/>
                    <a:p>
                      <a:r>
                        <a:rPr sz="600" b="0">
                          <a:solidFill>
                            <a:srgbClr val="476079"/>
                          </a:solidFill>
                        </a:rPr>
                        <a:t>Intent Station</a:t>
                      </a:r>
                    </a:p>
                  </a:txBody>
                  <a:tcPr>
                    <a:solidFill>
                      <a:srgbClr val="EBF9EC"/>
                    </a:solidFill>
                  </a:tcPr>
                </a:tc>
                <a:tc>
                  <a:txBody>
                    <a:bodyPr/>
                    <a:lstStyle/>
                    <a:p>
                      <a:r>
                        <a:rPr sz="600" b="0">
                          <a:solidFill>
                            <a:srgbClr val="476079"/>
                          </a:solidFill>
                        </a:rPr>
                        <a:t>View Span</a:t>
                      </a:r>
                    </a:p>
                  </a:txBody>
                  <a:tcPr>
                    <a:solidFill>
                      <a:srgbClr val="EBF9EC"/>
                    </a:solidFill>
                  </a:tcPr>
                </a:tc>
                <a:extLst>
                  <a:ext uri="{0D108BD9-81ED-4DB2-BD59-A6C34878D82A}">
                    <a16:rowId xmlns:a16="http://schemas.microsoft.com/office/drawing/2014/main" val="10001"/>
                  </a:ext>
                </a:extLst>
              </a:tr>
            </a:tbl>
          </a:graphicData>
        </a:graphic>
      </p:graphicFrame>
      <p:sp>
        <p:nvSpPr>
          <p:cNvPr id="24" name="Decision 23"/>
          <p:cNvSpPr/>
          <p:nvPr/>
        </p:nvSpPr>
        <p:spPr>
          <a:xfrm>
            <a:off x="10138290" y="4543787"/>
            <a:ext cx="1554364" cy="1777028"/>
          </a:xfrm>
          <a:prstGeom prst="flowChartDecision">
            <a:avLst/>
          </a:prstGeom>
          <a:solidFill>
            <a:srgbClr val="49AC37"/>
          </a:solidFill>
          <a:ln w="24013">
            <a:solidFill>
              <a:srgbClr val="DA9E5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Explosion 24"/>
          <p:cNvSpPr/>
          <p:nvPr/>
        </p:nvSpPr>
        <p:spPr>
          <a:xfrm>
            <a:off x="9581381" y="1659809"/>
            <a:ext cx="554790" cy="281990"/>
          </a:xfrm>
          <a:prstGeom prst="irregularSeal1">
            <a:avLst/>
          </a:prstGeom>
          <a:solidFill>
            <a:srgbClr val="B4C434"/>
          </a:solidFill>
          <a:ln w="21747">
            <a:solidFill>
              <a:srgbClr val="20BE8B"/>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3"/>
          <a:srcRect/>
          <a:stretch>
            <a:fillRect/>
          </a:stretch>
        </p:blipFill>
        <p:spPr>
          <a:xfrm>
            <a:off x="10501620" y="1480119"/>
            <a:ext cx="1398766" cy="1728545"/>
          </a:xfrm>
          <a:prstGeom prst="rect">
            <a:avLst/>
          </a:prstGeom>
        </p:spPr>
      </p:pic>
      <p:sp>
        <p:nvSpPr>
          <p:cNvPr id="27" name="Rounded Rectangle 26"/>
          <p:cNvSpPr/>
          <p:nvPr/>
        </p:nvSpPr>
        <p:spPr>
          <a:xfrm>
            <a:off x="10501620" y="1480119"/>
            <a:ext cx="1398766" cy="1728545"/>
          </a:xfrm>
          <a:prstGeom prst="roundRect">
            <a:avLst/>
          </a:prstGeom>
          <a:noFill/>
          <a:ln w="15240">
            <a:solidFill>
              <a:srgbClr val="2C8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phic 28">
            <a:extLst>
              <a:ext uri="{FF2B5EF4-FFF2-40B4-BE49-F238E27FC236}">
                <a16:creationId xmlns:a16="http://schemas.microsoft.com/office/drawing/2014/main" id="{F2594255-9E98-429D-17FF-1158C7A102D6}"/>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652116" y="3209035"/>
            <a:ext cx="1933117" cy="1148786"/>
          </a:xfrm>
          <a:prstGeom prst="rect">
            <a:avLst/>
          </a:prstGeom>
        </p:spPr>
      </p:pic>
      <p:pic>
        <p:nvPicPr>
          <p:cNvPr id="31" name="Graphic 30">
            <a:extLst>
              <a:ext uri="{FF2B5EF4-FFF2-40B4-BE49-F238E27FC236}">
                <a16:creationId xmlns:a16="http://schemas.microsoft.com/office/drawing/2014/main" id="{09831ADE-F1F6-EC4E-66BC-B7AAC7661ED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393179" y="1114327"/>
            <a:ext cx="1421686" cy="753448"/>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xplosion 1"/>
          <p:cNvSpPr/>
          <p:nvPr/>
        </p:nvSpPr>
        <p:spPr>
          <a:xfrm>
            <a:off x="4259084" y="564506"/>
            <a:ext cx="712777" cy="1828430"/>
          </a:xfrm>
          <a:prstGeom prst="irregularSeal1">
            <a:avLst/>
          </a:prstGeom>
          <a:solidFill>
            <a:srgbClr val="69862D"/>
          </a:solidFill>
          <a:ln w="7110">
            <a:solidFill>
              <a:srgbClr val="6C9AB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12773" y="4411324"/>
            <a:ext cx="769749" cy="698326"/>
          </a:xfrm>
          <a:prstGeom prst="rect">
            <a:avLst/>
          </a:prstGeom>
          <a:noFill/>
        </p:spPr>
        <p:txBody>
          <a:bodyPr wrap="none" lIns="85853" tIns="85853" rIns="85853" bIns="85853">
            <a:spAutoFit/>
          </a:bodyPr>
          <a:lstStyle/>
          <a:p>
            <a:r>
              <a:rPr sz="5200" b="1" i="0" u="none">
                <a:solidFill>
                  <a:srgbClr val="626331"/>
                </a:solidFill>
                <a:latin typeface="Calibri"/>
              </a:rPr>
              <a:t>Expansion Ledger</a:t>
            </a:r>
          </a:p>
        </p:txBody>
      </p:sp>
      <p:graphicFrame>
        <p:nvGraphicFramePr>
          <p:cNvPr id="4" name="Chart 3"/>
          <p:cNvGraphicFramePr>
            <a:graphicFrameLocks noGrp="1"/>
          </p:cNvGraphicFramePr>
          <p:nvPr/>
        </p:nvGraphicFramePr>
        <p:xfrm>
          <a:off x="4592430" y="269297"/>
          <a:ext cx="2719129" cy="1464438"/>
        </p:xfrm>
        <a:graphic>
          <a:graphicData uri="http://schemas.openxmlformats.org/drawingml/2006/chart">
            <c:chart xmlns:c="http://schemas.openxmlformats.org/drawingml/2006/chart" xmlns:r="http://schemas.openxmlformats.org/officeDocument/2006/relationships" r:id="rId2"/>
          </a:graphicData>
        </a:graphic>
      </p:graphicFrame>
      <p:sp>
        <p:nvSpPr>
          <p:cNvPr id="5" name="Freeform 4"/>
          <p:cNvSpPr/>
          <p:nvPr/>
        </p:nvSpPr>
        <p:spPr>
          <a:xfrm>
            <a:off x="5544481" y="5538064"/>
            <a:ext cx="2610247" cy="664457"/>
          </a:xfrm>
          <a:custGeom>
            <a:avLst/>
            <a:gdLst/>
            <a:ahLst/>
            <a:cxnLst/>
            <a:rect l="l" t="t" r="r" b="b"/>
            <a:pathLst>
              <a:path w="2610247" h="664457">
                <a:moveTo>
                  <a:pt x="280672" y="113099"/>
                </a:moveTo>
                <a:lnTo>
                  <a:pt x="926217" y="0"/>
                </a:lnTo>
                <a:lnTo>
                  <a:pt x="1908568" y="56550"/>
                </a:lnTo>
                <a:lnTo>
                  <a:pt x="2610247" y="268610"/>
                </a:lnTo>
                <a:lnTo>
                  <a:pt x="2245374" y="551358"/>
                </a:lnTo>
                <a:lnTo>
                  <a:pt x="1206888" y="664457"/>
                </a:lnTo>
                <a:lnTo>
                  <a:pt x="168403" y="480671"/>
                </a:lnTo>
                <a:lnTo>
                  <a:pt x="0" y="240336"/>
                </a:lnTo>
                <a:close/>
              </a:path>
            </a:pathLst>
          </a:custGeom>
          <a:solidFill>
            <a:srgbClr val="248C9B"/>
          </a:solidFill>
          <a:ln w="17962">
            <a:solidFill>
              <a:srgbClr val="2DD5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67633" y="869578"/>
            <a:ext cx="996054" cy="1894322"/>
          </a:xfrm>
          <a:prstGeom prst="rect">
            <a:avLst/>
          </a:prstGeom>
          <a:noFill/>
        </p:spPr>
        <p:txBody>
          <a:bodyPr wrap="none" lIns="45463" tIns="45463" rIns="45463" bIns="45463">
            <a:spAutoFit/>
          </a:bodyPr>
          <a:lstStyle/>
          <a:p>
            <a:r>
              <a:rPr sz="5300" b="1" i="0" u="none">
                <a:solidFill>
                  <a:srgbClr val="D769BB"/>
                </a:solidFill>
                <a:latin typeface="Arial"/>
              </a:rPr>
              <a:t>Layer Variant Build Function Moment</a:t>
            </a:r>
          </a:p>
        </p:txBody>
      </p:sp>
      <p:pic>
        <p:nvPicPr>
          <p:cNvPr id="7" name="Picture 6" descr="_example_image.jpg"/>
          <p:cNvPicPr>
            <a:picLocks noChangeAspect="1"/>
          </p:cNvPicPr>
          <p:nvPr/>
        </p:nvPicPr>
        <p:blipFill>
          <a:blip r:embed="rId3"/>
          <a:srcRect l="8603" t="16480" r="21994" b="1710"/>
          <a:stretch>
            <a:fillRect/>
          </a:stretch>
        </p:blipFill>
        <p:spPr>
          <a:xfrm>
            <a:off x="2316741" y="575457"/>
            <a:ext cx="1465226" cy="1334829"/>
          </a:xfrm>
          <a:prstGeom prst="rect">
            <a:avLst/>
          </a:prstGeom>
        </p:spPr>
      </p:pic>
      <p:sp>
        <p:nvSpPr>
          <p:cNvPr id="8" name="Moon 7"/>
          <p:cNvSpPr/>
          <p:nvPr/>
        </p:nvSpPr>
        <p:spPr>
          <a:xfrm>
            <a:off x="8805926" y="833798"/>
            <a:ext cx="1041819" cy="883112"/>
          </a:xfrm>
          <a:prstGeom prst="moon">
            <a:avLst/>
          </a:prstGeom>
          <a:solidFill>
            <a:srgbClr val="56C646"/>
          </a:solidFill>
          <a:ln w="22187">
            <a:solidFill>
              <a:srgbClr val="21D6C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756982" y="5714950"/>
            <a:ext cx="599246" cy="658307"/>
          </a:xfrm>
          <a:prstGeom prst="rect">
            <a:avLst/>
          </a:prstGeom>
          <a:noFill/>
        </p:spPr>
        <p:txBody>
          <a:bodyPr wrap="none" lIns="33946" tIns="33946" rIns="33946" bIns="33946">
            <a:spAutoFit/>
          </a:bodyPr>
          <a:lstStyle/>
          <a:p>
            <a:r>
              <a:rPr sz="1800" b="0" i="0" u="none">
                <a:solidFill>
                  <a:srgbClr val="8BD1A6"/>
                </a:solidFill>
                <a:latin typeface="Arial"/>
              </a:rPr>
              <a:t>Account Agenda Register Access Spectrum Precision Function Friction Interval Iteration Heading Priority</a:t>
            </a:r>
          </a:p>
        </p:txBody>
      </p:sp>
      <p:sp>
        <p:nvSpPr>
          <p:cNvPr id="10" name="Rectangular Callout 9"/>
          <p:cNvSpPr/>
          <p:nvPr/>
        </p:nvSpPr>
        <p:spPr>
          <a:xfrm>
            <a:off x="6626973" y="3384373"/>
            <a:ext cx="1267021" cy="755102"/>
          </a:xfrm>
          <a:prstGeom prst="wedgeRectCallout">
            <a:avLst/>
          </a:prstGeom>
          <a:solidFill>
            <a:srgbClr val="BC1E40"/>
          </a:solidFill>
          <a:ln w="28224">
            <a:solidFill>
              <a:srgbClr val="24985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rminator 10"/>
          <p:cNvSpPr/>
          <p:nvPr/>
        </p:nvSpPr>
        <p:spPr>
          <a:xfrm>
            <a:off x="695846" y="4195409"/>
            <a:ext cx="1952518" cy="428675"/>
          </a:xfrm>
          <a:prstGeom prst="flowChartTerminator">
            <a:avLst/>
          </a:prstGeom>
          <a:solidFill>
            <a:srgbClr val="AFB15F"/>
          </a:solidFill>
          <a:ln w="7032">
            <a:solidFill>
              <a:srgbClr val="91388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 11"/>
          <p:cNvGraphicFramePr>
            <a:graphicFrameLocks noGrp="1"/>
          </p:cNvGraphicFramePr>
          <p:nvPr/>
        </p:nvGraphicFramePr>
        <p:xfrm>
          <a:off x="8938484" y="2783100"/>
          <a:ext cx="2254340" cy="141238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3990356" y="4305677"/>
            <a:ext cx="3515007" cy="1102361"/>
          </a:xfrm>
          <a:prstGeom prst="rect">
            <a:avLst/>
          </a:prstGeom>
          <a:noFill/>
        </p:spPr>
        <p:txBody>
          <a:bodyPr wrap="none" lIns="27263" tIns="27263" rIns="27263" bIns="27263">
            <a:spAutoFit/>
          </a:bodyPr>
          <a:lstStyle/>
          <a:p>
            <a:r>
              <a:rPr sz="3700" b="1" i="0" u="none">
                <a:solidFill>
                  <a:srgbClr val="579793"/>
                </a:solidFill>
                <a:latin typeface="Georgia"/>
              </a:rPr>
              <a:t>Node Design Template Apex</a:t>
            </a:r>
          </a:p>
        </p:txBody>
      </p:sp>
      <p:cxnSp>
        <p:nvCxnSpPr>
          <p:cNvPr id="14" name="Connector 13"/>
          <p:cNvCxnSpPr/>
          <p:nvPr/>
        </p:nvCxnSpPr>
        <p:spPr>
          <a:xfrm flipV="1">
            <a:off x="226435" y="3560898"/>
            <a:ext cx="2458900" cy="390300"/>
          </a:xfrm>
          <a:prstGeom prst="curvedConnector3">
            <a:avLst/>
          </a:prstGeom>
          <a:ln w="29301">
            <a:solidFill>
              <a:srgbClr val="6AABB5"/>
            </a:solidFill>
            <a:prstDash val="dash"/>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942116" y="6155976"/>
            <a:ext cx="2591315" cy="419823"/>
          </a:xfrm>
          <a:prstGeom prst="rect">
            <a:avLst/>
          </a:prstGeom>
          <a:noFill/>
          <a:ln w="6755">
            <a:solidFill>
              <a:srgbClr val="A0332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7121288" y="1392144"/>
          <a:ext cx="2869046" cy="1821126"/>
        </p:xfrm>
        <a:graphic>
          <a:graphicData uri="http://schemas.openxmlformats.org/drawingml/2006/table">
            <a:tbl>
              <a:tblPr firstRow="1" bandRow="1">
                <a:tableStyleId>{5C22544A-7EE6-4342-B048-85BDC9FD1C3A}</a:tableStyleId>
              </a:tblPr>
              <a:tblGrid>
                <a:gridCol w="1434523">
                  <a:extLst>
                    <a:ext uri="{9D8B030D-6E8A-4147-A177-3AD203B41FA5}">
                      <a16:colId xmlns:a16="http://schemas.microsoft.com/office/drawing/2014/main" val="20000"/>
                    </a:ext>
                  </a:extLst>
                </a:gridCol>
                <a:gridCol w="1434523">
                  <a:extLst>
                    <a:ext uri="{9D8B030D-6E8A-4147-A177-3AD203B41FA5}">
                      <a16:colId xmlns:a16="http://schemas.microsoft.com/office/drawing/2014/main" val="20001"/>
                    </a:ext>
                  </a:extLst>
                </a:gridCol>
              </a:tblGrid>
              <a:tr h="303521">
                <a:tc>
                  <a:txBody>
                    <a:bodyPr/>
                    <a:lstStyle/>
                    <a:p>
                      <a:r>
                        <a:rPr sz="900" b="1">
                          <a:solidFill>
                            <a:srgbClr val="329FD2"/>
                          </a:solidFill>
                        </a:rPr>
                        <a:t>Schema Entity</a:t>
                      </a:r>
                    </a:p>
                  </a:txBody>
                  <a:tcPr>
                    <a:solidFill>
                      <a:srgbClr val="A01A64"/>
                    </a:solidFill>
                  </a:tcPr>
                </a:tc>
                <a:tc>
                  <a:txBody>
                    <a:bodyPr/>
                    <a:lstStyle/>
                    <a:p>
                      <a:r>
                        <a:rPr sz="900" b="1">
                          <a:solidFill>
                            <a:srgbClr val="329FD2"/>
                          </a:solidFill>
                        </a:rPr>
                        <a:t>Runtime Control</a:t>
                      </a:r>
                    </a:p>
                  </a:txBody>
                  <a:tcPr>
                    <a:solidFill>
                      <a:srgbClr val="A01A64"/>
                    </a:solidFill>
                  </a:tcPr>
                </a:tc>
                <a:extLst>
                  <a:ext uri="{0D108BD9-81ED-4DB2-BD59-A6C34878D82A}">
                    <a16:rowId xmlns:a16="http://schemas.microsoft.com/office/drawing/2014/main" val="10000"/>
                  </a:ext>
                </a:extLst>
              </a:tr>
              <a:tr h="303521">
                <a:tc>
                  <a:txBody>
                    <a:bodyPr/>
                    <a:lstStyle/>
                    <a:p>
                      <a:r>
                        <a:rPr sz="900" b="0">
                          <a:solidFill>
                            <a:srgbClr val="329FD2"/>
                          </a:solidFill>
                        </a:rPr>
                        <a:t>Brief</a:t>
                      </a:r>
                    </a:p>
                  </a:txBody>
                  <a:tcPr>
                    <a:solidFill>
                      <a:srgbClr val="EFF0F5"/>
                    </a:solidFill>
                  </a:tcPr>
                </a:tc>
                <a:tc>
                  <a:txBody>
                    <a:bodyPr/>
                    <a:lstStyle/>
                    <a:p>
                      <a:r>
                        <a:rPr sz="900" b="0">
                          <a:solidFill>
                            <a:srgbClr val="329FD2"/>
                          </a:solidFill>
                        </a:rPr>
                        <a:t>Reference Response</a:t>
                      </a:r>
                    </a:p>
                  </a:txBody>
                  <a:tcPr>
                    <a:solidFill>
                      <a:srgbClr val="EFF0F5"/>
                    </a:solidFill>
                  </a:tcPr>
                </a:tc>
                <a:extLst>
                  <a:ext uri="{0D108BD9-81ED-4DB2-BD59-A6C34878D82A}">
                    <a16:rowId xmlns:a16="http://schemas.microsoft.com/office/drawing/2014/main" val="10001"/>
                  </a:ext>
                </a:extLst>
              </a:tr>
              <a:tr h="303521">
                <a:tc>
                  <a:txBody>
                    <a:bodyPr/>
                    <a:lstStyle/>
                    <a:p>
                      <a:r>
                        <a:rPr sz="900" b="0">
                          <a:solidFill>
                            <a:srgbClr val="329FD2"/>
                          </a:solidFill>
                        </a:rPr>
                        <a:t>Stage Record</a:t>
                      </a:r>
                    </a:p>
                  </a:txBody>
                  <a:tcPr>
                    <a:solidFill>
                      <a:srgbClr val="EFF0F5"/>
                    </a:solidFill>
                  </a:tcPr>
                </a:tc>
                <a:tc>
                  <a:txBody>
                    <a:bodyPr/>
                    <a:lstStyle/>
                    <a:p>
                      <a:r>
                        <a:rPr sz="900" b="0">
                          <a:solidFill>
                            <a:srgbClr val="329FD2"/>
                          </a:solidFill>
                        </a:rPr>
                        <a:t>Pattern</a:t>
                      </a:r>
                    </a:p>
                  </a:txBody>
                  <a:tcPr>
                    <a:solidFill>
                      <a:srgbClr val="EFF0F5"/>
                    </a:solidFill>
                  </a:tcPr>
                </a:tc>
                <a:extLst>
                  <a:ext uri="{0D108BD9-81ED-4DB2-BD59-A6C34878D82A}">
                    <a16:rowId xmlns:a16="http://schemas.microsoft.com/office/drawing/2014/main" val="10002"/>
                  </a:ext>
                </a:extLst>
              </a:tr>
              <a:tr h="303521">
                <a:tc>
                  <a:txBody>
                    <a:bodyPr/>
                    <a:lstStyle/>
                    <a:p>
                      <a:r>
                        <a:rPr sz="900" b="0">
                          <a:solidFill>
                            <a:srgbClr val="329FD2"/>
                          </a:solidFill>
                        </a:rPr>
                        <a:t>Coverage</a:t>
                      </a:r>
                    </a:p>
                  </a:txBody>
                  <a:tcPr>
                    <a:solidFill>
                      <a:srgbClr val="EFF0F5"/>
                    </a:solidFill>
                  </a:tcPr>
                </a:tc>
                <a:tc>
                  <a:txBody>
                    <a:bodyPr/>
                    <a:lstStyle/>
                    <a:p>
                      <a:r>
                        <a:rPr sz="900" b="0">
                          <a:solidFill>
                            <a:srgbClr val="329FD2"/>
                          </a:solidFill>
                        </a:rPr>
                        <a:t>Metric</a:t>
                      </a:r>
                    </a:p>
                  </a:txBody>
                  <a:tcPr>
                    <a:solidFill>
                      <a:srgbClr val="EFF0F5"/>
                    </a:solidFill>
                  </a:tcPr>
                </a:tc>
                <a:extLst>
                  <a:ext uri="{0D108BD9-81ED-4DB2-BD59-A6C34878D82A}">
                    <a16:rowId xmlns:a16="http://schemas.microsoft.com/office/drawing/2014/main" val="10003"/>
                  </a:ext>
                </a:extLst>
              </a:tr>
              <a:tr h="303521">
                <a:tc>
                  <a:txBody>
                    <a:bodyPr/>
                    <a:lstStyle/>
                    <a:p>
                      <a:r>
                        <a:rPr sz="900" b="0">
                          <a:solidFill>
                            <a:srgbClr val="329FD2"/>
                          </a:solidFill>
                        </a:rPr>
                        <a:t>Viewport Explorer</a:t>
                      </a:r>
                    </a:p>
                  </a:txBody>
                  <a:tcPr>
                    <a:solidFill>
                      <a:srgbClr val="EFF0F5"/>
                    </a:solidFill>
                  </a:tcPr>
                </a:tc>
                <a:tc>
                  <a:txBody>
                    <a:bodyPr/>
                    <a:lstStyle/>
                    <a:p>
                      <a:r>
                        <a:rPr sz="900" b="0">
                          <a:solidFill>
                            <a:srgbClr val="329FD2"/>
                          </a:solidFill>
                        </a:rPr>
                        <a:t>Frame Depth</a:t>
                      </a:r>
                    </a:p>
                  </a:txBody>
                  <a:tcPr>
                    <a:solidFill>
                      <a:srgbClr val="EFF0F5"/>
                    </a:solidFill>
                  </a:tcPr>
                </a:tc>
                <a:extLst>
                  <a:ext uri="{0D108BD9-81ED-4DB2-BD59-A6C34878D82A}">
                    <a16:rowId xmlns:a16="http://schemas.microsoft.com/office/drawing/2014/main" val="10004"/>
                  </a:ext>
                </a:extLst>
              </a:tr>
              <a:tr h="303521">
                <a:tc>
                  <a:txBody>
                    <a:bodyPr/>
                    <a:lstStyle/>
                    <a:p>
                      <a:r>
                        <a:rPr sz="900" b="0">
                          <a:solidFill>
                            <a:srgbClr val="329FD2"/>
                          </a:solidFill>
                        </a:rPr>
                        <a:t>Domain</a:t>
                      </a:r>
                    </a:p>
                  </a:txBody>
                  <a:tcPr>
                    <a:solidFill>
                      <a:srgbClr val="EFF0F5"/>
                    </a:solidFill>
                  </a:tcPr>
                </a:tc>
                <a:tc>
                  <a:txBody>
                    <a:bodyPr/>
                    <a:lstStyle/>
                    <a:p>
                      <a:r>
                        <a:rPr sz="900" b="0">
                          <a:solidFill>
                            <a:srgbClr val="329FD2"/>
                          </a:solidFill>
                        </a:rPr>
                        <a:t>Relay</a:t>
                      </a:r>
                    </a:p>
                  </a:txBody>
                  <a:tcPr>
                    <a:solidFill>
                      <a:srgbClr val="EFF0F5"/>
                    </a:solidFill>
                  </a:tcPr>
                </a:tc>
                <a:extLst>
                  <a:ext uri="{0D108BD9-81ED-4DB2-BD59-A6C34878D82A}">
                    <a16:rowId xmlns:a16="http://schemas.microsoft.com/office/drawing/2014/main" val="10005"/>
                  </a:ext>
                </a:extLst>
              </a:tr>
            </a:tbl>
          </a:graphicData>
        </a:graphic>
      </p:graphicFrame>
      <p:sp>
        <p:nvSpPr>
          <p:cNvPr id="17" name="Cloud 16"/>
          <p:cNvSpPr/>
          <p:nvPr/>
        </p:nvSpPr>
        <p:spPr>
          <a:xfrm>
            <a:off x="9381404" y="5613268"/>
            <a:ext cx="432040" cy="421592"/>
          </a:xfrm>
          <a:prstGeom prst="cloud">
            <a:avLst/>
          </a:prstGeom>
          <a:solidFill>
            <a:srgbClr val="8AC321"/>
          </a:solidFill>
          <a:ln w="20684">
            <a:solidFill>
              <a:srgbClr val="23493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662450" y="5916437"/>
            <a:ext cx="2461531" cy="427013"/>
          </a:xfrm>
          <a:custGeom>
            <a:avLst/>
            <a:gdLst/>
            <a:ahLst/>
            <a:cxnLst/>
            <a:rect l="l" t="t" r="r" b="b"/>
            <a:pathLst>
              <a:path w="2461531" h="427013">
                <a:moveTo>
                  <a:pt x="0" y="207576"/>
                </a:moveTo>
                <a:lnTo>
                  <a:pt x="423489" y="0"/>
                </a:lnTo>
                <a:lnTo>
                  <a:pt x="873446" y="177922"/>
                </a:lnTo>
                <a:lnTo>
                  <a:pt x="1323404" y="355844"/>
                </a:lnTo>
                <a:lnTo>
                  <a:pt x="1799829" y="148268"/>
                </a:lnTo>
                <a:lnTo>
                  <a:pt x="2461531" y="225368"/>
                </a:lnTo>
                <a:lnTo>
                  <a:pt x="2461531" y="427013"/>
                </a:lnTo>
                <a:lnTo>
                  <a:pt x="0" y="427013"/>
                </a:lnTo>
                <a:close/>
              </a:path>
            </a:pathLst>
          </a:custGeom>
          <a:solidFill>
            <a:srgbClr val="972E92"/>
          </a:solidFill>
          <a:ln w="30186">
            <a:solidFill>
              <a:srgbClr val="5D33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55148" y="3600237"/>
            <a:ext cx="438721" cy="2176031"/>
          </a:xfrm>
          <a:prstGeom prst="rect">
            <a:avLst/>
          </a:prstGeom>
          <a:solidFill>
            <a:srgbClr val="4FB4AE"/>
          </a:solidFill>
        </p:spPr>
        <p:txBody>
          <a:bodyPr wrap="none" lIns="46922" tIns="46922" rIns="46922" bIns="46922">
            <a:spAutoFit/>
          </a:bodyPr>
          <a:lstStyle/>
          <a:p>
            <a:r>
              <a:rPr sz="900" b="0" i="1" u="none">
                <a:solidFill>
                  <a:srgbClr val="48E477"/>
                </a:solidFill>
                <a:latin typeface="Calibri"/>
              </a:rPr>
              <a:t>Handle Node Goal Pipeline Collection Range Frame Panel Target Scale Detail Function Data Array Device Blueprint Position Clarity Story Goal Flow Reserve Archive Milestone Command Mode Slice Region Cadence Response Status Grid Connector Dimension Station Buffer Density Briefing Model Route Blueprint Alignment Portal Queue</a:t>
            </a:r>
          </a:p>
        </p:txBody>
      </p:sp>
      <p:sp>
        <p:nvSpPr>
          <p:cNvPr id="20" name="TextBox 19"/>
          <p:cNvSpPr txBox="1"/>
          <p:nvPr/>
        </p:nvSpPr>
        <p:spPr>
          <a:xfrm>
            <a:off x="813276" y="2998212"/>
            <a:ext cx="2736805" cy="558875"/>
          </a:xfrm>
          <a:prstGeom prst="rect">
            <a:avLst/>
          </a:prstGeom>
          <a:noFill/>
        </p:spPr>
        <p:txBody>
          <a:bodyPr wrap="none" lIns="36168" tIns="36168" rIns="36168" bIns="36168">
            <a:spAutoFit/>
          </a:bodyPr>
          <a:lstStyle/>
          <a:p>
            <a:r>
              <a:rPr sz="1300" b="1" i="0" u="none">
                <a:solidFill>
                  <a:srgbClr val="47A154"/>
                </a:solidFill>
                <a:latin typeface="Calibri"/>
              </a:rPr>
              <a:t>Request Goal</a:t>
            </a:r>
          </a:p>
        </p:txBody>
      </p:sp>
      <p:cxnSp>
        <p:nvCxnSpPr>
          <p:cNvPr id="21" name="Connector 20"/>
          <p:cNvCxnSpPr/>
          <p:nvPr/>
        </p:nvCxnSpPr>
        <p:spPr>
          <a:xfrm>
            <a:off x="8013958" y="4420333"/>
            <a:ext cx="1641431" cy="1087249"/>
          </a:xfrm>
          <a:prstGeom prst="line">
            <a:avLst/>
          </a:prstGeom>
          <a:ln w="38043">
            <a:solidFill>
              <a:srgbClr val="7C2F65"/>
            </a:solidFill>
            <a:prstDash val="dashDot"/>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3"/>
          <a:srcRect l="2430" t="21826" r="11716" b="6312"/>
          <a:stretch>
            <a:fillRect/>
          </a:stretch>
        </p:blipFill>
        <p:spPr>
          <a:xfrm>
            <a:off x="802169" y="4658053"/>
            <a:ext cx="2975080" cy="916728"/>
          </a:xfrm>
          <a:prstGeom prst="rect">
            <a:avLst/>
          </a:prstGeom>
        </p:spPr>
      </p:pic>
      <p:graphicFrame>
        <p:nvGraphicFramePr>
          <p:cNvPr id="23" name="Table 22"/>
          <p:cNvGraphicFramePr>
            <a:graphicFrameLocks noGrp="1"/>
          </p:cNvGraphicFramePr>
          <p:nvPr/>
        </p:nvGraphicFramePr>
        <p:xfrm>
          <a:off x="3384089" y="2601752"/>
          <a:ext cx="2626905" cy="1254304"/>
        </p:xfrm>
        <a:graphic>
          <a:graphicData uri="http://schemas.openxmlformats.org/drawingml/2006/table">
            <a:tbl>
              <a:tblPr firstRow="1" bandRow="1">
                <a:tableStyleId>{5C22544A-7EE6-4342-B048-85BDC9FD1C3A}</a:tableStyleId>
              </a:tblPr>
              <a:tblGrid>
                <a:gridCol w="525381">
                  <a:extLst>
                    <a:ext uri="{9D8B030D-6E8A-4147-A177-3AD203B41FA5}">
                      <a16:colId xmlns:a16="http://schemas.microsoft.com/office/drawing/2014/main" val="20000"/>
                    </a:ext>
                  </a:extLst>
                </a:gridCol>
                <a:gridCol w="525381">
                  <a:extLst>
                    <a:ext uri="{9D8B030D-6E8A-4147-A177-3AD203B41FA5}">
                      <a16:colId xmlns:a16="http://schemas.microsoft.com/office/drawing/2014/main" val="20001"/>
                    </a:ext>
                  </a:extLst>
                </a:gridCol>
                <a:gridCol w="525381">
                  <a:extLst>
                    <a:ext uri="{9D8B030D-6E8A-4147-A177-3AD203B41FA5}">
                      <a16:colId xmlns:a16="http://schemas.microsoft.com/office/drawing/2014/main" val="20002"/>
                    </a:ext>
                  </a:extLst>
                </a:gridCol>
                <a:gridCol w="525381">
                  <a:extLst>
                    <a:ext uri="{9D8B030D-6E8A-4147-A177-3AD203B41FA5}">
                      <a16:colId xmlns:a16="http://schemas.microsoft.com/office/drawing/2014/main" val="20003"/>
                    </a:ext>
                  </a:extLst>
                </a:gridCol>
                <a:gridCol w="525381">
                  <a:extLst>
                    <a:ext uri="{9D8B030D-6E8A-4147-A177-3AD203B41FA5}">
                      <a16:colId xmlns:a16="http://schemas.microsoft.com/office/drawing/2014/main" val="20004"/>
                    </a:ext>
                  </a:extLst>
                </a:gridCol>
              </a:tblGrid>
              <a:tr h="250860">
                <a:tc>
                  <a:txBody>
                    <a:bodyPr/>
                    <a:lstStyle/>
                    <a:p>
                      <a:r>
                        <a:rPr sz="1000" b="0">
                          <a:solidFill>
                            <a:srgbClr val="619BA2"/>
                          </a:solidFill>
                        </a:rPr>
                        <a:t>Goal Access</a:t>
                      </a:r>
                    </a:p>
                  </a:txBody>
                  <a:tcPr>
                    <a:solidFill>
                      <a:srgbClr val="EFF7F0"/>
                    </a:solidFill>
                  </a:tcPr>
                </a:tc>
                <a:tc>
                  <a:txBody>
                    <a:bodyPr/>
                    <a:lstStyle/>
                    <a:p>
                      <a:r>
                        <a:rPr sz="1000" b="0">
                          <a:solidFill>
                            <a:srgbClr val="619BA2"/>
                          </a:solidFill>
                        </a:rPr>
                        <a:t>Trigger Estimate</a:t>
                      </a:r>
                    </a:p>
                  </a:txBody>
                  <a:tcPr>
                    <a:solidFill>
                      <a:srgbClr val="EFF7F0"/>
                    </a:solidFill>
                  </a:tcPr>
                </a:tc>
                <a:tc>
                  <a:txBody>
                    <a:bodyPr/>
                    <a:lstStyle/>
                    <a:p>
                      <a:r>
                        <a:rPr sz="1000" b="0">
                          <a:solidFill>
                            <a:srgbClr val="619BA2"/>
                          </a:solidFill>
                        </a:rPr>
                        <a:t>Heading</a:t>
                      </a:r>
                    </a:p>
                  </a:txBody>
                  <a:tcPr>
                    <a:solidFill>
                      <a:srgbClr val="EFF7F0"/>
                    </a:solidFill>
                  </a:tcPr>
                </a:tc>
                <a:tc>
                  <a:txBody>
                    <a:bodyPr/>
                    <a:lstStyle/>
                    <a:p>
                      <a:r>
                        <a:rPr sz="1000" b="0">
                          <a:solidFill>
                            <a:srgbClr val="619BA2"/>
                          </a:solidFill>
                        </a:rPr>
                        <a:t>Delta</a:t>
                      </a:r>
                    </a:p>
                  </a:txBody>
                  <a:tcPr>
                    <a:solidFill>
                      <a:srgbClr val="EFF7F0"/>
                    </a:solidFill>
                  </a:tcPr>
                </a:tc>
                <a:tc>
                  <a:txBody>
                    <a:bodyPr/>
                    <a:lstStyle/>
                    <a:p>
                      <a:r>
                        <a:rPr sz="1000" b="0">
                          <a:solidFill>
                            <a:srgbClr val="619BA2"/>
                          </a:solidFill>
                        </a:rPr>
                        <a:t>Field Proof</a:t>
                      </a:r>
                    </a:p>
                  </a:txBody>
                  <a:tcPr>
                    <a:solidFill>
                      <a:srgbClr val="EFF7F0"/>
                    </a:solidFill>
                  </a:tcPr>
                </a:tc>
                <a:extLst>
                  <a:ext uri="{0D108BD9-81ED-4DB2-BD59-A6C34878D82A}">
                    <a16:rowId xmlns:a16="http://schemas.microsoft.com/office/drawing/2014/main" val="10000"/>
                  </a:ext>
                </a:extLst>
              </a:tr>
              <a:tr h="250860">
                <a:tc>
                  <a:txBody>
                    <a:bodyPr/>
                    <a:lstStyle/>
                    <a:p>
                      <a:r>
                        <a:rPr sz="1000" b="0">
                          <a:solidFill>
                            <a:srgbClr val="619BA2"/>
                          </a:solidFill>
                        </a:rPr>
                        <a:t>Station Circuit</a:t>
                      </a:r>
                    </a:p>
                  </a:txBody>
                  <a:tcPr>
                    <a:solidFill>
                      <a:srgbClr val="EFF7F0"/>
                    </a:solidFill>
                  </a:tcPr>
                </a:tc>
                <a:tc>
                  <a:txBody>
                    <a:bodyPr/>
                    <a:lstStyle/>
                    <a:p>
                      <a:r>
                        <a:rPr sz="1000" b="0">
                          <a:solidFill>
                            <a:srgbClr val="619BA2"/>
                          </a:solidFill>
                        </a:rPr>
                        <a:t>Payload</a:t>
                      </a:r>
                    </a:p>
                  </a:txBody>
                  <a:tcPr>
                    <a:solidFill>
                      <a:srgbClr val="EFF7F0"/>
                    </a:solidFill>
                  </a:tcPr>
                </a:tc>
                <a:tc>
                  <a:txBody>
                    <a:bodyPr/>
                    <a:lstStyle/>
                    <a:p>
                      <a:r>
                        <a:rPr sz="1000" b="0">
                          <a:solidFill>
                            <a:srgbClr val="619BA2"/>
                          </a:solidFill>
                        </a:rPr>
                        <a:t>Path</a:t>
                      </a:r>
                    </a:p>
                  </a:txBody>
                  <a:tcPr>
                    <a:solidFill>
                      <a:srgbClr val="EFF7F0"/>
                    </a:solidFill>
                  </a:tcPr>
                </a:tc>
                <a:tc>
                  <a:txBody>
                    <a:bodyPr/>
                    <a:lstStyle/>
                    <a:p>
                      <a:r>
                        <a:rPr sz="1000" b="0">
                          <a:solidFill>
                            <a:srgbClr val="619BA2"/>
                          </a:solidFill>
                        </a:rPr>
                        <a:t>Account Edge</a:t>
                      </a:r>
                    </a:p>
                  </a:txBody>
                  <a:tcPr>
                    <a:solidFill>
                      <a:srgbClr val="EFF7F0"/>
                    </a:solidFill>
                  </a:tcPr>
                </a:tc>
                <a:tc>
                  <a:txBody>
                    <a:bodyPr/>
                    <a:lstStyle/>
                    <a:p>
                      <a:r>
                        <a:rPr sz="1000" b="0">
                          <a:solidFill>
                            <a:srgbClr val="619BA2"/>
                          </a:solidFill>
                        </a:rPr>
                        <a:t>Kernel</a:t>
                      </a:r>
                    </a:p>
                  </a:txBody>
                  <a:tcPr>
                    <a:solidFill>
                      <a:srgbClr val="EFF7F0"/>
                    </a:solidFill>
                  </a:tcPr>
                </a:tc>
                <a:extLst>
                  <a:ext uri="{0D108BD9-81ED-4DB2-BD59-A6C34878D82A}">
                    <a16:rowId xmlns:a16="http://schemas.microsoft.com/office/drawing/2014/main" val="10001"/>
                  </a:ext>
                </a:extLst>
              </a:tr>
              <a:tr h="250860">
                <a:tc>
                  <a:txBody>
                    <a:bodyPr/>
                    <a:lstStyle/>
                    <a:p>
                      <a:r>
                        <a:rPr sz="1000" b="0">
                          <a:solidFill>
                            <a:srgbClr val="619BA2"/>
                          </a:solidFill>
                        </a:rPr>
                        <a:t>Chart Collection</a:t>
                      </a:r>
                    </a:p>
                  </a:txBody>
                  <a:tcPr>
                    <a:solidFill>
                      <a:srgbClr val="EFF7F0"/>
                    </a:solidFill>
                  </a:tcPr>
                </a:tc>
                <a:tc>
                  <a:txBody>
                    <a:bodyPr/>
                    <a:lstStyle/>
                    <a:p>
                      <a:r>
                        <a:rPr sz="1000" b="0">
                          <a:solidFill>
                            <a:srgbClr val="619BA2"/>
                          </a:solidFill>
                        </a:rPr>
                        <a:t>Event</a:t>
                      </a:r>
                    </a:p>
                  </a:txBody>
                  <a:tcPr>
                    <a:solidFill>
                      <a:srgbClr val="EFF7F0"/>
                    </a:solidFill>
                  </a:tcPr>
                </a:tc>
                <a:tc>
                  <a:txBody>
                    <a:bodyPr/>
                    <a:lstStyle/>
                    <a:p>
                      <a:r>
                        <a:rPr sz="1000" b="0">
                          <a:solidFill>
                            <a:srgbClr val="619BA2"/>
                          </a:solidFill>
                        </a:rPr>
                        <a:t>Program</a:t>
                      </a:r>
                    </a:p>
                  </a:txBody>
                  <a:tcPr>
                    <a:solidFill>
                      <a:srgbClr val="EFF7F0"/>
                    </a:solidFill>
                  </a:tcPr>
                </a:tc>
                <a:tc>
                  <a:txBody>
                    <a:bodyPr/>
                    <a:lstStyle/>
                    <a:p>
                      <a:r>
                        <a:rPr sz="1000" b="0">
                          <a:solidFill>
                            <a:srgbClr val="619BA2"/>
                          </a:solidFill>
                        </a:rPr>
                        <a:t>Chart</a:t>
                      </a:r>
                    </a:p>
                  </a:txBody>
                  <a:tcPr>
                    <a:solidFill>
                      <a:srgbClr val="EFF7F0"/>
                    </a:solidFill>
                  </a:tcPr>
                </a:tc>
                <a:tc>
                  <a:txBody>
                    <a:bodyPr/>
                    <a:lstStyle/>
                    <a:p>
                      <a:r>
                        <a:rPr sz="1000" b="0">
                          <a:solidFill>
                            <a:srgbClr val="619BA2"/>
                          </a:solidFill>
                        </a:rPr>
                        <a:t>Origin Baseline</a:t>
                      </a:r>
                    </a:p>
                  </a:txBody>
                  <a:tcPr>
                    <a:solidFill>
                      <a:srgbClr val="EFF7F0"/>
                    </a:solidFill>
                  </a:tcPr>
                </a:tc>
                <a:extLst>
                  <a:ext uri="{0D108BD9-81ED-4DB2-BD59-A6C34878D82A}">
                    <a16:rowId xmlns:a16="http://schemas.microsoft.com/office/drawing/2014/main" val="10002"/>
                  </a:ext>
                </a:extLst>
              </a:tr>
              <a:tr h="250860">
                <a:tc>
                  <a:txBody>
                    <a:bodyPr/>
                    <a:lstStyle/>
                    <a:p>
                      <a:r>
                        <a:rPr sz="1000" b="0">
                          <a:solidFill>
                            <a:srgbClr val="619BA2"/>
                          </a:solidFill>
                        </a:rPr>
                        <a:t>Method Trace</a:t>
                      </a:r>
                    </a:p>
                  </a:txBody>
                  <a:tcPr>
                    <a:solidFill>
                      <a:srgbClr val="EFF7F0"/>
                    </a:solidFill>
                  </a:tcPr>
                </a:tc>
                <a:tc>
                  <a:txBody>
                    <a:bodyPr/>
                    <a:lstStyle/>
                    <a:p>
                      <a:r>
                        <a:rPr sz="1000" b="0">
                          <a:solidFill>
                            <a:srgbClr val="619BA2"/>
                          </a:solidFill>
                        </a:rPr>
                        <a:t>Foundation</a:t>
                      </a:r>
                    </a:p>
                  </a:txBody>
                  <a:tcPr>
                    <a:solidFill>
                      <a:srgbClr val="EFF7F0"/>
                    </a:solidFill>
                  </a:tcPr>
                </a:tc>
                <a:tc>
                  <a:txBody>
                    <a:bodyPr/>
                    <a:lstStyle/>
                    <a:p>
                      <a:r>
                        <a:rPr sz="1000" b="0">
                          <a:solidFill>
                            <a:srgbClr val="619BA2"/>
                          </a:solidFill>
                        </a:rPr>
                        <a:t>Runtime</a:t>
                      </a:r>
                    </a:p>
                  </a:txBody>
                  <a:tcPr>
                    <a:solidFill>
                      <a:srgbClr val="EFF7F0"/>
                    </a:solidFill>
                  </a:tcPr>
                </a:tc>
                <a:tc>
                  <a:txBody>
                    <a:bodyPr/>
                    <a:lstStyle/>
                    <a:p>
                      <a:r>
                        <a:rPr sz="1000" b="0">
                          <a:solidFill>
                            <a:srgbClr val="619BA2"/>
                          </a:solidFill>
                        </a:rPr>
                        <a:t>Alpha Duration</a:t>
                      </a:r>
                    </a:p>
                  </a:txBody>
                  <a:tcPr>
                    <a:solidFill>
                      <a:srgbClr val="EFF7F0"/>
                    </a:solidFill>
                  </a:tcPr>
                </a:tc>
                <a:tc>
                  <a:txBody>
                    <a:bodyPr/>
                    <a:lstStyle/>
                    <a:p>
                      <a:r>
                        <a:rPr sz="1000" b="0">
                          <a:solidFill>
                            <a:srgbClr val="619BA2"/>
                          </a:solidFill>
                        </a:rPr>
                        <a:t>Blueprint Portal</a:t>
                      </a:r>
                    </a:p>
                  </a:txBody>
                  <a:tcPr>
                    <a:solidFill>
                      <a:srgbClr val="EFF7F0"/>
                    </a:solidFill>
                  </a:tcPr>
                </a:tc>
                <a:extLst>
                  <a:ext uri="{0D108BD9-81ED-4DB2-BD59-A6C34878D82A}">
                    <a16:rowId xmlns:a16="http://schemas.microsoft.com/office/drawing/2014/main" val="10003"/>
                  </a:ext>
                </a:extLst>
              </a:tr>
              <a:tr h="250864">
                <a:tc>
                  <a:txBody>
                    <a:bodyPr/>
                    <a:lstStyle/>
                    <a:p>
                      <a:r>
                        <a:rPr sz="1000" b="0">
                          <a:solidFill>
                            <a:srgbClr val="619BA2"/>
                          </a:solidFill>
                        </a:rPr>
                        <a:t>Narrative</a:t>
                      </a:r>
                    </a:p>
                  </a:txBody>
                  <a:tcPr>
                    <a:solidFill>
                      <a:srgbClr val="EFF7F0"/>
                    </a:solidFill>
                  </a:tcPr>
                </a:tc>
                <a:tc>
                  <a:txBody>
                    <a:bodyPr/>
                    <a:lstStyle/>
                    <a:p>
                      <a:r>
                        <a:rPr sz="1000" b="0">
                          <a:solidFill>
                            <a:srgbClr val="619BA2"/>
                          </a:solidFill>
                        </a:rPr>
                        <a:t>Trend Analysis</a:t>
                      </a:r>
                    </a:p>
                  </a:txBody>
                  <a:tcPr>
                    <a:solidFill>
                      <a:srgbClr val="EFF7F0"/>
                    </a:solidFill>
                  </a:tcPr>
                </a:tc>
                <a:tc>
                  <a:txBody>
                    <a:bodyPr/>
                    <a:lstStyle/>
                    <a:p>
                      <a:r>
                        <a:rPr sz="1000" b="0">
                          <a:solidFill>
                            <a:srgbClr val="619BA2"/>
                          </a:solidFill>
                        </a:rPr>
                        <a:t>Edge Beta</a:t>
                      </a:r>
                    </a:p>
                  </a:txBody>
                  <a:tcPr>
                    <a:solidFill>
                      <a:srgbClr val="EFF7F0"/>
                    </a:solidFill>
                  </a:tcPr>
                </a:tc>
                <a:tc>
                  <a:txBody>
                    <a:bodyPr/>
                    <a:lstStyle/>
                    <a:p>
                      <a:r>
                        <a:rPr sz="1000" b="0">
                          <a:solidFill>
                            <a:srgbClr val="619BA2"/>
                          </a:solidFill>
                        </a:rPr>
                        <a:t>Plan</a:t>
                      </a:r>
                    </a:p>
                  </a:txBody>
                  <a:tcPr>
                    <a:solidFill>
                      <a:srgbClr val="EFF7F0"/>
                    </a:solidFill>
                  </a:tcPr>
                </a:tc>
                <a:tc>
                  <a:txBody>
                    <a:bodyPr/>
                    <a:lstStyle/>
                    <a:p>
                      <a:r>
                        <a:rPr sz="1000" b="0">
                          <a:solidFill>
                            <a:srgbClr val="619BA2"/>
                          </a:solidFill>
                        </a:rPr>
                        <a:t>Marker</a:t>
                      </a:r>
                    </a:p>
                  </a:txBody>
                  <a:tcPr>
                    <a:solidFill>
                      <a:srgbClr val="EFF7F0"/>
                    </a:solidFill>
                  </a:tcPr>
                </a:tc>
                <a:extLst>
                  <a:ext uri="{0D108BD9-81ED-4DB2-BD59-A6C34878D82A}">
                    <a16:rowId xmlns:a16="http://schemas.microsoft.com/office/drawing/2014/main" val="10004"/>
                  </a:ext>
                </a:extLst>
              </a:tr>
            </a:tbl>
          </a:graphicData>
        </a:graphic>
      </p:graphicFrame>
      <p:sp>
        <p:nvSpPr>
          <p:cNvPr id="24" name="Right Arrow 23"/>
          <p:cNvSpPr/>
          <p:nvPr/>
        </p:nvSpPr>
        <p:spPr>
          <a:xfrm>
            <a:off x="401681" y="923430"/>
            <a:ext cx="1358456" cy="1972365"/>
          </a:xfrm>
          <a:prstGeom prst="rightArrow">
            <a:avLst/>
          </a:prstGeom>
          <a:solidFill>
            <a:srgbClr val="C0A548"/>
          </a:solidFill>
          <a:ln w="28442">
            <a:solidFill>
              <a:srgbClr val="CBBC2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_example_image.jpg"/>
          <p:cNvPicPr>
            <a:picLocks noChangeAspect="1"/>
          </p:cNvPicPr>
          <p:nvPr/>
        </p:nvPicPr>
        <p:blipFill>
          <a:blip r:embed="rId3"/>
          <a:srcRect l="4602" t="9619" r="12618" b="19009"/>
          <a:stretch>
            <a:fillRect/>
          </a:stretch>
        </p:blipFill>
        <p:spPr>
          <a:xfrm>
            <a:off x="2147243" y="2052774"/>
            <a:ext cx="1334017" cy="1059057"/>
          </a:xfrm>
          <a:prstGeom prst="rect">
            <a:avLst/>
          </a:prstGeom>
        </p:spPr>
      </p:pic>
      <p:cxnSp>
        <p:nvCxnSpPr>
          <p:cNvPr id="26" name="Connector 25"/>
          <p:cNvCxnSpPr/>
          <p:nvPr/>
        </p:nvCxnSpPr>
        <p:spPr>
          <a:xfrm>
            <a:off x="7407833" y="6021534"/>
            <a:ext cx="2284052" cy="487058"/>
          </a:xfrm>
          <a:prstGeom prst="bentConnector3">
            <a:avLst/>
          </a:prstGeom>
          <a:ln w="35379">
            <a:solidFill>
              <a:srgbClr val="855FD9"/>
            </a:solidFill>
            <a:prstDash val="dashDot"/>
          </a:ln>
        </p:spPr>
        <p:style>
          <a:lnRef idx="2">
            <a:schemeClr val="accent1"/>
          </a:lnRef>
          <a:fillRef idx="0">
            <a:schemeClr val="accent1"/>
          </a:fillRef>
          <a:effectRef idx="1">
            <a:schemeClr val="accent1"/>
          </a:effectRef>
          <a:fontRef idx="minor">
            <a:schemeClr val="tx1"/>
          </a:fontRef>
        </p:style>
      </p:cxnSp>
      <p:pic>
        <p:nvPicPr>
          <p:cNvPr id="28" name="Graphic 27">
            <a:extLst>
              <a:ext uri="{FF2B5EF4-FFF2-40B4-BE49-F238E27FC236}">
                <a16:creationId xmlns:a16="http://schemas.microsoft.com/office/drawing/2014/main" id="{539C923C-53B4-FAC5-7EF6-54F9765AA917}"/>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637307" y="5228469"/>
            <a:ext cx="1157809" cy="1478983"/>
          </a:xfrm>
          <a:prstGeom prst="rect">
            <a:avLst/>
          </a:prstGeom>
        </p:spPr>
      </p:pic>
      <p:pic>
        <p:nvPicPr>
          <p:cNvPr id="30" name="Graphic 29">
            <a:extLst>
              <a:ext uri="{FF2B5EF4-FFF2-40B4-BE49-F238E27FC236}">
                <a16:creationId xmlns:a16="http://schemas.microsoft.com/office/drawing/2014/main" id="{F92BAFEF-0755-D289-2009-D674958FBAA4}"/>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2899678" y="3495704"/>
            <a:ext cx="1032770" cy="126368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5146" y="3295463"/>
            <a:ext cx="3723864" cy="317213"/>
          </a:xfrm>
          <a:prstGeom prst="rect">
            <a:avLst/>
          </a:prstGeom>
          <a:noFill/>
        </p:spPr>
        <p:txBody>
          <a:bodyPr wrap="none" lIns="28182" tIns="28182" rIns="28182" bIns="28182">
            <a:spAutoFit/>
          </a:bodyPr>
          <a:lstStyle/>
          <a:p>
            <a:r>
              <a:rPr sz="1400" b="0" i="0" u="none">
                <a:solidFill>
                  <a:srgbClr val="82D961"/>
                </a:solidFill>
                <a:latin typeface="Aptos"/>
              </a:rPr>
              <a:t>Briefing Delta</a:t>
            </a:r>
          </a:p>
        </p:txBody>
      </p:sp>
      <p:sp>
        <p:nvSpPr>
          <p:cNvPr id="3" name="TextBox 2"/>
          <p:cNvSpPr txBox="1"/>
          <p:nvPr/>
        </p:nvSpPr>
        <p:spPr>
          <a:xfrm>
            <a:off x="5027402" y="3684633"/>
            <a:ext cx="3782091" cy="955627"/>
          </a:xfrm>
          <a:prstGeom prst="rect">
            <a:avLst/>
          </a:prstGeom>
          <a:noFill/>
        </p:spPr>
        <p:txBody>
          <a:bodyPr wrap="none" lIns="75632" tIns="75632" rIns="75632" bIns="75632">
            <a:spAutoFit/>
          </a:bodyPr>
          <a:lstStyle/>
          <a:p>
            <a:r>
              <a:rPr sz="1500" b="0" i="0" u="none">
                <a:solidFill>
                  <a:srgbClr val="E26A1B"/>
                </a:solidFill>
                <a:latin typeface="Arial"/>
              </a:rPr>
              <a:t>Narrative Archive Schema Library Agenda Frame Input Field Context Point Queueing Loop Action Agenda Track Grid Canvas Span Library Core Sequence Snapshot Dispatch Structure Mesh Source Energy Point Diagram Array Engine Release Delta Catalog Lineage Path Expansion Schema Edge Inventory Catalog Impact Switch Layer</a:t>
            </a:r>
          </a:p>
        </p:txBody>
      </p:sp>
      <p:graphicFrame>
        <p:nvGraphicFramePr>
          <p:cNvPr id="4" name="Table 3"/>
          <p:cNvGraphicFramePr>
            <a:graphicFrameLocks noGrp="1"/>
          </p:cNvGraphicFramePr>
          <p:nvPr/>
        </p:nvGraphicFramePr>
        <p:xfrm>
          <a:off x="9169963" y="4499927"/>
          <a:ext cx="2110948" cy="1912143"/>
        </p:xfrm>
        <a:graphic>
          <a:graphicData uri="http://schemas.openxmlformats.org/drawingml/2006/table">
            <a:tbl>
              <a:tblPr firstRow="1" bandRow="1">
                <a:tableStyleId>{5C22544A-7EE6-4342-B048-85BDC9FD1C3A}</a:tableStyleId>
              </a:tblPr>
              <a:tblGrid>
                <a:gridCol w="1055474">
                  <a:extLst>
                    <a:ext uri="{9D8B030D-6E8A-4147-A177-3AD203B41FA5}">
                      <a16:colId xmlns:a16="http://schemas.microsoft.com/office/drawing/2014/main" val="20000"/>
                    </a:ext>
                  </a:extLst>
                </a:gridCol>
                <a:gridCol w="1055474">
                  <a:extLst>
                    <a:ext uri="{9D8B030D-6E8A-4147-A177-3AD203B41FA5}">
                      <a16:colId xmlns:a16="http://schemas.microsoft.com/office/drawing/2014/main" val="20001"/>
                    </a:ext>
                  </a:extLst>
                </a:gridCol>
              </a:tblGrid>
              <a:tr h="382428">
                <a:tc>
                  <a:txBody>
                    <a:bodyPr/>
                    <a:lstStyle/>
                    <a:p>
                      <a:r>
                        <a:rPr sz="1300" b="1">
                          <a:solidFill>
                            <a:srgbClr val="A844D5"/>
                          </a:solidFill>
                        </a:rPr>
                        <a:t>Apex Cortex</a:t>
                      </a:r>
                    </a:p>
                  </a:txBody>
                  <a:tcPr>
                    <a:solidFill>
                      <a:srgbClr val="3B528B"/>
                    </a:solidFill>
                  </a:tcPr>
                </a:tc>
                <a:tc>
                  <a:txBody>
                    <a:bodyPr/>
                    <a:lstStyle/>
                    <a:p>
                      <a:r>
                        <a:rPr sz="1300" b="1">
                          <a:solidFill>
                            <a:srgbClr val="A844D5"/>
                          </a:solidFill>
                        </a:rPr>
                        <a:t>Topology Wave</a:t>
                      </a:r>
                    </a:p>
                  </a:txBody>
                  <a:tcPr>
                    <a:solidFill>
                      <a:srgbClr val="3B528B"/>
                    </a:solidFill>
                  </a:tcPr>
                </a:tc>
                <a:extLst>
                  <a:ext uri="{0D108BD9-81ED-4DB2-BD59-A6C34878D82A}">
                    <a16:rowId xmlns:a16="http://schemas.microsoft.com/office/drawing/2014/main" val="10000"/>
                  </a:ext>
                </a:extLst>
              </a:tr>
              <a:tr h="382428">
                <a:tc>
                  <a:txBody>
                    <a:bodyPr/>
                    <a:lstStyle/>
                    <a:p>
                      <a:r>
                        <a:rPr sz="1300" b="0">
                          <a:solidFill>
                            <a:srgbClr val="A844D5"/>
                          </a:solidFill>
                        </a:rPr>
                        <a:t>Loop View</a:t>
                      </a:r>
                    </a:p>
                  </a:txBody>
                  <a:tcPr>
                    <a:solidFill>
                      <a:srgbClr val="FBFAF2"/>
                    </a:solidFill>
                  </a:tcPr>
                </a:tc>
                <a:tc>
                  <a:txBody>
                    <a:bodyPr/>
                    <a:lstStyle/>
                    <a:p>
                      <a:r>
                        <a:rPr sz="1300" b="0">
                          <a:solidFill>
                            <a:srgbClr val="A844D5"/>
                          </a:solidFill>
                        </a:rPr>
                        <a:t>Account</a:t>
                      </a:r>
                    </a:p>
                  </a:txBody>
                  <a:tcPr>
                    <a:solidFill>
                      <a:srgbClr val="FBFAF2"/>
                    </a:solidFill>
                  </a:tcPr>
                </a:tc>
                <a:extLst>
                  <a:ext uri="{0D108BD9-81ED-4DB2-BD59-A6C34878D82A}">
                    <a16:rowId xmlns:a16="http://schemas.microsoft.com/office/drawing/2014/main" val="10001"/>
                  </a:ext>
                </a:extLst>
              </a:tr>
              <a:tr h="382428">
                <a:tc>
                  <a:txBody>
                    <a:bodyPr/>
                    <a:lstStyle/>
                    <a:p>
                      <a:r>
                        <a:rPr sz="1300" b="0">
                          <a:solidFill>
                            <a:srgbClr val="A844D5"/>
                          </a:solidFill>
                        </a:rPr>
                        <a:t>Route Loop</a:t>
                      </a:r>
                    </a:p>
                  </a:txBody>
                  <a:tcPr>
                    <a:solidFill>
                      <a:srgbClr val="FBFAF2"/>
                    </a:solidFill>
                  </a:tcPr>
                </a:tc>
                <a:tc>
                  <a:txBody>
                    <a:bodyPr/>
                    <a:lstStyle/>
                    <a:p>
                      <a:r>
                        <a:rPr sz="1300" b="0">
                          <a:solidFill>
                            <a:srgbClr val="A844D5"/>
                          </a:solidFill>
                        </a:rPr>
                        <a:t>Pixel</a:t>
                      </a:r>
                    </a:p>
                  </a:txBody>
                  <a:tcPr>
                    <a:solidFill>
                      <a:srgbClr val="FBFAF2"/>
                    </a:solidFill>
                  </a:tcPr>
                </a:tc>
                <a:extLst>
                  <a:ext uri="{0D108BD9-81ED-4DB2-BD59-A6C34878D82A}">
                    <a16:rowId xmlns:a16="http://schemas.microsoft.com/office/drawing/2014/main" val="10002"/>
                  </a:ext>
                </a:extLst>
              </a:tr>
              <a:tr h="382428">
                <a:tc>
                  <a:txBody>
                    <a:bodyPr/>
                    <a:lstStyle/>
                    <a:p>
                      <a:r>
                        <a:rPr sz="1300" b="0">
                          <a:solidFill>
                            <a:srgbClr val="A844D5"/>
                          </a:solidFill>
                        </a:rPr>
                        <a:t>Chart Bridge</a:t>
                      </a:r>
                    </a:p>
                  </a:txBody>
                  <a:tcPr>
                    <a:solidFill>
                      <a:srgbClr val="FBFAF2"/>
                    </a:solidFill>
                  </a:tcPr>
                </a:tc>
                <a:tc>
                  <a:txBody>
                    <a:bodyPr/>
                    <a:lstStyle/>
                    <a:p>
                      <a:r>
                        <a:rPr sz="1300" b="0">
                          <a:solidFill>
                            <a:srgbClr val="A844D5"/>
                          </a:solidFill>
                        </a:rPr>
                        <a:t>Estimate View</a:t>
                      </a:r>
                    </a:p>
                  </a:txBody>
                  <a:tcPr>
                    <a:solidFill>
                      <a:srgbClr val="FBFAF2"/>
                    </a:solidFill>
                  </a:tcPr>
                </a:tc>
                <a:extLst>
                  <a:ext uri="{0D108BD9-81ED-4DB2-BD59-A6C34878D82A}">
                    <a16:rowId xmlns:a16="http://schemas.microsoft.com/office/drawing/2014/main" val="10003"/>
                  </a:ext>
                </a:extLst>
              </a:tr>
              <a:tr h="382431">
                <a:tc>
                  <a:txBody>
                    <a:bodyPr/>
                    <a:lstStyle/>
                    <a:p>
                      <a:r>
                        <a:rPr sz="1300" b="0">
                          <a:solidFill>
                            <a:srgbClr val="A844D5"/>
                          </a:solidFill>
                        </a:rPr>
                        <a:t>Design</a:t>
                      </a:r>
                    </a:p>
                  </a:txBody>
                  <a:tcPr>
                    <a:solidFill>
                      <a:srgbClr val="FBFAF2"/>
                    </a:solidFill>
                  </a:tcPr>
                </a:tc>
                <a:tc>
                  <a:txBody>
                    <a:bodyPr/>
                    <a:lstStyle/>
                    <a:p>
                      <a:r>
                        <a:rPr sz="1300" b="0">
                          <a:solidFill>
                            <a:srgbClr val="A844D5"/>
                          </a:solidFill>
                        </a:rPr>
                        <a:t>Adaptive Cluster</a:t>
                      </a:r>
                    </a:p>
                  </a:txBody>
                  <a:tcPr>
                    <a:solidFill>
                      <a:srgbClr val="FBFAF2"/>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96661" y="4473566"/>
            <a:ext cx="798798" cy="1187832"/>
          </a:xfrm>
          <a:prstGeom prst="rect">
            <a:avLst/>
          </a:prstGeom>
          <a:noFill/>
        </p:spPr>
        <p:txBody>
          <a:bodyPr wrap="none" lIns="74653" tIns="74653" rIns="74653" bIns="74653">
            <a:spAutoFit/>
          </a:bodyPr>
          <a:lstStyle/>
          <a:p>
            <a:r>
              <a:rPr sz="1400" b="1" i="0" u="none">
                <a:solidFill>
                  <a:srgbClr val="B8D6CF"/>
                </a:solidFill>
                <a:latin typeface="Aptos"/>
              </a:rPr>
              <a:t>Balance Table Memory Drift Review Moment Window Needle Threshold Design Command Collection Column Kernel Element Option Vector Interval Index Exchange Capacity Reserve Method Metric Cluster Timeline Queueing Edge Payload Detail Queue Layer Waypoint Phase Bridge</a:t>
            </a:r>
          </a:p>
        </p:txBody>
      </p:sp>
      <p:sp>
        <p:nvSpPr>
          <p:cNvPr id="6" name="Freeform 5"/>
          <p:cNvSpPr/>
          <p:nvPr/>
        </p:nvSpPr>
        <p:spPr>
          <a:xfrm>
            <a:off x="10561189" y="1473139"/>
            <a:ext cx="1154072" cy="1215365"/>
          </a:xfrm>
          <a:custGeom>
            <a:avLst/>
            <a:gdLst/>
            <a:ahLst/>
            <a:cxnLst/>
            <a:rect l="l" t="t" r="r" b="b"/>
            <a:pathLst>
              <a:path w="1154072" h="1215365">
                <a:moveTo>
                  <a:pt x="0" y="590803"/>
                </a:moveTo>
                <a:lnTo>
                  <a:pt x="198550" y="0"/>
                </a:lnTo>
                <a:lnTo>
                  <a:pt x="409509" y="506402"/>
                </a:lnTo>
                <a:lnTo>
                  <a:pt x="620469" y="1012804"/>
                </a:lnTo>
                <a:lnTo>
                  <a:pt x="843837" y="422002"/>
                </a:lnTo>
                <a:lnTo>
                  <a:pt x="1154072" y="641443"/>
                </a:lnTo>
                <a:lnTo>
                  <a:pt x="1154072" y="1215365"/>
                </a:lnTo>
                <a:lnTo>
                  <a:pt x="0" y="1215365"/>
                </a:lnTo>
                <a:close/>
              </a:path>
            </a:pathLst>
          </a:custGeom>
          <a:solidFill>
            <a:srgbClr val="A19278"/>
          </a:solidFill>
          <a:ln w="6655">
            <a:solidFill>
              <a:srgbClr val="547B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Chart 6"/>
          <p:cNvGraphicFramePr>
            <a:graphicFrameLocks noGrp="1"/>
          </p:cNvGraphicFramePr>
          <p:nvPr/>
        </p:nvGraphicFramePr>
        <p:xfrm>
          <a:off x="8830757" y="2927405"/>
          <a:ext cx="2831583" cy="1851630"/>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Connector 7"/>
          <p:cNvCxnSpPr/>
          <p:nvPr/>
        </p:nvCxnSpPr>
        <p:spPr>
          <a:xfrm>
            <a:off x="4982653" y="2441068"/>
            <a:ext cx="924869" cy="793483"/>
          </a:xfrm>
          <a:prstGeom prst="bentConnector3">
            <a:avLst/>
          </a:prstGeom>
          <a:ln w="33884">
            <a:solidFill>
              <a:srgbClr val="4D7F5C"/>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430371" y="2219853"/>
            <a:ext cx="512421" cy="2056523"/>
          </a:xfrm>
          <a:prstGeom prst="rect">
            <a:avLst/>
          </a:prstGeom>
          <a:solidFill>
            <a:srgbClr val="7FCCCA"/>
          </a:solidFill>
        </p:spPr>
        <p:txBody>
          <a:bodyPr wrap="none" lIns="79205" tIns="79205" rIns="79205" bIns="79205">
            <a:spAutoFit/>
          </a:bodyPr>
          <a:lstStyle/>
          <a:p>
            <a:r>
              <a:rPr sz="2200" b="0" i="0" u="none">
                <a:solidFill>
                  <a:srgbClr val="AC64A0"/>
                </a:solidFill>
                <a:latin typeface="Georgia"/>
              </a:rPr>
              <a:t>Threshold Service Panel Vertex Format Target Depth</a:t>
            </a:r>
          </a:p>
        </p:txBody>
      </p:sp>
      <p:sp>
        <p:nvSpPr>
          <p:cNvPr id="10" name="Predefined Process 9"/>
          <p:cNvSpPr/>
          <p:nvPr/>
        </p:nvSpPr>
        <p:spPr>
          <a:xfrm>
            <a:off x="8226006" y="478340"/>
            <a:ext cx="1041498" cy="1444278"/>
          </a:xfrm>
          <a:prstGeom prst="flowChartPredefinedProcess">
            <a:avLst/>
          </a:prstGeom>
          <a:solidFill>
            <a:srgbClr val="AD42C0"/>
          </a:solidFill>
          <a:ln w="28429">
            <a:solidFill>
              <a:srgbClr val="BE49E0"/>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_example_image.jpg"/>
          <p:cNvPicPr>
            <a:picLocks noChangeAspect="1"/>
          </p:cNvPicPr>
          <p:nvPr/>
        </p:nvPicPr>
        <p:blipFill>
          <a:blip r:embed="rId3"/>
          <a:srcRect l="6997" t="1848" r="10321" b="19001"/>
          <a:stretch>
            <a:fillRect/>
          </a:stretch>
        </p:blipFill>
        <p:spPr>
          <a:xfrm>
            <a:off x="6734181" y="4449378"/>
            <a:ext cx="1169739" cy="2266007"/>
          </a:xfrm>
          <a:prstGeom prst="rect">
            <a:avLst/>
          </a:prstGeom>
        </p:spPr>
      </p:pic>
      <p:sp>
        <p:nvSpPr>
          <p:cNvPr id="12" name="Rounded Rectangle 11"/>
          <p:cNvSpPr/>
          <p:nvPr/>
        </p:nvSpPr>
        <p:spPr>
          <a:xfrm>
            <a:off x="6734181" y="4449378"/>
            <a:ext cx="1169739" cy="2266007"/>
          </a:xfrm>
          <a:prstGeom prst="roundRect">
            <a:avLst/>
          </a:prstGeom>
          <a:noFill/>
          <a:ln w="15240">
            <a:solidFill>
              <a:srgbClr val="A2C9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Chart 12"/>
          <p:cNvGraphicFramePr>
            <a:graphicFrameLocks noGrp="1"/>
          </p:cNvGraphicFramePr>
          <p:nvPr/>
        </p:nvGraphicFramePr>
        <p:xfrm>
          <a:off x="2415659" y="3435168"/>
          <a:ext cx="2595864" cy="1612036"/>
        </p:xfrm>
        <a:graphic>
          <a:graphicData uri="http://schemas.openxmlformats.org/drawingml/2006/chart">
            <c:chart xmlns:c="http://schemas.openxmlformats.org/drawingml/2006/chart" xmlns:r="http://schemas.openxmlformats.org/officeDocument/2006/relationships" r:id="rId4"/>
          </a:graphicData>
        </a:graphic>
      </p:graphicFrame>
      <p:sp>
        <p:nvSpPr>
          <p:cNvPr id="14" name="Left-Right Arrow 13"/>
          <p:cNvSpPr/>
          <p:nvPr/>
        </p:nvSpPr>
        <p:spPr>
          <a:xfrm>
            <a:off x="2613383" y="4007736"/>
            <a:ext cx="2040083" cy="285248"/>
          </a:xfrm>
          <a:prstGeom prst="leftRightArrow">
            <a:avLst/>
          </a:prstGeom>
          <a:solidFill>
            <a:srgbClr val="53225F"/>
          </a:solidFill>
          <a:ln w="14607">
            <a:solidFill>
              <a:srgbClr val="41343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4327017" y="896452"/>
            <a:ext cx="685051" cy="611765"/>
          </a:xfrm>
          <a:custGeom>
            <a:avLst/>
            <a:gdLst/>
            <a:ahLst/>
            <a:cxnLst/>
            <a:rect l="l" t="t" r="r" b="b"/>
            <a:pathLst>
              <a:path w="685051" h="611765">
                <a:moveTo>
                  <a:pt x="73662" y="104131"/>
                </a:moveTo>
                <a:lnTo>
                  <a:pt x="243083" y="0"/>
                </a:lnTo>
                <a:lnTo>
                  <a:pt x="500897" y="52066"/>
                </a:lnTo>
                <a:lnTo>
                  <a:pt x="685051" y="247310"/>
                </a:lnTo>
                <a:lnTo>
                  <a:pt x="589291" y="507635"/>
                </a:lnTo>
                <a:lnTo>
                  <a:pt x="316744" y="611765"/>
                </a:lnTo>
                <a:lnTo>
                  <a:pt x="44197" y="442554"/>
                </a:lnTo>
                <a:lnTo>
                  <a:pt x="0" y="221277"/>
                </a:lnTo>
                <a:close/>
              </a:path>
            </a:pathLst>
          </a:custGeom>
          <a:solidFill>
            <a:srgbClr val="497645"/>
          </a:solidFill>
          <a:ln w="13057">
            <a:solidFill>
              <a:srgbClr val="954F5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rocess 15"/>
          <p:cNvSpPr/>
          <p:nvPr/>
        </p:nvSpPr>
        <p:spPr>
          <a:xfrm>
            <a:off x="9465272" y="326025"/>
            <a:ext cx="342875" cy="1036306"/>
          </a:xfrm>
          <a:prstGeom prst="flowChartProcess">
            <a:avLst/>
          </a:prstGeom>
          <a:solidFill>
            <a:srgbClr val="43DC44"/>
          </a:solidFill>
          <a:ln w="8741">
            <a:solidFill>
              <a:srgbClr val="CA308D"/>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_example_image.jpg"/>
          <p:cNvPicPr>
            <a:picLocks noChangeAspect="1"/>
          </p:cNvPicPr>
          <p:nvPr/>
        </p:nvPicPr>
        <p:blipFill>
          <a:blip r:embed="rId3"/>
          <a:srcRect l="20907" t="8091" r="17054" b="12696"/>
          <a:stretch>
            <a:fillRect/>
          </a:stretch>
        </p:blipFill>
        <p:spPr>
          <a:xfrm>
            <a:off x="924481" y="5301651"/>
            <a:ext cx="2299982" cy="1181352"/>
          </a:xfrm>
          <a:prstGeom prst="rect">
            <a:avLst/>
          </a:prstGeom>
        </p:spPr>
      </p:pic>
      <p:sp>
        <p:nvSpPr>
          <p:cNvPr id="18" name="TextBox 17"/>
          <p:cNvSpPr txBox="1"/>
          <p:nvPr/>
        </p:nvSpPr>
        <p:spPr>
          <a:xfrm>
            <a:off x="5251908" y="919682"/>
            <a:ext cx="2274794" cy="1521385"/>
          </a:xfrm>
          <a:prstGeom prst="rect">
            <a:avLst/>
          </a:prstGeom>
          <a:solidFill>
            <a:srgbClr val="3B35B2"/>
          </a:solidFill>
        </p:spPr>
        <p:txBody>
          <a:bodyPr wrap="none" lIns="23256" tIns="23256" rIns="23256" bIns="23256">
            <a:spAutoFit/>
          </a:bodyPr>
          <a:lstStyle/>
          <a:p>
            <a:r>
              <a:rPr sz="1200" b="1" i="0" u="none">
                <a:solidFill>
                  <a:srgbClr val="40DE3D"/>
                </a:solidFill>
                <a:latin typeface="Arial"/>
              </a:rPr>
              <a:t>Discovery Model</a:t>
            </a:r>
          </a:p>
        </p:txBody>
      </p:sp>
      <p:graphicFrame>
        <p:nvGraphicFramePr>
          <p:cNvPr id="19" name="Table 18"/>
          <p:cNvGraphicFramePr>
            <a:graphicFrameLocks noGrp="1"/>
          </p:cNvGraphicFramePr>
          <p:nvPr/>
        </p:nvGraphicFramePr>
        <p:xfrm>
          <a:off x="6470830" y="1932818"/>
          <a:ext cx="2084602" cy="1601067"/>
        </p:xfrm>
        <a:graphic>
          <a:graphicData uri="http://schemas.openxmlformats.org/drawingml/2006/table">
            <a:tbl>
              <a:tblPr firstRow="1" bandRow="1">
                <a:tableStyleId>{5C22544A-7EE6-4342-B048-85BDC9FD1C3A}</a:tableStyleId>
              </a:tblPr>
              <a:tblGrid>
                <a:gridCol w="1042301">
                  <a:extLst>
                    <a:ext uri="{9D8B030D-6E8A-4147-A177-3AD203B41FA5}">
                      <a16:colId xmlns:a16="http://schemas.microsoft.com/office/drawing/2014/main" val="20000"/>
                    </a:ext>
                  </a:extLst>
                </a:gridCol>
                <a:gridCol w="1042301">
                  <a:extLst>
                    <a:ext uri="{9D8B030D-6E8A-4147-A177-3AD203B41FA5}">
                      <a16:colId xmlns:a16="http://schemas.microsoft.com/office/drawing/2014/main" val="20001"/>
                    </a:ext>
                  </a:extLst>
                </a:gridCol>
              </a:tblGrid>
              <a:tr h="533689">
                <a:tc>
                  <a:txBody>
                    <a:bodyPr/>
                    <a:lstStyle/>
                    <a:p>
                      <a:r>
                        <a:rPr sz="1200" b="1">
                          <a:solidFill>
                            <a:srgbClr val="90B45F"/>
                          </a:solidFill>
                        </a:rPr>
                        <a:t>Buffer</a:t>
                      </a:r>
                    </a:p>
                  </a:txBody>
                  <a:tcPr>
                    <a:solidFill>
                      <a:srgbClr val="BF865D"/>
                    </a:solidFill>
                  </a:tcPr>
                </a:tc>
                <a:tc>
                  <a:txBody>
                    <a:bodyPr/>
                    <a:lstStyle/>
                    <a:p>
                      <a:r>
                        <a:rPr sz="1200" b="1">
                          <a:solidFill>
                            <a:srgbClr val="90B45F"/>
                          </a:solidFill>
                        </a:rPr>
                        <a:t>Expansion</a:t>
                      </a:r>
                    </a:p>
                  </a:txBody>
                  <a:tcPr>
                    <a:solidFill>
                      <a:srgbClr val="BF865D"/>
                    </a:solidFill>
                  </a:tcPr>
                </a:tc>
                <a:extLst>
                  <a:ext uri="{0D108BD9-81ED-4DB2-BD59-A6C34878D82A}">
                    <a16:rowId xmlns:a16="http://schemas.microsoft.com/office/drawing/2014/main" val="10000"/>
                  </a:ext>
                </a:extLst>
              </a:tr>
              <a:tr h="533689">
                <a:tc>
                  <a:txBody>
                    <a:bodyPr/>
                    <a:lstStyle/>
                    <a:p>
                      <a:r>
                        <a:rPr sz="1200" b="0">
                          <a:solidFill>
                            <a:srgbClr val="90B45F"/>
                          </a:solidFill>
                        </a:rPr>
                        <a:t>Module</a:t>
                      </a:r>
                    </a:p>
                  </a:txBody>
                  <a:tcPr>
                    <a:solidFill>
                      <a:srgbClr val="EBDCE3"/>
                    </a:solidFill>
                  </a:tcPr>
                </a:tc>
                <a:tc>
                  <a:txBody>
                    <a:bodyPr/>
                    <a:lstStyle/>
                    <a:p>
                      <a:r>
                        <a:rPr sz="1200" b="0">
                          <a:solidFill>
                            <a:srgbClr val="90B45F"/>
                          </a:solidFill>
                        </a:rPr>
                        <a:t>Milestone</a:t>
                      </a:r>
                    </a:p>
                  </a:txBody>
                  <a:tcPr>
                    <a:solidFill>
                      <a:srgbClr val="EBDCE3"/>
                    </a:solidFill>
                  </a:tcPr>
                </a:tc>
                <a:extLst>
                  <a:ext uri="{0D108BD9-81ED-4DB2-BD59-A6C34878D82A}">
                    <a16:rowId xmlns:a16="http://schemas.microsoft.com/office/drawing/2014/main" val="10001"/>
                  </a:ext>
                </a:extLst>
              </a:tr>
              <a:tr h="533689">
                <a:tc>
                  <a:txBody>
                    <a:bodyPr/>
                    <a:lstStyle/>
                    <a:p>
                      <a:r>
                        <a:rPr sz="1200" b="0">
                          <a:solidFill>
                            <a:srgbClr val="90B45F"/>
                          </a:solidFill>
                        </a:rPr>
                        <a:t>Account Link</a:t>
                      </a:r>
                    </a:p>
                  </a:txBody>
                  <a:tcPr>
                    <a:solidFill>
                      <a:srgbClr val="F5EEF1"/>
                    </a:solidFill>
                  </a:tcPr>
                </a:tc>
                <a:tc>
                  <a:txBody>
                    <a:bodyPr/>
                    <a:lstStyle/>
                    <a:p>
                      <a:r>
                        <a:rPr sz="1200" b="0">
                          <a:solidFill>
                            <a:srgbClr val="90B45F"/>
                          </a:solidFill>
                        </a:rPr>
                        <a:t>Instance Account</a:t>
                      </a:r>
                    </a:p>
                  </a:txBody>
                  <a:tcPr>
                    <a:solidFill>
                      <a:srgbClr val="F5EEF1"/>
                    </a:solidFill>
                  </a:tcPr>
                </a:tc>
                <a:extLst>
                  <a:ext uri="{0D108BD9-81ED-4DB2-BD59-A6C34878D82A}">
                    <a16:rowId xmlns:a16="http://schemas.microsoft.com/office/drawing/2014/main" val="10002"/>
                  </a:ext>
                </a:extLst>
              </a:tr>
            </a:tbl>
          </a:graphicData>
        </a:graphic>
      </p:graphicFrame>
      <p:sp>
        <p:nvSpPr>
          <p:cNvPr id="20" name="TextBox 19"/>
          <p:cNvSpPr txBox="1"/>
          <p:nvPr/>
        </p:nvSpPr>
        <p:spPr>
          <a:xfrm>
            <a:off x="9304397" y="3426515"/>
            <a:ext cx="484654" cy="1887103"/>
          </a:xfrm>
          <a:prstGeom prst="rect">
            <a:avLst/>
          </a:prstGeom>
          <a:noFill/>
        </p:spPr>
        <p:txBody>
          <a:bodyPr wrap="none" lIns="63593" tIns="63593" rIns="63593" bIns="63593">
            <a:spAutoFit/>
          </a:bodyPr>
          <a:lstStyle/>
          <a:p>
            <a:r>
              <a:rPr sz="3700" b="1" i="0" u="none">
                <a:solidFill>
                  <a:srgbClr val="85C03D"/>
                </a:solidFill>
                <a:latin typeface="Georgia"/>
              </a:rPr>
              <a:t>Delta Strategy</a:t>
            </a:r>
          </a:p>
        </p:txBody>
      </p:sp>
      <p:cxnSp>
        <p:nvCxnSpPr>
          <p:cNvPr id="21" name="Connector 20"/>
          <p:cNvCxnSpPr/>
          <p:nvPr/>
        </p:nvCxnSpPr>
        <p:spPr>
          <a:xfrm>
            <a:off x="304686" y="803938"/>
            <a:ext cx="798865" cy="1553427"/>
          </a:xfrm>
          <a:prstGeom prst="bentConnector3">
            <a:avLst/>
          </a:prstGeom>
          <a:ln w="13964">
            <a:solidFill>
              <a:srgbClr val="541A61"/>
            </a:solidFill>
            <a:prstDash val="dot"/>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015654" y="276754"/>
            <a:ext cx="883370" cy="1469246"/>
          </a:xfrm>
          <a:prstGeom prst="ellipse">
            <a:avLst/>
          </a:prstGeom>
          <a:solidFill>
            <a:srgbClr val="3C7E32"/>
          </a:solidFill>
          <a:ln w="21687">
            <a:solidFill>
              <a:srgbClr val="6EAFC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urved Down Ribbon 22"/>
          <p:cNvSpPr/>
          <p:nvPr/>
        </p:nvSpPr>
        <p:spPr>
          <a:xfrm>
            <a:off x="1754589" y="1260426"/>
            <a:ext cx="2554045" cy="1889719"/>
          </a:xfrm>
          <a:prstGeom prst="ellipseRibbon">
            <a:avLst/>
          </a:prstGeom>
          <a:noFill/>
          <a:ln w="12971">
            <a:solidFill>
              <a:srgbClr val="2697E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8322180" y="4843614"/>
            <a:ext cx="1029666" cy="620991"/>
          </a:xfrm>
          <a:prstGeom prst="line">
            <a:avLst/>
          </a:prstGeom>
          <a:ln w="49358">
            <a:solidFill>
              <a:srgbClr val="345FA0"/>
            </a:solidFill>
            <a:prstDash val="dashDot"/>
          </a:ln>
        </p:spPr>
        <p:style>
          <a:lnRef idx="2">
            <a:schemeClr val="accent1"/>
          </a:lnRef>
          <a:fillRef idx="0">
            <a:schemeClr val="accent1"/>
          </a:fillRef>
          <a:effectRef idx="1">
            <a:schemeClr val="accent1"/>
          </a:effectRef>
          <a:fontRef idx="minor">
            <a:schemeClr val="tx1"/>
          </a:fontRef>
        </p:style>
      </p:cxnSp>
      <p:pic>
        <p:nvPicPr>
          <p:cNvPr id="25" name="Picture 24" descr="_example_image.jpg"/>
          <p:cNvPicPr>
            <a:picLocks noChangeAspect="1"/>
          </p:cNvPicPr>
          <p:nvPr/>
        </p:nvPicPr>
        <p:blipFill>
          <a:blip r:embed="rId3"/>
          <a:srcRect/>
          <a:stretch>
            <a:fillRect/>
          </a:stretch>
        </p:blipFill>
        <p:spPr>
          <a:xfrm>
            <a:off x="2910329" y="4641463"/>
            <a:ext cx="3435445" cy="909428"/>
          </a:xfrm>
          <a:prstGeom prst="rect">
            <a:avLst/>
          </a:prstGeom>
        </p:spPr>
      </p:pic>
      <p:sp>
        <p:nvSpPr>
          <p:cNvPr id="26" name="Rounded Rectangle 25"/>
          <p:cNvSpPr/>
          <p:nvPr/>
        </p:nvSpPr>
        <p:spPr>
          <a:xfrm>
            <a:off x="2910329" y="4641463"/>
            <a:ext cx="3435445" cy="909428"/>
          </a:xfrm>
          <a:prstGeom prst="roundRect">
            <a:avLst/>
          </a:prstGeom>
          <a:noFill/>
          <a:ln w="15240">
            <a:solidFill>
              <a:srgbClr val="204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744250" y="5208295"/>
            <a:ext cx="912733" cy="1064817"/>
          </a:xfrm>
          <a:prstGeom prst="ellipse">
            <a:avLst/>
          </a:prstGeom>
          <a:solidFill>
            <a:srgbClr val="715249"/>
          </a:solidFill>
          <a:ln w="13485">
            <a:solidFill>
              <a:srgbClr val="6B88B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rapezoid 27"/>
          <p:cNvSpPr/>
          <p:nvPr/>
        </p:nvSpPr>
        <p:spPr>
          <a:xfrm>
            <a:off x="3394148" y="5986279"/>
            <a:ext cx="2586612" cy="528664"/>
          </a:xfrm>
          <a:prstGeom prst="trapezoid">
            <a:avLst/>
          </a:prstGeom>
          <a:solidFill>
            <a:srgbClr val="7FDC96"/>
          </a:solidFill>
          <a:ln w="9745">
            <a:solidFill>
              <a:srgbClr val="204D2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Graphic 29">
            <a:extLst>
              <a:ext uri="{FF2B5EF4-FFF2-40B4-BE49-F238E27FC236}">
                <a16:creationId xmlns:a16="http://schemas.microsoft.com/office/drawing/2014/main" id="{5A9552D1-26F7-357D-D1BE-BFB28226F5F3}"/>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440045" y="2318265"/>
            <a:ext cx="931640" cy="1070177"/>
          </a:xfrm>
          <a:prstGeom prst="rect">
            <a:avLst/>
          </a:prstGeom>
        </p:spPr>
      </p:pic>
      <p:pic>
        <p:nvPicPr>
          <p:cNvPr id="32" name="Graphic 31">
            <a:extLst>
              <a:ext uri="{FF2B5EF4-FFF2-40B4-BE49-F238E27FC236}">
                <a16:creationId xmlns:a16="http://schemas.microsoft.com/office/drawing/2014/main" id="{7F24F61D-2170-CF00-0F24-DBE2791EF2E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267984" y="2778884"/>
            <a:ext cx="970464" cy="1033498"/>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flipV="1">
            <a:off x="9342706" y="3259856"/>
            <a:ext cx="2493408" cy="478533"/>
          </a:xfrm>
          <a:prstGeom prst="bentConnector3">
            <a:avLst/>
          </a:prstGeom>
          <a:ln w="15682">
            <a:solidFill>
              <a:srgbClr val="D18F19"/>
            </a:solidFill>
            <a:prstDash val="lgDash"/>
          </a:ln>
        </p:spPr>
        <p:style>
          <a:lnRef idx="2">
            <a:schemeClr val="accent1"/>
          </a:lnRef>
          <a:fillRef idx="0">
            <a:schemeClr val="accent1"/>
          </a:fillRef>
          <a:effectRef idx="1">
            <a:schemeClr val="accent1"/>
          </a:effectRef>
          <a:fontRef idx="minor">
            <a:schemeClr val="tx1"/>
          </a:fontRef>
        </p:style>
      </p:cxnSp>
      <p:sp>
        <p:nvSpPr>
          <p:cNvPr id="3" name="Rounded Rectangle 2"/>
          <p:cNvSpPr/>
          <p:nvPr/>
        </p:nvSpPr>
        <p:spPr>
          <a:xfrm>
            <a:off x="490947" y="5026981"/>
            <a:ext cx="1017674" cy="306485"/>
          </a:xfrm>
          <a:prstGeom prst="roundRect">
            <a:avLst/>
          </a:prstGeom>
          <a:solidFill>
            <a:srgbClr val="D5362A"/>
          </a:solidFill>
          <a:ln w="23746">
            <a:solidFill>
              <a:srgbClr val="DF746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_example_image.jpg"/>
          <p:cNvPicPr>
            <a:picLocks noChangeAspect="1"/>
          </p:cNvPicPr>
          <p:nvPr/>
        </p:nvPicPr>
        <p:blipFill>
          <a:blip r:embed="rId2"/>
          <a:srcRect l="1558" t="12118" r="19145" b="13376"/>
          <a:stretch>
            <a:fillRect/>
          </a:stretch>
        </p:blipFill>
        <p:spPr>
          <a:xfrm>
            <a:off x="361721" y="2531086"/>
            <a:ext cx="1451542" cy="1018792"/>
          </a:xfrm>
          <a:prstGeom prst="rect">
            <a:avLst/>
          </a:prstGeom>
        </p:spPr>
      </p:pic>
      <p:sp>
        <p:nvSpPr>
          <p:cNvPr id="5" name="TextBox 4"/>
          <p:cNvSpPr txBox="1"/>
          <p:nvPr/>
        </p:nvSpPr>
        <p:spPr>
          <a:xfrm>
            <a:off x="5815104" y="4655757"/>
            <a:ext cx="833559" cy="1744700"/>
          </a:xfrm>
          <a:prstGeom prst="rect">
            <a:avLst/>
          </a:prstGeom>
          <a:noFill/>
        </p:spPr>
        <p:txBody>
          <a:bodyPr wrap="none" lIns="87533" tIns="87533" rIns="87533" bIns="87533">
            <a:spAutoFit/>
          </a:bodyPr>
          <a:lstStyle/>
          <a:p>
            <a:r>
              <a:rPr sz="3800" b="1" i="0" u="none">
                <a:solidFill>
                  <a:srgbClr val="BE39D5"/>
                </a:solidFill>
                <a:latin typeface="Trebuchet MS"/>
              </a:rPr>
              <a:t>Option Response Matrix Snapshot Index Goal Table</a:t>
            </a:r>
          </a:p>
        </p:txBody>
      </p:sp>
      <p:sp>
        <p:nvSpPr>
          <p:cNvPr id="6" name="Freeform 5"/>
          <p:cNvSpPr/>
          <p:nvPr/>
        </p:nvSpPr>
        <p:spPr>
          <a:xfrm>
            <a:off x="4172141" y="2272922"/>
            <a:ext cx="1061040" cy="1000550"/>
          </a:xfrm>
          <a:custGeom>
            <a:avLst/>
            <a:gdLst/>
            <a:ahLst/>
            <a:cxnLst/>
            <a:rect l="l" t="t" r="r" b="b"/>
            <a:pathLst>
              <a:path w="1061040" h="1000550">
                <a:moveTo>
                  <a:pt x="0" y="222345"/>
                </a:moveTo>
                <a:lnTo>
                  <a:pt x="228181" y="0"/>
                </a:lnTo>
                <a:lnTo>
                  <a:pt x="456362" y="300165"/>
                </a:lnTo>
                <a:lnTo>
                  <a:pt x="684542" y="33352"/>
                </a:lnTo>
                <a:lnTo>
                  <a:pt x="1061040" y="778206"/>
                </a:lnTo>
                <a:lnTo>
                  <a:pt x="798632" y="1000550"/>
                </a:lnTo>
                <a:lnTo>
                  <a:pt x="547634" y="667034"/>
                </a:lnTo>
                <a:lnTo>
                  <a:pt x="262408" y="967199"/>
                </a:lnTo>
                <a:close/>
              </a:path>
            </a:pathLst>
          </a:custGeom>
          <a:solidFill>
            <a:srgbClr val="D1A639"/>
          </a:solidFill>
          <a:ln w="9030">
            <a:solidFill>
              <a:srgbClr val="B1A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39590" y="4071719"/>
            <a:ext cx="3147154" cy="1791212"/>
          </a:xfrm>
          <a:prstGeom prst="rect">
            <a:avLst/>
          </a:prstGeom>
          <a:noFill/>
        </p:spPr>
        <p:txBody>
          <a:bodyPr wrap="none" lIns="30895" tIns="30895" rIns="30895" bIns="30895">
            <a:spAutoFit/>
          </a:bodyPr>
          <a:lstStyle/>
          <a:p>
            <a:r>
              <a:rPr sz="1100" b="1" i="0" u="none">
                <a:solidFill>
                  <a:srgbClr val="807448"/>
                </a:solidFill>
                <a:latin typeface="Verdana"/>
              </a:rPr>
              <a:t>Intent Dashboard Envelope Center Alignment Context Topology Bundle Volume Mesh Input Sample Release Cycle Pixel Collection Estimate Spectrum Profile Position Entity Asset Diagram Heading North Depth Indicator Relay Rhythm Friction Interval Keyline Reserve Sample Discovery Limit Reference Benchmark</a:t>
            </a:r>
          </a:p>
        </p:txBody>
      </p:sp>
      <p:pic>
        <p:nvPicPr>
          <p:cNvPr id="8" name="Picture 7" descr="_example_image.jpg"/>
          <p:cNvPicPr>
            <a:picLocks noChangeAspect="1"/>
          </p:cNvPicPr>
          <p:nvPr/>
        </p:nvPicPr>
        <p:blipFill>
          <a:blip r:embed="rId2"/>
          <a:srcRect l="10229" t="12386" r="20894" b="463"/>
          <a:stretch>
            <a:fillRect/>
          </a:stretch>
        </p:blipFill>
        <p:spPr>
          <a:xfrm>
            <a:off x="2771101" y="256161"/>
            <a:ext cx="1196926" cy="1207711"/>
          </a:xfrm>
          <a:prstGeom prst="rect">
            <a:avLst/>
          </a:prstGeom>
        </p:spPr>
      </p:pic>
      <p:sp>
        <p:nvSpPr>
          <p:cNvPr id="9" name="Rounded Rectangle 8"/>
          <p:cNvSpPr/>
          <p:nvPr/>
        </p:nvSpPr>
        <p:spPr>
          <a:xfrm>
            <a:off x="2771101" y="256161"/>
            <a:ext cx="1196926" cy="1207711"/>
          </a:xfrm>
          <a:prstGeom prst="roundRect">
            <a:avLst/>
          </a:prstGeom>
          <a:noFill/>
          <a:ln w="15240">
            <a:solidFill>
              <a:srgbClr val="739F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Chart 9"/>
          <p:cNvGraphicFramePr>
            <a:graphicFrameLocks noGrp="1"/>
          </p:cNvGraphicFramePr>
          <p:nvPr/>
        </p:nvGraphicFramePr>
        <p:xfrm>
          <a:off x="3533878" y="4690841"/>
          <a:ext cx="2647156" cy="1921647"/>
        </p:xfrm>
        <a:graphic>
          <a:graphicData uri="http://schemas.openxmlformats.org/drawingml/2006/chart">
            <c:chart xmlns:c="http://schemas.openxmlformats.org/drawingml/2006/chart" xmlns:r="http://schemas.openxmlformats.org/officeDocument/2006/relationships" r:id="rId3"/>
          </a:graphicData>
        </a:graphic>
      </p:graphicFrame>
      <p:sp>
        <p:nvSpPr>
          <p:cNvPr id="11" name="Down Ribbon 10"/>
          <p:cNvSpPr/>
          <p:nvPr/>
        </p:nvSpPr>
        <p:spPr>
          <a:xfrm>
            <a:off x="1913261" y="4060703"/>
            <a:ext cx="1978385" cy="1896696"/>
          </a:xfrm>
          <a:prstGeom prst="ribbon">
            <a:avLst/>
          </a:prstGeom>
          <a:noFill/>
          <a:ln w="13428">
            <a:solidFill>
              <a:srgbClr val="D46ED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ular Callout 11"/>
          <p:cNvSpPr/>
          <p:nvPr/>
        </p:nvSpPr>
        <p:spPr>
          <a:xfrm>
            <a:off x="9189191" y="2554792"/>
            <a:ext cx="620543" cy="637046"/>
          </a:xfrm>
          <a:prstGeom prst="wedgeRectCallout">
            <a:avLst/>
          </a:prstGeom>
          <a:solidFill>
            <a:srgbClr val="E177DE"/>
          </a:solidFill>
          <a:ln w="15022">
            <a:solidFill>
              <a:srgbClr val="2622B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3" name="Table 12"/>
          <p:cNvGraphicFramePr>
            <a:graphicFrameLocks noGrp="1"/>
          </p:cNvGraphicFramePr>
          <p:nvPr/>
        </p:nvGraphicFramePr>
        <p:xfrm>
          <a:off x="4747811" y="621068"/>
          <a:ext cx="4569190" cy="949661"/>
        </p:xfrm>
        <a:graphic>
          <a:graphicData uri="http://schemas.openxmlformats.org/drawingml/2006/table">
            <a:tbl>
              <a:tblPr firstRow="1" bandRow="1">
                <a:tableStyleId>{5C22544A-7EE6-4342-B048-85BDC9FD1C3A}</a:tableStyleId>
              </a:tblPr>
              <a:tblGrid>
                <a:gridCol w="1523063">
                  <a:extLst>
                    <a:ext uri="{9D8B030D-6E8A-4147-A177-3AD203B41FA5}">
                      <a16:colId xmlns:a16="http://schemas.microsoft.com/office/drawing/2014/main" val="20000"/>
                    </a:ext>
                  </a:extLst>
                </a:gridCol>
                <a:gridCol w="1523063">
                  <a:extLst>
                    <a:ext uri="{9D8B030D-6E8A-4147-A177-3AD203B41FA5}">
                      <a16:colId xmlns:a16="http://schemas.microsoft.com/office/drawing/2014/main" val="20001"/>
                    </a:ext>
                  </a:extLst>
                </a:gridCol>
                <a:gridCol w="1523064">
                  <a:extLst>
                    <a:ext uri="{9D8B030D-6E8A-4147-A177-3AD203B41FA5}">
                      <a16:colId xmlns:a16="http://schemas.microsoft.com/office/drawing/2014/main" val="20002"/>
                    </a:ext>
                  </a:extLst>
                </a:gridCol>
              </a:tblGrid>
              <a:tr h="135665">
                <a:tc>
                  <a:txBody>
                    <a:bodyPr/>
                    <a:lstStyle/>
                    <a:p>
                      <a:r>
                        <a:rPr sz="1000" b="1">
                          <a:solidFill>
                            <a:srgbClr val="A1C695"/>
                          </a:solidFill>
                        </a:rPr>
                        <a:t>Trigger Signal</a:t>
                      </a:r>
                    </a:p>
                  </a:txBody>
                  <a:tcPr>
                    <a:solidFill>
                      <a:srgbClr val="BC85DE"/>
                    </a:solidFill>
                  </a:tcPr>
                </a:tc>
                <a:tc>
                  <a:txBody>
                    <a:bodyPr/>
                    <a:lstStyle/>
                    <a:p>
                      <a:r>
                        <a:rPr sz="1000" b="1">
                          <a:solidFill>
                            <a:srgbClr val="A1C695"/>
                          </a:solidFill>
                        </a:rPr>
                        <a:t>Volume Status</a:t>
                      </a:r>
                    </a:p>
                  </a:txBody>
                  <a:tcPr>
                    <a:solidFill>
                      <a:srgbClr val="BC85DE"/>
                    </a:solidFill>
                  </a:tcPr>
                </a:tc>
                <a:tc>
                  <a:txBody>
                    <a:bodyPr/>
                    <a:lstStyle/>
                    <a:p>
                      <a:r>
                        <a:rPr sz="1000" b="1">
                          <a:solidFill>
                            <a:srgbClr val="A1C695"/>
                          </a:solidFill>
                        </a:rPr>
                        <a:t>Query</a:t>
                      </a:r>
                    </a:p>
                  </a:txBody>
                  <a:tcPr>
                    <a:solidFill>
                      <a:srgbClr val="BC85DE"/>
                    </a:solidFill>
                  </a:tcPr>
                </a:tc>
                <a:extLst>
                  <a:ext uri="{0D108BD9-81ED-4DB2-BD59-A6C34878D82A}">
                    <a16:rowId xmlns:a16="http://schemas.microsoft.com/office/drawing/2014/main" val="10000"/>
                  </a:ext>
                </a:extLst>
              </a:tr>
              <a:tr h="135665">
                <a:tc>
                  <a:txBody>
                    <a:bodyPr/>
                    <a:lstStyle/>
                    <a:p>
                      <a:r>
                        <a:rPr sz="1000" b="0">
                          <a:solidFill>
                            <a:srgbClr val="A1C695"/>
                          </a:solidFill>
                        </a:rPr>
                        <a:t>Envelope Option</a:t>
                      </a:r>
                    </a:p>
                  </a:txBody>
                  <a:tcPr>
                    <a:solidFill>
                      <a:srgbClr val="E9F7F4"/>
                    </a:solidFill>
                  </a:tcPr>
                </a:tc>
                <a:tc>
                  <a:txBody>
                    <a:bodyPr/>
                    <a:lstStyle/>
                    <a:p>
                      <a:r>
                        <a:rPr sz="1000" b="0">
                          <a:solidFill>
                            <a:srgbClr val="A1C695"/>
                          </a:solidFill>
                        </a:rPr>
                        <a:t>Keyline</a:t>
                      </a:r>
                    </a:p>
                  </a:txBody>
                  <a:tcPr>
                    <a:solidFill>
                      <a:srgbClr val="D5F0EA"/>
                    </a:solidFill>
                  </a:tcPr>
                </a:tc>
                <a:tc>
                  <a:txBody>
                    <a:bodyPr/>
                    <a:lstStyle/>
                    <a:p>
                      <a:r>
                        <a:rPr sz="1000" b="0">
                          <a:solidFill>
                            <a:srgbClr val="A1C695"/>
                          </a:solidFill>
                        </a:rPr>
                        <a:t>Source</a:t>
                      </a:r>
                    </a:p>
                  </a:txBody>
                  <a:tcPr>
                    <a:solidFill>
                      <a:srgbClr val="E9F7F4"/>
                    </a:solidFill>
                  </a:tcPr>
                </a:tc>
                <a:extLst>
                  <a:ext uri="{0D108BD9-81ED-4DB2-BD59-A6C34878D82A}">
                    <a16:rowId xmlns:a16="http://schemas.microsoft.com/office/drawing/2014/main" val="10001"/>
                  </a:ext>
                </a:extLst>
              </a:tr>
              <a:tr h="135665">
                <a:tc>
                  <a:txBody>
                    <a:bodyPr/>
                    <a:lstStyle/>
                    <a:p>
                      <a:r>
                        <a:rPr sz="1000" b="0">
                          <a:solidFill>
                            <a:srgbClr val="A1C695"/>
                          </a:solidFill>
                        </a:rPr>
                        <a:t>Reference</a:t>
                      </a:r>
                    </a:p>
                  </a:txBody>
                  <a:tcPr>
                    <a:solidFill>
                      <a:srgbClr val="E9F7F4"/>
                    </a:solidFill>
                  </a:tcPr>
                </a:tc>
                <a:tc>
                  <a:txBody>
                    <a:bodyPr/>
                    <a:lstStyle/>
                    <a:p>
                      <a:r>
                        <a:rPr sz="1000" b="0">
                          <a:solidFill>
                            <a:srgbClr val="A1C695"/>
                          </a:solidFill>
                        </a:rPr>
                        <a:t>Milestone Discovery</a:t>
                      </a:r>
                    </a:p>
                  </a:txBody>
                  <a:tcPr>
                    <a:solidFill>
                      <a:srgbClr val="D5F0EA"/>
                    </a:solidFill>
                  </a:tcPr>
                </a:tc>
                <a:tc>
                  <a:txBody>
                    <a:bodyPr/>
                    <a:lstStyle/>
                    <a:p>
                      <a:r>
                        <a:rPr sz="1000" b="0">
                          <a:solidFill>
                            <a:srgbClr val="A1C695"/>
                          </a:solidFill>
                        </a:rPr>
                        <a:t>Option</a:t>
                      </a:r>
                    </a:p>
                  </a:txBody>
                  <a:tcPr>
                    <a:solidFill>
                      <a:srgbClr val="E9F7F4"/>
                    </a:solidFill>
                  </a:tcPr>
                </a:tc>
                <a:extLst>
                  <a:ext uri="{0D108BD9-81ED-4DB2-BD59-A6C34878D82A}">
                    <a16:rowId xmlns:a16="http://schemas.microsoft.com/office/drawing/2014/main" val="10002"/>
                  </a:ext>
                </a:extLst>
              </a:tr>
              <a:tr h="135665">
                <a:tc>
                  <a:txBody>
                    <a:bodyPr/>
                    <a:lstStyle/>
                    <a:p>
                      <a:r>
                        <a:rPr sz="1000" b="0">
                          <a:solidFill>
                            <a:srgbClr val="A1C695"/>
                          </a:solidFill>
                        </a:rPr>
                        <a:t>Expansion</a:t>
                      </a:r>
                    </a:p>
                  </a:txBody>
                  <a:tcPr>
                    <a:solidFill>
                      <a:srgbClr val="E9F7F4"/>
                    </a:solidFill>
                  </a:tcPr>
                </a:tc>
                <a:tc>
                  <a:txBody>
                    <a:bodyPr/>
                    <a:lstStyle/>
                    <a:p>
                      <a:r>
                        <a:rPr sz="1000" b="0">
                          <a:solidFill>
                            <a:srgbClr val="A1C695"/>
                          </a:solidFill>
                        </a:rPr>
                        <a:t>Version</a:t>
                      </a:r>
                    </a:p>
                  </a:txBody>
                  <a:tcPr>
                    <a:solidFill>
                      <a:srgbClr val="D5F0EA"/>
                    </a:solidFill>
                  </a:tcPr>
                </a:tc>
                <a:tc>
                  <a:txBody>
                    <a:bodyPr/>
                    <a:lstStyle/>
                    <a:p>
                      <a:r>
                        <a:rPr sz="1000" b="0">
                          <a:solidFill>
                            <a:srgbClr val="A1C695"/>
                          </a:solidFill>
                        </a:rPr>
                        <a:t>View View</a:t>
                      </a:r>
                    </a:p>
                  </a:txBody>
                  <a:tcPr>
                    <a:solidFill>
                      <a:srgbClr val="E9F7F4"/>
                    </a:solidFill>
                  </a:tcPr>
                </a:tc>
                <a:extLst>
                  <a:ext uri="{0D108BD9-81ED-4DB2-BD59-A6C34878D82A}">
                    <a16:rowId xmlns:a16="http://schemas.microsoft.com/office/drawing/2014/main" val="10003"/>
                  </a:ext>
                </a:extLst>
              </a:tr>
              <a:tr h="135665">
                <a:tc>
                  <a:txBody>
                    <a:bodyPr/>
                    <a:lstStyle/>
                    <a:p>
                      <a:r>
                        <a:rPr sz="1000" b="0">
                          <a:solidFill>
                            <a:srgbClr val="A1C695"/>
                          </a:solidFill>
                        </a:rPr>
                        <a:t>Level</a:t>
                      </a:r>
                    </a:p>
                  </a:txBody>
                  <a:tcPr>
                    <a:solidFill>
                      <a:srgbClr val="E9F7F4"/>
                    </a:solidFill>
                  </a:tcPr>
                </a:tc>
                <a:tc>
                  <a:txBody>
                    <a:bodyPr/>
                    <a:lstStyle/>
                    <a:p>
                      <a:r>
                        <a:rPr sz="1000" b="0">
                          <a:solidFill>
                            <a:srgbClr val="A1C695"/>
                          </a:solidFill>
                        </a:rPr>
                        <a:t>Position</a:t>
                      </a:r>
                    </a:p>
                  </a:txBody>
                  <a:tcPr>
                    <a:solidFill>
                      <a:srgbClr val="D5F0EA"/>
                    </a:solidFill>
                  </a:tcPr>
                </a:tc>
                <a:tc>
                  <a:txBody>
                    <a:bodyPr/>
                    <a:lstStyle/>
                    <a:p>
                      <a:r>
                        <a:rPr sz="1000" b="0">
                          <a:solidFill>
                            <a:srgbClr val="A1C695"/>
                          </a:solidFill>
                        </a:rPr>
                        <a:t>Case</a:t>
                      </a:r>
                    </a:p>
                  </a:txBody>
                  <a:tcPr>
                    <a:solidFill>
                      <a:srgbClr val="E9F7F4"/>
                    </a:solidFill>
                  </a:tcPr>
                </a:tc>
                <a:extLst>
                  <a:ext uri="{0D108BD9-81ED-4DB2-BD59-A6C34878D82A}">
                    <a16:rowId xmlns:a16="http://schemas.microsoft.com/office/drawing/2014/main" val="10004"/>
                  </a:ext>
                </a:extLst>
              </a:tr>
              <a:tr h="135665">
                <a:tc>
                  <a:txBody>
                    <a:bodyPr/>
                    <a:lstStyle/>
                    <a:p>
                      <a:r>
                        <a:rPr sz="1000" b="0">
                          <a:solidFill>
                            <a:srgbClr val="A1C695"/>
                          </a:solidFill>
                        </a:rPr>
                        <a:t>Cadence</a:t>
                      </a:r>
                    </a:p>
                  </a:txBody>
                  <a:tcPr>
                    <a:solidFill>
                      <a:srgbClr val="E9F7F4"/>
                    </a:solidFill>
                  </a:tcPr>
                </a:tc>
                <a:tc>
                  <a:txBody>
                    <a:bodyPr/>
                    <a:lstStyle/>
                    <a:p>
                      <a:r>
                        <a:rPr sz="1000" b="0">
                          <a:solidFill>
                            <a:srgbClr val="A1C695"/>
                          </a:solidFill>
                        </a:rPr>
                        <a:t>Region</a:t>
                      </a:r>
                    </a:p>
                  </a:txBody>
                  <a:tcPr>
                    <a:solidFill>
                      <a:srgbClr val="D5F0EA"/>
                    </a:solidFill>
                  </a:tcPr>
                </a:tc>
                <a:tc>
                  <a:txBody>
                    <a:bodyPr/>
                    <a:lstStyle/>
                    <a:p>
                      <a:r>
                        <a:rPr sz="1000" b="0">
                          <a:solidFill>
                            <a:srgbClr val="A1C695"/>
                          </a:solidFill>
                        </a:rPr>
                        <a:t>Alignment</a:t>
                      </a:r>
                    </a:p>
                  </a:txBody>
                  <a:tcPr>
                    <a:solidFill>
                      <a:srgbClr val="E9F7F4"/>
                    </a:solidFill>
                  </a:tcPr>
                </a:tc>
                <a:extLst>
                  <a:ext uri="{0D108BD9-81ED-4DB2-BD59-A6C34878D82A}">
                    <a16:rowId xmlns:a16="http://schemas.microsoft.com/office/drawing/2014/main" val="10005"/>
                  </a:ext>
                </a:extLst>
              </a:tr>
              <a:tr h="135671">
                <a:tc>
                  <a:txBody>
                    <a:bodyPr/>
                    <a:lstStyle/>
                    <a:p>
                      <a:r>
                        <a:rPr sz="1000" b="0">
                          <a:solidFill>
                            <a:srgbClr val="A1C695"/>
                          </a:solidFill>
                        </a:rPr>
                        <a:t>Limit Moment</a:t>
                      </a:r>
                    </a:p>
                  </a:txBody>
                  <a:tcPr>
                    <a:solidFill>
                      <a:srgbClr val="E9F7F4"/>
                    </a:solidFill>
                  </a:tcPr>
                </a:tc>
                <a:tc>
                  <a:txBody>
                    <a:bodyPr/>
                    <a:lstStyle/>
                    <a:p>
                      <a:r>
                        <a:rPr sz="1000" b="0">
                          <a:solidFill>
                            <a:srgbClr val="A1C695"/>
                          </a:solidFill>
                        </a:rPr>
                        <a:t>Function Reserve</a:t>
                      </a:r>
                    </a:p>
                  </a:txBody>
                  <a:tcPr>
                    <a:solidFill>
                      <a:srgbClr val="D5F0EA"/>
                    </a:solidFill>
                  </a:tcPr>
                </a:tc>
                <a:tc>
                  <a:txBody>
                    <a:bodyPr/>
                    <a:lstStyle/>
                    <a:p>
                      <a:r>
                        <a:rPr sz="1000" b="0">
                          <a:solidFill>
                            <a:srgbClr val="A1C695"/>
                          </a:solidFill>
                        </a:rPr>
                        <a:t>Module Zone</a:t>
                      </a:r>
                    </a:p>
                  </a:txBody>
                  <a:tcPr>
                    <a:solidFill>
                      <a:srgbClr val="E9F7F4"/>
                    </a:solidFill>
                  </a:tcPr>
                </a:tc>
                <a:extLst>
                  <a:ext uri="{0D108BD9-81ED-4DB2-BD59-A6C34878D82A}">
                    <a16:rowId xmlns:a16="http://schemas.microsoft.com/office/drawing/2014/main" val="10006"/>
                  </a:ext>
                </a:extLst>
              </a:tr>
            </a:tbl>
          </a:graphicData>
        </a:graphic>
      </p:graphicFrame>
      <p:sp>
        <p:nvSpPr>
          <p:cNvPr id="14" name="16-Point Star 13"/>
          <p:cNvSpPr/>
          <p:nvPr/>
        </p:nvSpPr>
        <p:spPr>
          <a:xfrm>
            <a:off x="5982105" y="1845760"/>
            <a:ext cx="992899" cy="1332538"/>
          </a:xfrm>
          <a:prstGeom prst="star16">
            <a:avLst/>
          </a:prstGeom>
          <a:solidFill>
            <a:srgbClr val="705C2F"/>
          </a:solidFill>
          <a:ln w="25591">
            <a:solidFill>
              <a:srgbClr val="D7874D"/>
            </a:solidFill>
            <a:prstDash val="lg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38231" y="1179375"/>
            <a:ext cx="1473239" cy="2393496"/>
          </a:xfrm>
          <a:prstGeom prst="rect">
            <a:avLst/>
          </a:prstGeom>
          <a:solidFill>
            <a:srgbClr val="68665C"/>
          </a:solidFill>
        </p:spPr>
        <p:txBody>
          <a:bodyPr wrap="none" lIns="46482" tIns="46482" rIns="46482" bIns="46482">
            <a:spAutoFit/>
          </a:bodyPr>
          <a:lstStyle/>
          <a:p>
            <a:r>
              <a:rPr sz="1900" b="0" i="0" u="none">
                <a:solidFill>
                  <a:srgbClr val="2345AE"/>
                </a:solidFill>
                <a:latin typeface="Arial"/>
              </a:rPr>
              <a:t>Design Drift Heading Grid Echo Slice Layer Analysis Threshold Precision Zone</a:t>
            </a:r>
          </a:p>
        </p:txBody>
      </p:sp>
      <p:sp>
        <p:nvSpPr>
          <p:cNvPr id="16" name="TextBox 15"/>
          <p:cNvSpPr txBox="1"/>
          <p:nvPr/>
        </p:nvSpPr>
        <p:spPr>
          <a:xfrm>
            <a:off x="7509976" y="2595904"/>
            <a:ext cx="1014489" cy="753800"/>
          </a:xfrm>
          <a:prstGeom prst="rect">
            <a:avLst/>
          </a:prstGeom>
          <a:noFill/>
        </p:spPr>
        <p:txBody>
          <a:bodyPr wrap="none" lIns="69231" tIns="69231" rIns="69231" bIns="69231">
            <a:spAutoFit/>
          </a:bodyPr>
          <a:lstStyle/>
          <a:p>
            <a:r>
              <a:rPr sz="900" b="0" i="0" u="none">
                <a:solidFill>
                  <a:srgbClr val="71D34C"/>
                </a:solidFill>
                <a:latin typeface="Arial"/>
              </a:rPr>
              <a:t>Packet Echo Payload Graph Path Threshold Pipeline Pixel Panel Wave Response Mesh</a:t>
            </a:r>
          </a:p>
        </p:txBody>
      </p:sp>
      <p:sp>
        <p:nvSpPr>
          <p:cNvPr id="17" name="5-Point Star 16"/>
          <p:cNvSpPr/>
          <p:nvPr/>
        </p:nvSpPr>
        <p:spPr>
          <a:xfrm>
            <a:off x="10127737" y="532342"/>
            <a:ext cx="1691430" cy="1385844"/>
          </a:xfrm>
          <a:prstGeom prst="star5">
            <a:avLst/>
          </a:prstGeom>
          <a:solidFill>
            <a:srgbClr val="B2BD8E"/>
          </a:solidFill>
          <a:ln w="29629">
            <a:solidFill>
              <a:srgbClr val="C4694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0780" y="3851328"/>
            <a:ext cx="792650" cy="815405"/>
          </a:xfrm>
          <a:prstGeom prst="rect">
            <a:avLst/>
          </a:prstGeom>
          <a:noFill/>
        </p:spPr>
        <p:txBody>
          <a:bodyPr wrap="none" lIns="73589" tIns="73589" rIns="73589" bIns="73589">
            <a:spAutoFit/>
          </a:bodyPr>
          <a:lstStyle/>
          <a:p>
            <a:r>
              <a:rPr sz="3700" b="1" i="0" u="none">
                <a:solidFill>
                  <a:srgbClr val="9E6230"/>
                </a:solidFill>
                <a:latin typeface="Arial"/>
              </a:rPr>
              <a:t>North Energy Zone Motion</a:t>
            </a:r>
          </a:p>
        </p:txBody>
      </p:sp>
      <p:sp>
        <p:nvSpPr>
          <p:cNvPr id="19" name="Freeform 18"/>
          <p:cNvSpPr/>
          <p:nvPr/>
        </p:nvSpPr>
        <p:spPr>
          <a:xfrm>
            <a:off x="6365279" y="3123647"/>
            <a:ext cx="1040482" cy="1374200"/>
          </a:xfrm>
          <a:custGeom>
            <a:avLst/>
            <a:gdLst/>
            <a:ahLst/>
            <a:cxnLst/>
            <a:rect l="l" t="t" r="r" b="b"/>
            <a:pathLst>
              <a:path w="1040482" h="1374200">
                <a:moveTo>
                  <a:pt x="520241" y="0"/>
                </a:moveTo>
                <a:lnTo>
                  <a:pt x="650301" y="343550"/>
                </a:lnTo>
                <a:lnTo>
                  <a:pt x="975452" y="247356"/>
                </a:lnTo>
                <a:lnTo>
                  <a:pt x="791200" y="687100"/>
                </a:lnTo>
                <a:lnTo>
                  <a:pt x="1040482" y="1071876"/>
                </a:lnTo>
                <a:lnTo>
                  <a:pt x="650301" y="989424"/>
                </a:lnTo>
                <a:lnTo>
                  <a:pt x="520241" y="1374200"/>
                </a:lnTo>
                <a:lnTo>
                  <a:pt x="390180" y="989424"/>
                </a:lnTo>
                <a:lnTo>
                  <a:pt x="0" y="1071876"/>
                </a:lnTo>
                <a:lnTo>
                  <a:pt x="249282" y="687100"/>
                </a:lnTo>
                <a:lnTo>
                  <a:pt x="65030" y="247356"/>
                </a:lnTo>
                <a:lnTo>
                  <a:pt x="390180" y="343550"/>
                </a:lnTo>
                <a:close/>
              </a:path>
            </a:pathLst>
          </a:custGeom>
          <a:solidFill>
            <a:srgbClr val="DA4C9B"/>
          </a:solidFill>
          <a:ln w="20875">
            <a:solidFill>
              <a:srgbClr val="E023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lus 19"/>
          <p:cNvSpPr/>
          <p:nvPr/>
        </p:nvSpPr>
        <p:spPr>
          <a:xfrm>
            <a:off x="1815539" y="1648316"/>
            <a:ext cx="769666" cy="1762010"/>
          </a:xfrm>
          <a:prstGeom prst="mathPlus">
            <a:avLst/>
          </a:prstGeom>
          <a:solidFill>
            <a:srgbClr val="5ED463"/>
          </a:solidFill>
          <a:ln w="29985">
            <a:solidFill>
              <a:srgbClr val="7387E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redefined Process 20"/>
          <p:cNvSpPr/>
          <p:nvPr/>
        </p:nvSpPr>
        <p:spPr>
          <a:xfrm>
            <a:off x="11199654" y="2616102"/>
            <a:ext cx="473864" cy="777449"/>
          </a:xfrm>
          <a:prstGeom prst="flowChartPredefinedProcess">
            <a:avLst/>
          </a:prstGeom>
          <a:solidFill>
            <a:srgbClr val="71B7C9"/>
          </a:solidFill>
          <a:ln w="16114">
            <a:solidFill>
              <a:srgbClr val="5B951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665253" y="828081"/>
            <a:ext cx="1230305" cy="1875553"/>
          </a:xfrm>
          <a:prstGeom prst="curvedConnector3">
            <a:avLst/>
          </a:prstGeom>
          <a:ln w="47521">
            <a:solidFill>
              <a:srgbClr val="3BDDB0"/>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633820" y="3666491"/>
            <a:ext cx="1085533" cy="1925856"/>
          </a:xfrm>
          <a:prstGeom prst="curvedConnector3">
            <a:avLst/>
          </a:prstGeom>
          <a:ln w="20086">
            <a:solidFill>
              <a:srgbClr val="6ECBB2"/>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24" name="Chart 23"/>
          <p:cNvGraphicFramePr>
            <a:graphicFrameLocks noGrp="1"/>
          </p:cNvGraphicFramePr>
          <p:nvPr/>
        </p:nvGraphicFramePr>
        <p:xfrm>
          <a:off x="8160987" y="2917610"/>
          <a:ext cx="2099646" cy="137786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5" name="Table 24"/>
          <p:cNvGraphicFramePr>
            <a:graphicFrameLocks noGrp="1"/>
          </p:cNvGraphicFramePr>
          <p:nvPr/>
        </p:nvGraphicFramePr>
        <p:xfrm>
          <a:off x="2283039" y="3461617"/>
          <a:ext cx="2056645" cy="1217324"/>
        </p:xfrm>
        <a:graphic>
          <a:graphicData uri="http://schemas.openxmlformats.org/drawingml/2006/table">
            <a:tbl>
              <a:tblPr firstRow="1" bandRow="1">
                <a:tableStyleId>{5C22544A-7EE6-4342-B048-85BDC9FD1C3A}</a:tableStyleId>
              </a:tblPr>
              <a:tblGrid>
                <a:gridCol w="411329">
                  <a:extLst>
                    <a:ext uri="{9D8B030D-6E8A-4147-A177-3AD203B41FA5}">
                      <a16:colId xmlns:a16="http://schemas.microsoft.com/office/drawing/2014/main" val="20000"/>
                    </a:ext>
                  </a:extLst>
                </a:gridCol>
                <a:gridCol w="411329">
                  <a:extLst>
                    <a:ext uri="{9D8B030D-6E8A-4147-A177-3AD203B41FA5}">
                      <a16:colId xmlns:a16="http://schemas.microsoft.com/office/drawing/2014/main" val="20001"/>
                    </a:ext>
                  </a:extLst>
                </a:gridCol>
                <a:gridCol w="411329">
                  <a:extLst>
                    <a:ext uri="{9D8B030D-6E8A-4147-A177-3AD203B41FA5}">
                      <a16:colId xmlns:a16="http://schemas.microsoft.com/office/drawing/2014/main" val="20002"/>
                    </a:ext>
                  </a:extLst>
                </a:gridCol>
                <a:gridCol w="411329">
                  <a:extLst>
                    <a:ext uri="{9D8B030D-6E8A-4147-A177-3AD203B41FA5}">
                      <a16:colId xmlns:a16="http://schemas.microsoft.com/office/drawing/2014/main" val="20003"/>
                    </a:ext>
                  </a:extLst>
                </a:gridCol>
                <a:gridCol w="411329">
                  <a:extLst>
                    <a:ext uri="{9D8B030D-6E8A-4147-A177-3AD203B41FA5}">
                      <a16:colId xmlns:a16="http://schemas.microsoft.com/office/drawing/2014/main" val="20004"/>
                    </a:ext>
                  </a:extLst>
                </a:gridCol>
              </a:tblGrid>
              <a:tr h="608662">
                <a:tc>
                  <a:txBody>
                    <a:bodyPr/>
                    <a:lstStyle/>
                    <a:p>
                      <a:r>
                        <a:rPr sz="1100" b="1">
                          <a:solidFill>
                            <a:srgbClr val="BB2779"/>
                          </a:solidFill>
                        </a:rPr>
                        <a:t>Grid</a:t>
                      </a:r>
                    </a:p>
                  </a:txBody>
                  <a:tcPr>
                    <a:solidFill>
                      <a:srgbClr val="A0E280"/>
                    </a:solidFill>
                  </a:tcPr>
                </a:tc>
                <a:tc>
                  <a:txBody>
                    <a:bodyPr/>
                    <a:lstStyle/>
                    <a:p>
                      <a:r>
                        <a:rPr sz="1100" b="1">
                          <a:solidFill>
                            <a:srgbClr val="BB2779"/>
                          </a:solidFill>
                        </a:rPr>
                        <a:t>Edge Signal</a:t>
                      </a:r>
                    </a:p>
                  </a:txBody>
                  <a:tcPr>
                    <a:solidFill>
                      <a:srgbClr val="A0E280"/>
                    </a:solidFill>
                  </a:tcPr>
                </a:tc>
                <a:tc>
                  <a:txBody>
                    <a:bodyPr/>
                    <a:lstStyle/>
                    <a:p>
                      <a:r>
                        <a:rPr sz="1100" b="1">
                          <a:solidFill>
                            <a:srgbClr val="BB2779"/>
                          </a:solidFill>
                        </a:rPr>
                        <a:t>Archive Track</a:t>
                      </a:r>
                    </a:p>
                  </a:txBody>
                  <a:tcPr>
                    <a:solidFill>
                      <a:srgbClr val="A0E280"/>
                    </a:solidFill>
                  </a:tcPr>
                </a:tc>
                <a:tc>
                  <a:txBody>
                    <a:bodyPr/>
                    <a:lstStyle/>
                    <a:p>
                      <a:r>
                        <a:rPr sz="1100" b="1">
                          <a:solidFill>
                            <a:srgbClr val="BB2779"/>
                          </a:solidFill>
                        </a:rPr>
                        <a:t>Drift</a:t>
                      </a:r>
                    </a:p>
                  </a:txBody>
                  <a:tcPr>
                    <a:solidFill>
                      <a:srgbClr val="A0E280"/>
                    </a:solidFill>
                  </a:tcPr>
                </a:tc>
                <a:tc>
                  <a:txBody>
                    <a:bodyPr/>
                    <a:lstStyle/>
                    <a:p>
                      <a:r>
                        <a:rPr sz="1100" b="1">
                          <a:solidFill>
                            <a:srgbClr val="BB2779"/>
                          </a:solidFill>
                        </a:rPr>
                        <a:t>System Reference</a:t>
                      </a:r>
                    </a:p>
                  </a:txBody>
                  <a:tcPr>
                    <a:solidFill>
                      <a:srgbClr val="A0E280"/>
                    </a:solidFill>
                  </a:tcPr>
                </a:tc>
                <a:extLst>
                  <a:ext uri="{0D108BD9-81ED-4DB2-BD59-A6C34878D82A}">
                    <a16:rowId xmlns:a16="http://schemas.microsoft.com/office/drawing/2014/main" val="10000"/>
                  </a:ext>
                </a:extLst>
              </a:tr>
              <a:tr h="608662">
                <a:tc>
                  <a:txBody>
                    <a:bodyPr/>
                    <a:lstStyle/>
                    <a:p>
                      <a:r>
                        <a:rPr sz="1100" b="0">
                          <a:solidFill>
                            <a:srgbClr val="BB2779"/>
                          </a:solidFill>
                        </a:rPr>
                        <a:t>Drive Object</a:t>
                      </a:r>
                    </a:p>
                  </a:txBody>
                  <a:tcPr>
                    <a:solidFill>
                      <a:srgbClr val="D5E4E9"/>
                    </a:solidFill>
                  </a:tcPr>
                </a:tc>
                <a:tc>
                  <a:txBody>
                    <a:bodyPr/>
                    <a:lstStyle/>
                    <a:p>
                      <a:r>
                        <a:rPr sz="1100" b="0">
                          <a:solidFill>
                            <a:srgbClr val="BB2779"/>
                          </a:solidFill>
                        </a:rPr>
                        <a:t>State</a:t>
                      </a:r>
                    </a:p>
                  </a:txBody>
                  <a:tcPr>
                    <a:solidFill>
                      <a:srgbClr val="D5E4E9"/>
                    </a:solidFill>
                  </a:tcPr>
                </a:tc>
                <a:tc>
                  <a:txBody>
                    <a:bodyPr/>
                    <a:lstStyle/>
                    <a:p>
                      <a:r>
                        <a:rPr sz="1100" b="0">
                          <a:solidFill>
                            <a:srgbClr val="BB2779"/>
                          </a:solidFill>
                        </a:rPr>
                        <a:t>Query Checkpoint</a:t>
                      </a:r>
                    </a:p>
                  </a:txBody>
                  <a:tcPr>
                    <a:solidFill>
                      <a:srgbClr val="D5E4E9"/>
                    </a:solidFill>
                  </a:tcPr>
                </a:tc>
                <a:tc>
                  <a:txBody>
                    <a:bodyPr/>
                    <a:lstStyle/>
                    <a:p>
                      <a:r>
                        <a:rPr sz="1100" b="0">
                          <a:solidFill>
                            <a:srgbClr val="BB2779"/>
                          </a:solidFill>
                        </a:rPr>
                        <a:t>Review</a:t>
                      </a:r>
                    </a:p>
                  </a:txBody>
                  <a:tcPr>
                    <a:solidFill>
                      <a:srgbClr val="D5E4E9"/>
                    </a:solidFill>
                  </a:tcPr>
                </a:tc>
                <a:tc>
                  <a:txBody>
                    <a:bodyPr/>
                    <a:lstStyle/>
                    <a:p>
                      <a:r>
                        <a:rPr sz="1100" b="0">
                          <a:solidFill>
                            <a:srgbClr val="BB2779"/>
                          </a:solidFill>
                        </a:rPr>
                        <a:t>Network Field</a:t>
                      </a:r>
                    </a:p>
                  </a:txBody>
                  <a:tcPr>
                    <a:solidFill>
                      <a:srgbClr val="D5E4E9"/>
                    </a:solidFill>
                  </a:tcPr>
                </a:tc>
                <a:extLst>
                  <a:ext uri="{0D108BD9-81ED-4DB2-BD59-A6C34878D82A}">
                    <a16:rowId xmlns:a16="http://schemas.microsoft.com/office/drawing/2014/main" val="10001"/>
                  </a:ext>
                </a:extLst>
              </a:tr>
            </a:tbl>
          </a:graphicData>
        </a:graphic>
      </p:graphicFrame>
      <p:pic>
        <p:nvPicPr>
          <p:cNvPr id="26" name="Picture 25" descr="_example_image.jpg"/>
          <p:cNvPicPr>
            <a:picLocks noChangeAspect="1"/>
          </p:cNvPicPr>
          <p:nvPr/>
        </p:nvPicPr>
        <p:blipFill>
          <a:blip r:embed="rId2"/>
          <a:srcRect l="20888" t="20309" r="5511" b="21687"/>
          <a:stretch>
            <a:fillRect/>
          </a:stretch>
        </p:blipFill>
        <p:spPr>
          <a:xfrm>
            <a:off x="7188073" y="1565111"/>
            <a:ext cx="2943514" cy="800882"/>
          </a:xfrm>
          <a:prstGeom prst="rect">
            <a:avLst/>
          </a:prstGeom>
        </p:spPr>
      </p:pic>
      <p:sp>
        <p:nvSpPr>
          <p:cNvPr id="27" name="Rounded Rectangle 26"/>
          <p:cNvSpPr/>
          <p:nvPr/>
        </p:nvSpPr>
        <p:spPr>
          <a:xfrm>
            <a:off x="7188073" y="1565111"/>
            <a:ext cx="2943514" cy="800882"/>
          </a:xfrm>
          <a:prstGeom prst="roundRect">
            <a:avLst/>
          </a:prstGeom>
          <a:noFill/>
          <a:ln w="15240">
            <a:solidFill>
              <a:srgbClr val="C369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33580" y="1913909"/>
            <a:ext cx="1218018" cy="2311764"/>
          </a:xfrm>
          <a:prstGeom prst="rect">
            <a:avLst/>
          </a:prstGeom>
          <a:noFill/>
        </p:spPr>
        <p:txBody>
          <a:bodyPr wrap="none" lIns="76852" tIns="76852" rIns="76852" bIns="76852">
            <a:spAutoFit/>
          </a:bodyPr>
          <a:lstStyle/>
          <a:p>
            <a:r>
              <a:rPr sz="1300" b="0" i="0" u="none">
                <a:solidFill>
                  <a:srgbClr val="21C05F"/>
                </a:solidFill>
                <a:latin typeface="Trebuchet MS"/>
              </a:rPr>
              <a:t>Estimate Report Model Circuit Briefing Design Datum Reserve Point Depth Release Transit Buffer Action Plan Variant Beta Track Reserve Drive Span Frequency Level Keyline Field Command Surface Epoch Transit Exchange Range View Analysis Transform Keyline Query Model Drift Service Blueprint Wave</a:t>
            </a:r>
          </a:p>
        </p:txBody>
      </p:sp>
      <p:pic>
        <p:nvPicPr>
          <p:cNvPr id="30" name="Graphic 29">
            <a:extLst>
              <a:ext uri="{FF2B5EF4-FFF2-40B4-BE49-F238E27FC236}">
                <a16:creationId xmlns:a16="http://schemas.microsoft.com/office/drawing/2014/main" id="{C4AF1507-E20C-3C88-96C6-EEC70592A46B}"/>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184518" y="969875"/>
            <a:ext cx="1254919" cy="892682"/>
          </a:xfrm>
          <a:prstGeom prst="rect">
            <a:avLst/>
          </a:prstGeom>
        </p:spPr>
      </p:pic>
      <p:pic>
        <p:nvPicPr>
          <p:cNvPr id="32" name="Graphic 31">
            <a:extLst>
              <a:ext uri="{FF2B5EF4-FFF2-40B4-BE49-F238E27FC236}">
                <a16:creationId xmlns:a16="http://schemas.microsoft.com/office/drawing/2014/main" id="{106C38F5-B746-3F03-8F58-F6C4FA91538E}"/>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4556918" y="1358513"/>
            <a:ext cx="1769045" cy="956016"/>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a:graphicFrameLocks noGrp="1"/>
          </p:cNvGraphicFramePr>
          <p:nvPr/>
        </p:nvGraphicFramePr>
        <p:xfrm>
          <a:off x="3912145" y="4365710"/>
          <a:ext cx="2291431" cy="1411089"/>
        </p:xfrm>
        <a:graphic>
          <a:graphicData uri="http://schemas.openxmlformats.org/drawingml/2006/chart">
            <c:chart xmlns:c="http://schemas.openxmlformats.org/drawingml/2006/chart" xmlns:r="http://schemas.openxmlformats.org/officeDocument/2006/relationships" r:id="rId2"/>
          </a:graphicData>
        </a:graphic>
      </p:graphicFrame>
      <p:sp>
        <p:nvSpPr>
          <p:cNvPr id="3" name="Wave 2"/>
          <p:cNvSpPr/>
          <p:nvPr/>
        </p:nvSpPr>
        <p:spPr>
          <a:xfrm>
            <a:off x="10575899" y="1717420"/>
            <a:ext cx="440943" cy="714389"/>
          </a:xfrm>
          <a:prstGeom prst="wave">
            <a:avLst/>
          </a:prstGeom>
          <a:solidFill>
            <a:srgbClr val="5492AF"/>
          </a:solidFill>
          <a:ln w="19311">
            <a:solidFill>
              <a:srgbClr val="25ACD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5642" y="3349532"/>
            <a:ext cx="1015439" cy="1693384"/>
          </a:xfrm>
          <a:prstGeom prst="rect">
            <a:avLst/>
          </a:prstGeom>
          <a:noFill/>
        </p:spPr>
        <p:txBody>
          <a:bodyPr wrap="none" lIns="28444" tIns="28444" rIns="28444" bIns="28444">
            <a:spAutoFit/>
          </a:bodyPr>
          <a:lstStyle/>
          <a:p>
            <a:r>
              <a:rPr sz="1800" b="0" i="0" u="none">
                <a:solidFill>
                  <a:srgbClr val="DA6260"/>
                </a:solidFill>
                <a:latin typeface="Trebuchet MS"/>
              </a:rPr>
              <a:t>Density Layer Precision Zone Module Moment Template Plan Source Narrative State Alignment Stream Station Reserve Stage Result Impact Order Plan Lens Access Report Core</a:t>
            </a:r>
          </a:p>
        </p:txBody>
      </p:sp>
      <p:sp>
        <p:nvSpPr>
          <p:cNvPr id="5" name="Left-Right Arrow 4"/>
          <p:cNvSpPr/>
          <p:nvPr/>
        </p:nvSpPr>
        <p:spPr>
          <a:xfrm>
            <a:off x="5246726" y="6155767"/>
            <a:ext cx="931754" cy="365779"/>
          </a:xfrm>
          <a:prstGeom prst="leftRightArrow">
            <a:avLst/>
          </a:prstGeom>
          <a:solidFill>
            <a:srgbClr val="50D68F"/>
          </a:solidFill>
          <a:ln w="30046">
            <a:solidFill>
              <a:srgbClr val="B1D6A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_example_image.jpg"/>
          <p:cNvPicPr>
            <a:picLocks noChangeAspect="1"/>
          </p:cNvPicPr>
          <p:nvPr/>
        </p:nvPicPr>
        <p:blipFill>
          <a:blip r:embed="rId3"/>
          <a:srcRect/>
          <a:stretch>
            <a:fillRect/>
          </a:stretch>
        </p:blipFill>
        <p:spPr>
          <a:xfrm>
            <a:off x="743010" y="4563461"/>
            <a:ext cx="1955028" cy="1015138"/>
          </a:xfrm>
          <a:prstGeom prst="rect">
            <a:avLst/>
          </a:prstGeom>
        </p:spPr>
      </p:pic>
      <p:sp>
        <p:nvSpPr>
          <p:cNvPr id="7" name="Rounded Rectangle 6"/>
          <p:cNvSpPr/>
          <p:nvPr/>
        </p:nvSpPr>
        <p:spPr>
          <a:xfrm>
            <a:off x="743010" y="4563461"/>
            <a:ext cx="1955028" cy="1015138"/>
          </a:xfrm>
          <a:prstGeom prst="roundRect">
            <a:avLst/>
          </a:prstGeom>
          <a:noFill/>
          <a:ln w="15240">
            <a:solidFill>
              <a:srgbClr val="76C09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53212" y="3479167"/>
            <a:ext cx="901622" cy="868025"/>
          </a:xfrm>
          <a:prstGeom prst="rect">
            <a:avLst/>
          </a:prstGeom>
          <a:noFill/>
        </p:spPr>
        <p:txBody>
          <a:bodyPr wrap="none" lIns="68578" tIns="68578" rIns="68578" bIns="68578">
            <a:spAutoFit/>
          </a:bodyPr>
          <a:lstStyle/>
          <a:p>
            <a:r>
              <a:rPr sz="1100" b="0" i="0" u="none">
                <a:solidFill>
                  <a:srgbClr val="88BDDB"/>
                </a:solidFill>
                <a:latin typeface="Arial"/>
              </a:rPr>
              <a:t>Feature Beacon Event</a:t>
            </a:r>
          </a:p>
        </p:txBody>
      </p:sp>
      <p:graphicFrame>
        <p:nvGraphicFramePr>
          <p:cNvPr id="9" name="Table 8"/>
          <p:cNvGraphicFramePr>
            <a:graphicFrameLocks noGrp="1"/>
          </p:cNvGraphicFramePr>
          <p:nvPr/>
        </p:nvGraphicFramePr>
        <p:xfrm>
          <a:off x="6729552" y="2050272"/>
          <a:ext cx="2580145" cy="1012798"/>
        </p:xfrm>
        <a:graphic>
          <a:graphicData uri="http://schemas.openxmlformats.org/drawingml/2006/table">
            <a:tbl>
              <a:tblPr firstRow="1" bandRow="1">
                <a:tableStyleId>{5C22544A-7EE6-4342-B048-85BDC9FD1C3A}</a:tableStyleId>
              </a:tblPr>
              <a:tblGrid>
                <a:gridCol w="516029">
                  <a:extLst>
                    <a:ext uri="{9D8B030D-6E8A-4147-A177-3AD203B41FA5}">
                      <a16:colId xmlns:a16="http://schemas.microsoft.com/office/drawing/2014/main" val="20000"/>
                    </a:ext>
                  </a:extLst>
                </a:gridCol>
                <a:gridCol w="516029">
                  <a:extLst>
                    <a:ext uri="{9D8B030D-6E8A-4147-A177-3AD203B41FA5}">
                      <a16:colId xmlns:a16="http://schemas.microsoft.com/office/drawing/2014/main" val="20001"/>
                    </a:ext>
                  </a:extLst>
                </a:gridCol>
                <a:gridCol w="516029">
                  <a:extLst>
                    <a:ext uri="{9D8B030D-6E8A-4147-A177-3AD203B41FA5}">
                      <a16:colId xmlns:a16="http://schemas.microsoft.com/office/drawing/2014/main" val="20002"/>
                    </a:ext>
                  </a:extLst>
                </a:gridCol>
                <a:gridCol w="516029">
                  <a:extLst>
                    <a:ext uri="{9D8B030D-6E8A-4147-A177-3AD203B41FA5}">
                      <a16:colId xmlns:a16="http://schemas.microsoft.com/office/drawing/2014/main" val="20003"/>
                    </a:ext>
                  </a:extLst>
                </a:gridCol>
                <a:gridCol w="516029">
                  <a:extLst>
                    <a:ext uri="{9D8B030D-6E8A-4147-A177-3AD203B41FA5}">
                      <a16:colId xmlns:a16="http://schemas.microsoft.com/office/drawing/2014/main" val="20004"/>
                    </a:ext>
                  </a:extLst>
                </a:gridCol>
              </a:tblGrid>
              <a:tr h="168799">
                <a:tc>
                  <a:txBody>
                    <a:bodyPr/>
                    <a:lstStyle/>
                    <a:p>
                      <a:r>
                        <a:rPr sz="1000" b="0">
                          <a:solidFill>
                            <a:srgbClr val="E66981"/>
                          </a:solidFill>
                        </a:rPr>
                        <a:t>Goal Circuit</a:t>
                      </a:r>
                    </a:p>
                  </a:txBody>
                  <a:tcPr>
                    <a:solidFill>
                      <a:srgbClr val="FAFBF0"/>
                    </a:solidFill>
                  </a:tcPr>
                </a:tc>
                <a:tc>
                  <a:txBody>
                    <a:bodyPr/>
                    <a:lstStyle/>
                    <a:p>
                      <a:r>
                        <a:rPr sz="1000" b="0">
                          <a:solidFill>
                            <a:srgbClr val="E66981"/>
                          </a:solidFill>
                        </a:rPr>
                        <a:t>Relay Texture</a:t>
                      </a:r>
                    </a:p>
                  </a:txBody>
                  <a:tcPr>
                    <a:solidFill>
                      <a:srgbClr val="EBF2C4"/>
                    </a:solidFill>
                  </a:tcPr>
                </a:tc>
                <a:tc>
                  <a:txBody>
                    <a:bodyPr/>
                    <a:lstStyle/>
                    <a:p>
                      <a:r>
                        <a:rPr sz="1000" b="0">
                          <a:solidFill>
                            <a:srgbClr val="E66981"/>
                          </a:solidFill>
                        </a:rPr>
                        <a:t>Pattern Signal</a:t>
                      </a:r>
                    </a:p>
                  </a:txBody>
                  <a:tcPr>
                    <a:solidFill>
                      <a:srgbClr val="FAFBF0"/>
                    </a:solidFill>
                  </a:tcPr>
                </a:tc>
                <a:tc>
                  <a:txBody>
                    <a:bodyPr/>
                    <a:lstStyle/>
                    <a:p>
                      <a:r>
                        <a:rPr sz="1000" b="0">
                          <a:solidFill>
                            <a:srgbClr val="E66981"/>
                          </a:solidFill>
                        </a:rPr>
                        <a:t>Version</a:t>
                      </a:r>
                    </a:p>
                  </a:txBody>
                  <a:tcPr>
                    <a:solidFill>
                      <a:srgbClr val="EBF2C4"/>
                    </a:solidFill>
                  </a:tcPr>
                </a:tc>
                <a:tc>
                  <a:txBody>
                    <a:bodyPr/>
                    <a:lstStyle/>
                    <a:p>
                      <a:r>
                        <a:rPr sz="1000" b="0">
                          <a:solidFill>
                            <a:srgbClr val="E66981"/>
                          </a:solidFill>
                        </a:rPr>
                        <a:t>Baseline</a:t>
                      </a:r>
                    </a:p>
                  </a:txBody>
                  <a:tcPr>
                    <a:solidFill>
                      <a:srgbClr val="FAFBF0"/>
                    </a:solidFill>
                  </a:tcPr>
                </a:tc>
                <a:extLst>
                  <a:ext uri="{0D108BD9-81ED-4DB2-BD59-A6C34878D82A}">
                    <a16:rowId xmlns:a16="http://schemas.microsoft.com/office/drawing/2014/main" val="10000"/>
                  </a:ext>
                </a:extLst>
              </a:tr>
              <a:tr h="168799">
                <a:tc>
                  <a:txBody>
                    <a:bodyPr/>
                    <a:lstStyle/>
                    <a:p>
                      <a:r>
                        <a:rPr sz="1000" b="0">
                          <a:solidFill>
                            <a:srgbClr val="E66981"/>
                          </a:solidFill>
                        </a:rPr>
                        <a:t>Runtime</a:t>
                      </a:r>
                    </a:p>
                  </a:txBody>
                  <a:tcPr>
                    <a:solidFill>
                      <a:srgbClr val="EBF2C4"/>
                    </a:solidFill>
                  </a:tcPr>
                </a:tc>
                <a:tc>
                  <a:txBody>
                    <a:bodyPr/>
                    <a:lstStyle/>
                    <a:p>
                      <a:r>
                        <a:rPr sz="1000" b="0">
                          <a:solidFill>
                            <a:srgbClr val="E66981"/>
                          </a:solidFill>
                        </a:rPr>
                        <a:t>Harbor Center</a:t>
                      </a:r>
                    </a:p>
                  </a:txBody>
                  <a:tcPr>
                    <a:solidFill>
                      <a:srgbClr val="EBF2C4"/>
                    </a:solidFill>
                  </a:tcPr>
                </a:tc>
                <a:tc>
                  <a:txBody>
                    <a:bodyPr/>
                    <a:lstStyle/>
                    <a:p>
                      <a:r>
                        <a:rPr sz="1000" b="0">
                          <a:solidFill>
                            <a:srgbClr val="E66981"/>
                          </a:solidFill>
                        </a:rPr>
                        <a:t>Layer</a:t>
                      </a:r>
                    </a:p>
                  </a:txBody>
                  <a:tcPr>
                    <a:solidFill>
                      <a:srgbClr val="EBF2C4"/>
                    </a:solidFill>
                  </a:tcPr>
                </a:tc>
                <a:tc>
                  <a:txBody>
                    <a:bodyPr/>
                    <a:lstStyle/>
                    <a:p>
                      <a:r>
                        <a:rPr sz="1000" b="0">
                          <a:solidFill>
                            <a:srgbClr val="E66981"/>
                          </a:solidFill>
                        </a:rPr>
                        <a:t>Catalog</a:t>
                      </a:r>
                    </a:p>
                  </a:txBody>
                  <a:tcPr>
                    <a:solidFill>
                      <a:srgbClr val="EBF2C4"/>
                    </a:solidFill>
                  </a:tcPr>
                </a:tc>
                <a:tc>
                  <a:txBody>
                    <a:bodyPr/>
                    <a:lstStyle/>
                    <a:p>
                      <a:r>
                        <a:rPr sz="1000" b="0">
                          <a:solidFill>
                            <a:srgbClr val="E66981"/>
                          </a:solidFill>
                        </a:rPr>
                        <a:t>Heading</a:t>
                      </a:r>
                    </a:p>
                  </a:txBody>
                  <a:tcPr>
                    <a:solidFill>
                      <a:srgbClr val="EBF2C4"/>
                    </a:solidFill>
                  </a:tcPr>
                </a:tc>
                <a:extLst>
                  <a:ext uri="{0D108BD9-81ED-4DB2-BD59-A6C34878D82A}">
                    <a16:rowId xmlns:a16="http://schemas.microsoft.com/office/drawing/2014/main" val="10001"/>
                  </a:ext>
                </a:extLst>
              </a:tr>
              <a:tr h="168799">
                <a:tc>
                  <a:txBody>
                    <a:bodyPr/>
                    <a:lstStyle/>
                    <a:p>
                      <a:r>
                        <a:rPr sz="1000" b="0">
                          <a:solidFill>
                            <a:srgbClr val="E66981"/>
                          </a:solidFill>
                        </a:rPr>
                        <a:t>Direction Interface</a:t>
                      </a:r>
                    </a:p>
                  </a:txBody>
                  <a:tcPr>
                    <a:solidFill>
                      <a:srgbClr val="FAFBF0"/>
                    </a:solidFill>
                  </a:tcPr>
                </a:tc>
                <a:tc>
                  <a:txBody>
                    <a:bodyPr/>
                    <a:lstStyle/>
                    <a:p>
                      <a:r>
                        <a:rPr sz="1000" b="0">
                          <a:solidFill>
                            <a:srgbClr val="E66981"/>
                          </a:solidFill>
                        </a:rPr>
                        <a:t>Pixel Window</a:t>
                      </a:r>
                    </a:p>
                  </a:txBody>
                  <a:tcPr>
                    <a:solidFill>
                      <a:srgbClr val="EBF2C4"/>
                    </a:solidFill>
                  </a:tcPr>
                </a:tc>
                <a:tc>
                  <a:txBody>
                    <a:bodyPr/>
                    <a:lstStyle/>
                    <a:p>
                      <a:r>
                        <a:rPr sz="1000" b="0">
                          <a:solidFill>
                            <a:srgbClr val="E66981"/>
                          </a:solidFill>
                        </a:rPr>
                        <a:t>Mode Option</a:t>
                      </a:r>
                    </a:p>
                  </a:txBody>
                  <a:tcPr>
                    <a:solidFill>
                      <a:srgbClr val="FAFBF0"/>
                    </a:solidFill>
                  </a:tcPr>
                </a:tc>
                <a:tc>
                  <a:txBody>
                    <a:bodyPr/>
                    <a:lstStyle/>
                    <a:p>
                      <a:r>
                        <a:rPr sz="1000" b="0">
                          <a:solidFill>
                            <a:srgbClr val="E66981"/>
                          </a:solidFill>
                        </a:rPr>
                        <a:t>Detail</a:t>
                      </a:r>
                    </a:p>
                  </a:txBody>
                  <a:tcPr>
                    <a:solidFill>
                      <a:srgbClr val="EBF2C4"/>
                    </a:solidFill>
                  </a:tcPr>
                </a:tc>
                <a:tc>
                  <a:txBody>
                    <a:bodyPr/>
                    <a:lstStyle/>
                    <a:p>
                      <a:r>
                        <a:rPr sz="1000" b="0">
                          <a:solidFill>
                            <a:srgbClr val="E66981"/>
                          </a:solidFill>
                        </a:rPr>
                        <a:t>Channel Domain</a:t>
                      </a:r>
                    </a:p>
                  </a:txBody>
                  <a:tcPr>
                    <a:solidFill>
                      <a:srgbClr val="FAFBF0"/>
                    </a:solidFill>
                  </a:tcPr>
                </a:tc>
                <a:extLst>
                  <a:ext uri="{0D108BD9-81ED-4DB2-BD59-A6C34878D82A}">
                    <a16:rowId xmlns:a16="http://schemas.microsoft.com/office/drawing/2014/main" val="10002"/>
                  </a:ext>
                </a:extLst>
              </a:tr>
              <a:tr h="168799">
                <a:tc>
                  <a:txBody>
                    <a:bodyPr/>
                    <a:lstStyle/>
                    <a:p>
                      <a:r>
                        <a:rPr sz="1000" b="0">
                          <a:solidFill>
                            <a:srgbClr val="E66981"/>
                          </a:solidFill>
                        </a:rPr>
                        <a:t>Program Drift</a:t>
                      </a:r>
                    </a:p>
                  </a:txBody>
                  <a:tcPr>
                    <a:solidFill>
                      <a:srgbClr val="EBF2C4"/>
                    </a:solidFill>
                  </a:tcPr>
                </a:tc>
                <a:tc>
                  <a:txBody>
                    <a:bodyPr/>
                    <a:lstStyle/>
                    <a:p>
                      <a:r>
                        <a:rPr sz="1000" b="0">
                          <a:solidFill>
                            <a:srgbClr val="E66981"/>
                          </a:solidFill>
                        </a:rPr>
                        <a:t>Register</a:t>
                      </a:r>
                    </a:p>
                  </a:txBody>
                  <a:tcPr>
                    <a:solidFill>
                      <a:srgbClr val="EBF2C4"/>
                    </a:solidFill>
                  </a:tcPr>
                </a:tc>
                <a:tc>
                  <a:txBody>
                    <a:bodyPr/>
                    <a:lstStyle/>
                    <a:p>
                      <a:r>
                        <a:rPr sz="1000" b="0">
                          <a:solidFill>
                            <a:srgbClr val="E66981"/>
                          </a:solidFill>
                        </a:rPr>
                        <a:t>Schema Atlas</a:t>
                      </a:r>
                    </a:p>
                  </a:txBody>
                  <a:tcPr>
                    <a:solidFill>
                      <a:srgbClr val="EBF2C4"/>
                    </a:solidFill>
                  </a:tcPr>
                </a:tc>
                <a:tc>
                  <a:txBody>
                    <a:bodyPr/>
                    <a:lstStyle/>
                    <a:p>
                      <a:r>
                        <a:rPr sz="1000" b="0">
                          <a:solidFill>
                            <a:srgbClr val="E66981"/>
                          </a:solidFill>
                        </a:rPr>
                        <a:t>Threshold Bridge</a:t>
                      </a:r>
                    </a:p>
                  </a:txBody>
                  <a:tcPr>
                    <a:solidFill>
                      <a:srgbClr val="EBF2C4"/>
                    </a:solidFill>
                  </a:tcPr>
                </a:tc>
                <a:tc>
                  <a:txBody>
                    <a:bodyPr/>
                    <a:lstStyle/>
                    <a:p>
                      <a:r>
                        <a:rPr sz="1000" b="0">
                          <a:solidFill>
                            <a:srgbClr val="E66981"/>
                          </a:solidFill>
                        </a:rPr>
                        <a:t>Moment Mesh</a:t>
                      </a:r>
                    </a:p>
                  </a:txBody>
                  <a:tcPr>
                    <a:solidFill>
                      <a:srgbClr val="EBF2C4"/>
                    </a:solidFill>
                  </a:tcPr>
                </a:tc>
                <a:extLst>
                  <a:ext uri="{0D108BD9-81ED-4DB2-BD59-A6C34878D82A}">
                    <a16:rowId xmlns:a16="http://schemas.microsoft.com/office/drawing/2014/main" val="10003"/>
                  </a:ext>
                </a:extLst>
              </a:tr>
              <a:tr h="168799">
                <a:tc>
                  <a:txBody>
                    <a:bodyPr/>
                    <a:lstStyle/>
                    <a:p>
                      <a:r>
                        <a:rPr sz="1000" b="0">
                          <a:solidFill>
                            <a:srgbClr val="E66981"/>
                          </a:solidFill>
                        </a:rPr>
                        <a:t>Canvas</a:t>
                      </a:r>
                    </a:p>
                  </a:txBody>
                  <a:tcPr>
                    <a:solidFill>
                      <a:srgbClr val="FAFBF0"/>
                    </a:solidFill>
                  </a:tcPr>
                </a:tc>
                <a:tc>
                  <a:txBody>
                    <a:bodyPr/>
                    <a:lstStyle/>
                    <a:p>
                      <a:r>
                        <a:rPr sz="1000" b="0">
                          <a:solidFill>
                            <a:srgbClr val="E66981"/>
                          </a:solidFill>
                        </a:rPr>
                        <a:t>Scale</a:t>
                      </a:r>
                    </a:p>
                  </a:txBody>
                  <a:tcPr>
                    <a:solidFill>
                      <a:srgbClr val="EBF2C4"/>
                    </a:solidFill>
                  </a:tcPr>
                </a:tc>
                <a:tc>
                  <a:txBody>
                    <a:bodyPr/>
                    <a:lstStyle/>
                    <a:p>
                      <a:r>
                        <a:rPr sz="1000" b="0">
                          <a:solidFill>
                            <a:srgbClr val="E66981"/>
                          </a:solidFill>
                        </a:rPr>
                        <a:t>Coverage Review</a:t>
                      </a:r>
                    </a:p>
                  </a:txBody>
                  <a:tcPr>
                    <a:solidFill>
                      <a:srgbClr val="FAFBF0"/>
                    </a:solidFill>
                  </a:tcPr>
                </a:tc>
                <a:tc>
                  <a:txBody>
                    <a:bodyPr/>
                    <a:lstStyle/>
                    <a:p>
                      <a:r>
                        <a:rPr sz="1000" b="0">
                          <a:solidFill>
                            <a:srgbClr val="E66981"/>
                          </a:solidFill>
                        </a:rPr>
                        <a:t>Case Intent</a:t>
                      </a:r>
                    </a:p>
                  </a:txBody>
                  <a:tcPr>
                    <a:solidFill>
                      <a:srgbClr val="EBF2C4"/>
                    </a:solidFill>
                  </a:tcPr>
                </a:tc>
                <a:tc>
                  <a:txBody>
                    <a:bodyPr/>
                    <a:lstStyle/>
                    <a:p>
                      <a:r>
                        <a:rPr sz="1000" b="0">
                          <a:solidFill>
                            <a:srgbClr val="E66981"/>
                          </a:solidFill>
                        </a:rPr>
                        <a:t>Atlas</a:t>
                      </a:r>
                    </a:p>
                  </a:txBody>
                  <a:tcPr>
                    <a:solidFill>
                      <a:srgbClr val="FAFBF0"/>
                    </a:solidFill>
                  </a:tcPr>
                </a:tc>
                <a:extLst>
                  <a:ext uri="{0D108BD9-81ED-4DB2-BD59-A6C34878D82A}">
                    <a16:rowId xmlns:a16="http://schemas.microsoft.com/office/drawing/2014/main" val="10004"/>
                  </a:ext>
                </a:extLst>
              </a:tr>
              <a:tr h="168803">
                <a:tc>
                  <a:txBody>
                    <a:bodyPr/>
                    <a:lstStyle/>
                    <a:p>
                      <a:r>
                        <a:rPr sz="1000" b="0">
                          <a:solidFill>
                            <a:srgbClr val="E66981"/>
                          </a:solidFill>
                        </a:rPr>
                        <a:t>Order Ratio</a:t>
                      </a:r>
                    </a:p>
                  </a:txBody>
                  <a:tcPr>
                    <a:solidFill>
                      <a:srgbClr val="EBF2C4"/>
                    </a:solidFill>
                  </a:tcPr>
                </a:tc>
                <a:tc>
                  <a:txBody>
                    <a:bodyPr/>
                    <a:lstStyle/>
                    <a:p>
                      <a:r>
                        <a:rPr sz="1000" b="0">
                          <a:solidFill>
                            <a:srgbClr val="E66981"/>
                          </a:solidFill>
                        </a:rPr>
                        <a:t>Epoch Detail</a:t>
                      </a:r>
                    </a:p>
                  </a:txBody>
                  <a:tcPr>
                    <a:solidFill>
                      <a:srgbClr val="EBF2C4"/>
                    </a:solidFill>
                  </a:tcPr>
                </a:tc>
                <a:tc>
                  <a:txBody>
                    <a:bodyPr/>
                    <a:lstStyle/>
                    <a:p>
                      <a:r>
                        <a:rPr sz="1000" b="0">
                          <a:solidFill>
                            <a:srgbClr val="E66981"/>
                          </a:solidFill>
                        </a:rPr>
                        <a:t>Source Guide</a:t>
                      </a:r>
                    </a:p>
                  </a:txBody>
                  <a:tcPr>
                    <a:solidFill>
                      <a:srgbClr val="EBF2C4"/>
                    </a:solidFill>
                  </a:tcPr>
                </a:tc>
                <a:tc>
                  <a:txBody>
                    <a:bodyPr/>
                    <a:lstStyle/>
                    <a:p>
                      <a:r>
                        <a:rPr sz="1000" b="0">
                          <a:solidFill>
                            <a:srgbClr val="E66981"/>
                          </a:solidFill>
                        </a:rPr>
                        <a:t>Proof</a:t>
                      </a:r>
                    </a:p>
                  </a:txBody>
                  <a:tcPr>
                    <a:solidFill>
                      <a:srgbClr val="EBF2C4"/>
                    </a:solidFill>
                  </a:tcPr>
                </a:tc>
                <a:tc>
                  <a:txBody>
                    <a:bodyPr/>
                    <a:lstStyle/>
                    <a:p>
                      <a:r>
                        <a:rPr sz="1000" b="0">
                          <a:solidFill>
                            <a:srgbClr val="E66981"/>
                          </a:solidFill>
                        </a:rPr>
                        <a:t>Sequence</a:t>
                      </a:r>
                    </a:p>
                  </a:txBody>
                  <a:tcPr>
                    <a:solidFill>
                      <a:srgbClr val="EBF2C4"/>
                    </a:solidFill>
                  </a:tcPr>
                </a:tc>
                <a:extLst>
                  <a:ext uri="{0D108BD9-81ED-4DB2-BD59-A6C34878D82A}">
                    <a16:rowId xmlns:a16="http://schemas.microsoft.com/office/drawing/2014/main" val="10005"/>
                  </a:ext>
                </a:extLst>
              </a:tr>
            </a:tbl>
          </a:graphicData>
        </a:graphic>
      </p:graphicFrame>
      <p:pic>
        <p:nvPicPr>
          <p:cNvPr id="10" name="Picture 9" descr="_example_image.jpg"/>
          <p:cNvPicPr>
            <a:picLocks noChangeAspect="1"/>
          </p:cNvPicPr>
          <p:nvPr/>
        </p:nvPicPr>
        <p:blipFill>
          <a:blip r:embed="rId3"/>
          <a:srcRect l="20827" t="12814" r="20664" b="3946"/>
          <a:stretch>
            <a:fillRect/>
          </a:stretch>
        </p:blipFill>
        <p:spPr>
          <a:xfrm>
            <a:off x="3702454" y="208353"/>
            <a:ext cx="1498923" cy="1971905"/>
          </a:xfrm>
          <a:prstGeom prst="rect">
            <a:avLst/>
          </a:prstGeom>
        </p:spPr>
      </p:pic>
      <p:sp>
        <p:nvSpPr>
          <p:cNvPr id="11" name="Rounded Rectangle 10"/>
          <p:cNvSpPr/>
          <p:nvPr/>
        </p:nvSpPr>
        <p:spPr>
          <a:xfrm>
            <a:off x="3702454" y="208353"/>
            <a:ext cx="1498923" cy="1971905"/>
          </a:xfrm>
          <a:prstGeom prst="roundRect">
            <a:avLst/>
          </a:prstGeom>
          <a:noFill/>
          <a:ln w="15240">
            <a:solidFill>
              <a:srgbClr val="7887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512101" y="976518"/>
            <a:ext cx="936464" cy="1789262"/>
          </a:xfrm>
          <a:prstGeom prst="rect">
            <a:avLst/>
          </a:prstGeom>
          <a:noFill/>
        </p:spPr>
        <p:txBody>
          <a:bodyPr wrap="none" lIns="23746" tIns="23746" rIns="23746" bIns="23746">
            <a:spAutoFit/>
          </a:bodyPr>
          <a:lstStyle/>
          <a:p>
            <a:r>
              <a:rPr sz="3400" b="1" i="0" u="none">
                <a:solidFill>
                  <a:srgbClr val="889EDA"/>
                </a:solidFill>
                <a:latin typeface="Aptos"/>
              </a:rPr>
              <a:t>Pixel Trend Precision Echo Proof Structure</a:t>
            </a:r>
          </a:p>
        </p:txBody>
      </p:sp>
      <p:sp>
        <p:nvSpPr>
          <p:cNvPr id="13" name="Freeform 12"/>
          <p:cNvSpPr/>
          <p:nvPr/>
        </p:nvSpPr>
        <p:spPr>
          <a:xfrm>
            <a:off x="6002841" y="3331899"/>
            <a:ext cx="1856118" cy="904156"/>
          </a:xfrm>
          <a:custGeom>
            <a:avLst/>
            <a:gdLst/>
            <a:ahLst/>
            <a:cxnLst/>
            <a:rect l="l" t="t" r="r" b="b"/>
            <a:pathLst>
              <a:path w="1856118" h="904156">
                <a:moveTo>
                  <a:pt x="0" y="200923"/>
                </a:moveTo>
                <a:lnTo>
                  <a:pt x="399166" y="0"/>
                </a:lnTo>
                <a:lnTo>
                  <a:pt x="798331" y="271247"/>
                </a:lnTo>
                <a:lnTo>
                  <a:pt x="1197496" y="30138"/>
                </a:lnTo>
                <a:lnTo>
                  <a:pt x="1856118" y="703232"/>
                </a:lnTo>
                <a:lnTo>
                  <a:pt x="1397078" y="904156"/>
                </a:lnTo>
                <a:lnTo>
                  <a:pt x="957997" y="602770"/>
                </a:lnTo>
                <a:lnTo>
                  <a:pt x="459040" y="874017"/>
                </a:lnTo>
                <a:close/>
              </a:path>
            </a:pathLst>
          </a:custGeom>
          <a:solidFill>
            <a:srgbClr val="621E62"/>
          </a:solidFill>
          <a:ln w="27649">
            <a:solidFill>
              <a:srgbClr val="3F9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a:off x="8139284" y="420413"/>
            <a:ext cx="1811903" cy="476855"/>
          </a:xfrm>
          <a:prstGeom prst="curvedConnector3">
            <a:avLst/>
          </a:prstGeom>
          <a:ln w="29836">
            <a:solidFill>
              <a:srgbClr val="5D44BD"/>
            </a:solidFill>
            <a:prstDash val="dot"/>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a:off x="6373478" y="5415911"/>
            <a:ext cx="438181" cy="685385"/>
          </a:xfrm>
          <a:prstGeom prst="triangle">
            <a:avLst/>
          </a:prstGeom>
          <a:noFill/>
          <a:ln w="16996">
            <a:solidFill>
              <a:srgbClr val="A6E55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V="1">
            <a:off x="3533325" y="2371297"/>
            <a:ext cx="1405156" cy="396932"/>
          </a:xfrm>
          <a:prstGeom prst="line">
            <a:avLst/>
          </a:prstGeom>
          <a:ln w="47655">
            <a:solidFill>
              <a:srgbClr val="7B313A"/>
            </a:solidFill>
            <a:prstDash val="solid"/>
          </a:ln>
        </p:spPr>
        <p:style>
          <a:lnRef idx="2">
            <a:schemeClr val="accent1"/>
          </a:lnRef>
          <a:fillRef idx="0">
            <a:schemeClr val="accent1"/>
          </a:fillRef>
          <a:effectRef idx="1">
            <a:schemeClr val="accent1"/>
          </a:effectRef>
          <a:fontRef idx="minor">
            <a:schemeClr val="tx1"/>
          </a:fontRef>
        </p:style>
      </p:cxnSp>
      <p:graphicFrame>
        <p:nvGraphicFramePr>
          <p:cNvPr id="17" name="Chart 16"/>
          <p:cNvGraphicFramePr>
            <a:graphicFrameLocks noGrp="1"/>
          </p:cNvGraphicFramePr>
          <p:nvPr/>
        </p:nvGraphicFramePr>
        <p:xfrm>
          <a:off x="5147925" y="152154"/>
          <a:ext cx="2381481" cy="1373009"/>
        </p:xfrm>
        <a:graphic>
          <a:graphicData uri="http://schemas.openxmlformats.org/drawingml/2006/chart">
            <c:chart xmlns:c="http://schemas.openxmlformats.org/drawingml/2006/chart" xmlns:r="http://schemas.openxmlformats.org/officeDocument/2006/relationships" r:id="rId4"/>
          </a:graphicData>
        </a:graphic>
      </p:graphicFrame>
      <p:sp>
        <p:nvSpPr>
          <p:cNvPr id="18" name="Pie 17"/>
          <p:cNvSpPr/>
          <p:nvPr/>
        </p:nvSpPr>
        <p:spPr>
          <a:xfrm>
            <a:off x="7016670" y="3844315"/>
            <a:ext cx="516719" cy="1538990"/>
          </a:xfrm>
          <a:prstGeom prst="pie">
            <a:avLst/>
          </a:prstGeom>
          <a:solidFill>
            <a:srgbClr val="E382BA"/>
          </a:solidFill>
          <a:ln w="21811">
            <a:solidFill>
              <a:srgbClr val="E1CC8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6469" y="4688690"/>
            <a:ext cx="424466" cy="1778207"/>
          </a:xfrm>
          <a:prstGeom prst="rect">
            <a:avLst/>
          </a:prstGeom>
          <a:solidFill>
            <a:srgbClr val="37B785"/>
          </a:solidFill>
        </p:spPr>
        <p:txBody>
          <a:bodyPr wrap="none" lIns="89094" tIns="89094" rIns="89094" bIns="89094">
            <a:spAutoFit/>
          </a:bodyPr>
          <a:lstStyle/>
          <a:p>
            <a:r>
              <a:rPr sz="900" b="0" i="0" u="sng">
                <a:solidFill>
                  <a:srgbClr val="3B7139"/>
                </a:solidFill>
                <a:latin typeface="Arial"/>
              </a:rPr>
              <a:t>Chart Terminal Orbit Metric Narrative Object Flow Record Beta Scale Gradient Portal</a:t>
            </a:r>
          </a:p>
        </p:txBody>
      </p:sp>
      <p:sp>
        <p:nvSpPr>
          <p:cNvPr id="20" name="Oval Callout 19"/>
          <p:cNvSpPr/>
          <p:nvPr/>
        </p:nvSpPr>
        <p:spPr>
          <a:xfrm>
            <a:off x="3431635" y="5134979"/>
            <a:ext cx="1674349" cy="235022"/>
          </a:xfrm>
          <a:prstGeom prst="wedgeEllipseCallout">
            <a:avLst/>
          </a:prstGeom>
          <a:noFill/>
          <a:ln w="16846">
            <a:solidFill>
              <a:srgbClr val="7B424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flipV="1">
            <a:off x="10972776" y="2220969"/>
            <a:ext cx="799070" cy="1510550"/>
          </a:xfrm>
          <a:prstGeom prst="bentConnector3">
            <a:avLst/>
          </a:prstGeom>
          <a:ln w="35738">
            <a:solidFill>
              <a:srgbClr val="B8B494"/>
            </a:solidFill>
            <a:prstDash val="dashDot"/>
          </a:ln>
        </p:spPr>
        <p:style>
          <a:lnRef idx="2">
            <a:schemeClr val="accent1"/>
          </a:lnRef>
          <a:fillRef idx="0">
            <a:schemeClr val="accent1"/>
          </a:fillRef>
          <a:effectRef idx="1">
            <a:schemeClr val="accent1"/>
          </a:effectRef>
          <a:fontRef idx="minor">
            <a:schemeClr val="tx1"/>
          </a:fontRef>
        </p:style>
      </p:cxnSp>
      <p:pic>
        <p:nvPicPr>
          <p:cNvPr id="22" name="Picture 21" descr="_example_image.jpg"/>
          <p:cNvPicPr>
            <a:picLocks noChangeAspect="1"/>
          </p:cNvPicPr>
          <p:nvPr/>
        </p:nvPicPr>
        <p:blipFill>
          <a:blip r:embed="rId3"/>
          <a:srcRect l="12072" t="5238" r="20857" b="12475"/>
          <a:stretch>
            <a:fillRect/>
          </a:stretch>
        </p:blipFill>
        <p:spPr>
          <a:xfrm>
            <a:off x="837134" y="3011231"/>
            <a:ext cx="1104628" cy="1146105"/>
          </a:xfrm>
          <a:prstGeom prst="rect">
            <a:avLst/>
          </a:prstGeom>
        </p:spPr>
      </p:pic>
      <p:sp>
        <p:nvSpPr>
          <p:cNvPr id="23" name="Rounded Rectangle 22"/>
          <p:cNvSpPr/>
          <p:nvPr/>
        </p:nvSpPr>
        <p:spPr>
          <a:xfrm>
            <a:off x="837134" y="3011231"/>
            <a:ext cx="1104628" cy="1146105"/>
          </a:xfrm>
          <a:prstGeom prst="roundRect">
            <a:avLst/>
          </a:prstGeom>
          <a:noFill/>
          <a:ln w="15240">
            <a:solidFill>
              <a:srgbClr val="7F81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4" name="Table 23"/>
          <p:cNvGraphicFramePr>
            <a:graphicFrameLocks noGrp="1"/>
          </p:cNvGraphicFramePr>
          <p:nvPr/>
        </p:nvGraphicFramePr>
        <p:xfrm>
          <a:off x="9063110" y="3996968"/>
          <a:ext cx="2497225" cy="1168042"/>
        </p:xfrm>
        <a:graphic>
          <a:graphicData uri="http://schemas.openxmlformats.org/drawingml/2006/table">
            <a:tbl>
              <a:tblPr firstRow="1" bandRow="1">
                <a:tableStyleId>{5C22544A-7EE6-4342-B048-85BDC9FD1C3A}</a:tableStyleId>
              </a:tblPr>
              <a:tblGrid>
                <a:gridCol w="832408">
                  <a:extLst>
                    <a:ext uri="{9D8B030D-6E8A-4147-A177-3AD203B41FA5}">
                      <a16:colId xmlns:a16="http://schemas.microsoft.com/office/drawing/2014/main" val="20000"/>
                    </a:ext>
                  </a:extLst>
                </a:gridCol>
                <a:gridCol w="832408">
                  <a:extLst>
                    <a:ext uri="{9D8B030D-6E8A-4147-A177-3AD203B41FA5}">
                      <a16:colId xmlns:a16="http://schemas.microsoft.com/office/drawing/2014/main" val="20001"/>
                    </a:ext>
                  </a:extLst>
                </a:gridCol>
                <a:gridCol w="832409">
                  <a:extLst>
                    <a:ext uri="{9D8B030D-6E8A-4147-A177-3AD203B41FA5}">
                      <a16:colId xmlns:a16="http://schemas.microsoft.com/office/drawing/2014/main" val="20002"/>
                    </a:ext>
                  </a:extLst>
                </a:gridCol>
              </a:tblGrid>
              <a:tr h="233608">
                <a:tc>
                  <a:txBody>
                    <a:bodyPr/>
                    <a:lstStyle/>
                    <a:p>
                      <a:r>
                        <a:rPr sz="1100" b="1">
                          <a:solidFill>
                            <a:srgbClr val="D9B7A7"/>
                          </a:solidFill>
                        </a:rPr>
                        <a:t>Review Lineage</a:t>
                      </a:r>
                    </a:p>
                  </a:txBody>
                  <a:tcPr>
                    <a:solidFill>
                      <a:srgbClr val="C95974"/>
                    </a:solidFill>
                  </a:tcPr>
                </a:tc>
                <a:tc>
                  <a:txBody>
                    <a:bodyPr/>
                    <a:lstStyle/>
                    <a:p>
                      <a:r>
                        <a:rPr sz="1100" b="1">
                          <a:solidFill>
                            <a:srgbClr val="D9B7A7"/>
                          </a:solidFill>
                        </a:rPr>
                        <a:t>Center</a:t>
                      </a:r>
                    </a:p>
                  </a:txBody>
                  <a:tcPr>
                    <a:solidFill>
                      <a:srgbClr val="C95974"/>
                    </a:solidFill>
                  </a:tcPr>
                </a:tc>
                <a:tc>
                  <a:txBody>
                    <a:bodyPr/>
                    <a:lstStyle/>
                    <a:p>
                      <a:r>
                        <a:rPr sz="1100" b="1">
                          <a:solidFill>
                            <a:srgbClr val="D9B7A7"/>
                          </a:solidFill>
                        </a:rPr>
                        <a:t>Response</a:t>
                      </a:r>
                    </a:p>
                  </a:txBody>
                  <a:tcPr>
                    <a:solidFill>
                      <a:srgbClr val="C95974"/>
                    </a:solidFill>
                  </a:tcPr>
                </a:tc>
                <a:extLst>
                  <a:ext uri="{0D108BD9-81ED-4DB2-BD59-A6C34878D82A}">
                    <a16:rowId xmlns:a16="http://schemas.microsoft.com/office/drawing/2014/main" val="10000"/>
                  </a:ext>
                </a:extLst>
              </a:tr>
              <a:tr h="233608">
                <a:tc>
                  <a:txBody>
                    <a:bodyPr/>
                    <a:lstStyle/>
                    <a:p>
                      <a:r>
                        <a:rPr sz="1100" b="0">
                          <a:solidFill>
                            <a:srgbClr val="D9B7A7"/>
                          </a:solidFill>
                        </a:rPr>
                        <a:t>Release</a:t>
                      </a:r>
                    </a:p>
                  </a:txBody>
                  <a:tcPr>
                    <a:solidFill>
                      <a:srgbClr val="D0EACE"/>
                    </a:solidFill>
                  </a:tcPr>
                </a:tc>
                <a:tc>
                  <a:txBody>
                    <a:bodyPr/>
                    <a:lstStyle/>
                    <a:p>
                      <a:r>
                        <a:rPr sz="1100" b="0">
                          <a:solidFill>
                            <a:srgbClr val="D9B7A7"/>
                          </a:solidFill>
                        </a:rPr>
                        <a:t>Waypoint</a:t>
                      </a:r>
                    </a:p>
                  </a:txBody>
                  <a:tcPr>
                    <a:solidFill>
                      <a:srgbClr val="D0EACE"/>
                    </a:solidFill>
                  </a:tcPr>
                </a:tc>
                <a:tc>
                  <a:txBody>
                    <a:bodyPr/>
                    <a:lstStyle/>
                    <a:p>
                      <a:r>
                        <a:rPr sz="1100" b="0">
                          <a:solidFill>
                            <a:srgbClr val="D9B7A7"/>
                          </a:solidFill>
                        </a:rPr>
                        <a:t>Trend Link</a:t>
                      </a:r>
                    </a:p>
                  </a:txBody>
                  <a:tcPr>
                    <a:solidFill>
                      <a:srgbClr val="D0EACE"/>
                    </a:solidFill>
                  </a:tcPr>
                </a:tc>
                <a:extLst>
                  <a:ext uri="{0D108BD9-81ED-4DB2-BD59-A6C34878D82A}">
                    <a16:rowId xmlns:a16="http://schemas.microsoft.com/office/drawing/2014/main" val="10001"/>
                  </a:ext>
                </a:extLst>
              </a:tr>
              <a:tr h="233608">
                <a:tc>
                  <a:txBody>
                    <a:bodyPr/>
                    <a:lstStyle/>
                    <a:p>
                      <a:r>
                        <a:rPr sz="1100" b="0">
                          <a:solidFill>
                            <a:srgbClr val="D9B7A7"/>
                          </a:solidFill>
                        </a:rPr>
                        <a:t>Compass</a:t>
                      </a:r>
                    </a:p>
                  </a:txBody>
                  <a:tcPr>
                    <a:solidFill>
                      <a:srgbClr val="D0EACE"/>
                    </a:solidFill>
                  </a:tcPr>
                </a:tc>
                <a:tc>
                  <a:txBody>
                    <a:bodyPr/>
                    <a:lstStyle/>
                    <a:p>
                      <a:r>
                        <a:rPr sz="1100" b="0">
                          <a:solidFill>
                            <a:srgbClr val="D9B7A7"/>
                          </a:solidFill>
                        </a:rPr>
                        <a:t>System Guide</a:t>
                      </a:r>
                    </a:p>
                  </a:txBody>
                  <a:tcPr>
                    <a:solidFill>
                      <a:srgbClr val="D0EACE"/>
                    </a:solidFill>
                  </a:tcPr>
                </a:tc>
                <a:tc>
                  <a:txBody>
                    <a:bodyPr/>
                    <a:lstStyle/>
                    <a:p>
                      <a:r>
                        <a:rPr sz="1100" b="0">
                          <a:solidFill>
                            <a:srgbClr val="D9B7A7"/>
                          </a:solidFill>
                        </a:rPr>
                        <a:t>Resource</a:t>
                      </a:r>
                    </a:p>
                  </a:txBody>
                  <a:tcPr>
                    <a:solidFill>
                      <a:srgbClr val="D0EACE"/>
                    </a:solidFill>
                  </a:tcPr>
                </a:tc>
                <a:extLst>
                  <a:ext uri="{0D108BD9-81ED-4DB2-BD59-A6C34878D82A}">
                    <a16:rowId xmlns:a16="http://schemas.microsoft.com/office/drawing/2014/main" val="10002"/>
                  </a:ext>
                </a:extLst>
              </a:tr>
              <a:tr h="233608">
                <a:tc>
                  <a:txBody>
                    <a:bodyPr/>
                    <a:lstStyle/>
                    <a:p>
                      <a:r>
                        <a:rPr sz="1100" b="0">
                          <a:solidFill>
                            <a:srgbClr val="D9B7A7"/>
                          </a:solidFill>
                        </a:rPr>
                        <a:t>Input</a:t>
                      </a:r>
                    </a:p>
                  </a:txBody>
                  <a:tcPr>
                    <a:solidFill>
                      <a:srgbClr val="D0EACE"/>
                    </a:solidFill>
                  </a:tcPr>
                </a:tc>
                <a:tc>
                  <a:txBody>
                    <a:bodyPr/>
                    <a:lstStyle/>
                    <a:p>
                      <a:r>
                        <a:rPr sz="1100" b="0">
                          <a:solidFill>
                            <a:srgbClr val="D9B7A7"/>
                          </a:solidFill>
                        </a:rPr>
                        <a:t>Keyline</a:t>
                      </a:r>
                    </a:p>
                  </a:txBody>
                  <a:tcPr>
                    <a:solidFill>
                      <a:srgbClr val="D0EACE"/>
                    </a:solidFill>
                  </a:tcPr>
                </a:tc>
                <a:tc>
                  <a:txBody>
                    <a:bodyPr/>
                    <a:lstStyle/>
                    <a:p>
                      <a:r>
                        <a:rPr sz="1100" b="0">
                          <a:solidFill>
                            <a:srgbClr val="D9B7A7"/>
                          </a:solidFill>
                        </a:rPr>
                        <a:t>Alignment Gradient</a:t>
                      </a:r>
                    </a:p>
                  </a:txBody>
                  <a:tcPr>
                    <a:solidFill>
                      <a:srgbClr val="D0EACE"/>
                    </a:solidFill>
                  </a:tcPr>
                </a:tc>
                <a:extLst>
                  <a:ext uri="{0D108BD9-81ED-4DB2-BD59-A6C34878D82A}">
                    <a16:rowId xmlns:a16="http://schemas.microsoft.com/office/drawing/2014/main" val="10003"/>
                  </a:ext>
                </a:extLst>
              </a:tr>
              <a:tr h="233610">
                <a:tc>
                  <a:txBody>
                    <a:bodyPr/>
                    <a:lstStyle/>
                    <a:p>
                      <a:r>
                        <a:rPr sz="1100" b="0">
                          <a:solidFill>
                            <a:srgbClr val="D9B7A7"/>
                          </a:solidFill>
                        </a:rPr>
                        <a:t>Compass Portal</a:t>
                      </a:r>
                    </a:p>
                  </a:txBody>
                  <a:tcPr>
                    <a:solidFill>
                      <a:srgbClr val="D0EACE"/>
                    </a:solidFill>
                  </a:tcPr>
                </a:tc>
                <a:tc>
                  <a:txBody>
                    <a:bodyPr/>
                    <a:lstStyle/>
                    <a:p>
                      <a:r>
                        <a:rPr sz="1100" b="0">
                          <a:solidFill>
                            <a:srgbClr val="D9B7A7"/>
                          </a:solidFill>
                        </a:rPr>
                        <a:t>Harbor Metric</a:t>
                      </a:r>
                    </a:p>
                  </a:txBody>
                  <a:tcPr>
                    <a:solidFill>
                      <a:srgbClr val="D0EACE"/>
                    </a:solidFill>
                  </a:tcPr>
                </a:tc>
                <a:tc>
                  <a:txBody>
                    <a:bodyPr/>
                    <a:lstStyle/>
                    <a:p>
                      <a:r>
                        <a:rPr sz="1100" b="0">
                          <a:solidFill>
                            <a:srgbClr val="D9B7A7"/>
                          </a:solidFill>
                        </a:rPr>
                        <a:t>Hub Release</a:t>
                      </a:r>
                    </a:p>
                  </a:txBody>
                  <a:tcPr>
                    <a:solidFill>
                      <a:srgbClr val="D0EACE"/>
                    </a:solidFill>
                  </a:tcPr>
                </a:tc>
                <a:extLst>
                  <a:ext uri="{0D108BD9-81ED-4DB2-BD59-A6C34878D82A}">
                    <a16:rowId xmlns:a16="http://schemas.microsoft.com/office/drawing/2014/main" val="10004"/>
                  </a:ext>
                </a:extLst>
              </a:tr>
            </a:tbl>
          </a:graphicData>
        </a:graphic>
      </p:graphicFrame>
      <p:sp>
        <p:nvSpPr>
          <p:cNvPr id="25" name="TextBox 24"/>
          <p:cNvSpPr txBox="1"/>
          <p:nvPr/>
        </p:nvSpPr>
        <p:spPr>
          <a:xfrm>
            <a:off x="543371" y="5640691"/>
            <a:ext cx="3928016" cy="933406"/>
          </a:xfrm>
          <a:prstGeom prst="rect">
            <a:avLst/>
          </a:prstGeom>
          <a:noFill/>
        </p:spPr>
        <p:txBody>
          <a:bodyPr wrap="none" lIns="85656" tIns="85656" rIns="85656" bIns="85656">
            <a:spAutoFit/>
          </a:bodyPr>
          <a:lstStyle/>
          <a:p>
            <a:r>
              <a:rPr sz="5800" b="1" i="0" u="none">
                <a:solidFill>
                  <a:srgbClr val="D33FBC"/>
                </a:solidFill>
                <a:latin typeface="Trebuchet MS"/>
              </a:rPr>
              <a:t>Timeline Scale Signal Spectrum Bundle Reference Surface</a:t>
            </a:r>
          </a:p>
        </p:txBody>
      </p:sp>
      <p:sp>
        <p:nvSpPr>
          <p:cNvPr id="26" name="Left Right Ribbon 25"/>
          <p:cNvSpPr/>
          <p:nvPr/>
        </p:nvSpPr>
        <p:spPr>
          <a:xfrm>
            <a:off x="1167353" y="846314"/>
            <a:ext cx="2317274" cy="1727591"/>
          </a:xfrm>
          <a:prstGeom prst="leftRightRibbon">
            <a:avLst/>
          </a:prstGeom>
          <a:solidFill>
            <a:srgbClr val="7B61BA"/>
          </a:solidFill>
          <a:ln w="24545">
            <a:solidFill>
              <a:srgbClr val="3A626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1985" y="911840"/>
            <a:ext cx="2507329" cy="726091"/>
          </a:xfrm>
          <a:prstGeom prst="rect">
            <a:avLst/>
          </a:prstGeom>
          <a:noFill/>
        </p:spPr>
        <p:txBody>
          <a:bodyPr wrap="none" lIns="66223" tIns="66223" rIns="66223" bIns="66223">
            <a:spAutoFit/>
          </a:bodyPr>
          <a:lstStyle/>
          <a:p>
            <a:r>
              <a:rPr sz="2900" b="0" i="0" u="none">
                <a:solidFill>
                  <a:srgbClr val="2641B1"/>
                </a:solidFill>
                <a:latin typeface="Trebuchet MS"/>
              </a:rPr>
              <a:t>Signal Journey Channel Keyline Library Node Velocity Runtime Insight Adaptive Scope Sequence Array Event</a:t>
            </a:r>
          </a:p>
        </p:txBody>
      </p:sp>
      <p:sp>
        <p:nvSpPr>
          <p:cNvPr id="28" name="Octagon 27"/>
          <p:cNvSpPr/>
          <p:nvPr/>
        </p:nvSpPr>
        <p:spPr>
          <a:xfrm>
            <a:off x="5602998" y="1694755"/>
            <a:ext cx="378806" cy="1559009"/>
          </a:xfrm>
          <a:prstGeom prst="octagon">
            <a:avLst/>
          </a:prstGeom>
          <a:solidFill>
            <a:srgbClr val="7764D1"/>
          </a:solidFill>
          <a:ln w="18259">
            <a:solidFill>
              <a:srgbClr val="DEAEA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9413970" y="3174459"/>
            <a:ext cx="1902246" cy="688382"/>
          </a:xfrm>
          <a:custGeom>
            <a:avLst/>
            <a:gdLst/>
            <a:ahLst/>
            <a:cxnLst/>
            <a:rect l="l" t="t" r="r" b="b"/>
            <a:pathLst>
              <a:path w="1902246" h="688382">
                <a:moveTo>
                  <a:pt x="0" y="152974"/>
                </a:moveTo>
                <a:lnTo>
                  <a:pt x="409085" y="0"/>
                </a:lnTo>
                <a:lnTo>
                  <a:pt x="818170" y="206515"/>
                </a:lnTo>
                <a:lnTo>
                  <a:pt x="1227256" y="22946"/>
                </a:lnTo>
                <a:lnTo>
                  <a:pt x="1902246" y="535408"/>
                </a:lnTo>
                <a:lnTo>
                  <a:pt x="1431798" y="688382"/>
                </a:lnTo>
                <a:lnTo>
                  <a:pt x="981804" y="458922"/>
                </a:lnTo>
                <a:lnTo>
                  <a:pt x="470448" y="665436"/>
                </a:lnTo>
                <a:close/>
              </a:path>
            </a:pathLst>
          </a:custGeom>
          <a:solidFill>
            <a:srgbClr val="635575"/>
          </a:solidFill>
          <a:ln w="32589">
            <a:solidFill>
              <a:srgbClr val="94A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Graphic 30">
            <a:extLst>
              <a:ext uri="{FF2B5EF4-FFF2-40B4-BE49-F238E27FC236}">
                <a16:creationId xmlns:a16="http://schemas.microsoft.com/office/drawing/2014/main" id="{DE8CD559-8008-52C4-4B12-26C5A75F9FF4}"/>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73225" y="2125107"/>
            <a:ext cx="962178" cy="947360"/>
          </a:xfrm>
          <a:prstGeom prst="rect">
            <a:avLst/>
          </a:prstGeom>
        </p:spPr>
      </p:pic>
      <p:pic>
        <p:nvPicPr>
          <p:cNvPr id="33" name="Graphic 32">
            <a:extLst>
              <a:ext uri="{FF2B5EF4-FFF2-40B4-BE49-F238E27FC236}">
                <a16:creationId xmlns:a16="http://schemas.microsoft.com/office/drawing/2014/main" id="{E3810DFA-C204-4BCF-9365-A6813537DEC3}"/>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8241716" y="5487369"/>
            <a:ext cx="1932086" cy="92910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11180848" y="2263384"/>
            <a:ext cx="771883" cy="920244"/>
          </a:xfrm>
          <a:custGeom>
            <a:avLst/>
            <a:gdLst/>
            <a:ahLst/>
            <a:cxnLst/>
            <a:rect l="l" t="t" r="r" b="b"/>
            <a:pathLst>
              <a:path w="771883" h="920244">
                <a:moveTo>
                  <a:pt x="0" y="447341"/>
                </a:moveTo>
                <a:lnTo>
                  <a:pt x="132797" y="0"/>
                </a:lnTo>
                <a:lnTo>
                  <a:pt x="273894" y="383435"/>
                </a:lnTo>
                <a:lnTo>
                  <a:pt x="414991" y="766870"/>
                </a:lnTo>
                <a:lnTo>
                  <a:pt x="564387" y="319529"/>
                </a:lnTo>
                <a:lnTo>
                  <a:pt x="771883" y="485684"/>
                </a:lnTo>
                <a:lnTo>
                  <a:pt x="771883" y="920244"/>
                </a:lnTo>
                <a:lnTo>
                  <a:pt x="0" y="920244"/>
                </a:lnTo>
                <a:close/>
              </a:path>
            </a:pathLst>
          </a:custGeom>
          <a:solidFill>
            <a:srgbClr val="31C5A6"/>
          </a:solidFill>
          <a:ln w="20082">
            <a:solidFill>
              <a:srgbClr val="DE589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8715479" y="3742372"/>
            <a:ext cx="1768995" cy="801197"/>
          </a:xfrm>
          <a:prstGeom prst="bentConnector3">
            <a:avLst/>
          </a:prstGeom>
          <a:ln w="37632">
            <a:solidFill>
              <a:srgbClr val="749892"/>
            </a:solidFill>
            <a:prstDash val="dashDot"/>
          </a:ln>
        </p:spPr>
        <p:style>
          <a:lnRef idx="2">
            <a:schemeClr val="accent1"/>
          </a:lnRef>
          <a:fillRef idx="0">
            <a:schemeClr val="accent1"/>
          </a:fillRef>
          <a:effectRef idx="1">
            <a:schemeClr val="accent1"/>
          </a:effectRef>
          <a:fontRef idx="minor">
            <a:schemeClr val="tx1"/>
          </a:fontRef>
        </p:style>
      </p:cxnSp>
      <p:pic>
        <p:nvPicPr>
          <p:cNvPr id="4" name="Picture 3" descr="_example_image.jpg"/>
          <p:cNvPicPr>
            <a:picLocks noChangeAspect="1"/>
          </p:cNvPicPr>
          <p:nvPr/>
        </p:nvPicPr>
        <p:blipFill>
          <a:blip r:embed="rId2"/>
          <a:srcRect l="13834" t="8076" r="21220" b="7368"/>
          <a:stretch>
            <a:fillRect/>
          </a:stretch>
        </p:blipFill>
        <p:spPr>
          <a:xfrm>
            <a:off x="4067032" y="3971909"/>
            <a:ext cx="1349690" cy="1364773"/>
          </a:xfrm>
          <a:prstGeom prst="rect">
            <a:avLst/>
          </a:prstGeom>
        </p:spPr>
      </p:pic>
      <p:sp>
        <p:nvSpPr>
          <p:cNvPr id="5" name="Rounded Rectangle 4"/>
          <p:cNvSpPr/>
          <p:nvPr/>
        </p:nvSpPr>
        <p:spPr>
          <a:xfrm>
            <a:off x="4067032" y="3971909"/>
            <a:ext cx="1349690" cy="1364773"/>
          </a:xfrm>
          <a:prstGeom prst="roundRect">
            <a:avLst/>
          </a:prstGeom>
          <a:noFill/>
          <a:ln w="15240">
            <a:solidFill>
              <a:srgbClr val="56249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92681" y="3925670"/>
            <a:ext cx="1024956" cy="810821"/>
          </a:xfrm>
          <a:prstGeom prst="rect">
            <a:avLst/>
          </a:prstGeom>
          <a:noFill/>
        </p:spPr>
        <p:txBody>
          <a:bodyPr wrap="none" lIns="26847" tIns="26847" rIns="26847" bIns="26847">
            <a:spAutoFit/>
          </a:bodyPr>
          <a:lstStyle/>
          <a:p>
            <a:r>
              <a:rPr sz="1000" b="0" i="0" u="none">
                <a:solidFill>
                  <a:srgbClr val="713650"/>
                </a:solidFill>
                <a:latin typeface="Calibri"/>
              </a:rPr>
              <a:t>Command Build Pipeline Payload Intent Node Switch Cell Terminal Detail Energy Indicator Iteration Dispatch Echo Duration Exchange Measure Story System Ratio Relay Window Transform Asset Vector Spectrum Checkpoint Journey Release Runtime Wave Link Cortex Scope Signal Sync Data Switch Service Reference Checkpoint Pulse Foundation Measure</a:t>
            </a:r>
          </a:p>
        </p:txBody>
      </p:sp>
      <p:sp>
        <p:nvSpPr>
          <p:cNvPr id="7" name="Freeform 6"/>
          <p:cNvSpPr/>
          <p:nvPr/>
        </p:nvSpPr>
        <p:spPr>
          <a:xfrm>
            <a:off x="8403734" y="4717716"/>
            <a:ext cx="1145333" cy="1256448"/>
          </a:xfrm>
          <a:custGeom>
            <a:avLst/>
            <a:gdLst/>
            <a:ahLst/>
            <a:cxnLst/>
            <a:rect l="l" t="t" r="r" b="b"/>
            <a:pathLst>
              <a:path w="1145333" h="1256448">
                <a:moveTo>
                  <a:pt x="572666" y="0"/>
                </a:moveTo>
                <a:lnTo>
                  <a:pt x="715833" y="314112"/>
                </a:lnTo>
                <a:lnTo>
                  <a:pt x="1073750" y="226160"/>
                </a:lnTo>
                <a:lnTo>
                  <a:pt x="870930" y="628224"/>
                </a:lnTo>
                <a:lnTo>
                  <a:pt x="1145333" y="980029"/>
                </a:lnTo>
                <a:lnTo>
                  <a:pt x="715833" y="904642"/>
                </a:lnTo>
                <a:lnTo>
                  <a:pt x="572666" y="1256448"/>
                </a:lnTo>
                <a:lnTo>
                  <a:pt x="429500" y="904642"/>
                </a:lnTo>
                <a:lnTo>
                  <a:pt x="0" y="980029"/>
                </a:lnTo>
                <a:lnTo>
                  <a:pt x="274403" y="628224"/>
                </a:lnTo>
                <a:lnTo>
                  <a:pt x="71583" y="226160"/>
                </a:lnTo>
                <a:lnTo>
                  <a:pt x="429500" y="314112"/>
                </a:lnTo>
                <a:close/>
              </a:path>
            </a:pathLst>
          </a:custGeom>
          <a:solidFill>
            <a:srgbClr val="7A7E4E"/>
          </a:solidFill>
          <a:ln w="32174">
            <a:solidFill>
              <a:srgbClr val="C08F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54616" y="3521427"/>
            <a:ext cx="615031" cy="1554028"/>
          </a:xfrm>
          <a:prstGeom prst="rect">
            <a:avLst/>
          </a:prstGeom>
          <a:solidFill>
            <a:srgbClr val="D3291E"/>
          </a:solidFill>
        </p:spPr>
        <p:txBody>
          <a:bodyPr wrap="none" lIns="31078" tIns="31078" rIns="31078" bIns="31078">
            <a:spAutoFit/>
          </a:bodyPr>
          <a:lstStyle/>
          <a:p>
            <a:r>
              <a:rPr sz="1000" b="0" i="0" u="none">
                <a:solidFill>
                  <a:srgbClr val="D9A165"/>
                </a:solidFill>
                <a:latin typeface="Arial"/>
              </a:rPr>
              <a:t>Duration Sync Epoch Limit Capacity Cell Sample Surface Topology Trend Coverage Report Discovery Goal Density Circuit Review Field</a:t>
            </a:r>
          </a:p>
        </p:txBody>
      </p:sp>
      <p:graphicFrame>
        <p:nvGraphicFramePr>
          <p:cNvPr id="9" name="Chart 8"/>
          <p:cNvGraphicFramePr>
            <a:graphicFrameLocks noGrp="1"/>
          </p:cNvGraphicFramePr>
          <p:nvPr/>
        </p:nvGraphicFramePr>
        <p:xfrm>
          <a:off x="1591066" y="2532381"/>
          <a:ext cx="2092658" cy="201381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9"/>
          <p:cNvGraphicFramePr>
            <a:graphicFrameLocks noGrp="1"/>
          </p:cNvGraphicFramePr>
          <p:nvPr/>
        </p:nvGraphicFramePr>
        <p:xfrm>
          <a:off x="4826437" y="289870"/>
          <a:ext cx="2907516" cy="1125044"/>
        </p:xfrm>
        <a:graphic>
          <a:graphicData uri="http://schemas.openxmlformats.org/drawingml/2006/table">
            <a:tbl>
              <a:tblPr firstRow="1" bandRow="1">
                <a:tableStyleId>{5C22544A-7EE6-4342-B048-85BDC9FD1C3A}</a:tableStyleId>
              </a:tblPr>
              <a:tblGrid>
                <a:gridCol w="1453758">
                  <a:extLst>
                    <a:ext uri="{9D8B030D-6E8A-4147-A177-3AD203B41FA5}">
                      <a16:colId xmlns:a16="http://schemas.microsoft.com/office/drawing/2014/main" val="20000"/>
                    </a:ext>
                  </a:extLst>
                </a:gridCol>
                <a:gridCol w="1453758">
                  <a:extLst>
                    <a:ext uri="{9D8B030D-6E8A-4147-A177-3AD203B41FA5}">
                      <a16:colId xmlns:a16="http://schemas.microsoft.com/office/drawing/2014/main" val="20001"/>
                    </a:ext>
                  </a:extLst>
                </a:gridCol>
              </a:tblGrid>
              <a:tr h="375014">
                <a:tc>
                  <a:txBody>
                    <a:bodyPr/>
                    <a:lstStyle/>
                    <a:p>
                      <a:r>
                        <a:rPr sz="1100" b="1">
                          <a:solidFill>
                            <a:srgbClr val="23C76C"/>
                          </a:solidFill>
                        </a:rPr>
                        <a:t>Radius</a:t>
                      </a:r>
                    </a:p>
                  </a:txBody>
                  <a:tcPr>
                    <a:solidFill>
                      <a:srgbClr val="B2ACD7"/>
                    </a:solidFill>
                  </a:tcPr>
                </a:tc>
                <a:tc>
                  <a:txBody>
                    <a:bodyPr/>
                    <a:lstStyle/>
                    <a:p>
                      <a:r>
                        <a:rPr sz="1100" b="1">
                          <a:solidFill>
                            <a:srgbClr val="23C76C"/>
                          </a:solidFill>
                        </a:rPr>
                        <a:t>Access Object</a:t>
                      </a:r>
                    </a:p>
                  </a:txBody>
                  <a:tcPr>
                    <a:solidFill>
                      <a:srgbClr val="B2ACD7"/>
                    </a:solidFill>
                  </a:tcPr>
                </a:tc>
                <a:extLst>
                  <a:ext uri="{0D108BD9-81ED-4DB2-BD59-A6C34878D82A}">
                    <a16:rowId xmlns:a16="http://schemas.microsoft.com/office/drawing/2014/main" val="10000"/>
                  </a:ext>
                </a:extLst>
              </a:tr>
              <a:tr h="375014">
                <a:tc>
                  <a:txBody>
                    <a:bodyPr/>
                    <a:lstStyle/>
                    <a:p>
                      <a:r>
                        <a:rPr sz="1100" b="0">
                          <a:solidFill>
                            <a:srgbClr val="23C76C"/>
                          </a:solidFill>
                        </a:rPr>
                        <a:t>Archive</a:t>
                      </a:r>
                    </a:p>
                  </a:txBody>
                  <a:tcPr>
                    <a:solidFill>
                      <a:srgbClr val="F7F4F5"/>
                    </a:solidFill>
                  </a:tcPr>
                </a:tc>
                <a:tc>
                  <a:txBody>
                    <a:bodyPr/>
                    <a:lstStyle/>
                    <a:p>
                      <a:r>
                        <a:rPr sz="1100" b="0">
                          <a:solidFill>
                            <a:srgbClr val="23C76C"/>
                          </a:solidFill>
                        </a:rPr>
                        <a:t>Interval</a:t>
                      </a:r>
                    </a:p>
                  </a:txBody>
                  <a:tcPr>
                    <a:solidFill>
                      <a:srgbClr val="F7F4F5"/>
                    </a:solidFill>
                  </a:tcPr>
                </a:tc>
                <a:extLst>
                  <a:ext uri="{0D108BD9-81ED-4DB2-BD59-A6C34878D82A}">
                    <a16:rowId xmlns:a16="http://schemas.microsoft.com/office/drawing/2014/main" val="10001"/>
                  </a:ext>
                </a:extLst>
              </a:tr>
              <a:tr h="375016">
                <a:tc>
                  <a:txBody>
                    <a:bodyPr/>
                    <a:lstStyle/>
                    <a:p>
                      <a:r>
                        <a:rPr sz="1100" b="0">
                          <a:solidFill>
                            <a:srgbClr val="23C76C"/>
                          </a:solidFill>
                        </a:rPr>
                        <a:t>Switch</a:t>
                      </a:r>
                    </a:p>
                  </a:txBody>
                  <a:tcPr>
                    <a:solidFill>
                      <a:srgbClr val="F7F4F5"/>
                    </a:solidFill>
                  </a:tcPr>
                </a:tc>
                <a:tc>
                  <a:txBody>
                    <a:bodyPr/>
                    <a:lstStyle/>
                    <a:p>
                      <a:r>
                        <a:rPr sz="1100" b="0">
                          <a:solidFill>
                            <a:srgbClr val="23C76C"/>
                          </a:solidFill>
                        </a:rPr>
                        <a:t>Object</a:t>
                      </a:r>
                    </a:p>
                  </a:txBody>
                  <a:tcPr>
                    <a:solidFill>
                      <a:srgbClr val="F7F4F5"/>
                    </a:solidFill>
                  </a:tcPr>
                </a:tc>
                <a:extLst>
                  <a:ext uri="{0D108BD9-81ED-4DB2-BD59-A6C34878D82A}">
                    <a16:rowId xmlns:a16="http://schemas.microsoft.com/office/drawing/2014/main" val="10002"/>
                  </a:ext>
                </a:extLst>
              </a:tr>
            </a:tbl>
          </a:graphicData>
        </a:graphic>
      </p:graphicFrame>
      <p:sp>
        <p:nvSpPr>
          <p:cNvPr id="11" name="Oval Callout 10"/>
          <p:cNvSpPr/>
          <p:nvPr/>
        </p:nvSpPr>
        <p:spPr>
          <a:xfrm>
            <a:off x="3475589" y="936368"/>
            <a:ext cx="460109" cy="452116"/>
          </a:xfrm>
          <a:prstGeom prst="wedgeEllipseCallout">
            <a:avLst/>
          </a:prstGeom>
          <a:noFill/>
          <a:ln w="23429">
            <a:solidFill>
              <a:srgbClr val="928AB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_example_image.jpg"/>
          <p:cNvPicPr>
            <a:picLocks noChangeAspect="1"/>
          </p:cNvPicPr>
          <p:nvPr/>
        </p:nvPicPr>
        <p:blipFill>
          <a:blip r:embed="rId2"/>
          <a:srcRect l="13603" t="11677" r="11644" b="807"/>
          <a:stretch>
            <a:fillRect/>
          </a:stretch>
        </p:blipFill>
        <p:spPr>
          <a:xfrm>
            <a:off x="9616787" y="5019985"/>
            <a:ext cx="2239826" cy="869789"/>
          </a:xfrm>
          <a:prstGeom prst="rect">
            <a:avLst/>
          </a:prstGeom>
        </p:spPr>
      </p:pic>
      <p:sp>
        <p:nvSpPr>
          <p:cNvPr id="13" name="Rounded Rectangle 12"/>
          <p:cNvSpPr/>
          <p:nvPr/>
        </p:nvSpPr>
        <p:spPr>
          <a:xfrm>
            <a:off x="9616787" y="5019985"/>
            <a:ext cx="2239826" cy="869789"/>
          </a:xfrm>
          <a:prstGeom prst="roundRect">
            <a:avLst/>
          </a:prstGeom>
          <a:noFill/>
          <a:ln w="15240">
            <a:solidFill>
              <a:srgbClr val="5A8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Up Arrow 13"/>
          <p:cNvSpPr/>
          <p:nvPr/>
        </p:nvSpPr>
        <p:spPr>
          <a:xfrm>
            <a:off x="8484231" y="4699565"/>
            <a:ext cx="1555130" cy="431957"/>
          </a:xfrm>
          <a:prstGeom prst="upArrow">
            <a:avLst/>
          </a:prstGeom>
          <a:solidFill>
            <a:srgbClr val="4C281B"/>
          </a:solidFill>
          <a:ln w="11035">
            <a:solidFill>
              <a:srgbClr val="38A4B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onut 14"/>
          <p:cNvSpPr/>
          <p:nvPr/>
        </p:nvSpPr>
        <p:spPr>
          <a:xfrm>
            <a:off x="4347630" y="2095465"/>
            <a:ext cx="1168130" cy="1806288"/>
          </a:xfrm>
          <a:prstGeom prst="donut">
            <a:avLst/>
          </a:prstGeom>
          <a:noFill/>
          <a:ln w="7151">
            <a:solidFill>
              <a:srgbClr val="76CF78"/>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71471" y="4092202"/>
            <a:ext cx="797977" cy="2000886"/>
          </a:xfrm>
          <a:prstGeom prst="rect">
            <a:avLst/>
          </a:prstGeom>
          <a:noFill/>
        </p:spPr>
        <p:txBody>
          <a:bodyPr wrap="none" lIns="83501" tIns="83501" rIns="83501" bIns="83501">
            <a:spAutoFit/>
          </a:bodyPr>
          <a:lstStyle/>
          <a:p>
            <a:r>
              <a:rPr sz="4300" b="1" i="0" u="none">
                <a:solidFill>
                  <a:srgbClr val="2C90C1"/>
                </a:solidFill>
                <a:latin typeface="Arial"/>
              </a:rPr>
              <a:t>Panel Drift</a:t>
            </a:r>
          </a:p>
        </p:txBody>
      </p:sp>
      <p:sp>
        <p:nvSpPr>
          <p:cNvPr id="17" name="TextBox 16"/>
          <p:cNvSpPr txBox="1"/>
          <p:nvPr/>
        </p:nvSpPr>
        <p:spPr>
          <a:xfrm>
            <a:off x="8505254" y="869824"/>
            <a:ext cx="561063" cy="1380722"/>
          </a:xfrm>
          <a:prstGeom prst="rect">
            <a:avLst/>
          </a:prstGeom>
          <a:solidFill>
            <a:srgbClr val="74AC95"/>
          </a:solidFill>
        </p:spPr>
        <p:txBody>
          <a:bodyPr wrap="none" lIns="20951" tIns="20951" rIns="20951" bIns="20951">
            <a:spAutoFit/>
          </a:bodyPr>
          <a:lstStyle/>
          <a:p>
            <a:r>
              <a:rPr sz="1800" b="0" i="0" u="none">
                <a:solidFill>
                  <a:srgbClr val="386E7A"/>
                </a:solidFill>
                <a:latin typeface="Calibri"/>
              </a:rPr>
              <a:t>Horizon Trend Detail Stage Priority Compass Dimension</a:t>
            </a:r>
          </a:p>
        </p:txBody>
      </p:sp>
      <p:graphicFrame>
        <p:nvGraphicFramePr>
          <p:cNvPr id="18" name="Chart 17"/>
          <p:cNvGraphicFramePr>
            <a:graphicFrameLocks noGrp="1"/>
          </p:cNvGraphicFramePr>
          <p:nvPr/>
        </p:nvGraphicFramePr>
        <p:xfrm>
          <a:off x="2704743" y="1060824"/>
          <a:ext cx="4302258" cy="1382932"/>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p:cNvSpPr txBox="1"/>
          <p:nvPr/>
        </p:nvSpPr>
        <p:spPr>
          <a:xfrm>
            <a:off x="284413" y="2563370"/>
            <a:ext cx="805518" cy="1134530"/>
          </a:xfrm>
          <a:prstGeom prst="rect">
            <a:avLst/>
          </a:prstGeom>
          <a:noFill/>
        </p:spPr>
        <p:txBody>
          <a:bodyPr wrap="none" lIns="31980" tIns="31980" rIns="31980" bIns="31980">
            <a:spAutoFit/>
          </a:bodyPr>
          <a:lstStyle/>
          <a:p>
            <a:r>
              <a:rPr sz="2100" b="0" i="0" u="none">
                <a:solidFill>
                  <a:srgbClr val="9247C5"/>
                </a:solidFill>
                <a:latin typeface="Calibri"/>
              </a:rPr>
              <a:t>Wave Forecast Impact Harbor Version Portal Token</a:t>
            </a:r>
          </a:p>
        </p:txBody>
      </p:sp>
      <p:sp>
        <p:nvSpPr>
          <p:cNvPr id="20" name="Explosion 19"/>
          <p:cNvSpPr/>
          <p:nvPr/>
        </p:nvSpPr>
        <p:spPr>
          <a:xfrm>
            <a:off x="5890468" y="2343263"/>
            <a:ext cx="2110620" cy="1109107"/>
          </a:xfrm>
          <a:prstGeom prst="irregularSeal2">
            <a:avLst/>
          </a:prstGeom>
          <a:solidFill>
            <a:srgbClr val="6EA4E5"/>
          </a:solidFill>
          <a:ln w="29207">
            <a:solidFill>
              <a:srgbClr val="5B236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p:cNvGraphicFramePr>
            <a:graphicFrameLocks noGrp="1"/>
          </p:cNvGraphicFramePr>
          <p:nvPr/>
        </p:nvGraphicFramePr>
        <p:xfrm>
          <a:off x="802180" y="1098748"/>
          <a:ext cx="2136386" cy="1282716"/>
        </p:xfrm>
        <a:graphic>
          <a:graphicData uri="http://schemas.openxmlformats.org/drawingml/2006/table">
            <a:tbl>
              <a:tblPr firstRow="1" bandRow="1">
                <a:tableStyleId>{5C22544A-7EE6-4342-B048-85BDC9FD1C3A}</a:tableStyleId>
              </a:tblPr>
              <a:tblGrid>
                <a:gridCol w="1068193">
                  <a:extLst>
                    <a:ext uri="{9D8B030D-6E8A-4147-A177-3AD203B41FA5}">
                      <a16:colId xmlns:a16="http://schemas.microsoft.com/office/drawing/2014/main" val="20000"/>
                    </a:ext>
                  </a:extLst>
                </a:gridCol>
                <a:gridCol w="1068193">
                  <a:extLst>
                    <a:ext uri="{9D8B030D-6E8A-4147-A177-3AD203B41FA5}">
                      <a16:colId xmlns:a16="http://schemas.microsoft.com/office/drawing/2014/main" val="20001"/>
                    </a:ext>
                  </a:extLst>
                </a:gridCol>
              </a:tblGrid>
              <a:tr h="427572">
                <a:tc>
                  <a:txBody>
                    <a:bodyPr/>
                    <a:lstStyle/>
                    <a:p>
                      <a:r>
                        <a:rPr sz="700" b="1">
                          <a:solidFill>
                            <a:srgbClr val="98425D"/>
                          </a:solidFill>
                        </a:rPr>
                        <a:t>Narrative</a:t>
                      </a:r>
                    </a:p>
                  </a:txBody>
                  <a:tcPr>
                    <a:solidFill>
                      <a:srgbClr val="86CEC8"/>
                    </a:solidFill>
                  </a:tcPr>
                </a:tc>
                <a:tc>
                  <a:txBody>
                    <a:bodyPr/>
                    <a:lstStyle/>
                    <a:p>
                      <a:r>
                        <a:rPr sz="700" b="1">
                          <a:solidFill>
                            <a:srgbClr val="98425D"/>
                          </a:solidFill>
                        </a:rPr>
                        <a:t>Pattern Model</a:t>
                      </a:r>
                    </a:p>
                  </a:txBody>
                  <a:tcPr>
                    <a:solidFill>
                      <a:srgbClr val="86CEC8"/>
                    </a:solidFill>
                  </a:tcPr>
                </a:tc>
                <a:extLst>
                  <a:ext uri="{0D108BD9-81ED-4DB2-BD59-A6C34878D82A}">
                    <a16:rowId xmlns:a16="http://schemas.microsoft.com/office/drawing/2014/main" val="10000"/>
                  </a:ext>
                </a:extLst>
              </a:tr>
              <a:tr h="427572">
                <a:tc>
                  <a:txBody>
                    <a:bodyPr/>
                    <a:lstStyle/>
                    <a:p>
                      <a:r>
                        <a:rPr sz="700" b="0">
                          <a:solidFill>
                            <a:srgbClr val="98425D"/>
                          </a:solidFill>
                        </a:rPr>
                        <a:t>Hub</a:t>
                      </a:r>
                    </a:p>
                  </a:txBody>
                  <a:tcPr>
                    <a:solidFill>
                      <a:srgbClr val="EEF7ED"/>
                    </a:solidFill>
                  </a:tcPr>
                </a:tc>
                <a:tc>
                  <a:txBody>
                    <a:bodyPr/>
                    <a:lstStyle/>
                    <a:p>
                      <a:r>
                        <a:rPr sz="700" b="0">
                          <a:solidFill>
                            <a:srgbClr val="98425D"/>
                          </a:solidFill>
                        </a:rPr>
                        <a:t>Memory</a:t>
                      </a:r>
                    </a:p>
                  </a:txBody>
                  <a:tcPr>
                    <a:solidFill>
                      <a:srgbClr val="EEF7ED"/>
                    </a:solidFill>
                  </a:tcPr>
                </a:tc>
                <a:extLst>
                  <a:ext uri="{0D108BD9-81ED-4DB2-BD59-A6C34878D82A}">
                    <a16:rowId xmlns:a16="http://schemas.microsoft.com/office/drawing/2014/main" val="10001"/>
                  </a:ext>
                </a:extLst>
              </a:tr>
              <a:tr h="427572">
                <a:tc>
                  <a:txBody>
                    <a:bodyPr/>
                    <a:lstStyle/>
                    <a:p>
                      <a:r>
                        <a:rPr sz="700" b="0">
                          <a:solidFill>
                            <a:srgbClr val="98425D"/>
                          </a:solidFill>
                        </a:rPr>
                        <a:t>Panel</a:t>
                      </a:r>
                    </a:p>
                  </a:txBody>
                  <a:tcPr>
                    <a:solidFill>
                      <a:srgbClr val="EEF7ED"/>
                    </a:solidFill>
                  </a:tcPr>
                </a:tc>
                <a:tc>
                  <a:txBody>
                    <a:bodyPr/>
                    <a:lstStyle/>
                    <a:p>
                      <a:r>
                        <a:rPr sz="700" b="0">
                          <a:solidFill>
                            <a:srgbClr val="98425D"/>
                          </a:solidFill>
                        </a:rPr>
                        <a:t>Access</a:t>
                      </a:r>
                    </a:p>
                  </a:txBody>
                  <a:tcPr>
                    <a:solidFill>
                      <a:srgbClr val="EEF7ED"/>
                    </a:solidFill>
                  </a:tcPr>
                </a:tc>
                <a:extLst>
                  <a:ext uri="{0D108BD9-81ED-4DB2-BD59-A6C34878D82A}">
                    <a16:rowId xmlns:a16="http://schemas.microsoft.com/office/drawing/2014/main" val="10002"/>
                  </a:ext>
                </a:extLst>
              </a:tr>
            </a:tbl>
          </a:graphicData>
        </a:graphic>
      </p:graphicFrame>
      <p:cxnSp>
        <p:nvCxnSpPr>
          <p:cNvPr id="22" name="Connector 21"/>
          <p:cNvCxnSpPr/>
          <p:nvPr/>
        </p:nvCxnSpPr>
        <p:spPr>
          <a:xfrm flipV="1">
            <a:off x="274768" y="5203369"/>
            <a:ext cx="2012948" cy="1040836"/>
          </a:xfrm>
          <a:prstGeom prst="bentConnector3">
            <a:avLst/>
          </a:prstGeom>
          <a:ln w="13538">
            <a:solidFill>
              <a:srgbClr val="B86BCB"/>
            </a:solidFill>
            <a:prstDash val="lgDash"/>
          </a:ln>
        </p:spPr>
        <p:style>
          <a:lnRef idx="2">
            <a:schemeClr val="accent1"/>
          </a:lnRef>
          <a:fillRef idx="0">
            <a:schemeClr val="accent1"/>
          </a:fillRef>
          <a:effectRef idx="1">
            <a:schemeClr val="accent1"/>
          </a:effectRef>
          <a:fontRef idx="minor">
            <a:schemeClr val="tx1"/>
          </a:fontRef>
        </p:style>
      </p:cxnSp>
      <p:sp>
        <p:nvSpPr>
          <p:cNvPr id="23" name="Donut 22"/>
          <p:cNvSpPr/>
          <p:nvPr/>
        </p:nvSpPr>
        <p:spPr>
          <a:xfrm>
            <a:off x="8916367" y="3108797"/>
            <a:ext cx="2166354" cy="568739"/>
          </a:xfrm>
          <a:prstGeom prst="donut">
            <a:avLst/>
          </a:prstGeom>
          <a:noFill/>
          <a:ln w="29992">
            <a:solidFill>
              <a:srgbClr val="E18B82"/>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7120671" y="716217"/>
            <a:ext cx="1048669" cy="1319400"/>
          </a:xfrm>
          <a:prstGeom prst="bentConnector3">
            <a:avLst/>
          </a:prstGeom>
          <a:ln w="9006">
            <a:solidFill>
              <a:srgbClr val="81B1BD"/>
            </a:solidFill>
            <a:prstDash val="dashDot"/>
          </a:ln>
        </p:spPr>
        <p:style>
          <a:lnRef idx="2">
            <a:schemeClr val="accent1"/>
          </a:lnRef>
          <a:fillRef idx="0">
            <a:schemeClr val="accent1"/>
          </a:fillRef>
          <a:effectRef idx="1">
            <a:schemeClr val="accent1"/>
          </a:effectRef>
          <a:fontRef idx="minor">
            <a:schemeClr val="tx1"/>
          </a:fontRef>
        </p:style>
      </p:cxnSp>
      <p:sp>
        <p:nvSpPr>
          <p:cNvPr id="25" name="5-Point Star 24"/>
          <p:cNvSpPr/>
          <p:nvPr/>
        </p:nvSpPr>
        <p:spPr>
          <a:xfrm>
            <a:off x="4232917" y="5171643"/>
            <a:ext cx="981860" cy="1227890"/>
          </a:xfrm>
          <a:prstGeom prst="star5">
            <a:avLst/>
          </a:prstGeom>
          <a:solidFill>
            <a:srgbClr val="9CA24E"/>
          </a:solidFill>
          <a:ln w="19559">
            <a:solidFill>
              <a:srgbClr val="4C729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_example_image.jpg"/>
          <p:cNvPicPr>
            <a:picLocks noChangeAspect="1"/>
          </p:cNvPicPr>
          <p:nvPr/>
        </p:nvPicPr>
        <p:blipFill>
          <a:blip r:embed="rId2"/>
          <a:srcRect l="3570" t="9739" r="7380" b="12267"/>
          <a:stretch>
            <a:fillRect/>
          </a:stretch>
        </p:blipFill>
        <p:spPr>
          <a:xfrm>
            <a:off x="9185536" y="512832"/>
            <a:ext cx="2713478" cy="859098"/>
          </a:xfrm>
          <a:prstGeom prst="rect">
            <a:avLst/>
          </a:prstGeom>
        </p:spPr>
      </p:pic>
      <p:sp>
        <p:nvSpPr>
          <p:cNvPr id="27" name="Lightning Bolt 26"/>
          <p:cNvSpPr/>
          <p:nvPr/>
        </p:nvSpPr>
        <p:spPr>
          <a:xfrm>
            <a:off x="6812623" y="5220405"/>
            <a:ext cx="1753743" cy="1121604"/>
          </a:xfrm>
          <a:prstGeom prst="lightningBolt">
            <a:avLst/>
          </a:prstGeom>
          <a:solidFill>
            <a:srgbClr val="8F1EA6"/>
          </a:solidFill>
          <a:ln w="24165">
            <a:solidFill>
              <a:srgbClr val="3A432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548291" y="3540324"/>
            <a:ext cx="1146539" cy="1483179"/>
          </a:xfrm>
          <a:prstGeom prst="rect">
            <a:avLst/>
          </a:prstGeom>
          <a:noFill/>
        </p:spPr>
        <p:txBody>
          <a:bodyPr wrap="none" lIns="89173" tIns="89173" rIns="89173" bIns="89173">
            <a:spAutoFit/>
          </a:bodyPr>
          <a:lstStyle/>
          <a:p>
            <a:r>
              <a:rPr sz="1300" b="0" i="0" u="none">
                <a:solidFill>
                  <a:srgbClr val="E589B7"/>
                </a:solidFill>
                <a:latin typeface="Calibri"/>
              </a:rPr>
              <a:t>Apex</a:t>
            </a:r>
          </a:p>
        </p:txBody>
      </p:sp>
      <p:pic>
        <p:nvPicPr>
          <p:cNvPr id="30" name="Graphic 29">
            <a:extLst>
              <a:ext uri="{FF2B5EF4-FFF2-40B4-BE49-F238E27FC236}">
                <a16:creationId xmlns:a16="http://schemas.microsoft.com/office/drawing/2014/main" id="{3C7B2DB2-90CE-F976-2EC0-A9F0D53292F0}"/>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382016" y="4171663"/>
            <a:ext cx="1916161" cy="752559"/>
          </a:xfrm>
          <a:prstGeom prst="rect">
            <a:avLst/>
          </a:prstGeom>
        </p:spPr>
      </p:pic>
      <p:pic>
        <p:nvPicPr>
          <p:cNvPr id="32" name="Graphic 31">
            <a:extLst>
              <a:ext uri="{FF2B5EF4-FFF2-40B4-BE49-F238E27FC236}">
                <a16:creationId xmlns:a16="http://schemas.microsoft.com/office/drawing/2014/main" id="{C9E99E6D-951A-1228-1A0B-3455B16A3C75}"/>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9896825" y="1643131"/>
            <a:ext cx="1143559" cy="1010804"/>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ave 1"/>
          <p:cNvSpPr/>
          <p:nvPr/>
        </p:nvSpPr>
        <p:spPr>
          <a:xfrm>
            <a:off x="2879606" y="2717220"/>
            <a:ext cx="1749986" cy="714133"/>
          </a:xfrm>
          <a:prstGeom prst="wave">
            <a:avLst/>
          </a:prstGeom>
          <a:solidFill>
            <a:srgbClr val="BFC9E4"/>
          </a:solidFill>
          <a:ln w="12027">
            <a:solidFill>
              <a:srgbClr val="6541D6"/>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Table 2"/>
          <p:cNvGraphicFramePr>
            <a:graphicFrameLocks noGrp="1"/>
          </p:cNvGraphicFramePr>
          <p:nvPr/>
        </p:nvGraphicFramePr>
        <p:xfrm>
          <a:off x="7088078" y="211050"/>
          <a:ext cx="2236245" cy="1144350"/>
        </p:xfrm>
        <a:graphic>
          <a:graphicData uri="http://schemas.openxmlformats.org/drawingml/2006/table">
            <a:tbl>
              <a:tblPr firstRow="1" bandRow="1">
                <a:tableStyleId>{5C22544A-7EE6-4342-B048-85BDC9FD1C3A}</a:tableStyleId>
              </a:tblPr>
              <a:tblGrid>
                <a:gridCol w="447249">
                  <a:extLst>
                    <a:ext uri="{9D8B030D-6E8A-4147-A177-3AD203B41FA5}">
                      <a16:colId xmlns:a16="http://schemas.microsoft.com/office/drawing/2014/main" val="20000"/>
                    </a:ext>
                  </a:extLst>
                </a:gridCol>
                <a:gridCol w="447249">
                  <a:extLst>
                    <a:ext uri="{9D8B030D-6E8A-4147-A177-3AD203B41FA5}">
                      <a16:colId xmlns:a16="http://schemas.microsoft.com/office/drawing/2014/main" val="20001"/>
                    </a:ext>
                  </a:extLst>
                </a:gridCol>
                <a:gridCol w="447249">
                  <a:extLst>
                    <a:ext uri="{9D8B030D-6E8A-4147-A177-3AD203B41FA5}">
                      <a16:colId xmlns:a16="http://schemas.microsoft.com/office/drawing/2014/main" val="20002"/>
                    </a:ext>
                  </a:extLst>
                </a:gridCol>
                <a:gridCol w="447249">
                  <a:extLst>
                    <a:ext uri="{9D8B030D-6E8A-4147-A177-3AD203B41FA5}">
                      <a16:colId xmlns:a16="http://schemas.microsoft.com/office/drawing/2014/main" val="20003"/>
                    </a:ext>
                  </a:extLst>
                </a:gridCol>
                <a:gridCol w="447249">
                  <a:extLst>
                    <a:ext uri="{9D8B030D-6E8A-4147-A177-3AD203B41FA5}">
                      <a16:colId xmlns:a16="http://schemas.microsoft.com/office/drawing/2014/main" val="20004"/>
                    </a:ext>
                  </a:extLst>
                </a:gridCol>
              </a:tblGrid>
              <a:tr h="228870">
                <a:tc>
                  <a:txBody>
                    <a:bodyPr/>
                    <a:lstStyle/>
                    <a:p>
                      <a:r>
                        <a:rPr sz="1300" b="1">
                          <a:solidFill>
                            <a:srgbClr val="B91CD9"/>
                          </a:solidFill>
                        </a:rPr>
                        <a:t>Viewport Runtime</a:t>
                      </a:r>
                    </a:p>
                  </a:txBody>
                  <a:tcPr>
                    <a:solidFill>
                      <a:srgbClr val="2CD744"/>
                    </a:solidFill>
                  </a:tcPr>
                </a:tc>
                <a:tc>
                  <a:txBody>
                    <a:bodyPr/>
                    <a:lstStyle/>
                    <a:p>
                      <a:r>
                        <a:rPr sz="1300" b="1">
                          <a:solidFill>
                            <a:srgbClr val="B91CD9"/>
                          </a:solidFill>
                        </a:rPr>
                        <a:t>Flow State</a:t>
                      </a:r>
                    </a:p>
                  </a:txBody>
                  <a:tcPr>
                    <a:solidFill>
                      <a:srgbClr val="2CD744"/>
                    </a:solidFill>
                  </a:tcPr>
                </a:tc>
                <a:tc>
                  <a:txBody>
                    <a:bodyPr/>
                    <a:lstStyle/>
                    <a:p>
                      <a:r>
                        <a:rPr sz="1300" b="1">
                          <a:solidFill>
                            <a:srgbClr val="B91CD9"/>
                          </a:solidFill>
                        </a:rPr>
                        <a:t>Alignment</a:t>
                      </a:r>
                    </a:p>
                  </a:txBody>
                  <a:tcPr>
                    <a:solidFill>
                      <a:srgbClr val="2CD744"/>
                    </a:solidFill>
                  </a:tcPr>
                </a:tc>
                <a:tc>
                  <a:txBody>
                    <a:bodyPr/>
                    <a:lstStyle/>
                    <a:p>
                      <a:r>
                        <a:rPr sz="1300" b="1">
                          <a:solidFill>
                            <a:srgbClr val="B91CD9"/>
                          </a:solidFill>
                        </a:rPr>
                        <a:t>Trigger Array</a:t>
                      </a:r>
                    </a:p>
                  </a:txBody>
                  <a:tcPr>
                    <a:solidFill>
                      <a:srgbClr val="2CD744"/>
                    </a:solidFill>
                  </a:tcPr>
                </a:tc>
                <a:tc>
                  <a:txBody>
                    <a:bodyPr/>
                    <a:lstStyle/>
                    <a:p>
                      <a:r>
                        <a:rPr sz="1300" b="1">
                          <a:solidFill>
                            <a:srgbClr val="B91CD9"/>
                          </a:solidFill>
                        </a:rPr>
                        <a:t>Window Needle</a:t>
                      </a:r>
                    </a:p>
                  </a:txBody>
                  <a:tcPr>
                    <a:solidFill>
                      <a:srgbClr val="2CD744"/>
                    </a:solidFill>
                  </a:tcPr>
                </a:tc>
                <a:extLst>
                  <a:ext uri="{0D108BD9-81ED-4DB2-BD59-A6C34878D82A}">
                    <a16:rowId xmlns:a16="http://schemas.microsoft.com/office/drawing/2014/main" val="10000"/>
                  </a:ext>
                </a:extLst>
              </a:tr>
              <a:tr h="228870">
                <a:tc>
                  <a:txBody>
                    <a:bodyPr/>
                    <a:lstStyle/>
                    <a:p>
                      <a:r>
                        <a:rPr sz="1300" b="0">
                          <a:solidFill>
                            <a:srgbClr val="B91CD9"/>
                          </a:solidFill>
                        </a:rPr>
                        <a:t>Station</a:t>
                      </a:r>
                    </a:p>
                  </a:txBody>
                  <a:tcPr>
                    <a:solidFill>
                      <a:srgbClr val="F3ECF8"/>
                    </a:solidFill>
                  </a:tcPr>
                </a:tc>
                <a:tc>
                  <a:txBody>
                    <a:bodyPr/>
                    <a:lstStyle/>
                    <a:p>
                      <a:r>
                        <a:rPr sz="1300" b="0">
                          <a:solidFill>
                            <a:srgbClr val="B91CD9"/>
                          </a:solidFill>
                        </a:rPr>
                        <a:t>Review Detail</a:t>
                      </a:r>
                    </a:p>
                  </a:txBody>
                  <a:tcPr>
                    <a:solidFill>
                      <a:srgbClr val="F3ECF8"/>
                    </a:solidFill>
                  </a:tcPr>
                </a:tc>
                <a:tc>
                  <a:txBody>
                    <a:bodyPr/>
                    <a:lstStyle/>
                    <a:p>
                      <a:r>
                        <a:rPr sz="1300" b="0">
                          <a:solidFill>
                            <a:srgbClr val="B91CD9"/>
                          </a:solidFill>
                        </a:rPr>
                        <a:t>Schema</a:t>
                      </a:r>
                    </a:p>
                  </a:txBody>
                  <a:tcPr>
                    <a:solidFill>
                      <a:srgbClr val="F3ECF8"/>
                    </a:solidFill>
                  </a:tcPr>
                </a:tc>
                <a:tc>
                  <a:txBody>
                    <a:bodyPr/>
                    <a:lstStyle/>
                    <a:p>
                      <a:r>
                        <a:rPr sz="1300" b="0">
                          <a:solidFill>
                            <a:srgbClr val="B91CD9"/>
                          </a:solidFill>
                        </a:rPr>
                        <a:t>Context</a:t>
                      </a:r>
                    </a:p>
                  </a:txBody>
                  <a:tcPr>
                    <a:solidFill>
                      <a:srgbClr val="F3ECF8"/>
                    </a:solidFill>
                  </a:tcPr>
                </a:tc>
                <a:tc>
                  <a:txBody>
                    <a:bodyPr/>
                    <a:lstStyle/>
                    <a:p>
                      <a:r>
                        <a:rPr sz="1300" b="0">
                          <a:solidFill>
                            <a:srgbClr val="B91CD9"/>
                          </a:solidFill>
                        </a:rPr>
                        <a:t>View</a:t>
                      </a:r>
                    </a:p>
                  </a:txBody>
                  <a:tcPr>
                    <a:solidFill>
                      <a:srgbClr val="F3ECF8"/>
                    </a:solidFill>
                  </a:tcPr>
                </a:tc>
                <a:extLst>
                  <a:ext uri="{0D108BD9-81ED-4DB2-BD59-A6C34878D82A}">
                    <a16:rowId xmlns:a16="http://schemas.microsoft.com/office/drawing/2014/main" val="10001"/>
                  </a:ext>
                </a:extLst>
              </a:tr>
              <a:tr h="228870">
                <a:tc>
                  <a:txBody>
                    <a:bodyPr/>
                    <a:lstStyle/>
                    <a:p>
                      <a:r>
                        <a:rPr sz="1300" b="0">
                          <a:solidFill>
                            <a:srgbClr val="B91CD9"/>
                          </a:solidFill>
                        </a:rPr>
                        <a:t>Chart</a:t>
                      </a:r>
                    </a:p>
                  </a:txBody>
                  <a:tcPr>
                    <a:solidFill>
                      <a:srgbClr val="F3ECF8"/>
                    </a:solidFill>
                  </a:tcPr>
                </a:tc>
                <a:tc>
                  <a:txBody>
                    <a:bodyPr/>
                    <a:lstStyle/>
                    <a:p>
                      <a:r>
                        <a:rPr sz="1300" b="0">
                          <a:solidFill>
                            <a:srgbClr val="B91CD9"/>
                          </a:solidFill>
                        </a:rPr>
                        <a:t>Method Event</a:t>
                      </a:r>
                    </a:p>
                  </a:txBody>
                  <a:tcPr>
                    <a:solidFill>
                      <a:srgbClr val="F3ECF8"/>
                    </a:solidFill>
                  </a:tcPr>
                </a:tc>
                <a:tc>
                  <a:txBody>
                    <a:bodyPr/>
                    <a:lstStyle/>
                    <a:p>
                      <a:r>
                        <a:rPr sz="1300" b="0">
                          <a:solidFill>
                            <a:srgbClr val="B91CD9"/>
                          </a:solidFill>
                        </a:rPr>
                        <a:t>Sync Capacity</a:t>
                      </a:r>
                    </a:p>
                  </a:txBody>
                  <a:tcPr>
                    <a:solidFill>
                      <a:srgbClr val="F3ECF8"/>
                    </a:solidFill>
                  </a:tcPr>
                </a:tc>
                <a:tc>
                  <a:txBody>
                    <a:bodyPr/>
                    <a:lstStyle/>
                    <a:p>
                      <a:r>
                        <a:rPr sz="1300" b="0">
                          <a:solidFill>
                            <a:srgbClr val="B91CD9"/>
                          </a:solidFill>
                        </a:rPr>
                        <a:t>Snapshot</a:t>
                      </a:r>
                    </a:p>
                  </a:txBody>
                  <a:tcPr>
                    <a:solidFill>
                      <a:srgbClr val="F3ECF8"/>
                    </a:solidFill>
                  </a:tcPr>
                </a:tc>
                <a:tc>
                  <a:txBody>
                    <a:bodyPr/>
                    <a:lstStyle/>
                    <a:p>
                      <a:r>
                        <a:rPr sz="1300" b="0">
                          <a:solidFill>
                            <a:srgbClr val="B91CD9"/>
                          </a:solidFill>
                        </a:rPr>
                        <a:t>Design Envelope</a:t>
                      </a:r>
                    </a:p>
                  </a:txBody>
                  <a:tcPr>
                    <a:solidFill>
                      <a:srgbClr val="F3ECF8"/>
                    </a:solidFill>
                  </a:tcPr>
                </a:tc>
                <a:extLst>
                  <a:ext uri="{0D108BD9-81ED-4DB2-BD59-A6C34878D82A}">
                    <a16:rowId xmlns:a16="http://schemas.microsoft.com/office/drawing/2014/main" val="10002"/>
                  </a:ext>
                </a:extLst>
              </a:tr>
              <a:tr h="228870">
                <a:tc>
                  <a:txBody>
                    <a:bodyPr/>
                    <a:lstStyle/>
                    <a:p>
                      <a:r>
                        <a:rPr sz="1300" b="0">
                          <a:solidFill>
                            <a:srgbClr val="B91CD9"/>
                          </a:solidFill>
                        </a:rPr>
                        <a:t>Needle</a:t>
                      </a:r>
                    </a:p>
                  </a:txBody>
                  <a:tcPr>
                    <a:solidFill>
                      <a:srgbClr val="F3ECF8"/>
                    </a:solidFill>
                  </a:tcPr>
                </a:tc>
                <a:tc>
                  <a:txBody>
                    <a:bodyPr/>
                    <a:lstStyle/>
                    <a:p>
                      <a:r>
                        <a:rPr sz="1300" b="0">
                          <a:solidFill>
                            <a:srgbClr val="B91CD9"/>
                          </a:solidFill>
                        </a:rPr>
                        <a:t>Function Access</a:t>
                      </a:r>
                    </a:p>
                  </a:txBody>
                  <a:tcPr>
                    <a:solidFill>
                      <a:srgbClr val="F3ECF8"/>
                    </a:solidFill>
                  </a:tcPr>
                </a:tc>
                <a:tc>
                  <a:txBody>
                    <a:bodyPr/>
                    <a:lstStyle/>
                    <a:p>
                      <a:r>
                        <a:rPr sz="1300" b="0">
                          <a:solidFill>
                            <a:srgbClr val="B91CD9"/>
                          </a:solidFill>
                        </a:rPr>
                        <a:t>Moment</a:t>
                      </a:r>
                    </a:p>
                  </a:txBody>
                  <a:tcPr>
                    <a:solidFill>
                      <a:srgbClr val="F3ECF8"/>
                    </a:solidFill>
                  </a:tcPr>
                </a:tc>
                <a:tc>
                  <a:txBody>
                    <a:bodyPr/>
                    <a:lstStyle/>
                    <a:p>
                      <a:r>
                        <a:rPr sz="1300" b="0">
                          <a:solidFill>
                            <a:srgbClr val="B91CD9"/>
                          </a:solidFill>
                        </a:rPr>
                        <a:t>Drift</a:t>
                      </a:r>
                    </a:p>
                  </a:txBody>
                  <a:tcPr>
                    <a:solidFill>
                      <a:srgbClr val="F3ECF8"/>
                    </a:solidFill>
                  </a:tcPr>
                </a:tc>
                <a:tc>
                  <a:txBody>
                    <a:bodyPr/>
                    <a:lstStyle/>
                    <a:p>
                      <a:r>
                        <a:rPr sz="1300" b="0">
                          <a:solidFill>
                            <a:srgbClr val="B91CD9"/>
                          </a:solidFill>
                        </a:rPr>
                        <a:t>Aspect</a:t>
                      </a:r>
                    </a:p>
                  </a:txBody>
                  <a:tcPr>
                    <a:solidFill>
                      <a:srgbClr val="F3ECF8"/>
                    </a:solidFill>
                  </a:tcPr>
                </a:tc>
                <a:extLst>
                  <a:ext uri="{0D108BD9-81ED-4DB2-BD59-A6C34878D82A}">
                    <a16:rowId xmlns:a16="http://schemas.microsoft.com/office/drawing/2014/main" val="10003"/>
                  </a:ext>
                </a:extLst>
              </a:tr>
              <a:tr h="228870">
                <a:tc>
                  <a:txBody>
                    <a:bodyPr/>
                    <a:lstStyle/>
                    <a:p>
                      <a:r>
                        <a:rPr sz="1300" b="0">
                          <a:solidFill>
                            <a:srgbClr val="B91CD9"/>
                          </a:solidFill>
                        </a:rPr>
                        <a:t>Depth</a:t>
                      </a:r>
                    </a:p>
                  </a:txBody>
                  <a:tcPr>
                    <a:solidFill>
                      <a:srgbClr val="F3ECF8"/>
                    </a:solidFill>
                  </a:tcPr>
                </a:tc>
                <a:tc>
                  <a:txBody>
                    <a:bodyPr/>
                    <a:lstStyle/>
                    <a:p>
                      <a:r>
                        <a:rPr sz="1300" b="0">
                          <a:solidFill>
                            <a:srgbClr val="B91CD9"/>
                          </a:solidFill>
                        </a:rPr>
                        <a:t>Depth</a:t>
                      </a:r>
                    </a:p>
                  </a:txBody>
                  <a:tcPr>
                    <a:solidFill>
                      <a:srgbClr val="F3ECF8"/>
                    </a:solidFill>
                  </a:tcPr>
                </a:tc>
                <a:tc>
                  <a:txBody>
                    <a:bodyPr/>
                    <a:lstStyle/>
                    <a:p>
                      <a:r>
                        <a:rPr sz="1300" b="0">
                          <a:solidFill>
                            <a:srgbClr val="B91CD9"/>
                          </a:solidFill>
                        </a:rPr>
                        <a:t>Catalog</a:t>
                      </a:r>
                    </a:p>
                  </a:txBody>
                  <a:tcPr>
                    <a:solidFill>
                      <a:srgbClr val="F3ECF8"/>
                    </a:solidFill>
                  </a:tcPr>
                </a:tc>
                <a:tc>
                  <a:txBody>
                    <a:bodyPr/>
                    <a:lstStyle/>
                    <a:p>
                      <a:r>
                        <a:rPr sz="1300" b="0">
                          <a:solidFill>
                            <a:srgbClr val="B91CD9"/>
                          </a:solidFill>
                        </a:rPr>
                        <a:t>Column</a:t>
                      </a:r>
                    </a:p>
                  </a:txBody>
                  <a:tcPr>
                    <a:solidFill>
                      <a:srgbClr val="F3ECF8"/>
                    </a:solidFill>
                  </a:tcPr>
                </a:tc>
                <a:tc>
                  <a:txBody>
                    <a:bodyPr/>
                    <a:lstStyle/>
                    <a:p>
                      <a:r>
                        <a:rPr sz="1300" b="0">
                          <a:solidFill>
                            <a:srgbClr val="B91CD9"/>
                          </a:solidFill>
                        </a:rPr>
                        <a:t>Drive Module</a:t>
                      </a:r>
                    </a:p>
                  </a:txBody>
                  <a:tcPr>
                    <a:solidFill>
                      <a:srgbClr val="F3ECF8"/>
                    </a:solidFill>
                  </a:tcPr>
                </a:tc>
                <a:extLst>
                  <a:ext uri="{0D108BD9-81ED-4DB2-BD59-A6C34878D82A}">
                    <a16:rowId xmlns:a16="http://schemas.microsoft.com/office/drawing/2014/main" val="10004"/>
                  </a:ext>
                </a:extLst>
              </a:tr>
            </a:tbl>
          </a:graphicData>
        </a:graphic>
      </p:graphicFrame>
      <p:pic>
        <p:nvPicPr>
          <p:cNvPr id="4" name="Picture 3" descr="_example_image.jpg"/>
          <p:cNvPicPr>
            <a:picLocks noChangeAspect="1"/>
          </p:cNvPicPr>
          <p:nvPr/>
        </p:nvPicPr>
        <p:blipFill>
          <a:blip r:embed="rId2"/>
          <a:srcRect l="9587" t="12158" r="21952" b="12224"/>
          <a:stretch>
            <a:fillRect/>
          </a:stretch>
        </p:blipFill>
        <p:spPr>
          <a:xfrm>
            <a:off x="10088533" y="4224344"/>
            <a:ext cx="1358482" cy="1673950"/>
          </a:xfrm>
          <a:prstGeom prst="rect">
            <a:avLst/>
          </a:prstGeom>
        </p:spPr>
      </p:pic>
      <p:sp>
        <p:nvSpPr>
          <p:cNvPr id="5" name="Up Arrow 4"/>
          <p:cNvSpPr/>
          <p:nvPr/>
        </p:nvSpPr>
        <p:spPr>
          <a:xfrm>
            <a:off x="700104" y="6292624"/>
            <a:ext cx="1154719" cy="290929"/>
          </a:xfrm>
          <a:prstGeom prst="upArrow">
            <a:avLst/>
          </a:prstGeom>
          <a:noFill/>
          <a:ln w="25123">
            <a:solidFill>
              <a:srgbClr val="C72051"/>
            </a:solidFill>
            <a:prstDash val="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519" y="3902791"/>
            <a:ext cx="1600724" cy="2370666"/>
          </a:xfrm>
          <a:prstGeom prst="rect">
            <a:avLst/>
          </a:prstGeom>
          <a:noFill/>
        </p:spPr>
        <p:txBody>
          <a:bodyPr wrap="none" lIns="72117" tIns="72117" rIns="72117" bIns="72117">
            <a:spAutoFit/>
          </a:bodyPr>
          <a:lstStyle/>
          <a:p>
            <a:r>
              <a:rPr sz="1700" b="0" i="0" u="sng">
                <a:solidFill>
                  <a:srgbClr val="26324F"/>
                </a:solidFill>
                <a:latin typeface="Trebuchet MS"/>
              </a:rPr>
              <a:t>Diagram Plan Collection Focus Target Threshold Cluster Lens Column Portal Gradient Track Domain</a:t>
            </a:r>
          </a:p>
        </p:txBody>
      </p:sp>
      <p:sp>
        <p:nvSpPr>
          <p:cNvPr id="7" name="Isosceles Triangle 6"/>
          <p:cNvSpPr/>
          <p:nvPr/>
        </p:nvSpPr>
        <p:spPr>
          <a:xfrm>
            <a:off x="3705315" y="1248905"/>
            <a:ext cx="608192" cy="1410239"/>
          </a:xfrm>
          <a:prstGeom prst="triangle">
            <a:avLst/>
          </a:prstGeom>
          <a:solidFill>
            <a:srgbClr val="217A97"/>
          </a:solidFill>
          <a:ln w="26067">
            <a:solidFill>
              <a:srgbClr val="AFCD6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42547" y="3685781"/>
            <a:ext cx="886421" cy="909855"/>
          </a:xfrm>
          <a:prstGeom prst="rect">
            <a:avLst/>
          </a:prstGeom>
          <a:noFill/>
        </p:spPr>
        <p:txBody>
          <a:bodyPr wrap="none" lIns="37602" tIns="37602" rIns="37602" bIns="37602">
            <a:spAutoFit/>
          </a:bodyPr>
          <a:lstStyle/>
          <a:p>
            <a:r>
              <a:rPr sz="1000" b="1" i="0" u="none">
                <a:solidFill>
                  <a:srgbClr val="86A2AB"/>
                </a:solidFill>
                <a:latin typeface="Georgia"/>
              </a:rPr>
              <a:t>Process Factor Archive Package Phase Object Mesh Asset Plan Alignment Object Interface Field Access Bundle Heading Group Density Orbit Exchange Priority Package Index Diagram Module</a:t>
            </a:r>
          </a:p>
        </p:txBody>
      </p:sp>
      <p:sp>
        <p:nvSpPr>
          <p:cNvPr id="9" name="Freeform 8"/>
          <p:cNvSpPr/>
          <p:nvPr/>
        </p:nvSpPr>
        <p:spPr>
          <a:xfrm>
            <a:off x="8761871" y="5606808"/>
            <a:ext cx="843076" cy="602317"/>
          </a:xfrm>
          <a:custGeom>
            <a:avLst/>
            <a:gdLst/>
            <a:ahLst/>
            <a:cxnLst/>
            <a:rect l="l" t="t" r="r" b="b"/>
            <a:pathLst>
              <a:path w="843076" h="602317">
                <a:moveTo>
                  <a:pt x="0" y="133848"/>
                </a:moveTo>
                <a:lnTo>
                  <a:pt x="181306" y="0"/>
                </a:lnTo>
                <a:lnTo>
                  <a:pt x="362613" y="180695"/>
                </a:lnTo>
                <a:lnTo>
                  <a:pt x="543920" y="20078"/>
                </a:lnTo>
                <a:lnTo>
                  <a:pt x="843076" y="468469"/>
                </a:lnTo>
                <a:lnTo>
                  <a:pt x="634573" y="602317"/>
                </a:lnTo>
                <a:lnTo>
                  <a:pt x="435136" y="401545"/>
                </a:lnTo>
                <a:lnTo>
                  <a:pt x="208502" y="582240"/>
                </a:lnTo>
                <a:close/>
              </a:path>
            </a:pathLst>
          </a:custGeom>
          <a:solidFill>
            <a:srgbClr val="5DAF64"/>
          </a:solidFill>
          <a:ln w="22160">
            <a:solidFill>
              <a:srgbClr val="7FA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Hexagon 9"/>
          <p:cNvSpPr/>
          <p:nvPr/>
        </p:nvSpPr>
        <p:spPr>
          <a:xfrm>
            <a:off x="6837698" y="3210921"/>
            <a:ext cx="2231340" cy="1061651"/>
          </a:xfrm>
          <a:prstGeom prst="hexagon">
            <a:avLst/>
          </a:prstGeom>
          <a:solidFill>
            <a:srgbClr val="9F5672"/>
          </a:solidFill>
          <a:ln w="18298">
            <a:solidFill>
              <a:srgbClr val="3E234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58101" y="1232255"/>
            <a:ext cx="1059972" cy="2202535"/>
          </a:xfrm>
          <a:prstGeom prst="rect">
            <a:avLst/>
          </a:prstGeom>
          <a:noFill/>
        </p:spPr>
        <p:txBody>
          <a:bodyPr wrap="none" lIns="80543" tIns="80543" rIns="80543" bIns="80543">
            <a:spAutoFit/>
          </a:bodyPr>
          <a:lstStyle/>
          <a:p>
            <a:r>
              <a:rPr sz="2900" b="0" i="0" u="none">
                <a:solidFill>
                  <a:srgbClr val="4F692D"/>
                </a:solidFill>
                <a:latin typeface="Verdana"/>
              </a:rPr>
              <a:t>Wave Datum Phase System Beacon Buffer Analysis Dimension Ratio Bundle Control Schema Vector Aspect</a:t>
            </a:r>
          </a:p>
        </p:txBody>
      </p:sp>
      <p:pic>
        <p:nvPicPr>
          <p:cNvPr id="12" name="Picture 11" descr="_example_image.jpg"/>
          <p:cNvPicPr>
            <a:picLocks noChangeAspect="1"/>
          </p:cNvPicPr>
          <p:nvPr/>
        </p:nvPicPr>
        <p:blipFill>
          <a:blip r:embed="rId2"/>
          <a:srcRect l="14562" t="9120" r="5141" b="11787"/>
          <a:stretch>
            <a:fillRect/>
          </a:stretch>
        </p:blipFill>
        <p:spPr>
          <a:xfrm>
            <a:off x="345301" y="572505"/>
            <a:ext cx="2866408" cy="836330"/>
          </a:xfrm>
          <a:prstGeom prst="rect">
            <a:avLst/>
          </a:prstGeom>
        </p:spPr>
      </p:pic>
      <p:cxnSp>
        <p:nvCxnSpPr>
          <p:cNvPr id="13" name="Connector 12"/>
          <p:cNvCxnSpPr/>
          <p:nvPr/>
        </p:nvCxnSpPr>
        <p:spPr>
          <a:xfrm>
            <a:off x="6349351" y="2052321"/>
            <a:ext cx="2178005" cy="538997"/>
          </a:xfrm>
          <a:prstGeom prst="line">
            <a:avLst/>
          </a:prstGeom>
          <a:ln w="16752">
            <a:solidFill>
              <a:srgbClr val="5B70E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066381" y="5328781"/>
            <a:ext cx="1056641" cy="823603"/>
          </a:xfrm>
          <a:prstGeom prst="rect">
            <a:avLst/>
          </a:prstGeom>
          <a:noFill/>
        </p:spPr>
        <p:txBody>
          <a:bodyPr wrap="none" lIns="76763" tIns="76763" rIns="76763" bIns="76763">
            <a:spAutoFit/>
          </a:bodyPr>
          <a:lstStyle/>
          <a:p>
            <a:r>
              <a:rPr sz="3600" b="1" i="0" u="none">
                <a:solidFill>
                  <a:srgbClr val="773ABC"/>
                </a:solidFill>
                <a:latin typeface="Georgia"/>
              </a:rPr>
              <a:t>Build Logic Array Concept Aspect Beta Tile</a:t>
            </a:r>
          </a:p>
        </p:txBody>
      </p:sp>
      <p:graphicFrame>
        <p:nvGraphicFramePr>
          <p:cNvPr id="15" name="Chart 14"/>
          <p:cNvGraphicFramePr>
            <a:graphicFrameLocks noGrp="1"/>
          </p:cNvGraphicFramePr>
          <p:nvPr/>
        </p:nvGraphicFramePr>
        <p:xfrm>
          <a:off x="3036371" y="5262577"/>
          <a:ext cx="2966476" cy="14130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15"/>
          <p:cNvGraphicFramePr>
            <a:graphicFrameLocks noGrp="1"/>
          </p:cNvGraphicFramePr>
          <p:nvPr/>
        </p:nvGraphicFramePr>
        <p:xfrm>
          <a:off x="8329689" y="2761972"/>
          <a:ext cx="3120207" cy="929641"/>
        </p:xfrm>
        <a:graphic>
          <a:graphicData uri="http://schemas.openxmlformats.org/drawingml/2006/table">
            <a:tbl>
              <a:tblPr firstRow="1" bandRow="1">
                <a:tableStyleId>{5C22544A-7EE6-4342-B048-85BDC9FD1C3A}</a:tableStyleId>
              </a:tblPr>
              <a:tblGrid>
                <a:gridCol w="520034">
                  <a:extLst>
                    <a:ext uri="{9D8B030D-6E8A-4147-A177-3AD203B41FA5}">
                      <a16:colId xmlns:a16="http://schemas.microsoft.com/office/drawing/2014/main" val="20000"/>
                    </a:ext>
                  </a:extLst>
                </a:gridCol>
                <a:gridCol w="520034">
                  <a:extLst>
                    <a:ext uri="{9D8B030D-6E8A-4147-A177-3AD203B41FA5}">
                      <a16:colId xmlns:a16="http://schemas.microsoft.com/office/drawing/2014/main" val="20001"/>
                    </a:ext>
                  </a:extLst>
                </a:gridCol>
                <a:gridCol w="520034">
                  <a:extLst>
                    <a:ext uri="{9D8B030D-6E8A-4147-A177-3AD203B41FA5}">
                      <a16:colId xmlns:a16="http://schemas.microsoft.com/office/drawing/2014/main" val="20002"/>
                    </a:ext>
                  </a:extLst>
                </a:gridCol>
                <a:gridCol w="520034">
                  <a:extLst>
                    <a:ext uri="{9D8B030D-6E8A-4147-A177-3AD203B41FA5}">
                      <a16:colId xmlns:a16="http://schemas.microsoft.com/office/drawing/2014/main" val="20003"/>
                    </a:ext>
                  </a:extLst>
                </a:gridCol>
                <a:gridCol w="520034">
                  <a:extLst>
                    <a:ext uri="{9D8B030D-6E8A-4147-A177-3AD203B41FA5}">
                      <a16:colId xmlns:a16="http://schemas.microsoft.com/office/drawing/2014/main" val="20004"/>
                    </a:ext>
                  </a:extLst>
                </a:gridCol>
                <a:gridCol w="520037">
                  <a:extLst>
                    <a:ext uri="{9D8B030D-6E8A-4147-A177-3AD203B41FA5}">
                      <a16:colId xmlns:a16="http://schemas.microsoft.com/office/drawing/2014/main" val="20005"/>
                    </a:ext>
                  </a:extLst>
                </a:gridCol>
              </a:tblGrid>
              <a:tr h="232410">
                <a:tc>
                  <a:txBody>
                    <a:bodyPr/>
                    <a:lstStyle/>
                    <a:p>
                      <a:r>
                        <a:rPr sz="700" b="1">
                          <a:solidFill>
                            <a:srgbClr val="985494"/>
                          </a:solidFill>
                        </a:rPr>
                        <a:t>Option</a:t>
                      </a:r>
                    </a:p>
                  </a:txBody>
                  <a:tcPr>
                    <a:solidFill>
                      <a:srgbClr val="278386"/>
                    </a:solidFill>
                  </a:tcPr>
                </a:tc>
                <a:tc>
                  <a:txBody>
                    <a:bodyPr/>
                    <a:lstStyle/>
                    <a:p>
                      <a:r>
                        <a:rPr sz="700" b="1">
                          <a:solidFill>
                            <a:srgbClr val="985494"/>
                          </a:solidFill>
                        </a:rPr>
                        <a:t>Window</a:t>
                      </a:r>
                    </a:p>
                  </a:txBody>
                  <a:tcPr>
                    <a:solidFill>
                      <a:srgbClr val="278386"/>
                    </a:solidFill>
                  </a:tcPr>
                </a:tc>
                <a:tc>
                  <a:txBody>
                    <a:bodyPr/>
                    <a:lstStyle/>
                    <a:p>
                      <a:r>
                        <a:rPr sz="700" b="1">
                          <a:solidFill>
                            <a:srgbClr val="985494"/>
                          </a:solidFill>
                        </a:rPr>
                        <a:t>Trigger</a:t>
                      </a:r>
                    </a:p>
                  </a:txBody>
                  <a:tcPr>
                    <a:solidFill>
                      <a:srgbClr val="278386"/>
                    </a:solidFill>
                  </a:tcPr>
                </a:tc>
                <a:tc>
                  <a:txBody>
                    <a:bodyPr/>
                    <a:lstStyle/>
                    <a:p>
                      <a:r>
                        <a:rPr sz="700" b="1">
                          <a:solidFill>
                            <a:srgbClr val="985494"/>
                          </a:solidFill>
                        </a:rPr>
                        <a:t>Metric Array</a:t>
                      </a:r>
                    </a:p>
                  </a:txBody>
                  <a:tcPr>
                    <a:solidFill>
                      <a:srgbClr val="278386"/>
                    </a:solidFill>
                  </a:tcPr>
                </a:tc>
                <a:tc>
                  <a:txBody>
                    <a:bodyPr/>
                    <a:lstStyle/>
                    <a:p>
                      <a:r>
                        <a:rPr sz="700" b="1">
                          <a:solidFill>
                            <a:srgbClr val="985494"/>
                          </a:solidFill>
                        </a:rPr>
                        <a:t>Region Needle</a:t>
                      </a:r>
                    </a:p>
                  </a:txBody>
                  <a:tcPr>
                    <a:solidFill>
                      <a:srgbClr val="278386"/>
                    </a:solidFill>
                  </a:tcPr>
                </a:tc>
                <a:tc>
                  <a:txBody>
                    <a:bodyPr/>
                    <a:lstStyle/>
                    <a:p>
                      <a:r>
                        <a:rPr sz="700" b="1">
                          <a:solidFill>
                            <a:srgbClr val="985494"/>
                          </a:solidFill>
                        </a:rPr>
                        <a:t>Metric Array</a:t>
                      </a:r>
                    </a:p>
                  </a:txBody>
                  <a:tcPr>
                    <a:solidFill>
                      <a:srgbClr val="278386"/>
                    </a:solidFill>
                  </a:tcPr>
                </a:tc>
                <a:extLst>
                  <a:ext uri="{0D108BD9-81ED-4DB2-BD59-A6C34878D82A}">
                    <a16:rowId xmlns:a16="http://schemas.microsoft.com/office/drawing/2014/main" val="10000"/>
                  </a:ext>
                </a:extLst>
              </a:tr>
              <a:tr h="232410">
                <a:tc>
                  <a:txBody>
                    <a:bodyPr/>
                    <a:lstStyle/>
                    <a:p>
                      <a:r>
                        <a:rPr sz="700" b="0">
                          <a:solidFill>
                            <a:srgbClr val="985494"/>
                          </a:solidFill>
                        </a:rPr>
                        <a:t>Logic Draft</a:t>
                      </a:r>
                    </a:p>
                  </a:txBody>
                  <a:tcPr>
                    <a:solidFill>
                      <a:srgbClr val="DCE3D5"/>
                    </a:solidFill>
                  </a:tcPr>
                </a:tc>
                <a:tc>
                  <a:txBody>
                    <a:bodyPr/>
                    <a:lstStyle/>
                    <a:p>
                      <a:r>
                        <a:rPr sz="700" b="0">
                          <a:solidFill>
                            <a:srgbClr val="985494"/>
                          </a:solidFill>
                        </a:rPr>
                        <a:t>Center Rhythm</a:t>
                      </a:r>
                    </a:p>
                  </a:txBody>
                  <a:tcPr>
                    <a:solidFill>
                      <a:srgbClr val="C4D0B9"/>
                    </a:solidFill>
                  </a:tcPr>
                </a:tc>
                <a:tc>
                  <a:txBody>
                    <a:bodyPr/>
                    <a:lstStyle/>
                    <a:p>
                      <a:r>
                        <a:rPr sz="700" b="0">
                          <a:solidFill>
                            <a:srgbClr val="985494"/>
                          </a:solidFill>
                        </a:rPr>
                        <a:t>Asset Blueprint</a:t>
                      </a:r>
                    </a:p>
                  </a:txBody>
                  <a:tcPr>
                    <a:solidFill>
                      <a:srgbClr val="DCE3D5"/>
                    </a:solidFill>
                  </a:tcPr>
                </a:tc>
                <a:tc>
                  <a:txBody>
                    <a:bodyPr/>
                    <a:lstStyle/>
                    <a:p>
                      <a:r>
                        <a:rPr sz="700" b="0">
                          <a:solidFill>
                            <a:srgbClr val="985494"/>
                          </a:solidFill>
                        </a:rPr>
                        <a:t>Range</a:t>
                      </a:r>
                    </a:p>
                  </a:txBody>
                  <a:tcPr>
                    <a:solidFill>
                      <a:srgbClr val="C4D0B9"/>
                    </a:solidFill>
                  </a:tcPr>
                </a:tc>
                <a:tc>
                  <a:txBody>
                    <a:bodyPr/>
                    <a:lstStyle/>
                    <a:p>
                      <a:r>
                        <a:rPr sz="700" b="0">
                          <a:solidFill>
                            <a:srgbClr val="985494"/>
                          </a:solidFill>
                        </a:rPr>
                        <a:t>Milestone Query</a:t>
                      </a:r>
                    </a:p>
                  </a:txBody>
                  <a:tcPr>
                    <a:solidFill>
                      <a:srgbClr val="DCE3D5"/>
                    </a:solidFill>
                  </a:tcPr>
                </a:tc>
                <a:tc>
                  <a:txBody>
                    <a:bodyPr/>
                    <a:lstStyle/>
                    <a:p>
                      <a:r>
                        <a:rPr sz="700" b="0">
                          <a:solidFill>
                            <a:srgbClr val="985494"/>
                          </a:solidFill>
                        </a:rPr>
                        <a:t>Capacity Stream</a:t>
                      </a:r>
                    </a:p>
                  </a:txBody>
                  <a:tcPr>
                    <a:solidFill>
                      <a:srgbClr val="C4D0B9"/>
                    </a:solidFill>
                  </a:tcPr>
                </a:tc>
                <a:extLst>
                  <a:ext uri="{0D108BD9-81ED-4DB2-BD59-A6C34878D82A}">
                    <a16:rowId xmlns:a16="http://schemas.microsoft.com/office/drawing/2014/main" val="10001"/>
                  </a:ext>
                </a:extLst>
              </a:tr>
              <a:tr h="232410">
                <a:tc>
                  <a:txBody>
                    <a:bodyPr/>
                    <a:lstStyle/>
                    <a:p>
                      <a:r>
                        <a:rPr sz="700" b="0">
                          <a:solidFill>
                            <a:srgbClr val="985494"/>
                          </a:solidFill>
                        </a:rPr>
                        <a:t>Drive Needle</a:t>
                      </a:r>
                    </a:p>
                  </a:txBody>
                  <a:tcPr>
                    <a:solidFill>
                      <a:srgbClr val="DCE3D5"/>
                    </a:solidFill>
                  </a:tcPr>
                </a:tc>
                <a:tc>
                  <a:txBody>
                    <a:bodyPr/>
                    <a:lstStyle/>
                    <a:p>
                      <a:r>
                        <a:rPr sz="700" b="0">
                          <a:solidFill>
                            <a:srgbClr val="985494"/>
                          </a:solidFill>
                        </a:rPr>
                        <a:t>Token Release</a:t>
                      </a:r>
                    </a:p>
                  </a:txBody>
                  <a:tcPr>
                    <a:solidFill>
                      <a:srgbClr val="C4D0B9"/>
                    </a:solidFill>
                  </a:tcPr>
                </a:tc>
                <a:tc>
                  <a:txBody>
                    <a:bodyPr/>
                    <a:lstStyle/>
                    <a:p>
                      <a:r>
                        <a:rPr sz="700" b="0">
                          <a:solidFill>
                            <a:srgbClr val="985494"/>
                          </a:solidFill>
                        </a:rPr>
                        <a:t>Scale Queue</a:t>
                      </a:r>
                    </a:p>
                  </a:txBody>
                  <a:tcPr>
                    <a:solidFill>
                      <a:srgbClr val="DCE3D5"/>
                    </a:solidFill>
                  </a:tcPr>
                </a:tc>
                <a:tc>
                  <a:txBody>
                    <a:bodyPr/>
                    <a:lstStyle/>
                    <a:p>
                      <a:r>
                        <a:rPr sz="700" b="0">
                          <a:solidFill>
                            <a:srgbClr val="985494"/>
                          </a:solidFill>
                        </a:rPr>
                        <a:t>Option Checkpoint</a:t>
                      </a:r>
                    </a:p>
                  </a:txBody>
                  <a:tcPr>
                    <a:solidFill>
                      <a:srgbClr val="C4D0B9"/>
                    </a:solidFill>
                  </a:tcPr>
                </a:tc>
                <a:tc>
                  <a:txBody>
                    <a:bodyPr/>
                    <a:lstStyle/>
                    <a:p>
                      <a:r>
                        <a:rPr sz="700" b="0">
                          <a:solidFill>
                            <a:srgbClr val="985494"/>
                          </a:solidFill>
                        </a:rPr>
                        <a:t>Position Timeline</a:t>
                      </a:r>
                    </a:p>
                  </a:txBody>
                  <a:tcPr>
                    <a:solidFill>
                      <a:srgbClr val="DCE3D5"/>
                    </a:solidFill>
                  </a:tcPr>
                </a:tc>
                <a:tc>
                  <a:txBody>
                    <a:bodyPr/>
                    <a:lstStyle/>
                    <a:p>
                      <a:r>
                        <a:rPr sz="700" b="0">
                          <a:solidFill>
                            <a:srgbClr val="985494"/>
                          </a:solidFill>
                        </a:rPr>
                        <a:t>Beacon</a:t>
                      </a:r>
                    </a:p>
                  </a:txBody>
                  <a:tcPr>
                    <a:solidFill>
                      <a:srgbClr val="C4D0B9"/>
                    </a:solidFill>
                  </a:tcPr>
                </a:tc>
                <a:extLst>
                  <a:ext uri="{0D108BD9-81ED-4DB2-BD59-A6C34878D82A}">
                    <a16:rowId xmlns:a16="http://schemas.microsoft.com/office/drawing/2014/main" val="10002"/>
                  </a:ext>
                </a:extLst>
              </a:tr>
              <a:tr h="232411">
                <a:tc>
                  <a:txBody>
                    <a:bodyPr/>
                    <a:lstStyle/>
                    <a:p>
                      <a:r>
                        <a:rPr sz="700" b="0">
                          <a:solidFill>
                            <a:srgbClr val="985494"/>
                          </a:solidFill>
                        </a:rPr>
                        <a:t>Hub Window</a:t>
                      </a:r>
                    </a:p>
                  </a:txBody>
                  <a:tcPr>
                    <a:solidFill>
                      <a:srgbClr val="DCE3D5"/>
                    </a:solidFill>
                  </a:tcPr>
                </a:tc>
                <a:tc>
                  <a:txBody>
                    <a:bodyPr/>
                    <a:lstStyle/>
                    <a:p>
                      <a:r>
                        <a:rPr sz="700" b="0">
                          <a:solidFill>
                            <a:srgbClr val="985494"/>
                          </a:solidFill>
                        </a:rPr>
                        <a:t>View</a:t>
                      </a:r>
                    </a:p>
                  </a:txBody>
                  <a:tcPr>
                    <a:solidFill>
                      <a:srgbClr val="C4D0B9"/>
                    </a:solidFill>
                  </a:tcPr>
                </a:tc>
                <a:tc>
                  <a:txBody>
                    <a:bodyPr/>
                    <a:lstStyle/>
                    <a:p>
                      <a:r>
                        <a:rPr sz="700" b="0">
                          <a:solidFill>
                            <a:srgbClr val="985494"/>
                          </a:solidFill>
                        </a:rPr>
                        <a:t>Level</a:t>
                      </a:r>
                    </a:p>
                  </a:txBody>
                  <a:tcPr>
                    <a:solidFill>
                      <a:srgbClr val="DCE3D5"/>
                    </a:solidFill>
                  </a:tcPr>
                </a:tc>
                <a:tc>
                  <a:txBody>
                    <a:bodyPr/>
                    <a:lstStyle/>
                    <a:p>
                      <a:r>
                        <a:rPr sz="700" b="0">
                          <a:solidFill>
                            <a:srgbClr val="985494"/>
                          </a:solidFill>
                        </a:rPr>
                        <a:t>Briefing</a:t>
                      </a:r>
                    </a:p>
                  </a:txBody>
                  <a:tcPr>
                    <a:solidFill>
                      <a:srgbClr val="C4D0B9"/>
                    </a:solidFill>
                  </a:tcPr>
                </a:tc>
                <a:tc>
                  <a:txBody>
                    <a:bodyPr/>
                    <a:lstStyle/>
                    <a:p>
                      <a:r>
                        <a:rPr sz="700" b="0">
                          <a:solidFill>
                            <a:srgbClr val="985494"/>
                          </a:solidFill>
                        </a:rPr>
                        <a:t>Record</a:t>
                      </a:r>
                    </a:p>
                  </a:txBody>
                  <a:tcPr>
                    <a:solidFill>
                      <a:srgbClr val="DCE3D5"/>
                    </a:solidFill>
                  </a:tcPr>
                </a:tc>
                <a:tc>
                  <a:txBody>
                    <a:bodyPr/>
                    <a:lstStyle/>
                    <a:p>
                      <a:r>
                        <a:rPr sz="700" b="0">
                          <a:solidFill>
                            <a:srgbClr val="985494"/>
                          </a:solidFill>
                        </a:rPr>
                        <a:t>Hub</a:t>
                      </a:r>
                    </a:p>
                  </a:txBody>
                  <a:tcPr>
                    <a:solidFill>
                      <a:srgbClr val="C4D0B9"/>
                    </a:solidFill>
                  </a:tcPr>
                </a:tc>
                <a:extLst>
                  <a:ext uri="{0D108BD9-81ED-4DB2-BD59-A6C34878D82A}">
                    <a16:rowId xmlns:a16="http://schemas.microsoft.com/office/drawing/2014/main" val="10003"/>
                  </a:ext>
                </a:extLst>
              </a:tr>
            </a:tbl>
          </a:graphicData>
        </a:graphic>
      </p:graphicFrame>
      <p:pic>
        <p:nvPicPr>
          <p:cNvPr id="17" name="Picture 16" descr="_example_image.jpg"/>
          <p:cNvPicPr>
            <a:picLocks noChangeAspect="1"/>
          </p:cNvPicPr>
          <p:nvPr/>
        </p:nvPicPr>
        <p:blipFill>
          <a:blip r:embed="rId2"/>
          <a:srcRect l="1470" t="1513" r="10534" b="4655"/>
          <a:stretch>
            <a:fillRect/>
          </a:stretch>
        </p:blipFill>
        <p:spPr>
          <a:xfrm>
            <a:off x="2275365" y="1495400"/>
            <a:ext cx="1037370" cy="751090"/>
          </a:xfrm>
          <a:prstGeom prst="rect">
            <a:avLst/>
          </a:prstGeom>
        </p:spPr>
      </p:pic>
      <p:sp>
        <p:nvSpPr>
          <p:cNvPr id="18" name="Document 17"/>
          <p:cNvSpPr/>
          <p:nvPr/>
        </p:nvSpPr>
        <p:spPr>
          <a:xfrm>
            <a:off x="8209394" y="4410662"/>
            <a:ext cx="813501" cy="708716"/>
          </a:xfrm>
          <a:prstGeom prst="flowChartDocument">
            <a:avLst/>
          </a:prstGeom>
          <a:solidFill>
            <a:srgbClr val="806E45"/>
          </a:solidFill>
          <a:ln w="25588">
            <a:solidFill>
              <a:srgbClr val="8B7CB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11493" y="3798356"/>
            <a:ext cx="908927" cy="1255767"/>
          </a:xfrm>
          <a:prstGeom prst="rect">
            <a:avLst/>
          </a:prstGeom>
          <a:noFill/>
        </p:spPr>
        <p:txBody>
          <a:bodyPr wrap="none" lIns="78214" tIns="78214" rIns="78214" bIns="78214">
            <a:spAutoFit/>
          </a:bodyPr>
          <a:lstStyle/>
          <a:p>
            <a:r>
              <a:rPr sz="1900" b="0" i="0" u="none">
                <a:solidFill>
                  <a:srgbClr val="54C17E"/>
                </a:solidFill>
                <a:latin typeface="Calibri"/>
              </a:rPr>
              <a:t>Needle Catalog Goal Scale Target Measure Case Energy Circuit</a:t>
            </a:r>
          </a:p>
        </p:txBody>
      </p:sp>
      <p:sp>
        <p:nvSpPr>
          <p:cNvPr id="20" name="Wave 19"/>
          <p:cNvSpPr/>
          <p:nvPr/>
        </p:nvSpPr>
        <p:spPr>
          <a:xfrm>
            <a:off x="9399924" y="1979764"/>
            <a:ext cx="2425855" cy="807006"/>
          </a:xfrm>
          <a:prstGeom prst="wave">
            <a:avLst/>
          </a:prstGeom>
          <a:solidFill>
            <a:srgbClr val="195128"/>
          </a:solidFill>
          <a:ln w="26024">
            <a:solidFill>
              <a:srgbClr val="ABE4C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arallelogram 20"/>
          <p:cNvSpPr/>
          <p:nvPr/>
        </p:nvSpPr>
        <p:spPr>
          <a:xfrm>
            <a:off x="6408911" y="4293792"/>
            <a:ext cx="1495579" cy="1188429"/>
          </a:xfrm>
          <a:prstGeom prst="parallelogram">
            <a:avLst/>
          </a:prstGeom>
          <a:solidFill>
            <a:srgbClr val="DC41C0"/>
          </a:solidFill>
          <a:ln w="10379">
            <a:solidFill>
              <a:srgbClr val="95416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a:off x="439636" y="1767276"/>
            <a:ext cx="1780100" cy="1822705"/>
          </a:xfrm>
          <a:prstGeom prst="line">
            <a:avLst/>
          </a:prstGeom>
          <a:ln w="43822">
            <a:solidFill>
              <a:srgbClr val="522E85"/>
            </a:solidFill>
            <a:prstDash val="dot"/>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77837" y="472000"/>
            <a:ext cx="2875336" cy="670155"/>
          </a:xfrm>
          <a:prstGeom prst="rect">
            <a:avLst/>
          </a:prstGeom>
          <a:noFill/>
        </p:spPr>
        <p:txBody>
          <a:bodyPr wrap="none" lIns="39503" tIns="39503" rIns="39503" bIns="39503">
            <a:spAutoFit/>
          </a:bodyPr>
          <a:lstStyle/>
          <a:p>
            <a:r>
              <a:rPr sz="1100" b="0" i="0" u="none">
                <a:solidFill>
                  <a:srgbClr val="855165"/>
                </a:solidFill>
                <a:latin typeface="Calibri"/>
              </a:rPr>
              <a:t>Array Cluster Signal Panel Goal Register</a:t>
            </a:r>
          </a:p>
        </p:txBody>
      </p:sp>
      <p:cxnSp>
        <p:nvCxnSpPr>
          <p:cNvPr id="24" name="Connector 23"/>
          <p:cNvCxnSpPr/>
          <p:nvPr/>
        </p:nvCxnSpPr>
        <p:spPr>
          <a:xfrm flipV="1">
            <a:off x="10027850" y="1298879"/>
            <a:ext cx="902773" cy="698168"/>
          </a:xfrm>
          <a:prstGeom prst="line">
            <a:avLst/>
          </a:prstGeom>
          <a:ln w="22827">
            <a:solidFill>
              <a:srgbClr val="4E5F8A"/>
            </a:solidFill>
            <a:prstDash val="dash"/>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9293268" y="142166"/>
            <a:ext cx="859029" cy="1569724"/>
          </a:xfrm>
          <a:custGeom>
            <a:avLst/>
            <a:gdLst/>
            <a:ahLst/>
            <a:cxnLst/>
            <a:rect l="l" t="t" r="r" b="b"/>
            <a:pathLst>
              <a:path w="859029" h="1569724">
                <a:moveTo>
                  <a:pt x="429515" y="0"/>
                </a:moveTo>
                <a:lnTo>
                  <a:pt x="536893" y="392431"/>
                </a:lnTo>
                <a:lnTo>
                  <a:pt x="805340" y="282550"/>
                </a:lnTo>
                <a:lnTo>
                  <a:pt x="653220" y="784862"/>
                </a:lnTo>
                <a:lnTo>
                  <a:pt x="859029" y="1224385"/>
                </a:lnTo>
                <a:lnTo>
                  <a:pt x="536893" y="1130201"/>
                </a:lnTo>
                <a:lnTo>
                  <a:pt x="429515" y="1569724"/>
                </a:lnTo>
                <a:lnTo>
                  <a:pt x="322136" y="1130201"/>
                </a:lnTo>
                <a:lnTo>
                  <a:pt x="0" y="1224385"/>
                </a:lnTo>
                <a:lnTo>
                  <a:pt x="205809" y="784862"/>
                </a:lnTo>
                <a:lnTo>
                  <a:pt x="53690" y="282550"/>
                </a:lnTo>
                <a:lnTo>
                  <a:pt x="322136" y="392431"/>
                </a:lnTo>
                <a:close/>
              </a:path>
            </a:pathLst>
          </a:custGeom>
          <a:solidFill>
            <a:srgbClr val="4FBEE2"/>
          </a:solidFill>
          <a:ln w="11595">
            <a:solidFill>
              <a:srgbClr val="DB5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6" name="Chart 25"/>
          <p:cNvGraphicFramePr>
            <a:graphicFrameLocks noGrp="1"/>
          </p:cNvGraphicFramePr>
          <p:nvPr/>
        </p:nvGraphicFramePr>
        <p:xfrm>
          <a:off x="2340733" y="3453799"/>
          <a:ext cx="4873473" cy="1860512"/>
        </p:xfrm>
        <a:graphic>
          <a:graphicData uri="http://schemas.openxmlformats.org/drawingml/2006/chart">
            <c:chart xmlns:c="http://schemas.openxmlformats.org/drawingml/2006/chart" xmlns:r="http://schemas.openxmlformats.org/officeDocument/2006/relationships" r:id="rId4"/>
          </a:graphicData>
        </a:graphic>
      </p:graphicFrame>
      <p:pic>
        <p:nvPicPr>
          <p:cNvPr id="28" name="Graphic 27">
            <a:extLst>
              <a:ext uri="{FF2B5EF4-FFF2-40B4-BE49-F238E27FC236}">
                <a16:creationId xmlns:a16="http://schemas.microsoft.com/office/drawing/2014/main" id="{4F46EA9A-FA1F-0590-5581-9D4AB6D38935}"/>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9390211" y="5754366"/>
            <a:ext cx="1363879" cy="804025"/>
          </a:xfrm>
          <a:prstGeom prst="rect">
            <a:avLst/>
          </a:prstGeom>
        </p:spPr>
      </p:pic>
      <p:pic>
        <p:nvPicPr>
          <p:cNvPr id="30" name="Graphic 29">
            <a:extLst>
              <a:ext uri="{FF2B5EF4-FFF2-40B4-BE49-F238E27FC236}">
                <a16:creationId xmlns:a16="http://schemas.microsoft.com/office/drawing/2014/main" id="{5EF91A6F-D45C-8866-B093-F8E0170F0209}"/>
              </a:ext>
            </a:extLst>
          </p:cNvPr>
          <p:cNvPicPr>
            <a:picLocks/>
          </p:cNvPicPr>
          <p:nvPr/>
        </p:nvPicPr>
        <p:blipFill>
          <a:blip>
            <a:extLst>
              <a:ext uri="{96DAC541-7B7A-43D3-8B79-37D633B846F1}">
                <asvg:svgBlip xmlns:asvg="http://schemas.microsoft.com/office/drawing/2016/SVG/main" r:embed="rId6"/>
              </a:ext>
            </a:extLst>
          </a:blip>
          <a:stretch>
            <a:fillRect/>
          </a:stretch>
        </p:blipFill>
        <p:spPr>
          <a:xfrm>
            <a:off x="7415960" y="4780102"/>
            <a:ext cx="1227019" cy="191505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13860</Words>
  <Application>Microsoft Office PowerPoint</Application>
  <PresentationFormat>Widescreen</PresentationFormat>
  <Paragraphs>4423</Paragraphs>
  <Slides>100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100</vt:i4>
      </vt:variant>
    </vt:vector>
  </HeadingPairs>
  <TitlesOfParts>
    <vt:vector size="107" baseType="lpstr">
      <vt:lpstr>Aptos</vt:lpstr>
      <vt:lpstr>Arial</vt:lpstr>
      <vt:lpstr>Calibri</vt:lpstr>
      <vt:lpstr>Georgia</vt:lpstr>
      <vt:lpstr>Trebuchet MS</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Beasley Smith</cp:lastModifiedBy>
  <cp:revision>2</cp:revision>
  <dcterms:created xsi:type="dcterms:W3CDTF">2013-01-27T09:14:16Z</dcterms:created>
  <dcterms:modified xsi:type="dcterms:W3CDTF">2026-05-12T02:05:53Z</dcterms:modified>
  <cp:category/>
</cp:coreProperties>
</file>