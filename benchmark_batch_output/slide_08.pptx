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rminator 1"/>
          <p:cNvSpPr/>
          <p:nvPr/>
        </p:nvSpPr>
        <p:spPr>
          <a:xfrm>
            <a:off x="2523955" y="1052783"/>
            <a:ext cx="1692648" cy="313821"/>
          </a:xfrm>
          <a:prstGeom prst="flowChartTerminator">
            <a:avLst/>
          </a:prstGeom>
          <a:solidFill>
            <a:srgbClr val="33A78F"/>
          </a:solidFill>
          <a:ln w="28791">
            <a:solidFill>
              <a:srgbClr val="A4DEC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351" y="3702550"/>
            <a:ext cx="1696539" cy="9437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3478" y="2561770"/>
            <a:ext cx="4859377" cy="1743371"/>
          </a:xfrm>
          <a:prstGeom prst="rect">
            <a:avLst/>
          </a:prstGeom>
          <a:noFill/>
        </p:spPr>
        <p:txBody>
          <a:bodyPr wrap="none" lIns="72189" rIns="72189" tIns="72189" bIns="72189">
            <a:spAutoFit/>
          </a:bodyPr>
          <a:lstStyle/>
          <a:p>
            <a:r>
              <a:rPr sz="2000" b="1" i="0" u="none">
                <a:solidFill>
                  <a:srgbClr val="3BCF1F"/>
                </a:solidFill>
                <a:latin typeface="Georgia"/>
              </a:rPr>
              <a:t>Horizon Action Rhythm Indicator Drive Milestone Context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05997" y="2367115"/>
          <a:ext cx="2012685" cy="982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895"/>
                <a:gridCol w="670895"/>
                <a:gridCol w="670895"/>
              </a:tblGrid>
              <a:tr h="2455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F378B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D2B44E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F378B"/>
                          </a:solidFill>
                        </a:rPr>
                        <a:t>Thread</a:t>
                      </a:r>
                    </a:p>
                  </a:txBody>
                  <a:tcPr>
                    <a:solidFill>
                      <a:srgbClr val="D2B44E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F378B"/>
                          </a:solidFill>
                        </a:rPr>
                        <a:t>Pulse Delta</a:t>
                      </a:r>
                    </a:p>
                  </a:txBody>
                  <a:tcPr>
                    <a:solidFill>
                      <a:srgbClr val="D2B44E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</a:tr>
              <a:tr h="2455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378B"/>
                          </a:solidFill>
                        </a:rPr>
                        <a:t>Mesh Drive</a:t>
                      </a:r>
                    </a:p>
                  </a:txBody>
                  <a:tcPr>
                    <a:solidFill>
                      <a:srgbClr val="EAC0CF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378B"/>
                          </a:solidFill>
                        </a:rPr>
                        <a:t>Dispatch Dispatch</a:t>
                      </a:r>
                    </a:p>
                  </a:txBody>
                  <a:tcPr>
                    <a:solidFill>
                      <a:srgbClr val="EAC0CF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378B"/>
                          </a:solidFill>
                        </a:rPr>
                        <a:t>Dashboard</a:t>
                      </a:r>
                    </a:p>
                  </a:txBody>
                  <a:tcPr>
                    <a:solidFill>
                      <a:srgbClr val="EAC0CF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</a:tr>
              <a:tr h="2455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378B"/>
                          </a:solidFill>
                        </a:rPr>
                        <a:t>Capacity</a:t>
                      </a:r>
                    </a:p>
                  </a:txBody>
                  <a:tcPr>
                    <a:solidFill>
                      <a:srgbClr val="F6E5EB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378B"/>
                          </a:solidFill>
                        </a:rPr>
                        <a:t>Payload Command</a:t>
                      </a:r>
                    </a:p>
                  </a:txBody>
                  <a:tcPr>
                    <a:solidFill>
                      <a:srgbClr val="F6E5EB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378B"/>
                          </a:solidFill>
                        </a:rPr>
                        <a:t>Ledger</a:t>
                      </a:r>
                    </a:p>
                  </a:txBody>
                  <a:tcPr>
                    <a:solidFill>
                      <a:srgbClr val="F6E5EB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</a:tr>
              <a:tr h="2455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378B"/>
                          </a:solidFill>
                        </a:rPr>
                        <a:t>Program Filter</a:t>
                      </a:r>
                    </a:p>
                  </a:txBody>
                  <a:tcPr>
                    <a:solidFill>
                      <a:srgbClr val="EAC0CF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378B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EAC0CF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378B"/>
                          </a:solidFill>
                        </a:rPr>
                        <a:t>Position</a:t>
                      </a:r>
                    </a:p>
                  </a:txBody>
                  <a:tcPr>
                    <a:solidFill>
                      <a:srgbClr val="EAC0CF"/>
                    </a:solidFill>
                    <a:lnL w="6495">
                      <a:solidFill>
                        <a:srgbClr val="B77EBE"/>
                      </a:solidFill>
                      <a:prstDash val="solid"/>
                    </a:lnL>
                    <a:lnR w="6495">
                      <a:solidFill>
                        <a:srgbClr val="B77EBE"/>
                      </a:solidFill>
                      <a:prstDash val="solid"/>
                    </a:lnR>
                    <a:lnT w="6495">
                      <a:solidFill>
                        <a:srgbClr val="B77EBE"/>
                      </a:solidFill>
                      <a:prstDash val="solid"/>
                    </a:lnT>
                    <a:lnB w="6495">
                      <a:solidFill>
                        <a:srgbClr val="B77EB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rapezoid 5"/>
          <p:cNvSpPr/>
          <p:nvPr/>
        </p:nvSpPr>
        <p:spPr>
          <a:xfrm>
            <a:off x="7145819" y="5749800"/>
            <a:ext cx="2321079" cy="809021"/>
          </a:xfrm>
          <a:prstGeom prst="trapezoid">
            <a:avLst/>
          </a:prstGeom>
          <a:noFill/>
          <a:ln w="13493">
            <a:solidFill>
              <a:srgbClr val="BD314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ghtning Bolt 6"/>
          <p:cNvSpPr/>
          <p:nvPr/>
        </p:nvSpPr>
        <p:spPr>
          <a:xfrm>
            <a:off x="9367727" y="396959"/>
            <a:ext cx="2245594" cy="357240"/>
          </a:xfrm>
          <a:prstGeom prst="lightningBolt">
            <a:avLst/>
          </a:prstGeom>
          <a:solidFill>
            <a:srgbClr val="283D20"/>
          </a:solidFill>
          <a:ln w="11295">
            <a:solidFill>
              <a:srgbClr val="318F23"/>
            </a:solidFill>
            <a:prstDash val="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1141511" y="5354087"/>
            <a:ext cx="599454" cy="1011597"/>
          </a:xfrm>
          <a:prstGeom prst="rightArrow">
            <a:avLst/>
          </a:prstGeom>
          <a:noFill/>
          <a:ln w="17733">
            <a:solidFill>
              <a:srgbClr val="57BD4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Callout 8"/>
          <p:cNvSpPr/>
          <p:nvPr/>
        </p:nvSpPr>
        <p:spPr>
          <a:xfrm>
            <a:off x="829246" y="1003899"/>
            <a:ext cx="819415" cy="1486072"/>
          </a:xfrm>
          <a:prstGeom prst="rightArrowCallout">
            <a:avLst/>
          </a:prstGeom>
          <a:solidFill>
            <a:srgbClr val="89683F"/>
          </a:solidFill>
          <a:ln w="16647">
            <a:solidFill>
              <a:srgbClr val="D9DDC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16825" y="5706460"/>
            <a:ext cx="1448882" cy="882555"/>
          </a:xfrm>
          <a:prstGeom prst="rect">
            <a:avLst/>
          </a:prstGeom>
          <a:noFill/>
        </p:spPr>
        <p:txBody>
          <a:bodyPr wrap="none" lIns="57874" rIns="57874" tIns="57874" bIns="57874">
            <a:spAutoFit/>
          </a:bodyPr>
          <a:lstStyle/>
          <a:p>
            <a:r>
              <a:rPr sz="1700" b="1" i="0" u="none">
                <a:solidFill>
                  <a:srgbClr val="447C5D"/>
                </a:solidFill>
                <a:latin typeface="Arial"/>
              </a:rPr>
              <a:t>Intent Benchmark Workflow Edge Orbit Filter Review Cortex Region Collection Agenda Briefing Atlas Output Limit Metric Moment Detail Track Plan Measure Instance System Alignment Deployment Runtime Dispatch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2648" y="4321939"/>
            <a:ext cx="2610171" cy="2053514"/>
          </a:xfrm>
          <a:prstGeom prst="rect">
            <a:avLst/>
          </a:prstGeom>
          <a:solidFill>
            <a:srgbClr val="4B943E"/>
          </a:solidFill>
        </p:spPr>
        <p:txBody>
          <a:bodyPr wrap="none" lIns="30788" rIns="30788" tIns="30788" bIns="30788">
            <a:spAutoFit/>
          </a:bodyPr>
          <a:lstStyle/>
          <a:p>
            <a:r>
              <a:rPr sz="1100" b="0" i="0" u="none">
                <a:solidFill>
                  <a:srgbClr val="A92C2C"/>
                </a:solidFill>
                <a:latin typeface="Georgia"/>
              </a:rPr>
              <a:t>View Slice Loop</a:t>
            </a:r>
          </a:p>
        </p:txBody>
      </p:sp>
      <p:pic>
        <p:nvPicPr>
          <p:cNvPr id="12" name="Picture 11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11" y="1172851"/>
            <a:ext cx="1054321" cy="13981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1118" y="551338"/>
            <a:ext cx="4976008" cy="1899961"/>
          </a:xfrm>
          <a:prstGeom prst="rect">
            <a:avLst/>
          </a:prstGeom>
          <a:noFill/>
        </p:spPr>
        <p:txBody>
          <a:bodyPr wrap="none" lIns="49288" rIns="49288" tIns="49288" bIns="49288">
            <a:spAutoFit/>
          </a:bodyPr>
          <a:lstStyle/>
          <a:p>
            <a:r>
              <a:rPr sz="1300" b="0" i="0" u="none">
                <a:solidFill>
                  <a:srgbClr val="6B3AAB"/>
                </a:solidFill>
                <a:latin typeface="Georgia"/>
              </a:rPr>
              <a:t>Narrative Checkpoint Region Analysis Cell Delta Track Matrix Drift Position Spectrum Archive View Capacity Catalog Interval Indicator Stage Portal Snapshot Element Terminal Option Spectrum</a:t>
            </a:r>
          </a:p>
        </p:txBody>
      </p:sp>
      <p:sp>
        <p:nvSpPr>
          <p:cNvPr id="14" name="Terminator 13"/>
          <p:cNvSpPr/>
          <p:nvPr/>
        </p:nvSpPr>
        <p:spPr>
          <a:xfrm>
            <a:off x="2633685" y="1671007"/>
            <a:ext cx="521736" cy="873445"/>
          </a:xfrm>
          <a:prstGeom prst="flowChartTerminator">
            <a:avLst/>
          </a:prstGeom>
          <a:solidFill>
            <a:srgbClr val="4CE136"/>
          </a:solidFill>
          <a:ln w="18375">
            <a:solidFill>
              <a:srgbClr val="247E6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621" y="2500981"/>
            <a:ext cx="2662214" cy="1615060"/>
          </a:xfrm>
          <a:prstGeom prst="rect">
            <a:avLst/>
          </a:prstGeom>
          <a:noFill/>
        </p:spPr>
        <p:txBody>
          <a:bodyPr wrap="none" lIns="58388" rIns="58388" tIns="58388" bIns="58388">
            <a:spAutoFit/>
          </a:bodyPr>
          <a:lstStyle/>
          <a:p>
            <a:r>
              <a:rPr sz="1700" b="0" i="0" u="none">
                <a:solidFill>
                  <a:srgbClr val="E58DC5"/>
                </a:solidFill>
                <a:latin typeface="Georgia"/>
              </a:rPr>
              <a:t>Alignment North Explorer Lens Chart Field Station Account Beta Texture Index Baseline Node Bridge Alignment Echo Interval Audit Capacity Region Reserve Detail Input Friction Matrix View Packet Collection Module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12261" y="4360027"/>
          <a:ext cx="2619622" cy="1259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905"/>
                <a:gridCol w="654905"/>
                <a:gridCol w="654905"/>
                <a:gridCol w="654907"/>
              </a:tblGrid>
              <a:tr h="4197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ED6B2"/>
                          </a:solidFill>
                        </a:rPr>
                        <a:t>Proof</a:t>
                      </a:r>
                    </a:p>
                  </a:txBody>
                  <a:tcPr>
                    <a:solidFill>
                      <a:srgbClr val="A96A6E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ED6B2"/>
                          </a:solidFill>
                        </a:rPr>
                        <a:t>Texture</a:t>
                      </a:r>
                    </a:p>
                  </a:txBody>
                  <a:tcPr>
                    <a:solidFill>
                      <a:srgbClr val="A96A6E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ED6B2"/>
                          </a:solidFill>
                        </a:rPr>
                        <a:t>Viewport</a:t>
                      </a:r>
                    </a:p>
                  </a:txBody>
                  <a:tcPr>
                    <a:solidFill>
                      <a:srgbClr val="A96A6E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ED6B2"/>
                          </a:solidFill>
                        </a:rPr>
                        <a:t>Module Insight</a:t>
                      </a:r>
                    </a:p>
                  </a:txBody>
                  <a:tcPr>
                    <a:solidFill>
                      <a:srgbClr val="A96A6E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</a:tr>
              <a:tr h="41976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ED6B2"/>
                          </a:solidFill>
                        </a:rPr>
                        <a:t>Coverage Workflow</a:t>
                      </a:r>
                    </a:p>
                  </a:txBody>
                  <a:tcPr>
                    <a:solidFill>
                      <a:srgbClr val="EFF6DE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ED6B2"/>
                          </a:solidFill>
                        </a:rPr>
                        <a:t>Package Rhythm</a:t>
                      </a:r>
                    </a:p>
                  </a:txBody>
                  <a:tcPr>
                    <a:solidFill>
                      <a:srgbClr val="ECF4D8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ED6B2"/>
                          </a:solidFill>
                        </a:rPr>
                        <a:t>Waypoint Atlas</a:t>
                      </a:r>
                    </a:p>
                  </a:txBody>
                  <a:tcPr>
                    <a:solidFill>
                      <a:srgbClr val="EFF6DE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ED6B2"/>
                          </a:solidFill>
                        </a:rPr>
                        <a:t>Region Record</a:t>
                      </a:r>
                    </a:p>
                  </a:txBody>
                  <a:tcPr>
                    <a:solidFill>
                      <a:srgbClr val="ECF4D8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</a:tr>
              <a:tr h="4197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ED6B2"/>
                          </a:solidFill>
                        </a:rPr>
                        <a:t>Switch</a:t>
                      </a:r>
                    </a:p>
                  </a:txBody>
                  <a:tcPr>
                    <a:solidFill>
                      <a:srgbClr val="EFF6DE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ED6B2"/>
                          </a:solidFill>
                        </a:rPr>
                        <a:t>Module Coverage</a:t>
                      </a:r>
                    </a:p>
                  </a:txBody>
                  <a:tcPr>
                    <a:solidFill>
                      <a:srgbClr val="ECF4D8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ED6B2"/>
                          </a:solidFill>
                        </a:rPr>
                        <a:t>Span</a:t>
                      </a:r>
                    </a:p>
                  </a:txBody>
                  <a:tcPr>
                    <a:solidFill>
                      <a:srgbClr val="EFF6DE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ED6B2"/>
                          </a:solidFill>
                        </a:rPr>
                        <a:t>Keyline Detail</a:t>
                      </a:r>
                    </a:p>
                  </a:txBody>
                  <a:tcPr>
                    <a:solidFill>
                      <a:srgbClr val="ECF4D8"/>
                    </a:solidFill>
                    <a:lnL w="19656">
                      <a:solidFill>
                        <a:srgbClr val="A150E6"/>
                      </a:solidFill>
                      <a:prstDash val="solid"/>
                    </a:lnL>
                    <a:lnR w="19656">
                      <a:solidFill>
                        <a:srgbClr val="A150E6"/>
                      </a:solidFill>
                      <a:prstDash val="solid"/>
                    </a:lnR>
                    <a:lnT w="19656">
                      <a:solidFill>
                        <a:srgbClr val="A150E6"/>
                      </a:solidFill>
                      <a:prstDash val="solid"/>
                    </a:lnT>
                    <a:lnB w="19656">
                      <a:solidFill>
                        <a:srgbClr val="A150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680531" y="3363644"/>
            <a:ext cx="1488578" cy="1015112"/>
          </a:xfrm>
          <a:prstGeom prst="rect">
            <a:avLst/>
          </a:prstGeom>
          <a:noFill/>
        </p:spPr>
        <p:txBody>
          <a:bodyPr wrap="none" lIns="29374" rIns="29374" tIns="29374" bIns="29374">
            <a:spAutoFit/>
          </a:bodyPr>
          <a:lstStyle/>
          <a:p>
            <a:r>
              <a:rPr sz="2200" b="1" i="0" u="sng">
                <a:solidFill>
                  <a:srgbClr val="5C58B1"/>
                </a:solidFill>
                <a:latin typeface="Arial"/>
              </a:rPr>
              <a:t>Stream Queue Harbor Context Bundle Frequency Beacon Data Cortex</a:t>
            </a:r>
          </a:p>
        </p:txBody>
      </p:sp>
      <p:sp>
        <p:nvSpPr>
          <p:cNvPr id="18" name="Quad Arrow 17"/>
          <p:cNvSpPr/>
          <p:nvPr/>
        </p:nvSpPr>
        <p:spPr>
          <a:xfrm>
            <a:off x="10017107" y="907915"/>
            <a:ext cx="1140373" cy="1084409"/>
          </a:xfrm>
          <a:prstGeom prst="quadArrow">
            <a:avLst/>
          </a:prstGeom>
          <a:solidFill>
            <a:srgbClr val="D22622"/>
          </a:solidFill>
          <a:ln w="31172">
            <a:solidFill>
              <a:srgbClr val="B61E9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838" y="5518136"/>
            <a:ext cx="2559944" cy="7406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