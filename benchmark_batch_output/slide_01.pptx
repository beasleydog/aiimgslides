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87" y="5247084"/>
            <a:ext cx="3073328" cy="746955"/>
          </a:xfrm>
          <a:prstGeom prst="rect">
            <a:avLst/>
          </a:prstGeom>
        </p:spPr>
      </p:pic>
      <p:sp>
        <p:nvSpPr>
          <p:cNvPr id="3" name="Diamond 2"/>
          <p:cNvSpPr/>
          <p:nvPr/>
        </p:nvSpPr>
        <p:spPr>
          <a:xfrm>
            <a:off x="1326882" y="3530876"/>
            <a:ext cx="1026984" cy="864930"/>
          </a:xfrm>
          <a:prstGeom prst="diamond">
            <a:avLst/>
          </a:prstGeom>
          <a:solidFill>
            <a:srgbClr val="251EE3"/>
          </a:solidFill>
          <a:ln w="17030">
            <a:solidFill>
              <a:srgbClr val="24719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43396" y="5065555"/>
            <a:ext cx="4013726" cy="391640"/>
          </a:xfrm>
          <a:prstGeom prst="rect">
            <a:avLst/>
          </a:prstGeom>
          <a:noFill/>
        </p:spPr>
        <p:txBody>
          <a:bodyPr wrap="none" lIns="49072" rIns="49072" tIns="49072" bIns="49072">
            <a:spAutoFit/>
          </a:bodyPr>
          <a:lstStyle/>
          <a:p>
            <a:r>
              <a:rPr sz="1700" b="0" i="0" u="none">
                <a:solidFill>
                  <a:srgbClr val="C1A39D"/>
                </a:solidFill>
                <a:latin typeface="Trebuchet MS"/>
              </a:rPr>
              <a:t>Station Envelope Indicator State Duration Depth Keyline Point Goal Circuit Envelope Case Foundation Structure Trigger Cadence Workflow Trigger Grid Balance Method Span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25932" y="2588982"/>
            <a:ext cx="1421084" cy="1159147"/>
          </a:xfrm>
          <a:prstGeom prst="rect">
            <a:avLst/>
          </a:prstGeom>
          <a:noFill/>
        </p:spPr>
        <p:txBody>
          <a:bodyPr wrap="none" lIns="73077" rIns="73077" tIns="73077" bIns="73077">
            <a:spAutoFit/>
          </a:bodyPr>
          <a:lstStyle/>
          <a:p>
            <a:r>
              <a:rPr sz="900" b="0" i="0" u="none">
                <a:solidFill>
                  <a:srgbClr val="D44C7A"/>
                </a:solidFill>
                <a:latin typeface="Aptos"/>
              </a:rPr>
              <a:t>Velocity Inventory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281" y="1404974"/>
            <a:ext cx="1721545" cy="2063879"/>
          </a:xfrm>
          <a:prstGeom prst="rect">
            <a:avLst/>
          </a:prstGeom>
          <a:noFill/>
        </p:spPr>
        <p:txBody>
          <a:bodyPr wrap="none" lIns="70030" rIns="70030" tIns="70030" bIns="70030">
            <a:spAutoFit/>
          </a:bodyPr>
          <a:lstStyle/>
          <a:p>
            <a:r>
              <a:rPr sz="1100" b="0" i="1" u="none">
                <a:solidFill>
                  <a:srgbClr val="5479E6"/>
                </a:solidFill>
                <a:latin typeface="Trebuchet MS"/>
              </a:rPr>
              <a:t>Element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1870" y="3411541"/>
            <a:ext cx="1498022" cy="1489596"/>
          </a:xfrm>
          <a:prstGeom prst="rect">
            <a:avLst/>
          </a:prstGeom>
          <a:noFill/>
        </p:spPr>
        <p:txBody>
          <a:bodyPr wrap="none" lIns="78456" rIns="78456" tIns="78456" bIns="78456">
            <a:spAutoFit/>
          </a:bodyPr>
          <a:lstStyle/>
          <a:p>
            <a:r>
              <a:rPr sz="6300" b="1" i="0" u="none">
                <a:solidFill>
                  <a:srgbClr val="9A277C"/>
                </a:solidFill>
                <a:latin typeface="Verdana"/>
              </a:rPr>
              <a:t>Model Timeline Epoch Bridge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601" y="4602038"/>
            <a:ext cx="1694483" cy="632124"/>
          </a:xfrm>
          <a:prstGeom prst="rect">
            <a:avLst/>
          </a:prstGeom>
          <a:noFill/>
        </p:spPr>
        <p:txBody>
          <a:bodyPr wrap="none" lIns="66339" rIns="66339" tIns="66339" bIns="66339">
            <a:spAutoFit/>
          </a:bodyPr>
          <a:lstStyle/>
          <a:p>
            <a:r>
              <a:rPr sz="1000" b="0" i="1" u="none">
                <a:solidFill>
                  <a:srgbClr val="29C593"/>
                </a:solidFill>
                <a:latin typeface="Aptos"/>
              </a:rPr>
              <a:t>Friction Dashboard Chart</a:t>
            </a:r>
          </a:p>
        </p:txBody>
      </p:sp>
      <p:pic>
        <p:nvPicPr>
          <p:cNvPr id="9" name="Picture 8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613" y="4916835"/>
            <a:ext cx="1332620" cy="1029092"/>
          </a:xfrm>
          <a:prstGeom prst="rect">
            <a:avLst/>
          </a:prstGeom>
        </p:spPr>
      </p:pic>
      <p:pic>
        <p:nvPicPr>
          <p:cNvPr id="10" name="Picture 9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561" y="2168003"/>
            <a:ext cx="1131859" cy="1962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13584" y="5752007"/>
            <a:ext cx="2025055" cy="745138"/>
          </a:xfrm>
          <a:prstGeom prst="rect">
            <a:avLst/>
          </a:prstGeom>
          <a:solidFill>
            <a:srgbClr val="B069D7"/>
          </a:solidFill>
          <a:ln w="23276">
            <a:solidFill>
              <a:srgbClr val="3442A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9941850" y="1844260"/>
            <a:ext cx="1904245" cy="1273728"/>
          </a:xfrm>
          <a:prstGeom prst="leftArrow">
            <a:avLst/>
          </a:prstGeom>
          <a:solidFill>
            <a:srgbClr val="DD916C"/>
          </a:solidFill>
          <a:ln w="7855">
            <a:solidFill>
              <a:srgbClr val="8C6A3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woosh Arrow 12"/>
          <p:cNvSpPr/>
          <p:nvPr/>
        </p:nvSpPr>
        <p:spPr>
          <a:xfrm>
            <a:off x="6071651" y="2033771"/>
            <a:ext cx="907299" cy="821909"/>
          </a:xfrm>
          <a:prstGeom prst="swooshArrow">
            <a:avLst/>
          </a:prstGeom>
          <a:solidFill>
            <a:srgbClr val="5AC362"/>
          </a:solidFill>
          <a:ln w="26595">
            <a:solidFill>
              <a:srgbClr val="9C49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vision 13"/>
          <p:cNvSpPr/>
          <p:nvPr/>
        </p:nvSpPr>
        <p:spPr>
          <a:xfrm>
            <a:off x="3221791" y="951603"/>
            <a:ext cx="654362" cy="1310560"/>
          </a:xfrm>
          <a:prstGeom prst="mathDivide">
            <a:avLst/>
          </a:prstGeom>
          <a:solidFill>
            <a:srgbClr val="699148"/>
          </a:solidFill>
          <a:ln w="8256">
            <a:solidFill>
              <a:srgbClr val="7A8B2D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ta 14"/>
          <p:cNvSpPr/>
          <p:nvPr/>
        </p:nvSpPr>
        <p:spPr>
          <a:xfrm>
            <a:off x="10504827" y="3555780"/>
            <a:ext cx="809617" cy="1504812"/>
          </a:xfrm>
          <a:prstGeom prst="flowChartInputOutput">
            <a:avLst/>
          </a:prstGeom>
          <a:solidFill>
            <a:srgbClr val="269740"/>
          </a:solidFill>
          <a:ln w="13326">
            <a:solidFill>
              <a:srgbClr val="D3C6A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03592" y="5523894"/>
          <a:ext cx="4588396" cy="1194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198"/>
                <a:gridCol w="2294198"/>
              </a:tblGrid>
              <a:tr h="39824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A267B"/>
                          </a:solidFill>
                        </a:rPr>
                        <a:t>Viewport Guide</a:t>
                      </a:r>
                    </a:p>
                  </a:txBody>
                  <a:tcPr>
                    <a:solidFill>
                      <a:srgbClr val="5ED940"/>
                    </a:solidFill>
                    <a:lnL w="21691">
                      <a:solidFill>
                        <a:srgbClr val="AD78A2"/>
                      </a:solidFill>
                      <a:prstDash val="sysDot"/>
                    </a:lnL>
                    <a:lnR w="21691">
                      <a:solidFill>
                        <a:srgbClr val="AD78A2"/>
                      </a:solidFill>
                      <a:prstDash val="sysDot"/>
                    </a:lnR>
                    <a:lnT w="21691">
                      <a:solidFill>
                        <a:srgbClr val="AD78A2"/>
                      </a:solidFill>
                      <a:prstDash val="sysDot"/>
                    </a:lnT>
                    <a:lnB w="21691">
                      <a:solidFill>
                        <a:srgbClr val="AD78A2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A267B"/>
                          </a:solidFill>
                        </a:rPr>
                        <a:t>Catalog</a:t>
                      </a:r>
                    </a:p>
                  </a:txBody>
                  <a:tcPr>
                    <a:solidFill>
                      <a:srgbClr val="5ED940"/>
                    </a:solidFill>
                    <a:lnL w="21691">
                      <a:solidFill>
                        <a:srgbClr val="AD78A2"/>
                      </a:solidFill>
                      <a:prstDash val="sysDot"/>
                    </a:lnL>
                    <a:lnR w="21691">
                      <a:solidFill>
                        <a:srgbClr val="AD78A2"/>
                      </a:solidFill>
                      <a:prstDash val="sysDot"/>
                    </a:lnR>
                    <a:lnT w="21691">
                      <a:solidFill>
                        <a:srgbClr val="AD78A2"/>
                      </a:solidFill>
                      <a:prstDash val="sysDot"/>
                    </a:lnT>
                    <a:lnB w="21691">
                      <a:solidFill>
                        <a:srgbClr val="AD78A2"/>
                      </a:solidFill>
                      <a:prstDash val="sysDot"/>
                    </a:lnB>
                  </a:tcPr>
                </a:tc>
              </a:tr>
              <a:tr h="3982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67B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D8DDE2"/>
                    </a:solidFill>
                    <a:lnL w="21691">
                      <a:solidFill>
                        <a:srgbClr val="AD78A2"/>
                      </a:solidFill>
                      <a:prstDash val="sysDot"/>
                    </a:lnL>
                    <a:lnR w="21691">
                      <a:solidFill>
                        <a:srgbClr val="AD78A2"/>
                      </a:solidFill>
                      <a:prstDash val="sysDot"/>
                    </a:lnR>
                    <a:lnT w="21691">
                      <a:solidFill>
                        <a:srgbClr val="AD78A2"/>
                      </a:solidFill>
                      <a:prstDash val="sysDot"/>
                    </a:lnT>
                    <a:lnB w="21691">
                      <a:solidFill>
                        <a:srgbClr val="AD78A2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67B"/>
                          </a:solidFill>
                        </a:rPr>
                        <a:t>Report Case</a:t>
                      </a:r>
                    </a:p>
                  </a:txBody>
                  <a:tcPr>
                    <a:solidFill>
                      <a:srgbClr val="BAC2CC"/>
                    </a:solidFill>
                    <a:lnL w="21691">
                      <a:solidFill>
                        <a:srgbClr val="AD78A2"/>
                      </a:solidFill>
                      <a:prstDash val="sysDot"/>
                    </a:lnL>
                    <a:lnR w="21691">
                      <a:solidFill>
                        <a:srgbClr val="AD78A2"/>
                      </a:solidFill>
                      <a:prstDash val="sysDot"/>
                    </a:lnR>
                    <a:lnT w="21691">
                      <a:solidFill>
                        <a:srgbClr val="AD78A2"/>
                      </a:solidFill>
                      <a:prstDash val="sysDot"/>
                    </a:lnT>
                    <a:lnB w="21691">
                      <a:solidFill>
                        <a:srgbClr val="AD78A2"/>
                      </a:solidFill>
                      <a:prstDash val="sysDot"/>
                    </a:lnB>
                  </a:tcPr>
                </a:tc>
              </a:tr>
              <a:tr h="39824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67B"/>
                          </a:solidFill>
                        </a:rPr>
                        <a:t>Narrative</a:t>
                      </a:r>
                    </a:p>
                  </a:txBody>
                  <a:tcPr>
                    <a:solidFill>
                      <a:srgbClr val="D8DDE2"/>
                    </a:solidFill>
                    <a:lnL w="21691">
                      <a:solidFill>
                        <a:srgbClr val="AD78A2"/>
                      </a:solidFill>
                      <a:prstDash val="sysDot"/>
                    </a:lnL>
                    <a:lnR w="21691">
                      <a:solidFill>
                        <a:srgbClr val="AD78A2"/>
                      </a:solidFill>
                      <a:prstDash val="sysDot"/>
                    </a:lnR>
                    <a:lnT w="21691">
                      <a:solidFill>
                        <a:srgbClr val="AD78A2"/>
                      </a:solidFill>
                      <a:prstDash val="sysDot"/>
                    </a:lnT>
                    <a:lnB w="21691">
                      <a:solidFill>
                        <a:srgbClr val="AD78A2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67B"/>
                          </a:solidFill>
                        </a:rPr>
                        <a:t>Gradient Terminal</a:t>
                      </a:r>
                    </a:p>
                  </a:txBody>
                  <a:tcPr>
                    <a:solidFill>
                      <a:srgbClr val="BAC2CC"/>
                    </a:solidFill>
                    <a:lnL w="21691">
                      <a:solidFill>
                        <a:srgbClr val="AD78A2"/>
                      </a:solidFill>
                      <a:prstDash val="sysDot"/>
                    </a:lnL>
                    <a:lnR w="21691">
                      <a:solidFill>
                        <a:srgbClr val="AD78A2"/>
                      </a:solidFill>
                      <a:prstDash val="sysDot"/>
                    </a:lnR>
                    <a:lnT w="21691">
                      <a:solidFill>
                        <a:srgbClr val="AD78A2"/>
                      </a:solidFill>
                      <a:prstDash val="sysDot"/>
                    </a:lnT>
                    <a:lnB w="21691">
                      <a:solidFill>
                        <a:srgbClr val="AD78A2"/>
                      </a:solidFill>
                      <a:prstDash val="sysDot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11090" y="483470"/>
            <a:ext cx="4969423" cy="1004660"/>
          </a:xfrm>
          <a:prstGeom prst="rect">
            <a:avLst/>
          </a:prstGeom>
          <a:solidFill>
            <a:srgbClr val="2DB933"/>
          </a:solidFill>
        </p:spPr>
        <p:txBody>
          <a:bodyPr wrap="none" lIns="42060" rIns="42060" tIns="42060" bIns="42060">
            <a:spAutoFit/>
          </a:bodyPr>
          <a:lstStyle/>
          <a:p>
            <a:r>
              <a:rPr sz="1000" b="1" i="1" u="none">
                <a:solidFill>
                  <a:srgbClr val="AB7766"/>
                </a:solidFill>
                <a:latin typeface="Georgia"/>
              </a:rPr>
              <a:t>Function Device Transform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1467" y="398390"/>
          <a:ext cx="2185204" cy="2068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602"/>
                <a:gridCol w="1092602"/>
              </a:tblGrid>
              <a:tr h="413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D9B25"/>
                          </a:solidFill>
                        </a:rPr>
                        <a:t>Harbor Reference</a:t>
                      </a:r>
                    </a:p>
                  </a:txBody>
                  <a:tcPr>
                    <a:solidFill>
                      <a:srgbClr val="97BA3C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D9B25"/>
                          </a:solidFill>
                        </a:rPr>
                        <a:t>Envelope Window</a:t>
                      </a:r>
                    </a:p>
                  </a:txBody>
                  <a:tcPr>
                    <a:solidFill>
                      <a:srgbClr val="97BA3C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</a:tr>
              <a:tr h="413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Insight Friction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Trace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</a:tr>
              <a:tr h="413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Zone Inventory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</a:tr>
              <a:tr h="413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Precision Gateway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</a:tr>
              <a:tr h="41360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Query Feature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D9B25"/>
                          </a:solidFill>
                        </a:rPr>
                        <a:t>Moment</a:t>
                      </a:r>
                    </a:p>
                  </a:txBody>
                  <a:tcPr>
                    <a:solidFill>
                      <a:srgbClr val="EADBE4"/>
                    </a:solidFill>
                    <a:lnL w="33581">
                      <a:solidFill>
                        <a:srgbClr val="469972"/>
                      </a:solidFill>
                      <a:prstDash val="lgDash"/>
                    </a:lnL>
                    <a:lnR w="33581">
                      <a:solidFill>
                        <a:srgbClr val="469972"/>
                      </a:solidFill>
                      <a:prstDash val="lgDash"/>
                    </a:lnR>
                    <a:lnT w="33581">
                      <a:solidFill>
                        <a:srgbClr val="469972"/>
                      </a:solidFill>
                      <a:prstDash val="lgDash"/>
                    </a:lnT>
                    <a:lnB w="33581">
                      <a:solidFill>
                        <a:srgbClr val="469972"/>
                      </a:solidFill>
                      <a:prstDash val="lgDash"/>
                    </a:lnB>
                  </a:tcPr>
                </a:tc>
              </a:tr>
            </a:tbl>
          </a:graphicData>
        </a:graphic>
      </p:graphicFrame>
      <p:sp>
        <p:nvSpPr>
          <p:cNvPr id="19" name="Left-Right Arrow 18"/>
          <p:cNvSpPr/>
          <p:nvPr/>
        </p:nvSpPr>
        <p:spPr>
          <a:xfrm>
            <a:off x="2989380" y="2937021"/>
            <a:ext cx="1045705" cy="279920"/>
          </a:xfrm>
          <a:prstGeom prst="leftRightArrow">
            <a:avLst/>
          </a:prstGeom>
          <a:noFill/>
          <a:ln w="22679">
            <a:solidFill>
              <a:srgbClr val="61977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