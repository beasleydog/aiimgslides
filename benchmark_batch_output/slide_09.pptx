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68105" y="1365041"/>
            <a:ext cx="2893307" cy="1466218"/>
          </a:xfrm>
          <a:prstGeom prst="rect">
            <a:avLst/>
          </a:prstGeom>
          <a:solidFill>
            <a:srgbClr val="28E1A9"/>
          </a:solidFill>
        </p:spPr>
        <p:txBody>
          <a:bodyPr wrap="none" lIns="53284" rIns="53284" tIns="53284" bIns="53284">
            <a:spAutoFit/>
          </a:bodyPr>
          <a:lstStyle/>
          <a:p>
            <a:r>
              <a:rPr sz="2800" b="1" i="1" u="none">
                <a:solidFill>
                  <a:srgbClr val="C47839"/>
                </a:solidFill>
                <a:latin typeface="Aptos"/>
              </a:rPr>
              <a:t>Process Pipeline Chart Intent Model Cadence Design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0494" y="3813395"/>
          <a:ext cx="2361752" cy="1976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876"/>
                <a:gridCol w="1180876"/>
              </a:tblGrid>
              <a:tr h="988353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397475"/>
                          </a:solidFill>
                        </a:rPr>
                        <a:t>Packet</a:t>
                      </a:r>
                    </a:p>
                  </a:txBody>
                  <a:tcPr>
                    <a:solidFill>
                      <a:srgbClr val="35AE58"/>
                    </a:solidFill>
                    <a:lnL w="15692">
                      <a:solidFill>
                        <a:srgbClr val="3762B6"/>
                      </a:solidFill>
                      <a:prstDash val="dashDot"/>
                    </a:lnL>
                    <a:lnR w="15692">
                      <a:solidFill>
                        <a:srgbClr val="3762B6"/>
                      </a:solidFill>
                      <a:prstDash val="dashDot"/>
                    </a:lnR>
                    <a:lnT w="15692">
                      <a:solidFill>
                        <a:srgbClr val="3762B6"/>
                      </a:solidFill>
                      <a:prstDash val="dashDot"/>
                    </a:lnT>
                    <a:lnB w="15692">
                      <a:solidFill>
                        <a:srgbClr val="3762B6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397475"/>
                          </a:solidFill>
                        </a:rPr>
                        <a:t>Option North</a:t>
                      </a:r>
                    </a:p>
                  </a:txBody>
                  <a:tcPr>
                    <a:solidFill>
                      <a:srgbClr val="35AE58"/>
                    </a:solidFill>
                    <a:lnL w="15692">
                      <a:solidFill>
                        <a:srgbClr val="3762B6"/>
                      </a:solidFill>
                      <a:prstDash val="dashDot"/>
                    </a:lnL>
                    <a:lnR w="15692">
                      <a:solidFill>
                        <a:srgbClr val="3762B6"/>
                      </a:solidFill>
                      <a:prstDash val="dashDot"/>
                    </a:lnR>
                    <a:lnT w="15692">
                      <a:solidFill>
                        <a:srgbClr val="3762B6"/>
                      </a:solidFill>
                      <a:prstDash val="dashDot"/>
                    </a:lnT>
                    <a:lnB w="15692">
                      <a:solidFill>
                        <a:srgbClr val="3762B6"/>
                      </a:solidFill>
                      <a:prstDash val="dashDot"/>
                    </a:lnB>
                  </a:tcPr>
                </a:tc>
              </a:tr>
              <a:tr h="988354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397475"/>
                          </a:solidFill>
                        </a:rPr>
                        <a:t>Inventory</a:t>
                      </a:r>
                    </a:p>
                  </a:txBody>
                  <a:tcPr>
                    <a:solidFill>
                      <a:srgbClr val="F0E6C8"/>
                    </a:solidFill>
                    <a:lnL w="15692">
                      <a:solidFill>
                        <a:srgbClr val="3762B6"/>
                      </a:solidFill>
                      <a:prstDash val="dashDot"/>
                    </a:lnL>
                    <a:lnR w="15692">
                      <a:solidFill>
                        <a:srgbClr val="3762B6"/>
                      </a:solidFill>
                      <a:prstDash val="dashDot"/>
                    </a:lnR>
                    <a:lnT w="15692">
                      <a:solidFill>
                        <a:srgbClr val="3762B6"/>
                      </a:solidFill>
                      <a:prstDash val="dashDot"/>
                    </a:lnT>
                    <a:lnB w="15692">
                      <a:solidFill>
                        <a:srgbClr val="3762B6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397475"/>
                          </a:solidFill>
                        </a:rPr>
                        <a:t>Catalog</a:t>
                      </a:r>
                    </a:p>
                  </a:txBody>
                  <a:tcPr>
                    <a:solidFill>
                      <a:srgbClr val="F0E6C8"/>
                    </a:solidFill>
                    <a:lnL w="15692">
                      <a:solidFill>
                        <a:srgbClr val="3762B6"/>
                      </a:solidFill>
                      <a:prstDash val="dashDot"/>
                    </a:lnL>
                    <a:lnR w="15692">
                      <a:solidFill>
                        <a:srgbClr val="3762B6"/>
                      </a:solidFill>
                      <a:prstDash val="dashDot"/>
                    </a:lnR>
                    <a:lnT w="15692">
                      <a:solidFill>
                        <a:srgbClr val="3762B6"/>
                      </a:solidFill>
                      <a:prstDash val="dashDot"/>
                    </a:lnT>
                    <a:lnB w="15692">
                      <a:solidFill>
                        <a:srgbClr val="3762B6"/>
                      </a:solidFill>
                      <a:prstDash val="dashDot"/>
                    </a:lnB>
                  </a:tcPr>
                </a:tc>
              </a:tr>
            </a:tbl>
          </a:graphicData>
        </a:graphic>
      </p:graphicFrame>
      <p:sp>
        <p:nvSpPr>
          <p:cNvPr id="4" name="Division 3"/>
          <p:cNvSpPr/>
          <p:nvPr/>
        </p:nvSpPr>
        <p:spPr>
          <a:xfrm>
            <a:off x="7852148" y="3509613"/>
            <a:ext cx="450479" cy="298330"/>
          </a:xfrm>
          <a:prstGeom prst="mathDivide">
            <a:avLst/>
          </a:prstGeom>
          <a:solidFill>
            <a:srgbClr val="553E9F"/>
          </a:solidFill>
          <a:ln w="26542">
            <a:solidFill>
              <a:srgbClr val="33D66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29" y="758198"/>
            <a:ext cx="1140219" cy="135004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91645" y="1975084"/>
          <a:ext cx="2146969" cy="1501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393"/>
                <a:gridCol w="429393"/>
                <a:gridCol w="429393"/>
                <a:gridCol w="429393"/>
                <a:gridCol w="429397"/>
              </a:tblGrid>
              <a:tr h="50045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77E4"/>
                          </a:solidFill>
                        </a:rPr>
                        <a:t>Queueing Harbor</a:t>
                      </a:r>
                    </a:p>
                  </a:txBody>
                  <a:tcPr>
                    <a:solidFill>
                      <a:srgbClr val="6F8D99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77E4"/>
                          </a:solidFill>
                        </a:rPr>
                        <a:t>Program Milestone</a:t>
                      </a:r>
                    </a:p>
                  </a:txBody>
                  <a:tcPr>
                    <a:solidFill>
                      <a:srgbClr val="6F8D99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77E4"/>
                          </a:solidFill>
                        </a:rPr>
                        <a:t>Design Payload</a:t>
                      </a:r>
                    </a:p>
                  </a:txBody>
                  <a:tcPr>
                    <a:solidFill>
                      <a:srgbClr val="6F8D99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77E4"/>
                          </a:solidFill>
                        </a:rPr>
                        <a:t>Runtime</a:t>
                      </a:r>
                    </a:p>
                  </a:txBody>
                  <a:tcPr>
                    <a:solidFill>
                      <a:srgbClr val="6F8D99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777E4"/>
                          </a:solidFill>
                        </a:rPr>
                        <a:t>Craft</a:t>
                      </a:r>
                    </a:p>
                  </a:txBody>
                  <a:tcPr>
                    <a:solidFill>
                      <a:srgbClr val="6F8D99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</a:tr>
              <a:tr h="50045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77E4"/>
                          </a:solidFill>
                        </a:rPr>
                        <a:t>Flow</a:t>
                      </a:r>
                    </a:p>
                  </a:txBody>
                  <a:tcPr>
                    <a:solidFill>
                      <a:srgbClr val="E6F0E8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77E4"/>
                          </a:solidFill>
                        </a:rPr>
                        <a:t>Logic</a:t>
                      </a:r>
                    </a:p>
                  </a:txBody>
                  <a:tcPr>
                    <a:solidFill>
                      <a:srgbClr val="E6F0E8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77E4"/>
                          </a:solidFill>
                        </a:rPr>
                        <a:t>Trace</a:t>
                      </a:r>
                    </a:p>
                  </a:txBody>
                  <a:tcPr>
                    <a:solidFill>
                      <a:srgbClr val="E6F0E8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77E4"/>
                          </a:solidFill>
                        </a:rPr>
                        <a:t>Thread Friction</a:t>
                      </a:r>
                    </a:p>
                  </a:txBody>
                  <a:tcPr>
                    <a:solidFill>
                      <a:srgbClr val="E6F0E8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77E4"/>
                          </a:solidFill>
                        </a:rPr>
                        <a:t>Station Scale</a:t>
                      </a:r>
                    </a:p>
                  </a:txBody>
                  <a:tcPr>
                    <a:solidFill>
                      <a:srgbClr val="E6F0E8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</a:tr>
              <a:tr h="50045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77E4"/>
                          </a:solidFill>
                        </a:rPr>
                        <a:t>Alpha</a:t>
                      </a:r>
                    </a:p>
                  </a:txBody>
                  <a:tcPr>
                    <a:solidFill>
                      <a:srgbClr val="E6F0E8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77E4"/>
                          </a:solidFill>
                        </a:rPr>
                        <a:t>Sync</a:t>
                      </a:r>
                    </a:p>
                  </a:txBody>
                  <a:tcPr>
                    <a:solidFill>
                      <a:srgbClr val="E6F0E8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77E4"/>
                          </a:solidFill>
                        </a:rPr>
                        <a:t>Panel Archive</a:t>
                      </a:r>
                    </a:p>
                  </a:txBody>
                  <a:tcPr>
                    <a:solidFill>
                      <a:srgbClr val="E6F0E8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77E4"/>
                          </a:solidFill>
                        </a:rPr>
                        <a:t>Rhythm</a:t>
                      </a:r>
                    </a:p>
                  </a:txBody>
                  <a:tcPr>
                    <a:solidFill>
                      <a:srgbClr val="E6F0E8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77E4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E6F0E8"/>
                    </a:solidFill>
                    <a:lnL w="17862">
                      <a:solidFill>
                        <a:srgbClr val="B9885D"/>
                      </a:solidFill>
                      <a:prstDash val="solid"/>
                    </a:lnL>
                    <a:lnR w="17862">
                      <a:solidFill>
                        <a:srgbClr val="B9885D"/>
                      </a:solidFill>
                      <a:prstDash val="solid"/>
                    </a:lnR>
                    <a:lnT w="17862">
                      <a:solidFill>
                        <a:srgbClr val="B9885D"/>
                      </a:solidFill>
                      <a:prstDash val="solid"/>
                    </a:lnT>
                    <a:lnB w="17862">
                      <a:solidFill>
                        <a:srgbClr val="B9885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78962" y="2894029"/>
            <a:ext cx="934977" cy="1075983"/>
          </a:xfrm>
          <a:prstGeom prst="rect">
            <a:avLst/>
          </a:prstGeom>
          <a:noFill/>
        </p:spPr>
        <p:txBody>
          <a:bodyPr wrap="none" lIns="59555" rIns="59555" tIns="59555" bIns="59555">
            <a:spAutoFit/>
          </a:bodyPr>
          <a:lstStyle/>
          <a:p>
            <a:r>
              <a:rPr sz="2000" b="0" i="0" u="none">
                <a:solidFill>
                  <a:srgbClr val="4F6B3A"/>
                </a:solidFill>
                <a:latin typeface="Trebuchet MS"/>
              </a:rPr>
              <a:t>Draft Atlas Canvas Sync Pulse Stage Snapshot Method Concept</a:t>
            </a:r>
          </a:p>
        </p:txBody>
      </p:sp>
      <p:sp>
        <p:nvSpPr>
          <p:cNvPr id="8" name="Trapezoid 7"/>
          <p:cNvSpPr/>
          <p:nvPr/>
        </p:nvSpPr>
        <p:spPr>
          <a:xfrm>
            <a:off x="1857180" y="6142357"/>
            <a:ext cx="1787263" cy="303620"/>
          </a:xfrm>
          <a:prstGeom prst="trapezoid">
            <a:avLst/>
          </a:prstGeom>
          <a:solidFill>
            <a:srgbClr val="46C84F"/>
          </a:solidFill>
          <a:ln w="16577">
            <a:solidFill>
              <a:srgbClr val="84BD2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0520074" y="4959464"/>
            <a:ext cx="460804" cy="722587"/>
          </a:xfrm>
          <a:prstGeom prst="diamond">
            <a:avLst/>
          </a:prstGeom>
          <a:solidFill>
            <a:srgbClr val="DA7AD0"/>
          </a:solidFill>
          <a:ln w="25380">
            <a:solidFill>
              <a:srgbClr val="338D5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869" y="166300"/>
            <a:ext cx="1756268" cy="743841"/>
          </a:xfrm>
          <a:prstGeom prst="rect">
            <a:avLst/>
          </a:prstGeom>
        </p:spPr>
      </p:pic>
      <p:pic>
        <p:nvPicPr>
          <p:cNvPr id="11" name="Picture 10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73" y="2087633"/>
            <a:ext cx="1272144" cy="1219180"/>
          </a:xfrm>
          <a:prstGeom prst="rect">
            <a:avLst/>
          </a:prstGeom>
        </p:spPr>
      </p:pic>
      <p:sp>
        <p:nvSpPr>
          <p:cNvPr id="12" name="Swoosh Arrow 11"/>
          <p:cNvSpPr/>
          <p:nvPr/>
        </p:nvSpPr>
        <p:spPr>
          <a:xfrm>
            <a:off x="1576946" y="2596039"/>
            <a:ext cx="1082210" cy="229033"/>
          </a:xfrm>
          <a:prstGeom prst="swooshArrow">
            <a:avLst/>
          </a:prstGeom>
          <a:solidFill>
            <a:srgbClr val="19A96B"/>
          </a:solidFill>
          <a:ln w="6753">
            <a:solidFill>
              <a:srgbClr val="57CD2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8487" y="655157"/>
            <a:ext cx="1082378" cy="535887"/>
          </a:xfrm>
          <a:prstGeom prst="rect">
            <a:avLst/>
          </a:prstGeom>
          <a:solidFill>
            <a:srgbClr val="75558A"/>
          </a:solidFill>
        </p:spPr>
        <p:txBody>
          <a:bodyPr wrap="none" lIns="65389" rIns="65389" tIns="65389" bIns="65389">
            <a:spAutoFit/>
          </a:bodyPr>
          <a:lstStyle/>
          <a:p>
            <a:r>
              <a:rPr sz="2900" b="0" i="0" u="none">
                <a:solidFill>
                  <a:srgbClr val="6B2B69"/>
                </a:solidFill>
                <a:latin typeface="Georgia"/>
              </a:rPr>
              <a:t>Query Slice Transform Range Archive Audit Texture Vertex Anchor Radius Design Waypoint Metric</a:t>
            </a:r>
          </a:p>
        </p:txBody>
      </p:sp>
      <p:sp>
        <p:nvSpPr>
          <p:cNvPr id="14" name="Terminator 13"/>
          <p:cNvSpPr/>
          <p:nvPr/>
        </p:nvSpPr>
        <p:spPr>
          <a:xfrm>
            <a:off x="1389376" y="846897"/>
            <a:ext cx="2288049" cy="876513"/>
          </a:xfrm>
          <a:prstGeom prst="flowChartTerminator">
            <a:avLst/>
          </a:prstGeom>
          <a:solidFill>
            <a:srgbClr val="9A53C0"/>
          </a:solidFill>
          <a:ln w="27035">
            <a:solidFill>
              <a:srgbClr val="4DC95B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Callout 14"/>
          <p:cNvSpPr/>
          <p:nvPr/>
        </p:nvSpPr>
        <p:spPr>
          <a:xfrm>
            <a:off x="10563724" y="1141636"/>
            <a:ext cx="980106" cy="535848"/>
          </a:xfrm>
          <a:prstGeom prst="rightArrowCallout">
            <a:avLst/>
          </a:prstGeom>
          <a:solidFill>
            <a:srgbClr val="503434"/>
          </a:solidFill>
          <a:ln w="9627">
            <a:solidFill>
              <a:srgbClr val="8995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8147" y="4232503"/>
            <a:ext cx="4858972" cy="317837"/>
          </a:xfrm>
          <a:prstGeom prst="rect">
            <a:avLst/>
          </a:prstGeom>
          <a:noFill/>
        </p:spPr>
        <p:txBody>
          <a:bodyPr wrap="none" lIns="88245" rIns="88245" tIns="88245" bIns="88245">
            <a:spAutoFit/>
          </a:bodyPr>
          <a:lstStyle/>
          <a:p>
            <a:r>
              <a:rPr sz="1700" b="0" i="0" u="none">
                <a:solidFill>
                  <a:srgbClr val="6E41B0"/>
                </a:solidFill>
                <a:latin typeface="Arial"/>
              </a:rPr>
              <a:t>Expansion North North Design Dispatch Track Field Ratio Horizon Dashboard Instance Snapshot Packet Hub Stage Slice Sequence Balance Request Object Tile Canvas Cluster Station Node Pipeline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821176" y="4932410"/>
            <a:ext cx="1736169" cy="877927"/>
          </a:xfrm>
          <a:prstGeom prst="downArrow">
            <a:avLst/>
          </a:prstGeom>
          <a:solidFill>
            <a:srgbClr val="362350"/>
          </a:solidFill>
          <a:ln w="19017">
            <a:solidFill>
              <a:srgbClr val="B0A14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8820" y="3417803"/>
            <a:ext cx="3173859" cy="882250"/>
          </a:xfrm>
          <a:prstGeom prst="rect">
            <a:avLst/>
          </a:prstGeom>
          <a:noFill/>
        </p:spPr>
        <p:txBody>
          <a:bodyPr wrap="none" lIns="87498" rIns="87498" tIns="87498" bIns="87498">
            <a:spAutoFit/>
          </a:bodyPr>
          <a:lstStyle/>
          <a:p>
            <a:r>
              <a:rPr sz="1000" b="0" i="0" u="none">
                <a:solidFill>
                  <a:srgbClr val="DEA877"/>
                </a:solidFill>
                <a:latin typeface="Aptos"/>
              </a:rPr>
              <a:t>Switch Rhythm Window Asset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3587" y="4933880"/>
            <a:ext cx="2862323" cy="1568646"/>
          </a:xfrm>
          <a:prstGeom prst="rect">
            <a:avLst/>
          </a:prstGeom>
          <a:noFill/>
        </p:spPr>
        <p:txBody>
          <a:bodyPr wrap="none" lIns="87008" rIns="87008" tIns="87008" bIns="87008">
            <a:spAutoFit/>
          </a:bodyPr>
          <a:lstStyle/>
          <a:p>
            <a:r>
              <a:rPr sz="1200" b="0" i="1" u="none">
                <a:solidFill>
                  <a:srgbClr val="7C9E5B"/>
                </a:solidFill>
                <a:latin typeface="Verdana"/>
              </a:rPr>
              <a:t>Direction Exchange Object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