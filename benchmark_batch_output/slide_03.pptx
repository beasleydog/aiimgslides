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29017" y="5884692"/>
            <a:ext cx="4906133" cy="253803"/>
          </a:xfrm>
          <a:prstGeom prst="rect">
            <a:avLst/>
          </a:prstGeom>
          <a:noFill/>
        </p:spPr>
        <p:txBody>
          <a:bodyPr wrap="none" lIns="30019" rIns="30019" tIns="30019" bIns="30019">
            <a:spAutoFit/>
          </a:bodyPr>
          <a:lstStyle/>
          <a:p>
            <a:r>
              <a:rPr sz="1300" b="0" i="0" u="none">
                <a:solidFill>
                  <a:srgbClr val="A3CC73"/>
                </a:solidFill>
                <a:latin typeface="Calibri"/>
              </a:rPr>
              <a:t>Gateway Bridge Domain Dispatch Hub Signal Beacon Threshold Friction Vertex Network Logic Epoch Gateway Delta Pulse Token Build Depth Epoch Cluster Vertex Forecast Aspect Journey Link View Device Summary Lineage Data Milestone Profile Data Catalog Core Drift Transit Sequence Audit Threshold Ratio Filter Handle</a:t>
            </a:r>
          </a:p>
        </p:txBody>
      </p:sp>
      <p:sp>
        <p:nvSpPr>
          <p:cNvPr id="3" name="Block Arc 2"/>
          <p:cNvSpPr/>
          <p:nvPr/>
        </p:nvSpPr>
        <p:spPr>
          <a:xfrm>
            <a:off x="2841275" y="3496563"/>
            <a:ext cx="328512" cy="1572964"/>
          </a:xfrm>
          <a:prstGeom prst="blockArc">
            <a:avLst/>
          </a:prstGeom>
          <a:noFill/>
          <a:ln w="30745">
            <a:solidFill>
              <a:srgbClr val="E01EE4"/>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56439" y="1041835"/>
            <a:ext cx="3311142" cy="1675705"/>
          </a:xfrm>
          <a:prstGeom prst="rect">
            <a:avLst/>
          </a:prstGeom>
          <a:noFill/>
        </p:spPr>
        <p:txBody>
          <a:bodyPr wrap="none" lIns="26693" rIns="26693" tIns="26693" bIns="26693">
            <a:spAutoFit/>
          </a:bodyPr>
          <a:lstStyle/>
          <a:p>
            <a:r>
              <a:rPr sz="900" b="1" i="0" u="none">
                <a:solidFill>
                  <a:srgbClr val="5CD4DD"/>
                </a:solidFill>
                <a:latin typeface="Aptos"/>
              </a:rPr>
              <a:t>Atlas Program Logic Measure Moment Anchor Version Aspect Resource Grid Profile Stream Model Goal Flow Lens Account Engine Dashboard Grid Mesh Segment Version Panel Record Gateway Concept Order Queueing Vector Alpha Thread Velocity Sample Slice Track Audit Canvas Dispatch Motion</a:t>
            </a:r>
          </a:p>
        </p:txBody>
      </p:sp>
      <p:pic>
        <p:nvPicPr>
          <p:cNvPr id="5" name="Picture 4" descr="_example_image.jpg"/>
          <p:cNvPicPr>
            <a:picLocks noChangeAspect="1"/>
          </p:cNvPicPr>
          <p:nvPr/>
        </p:nvPicPr>
        <p:blipFill>
          <a:blip r:embed="rId2"/>
          <a:stretch>
            <a:fillRect/>
          </a:stretch>
        </p:blipFill>
        <p:spPr>
          <a:xfrm>
            <a:off x="9802868" y="3988582"/>
            <a:ext cx="1160188" cy="757568"/>
          </a:xfrm>
          <a:prstGeom prst="rect">
            <a:avLst/>
          </a:prstGeom>
        </p:spPr>
      </p:pic>
      <p:sp>
        <p:nvSpPr>
          <p:cNvPr id="6" name="Block Arc 5"/>
          <p:cNvSpPr/>
          <p:nvPr/>
        </p:nvSpPr>
        <p:spPr>
          <a:xfrm>
            <a:off x="10685123" y="4035364"/>
            <a:ext cx="735355" cy="655078"/>
          </a:xfrm>
          <a:prstGeom prst="blockArc">
            <a:avLst/>
          </a:prstGeom>
          <a:solidFill>
            <a:srgbClr val="D8D331"/>
          </a:solidFill>
          <a:ln w="10412">
            <a:solidFill>
              <a:srgbClr val="6CAE2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ine Callout 2 6"/>
          <p:cNvSpPr/>
          <p:nvPr/>
        </p:nvSpPr>
        <p:spPr>
          <a:xfrm>
            <a:off x="9169711" y="2871956"/>
            <a:ext cx="1959906" cy="363859"/>
          </a:xfrm>
          <a:prstGeom prst="borderCallout2">
            <a:avLst/>
          </a:prstGeom>
          <a:solidFill>
            <a:srgbClr val="CA411C"/>
          </a:solidFill>
          <a:ln w="14512">
            <a:solidFill>
              <a:srgbClr val="4D4255"/>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2155" y="914960"/>
            <a:ext cx="1931985" cy="1707593"/>
          </a:xfrm>
          <a:prstGeom prst="rect">
            <a:avLst/>
          </a:prstGeom>
          <a:noFill/>
        </p:spPr>
        <p:txBody>
          <a:bodyPr wrap="none" lIns="30921" rIns="30921" tIns="30921" bIns="30921">
            <a:spAutoFit/>
          </a:bodyPr>
          <a:lstStyle/>
          <a:p>
            <a:r>
              <a:rPr sz="700" b="0" i="0" u="none">
                <a:solidFill>
                  <a:srgbClr val="233C66"/>
                </a:solidFill>
                <a:latin typeface="Calibri"/>
              </a:rPr>
              <a:t>Span Interface Epoch Volume</a:t>
            </a:r>
          </a:p>
        </p:txBody>
      </p:sp>
      <p:sp>
        <p:nvSpPr>
          <p:cNvPr id="9" name="TextBox 8"/>
          <p:cNvSpPr txBox="1"/>
          <p:nvPr/>
        </p:nvSpPr>
        <p:spPr>
          <a:xfrm>
            <a:off x="8461870" y="1984602"/>
            <a:ext cx="2889054" cy="464737"/>
          </a:xfrm>
          <a:prstGeom prst="rect">
            <a:avLst/>
          </a:prstGeom>
          <a:noFill/>
        </p:spPr>
        <p:txBody>
          <a:bodyPr wrap="none" lIns="84533" rIns="84533" tIns="84533" bIns="84533">
            <a:spAutoFit/>
          </a:bodyPr>
          <a:lstStyle/>
          <a:p>
            <a:r>
              <a:rPr sz="800" b="1" i="0" u="none">
                <a:solidFill>
                  <a:srgbClr val="7D7A2A"/>
                </a:solidFill>
                <a:latin typeface="Georgia"/>
              </a:rPr>
              <a:t>Route Alpha Story Input Profile</a:t>
            </a:r>
          </a:p>
        </p:txBody>
      </p:sp>
      <p:sp>
        <p:nvSpPr>
          <p:cNvPr id="10" name="Trapezoid 9"/>
          <p:cNvSpPr/>
          <p:nvPr/>
        </p:nvSpPr>
        <p:spPr>
          <a:xfrm>
            <a:off x="5714208" y="3132438"/>
            <a:ext cx="542659" cy="716932"/>
          </a:xfrm>
          <a:prstGeom prst="trapezoid">
            <a:avLst/>
          </a:prstGeom>
          <a:solidFill>
            <a:srgbClr val="DCB81C"/>
          </a:solidFill>
          <a:ln w="8144">
            <a:solidFill>
              <a:srgbClr val="A4769E"/>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83393" y="3207911"/>
            <a:ext cx="1875062" cy="1442613"/>
          </a:xfrm>
          <a:prstGeom prst="rect">
            <a:avLst/>
          </a:prstGeom>
          <a:noFill/>
        </p:spPr>
        <p:txBody>
          <a:bodyPr wrap="none" lIns="68842" rIns="68842" tIns="68842" bIns="68842">
            <a:spAutoFit/>
          </a:bodyPr>
          <a:lstStyle/>
          <a:p>
            <a:r>
              <a:rPr sz="1900" b="1" i="0" u="none">
                <a:solidFill>
                  <a:srgbClr val="E34947"/>
                </a:solidFill>
                <a:latin typeface="Georgia"/>
              </a:rPr>
              <a:t>Explorer Proof Canvas Priority Slice Signal Craft</a:t>
            </a:r>
          </a:p>
        </p:txBody>
      </p:sp>
      <p:sp>
        <p:nvSpPr>
          <p:cNvPr id="12" name="Terminator 11"/>
          <p:cNvSpPr/>
          <p:nvPr/>
        </p:nvSpPr>
        <p:spPr>
          <a:xfrm>
            <a:off x="2079039" y="4998644"/>
            <a:ext cx="653242" cy="330368"/>
          </a:xfrm>
          <a:prstGeom prst="flowChartTerminator">
            <a:avLst/>
          </a:prstGeom>
          <a:solidFill>
            <a:srgbClr val="8E3D97"/>
          </a:solidFill>
          <a:ln w="31662">
            <a:solidFill>
              <a:srgbClr val="DA1FD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_example_image.jpg"/>
          <p:cNvPicPr>
            <a:picLocks noChangeAspect="1"/>
          </p:cNvPicPr>
          <p:nvPr/>
        </p:nvPicPr>
        <p:blipFill>
          <a:blip r:embed="rId2"/>
          <a:stretch>
            <a:fillRect/>
          </a:stretch>
        </p:blipFill>
        <p:spPr>
          <a:xfrm>
            <a:off x="1126671" y="472038"/>
            <a:ext cx="1198108" cy="1863051"/>
          </a:xfrm>
          <a:prstGeom prst="rect">
            <a:avLst/>
          </a:prstGeom>
        </p:spPr>
      </p:pic>
      <p:sp>
        <p:nvSpPr>
          <p:cNvPr id="14" name="Left-Right Arrow 13"/>
          <p:cNvSpPr/>
          <p:nvPr/>
        </p:nvSpPr>
        <p:spPr>
          <a:xfrm>
            <a:off x="8981668" y="5142611"/>
            <a:ext cx="2165957" cy="411077"/>
          </a:xfrm>
          <a:prstGeom prst="leftRightArrow">
            <a:avLst/>
          </a:prstGeom>
          <a:solidFill>
            <a:srgbClr val="9D73B9"/>
          </a:solidFill>
          <a:ln w="15175">
            <a:solidFill>
              <a:srgbClr val="DC5E1F"/>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09509" y="3471825"/>
            <a:ext cx="1015913" cy="1345056"/>
          </a:xfrm>
          <a:prstGeom prst="rect">
            <a:avLst/>
          </a:prstGeom>
          <a:solidFill>
            <a:srgbClr val="5962C6"/>
          </a:solidFill>
        </p:spPr>
        <p:txBody>
          <a:bodyPr wrap="none" lIns="36975" rIns="36975" tIns="36975" bIns="36975">
            <a:spAutoFit/>
          </a:bodyPr>
          <a:lstStyle/>
          <a:p>
            <a:r>
              <a:rPr sz="4100" b="1" i="0" u="none">
                <a:solidFill>
                  <a:srgbClr val="2A695F"/>
                </a:solidFill>
                <a:latin typeface="Verdana"/>
              </a:rPr>
              <a:t>Density Energy Cycle Library Waypoint</a:t>
            </a:r>
          </a:p>
        </p:txBody>
      </p:sp>
      <p:pic>
        <p:nvPicPr>
          <p:cNvPr id="16" name="Picture 15" descr="_example_image.jpg"/>
          <p:cNvPicPr>
            <a:picLocks noChangeAspect="1"/>
          </p:cNvPicPr>
          <p:nvPr/>
        </p:nvPicPr>
        <p:blipFill>
          <a:blip r:embed="rId2"/>
          <a:stretch>
            <a:fillRect/>
          </a:stretch>
        </p:blipFill>
        <p:spPr>
          <a:xfrm>
            <a:off x="2204093" y="275065"/>
            <a:ext cx="1892089" cy="806253"/>
          </a:xfrm>
          <a:prstGeom prst="rect">
            <a:avLst/>
          </a:prstGeom>
        </p:spPr>
      </p:pic>
      <p:sp>
        <p:nvSpPr>
          <p:cNvPr id="17" name="Can 16"/>
          <p:cNvSpPr/>
          <p:nvPr/>
        </p:nvSpPr>
        <p:spPr>
          <a:xfrm>
            <a:off x="1437880" y="3040269"/>
            <a:ext cx="695106" cy="1560799"/>
          </a:xfrm>
          <a:prstGeom prst="can">
            <a:avLst/>
          </a:prstGeom>
          <a:solidFill>
            <a:srgbClr val="A4D4D0"/>
          </a:solidFill>
          <a:ln w="8213">
            <a:solidFill>
              <a:srgbClr val="DFA37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9516203" y="367662"/>
          <a:ext cx="2476742" cy="1891695"/>
        </p:xfrm>
        <a:graphic>
          <a:graphicData uri="http://schemas.openxmlformats.org/drawingml/2006/table">
            <a:tbl>
              <a:tblPr firstRow="1" bandRow="1">
                <a:tableStyleId>{5C22544A-7EE6-4342-B048-85BDC9FD1C3A}</a:tableStyleId>
              </a:tblPr>
              <a:tblGrid>
                <a:gridCol w="825580"/>
                <a:gridCol w="825580"/>
                <a:gridCol w="825582"/>
              </a:tblGrid>
              <a:tr h="630565">
                <a:tc>
                  <a:txBody>
                    <a:bodyPr/>
                    <a:lstStyle/>
                    <a:p>
                      <a:r>
                        <a:rPr sz="1300" b="1">
                          <a:solidFill>
                            <a:srgbClr val="CC8E35"/>
                          </a:solidFill>
                        </a:rPr>
                        <a:t>Measure</a:t>
                      </a:r>
                    </a:p>
                  </a:txBody>
                  <a:tcPr>
                    <a:solidFill>
                      <a:srgbClr val="267091"/>
                    </a:solidFill>
                    <a:lnL w="4590">
                      <a:solidFill>
                        <a:srgbClr val="506E22"/>
                      </a:solidFill>
                      <a:prstDash val="solid"/>
                    </a:lnL>
                    <a:lnR w="4590">
                      <a:solidFill>
                        <a:srgbClr val="506E22"/>
                      </a:solidFill>
                      <a:prstDash val="solid"/>
                    </a:lnR>
                    <a:lnT w="4590">
                      <a:solidFill>
                        <a:srgbClr val="506E22"/>
                      </a:solidFill>
                      <a:prstDash val="solid"/>
                    </a:lnT>
                    <a:lnB w="4590">
                      <a:solidFill>
                        <a:srgbClr val="506E22"/>
                      </a:solidFill>
                      <a:prstDash val="solid"/>
                    </a:lnB>
                  </a:tcPr>
                </a:tc>
                <a:tc>
                  <a:txBody>
                    <a:bodyPr/>
                    <a:lstStyle/>
                    <a:p>
                      <a:r>
                        <a:rPr sz="1300" b="1">
                          <a:solidFill>
                            <a:srgbClr val="CC8E35"/>
                          </a:solidFill>
                        </a:rPr>
                        <a:t>Threshold</a:t>
                      </a:r>
                    </a:p>
                  </a:txBody>
                  <a:tcPr>
                    <a:solidFill>
                      <a:srgbClr val="267091"/>
                    </a:solidFill>
                    <a:lnL w="4590">
                      <a:solidFill>
                        <a:srgbClr val="506E22"/>
                      </a:solidFill>
                      <a:prstDash val="solid"/>
                    </a:lnL>
                    <a:lnR w="4590">
                      <a:solidFill>
                        <a:srgbClr val="506E22"/>
                      </a:solidFill>
                      <a:prstDash val="solid"/>
                    </a:lnR>
                    <a:lnT w="4590">
                      <a:solidFill>
                        <a:srgbClr val="506E22"/>
                      </a:solidFill>
                      <a:prstDash val="solid"/>
                    </a:lnT>
                    <a:lnB w="4590">
                      <a:solidFill>
                        <a:srgbClr val="506E22"/>
                      </a:solidFill>
                      <a:prstDash val="solid"/>
                    </a:lnB>
                  </a:tcPr>
                </a:tc>
                <a:tc>
                  <a:txBody>
                    <a:bodyPr/>
                    <a:lstStyle/>
                    <a:p>
                      <a:r>
                        <a:rPr sz="1300" b="1">
                          <a:solidFill>
                            <a:srgbClr val="CC8E35"/>
                          </a:solidFill>
                        </a:rPr>
                        <a:t>Pipeline</a:t>
                      </a:r>
                    </a:p>
                  </a:txBody>
                  <a:tcPr>
                    <a:solidFill>
                      <a:srgbClr val="267091"/>
                    </a:solidFill>
                    <a:lnL w="4590">
                      <a:solidFill>
                        <a:srgbClr val="506E22"/>
                      </a:solidFill>
                      <a:prstDash val="solid"/>
                    </a:lnL>
                    <a:lnR w="4590">
                      <a:solidFill>
                        <a:srgbClr val="506E22"/>
                      </a:solidFill>
                      <a:prstDash val="solid"/>
                    </a:lnR>
                    <a:lnT w="4590">
                      <a:solidFill>
                        <a:srgbClr val="506E22"/>
                      </a:solidFill>
                      <a:prstDash val="solid"/>
                    </a:lnT>
                    <a:lnB w="4590">
                      <a:solidFill>
                        <a:srgbClr val="506E22"/>
                      </a:solidFill>
                      <a:prstDash val="solid"/>
                    </a:lnB>
                  </a:tcPr>
                </a:tc>
              </a:tr>
              <a:tr h="630565">
                <a:tc>
                  <a:txBody>
                    <a:bodyPr/>
                    <a:lstStyle/>
                    <a:p>
                      <a:r>
                        <a:rPr sz="1300" b="0">
                          <a:solidFill>
                            <a:srgbClr val="CC8E35"/>
                          </a:solidFill>
                        </a:rPr>
                        <a:t>Function</a:t>
                      </a:r>
                    </a:p>
                  </a:txBody>
                  <a:tcPr>
                    <a:solidFill>
                      <a:srgbClr val="DAD9DA"/>
                    </a:solidFill>
                    <a:lnL w="4590">
                      <a:solidFill>
                        <a:srgbClr val="506E22"/>
                      </a:solidFill>
                      <a:prstDash val="solid"/>
                    </a:lnL>
                    <a:lnR w="4590">
                      <a:solidFill>
                        <a:srgbClr val="506E22"/>
                      </a:solidFill>
                      <a:prstDash val="solid"/>
                    </a:lnR>
                    <a:lnT w="4590">
                      <a:solidFill>
                        <a:srgbClr val="506E22"/>
                      </a:solidFill>
                      <a:prstDash val="solid"/>
                    </a:lnT>
                    <a:lnB w="4590">
                      <a:solidFill>
                        <a:srgbClr val="506E22"/>
                      </a:solidFill>
                      <a:prstDash val="solid"/>
                    </a:lnB>
                  </a:tcPr>
                </a:tc>
                <a:tc>
                  <a:txBody>
                    <a:bodyPr/>
                    <a:lstStyle/>
                    <a:p>
                      <a:r>
                        <a:rPr sz="1300" b="0">
                          <a:solidFill>
                            <a:srgbClr val="CC8E35"/>
                          </a:solidFill>
                        </a:rPr>
                        <a:t>Ratio Map</a:t>
                      </a:r>
                    </a:p>
                  </a:txBody>
                  <a:tcPr>
                    <a:solidFill>
                      <a:srgbClr val="DAD9DA"/>
                    </a:solidFill>
                    <a:lnL w="4590">
                      <a:solidFill>
                        <a:srgbClr val="506E22"/>
                      </a:solidFill>
                      <a:prstDash val="solid"/>
                    </a:lnL>
                    <a:lnR w="4590">
                      <a:solidFill>
                        <a:srgbClr val="506E22"/>
                      </a:solidFill>
                      <a:prstDash val="solid"/>
                    </a:lnR>
                    <a:lnT w="4590">
                      <a:solidFill>
                        <a:srgbClr val="506E22"/>
                      </a:solidFill>
                      <a:prstDash val="solid"/>
                    </a:lnT>
                    <a:lnB w="4590">
                      <a:solidFill>
                        <a:srgbClr val="506E22"/>
                      </a:solidFill>
                      <a:prstDash val="solid"/>
                    </a:lnB>
                  </a:tcPr>
                </a:tc>
                <a:tc>
                  <a:txBody>
                    <a:bodyPr/>
                    <a:lstStyle/>
                    <a:p>
                      <a:r>
                        <a:rPr sz="1300" b="0">
                          <a:solidFill>
                            <a:srgbClr val="CC8E35"/>
                          </a:solidFill>
                        </a:rPr>
                        <a:t>Sample Result</a:t>
                      </a:r>
                    </a:p>
                  </a:txBody>
                  <a:tcPr>
                    <a:solidFill>
                      <a:srgbClr val="DAD9DA"/>
                    </a:solidFill>
                    <a:lnL w="4590">
                      <a:solidFill>
                        <a:srgbClr val="506E22"/>
                      </a:solidFill>
                      <a:prstDash val="solid"/>
                    </a:lnL>
                    <a:lnR w="4590">
                      <a:solidFill>
                        <a:srgbClr val="506E22"/>
                      </a:solidFill>
                      <a:prstDash val="solid"/>
                    </a:lnR>
                    <a:lnT w="4590">
                      <a:solidFill>
                        <a:srgbClr val="506E22"/>
                      </a:solidFill>
                      <a:prstDash val="solid"/>
                    </a:lnT>
                    <a:lnB w="4590">
                      <a:solidFill>
                        <a:srgbClr val="506E22"/>
                      </a:solidFill>
                      <a:prstDash val="solid"/>
                    </a:lnB>
                  </a:tcPr>
                </a:tc>
              </a:tr>
              <a:tr h="630565">
                <a:tc>
                  <a:txBody>
                    <a:bodyPr/>
                    <a:lstStyle/>
                    <a:p>
                      <a:r>
                        <a:rPr sz="1300" b="0">
                          <a:solidFill>
                            <a:srgbClr val="CC8E35"/>
                          </a:solidFill>
                        </a:rPr>
                        <a:t>Hub</a:t>
                      </a:r>
                    </a:p>
                  </a:txBody>
                  <a:tcPr>
                    <a:solidFill>
                      <a:srgbClr val="E1E0E1"/>
                    </a:solidFill>
                    <a:lnL w="4590">
                      <a:solidFill>
                        <a:srgbClr val="506E22"/>
                      </a:solidFill>
                      <a:prstDash val="solid"/>
                    </a:lnL>
                    <a:lnR w="4590">
                      <a:solidFill>
                        <a:srgbClr val="506E22"/>
                      </a:solidFill>
                      <a:prstDash val="solid"/>
                    </a:lnR>
                    <a:lnT w="4590">
                      <a:solidFill>
                        <a:srgbClr val="506E22"/>
                      </a:solidFill>
                      <a:prstDash val="solid"/>
                    </a:lnT>
                    <a:lnB w="4590">
                      <a:solidFill>
                        <a:srgbClr val="506E22"/>
                      </a:solidFill>
                      <a:prstDash val="solid"/>
                    </a:lnB>
                  </a:tcPr>
                </a:tc>
                <a:tc>
                  <a:txBody>
                    <a:bodyPr/>
                    <a:lstStyle/>
                    <a:p>
                      <a:r>
                        <a:rPr sz="1300" b="0">
                          <a:solidFill>
                            <a:srgbClr val="CC8E35"/>
                          </a:solidFill>
                        </a:rPr>
                        <a:t>Atlas Sync</a:t>
                      </a:r>
                    </a:p>
                  </a:txBody>
                  <a:tcPr>
                    <a:solidFill>
                      <a:srgbClr val="E1E0E1"/>
                    </a:solidFill>
                    <a:lnL w="4590">
                      <a:solidFill>
                        <a:srgbClr val="506E22"/>
                      </a:solidFill>
                      <a:prstDash val="solid"/>
                    </a:lnL>
                    <a:lnR w="4590">
                      <a:solidFill>
                        <a:srgbClr val="506E22"/>
                      </a:solidFill>
                      <a:prstDash val="solid"/>
                    </a:lnR>
                    <a:lnT w="4590">
                      <a:solidFill>
                        <a:srgbClr val="506E22"/>
                      </a:solidFill>
                      <a:prstDash val="solid"/>
                    </a:lnT>
                    <a:lnB w="4590">
                      <a:solidFill>
                        <a:srgbClr val="506E22"/>
                      </a:solidFill>
                      <a:prstDash val="solid"/>
                    </a:lnB>
                  </a:tcPr>
                </a:tc>
                <a:tc>
                  <a:txBody>
                    <a:bodyPr/>
                    <a:lstStyle/>
                    <a:p>
                      <a:r>
                        <a:rPr sz="1300" b="0">
                          <a:solidFill>
                            <a:srgbClr val="CC8E35"/>
                          </a:solidFill>
                        </a:rPr>
                        <a:t>Inventory</a:t>
                      </a:r>
                    </a:p>
                  </a:txBody>
                  <a:tcPr>
                    <a:solidFill>
                      <a:srgbClr val="E1E0E1"/>
                    </a:solidFill>
                    <a:lnL w="4590">
                      <a:solidFill>
                        <a:srgbClr val="506E22"/>
                      </a:solidFill>
                      <a:prstDash val="solid"/>
                    </a:lnL>
                    <a:lnR w="4590">
                      <a:solidFill>
                        <a:srgbClr val="506E22"/>
                      </a:solidFill>
                      <a:prstDash val="solid"/>
                    </a:lnR>
                    <a:lnT w="4590">
                      <a:solidFill>
                        <a:srgbClr val="506E22"/>
                      </a:solidFill>
                      <a:prstDash val="solid"/>
                    </a:lnT>
                    <a:lnB w="4590">
                      <a:solidFill>
                        <a:srgbClr val="506E22"/>
                      </a:solidFill>
                      <a:prstDash val="solid"/>
                    </a:lnB>
                  </a:tcPr>
                </a:tc>
              </a:tr>
            </a:tbl>
          </a:graphicData>
        </a:graphic>
      </p:graphicFrame>
      <p:graphicFrame>
        <p:nvGraphicFramePr>
          <p:cNvPr id="19" name="Table 18"/>
          <p:cNvGraphicFramePr>
            <a:graphicFrameLocks noGrp="1"/>
          </p:cNvGraphicFramePr>
          <p:nvPr/>
        </p:nvGraphicFramePr>
        <p:xfrm>
          <a:off x="7340152" y="4921898"/>
          <a:ext cx="4445652" cy="1133726"/>
        </p:xfrm>
        <a:graphic>
          <a:graphicData uri="http://schemas.openxmlformats.org/drawingml/2006/table">
            <a:tbl>
              <a:tblPr firstRow="1" bandRow="1">
                <a:tableStyleId>{5C22544A-7EE6-4342-B048-85BDC9FD1C3A}</a:tableStyleId>
              </a:tblPr>
              <a:tblGrid>
                <a:gridCol w="889130"/>
                <a:gridCol w="889130"/>
                <a:gridCol w="889130"/>
                <a:gridCol w="889130"/>
                <a:gridCol w="889132"/>
              </a:tblGrid>
              <a:tr h="283431">
                <a:tc>
                  <a:txBody>
                    <a:bodyPr/>
                    <a:lstStyle/>
                    <a:p>
                      <a:r>
                        <a:rPr sz="700" b="1">
                          <a:solidFill>
                            <a:srgbClr val="34CCB3"/>
                          </a:solidFill>
                        </a:rPr>
                        <a:t>Order</a:t>
                      </a:r>
                    </a:p>
                  </a:txBody>
                  <a:tcPr>
                    <a:solidFill>
                      <a:srgbClr val="502B25"/>
                    </a:solidFill>
                    <a:lnL w="37079">
                      <a:solidFill>
                        <a:srgbClr val="2D355E"/>
                      </a:solidFill>
                      <a:prstDash val="solid"/>
                    </a:lnL>
                    <a:lnR w="37079">
                      <a:solidFill>
                        <a:srgbClr val="2D355E"/>
                      </a:solidFill>
                      <a:prstDash val="solid"/>
                    </a:lnR>
                    <a:lnT w="37079">
                      <a:solidFill>
                        <a:srgbClr val="2D355E"/>
                      </a:solidFill>
                      <a:prstDash val="solid"/>
                    </a:lnT>
                    <a:lnB w="37079">
                      <a:solidFill>
                        <a:srgbClr val="2D355E"/>
                      </a:solidFill>
                      <a:prstDash val="solid"/>
                    </a:lnB>
                  </a:tcPr>
                </a:tc>
                <a:tc>
                  <a:txBody>
                    <a:bodyPr/>
                    <a:lstStyle/>
                    <a:p>
                      <a:r>
                        <a:rPr sz="700" b="1">
                          <a:solidFill>
                            <a:srgbClr val="34CCB3"/>
                          </a:solidFill>
                        </a:rPr>
                        <a:t>Impact</a:t>
                      </a:r>
                    </a:p>
                  </a:txBody>
                  <a:tcPr>
                    <a:solidFill>
                      <a:srgbClr val="502B25"/>
                    </a:solidFill>
                    <a:lnL w="37079">
                      <a:solidFill>
                        <a:srgbClr val="2D355E"/>
                      </a:solidFill>
                      <a:prstDash val="solid"/>
                    </a:lnL>
                    <a:lnR w="37079">
                      <a:solidFill>
                        <a:srgbClr val="2D355E"/>
                      </a:solidFill>
                      <a:prstDash val="solid"/>
                    </a:lnR>
                    <a:lnT w="37079">
                      <a:solidFill>
                        <a:srgbClr val="2D355E"/>
                      </a:solidFill>
                      <a:prstDash val="solid"/>
                    </a:lnT>
                    <a:lnB w="37079">
                      <a:solidFill>
                        <a:srgbClr val="2D355E"/>
                      </a:solidFill>
                      <a:prstDash val="solid"/>
                    </a:lnB>
                  </a:tcPr>
                </a:tc>
                <a:tc>
                  <a:txBody>
                    <a:bodyPr/>
                    <a:lstStyle/>
                    <a:p>
                      <a:r>
                        <a:rPr sz="700" b="1">
                          <a:solidFill>
                            <a:srgbClr val="34CCB3"/>
                          </a:solidFill>
                        </a:rPr>
                        <a:t>Apex Case</a:t>
                      </a:r>
                    </a:p>
                  </a:txBody>
                  <a:tcPr>
                    <a:solidFill>
                      <a:srgbClr val="502B25"/>
                    </a:solidFill>
                    <a:lnL w="37079">
                      <a:solidFill>
                        <a:srgbClr val="2D355E"/>
                      </a:solidFill>
                      <a:prstDash val="solid"/>
                    </a:lnL>
                    <a:lnR w="37079">
                      <a:solidFill>
                        <a:srgbClr val="2D355E"/>
                      </a:solidFill>
                      <a:prstDash val="solid"/>
                    </a:lnR>
                    <a:lnT w="37079">
                      <a:solidFill>
                        <a:srgbClr val="2D355E"/>
                      </a:solidFill>
                      <a:prstDash val="solid"/>
                    </a:lnT>
                    <a:lnB w="37079">
                      <a:solidFill>
                        <a:srgbClr val="2D355E"/>
                      </a:solidFill>
                      <a:prstDash val="solid"/>
                    </a:lnB>
                  </a:tcPr>
                </a:tc>
                <a:tc>
                  <a:txBody>
                    <a:bodyPr/>
                    <a:lstStyle/>
                    <a:p>
                      <a:r>
                        <a:rPr sz="700" b="1">
                          <a:solidFill>
                            <a:srgbClr val="34CCB3"/>
                          </a:solidFill>
                        </a:rPr>
                        <a:t>Dispatch</a:t>
                      </a:r>
                    </a:p>
                  </a:txBody>
                  <a:tcPr>
                    <a:solidFill>
                      <a:srgbClr val="502B25"/>
                    </a:solidFill>
                    <a:lnL w="37079">
                      <a:solidFill>
                        <a:srgbClr val="2D355E"/>
                      </a:solidFill>
                      <a:prstDash val="solid"/>
                    </a:lnL>
                    <a:lnR w="37079">
                      <a:solidFill>
                        <a:srgbClr val="2D355E"/>
                      </a:solidFill>
                      <a:prstDash val="solid"/>
                    </a:lnR>
                    <a:lnT w="37079">
                      <a:solidFill>
                        <a:srgbClr val="2D355E"/>
                      </a:solidFill>
                      <a:prstDash val="solid"/>
                    </a:lnT>
                    <a:lnB w="37079">
                      <a:solidFill>
                        <a:srgbClr val="2D355E"/>
                      </a:solidFill>
                      <a:prstDash val="solid"/>
                    </a:lnB>
                  </a:tcPr>
                </a:tc>
                <a:tc>
                  <a:txBody>
                    <a:bodyPr/>
                    <a:lstStyle/>
                    <a:p>
                      <a:r>
                        <a:rPr sz="700" b="1">
                          <a:solidFill>
                            <a:srgbClr val="34CCB3"/>
                          </a:solidFill>
                        </a:rPr>
                        <a:t>Relay</a:t>
                      </a:r>
                    </a:p>
                  </a:txBody>
                  <a:tcPr>
                    <a:solidFill>
                      <a:srgbClr val="502B25"/>
                    </a:solidFill>
                    <a:lnL w="37079">
                      <a:solidFill>
                        <a:srgbClr val="2D355E"/>
                      </a:solidFill>
                      <a:prstDash val="solid"/>
                    </a:lnL>
                    <a:lnR w="37079">
                      <a:solidFill>
                        <a:srgbClr val="2D355E"/>
                      </a:solidFill>
                      <a:prstDash val="solid"/>
                    </a:lnR>
                    <a:lnT w="37079">
                      <a:solidFill>
                        <a:srgbClr val="2D355E"/>
                      </a:solidFill>
                      <a:prstDash val="solid"/>
                    </a:lnT>
                    <a:lnB w="37079">
                      <a:solidFill>
                        <a:srgbClr val="2D355E"/>
                      </a:solidFill>
                      <a:prstDash val="solid"/>
                    </a:lnB>
                  </a:tcPr>
                </a:tc>
              </a:tr>
              <a:tr h="283431">
                <a:tc>
                  <a:txBody>
                    <a:bodyPr/>
                    <a:lstStyle/>
                    <a:p>
                      <a:r>
                        <a:rPr sz="700" b="0">
                          <a:solidFill>
                            <a:srgbClr val="34CCB3"/>
                          </a:solidFill>
                        </a:rPr>
                        <a:t>Harbor</a:t>
                      </a:r>
                    </a:p>
                  </a:txBody>
                  <a:tcPr>
                    <a:solidFill>
                      <a:srgbClr val="DDC9C6"/>
                    </a:solidFill>
                    <a:lnL w="37079">
                      <a:solidFill>
                        <a:srgbClr val="2D355E"/>
                      </a:solidFill>
                      <a:prstDash val="solid"/>
                    </a:lnL>
                    <a:lnR w="37079">
                      <a:solidFill>
                        <a:srgbClr val="2D355E"/>
                      </a:solidFill>
                      <a:prstDash val="solid"/>
                    </a:lnR>
                    <a:lnT w="37079">
                      <a:solidFill>
                        <a:srgbClr val="2D355E"/>
                      </a:solidFill>
                      <a:prstDash val="solid"/>
                    </a:lnT>
                    <a:lnB w="37079">
                      <a:solidFill>
                        <a:srgbClr val="2D355E"/>
                      </a:solidFill>
                      <a:prstDash val="solid"/>
                    </a:lnB>
                  </a:tcPr>
                </a:tc>
                <a:tc>
                  <a:txBody>
                    <a:bodyPr/>
                    <a:lstStyle/>
                    <a:p>
                      <a:r>
                        <a:rPr sz="700" b="0">
                          <a:solidFill>
                            <a:srgbClr val="34CCB3"/>
                          </a:solidFill>
                        </a:rPr>
                        <a:t>Mode</a:t>
                      </a:r>
                    </a:p>
                  </a:txBody>
                  <a:tcPr>
                    <a:solidFill>
                      <a:srgbClr val="DDC9C6"/>
                    </a:solidFill>
                    <a:lnL w="37079">
                      <a:solidFill>
                        <a:srgbClr val="2D355E"/>
                      </a:solidFill>
                      <a:prstDash val="solid"/>
                    </a:lnL>
                    <a:lnR w="37079">
                      <a:solidFill>
                        <a:srgbClr val="2D355E"/>
                      </a:solidFill>
                      <a:prstDash val="solid"/>
                    </a:lnR>
                    <a:lnT w="37079">
                      <a:solidFill>
                        <a:srgbClr val="2D355E"/>
                      </a:solidFill>
                      <a:prstDash val="solid"/>
                    </a:lnT>
                    <a:lnB w="37079">
                      <a:solidFill>
                        <a:srgbClr val="2D355E"/>
                      </a:solidFill>
                      <a:prstDash val="solid"/>
                    </a:lnB>
                  </a:tcPr>
                </a:tc>
                <a:tc>
                  <a:txBody>
                    <a:bodyPr/>
                    <a:lstStyle/>
                    <a:p>
                      <a:r>
                        <a:rPr sz="700" b="0">
                          <a:solidFill>
                            <a:srgbClr val="34CCB3"/>
                          </a:solidFill>
                        </a:rPr>
                        <a:t>Ratio Position</a:t>
                      </a:r>
                    </a:p>
                  </a:txBody>
                  <a:tcPr>
                    <a:solidFill>
                      <a:srgbClr val="DDC9C6"/>
                    </a:solidFill>
                    <a:lnL w="37079">
                      <a:solidFill>
                        <a:srgbClr val="2D355E"/>
                      </a:solidFill>
                      <a:prstDash val="solid"/>
                    </a:lnL>
                    <a:lnR w="37079">
                      <a:solidFill>
                        <a:srgbClr val="2D355E"/>
                      </a:solidFill>
                      <a:prstDash val="solid"/>
                    </a:lnR>
                    <a:lnT w="37079">
                      <a:solidFill>
                        <a:srgbClr val="2D355E"/>
                      </a:solidFill>
                      <a:prstDash val="solid"/>
                    </a:lnT>
                    <a:lnB w="37079">
                      <a:solidFill>
                        <a:srgbClr val="2D355E"/>
                      </a:solidFill>
                      <a:prstDash val="solid"/>
                    </a:lnB>
                  </a:tcPr>
                </a:tc>
                <a:tc>
                  <a:txBody>
                    <a:bodyPr/>
                    <a:lstStyle/>
                    <a:p>
                      <a:r>
                        <a:rPr sz="700" b="0">
                          <a:solidFill>
                            <a:srgbClr val="34CCB3"/>
                          </a:solidFill>
                        </a:rPr>
                        <a:t>Workflow</a:t>
                      </a:r>
                    </a:p>
                  </a:txBody>
                  <a:tcPr>
                    <a:solidFill>
                      <a:srgbClr val="DDC9C6"/>
                    </a:solidFill>
                    <a:lnL w="37079">
                      <a:solidFill>
                        <a:srgbClr val="2D355E"/>
                      </a:solidFill>
                      <a:prstDash val="solid"/>
                    </a:lnL>
                    <a:lnR w="37079">
                      <a:solidFill>
                        <a:srgbClr val="2D355E"/>
                      </a:solidFill>
                      <a:prstDash val="solid"/>
                    </a:lnR>
                    <a:lnT w="37079">
                      <a:solidFill>
                        <a:srgbClr val="2D355E"/>
                      </a:solidFill>
                      <a:prstDash val="solid"/>
                    </a:lnT>
                    <a:lnB w="37079">
                      <a:solidFill>
                        <a:srgbClr val="2D355E"/>
                      </a:solidFill>
                      <a:prstDash val="solid"/>
                    </a:lnB>
                  </a:tcPr>
                </a:tc>
                <a:tc>
                  <a:txBody>
                    <a:bodyPr/>
                    <a:lstStyle/>
                    <a:p>
                      <a:r>
                        <a:rPr sz="700" b="0">
                          <a:solidFill>
                            <a:srgbClr val="34CCB3"/>
                          </a:solidFill>
                        </a:rPr>
                        <a:t>Transform Model</a:t>
                      </a:r>
                    </a:p>
                  </a:txBody>
                  <a:tcPr>
                    <a:solidFill>
                      <a:srgbClr val="DDC9C6"/>
                    </a:solidFill>
                    <a:lnL w="37079">
                      <a:solidFill>
                        <a:srgbClr val="2D355E"/>
                      </a:solidFill>
                      <a:prstDash val="solid"/>
                    </a:lnL>
                    <a:lnR w="37079">
                      <a:solidFill>
                        <a:srgbClr val="2D355E"/>
                      </a:solidFill>
                      <a:prstDash val="solid"/>
                    </a:lnR>
                    <a:lnT w="37079">
                      <a:solidFill>
                        <a:srgbClr val="2D355E"/>
                      </a:solidFill>
                      <a:prstDash val="solid"/>
                    </a:lnT>
                    <a:lnB w="37079">
                      <a:solidFill>
                        <a:srgbClr val="2D355E"/>
                      </a:solidFill>
                      <a:prstDash val="solid"/>
                    </a:lnB>
                  </a:tcPr>
                </a:tc>
              </a:tr>
              <a:tr h="283431">
                <a:tc>
                  <a:txBody>
                    <a:bodyPr/>
                    <a:lstStyle/>
                    <a:p>
                      <a:r>
                        <a:rPr sz="700" b="0">
                          <a:solidFill>
                            <a:srgbClr val="34CCB3"/>
                          </a:solidFill>
                        </a:rPr>
                        <a:t>Deployment</a:t>
                      </a:r>
                    </a:p>
                  </a:txBody>
                  <a:tcPr>
                    <a:solidFill>
                      <a:srgbClr val="F1E9E7"/>
                    </a:solidFill>
                    <a:lnL w="37079">
                      <a:solidFill>
                        <a:srgbClr val="2D355E"/>
                      </a:solidFill>
                      <a:prstDash val="solid"/>
                    </a:lnL>
                    <a:lnR w="37079">
                      <a:solidFill>
                        <a:srgbClr val="2D355E"/>
                      </a:solidFill>
                      <a:prstDash val="solid"/>
                    </a:lnR>
                    <a:lnT w="37079">
                      <a:solidFill>
                        <a:srgbClr val="2D355E"/>
                      </a:solidFill>
                      <a:prstDash val="solid"/>
                    </a:lnT>
                    <a:lnB w="37079">
                      <a:solidFill>
                        <a:srgbClr val="2D355E"/>
                      </a:solidFill>
                      <a:prstDash val="solid"/>
                    </a:lnB>
                  </a:tcPr>
                </a:tc>
                <a:tc>
                  <a:txBody>
                    <a:bodyPr/>
                    <a:lstStyle/>
                    <a:p>
                      <a:r>
                        <a:rPr sz="700" b="0">
                          <a:solidFill>
                            <a:srgbClr val="34CCB3"/>
                          </a:solidFill>
                        </a:rPr>
                        <a:t>Zone Coverage</a:t>
                      </a:r>
                    </a:p>
                  </a:txBody>
                  <a:tcPr>
                    <a:solidFill>
                      <a:srgbClr val="DDC9C6"/>
                    </a:solidFill>
                    <a:lnL w="37079">
                      <a:solidFill>
                        <a:srgbClr val="2D355E"/>
                      </a:solidFill>
                      <a:prstDash val="solid"/>
                    </a:lnL>
                    <a:lnR w="37079">
                      <a:solidFill>
                        <a:srgbClr val="2D355E"/>
                      </a:solidFill>
                      <a:prstDash val="solid"/>
                    </a:lnR>
                    <a:lnT w="37079">
                      <a:solidFill>
                        <a:srgbClr val="2D355E"/>
                      </a:solidFill>
                      <a:prstDash val="solid"/>
                    </a:lnT>
                    <a:lnB w="37079">
                      <a:solidFill>
                        <a:srgbClr val="2D355E"/>
                      </a:solidFill>
                      <a:prstDash val="solid"/>
                    </a:lnB>
                  </a:tcPr>
                </a:tc>
                <a:tc>
                  <a:txBody>
                    <a:bodyPr/>
                    <a:lstStyle/>
                    <a:p>
                      <a:r>
                        <a:rPr sz="700" b="0">
                          <a:solidFill>
                            <a:srgbClr val="34CCB3"/>
                          </a:solidFill>
                        </a:rPr>
                        <a:t>Capacity</a:t>
                      </a:r>
                    </a:p>
                  </a:txBody>
                  <a:tcPr>
                    <a:solidFill>
                      <a:srgbClr val="F1E9E7"/>
                    </a:solidFill>
                    <a:lnL w="37079">
                      <a:solidFill>
                        <a:srgbClr val="2D355E"/>
                      </a:solidFill>
                      <a:prstDash val="solid"/>
                    </a:lnL>
                    <a:lnR w="37079">
                      <a:solidFill>
                        <a:srgbClr val="2D355E"/>
                      </a:solidFill>
                      <a:prstDash val="solid"/>
                    </a:lnR>
                    <a:lnT w="37079">
                      <a:solidFill>
                        <a:srgbClr val="2D355E"/>
                      </a:solidFill>
                      <a:prstDash val="solid"/>
                    </a:lnT>
                    <a:lnB w="37079">
                      <a:solidFill>
                        <a:srgbClr val="2D355E"/>
                      </a:solidFill>
                      <a:prstDash val="solid"/>
                    </a:lnB>
                  </a:tcPr>
                </a:tc>
                <a:tc>
                  <a:txBody>
                    <a:bodyPr/>
                    <a:lstStyle/>
                    <a:p>
                      <a:r>
                        <a:rPr sz="700" b="0">
                          <a:solidFill>
                            <a:srgbClr val="34CCB3"/>
                          </a:solidFill>
                        </a:rPr>
                        <a:t>Scope Resource</a:t>
                      </a:r>
                    </a:p>
                  </a:txBody>
                  <a:tcPr>
                    <a:solidFill>
                      <a:srgbClr val="DDC9C6"/>
                    </a:solidFill>
                    <a:lnL w="37079">
                      <a:solidFill>
                        <a:srgbClr val="2D355E"/>
                      </a:solidFill>
                      <a:prstDash val="solid"/>
                    </a:lnL>
                    <a:lnR w="37079">
                      <a:solidFill>
                        <a:srgbClr val="2D355E"/>
                      </a:solidFill>
                      <a:prstDash val="solid"/>
                    </a:lnR>
                    <a:lnT w="37079">
                      <a:solidFill>
                        <a:srgbClr val="2D355E"/>
                      </a:solidFill>
                      <a:prstDash val="solid"/>
                    </a:lnT>
                    <a:lnB w="37079">
                      <a:solidFill>
                        <a:srgbClr val="2D355E"/>
                      </a:solidFill>
                      <a:prstDash val="solid"/>
                    </a:lnB>
                  </a:tcPr>
                </a:tc>
                <a:tc>
                  <a:txBody>
                    <a:bodyPr/>
                    <a:lstStyle/>
                    <a:p>
                      <a:r>
                        <a:rPr sz="700" b="0">
                          <a:solidFill>
                            <a:srgbClr val="34CCB3"/>
                          </a:solidFill>
                        </a:rPr>
                        <a:t>Beacon</a:t>
                      </a:r>
                    </a:p>
                  </a:txBody>
                  <a:tcPr>
                    <a:solidFill>
                      <a:srgbClr val="F1E9E7"/>
                    </a:solidFill>
                    <a:lnL w="37079">
                      <a:solidFill>
                        <a:srgbClr val="2D355E"/>
                      </a:solidFill>
                      <a:prstDash val="solid"/>
                    </a:lnL>
                    <a:lnR w="37079">
                      <a:solidFill>
                        <a:srgbClr val="2D355E"/>
                      </a:solidFill>
                      <a:prstDash val="solid"/>
                    </a:lnR>
                    <a:lnT w="37079">
                      <a:solidFill>
                        <a:srgbClr val="2D355E"/>
                      </a:solidFill>
                      <a:prstDash val="solid"/>
                    </a:lnT>
                    <a:lnB w="37079">
                      <a:solidFill>
                        <a:srgbClr val="2D355E"/>
                      </a:solidFill>
                      <a:prstDash val="solid"/>
                    </a:lnB>
                  </a:tcPr>
                </a:tc>
              </a:tr>
              <a:tr h="283433">
                <a:tc>
                  <a:txBody>
                    <a:bodyPr/>
                    <a:lstStyle/>
                    <a:p>
                      <a:r>
                        <a:rPr sz="700" b="0">
                          <a:solidFill>
                            <a:srgbClr val="34CCB3"/>
                          </a:solidFill>
                        </a:rPr>
                        <a:t>Portal</a:t>
                      </a:r>
                    </a:p>
                  </a:txBody>
                  <a:tcPr>
                    <a:solidFill>
                      <a:srgbClr val="DDC9C6"/>
                    </a:solidFill>
                    <a:lnL w="37079">
                      <a:solidFill>
                        <a:srgbClr val="2D355E"/>
                      </a:solidFill>
                      <a:prstDash val="solid"/>
                    </a:lnL>
                    <a:lnR w="37079">
                      <a:solidFill>
                        <a:srgbClr val="2D355E"/>
                      </a:solidFill>
                      <a:prstDash val="solid"/>
                    </a:lnR>
                    <a:lnT w="37079">
                      <a:solidFill>
                        <a:srgbClr val="2D355E"/>
                      </a:solidFill>
                      <a:prstDash val="solid"/>
                    </a:lnT>
                    <a:lnB w="37079">
                      <a:solidFill>
                        <a:srgbClr val="2D355E"/>
                      </a:solidFill>
                      <a:prstDash val="solid"/>
                    </a:lnB>
                  </a:tcPr>
                </a:tc>
                <a:tc>
                  <a:txBody>
                    <a:bodyPr/>
                    <a:lstStyle/>
                    <a:p>
                      <a:r>
                        <a:rPr sz="700" b="0">
                          <a:solidFill>
                            <a:srgbClr val="34CCB3"/>
                          </a:solidFill>
                        </a:rPr>
                        <a:t>Focus</a:t>
                      </a:r>
                    </a:p>
                  </a:txBody>
                  <a:tcPr>
                    <a:solidFill>
                      <a:srgbClr val="DDC9C6"/>
                    </a:solidFill>
                    <a:lnL w="37079">
                      <a:solidFill>
                        <a:srgbClr val="2D355E"/>
                      </a:solidFill>
                      <a:prstDash val="solid"/>
                    </a:lnL>
                    <a:lnR w="37079">
                      <a:solidFill>
                        <a:srgbClr val="2D355E"/>
                      </a:solidFill>
                      <a:prstDash val="solid"/>
                    </a:lnR>
                    <a:lnT w="37079">
                      <a:solidFill>
                        <a:srgbClr val="2D355E"/>
                      </a:solidFill>
                      <a:prstDash val="solid"/>
                    </a:lnT>
                    <a:lnB w="37079">
                      <a:solidFill>
                        <a:srgbClr val="2D355E"/>
                      </a:solidFill>
                      <a:prstDash val="solid"/>
                    </a:lnB>
                  </a:tcPr>
                </a:tc>
                <a:tc>
                  <a:txBody>
                    <a:bodyPr/>
                    <a:lstStyle/>
                    <a:p>
                      <a:r>
                        <a:rPr sz="700" b="0">
                          <a:solidFill>
                            <a:srgbClr val="34CCB3"/>
                          </a:solidFill>
                        </a:rPr>
                        <a:t>Feature Interval</a:t>
                      </a:r>
                    </a:p>
                  </a:txBody>
                  <a:tcPr>
                    <a:solidFill>
                      <a:srgbClr val="DDC9C6"/>
                    </a:solidFill>
                    <a:lnL w="37079">
                      <a:solidFill>
                        <a:srgbClr val="2D355E"/>
                      </a:solidFill>
                      <a:prstDash val="solid"/>
                    </a:lnL>
                    <a:lnR w="37079">
                      <a:solidFill>
                        <a:srgbClr val="2D355E"/>
                      </a:solidFill>
                      <a:prstDash val="solid"/>
                    </a:lnR>
                    <a:lnT w="37079">
                      <a:solidFill>
                        <a:srgbClr val="2D355E"/>
                      </a:solidFill>
                      <a:prstDash val="solid"/>
                    </a:lnT>
                    <a:lnB w="37079">
                      <a:solidFill>
                        <a:srgbClr val="2D355E"/>
                      </a:solidFill>
                      <a:prstDash val="solid"/>
                    </a:lnB>
                  </a:tcPr>
                </a:tc>
                <a:tc>
                  <a:txBody>
                    <a:bodyPr/>
                    <a:lstStyle/>
                    <a:p>
                      <a:r>
                        <a:rPr sz="700" b="0">
                          <a:solidFill>
                            <a:srgbClr val="34CCB3"/>
                          </a:solidFill>
                        </a:rPr>
                        <a:t>Cadence</a:t>
                      </a:r>
                    </a:p>
                  </a:txBody>
                  <a:tcPr>
                    <a:solidFill>
                      <a:srgbClr val="DDC9C6"/>
                    </a:solidFill>
                    <a:lnL w="37079">
                      <a:solidFill>
                        <a:srgbClr val="2D355E"/>
                      </a:solidFill>
                      <a:prstDash val="solid"/>
                    </a:lnL>
                    <a:lnR w="37079">
                      <a:solidFill>
                        <a:srgbClr val="2D355E"/>
                      </a:solidFill>
                      <a:prstDash val="solid"/>
                    </a:lnR>
                    <a:lnT w="37079">
                      <a:solidFill>
                        <a:srgbClr val="2D355E"/>
                      </a:solidFill>
                      <a:prstDash val="solid"/>
                    </a:lnT>
                    <a:lnB w="37079">
                      <a:solidFill>
                        <a:srgbClr val="2D355E"/>
                      </a:solidFill>
                      <a:prstDash val="solid"/>
                    </a:lnB>
                  </a:tcPr>
                </a:tc>
                <a:tc>
                  <a:txBody>
                    <a:bodyPr/>
                    <a:lstStyle/>
                    <a:p>
                      <a:r>
                        <a:rPr sz="700" b="0">
                          <a:solidFill>
                            <a:srgbClr val="34CCB3"/>
                          </a:solidFill>
                        </a:rPr>
                        <a:t>Handle</a:t>
                      </a:r>
                    </a:p>
                  </a:txBody>
                  <a:tcPr>
                    <a:solidFill>
                      <a:srgbClr val="DDC9C6"/>
                    </a:solidFill>
                    <a:lnL w="37079">
                      <a:solidFill>
                        <a:srgbClr val="2D355E"/>
                      </a:solidFill>
                      <a:prstDash val="solid"/>
                    </a:lnL>
                    <a:lnR w="37079">
                      <a:solidFill>
                        <a:srgbClr val="2D355E"/>
                      </a:solidFill>
                      <a:prstDash val="solid"/>
                    </a:lnR>
                    <a:lnT w="37079">
                      <a:solidFill>
                        <a:srgbClr val="2D355E"/>
                      </a:solidFill>
                      <a:prstDash val="solid"/>
                    </a:lnT>
                    <a:lnB w="37079">
                      <a:solidFill>
                        <a:srgbClr val="2D355E"/>
                      </a:solidFill>
                      <a:prstDash val="soli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