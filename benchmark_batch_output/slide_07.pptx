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ision 1"/>
          <p:cNvSpPr/>
          <p:nvPr/>
        </p:nvSpPr>
        <p:spPr>
          <a:xfrm>
            <a:off x="9602486" y="3249154"/>
            <a:ext cx="976035" cy="845385"/>
          </a:xfrm>
          <a:prstGeom prst="flowChartDecision">
            <a:avLst/>
          </a:prstGeom>
          <a:solidFill>
            <a:srgbClr val="2974D6"/>
          </a:solidFill>
          <a:ln w="30503">
            <a:solidFill>
              <a:srgbClr val="79C5E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 name="Table 2"/>
          <p:cNvGraphicFramePr>
            <a:graphicFrameLocks noGrp="1"/>
          </p:cNvGraphicFramePr>
          <p:nvPr/>
        </p:nvGraphicFramePr>
        <p:xfrm>
          <a:off x="294128" y="3315101"/>
          <a:ext cx="2717504" cy="1792200"/>
        </p:xfrm>
        <a:graphic>
          <a:graphicData uri="http://schemas.openxmlformats.org/drawingml/2006/table">
            <a:tbl>
              <a:tblPr firstRow="1" bandRow="1">
                <a:tableStyleId>{5C22544A-7EE6-4342-B048-85BDC9FD1C3A}</a:tableStyleId>
              </a:tblPr>
              <a:tblGrid>
                <a:gridCol w="543500"/>
                <a:gridCol w="543500"/>
                <a:gridCol w="543500"/>
                <a:gridCol w="543500"/>
                <a:gridCol w="543504"/>
              </a:tblGrid>
              <a:tr h="256028">
                <a:tc>
                  <a:txBody>
                    <a:bodyPr/>
                    <a:lstStyle/>
                    <a:p>
                      <a:r>
                        <a:rPr sz="600" b="0">
                          <a:solidFill>
                            <a:srgbClr val="32C04C"/>
                          </a:solidFill>
                        </a:rPr>
                        <a:t>Network Gateway</a:t>
                      </a:r>
                    </a:p>
                  </a:txBody>
                  <a:tcPr>
                    <a:solidFill>
                      <a:srgbClr val="F2D7D8"/>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Energy</a:t>
                      </a:r>
                    </a:p>
                  </a:txBody>
                  <a:tcPr>
                    <a:solidFill>
                      <a:srgbClr val="E7B4B6"/>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Version</a:t>
                      </a:r>
                    </a:p>
                  </a:txBody>
                  <a:tcPr>
                    <a:solidFill>
                      <a:srgbClr val="F2D7D8"/>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Sequence Query</a:t>
                      </a:r>
                    </a:p>
                  </a:txBody>
                  <a:tcPr>
                    <a:solidFill>
                      <a:srgbClr val="E7B4B6"/>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Frame Event</a:t>
                      </a:r>
                    </a:p>
                  </a:txBody>
                  <a:tcPr>
                    <a:solidFill>
                      <a:srgbClr val="F2D7D8"/>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r>
              <a:tr h="256028">
                <a:tc>
                  <a:txBody>
                    <a:bodyPr/>
                    <a:lstStyle/>
                    <a:p>
                      <a:r>
                        <a:rPr sz="600" b="0">
                          <a:solidFill>
                            <a:srgbClr val="32C04C"/>
                          </a:solidFill>
                        </a:rPr>
                        <a:t>Focus</a:t>
                      </a:r>
                    </a:p>
                  </a:txBody>
                  <a:tcPr>
                    <a:solidFill>
                      <a:srgbClr val="F2D7D8"/>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Signal Atlas</a:t>
                      </a:r>
                    </a:p>
                  </a:txBody>
                  <a:tcPr>
                    <a:solidFill>
                      <a:srgbClr val="E7B4B6"/>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Design</a:t>
                      </a:r>
                    </a:p>
                  </a:txBody>
                  <a:tcPr>
                    <a:solidFill>
                      <a:srgbClr val="F2D7D8"/>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Register</a:t>
                      </a:r>
                    </a:p>
                  </a:txBody>
                  <a:tcPr>
                    <a:solidFill>
                      <a:srgbClr val="E7B4B6"/>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Expansion Anchor</a:t>
                      </a:r>
                    </a:p>
                  </a:txBody>
                  <a:tcPr>
                    <a:solidFill>
                      <a:srgbClr val="F2D7D8"/>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r>
              <a:tr h="256028">
                <a:tc>
                  <a:txBody>
                    <a:bodyPr/>
                    <a:lstStyle/>
                    <a:p>
                      <a:r>
                        <a:rPr sz="600" b="0">
                          <a:solidFill>
                            <a:srgbClr val="32C04C"/>
                          </a:solidFill>
                        </a:rPr>
                        <a:t>Moment</a:t>
                      </a:r>
                    </a:p>
                  </a:txBody>
                  <a:tcPr>
                    <a:solidFill>
                      <a:srgbClr val="F2D7D8"/>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Needle Asset</a:t>
                      </a:r>
                    </a:p>
                  </a:txBody>
                  <a:tcPr>
                    <a:solidFill>
                      <a:srgbClr val="E7B4B6"/>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Depth Topology</a:t>
                      </a:r>
                    </a:p>
                  </a:txBody>
                  <a:tcPr>
                    <a:solidFill>
                      <a:srgbClr val="F2D7D8"/>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Diagram Program</a:t>
                      </a:r>
                    </a:p>
                  </a:txBody>
                  <a:tcPr>
                    <a:solidFill>
                      <a:srgbClr val="E7B4B6"/>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Mode Trace</a:t>
                      </a:r>
                    </a:p>
                  </a:txBody>
                  <a:tcPr>
                    <a:solidFill>
                      <a:srgbClr val="F2D7D8"/>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r>
              <a:tr h="256028">
                <a:tc>
                  <a:txBody>
                    <a:bodyPr/>
                    <a:lstStyle/>
                    <a:p>
                      <a:r>
                        <a:rPr sz="600" b="0">
                          <a:solidFill>
                            <a:srgbClr val="32C04C"/>
                          </a:solidFill>
                        </a:rPr>
                        <a:t>Record</a:t>
                      </a:r>
                    </a:p>
                  </a:txBody>
                  <a:tcPr>
                    <a:solidFill>
                      <a:srgbClr val="F2D7D8"/>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Review Portal</a:t>
                      </a:r>
                    </a:p>
                  </a:txBody>
                  <a:tcPr>
                    <a:solidFill>
                      <a:srgbClr val="E7B4B6"/>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Radius</a:t>
                      </a:r>
                    </a:p>
                  </a:txBody>
                  <a:tcPr>
                    <a:solidFill>
                      <a:srgbClr val="F2D7D8"/>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Panel Report</a:t>
                      </a:r>
                    </a:p>
                  </a:txBody>
                  <a:tcPr>
                    <a:solidFill>
                      <a:srgbClr val="E7B4B6"/>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Action Alignment</a:t>
                      </a:r>
                    </a:p>
                  </a:txBody>
                  <a:tcPr>
                    <a:solidFill>
                      <a:srgbClr val="F2D7D8"/>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r>
              <a:tr h="256028">
                <a:tc>
                  <a:txBody>
                    <a:bodyPr/>
                    <a:lstStyle/>
                    <a:p>
                      <a:r>
                        <a:rPr sz="600" b="0">
                          <a:solidFill>
                            <a:srgbClr val="32C04C"/>
                          </a:solidFill>
                        </a:rPr>
                        <a:t>Template Reference</a:t>
                      </a:r>
                    </a:p>
                  </a:txBody>
                  <a:tcPr>
                    <a:solidFill>
                      <a:srgbClr val="F2D7D8"/>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Dispatch</a:t>
                      </a:r>
                    </a:p>
                  </a:txBody>
                  <a:tcPr>
                    <a:solidFill>
                      <a:srgbClr val="E7B4B6"/>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Stream</a:t>
                      </a:r>
                    </a:p>
                  </a:txBody>
                  <a:tcPr>
                    <a:solidFill>
                      <a:srgbClr val="F2D7D8"/>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Buffer Insight</a:t>
                      </a:r>
                    </a:p>
                  </a:txBody>
                  <a:tcPr>
                    <a:solidFill>
                      <a:srgbClr val="E7B4B6"/>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Pipeline Cycle</a:t>
                      </a:r>
                    </a:p>
                  </a:txBody>
                  <a:tcPr>
                    <a:solidFill>
                      <a:srgbClr val="F2D7D8"/>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r>
              <a:tr h="256028">
                <a:tc>
                  <a:txBody>
                    <a:bodyPr/>
                    <a:lstStyle/>
                    <a:p>
                      <a:r>
                        <a:rPr sz="600" b="0">
                          <a:solidFill>
                            <a:srgbClr val="32C04C"/>
                          </a:solidFill>
                        </a:rPr>
                        <a:t>Queue</a:t>
                      </a:r>
                    </a:p>
                  </a:txBody>
                  <a:tcPr>
                    <a:solidFill>
                      <a:srgbClr val="F2D7D8"/>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Mode Bundle</a:t>
                      </a:r>
                    </a:p>
                  </a:txBody>
                  <a:tcPr>
                    <a:solidFill>
                      <a:srgbClr val="E7B4B6"/>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Output Bundle</a:t>
                      </a:r>
                    </a:p>
                  </a:txBody>
                  <a:tcPr>
                    <a:solidFill>
                      <a:srgbClr val="F2D7D8"/>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Origin</a:t>
                      </a:r>
                    </a:p>
                  </a:txBody>
                  <a:tcPr>
                    <a:solidFill>
                      <a:srgbClr val="E7B4B6"/>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Register</a:t>
                      </a:r>
                    </a:p>
                  </a:txBody>
                  <a:tcPr>
                    <a:solidFill>
                      <a:srgbClr val="F2D7D8"/>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r>
              <a:tr h="256032">
                <a:tc>
                  <a:txBody>
                    <a:bodyPr/>
                    <a:lstStyle/>
                    <a:p>
                      <a:r>
                        <a:rPr sz="600" b="0">
                          <a:solidFill>
                            <a:srgbClr val="32C04C"/>
                          </a:solidFill>
                        </a:rPr>
                        <a:t>Guide</a:t>
                      </a:r>
                    </a:p>
                  </a:txBody>
                  <a:tcPr>
                    <a:solidFill>
                      <a:srgbClr val="F2D7D8"/>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Source</a:t>
                      </a:r>
                    </a:p>
                  </a:txBody>
                  <a:tcPr>
                    <a:solidFill>
                      <a:srgbClr val="E7B4B6"/>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Loop</a:t>
                      </a:r>
                    </a:p>
                  </a:txBody>
                  <a:tcPr>
                    <a:solidFill>
                      <a:srgbClr val="F2D7D8"/>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Template Network</a:t>
                      </a:r>
                    </a:p>
                  </a:txBody>
                  <a:tcPr>
                    <a:solidFill>
                      <a:srgbClr val="E7B4B6"/>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c>
                  <a:txBody>
                    <a:bodyPr/>
                    <a:lstStyle/>
                    <a:p>
                      <a:r>
                        <a:rPr sz="600" b="0">
                          <a:solidFill>
                            <a:srgbClr val="32C04C"/>
                          </a:solidFill>
                        </a:rPr>
                        <a:t>Panel</a:t>
                      </a:r>
                    </a:p>
                  </a:txBody>
                  <a:tcPr>
                    <a:solidFill>
                      <a:srgbClr val="F2D7D8"/>
                    </a:solidFill>
                    <a:lnL w="14858">
                      <a:solidFill>
                        <a:srgbClr val="C24673"/>
                      </a:solidFill>
                      <a:prstDash val="solid"/>
                    </a:lnL>
                    <a:lnR w="14858">
                      <a:solidFill>
                        <a:srgbClr val="C24673"/>
                      </a:solidFill>
                      <a:prstDash val="solid"/>
                    </a:lnR>
                    <a:lnT w="14858">
                      <a:solidFill>
                        <a:srgbClr val="C24673"/>
                      </a:solidFill>
                      <a:prstDash val="solid"/>
                    </a:lnT>
                    <a:lnB w="14858">
                      <a:solidFill>
                        <a:srgbClr val="C24673"/>
                      </a:solidFill>
                      <a:prstDash val="solid"/>
                    </a:lnB>
                  </a:tcPr>
                </a:tc>
              </a:tr>
            </a:tbl>
          </a:graphicData>
        </a:graphic>
      </p:graphicFrame>
      <p:pic>
        <p:nvPicPr>
          <p:cNvPr id="4" name="Picture 3" descr="_example_image.jpg"/>
          <p:cNvPicPr>
            <a:picLocks noChangeAspect="1"/>
          </p:cNvPicPr>
          <p:nvPr/>
        </p:nvPicPr>
        <p:blipFill>
          <a:blip r:embed="rId2"/>
          <a:stretch>
            <a:fillRect/>
          </a:stretch>
        </p:blipFill>
        <p:spPr>
          <a:xfrm>
            <a:off x="3405278" y="4017284"/>
            <a:ext cx="2424384" cy="946790"/>
          </a:xfrm>
          <a:prstGeom prst="rect">
            <a:avLst/>
          </a:prstGeom>
        </p:spPr>
      </p:pic>
      <p:sp>
        <p:nvSpPr>
          <p:cNvPr id="5" name="TextBox 4"/>
          <p:cNvSpPr txBox="1"/>
          <p:nvPr/>
        </p:nvSpPr>
        <p:spPr>
          <a:xfrm>
            <a:off x="2058038" y="1768617"/>
            <a:ext cx="2995122" cy="1123900"/>
          </a:xfrm>
          <a:prstGeom prst="rect">
            <a:avLst/>
          </a:prstGeom>
          <a:noFill/>
        </p:spPr>
        <p:txBody>
          <a:bodyPr wrap="none" lIns="91145" rIns="91145" tIns="91145" bIns="91145">
            <a:spAutoFit/>
          </a:bodyPr>
          <a:lstStyle/>
          <a:p>
            <a:r>
              <a:rPr sz="1200" b="0" i="0" u="none">
                <a:solidFill>
                  <a:srgbClr val="5F3448"/>
                </a:solidFill>
                <a:latin typeface="Trebuchet MS"/>
              </a:rPr>
              <a:t>Beta Reserve Foundation</a:t>
            </a:r>
          </a:p>
        </p:txBody>
      </p:sp>
      <p:sp>
        <p:nvSpPr>
          <p:cNvPr id="6" name="TextBox 5"/>
          <p:cNvSpPr txBox="1"/>
          <p:nvPr/>
        </p:nvSpPr>
        <p:spPr>
          <a:xfrm>
            <a:off x="5855905" y="4488366"/>
            <a:ext cx="1198247" cy="1686591"/>
          </a:xfrm>
          <a:prstGeom prst="rect">
            <a:avLst/>
          </a:prstGeom>
          <a:noFill/>
        </p:spPr>
        <p:txBody>
          <a:bodyPr wrap="none" lIns="90647" rIns="90647" tIns="90647" bIns="90647">
            <a:spAutoFit/>
          </a:bodyPr>
          <a:lstStyle/>
          <a:p>
            <a:r>
              <a:rPr sz="1600" b="1" i="0" u="none">
                <a:solidFill>
                  <a:srgbClr val="48AC2D"/>
                </a:solidFill>
                <a:latin typeface="Aptos"/>
              </a:rPr>
              <a:t>State Handle Group Center Alignment Sync Source North Foundation Spectrum Concept Object Cluster Detail Density Depth Rhythm Version Epoch Balance Drift Release Forecast Matrix Threshold Flow Sequence Cell Service Alpha</a:t>
            </a:r>
          </a:p>
        </p:txBody>
      </p:sp>
      <p:sp>
        <p:nvSpPr>
          <p:cNvPr id="7" name="Left-Right Arrow 6"/>
          <p:cNvSpPr/>
          <p:nvPr/>
        </p:nvSpPr>
        <p:spPr>
          <a:xfrm>
            <a:off x="3007818" y="346350"/>
            <a:ext cx="1244210" cy="705135"/>
          </a:xfrm>
          <a:prstGeom prst="leftRightArrow">
            <a:avLst/>
          </a:prstGeom>
          <a:solidFill>
            <a:srgbClr val="3748B7"/>
          </a:solidFill>
          <a:ln w="19591">
            <a:solidFill>
              <a:srgbClr val="819DA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_example_image.jpg"/>
          <p:cNvPicPr>
            <a:picLocks noChangeAspect="1"/>
          </p:cNvPicPr>
          <p:nvPr/>
        </p:nvPicPr>
        <p:blipFill>
          <a:blip r:embed="rId2"/>
          <a:stretch>
            <a:fillRect/>
          </a:stretch>
        </p:blipFill>
        <p:spPr>
          <a:xfrm>
            <a:off x="9371549" y="1676107"/>
            <a:ext cx="1243420" cy="930948"/>
          </a:xfrm>
          <a:prstGeom prst="rect">
            <a:avLst/>
          </a:prstGeom>
        </p:spPr>
      </p:pic>
      <p:graphicFrame>
        <p:nvGraphicFramePr>
          <p:cNvPr id="9" name="Table 8"/>
          <p:cNvGraphicFramePr>
            <a:graphicFrameLocks noGrp="1"/>
          </p:cNvGraphicFramePr>
          <p:nvPr/>
        </p:nvGraphicFramePr>
        <p:xfrm>
          <a:off x="6997805" y="2782303"/>
          <a:ext cx="2133972" cy="1572342"/>
        </p:xfrm>
        <a:graphic>
          <a:graphicData uri="http://schemas.openxmlformats.org/drawingml/2006/table">
            <a:tbl>
              <a:tblPr firstRow="1" bandRow="1">
                <a:tableStyleId>{5C22544A-7EE6-4342-B048-85BDC9FD1C3A}</a:tableStyleId>
              </a:tblPr>
              <a:tblGrid>
                <a:gridCol w="533493"/>
                <a:gridCol w="533493"/>
                <a:gridCol w="533493"/>
                <a:gridCol w="533493"/>
              </a:tblGrid>
              <a:tr h="262057">
                <a:tc>
                  <a:txBody>
                    <a:bodyPr/>
                    <a:lstStyle/>
                    <a:p>
                      <a:r>
                        <a:rPr sz="1200" b="1">
                          <a:solidFill>
                            <a:srgbClr val="A1802F"/>
                          </a:solidFill>
                        </a:rPr>
                        <a:t>Format</a:t>
                      </a:r>
                    </a:p>
                  </a:txBody>
                  <a:tcPr>
                    <a:solidFill>
                      <a:srgbClr val="2060E5"/>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c>
                  <a:txBody>
                    <a:bodyPr/>
                    <a:lstStyle/>
                    <a:p>
                      <a:r>
                        <a:rPr sz="1200" b="1">
                          <a:solidFill>
                            <a:srgbClr val="A1802F"/>
                          </a:solidFill>
                        </a:rPr>
                        <a:t>Datum</a:t>
                      </a:r>
                    </a:p>
                  </a:txBody>
                  <a:tcPr>
                    <a:solidFill>
                      <a:srgbClr val="2060E5"/>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c>
                  <a:txBody>
                    <a:bodyPr/>
                    <a:lstStyle/>
                    <a:p>
                      <a:r>
                        <a:rPr sz="1200" b="1">
                          <a:solidFill>
                            <a:srgbClr val="A1802F"/>
                          </a:solidFill>
                        </a:rPr>
                        <a:t>Moment</a:t>
                      </a:r>
                    </a:p>
                  </a:txBody>
                  <a:tcPr>
                    <a:solidFill>
                      <a:srgbClr val="2060E5"/>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c>
                  <a:txBody>
                    <a:bodyPr/>
                    <a:lstStyle/>
                    <a:p>
                      <a:r>
                        <a:rPr sz="1200" b="1">
                          <a:solidFill>
                            <a:srgbClr val="A1802F"/>
                          </a:solidFill>
                        </a:rPr>
                        <a:t>Trend</a:t>
                      </a:r>
                    </a:p>
                  </a:txBody>
                  <a:tcPr>
                    <a:solidFill>
                      <a:srgbClr val="2060E5"/>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r>
              <a:tr h="262057">
                <a:tc>
                  <a:txBody>
                    <a:bodyPr/>
                    <a:lstStyle/>
                    <a:p>
                      <a:r>
                        <a:rPr sz="1200" b="0">
                          <a:solidFill>
                            <a:srgbClr val="A1802F"/>
                          </a:solidFill>
                        </a:rPr>
                        <a:t>Layer Adaptive</a:t>
                      </a:r>
                    </a:p>
                  </a:txBody>
                  <a:tcPr>
                    <a:solidFill>
                      <a:srgbClr val="C8ADCD"/>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c>
                  <a:txBody>
                    <a:bodyPr/>
                    <a:lstStyle/>
                    <a:p>
                      <a:r>
                        <a:rPr sz="1200" b="0">
                          <a:solidFill>
                            <a:srgbClr val="A1802F"/>
                          </a:solidFill>
                        </a:rPr>
                        <a:t>Portal Method</a:t>
                      </a:r>
                    </a:p>
                  </a:txBody>
                  <a:tcPr>
                    <a:solidFill>
                      <a:srgbClr val="C8ADCD"/>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c>
                  <a:txBody>
                    <a:bodyPr/>
                    <a:lstStyle/>
                    <a:p>
                      <a:r>
                        <a:rPr sz="1200" b="0">
                          <a:solidFill>
                            <a:srgbClr val="A1802F"/>
                          </a:solidFill>
                        </a:rPr>
                        <a:t>Draft</a:t>
                      </a:r>
                    </a:p>
                  </a:txBody>
                  <a:tcPr>
                    <a:solidFill>
                      <a:srgbClr val="C8ADCD"/>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c>
                  <a:txBody>
                    <a:bodyPr/>
                    <a:lstStyle/>
                    <a:p>
                      <a:r>
                        <a:rPr sz="1200" b="0">
                          <a:solidFill>
                            <a:srgbClr val="A1802F"/>
                          </a:solidFill>
                        </a:rPr>
                        <a:t>Motion</a:t>
                      </a:r>
                    </a:p>
                  </a:txBody>
                  <a:tcPr>
                    <a:solidFill>
                      <a:srgbClr val="C8ADCD"/>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r>
              <a:tr h="262057">
                <a:tc>
                  <a:txBody>
                    <a:bodyPr/>
                    <a:lstStyle/>
                    <a:p>
                      <a:r>
                        <a:rPr sz="1200" b="0">
                          <a:solidFill>
                            <a:srgbClr val="A1802F"/>
                          </a:solidFill>
                        </a:rPr>
                        <a:t>Status</a:t>
                      </a:r>
                    </a:p>
                  </a:txBody>
                  <a:tcPr>
                    <a:solidFill>
                      <a:srgbClr val="ECE3EE"/>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c>
                  <a:txBody>
                    <a:bodyPr/>
                    <a:lstStyle/>
                    <a:p>
                      <a:r>
                        <a:rPr sz="1200" b="0">
                          <a:solidFill>
                            <a:srgbClr val="A1802F"/>
                          </a:solidFill>
                        </a:rPr>
                        <a:t>Token</a:t>
                      </a:r>
                    </a:p>
                  </a:txBody>
                  <a:tcPr>
                    <a:solidFill>
                      <a:srgbClr val="C8ADCD"/>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c>
                  <a:txBody>
                    <a:bodyPr/>
                    <a:lstStyle/>
                    <a:p>
                      <a:r>
                        <a:rPr sz="1200" b="0">
                          <a:solidFill>
                            <a:srgbClr val="A1802F"/>
                          </a:solidFill>
                        </a:rPr>
                        <a:t>Handle Interval</a:t>
                      </a:r>
                    </a:p>
                  </a:txBody>
                  <a:tcPr>
                    <a:solidFill>
                      <a:srgbClr val="ECE3EE"/>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c>
                  <a:txBody>
                    <a:bodyPr/>
                    <a:lstStyle/>
                    <a:p>
                      <a:r>
                        <a:rPr sz="1200" b="0">
                          <a:solidFill>
                            <a:srgbClr val="A1802F"/>
                          </a:solidFill>
                        </a:rPr>
                        <a:t>Foundation</a:t>
                      </a:r>
                    </a:p>
                  </a:txBody>
                  <a:tcPr>
                    <a:solidFill>
                      <a:srgbClr val="C8ADCD"/>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r>
              <a:tr h="262057">
                <a:tc>
                  <a:txBody>
                    <a:bodyPr/>
                    <a:lstStyle/>
                    <a:p>
                      <a:r>
                        <a:rPr sz="1200" b="0">
                          <a:solidFill>
                            <a:srgbClr val="A1802F"/>
                          </a:solidFill>
                        </a:rPr>
                        <a:t>Record</a:t>
                      </a:r>
                    </a:p>
                  </a:txBody>
                  <a:tcPr>
                    <a:solidFill>
                      <a:srgbClr val="C8ADCD"/>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c>
                  <a:txBody>
                    <a:bodyPr/>
                    <a:lstStyle/>
                    <a:p>
                      <a:r>
                        <a:rPr sz="1200" b="0">
                          <a:solidFill>
                            <a:srgbClr val="A1802F"/>
                          </a:solidFill>
                        </a:rPr>
                        <a:t>Terminal Milestone</a:t>
                      </a:r>
                    </a:p>
                  </a:txBody>
                  <a:tcPr>
                    <a:solidFill>
                      <a:srgbClr val="C8ADCD"/>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c>
                  <a:txBody>
                    <a:bodyPr/>
                    <a:lstStyle/>
                    <a:p>
                      <a:r>
                        <a:rPr sz="1200" b="0">
                          <a:solidFill>
                            <a:srgbClr val="A1802F"/>
                          </a:solidFill>
                        </a:rPr>
                        <a:t>Report</a:t>
                      </a:r>
                    </a:p>
                  </a:txBody>
                  <a:tcPr>
                    <a:solidFill>
                      <a:srgbClr val="C8ADCD"/>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c>
                  <a:txBody>
                    <a:bodyPr/>
                    <a:lstStyle/>
                    <a:p>
                      <a:r>
                        <a:rPr sz="1200" b="0">
                          <a:solidFill>
                            <a:srgbClr val="A1802F"/>
                          </a:solidFill>
                        </a:rPr>
                        <a:t>Forecast</a:t>
                      </a:r>
                    </a:p>
                  </a:txBody>
                  <a:tcPr>
                    <a:solidFill>
                      <a:srgbClr val="C8ADCD"/>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r>
              <a:tr h="262057">
                <a:tc>
                  <a:txBody>
                    <a:bodyPr/>
                    <a:lstStyle/>
                    <a:p>
                      <a:r>
                        <a:rPr sz="1200" b="0">
                          <a:solidFill>
                            <a:srgbClr val="A1802F"/>
                          </a:solidFill>
                        </a:rPr>
                        <a:t>System Gateway</a:t>
                      </a:r>
                    </a:p>
                  </a:txBody>
                  <a:tcPr>
                    <a:solidFill>
                      <a:srgbClr val="ECE3EE"/>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c>
                  <a:txBody>
                    <a:bodyPr/>
                    <a:lstStyle/>
                    <a:p>
                      <a:r>
                        <a:rPr sz="1200" b="0">
                          <a:solidFill>
                            <a:srgbClr val="A1802F"/>
                          </a:solidFill>
                        </a:rPr>
                        <a:t>Payload</a:t>
                      </a:r>
                    </a:p>
                  </a:txBody>
                  <a:tcPr>
                    <a:solidFill>
                      <a:srgbClr val="C8ADCD"/>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c>
                  <a:txBody>
                    <a:bodyPr/>
                    <a:lstStyle/>
                    <a:p>
                      <a:r>
                        <a:rPr sz="1200" b="0">
                          <a:solidFill>
                            <a:srgbClr val="A1802F"/>
                          </a:solidFill>
                        </a:rPr>
                        <a:t>Layer</a:t>
                      </a:r>
                    </a:p>
                  </a:txBody>
                  <a:tcPr>
                    <a:solidFill>
                      <a:srgbClr val="ECE3EE"/>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c>
                  <a:txBody>
                    <a:bodyPr/>
                    <a:lstStyle/>
                    <a:p>
                      <a:r>
                        <a:rPr sz="1200" b="0">
                          <a:solidFill>
                            <a:srgbClr val="A1802F"/>
                          </a:solidFill>
                        </a:rPr>
                        <a:t>Discovery</a:t>
                      </a:r>
                    </a:p>
                  </a:txBody>
                  <a:tcPr>
                    <a:solidFill>
                      <a:srgbClr val="C8ADCD"/>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r>
              <a:tr h="262057">
                <a:tc>
                  <a:txBody>
                    <a:bodyPr/>
                    <a:lstStyle/>
                    <a:p>
                      <a:r>
                        <a:rPr sz="1200" b="0">
                          <a:solidFill>
                            <a:srgbClr val="A1802F"/>
                          </a:solidFill>
                        </a:rPr>
                        <a:t>Group</a:t>
                      </a:r>
                    </a:p>
                  </a:txBody>
                  <a:tcPr>
                    <a:solidFill>
                      <a:srgbClr val="C8ADCD"/>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c>
                  <a:txBody>
                    <a:bodyPr/>
                    <a:lstStyle/>
                    <a:p>
                      <a:r>
                        <a:rPr sz="1200" b="0">
                          <a:solidFill>
                            <a:srgbClr val="A1802F"/>
                          </a:solidFill>
                        </a:rPr>
                        <a:t>Measure Motion</a:t>
                      </a:r>
                    </a:p>
                  </a:txBody>
                  <a:tcPr>
                    <a:solidFill>
                      <a:srgbClr val="C8ADCD"/>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c>
                  <a:txBody>
                    <a:bodyPr/>
                    <a:lstStyle/>
                    <a:p>
                      <a:r>
                        <a:rPr sz="1200" b="0">
                          <a:solidFill>
                            <a:srgbClr val="A1802F"/>
                          </a:solidFill>
                        </a:rPr>
                        <a:t>Scale Account</a:t>
                      </a:r>
                    </a:p>
                  </a:txBody>
                  <a:tcPr>
                    <a:solidFill>
                      <a:srgbClr val="C8ADCD"/>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c>
                  <a:txBody>
                    <a:bodyPr/>
                    <a:lstStyle/>
                    <a:p>
                      <a:r>
                        <a:rPr sz="1200" b="0">
                          <a:solidFill>
                            <a:srgbClr val="A1802F"/>
                          </a:solidFill>
                        </a:rPr>
                        <a:t>Pipeline Cluster</a:t>
                      </a:r>
                    </a:p>
                  </a:txBody>
                  <a:tcPr>
                    <a:solidFill>
                      <a:srgbClr val="C8ADCD"/>
                    </a:solidFill>
                    <a:lnL w="18565">
                      <a:solidFill>
                        <a:srgbClr val="D6427E"/>
                      </a:solidFill>
                      <a:prstDash val="solid"/>
                    </a:lnL>
                    <a:lnR w="18565">
                      <a:solidFill>
                        <a:srgbClr val="D6427E"/>
                      </a:solidFill>
                      <a:prstDash val="solid"/>
                    </a:lnR>
                    <a:lnT w="18565">
                      <a:solidFill>
                        <a:srgbClr val="D6427E"/>
                      </a:solidFill>
                      <a:prstDash val="solid"/>
                    </a:lnT>
                    <a:lnB w="18565">
                      <a:solidFill>
                        <a:srgbClr val="D6427E"/>
                      </a:solidFill>
                      <a:prstDash val="solid"/>
                    </a:lnB>
                  </a:tcPr>
                </a:tc>
              </a:tr>
            </a:tbl>
          </a:graphicData>
        </a:graphic>
      </p:graphicFrame>
      <p:sp>
        <p:nvSpPr>
          <p:cNvPr id="10" name="TextBox 9"/>
          <p:cNvSpPr txBox="1"/>
          <p:nvPr/>
        </p:nvSpPr>
        <p:spPr>
          <a:xfrm>
            <a:off x="8259521" y="4113692"/>
            <a:ext cx="3009529" cy="1509814"/>
          </a:xfrm>
          <a:prstGeom prst="rect">
            <a:avLst/>
          </a:prstGeom>
          <a:noFill/>
        </p:spPr>
        <p:txBody>
          <a:bodyPr wrap="none" lIns="34780" rIns="34780" tIns="34780" bIns="34780">
            <a:spAutoFit/>
          </a:bodyPr>
          <a:lstStyle/>
          <a:p>
            <a:r>
              <a:rPr sz="1200" b="0" i="0" u="none">
                <a:solidFill>
                  <a:srgbClr val="626AE1"/>
                </a:solidFill>
                <a:latin typeface="Verdana"/>
              </a:rPr>
              <a:t>Edge Relay Feature Data Signal Path</a:t>
            </a:r>
          </a:p>
        </p:txBody>
      </p:sp>
      <p:pic>
        <p:nvPicPr>
          <p:cNvPr id="11" name="Picture 10" descr="_example_image.jpg"/>
          <p:cNvPicPr>
            <a:picLocks noChangeAspect="1"/>
          </p:cNvPicPr>
          <p:nvPr/>
        </p:nvPicPr>
        <p:blipFill>
          <a:blip r:embed="rId2"/>
          <a:stretch>
            <a:fillRect/>
          </a:stretch>
        </p:blipFill>
        <p:spPr>
          <a:xfrm>
            <a:off x="10558314" y="485112"/>
            <a:ext cx="1010018" cy="1627614"/>
          </a:xfrm>
          <a:prstGeom prst="rect">
            <a:avLst/>
          </a:prstGeom>
        </p:spPr>
      </p:pic>
      <p:sp>
        <p:nvSpPr>
          <p:cNvPr id="12" name="Left Right Ribbon 11"/>
          <p:cNvSpPr/>
          <p:nvPr/>
        </p:nvSpPr>
        <p:spPr>
          <a:xfrm>
            <a:off x="8351940" y="1724160"/>
            <a:ext cx="349171" cy="573675"/>
          </a:xfrm>
          <a:prstGeom prst="leftRightRibbon">
            <a:avLst/>
          </a:prstGeom>
          <a:solidFill>
            <a:srgbClr val="AA47C6"/>
          </a:solidFill>
          <a:ln w="9257">
            <a:solidFill>
              <a:srgbClr val="84657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4588" y="2544942"/>
            <a:ext cx="4267901" cy="482133"/>
          </a:xfrm>
          <a:prstGeom prst="rect">
            <a:avLst/>
          </a:prstGeom>
          <a:noFill/>
        </p:spPr>
        <p:txBody>
          <a:bodyPr wrap="none" lIns="49842" rIns="49842" tIns="49842" bIns="49842">
            <a:spAutoFit/>
          </a:bodyPr>
          <a:lstStyle/>
          <a:p>
            <a:r>
              <a:rPr sz="1200" b="1" i="0" u="none">
                <a:solidFill>
                  <a:srgbClr val="62355A"/>
                </a:solidFill>
                <a:latin typeface="Arial"/>
              </a:rPr>
              <a:t>Estimate Handle Signal Precision Vertex Exchange Result Interface Orbit Velocity</a:t>
            </a:r>
          </a:p>
        </p:txBody>
      </p:sp>
      <p:sp>
        <p:nvSpPr>
          <p:cNvPr id="14" name="Sun 13"/>
          <p:cNvSpPr/>
          <p:nvPr/>
        </p:nvSpPr>
        <p:spPr>
          <a:xfrm>
            <a:off x="4672943" y="3698765"/>
            <a:ext cx="995321" cy="234790"/>
          </a:xfrm>
          <a:prstGeom prst="sun">
            <a:avLst/>
          </a:prstGeom>
          <a:noFill/>
          <a:ln w="7930">
            <a:solidFill>
              <a:srgbClr val="8A192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53903" y="461423"/>
            <a:ext cx="4181766" cy="1254964"/>
          </a:xfrm>
          <a:prstGeom prst="rect">
            <a:avLst/>
          </a:prstGeom>
          <a:noFill/>
        </p:spPr>
        <p:txBody>
          <a:bodyPr wrap="none" lIns="39468" rIns="39468" tIns="39468" bIns="39468">
            <a:spAutoFit/>
          </a:bodyPr>
          <a:lstStyle/>
          <a:p>
            <a:r>
              <a:rPr sz="1300" b="1" i="0" u="none">
                <a:solidFill>
                  <a:srgbClr val="B5848E"/>
                </a:solidFill>
                <a:latin typeface="Aptos"/>
              </a:rPr>
              <a:t>Region Network Harbor Center Duration Moment Switch Frame Snapshot Depth Radius Pipeline Mesh Range Lens Inventory Depth Metric Volume Cortex Depth Vertex Table Logic Runtime Estimate Dispatch Origin Terminal Stream Feature Deployment Table Factor Reference</a:t>
            </a:r>
          </a:p>
        </p:txBody>
      </p:sp>
      <p:sp>
        <p:nvSpPr>
          <p:cNvPr id="16" name="TextBox 15"/>
          <p:cNvSpPr txBox="1"/>
          <p:nvPr/>
        </p:nvSpPr>
        <p:spPr>
          <a:xfrm>
            <a:off x="7261974" y="5803780"/>
            <a:ext cx="4405400" cy="773209"/>
          </a:xfrm>
          <a:prstGeom prst="rect">
            <a:avLst/>
          </a:prstGeom>
          <a:noFill/>
        </p:spPr>
        <p:txBody>
          <a:bodyPr wrap="none" lIns="48467" rIns="48467" tIns="48467" bIns="48467">
            <a:spAutoFit/>
          </a:bodyPr>
          <a:lstStyle/>
          <a:p>
            <a:r>
              <a:rPr sz="4600" b="1" i="0" u="none">
                <a:solidFill>
                  <a:srgbClr val="30C72C"/>
                </a:solidFill>
                <a:latin typeface="Arial"/>
              </a:rPr>
              <a:t>View Dimension Limit Relay Stream Indicator Context</a:t>
            </a:r>
          </a:p>
        </p:txBody>
      </p:sp>
      <p:sp>
        <p:nvSpPr>
          <p:cNvPr id="17" name="Pentagon 16"/>
          <p:cNvSpPr/>
          <p:nvPr/>
        </p:nvSpPr>
        <p:spPr>
          <a:xfrm>
            <a:off x="3477801" y="5405206"/>
            <a:ext cx="2157476" cy="950382"/>
          </a:xfrm>
          <a:prstGeom prst="homePlate">
            <a:avLst/>
          </a:prstGeom>
          <a:solidFill>
            <a:srgbClr val="86D945"/>
          </a:solidFill>
          <a:ln w="19232">
            <a:solidFill>
              <a:srgbClr val="736C9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redefined Process 17"/>
          <p:cNvSpPr/>
          <p:nvPr/>
        </p:nvSpPr>
        <p:spPr>
          <a:xfrm>
            <a:off x="2691638" y="4793133"/>
            <a:ext cx="399352" cy="1661211"/>
          </a:xfrm>
          <a:prstGeom prst="flowChartPredefinedProcess">
            <a:avLst/>
          </a:prstGeom>
          <a:solidFill>
            <a:srgbClr val="B79D2D"/>
          </a:solidFill>
          <a:ln w="29296">
            <a:solidFill>
              <a:srgbClr val="2E363E"/>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wn Ribbon 18"/>
          <p:cNvSpPr/>
          <p:nvPr/>
        </p:nvSpPr>
        <p:spPr>
          <a:xfrm>
            <a:off x="5298693" y="3105798"/>
            <a:ext cx="2530482" cy="242267"/>
          </a:xfrm>
          <a:prstGeom prst="ribbon">
            <a:avLst/>
          </a:prstGeom>
          <a:solidFill>
            <a:srgbClr val="291BBD"/>
          </a:solidFill>
          <a:ln w="6692">
            <a:solidFill>
              <a:srgbClr val="BDE33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