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Hexagon 1"/>
          <p:cNvSpPr/>
          <p:nvPr/>
        </p:nvSpPr>
        <p:spPr>
          <a:xfrm>
            <a:off x="3685740" y="1113783"/>
            <a:ext cx="652275" cy="260366"/>
          </a:xfrm>
          <a:prstGeom prst="hexagon">
            <a:avLst/>
          </a:prstGeom>
          <a:solidFill>
            <a:srgbClr val="BD6289"/>
          </a:solidFill>
          <a:ln w="19348">
            <a:solidFill>
              <a:srgbClr val="56D541"/>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_example_image.jpg"/>
          <p:cNvPicPr>
            <a:picLocks noChangeAspect="1"/>
          </p:cNvPicPr>
          <p:nvPr/>
        </p:nvPicPr>
        <p:blipFill>
          <a:blip r:embed="rId2"/>
          <a:stretch>
            <a:fillRect/>
          </a:stretch>
        </p:blipFill>
        <p:spPr>
          <a:xfrm>
            <a:off x="6963322" y="5814089"/>
            <a:ext cx="1981399" cy="865212"/>
          </a:xfrm>
          <a:prstGeom prst="rect">
            <a:avLst/>
          </a:prstGeom>
        </p:spPr>
      </p:pic>
      <p:sp>
        <p:nvSpPr>
          <p:cNvPr id="4" name="TextBox 3"/>
          <p:cNvSpPr txBox="1"/>
          <p:nvPr/>
        </p:nvSpPr>
        <p:spPr>
          <a:xfrm>
            <a:off x="8497351" y="4215937"/>
            <a:ext cx="3095879" cy="1260356"/>
          </a:xfrm>
          <a:prstGeom prst="rect">
            <a:avLst/>
          </a:prstGeom>
          <a:noFill/>
        </p:spPr>
        <p:txBody>
          <a:bodyPr wrap="none" lIns="78819" rIns="78819" tIns="78819" bIns="78819">
            <a:spAutoFit/>
          </a:bodyPr>
          <a:lstStyle/>
          <a:p>
            <a:r>
              <a:rPr sz="2400" b="0" i="0" u="none">
                <a:solidFill>
                  <a:srgbClr val="C1B397"/>
                </a:solidFill>
                <a:latin typeface="Calibri"/>
              </a:rPr>
              <a:t>Stack Format Orbit Target Profile Context</a:t>
            </a:r>
          </a:p>
        </p:txBody>
      </p:sp>
      <p:sp>
        <p:nvSpPr>
          <p:cNvPr id="5" name="Right Triangle 4"/>
          <p:cNvSpPr/>
          <p:nvPr/>
        </p:nvSpPr>
        <p:spPr>
          <a:xfrm>
            <a:off x="5288749" y="2177325"/>
            <a:ext cx="2717049" cy="1676207"/>
          </a:xfrm>
          <a:prstGeom prst="rtTriangle">
            <a:avLst/>
          </a:prstGeom>
          <a:noFill/>
          <a:ln w="28937">
            <a:solidFill>
              <a:srgbClr val="A81AE4"/>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Delay 5"/>
          <p:cNvSpPr/>
          <p:nvPr/>
        </p:nvSpPr>
        <p:spPr>
          <a:xfrm>
            <a:off x="1298173" y="2819215"/>
            <a:ext cx="2613277" cy="1261845"/>
          </a:xfrm>
          <a:prstGeom prst="flowChartDelay">
            <a:avLst/>
          </a:prstGeom>
          <a:solidFill>
            <a:srgbClr val="AA9D4D"/>
          </a:solidFill>
          <a:ln w="15800">
            <a:solidFill>
              <a:srgbClr val="214629"/>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Isosceles Triangle 6"/>
          <p:cNvSpPr/>
          <p:nvPr/>
        </p:nvSpPr>
        <p:spPr>
          <a:xfrm>
            <a:off x="8653370" y="5503761"/>
            <a:ext cx="1577925" cy="252708"/>
          </a:xfrm>
          <a:prstGeom prst="triangle">
            <a:avLst/>
          </a:prstGeom>
          <a:solidFill>
            <a:srgbClr val="7965AC"/>
          </a:solidFill>
          <a:ln w="13738">
            <a:solidFill>
              <a:srgbClr val="595FA8"/>
            </a:solidFill>
            <a:prstDash val="dashDot"/>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8" name="Table 7"/>
          <p:cNvGraphicFramePr>
            <a:graphicFrameLocks noGrp="1"/>
          </p:cNvGraphicFramePr>
          <p:nvPr/>
        </p:nvGraphicFramePr>
        <p:xfrm>
          <a:off x="5897608" y="4311211"/>
          <a:ext cx="2868103" cy="977493"/>
        </p:xfrm>
        <a:graphic>
          <a:graphicData uri="http://schemas.openxmlformats.org/drawingml/2006/table">
            <a:tbl>
              <a:tblPr firstRow="1" bandRow="1">
                <a:tableStyleId>{5C22544A-7EE6-4342-B048-85BDC9FD1C3A}</a:tableStyleId>
              </a:tblPr>
              <a:tblGrid>
                <a:gridCol w="478017"/>
                <a:gridCol w="478017"/>
                <a:gridCol w="478017"/>
                <a:gridCol w="478017"/>
                <a:gridCol w="478017"/>
                <a:gridCol w="478018"/>
              </a:tblGrid>
              <a:tr h="488746">
                <a:tc>
                  <a:txBody>
                    <a:bodyPr/>
                    <a:lstStyle/>
                    <a:p>
                      <a:r>
                        <a:rPr sz="900" b="1">
                          <a:solidFill>
                            <a:srgbClr val="B7A0AB"/>
                          </a:solidFill>
                        </a:rPr>
                        <a:t>Timeline</a:t>
                      </a:r>
                    </a:p>
                  </a:txBody>
                  <a:tcPr>
                    <a:solidFill>
                      <a:srgbClr val="699B3F"/>
                    </a:solidFill>
                    <a:lnL w="11898">
                      <a:solidFill>
                        <a:srgbClr val="A82988"/>
                      </a:solidFill>
                      <a:prstDash val="solid"/>
                    </a:lnL>
                    <a:lnR w="11898">
                      <a:solidFill>
                        <a:srgbClr val="A82988"/>
                      </a:solidFill>
                      <a:prstDash val="solid"/>
                    </a:lnR>
                    <a:lnT w="11898">
                      <a:solidFill>
                        <a:srgbClr val="A82988"/>
                      </a:solidFill>
                      <a:prstDash val="solid"/>
                    </a:lnT>
                    <a:lnB w="11898">
                      <a:solidFill>
                        <a:srgbClr val="A82988"/>
                      </a:solidFill>
                      <a:prstDash val="solid"/>
                    </a:lnB>
                  </a:tcPr>
                </a:tc>
                <a:tc>
                  <a:txBody>
                    <a:bodyPr/>
                    <a:lstStyle/>
                    <a:p>
                      <a:r>
                        <a:rPr sz="900" b="1">
                          <a:solidFill>
                            <a:srgbClr val="B7A0AB"/>
                          </a:solidFill>
                        </a:rPr>
                        <a:t>Horizon Link</a:t>
                      </a:r>
                    </a:p>
                  </a:txBody>
                  <a:tcPr>
                    <a:solidFill>
                      <a:srgbClr val="699B3F"/>
                    </a:solidFill>
                    <a:lnL w="11898">
                      <a:solidFill>
                        <a:srgbClr val="A82988"/>
                      </a:solidFill>
                      <a:prstDash val="solid"/>
                    </a:lnL>
                    <a:lnR w="11898">
                      <a:solidFill>
                        <a:srgbClr val="A82988"/>
                      </a:solidFill>
                      <a:prstDash val="solid"/>
                    </a:lnR>
                    <a:lnT w="11898">
                      <a:solidFill>
                        <a:srgbClr val="A82988"/>
                      </a:solidFill>
                      <a:prstDash val="solid"/>
                    </a:lnT>
                    <a:lnB w="11898">
                      <a:solidFill>
                        <a:srgbClr val="A82988"/>
                      </a:solidFill>
                      <a:prstDash val="solid"/>
                    </a:lnB>
                  </a:tcPr>
                </a:tc>
                <a:tc>
                  <a:txBody>
                    <a:bodyPr/>
                    <a:lstStyle/>
                    <a:p>
                      <a:r>
                        <a:rPr sz="900" b="1">
                          <a:solidFill>
                            <a:srgbClr val="B7A0AB"/>
                          </a:solidFill>
                        </a:rPr>
                        <a:t>Envelope</a:t>
                      </a:r>
                    </a:p>
                  </a:txBody>
                  <a:tcPr>
                    <a:solidFill>
                      <a:srgbClr val="699B3F"/>
                    </a:solidFill>
                    <a:lnL w="11898">
                      <a:solidFill>
                        <a:srgbClr val="A82988"/>
                      </a:solidFill>
                      <a:prstDash val="solid"/>
                    </a:lnL>
                    <a:lnR w="11898">
                      <a:solidFill>
                        <a:srgbClr val="A82988"/>
                      </a:solidFill>
                      <a:prstDash val="solid"/>
                    </a:lnR>
                    <a:lnT w="11898">
                      <a:solidFill>
                        <a:srgbClr val="A82988"/>
                      </a:solidFill>
                      <a:prstDash val="solid"/>
                    </a:lnT>
                    <a:lnB w="11898">
                      <a:solidFill>
                        <a:srgbClr val="A82988"/>
                      </a:solidFill>
                      <a:prstDash val="solid"/>
                    </a:lnB>
                  </a:tcPr>
                </a:tc>
                <a:tc>
                  <a:txBody>
                    <a:bodyPr/>
                    <a:lstStyle/>
                    <a:p>
                      <a:r>
                        <a:rPr sz="900" b="1">
                          <a:solidFill>
                            <a:srgbClr val="B7A0AB"/>
                          </a:solidFill>
                        </a:rPr>
                        <a:t>Option Catalog</a:t>
                      </a:r>
                    </a:p>
                  </a:txBody>
                  <a:tcPr>
                    <a:solidFill>
                      <a:srgbClr val="699B3F"/>
                    </a:solidFill>
                    <a:lnL w="11898">
                      <a:solidFill>
                        <a:srgbClr val="A82988"/>
                      </a:solidFill>
                      <a:prstDash val="solid"/>
                    </a:lnL>
                    <a:lnR w="11898">
                      <a:solidFill>
                        <a:srgbClr val="A82988"/>
                      </a:solidFill>
                      <a:prstDash val="solid"/>
                    </a:lnR>
                    <a:lnT w="11898">
                      <a:solidFill>
                        <a:srgbClr val="A82988"/>
                      </a:solidFill>
                      <a:prstDash val="solid"/>
                    </a:lnT>
                    <a:lnB w="11898">
                      <a:solidFill>
                        <a:srgbClr val="A82988"/>
                      </a:solidFill>
                      <a:prstDash val="solid"/>
                    </a:lnB>
                  </a:tcPr>
                </a:tc>
                <a:tc>
                  <a:txBody>
                    <a:bodyPr/>
                    <a:lstStyle/>
                    <a:p>
                      <a:r>
                        <a:rPr sz="900" b="1">
                          <a:solidFill>
                            <a:srgbClr val="B7A0AB"/>
                          </a:solidFill>
                        </a:rPr>
                        <a:t>Summary</a:t>
                      </a:r>
                    </a:p>
                  </a:txBody>
                  <a:tcPr>
                    <a:solidFill>
                      <a:srgbClr val="699B3F"/>
                    </a:solidFill>
                    <a:lnL w="11898">
                      <a:solidFill>
                        <a:srgbClr val="A82988"/>
                      </a:solidFill>
                      <a:prstDash val="solid"/>
                    </a:lnL>
                    <a:lnR w="11898">
                      <a:solidFill>
                        <a:srgbClr val="A82988"/>
                      </a:solidFill>
                      <a:prstDash val="solid"/>
                    </a:lnR>
                    <a:lnT w="11898">
                      <a:solidFill>
                        <a:srgbClr val="A82988"/>
                      </a:solidFill>
                      <a:prstDash val="solid"/>
                    </a:lnT>
                    <a:lnB w="11898">
                      <a:solidFill>
                        <a:srgbClr val="A82988"/>
                      </a:solidFill>
                      <a:prstDash val="solid"/>
                    </a:lnB>
                  </a:tcPr>
                </a:tc>
                <a:tc>
                  <a:txBody>
                    <a:bodyPr/>
                    <a:lstStyle/>
                    <a:p>
                      <a:r>
                        <a:rPr sz="900" b="1">
                          <a:solidFill>
                            <a:srgbClr val="B7A0AB"/>
                          </a:solidFill>
                        </a:rPr>
                        <a:t>Output</a:t>
                      </a:r>
                    </a:p>
                  </a:txBody>
                  <a:tcPr>
                    <a:solidFill>
                      <a:srgbClr val="699B3F"/>
                    </a:solidFill>
                    <a:lnL w="11898">
                      <a:solidFill>
                        <a:srgbClr val="A82988"/>
                      </a:solidFill>
                      <a:prstDash val="solid"/>
                    </a:lnL>
                    <a:lnR w="11898">
                      <a:solidFill>
                        <a:srgbClr val="A82988"/>
                      </a:solidFill>
                      <a:prstDash val="solid"/>
                    </a:lnR>
                    <a:lnT w="11898">
                      <a:solidFill>
                        <a:srgbClr val="A82988"/>
                      </a:solidFill>
                      <a:prstDash val="solid"/>
                    </a:lnT>
                    <a:lnB w="11898">
                      <a:solidFill>
                        <a:srgbClr val="A82988"/>
                      </a:solidFill>
                      <a:prstDash val="solid"/>
                    </a:lnB>
                  </a:tcPr>
                </a:tc>
              </a:tr>
              <a:tr h="488747">
                <a:tc>
                  <a:txBody>
                    <a:bodyPr/>
                    <a:lstStyle/>
                    <a:p>
                      <a:r>
                        <a:rPr sz="900" b="0">
                          <a:solidFill>
                            <a:srgbClr val="B7A0AB"/>
                          </a:solidFill>
                        </a:rPr>
                        <a:t>Program</a:t>
                      </a:r>
                    </a:p>
                  </a:txBody>
                  <a:tcPr>
                    <a:solidFill>
                      <a:srgbClr val="EFF4F2"/>
                    </a:solidFill>
                    <a:lnL w="11898">
                      <a:solidFill>
                        <a:srgbClr val="A82988"/>
                      </a:solidFill>
                      <a:prstDash val="solid"/>
                    </a:lnL>
                    <a:lnR w="11898">
                      <a:solidFill>
                        <a:srgbClr val="A82988"/>
                      </a:solidFill>
                      <a:prstDash val="solid"/>
                    </a:lnR>
                    <a:lnT w="11898">
                      <a:solidFill>
                        <a:srgbClr val="A82988"/>
                      </a:solidFill>
                      <a:prstDash val="solid"/>
                    </a:lnT>
                    <a:lnB w="11898">
                      <a:solidFill>
                        <a:srgbClr val="A82988"/>
                      </a:solidFill>
                      <a:prstDash val="solid"/>
                    </a:lnB>
                  </a:tcPr>
                </a:tc>
                <a:tc>
                  <a:txBody>
                    <a:bodyPr/>
                    <a:lstStyle/>
                    <a:p>
                      <a:r>
                        <a:rPr sz="900" b="0">
                          <a:solidFill>
                            <a:srgbClr val="B7A0AB"/>
                          </a:solidFill>
                        </a:rPr>
                        <a:t>Alpha Direction</a:t>
                      </a:r>
                    </a:p>
                  </a:txBody>
                  <a:tcPr>
                    <a:solidFill>
                      <a:srgbClr val="EFF4F2"/>
                    </a:solidFill>
                    <a:lnL w="11898">
                      <a:solidFill>
                        <a:srgbClr val="A82988"/>
                      </a:solidFill>
                      <a:prstDash val="solid"/>
                    </a:lnL>
                    <a:lnR w="11898">
                      <a:solidFill>
                        <a:srgbClr val="A82988"/>
                      </a:solidFill>
                      <a:prstDash val="solid"/>
                    </a:lnR>
                    <a:lnT w="11898">
                      <a:solidFill>
                        <a:srgbClr val="A82988"/>
                      </a:solidFill>
                      <a:prstDash val="solid"/>
                    </a:lnT>
                    <a:lnB w="11898">
                      <a:solidFill>
                        <a:srgbClr val="A82988"/>
                      </a:solidFill>
                      <a:prstDash val="solid"/>
                    </a:lnB>
                  </a:tcPr>
                </a:tc>
                <a:tc>
                  <a:txBody>
                    <a:bodyPr/>
                    <a:lstStyle/>
                    <a:p>
                      <a:r>
                        <a:rPr sz="900" b="0">
                          <a:solidFill>
                            <a:srgbClr val="B7A0AB"/>
                          </a:solidFill>
                        </a:rPr>
                        <a:t>Analysis</a:t>
                      </a:r>
                    </a:p>
                  </a:txBody>
                  <a:tcPr>
                    <a:solidFill>
                      <a:srgbClr val="EFF4F2"/>
                    </a:solidFill>
                    <a:lnL w="11898">
                      <a:solidFill>
                        <a:srgbClr val="A82988"/>
                      </a:solidFill>
                      <a:prstDash val="solid"/>
                    </a:lnL>
                    <a:lnR w="11898">
                      <a:solidFill>
                        <a:srgbClr val="A82988"/>
                      </a:solidFill>
                      <a:prstDash val="solid"/>
                    </a:lnR>
                    <a:lnT w="11898">
                      <a:solidFill>
                        <a:srgbClr val="A82988"/>
                      </a:solidFill>
                      <a:prstDash val="solid"/>
                    </a:lnT>
                    <a:lnB w="11898">
                      <a:solidFill>
                        <a:srgbClr val="A82988"/>
                      </a:solidFill>
                      <a:prstDash val="solid"/>
                    </a:lnB>
                  </a:tcPr>
                </a:tc>
                <a:tc>
                  <a:txBody>
                    <a:bodyPr/>
                    <a:lstStyle/>
                    <a:p>
                      <a:r>
                        <a:rPr sz="900" b="0">
                          <a:solidFill>
                            <a:srgbClr val="B7A0AB"/>
                          </a:solidFill>
                        </a:rPr>
                        <a:t>Format Viewport</a:t>
                      </a:r>
                    </a:p>
                  </a:txBody>
                  <a:tcPr>
                    <a:solidFill>
                      <a:srgbClr val="EFF4F2"/>
                    </a:solidFill>
                    <a:lnL w="11898">
                      <a:solidFill>
                        <a:srgbClr val="A82988"/>
                      </a:solidFill>
                      <a:prstDash val="solid"/>
                    </a:lnL>
                    <a:lnR w="11898">
                      <a:solidFill>
                        <a:srgbClr val="A82988"/>
                      </a:solidFill>
                      <a:prstDash val="solid"/>
                    </a:lnR>
                    <a:lnT w="11898">
                      <a:solidFill>
                        <a:srgbClr val="A82988"/>
                      </a:solidFill>
                      <a:prstDash val="solid"/>
                    </a:lnT>
                    <a:lnB w="11898">
                      <a:solidFill>
                        <a:srgbClr val="A82988"/>
                      </a:solidFill>
                      <a:prstDash val="solid"/>
                    </a:lnB>
                  </a:tcPr>
                </a:tc>
                <a:tc>
                  <a:txBody>
                    <a:bodyPr/>
                    <a:lstStyle/>
                    <a:p>
                      <a:r>
                        <a:rPr sz="900" b="0">
                          <a:solidFill>
                            <a:srgbClr val="B7A0AB"/>
                          </a:solidFill>
                        </a:rPr>
                        <a:t>Guide</a:t>
                      </a:r>
                    </a:p>
                  </a:txBody>
                  <a:tcPr>
                    <a:solidFill>
                      <a:srgbClr val="EFF4F2"/>
                    </a:solidFill>
                    <a:lnL w="11898">
                      <a:solidFill>
                        <a:srgbClr val="A82988"/>
                      </a:solidFill>
                      <a:prstDash val="solid"/>
                    </a:lnL>
                    <a:lnR w="11898">
                      <a:solidFill>
                        <a:srgbClr val="A82988"/>
                      </a:solidFill>
                      <a:prstDash val="solid"/>
                    </a:lnR>
                    <a:lnT w="11898">
                      <a:solidFill>
                        <a:srgbClr val="A82988"/>
                      </a:solidFill>
                      <a:prstDash val="solid"/>
                    </a:lnT>
                    <a:lnB w="11898">
                      <a:solidFill>
                        <a:srgbClr val="A82988"/>
                      </a:solidFill>
                      <a:prstDash val="solid"/>
                    </a:lnB>
                  </a:tcPr>
                </a:tc>
                <a:tc>
                  <a:txBody>
                    <a:bodyPr/>
                    <a:lstStyle/>
                    <a:p>
                      <a:r>
                        <a:rPr sz="900" b="0">
                          <a:solidFill>
                            <a:srgbClr val="B7A0AB"/>
                          </a:solidFill>
                        </a:rPr>
                        <a:t>Pulse</a:t>
                      </a:r>
                    </a:p>
                  </a:txBody>
                  <a:tcPr>
                    <a:solidFill>
                      <a:srgbClr val="EFF4F2"/>
                    </a:solidFill>
                    <a:lnL w="11898">
                      <a:solidFill>
                        <a:srgbClr val="A82988"/>
                      </a:solidFill>
                      <a:prstDash val="solid"/>
                    </a:lnL>
                    <a:lnR w="11898">
                      <a:solidFill>
                        <a:srgbClr val="A82988"/>
                      </a:solidFill>
                      <a:prstDash val="solid"/>
                    </a:lnR>
                    <a:lnT w="11898">
                      <a:solidFill>
                        <a:srgbClr val="A82988"/>
                      </a:solidFill>
                      <a:prstDash val="solid"/>
                    </a:lnT>
                    <a:lnB w="11898">
                      <a:solidFill>
                        <a:srgbClr val="A82988"/>
                      </a:solidFill>
                      <a:prstDash val="solid"/>
                    </a:lnB>
                  </a:tcPr>
                </a:tc>
              </a:tr>
            </a:tbl>
          </a:graphicData>
        </a:graphic>
      </p:graphicFrame>
      <p:sp>
        <p:nvSpPr>
          <p:cNvPr id="9" name="TextBox 8"/>
          <p:cNvSpPr txBox="1"/>
          <p:nvPr/>
        </p:nvSpPr>
        <p:spPr>
          <a:xfrm>
            <a:off x="871431" y="4469611"/>
            <a:ext cx="4283374" cy="2029433"/>
          </a:xfrm>
          <a:prstGeom prst="rect">
            <a:avLst/>
          </a:prstGeom>
          <a:noFill/>
        </p:spPr>
        <p:txBody>
          <a:bodyPr wrap="none" lIns="47894" rIns="47894" tIns="47894" bIns="47894">
            <a:spAutoFit/>
          </a:bodyPr>
          <a:lstStyle/>
          <a:p>
            <a:r>
              <a:rPr sz="2500" b="0" i="0" u="none">
                <a:solidFill>
                  <a:srgbClr val="8E8E9B"/>
                </a:solidFill>
                <a:latin typeface="Trebuchet MS"/>
              </a:rPr>
              <a:t>Status Pulse Hub Narrative Limit Panel Concept Story Link North Source Lineage</a:t>
            </a:r>
          </a:p>
        </p:txBody>
      </p:sp>
      <p:pic>
        <p:nvPicPr>
          <p:cNvPr id="10" name="Picture 9" descr="_example_image.jpg"/>
          <p:cNvPicPr>
            <a:picLocks noChangeAspect="1"/>
          </p:cNvPicPr>
          <p:nvPr/>
        </p:nvPicPr>
        <p:blipFill>
          <a:blip r:embed="rId2"/>
          <a:stretch>
            <a:fillRect/>
          </a:stretch>
        </p:blipFill>
        <p:spPr>
          <a:xfrm>
            <a:off x="376558" y="2477802"/>
            <a:ext cx="1260879" cy="967800"/>
          </a:xfrm>
          <a:prstGeom prst="rect">
            <a:avLst/>
          </a:prstGeom>
        </p:spPr>
      </p:pic>
      <p:sp>
        <p:nvSpPr>
          <p:cNvPr id="11" name="TextBox 10"/>
          <p:cNvSpPr txBox="1"/>
          <p:nvPr/>
        </p:nvSpPr>
        <p:spPr>
          <a:xfrm>
            <a:off x="616740" y="294243"/>
            <a:ext cx="980325" cy="818905"/>
          </a:xfrm>
          <a:prstGeom prst="rect">
            <a:avLst/>
          </a:prstGeom>
          <a:noFill/>
        </p:spPr>
        <p:txBody>
          <a:bodyPr wrap="none" lIns="19589" rIns="19589" tIns="19589" bIns="19589">
            <a:spAutoFit/>
          </a:bodyPr>
          <a:lstStyle/>
          <a:p>
            <a:r>
              <a:rPr sz="2300" b="0" i="0" u="sng">
                <a:solidFill>
                  <a:srgbClr val="7AB77F"/>
                </a:solidFill>
                <a:latin typeface="Trebuchet MS"/>
              </a:rPr>
              <a:t>Inventory Sequence Vertex Detail Loop Range Baseline Frame Ratio Epoch Module Path Topology</a:t>
            </a:r>
          </a:p>
        </p:txBody>
      </p:sp>
      <p:pic>
        <p:nvPicPr>
          <p:cNvPr id="12" name="Picture 11" descr="_example_image.jpg"/>
          <p:cNvPicPr>
            <a:picLocks noChangeAspect="1"/>
          </p:cNvPicPr>
          <p:nvPr/>
        </p:nvPicPr>
        <p:blipFill>
          <a:blip r:embed="rId2"/>
          <a:stretch>
            <a:fillRect/>
          </a:stretch>
        </p:blipFill>
        <p:spPr>
          <a:xfrm>
            <a:off x="8299661" y="2389343"/>
            <a:ext cx="1070813" cy="1852749"/>
          </a:xfrm>
          <a:prstGeom prst="rect">
            <a:avLst/>
          </a:prstGeom>
        </p:spPr>
      </p:pic>
      <p:sp>
        <p:nvSpPr>
          <p:cNvPr id="13" name="TextBox 12"/>
          <p:cNvSpPr txBox="1"/>
          <p:nvPr/>
        </p:nvSpPr>
        <p:spPr>
          <a:xfrm>
            <a:off x="2638945" y="1306654"/>
            <a:ext cx="944053" cy="1369149"/>
          </a:xfrm>
          <a:prstGeom prst="rect">
            <a:avLst/>
          </a:prstGeom>
          <a:solidFill>
            <a:srgbClr val="A34965"/>
          </a:solidFill>
        </p:spPr>
        <p:txBody>
          <a:bodyPr wrap="none" lIns="48185" rIns="48185" tIns="48185" bIns="48185">
            <a:spAutoFit/>
          </a:bodyPr>
          <a:lstStyle/>
          <a:p>
            <a:r>
              <a:rPr sz="1000" b="0" i="0" u="none">
                <a:solidFill>
                  <a:srgbClr val="627B72"/>
                </a:solidFill>
                <a:latin typeface="Calibri"/>
              </a:rPr>
              <a:t>Narrative Snapshot Needle Matrix Alpha Context Model Topology Beta Factor Catalog Request Anchor Position Level Schema Metric Measure Strategy Catalog Blueprint Benchmark Inventory Epoch Dimension Audit Trigger Datum Duration Exchange Segment Marker Template Viewport Limit Checkpoint Template Program</a:t>
            </a:r>
          </a:p>
        </p:txBody>
      </p:sp>
      <p:sp>
        <p:nvSpPr>
          <p:cNvPr id="14" name="Hexagon 13"/>
          <p:cNvSpPr/>
          <p:nvPr/>
        </p:nvSpPr>
        <p:spPr>
          <a:xfrm>
            <a:off x="5761865" y="5191381"/>
            <a:ext cx="1575075" cy="312150"/>
          </a:xfrm>
          <a:prstGeom prst="hexagon">
            <a:avLst/>
          </a:prstGeom>
          <a:solidFill>
            <a:srgbClr val="A65E90"/>
          </a:solidFill>
          <a:ln w="28754">
            <a:solidFill>
              <a:srgbClr val="B937D3"/>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Left Arrow 14"/>
          <p:cNvSpPr/>
          <p:nvPr/>
        </p:nvSpPr>
        <p:spPr>
          <a:xfrm>
            <a:off x="9490051" y="839551"/>
            <a:ext cx="2313515" cy="924522"/>
          </a:xfrm>
          <a:prstGeom prst="leftArrow">
            <a:avLst/>
          </a:prstGeom>
          <a:solidFill>
            <a:srgbClr val="36B99A"/>
          </a:solidFill>
          <a:ln w="18619">
            <a:solidFill>
              <a:srgbClr val="8BBBDD"/>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6" name="Table 15"/>
          <p:cNvGraphicFramePr>
            <a:graphicFrameLocks noGrp="1"/>
          </p:cNvGraphicFramePr>
          <p:nvPr/>
        </p:nvGraphicFramePr>
        <p:xfrm>
          <a:off x="3571184" y="3837574"/>
          <a:ext cx="2205655" cy="1282451"/>
        </p:xfrm>
        <a:graphic>
          <a:graphicData uri="http://schemas.openxmlformats.org/drawingml/2006/table">
            <a:tbl>
              <a:tblPr firstRow="1" bandRow="1">
                <a:tableStyleId>{5C22544A-7EE6-4342-B048-85BDC9FD1C3A}</a:tableStyleId>
              </a:tblPr>
              <a:tblGrid>
                <a:gridCol w="551413"/>
                <a:gridCol w="551413"/>
                <a:gridCol w="551413"/>
                <a:gridCol w="551416"/>
              </a:tblGrid>
              <a:tr h="427483">
                <a:tc>
                  <a:txBody>
                    <a:bodyPr/>
                    <a:lstStyle/>
                    <a:p>
                      <a:r>
                        <a:rPr sz="1000" b="0">
                          <a:solidFill>
                            <a:srgbClr val="E1E47C"/>
                          </a:solidFill>
                        </a:rPr>
                        <a:t>Version Heading</a:t>
                      </a:r>
                    </a:p>
                  </a:txBody>
                  <a:tcPr>
                    <a:solidFill>
                      <a:srgbClr val="ECFBEA"/>
                    </a:solidFill>
                    <a:lnL w="30782">
                      <a:solidFill>
                        <a:srgbClr val="AFC595"/>
                      </a:solidFill>
                      <a:prstDash val="solid"/>
                    </a:lnL>
                    <a:lnR w="30782">
                      <a:solidFill>
                        <a:srgbClr val="AFC595"/>
                      </a:solidFill>
                      <a:prstDash val="solid"/>
                    </a:lnR>
                    <a:lnT w="30782">
                      <a:solidFill>
                        <a:srgbClr val="AFC595"/>
                      </a:solidFill>
                      <a:prstDash val="solid"/>
                    </a:lnT>
                    <a:lnB w="30782">
                      <a:solidFill>
                        <a:srgbClr val="AFC595"/>
                      </a:solidFill>
                      <a:prstDash val="solid"/>
                    </a:lnB>
                  </a:tcPr>
                </a:tc>
                <a:tc>
                  <a:txBody>
                    <a:bodyPr/>
                    <a:lstStyle/>
                    <a:p>
                      <a:r>
                        <a:rPr sz="1000" b="0">
                          <a:solidFill>
                            <a:srgbClr val="E1E47C"/>
                          </a:solidFill>
                        </a:rPr>
                        <a:t>Connector Action</a:t>
                      </a:r>
                    </a:p>
                  </a:txBody>
                  <a:tcPr>
                    <a:solidFill>
                      <a:srgbClr val="C3F2BF"/>
                    </a:solidFill>
                    <a:lnL w="30782">
                      <a:solidFill>
                        <a:srgbClr val="AFC595"/>
                      </a:solidFill>
                      <a:prstDash val="solid"/>
                    </a:lnL>
                    <a:lnR w="30782">
                      <a:solidFill>
                        <a:srgbClr val="AFC595"/>
                      </a:solidFill>
                      <a:prstDash val="solid"/>
                    </a:lnR>
                    <a:lnT w="30782">
                      <a:solidFill>
                        <a:srgbClr val="AFC595"/>
                      </a:solidFill>
                      <a:prstDash val="solid"/>
                    </a:lnT>
                    <a:lnB w="30782">
                      <a:solidFill>
                        <a:srgbClr val="AFC595"/>
                      </a:solidFill>
                      <a:prstDash val="solid"/>
                    </a:lnB>
                  </a:tcPr>
                </a:tc>
                <a:tc>
                  <a:txBody>
                    <a:bodyPr/>
                    <a:lstStyle/>
                    <a:p>
                      <a:r>
                        <a:rPr sz="1000" b="0">
                          <a:solidFill>
                            <a:srgbClr val="E1E47C"/>
                          </a:solidFill>
                        </a:rPr>
                        <a:t>Topology Index</a:t>
                      </a:r>
                    </a:p>
                  </a:txBody>
                  <a:tcPr>
                    <a:solidFill>
                      <a:srgbClr val="ECFBEA"/>
                    </a:solidFill>
                    <a:lnL w="30782">
                      <a:solidFill>
                        <a:srgbClr val="AFC595"/>
                      </a:solidFill>
                      <a:prstDash val="solid"/>
                    </a:lnL>
                    <a:lnR w="30782">
                      <a:solidFill>
                        <a:srgbClr val="AFC595"/>
                      </a:solidFill>
                      <a:prstDash val="solid"/>
                    </a:lnR>
                    <a:lnT w="30782">
                      <a:solidFill>
                        <a:srgbClr val="AFC595"/>
                      </a:solidFill>
                      <a:prstDash val="solid"/>
                    </a:lnT>
                    <a:lnB w="30782">
                      <a:solidFill>
                        <a:srgbClr val="AFC595"/>
                      </a:solidFill>
                      <a:prstDash val="solid"/>
                    </a:lnB>
                  </a:tcPr>
                </a:tc>
                <a:tc>
                  <a:txBody>
                    <a:bodyPr/>
                    <a:lstStyle/>
                    <a:p>
                      <a:r>
                        <a:rPr sz="1000" b="0">
                          <a:solidFill>
                            <a:srgbClr val="E1E47C"/>
                          </a:solidFill>
                        </a:rPr>
                        <a:t>Energy Focus</a:t>
                      </a:r>
                    </a:p>
                  </a:txBody>
                  <a:tcPr>
                    <a:solidFill>
                      <a:srgbClr val="C3F2BF"/>
                    </a:solidFill>
                    <a:lnL w="30782">
                      <a:solidFill>
                        <a:srgbClr val="AFC595"/>
                      </a:solidFill>
                      <a:prstDash val="solid"/>
                    </a:lnL>
                    <a:lnR w="30782">
                      <a:solidFill>
                        <a:srgbClr val="AFC595"/>
                      </a:solidFill>
                      <a:prstDash val="solid"/>
                    </a:lnR>
                    <a:lnT w="30782">
                      <a:solidFill>
                        <a:srgbClr val="AFC595"/>
                      </a:solidFill>
                      <a:prstDash val="solid"/>
                    </a:lnT>
                    <a:lnB w="30782">
                      <a:solidFill>
                        <a:srgbClr val="AFC595"/>
                      </a:solidFill>
                      <a:prstDash val="solid"/>
                    </a:lnB>
                  </a:tcPr>
                </a:tc>
              </a:tr>
              <a:tr h="427483">
                <a:tc>
                  <a:txBody>
                    <a:bodyPr/>
                    <a:lstStyle/>
                    <a:p>
                      <a:r>
                        <a:rPr sz="1000" b="0">
                          <a:solidFill>
                            <a:srgbClr val="E1E47C"/>
                          </a:solidFill>
                        </a:rPr>
                        <a:t>Bridge</a:t>
                      </a:r>
                    </a:p>
                  </a:txBody>
                  <a:tcPr>
                    <a:solidFill>
                      <a:srgbClr val="ECFBEA"/>
                    </a:solidFill>
                    <a:lnL w="30782">
                      <a:solidFill>
                        <a:srgbClr val="AFC595"/>
                      </a:solidFill>
                      <a:prstDash val="solid"/>
                    </a:lnL>
                    <a:lnR w="30782">
                      <a:solidFill>
                        <a:srgbClr val="AFC595"/>
                      </a:solidFill>
                      <a:prstDash val="solid"/>
                    </a:lnR>
                    <a:lnT w="30782">
                      <a:solidFill>
                        <a:srgbClr val="AFC595"/>
                      </a:solidFill>
                      <a:prstDash val="solid"/>
                    </a:lnT>
                    <a:lnB w="30782">
                      <a:solidFill>
                        <a:srgbClr val="AFC595"/>
                      </a:solidFill>
                      <a:prstDash val="solid"/>
                    </a:lnB>
                  </a:tcPr>
                </a:tc>
                <a:tc>
                  <a:txBody>
                    <a:bodyPr/>
                    <a:lstStyle/>
                    <a:p>
                      <a:r>
                        <a:rPr sz="1000" b="0">
                          <a:solidFill>
                            <a:srgbClr val="E1E47C"/>
                          </a:solidFill>
                        </a:rPr>
                        <a:t>Option Motion</a:t>
                      </a:r>
                    </a:p>
                  </a:txBody>
                  <a:tcPr>
                    <a:solidFill>
                      <a:srgbClr val="C3F2BF"/>
                    </a:solidFill>
                    <a:lnL w="30782">
                      <a:solidFill>
                        <a:srgbClr val="AFC595"/>
                      </a:solidFill>
                      <a:prstDash val="solid"/>
                    </a:lnL>
                    <a:lnR w="30782">
                      <a:solidFill>
                        <a:srgbClr val="AFC595"/>
                      </a:solidFill>
                      <a:prstDash val="solid"/>
                    </a:lnR>
                    <a:lnT w="30782">
                      <a:solidFill>
                        <a:srgbClr val="AFC595"/>
                      </a:solidFill>
                      <a:prstDash val="solid"/>
                    </a:lnT>
                    <a:lnB w="30782">
                      <a:solidFill>
                        <a:srgbClr val="AFC595"/>
                      </a:solidFill>
                      <a:prstDash val="solid"/>
                    </a:lnB>
                  </a:tcPr>
                </a:tc>
                <a:tc>
                  <a:txBody>
                    <a:bodyPr/>
                    <a:lstStyle/>
                    <a:p>
                      <a:r>
                        <a:rPr sz="1000" b="0">
                          <a:solidFill>
                            <a:srgbClr val="E1E47C"/>
                          </a:solidFill>
                        </a:rPr>
                        <a:t>Beta</a:t>
                      </a:r>
                    </a:p>
                  </a:txBody>
                  <a:tcPr>
                    <a:solidFill>
                      <a:srgbClr val="ECFBEA"/>
                    </a:solidFill>
                    <a:lnL w="30782">
                      <a:solidFill>
                        <a:srgbClr val="AFC595"/>
                      </a:solidFill>
                      <a:prstDash val="solid"/>
                    </a:lnL>
                    <a:lnR w="30782">
                      <a:solidFill>
                        <a:srgbClr val="AFC595"/>
                      </a:solidFill>
                      <a:prstDash val="solid"/>
                    </a:lnR>
                    <a:lnT w="30782">
                      <a:solidFill>
                        <a:srgbClr val="AFC595"/>
                      </a:solidFill>
                      <a:prstDash val="solid"/>
                    </a:lnT>
                    <a:lnB w="30782">
                      <a:solidFill>
                        <a:srgbClr val="AFC595"/>
                      </a:solidFill>
                      <a:prstDash val="solid"/>
                    </a:lnB>
                  </a:tcPr>
                </a:tc>
                <a:tc>
                  <a:txBody>
                    <a:bodyPr/>
                    <a:lstStyle/>
                    <a:p>
                      <a:r>
                        <a:rPr sz="1000" b="0">
                          <a:solidFill>
                            <a:srgbClr val="E1E47C"/>
                          </a:solidFill>
                        </a:rPr>
                        <a:t>Depth</a:t>
                      </a:r>
                    </a:p>
                  </a:txBody>
                  <a:tcPr>
                    <a:solidFill>
                      <a:srgbClr val="C3F2BF"/>
                    </a:solidFill>
                    <a:lnL w="30782">
                      <a:solidFill>
                        <a:srgbClr val="AFC595"/>
                      </a:solidFill>
                      <a:prstDash val="solid"/>
                    </a:lnL>
                    <a:lnR w="30782">
                      <a:solidFill>
                        <a:srgbClr val="AFC595"/>
                      </a:solidFill>
                      <a:prstDash val="solid"/>
                    </a:lnR>
                    <a:lnT w="30782">
                      <a:solidFill>
                        <a:srgbClr val="AFC595"/>
                      </a:solidFill>
                      <a:prstDash val="solid"/>
                    </a:lnT>
                    <a:lnB w="30782">
                      <a:solidFill>
                        <a:srgbClr val="AFC595"/>
                      </a:solidFill>
                      <a:prstDash val="solid"/>
                    </a:lnB>
                  </a:tcPr>
                </a:tc>
              </a:tr>
              <a:tr h="427485">
                <a:tc>
                  <a:txBody>
                    <a:bodyPr/>
                    <a:lstStyle/>
                    <a:p>
                      <a:r>
                        <a:rPr sz="1000" b="0">
                          <a:solidFill>
                            <a:srgbClr val="E1E47C"/>
                          </a:solidFill>
                        </a:rPr>
                        <a:t>Gateway Table</a:t>
                      </a:r>
                    </a:p>
                  </a:txBody>
                  <a:tcPr>
                    <a:solidFill>
                      <a:srgbClr val="ECFBEA"/>
                    </a:solidFill>
                    <a:lnL w="30782">
                      <a:solidFill>
                        <a:srgbClr val="AFC595"/>
                      </a:solidFill>
                      <a:prstDash val="solid"/>
                    </a:lnL>
                    <a:lnR w="30782">
                      <a:solidFill>
                        <a:srgbClr val="AFC595"/>
                      </a:solidFill>
                      <a:prstDash val="solid"/>
                    </a:lnR>
                    <a:lnT w="30782">
                      <a:solidFill>
                        <a:srgbClr val="AFC595"/>
                      </a:solidFill>
                      <a:prstDash val="solid"/>
                    </a:lnT>
                    <a:lnB w="30782">
                      <a:solidFill>
                        <a:srgbClr val="AFC595"/>
                      </a:solidFill>
                      <a:prstDash val="solid"/>
                    </a:lnB>
                  </a:tcPr>
                </a:tc>
                <a:tc>
                  <a:txBody>
                    <a:bodyPr/>
                    <a:lstStyle/>
                    <a:p>
                      <a:r>
                        <a:rPr sz="1000" b="0">
                          <a:solidFill>
                            <a:srgbClr val="E1E47C"/>
                          </a:solidFill>
                        </a:rPr>
                        <a:t>Density Reserve</a:t>
                      </a:r>
                    </a:p>
                  </a:txBody>
                  <a:tcPr>
                    <a:solidFill>
                      <a:srgbClr val="C3F2BF"/>
                    </a:solidFill>
                    <a:lnL w="30782">
                      <a:solidFill>
                        <a:srgbClr val="AFC595"/>
                      </a:solidFill>
                      <a:prstDash val="solid"/>
                    </a:lnL>
                    <a:lnR w="30782">
                      <a:solidFill>
                        <a:srgbClr val="AFC595"/>
                      </a:solidFill>
                      <a:prstDash val="solid"/>
                    </a:lnR>
                    <a:lnT w="30782">
                      <a:solidFill>
                        <a:srgbClr val="AFC595"/>
                      </a:solidFill>
                      <a:prstDash val="solid"/>
                    </a:lnT>
                    <a:lnB w="30782">
                      <a:solidFill>
                        <a:srgbClr val="AFC595"/>
                      </a:solidFill>
                      <a:prstDash val="solid"/>
                    </a:lnB>
                  </a:tcPr>
                </a:tc>
                <a:tc>
                  <a:txBody>
                    <a:bodyPr/>
                    <a:lstStyle/>
                    <a:p>
                      <a:r>
                        <a:rPr sz="1000" b="0">
                          <a:solidFill>
                            <a:srgbClr val="E1E47C"/>
                          </a:solidFill>
                        </a:rPr>
                        <a:t>Level</a:t>
                      </a:r>
                    </a:p>
                  </a:txBody>
                  <a:tcPr>
                    <a:solidFill>
                      <a:srgbClr val="ECFBEA"/>
                    </a:solidFill>
                    <a:lnL w="30782">
                      <a:solidFill>
                        <a:srgbClr val="AFC595"/>
                      </a:solidFill>
                      <a:prstDash val="solid"/>
                    </a:lnL>
                    <a:lnR w="30782">
                      <a:solidFill>
                        <a:srgbClr val="AFC595"/>
                      </a:solidFill>
                      <a:prstDash val="solid"/>
                    </a:lnR>
                    <a:lnT w="30782">
                      <a:solidFill>
                        <a:srgbClr val="AFC595"/>
                      </a:solidFill>
                      <a:prstDash val="solid"/>
                    </a:lnT>
                    <a:lnB w="30782">
                      <a:solidFill>
                        <a:srgbClr val="AFC595"/>
                      </a:solidFill>
                      <a:prstDash val="solid"/>
                    </a:lnB>
                  </a:tcPr>
                </a:tc>
                <a:tc>
                  <a:txBody>
                    <a:bodyPr/>
                    <a:lstStyle/>
                    <a:p>
                      <a:r>
                        <a:rPr sz="1000" b="0">
                          <a:solidFill>
                            <a:srgbClr val="E1E47C"/>
                          </a:solidFill>
                        </a:rPr>
                        <a:t>Catalog</a:t>
                      </a:r>
                    </a:p>
                  </a:txBody>
                  <a:tcPr>
                    <a:solidFill>
                      <a:srgbClr val="C3F2BF"/>
                    </a:solidFill>
                    <a:lnL w="30782">
                      <a:solidFill>
                        <a:srgbClr val="AFC595"/>
                      </a:solidFill>
                      <a:prstDash val="solid"/>
                    </a:lnL>
                    <a:lnR w="30782">
                      <a:solidFill>
                        <a:srgbClr val="AFC595"/>
                      </a:solidFill>
                      <a:prstDash val="solid"/>
                    </a:lnR>
                    <a:lnT w="30782">
                      <a:solidFill>
                        <a:srgbClr val="AFC595"/>
                      </a:solidFill>
                      <a:prstDash val="solid"/>
                    </a:lnT>
                    <a:lnB w="30782">
                      <a:solidFill>
                        <a:srgbClr val="AFC595"/>
                      </a:solidFill>
                      <a:prstDash val="solid"/>
                    </a:lnB>
                  </a:tcPr>
                </a:tc>
              </a:tr>
            </a:tbl>
          </a:graphicData>
        </a:graphic>
      </p:graphicFrame>
      <p:sp>
        <p:nvSpPr>
          <p:cNvPr id="17" name="TextBox 16"/>
          <p:cNvSpPr txBox="1"/>
          <p:nvPr/>
        </p:nvSpPr>
        <p:spPr>
          <a:xfrm>
            <a:off x="5137972" y="630953"/>
            <a:ext cx="3989693" cy="1439347"/>
          </a:xfrm>
          <a:prstGeom prst="rect">
            <a:avLst/>
          </a:prstGeom>
          <a:solidFill>
            <a:srgbClr val="997FB4"/>
          </a:solidFill>
        </p:spPr>
        <p:txBody>
          <a:bodyPr wrap="none" lIns="19622" rIns="19622" tIns="19622" bIns="19622">
            <a:spAutoFit/>
          </a:bodyPr>
          <a:lstStyle/>
          <a:p>
            <a:r>
              <a:rPr sz="1200" b="1" i="1" u="none">
                <a:solidFill>
                  <a:srgbClr val="86431D"/>
                </a:solidFill>
                <a:latin typeface="Aptos"/>
              </a:rPr>
              <a:t>Variant Event Asset</a:t>
            </a:r>
          </a:p>
        </p:txBody>
      </p:sp>
      <p:sp>
        <p:nvSpPr>
          <p:cNvPr id="18" name="TextBox 17"/>
          <p:cNvSpPr txBox="1"/>
          <p:nvPr/>
        </p:nvSpPr>
        <p:spPr>
          <a:xfrm>
            <a:off x="9800571" y="2344262"/>
            <a:ext cx="1988212" cy="1645867"/>
          </a:xfrm>
          <a:prstGeom prst="rect">
            <a:avLst/>
          </a:prstGeom>
          <a:noFill/>
        </p:spPr>
        <p:txBody>
          <a:bodyPr wrap="none" lIns="33797" rIns="33797" tIns="33797" bIns="33797">
            <a:spAutoFit/>
          </a:bodyPr>
          <a:lstStyle/>
          <a:p>
            <a:r>
              <a:rPr sz="900" b="1" i="0" u="none">
                <a:solidFill>
                  <a:srgbClr val="431D74"/>
                </a:solidFill>
                <a:latin typeface="Arial"/>
              </a:rPr>
              <a:t>Trend Lens Review</a:t>
            </a:r>
          </a:p>
        </p:txBody>
      </p:sp>
      <p:sp>
        <p:nvSpPr>
          <p:cNvPr id="19" name="Right Triangle 18"/>
          <p:cNvSpPr/>
          <p:nvPr/>
        </p:nvSpPr>
        <p:spPr>
          <a:xfrm>
            <a:off x="10074426" y="1864785"/>
            <a:ext cx="1041578" cy="299959"/>
          </a:xfrm>
          <a:prstGeom prst="rtTriangle">
            <a:avLst/>
          </a:prstGeom>
          <a:solidFill>
            <a:srgbClr val="6087AE"/>
          </a:solidFill>
          <a:ln w="11925">
            <a:solidFill>
              <a:srgbClr val="45D489"/>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