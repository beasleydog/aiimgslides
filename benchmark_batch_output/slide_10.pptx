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ave 1"/>
          <p:cNvSpPr/>
          <p:nvPr/>
        </p:nvSpPr>
        <p:spPr>
          <a:xfrm>
            <a:off x="3826914" y="3390183"/>
            <a:ext cx="1425724" cy="809240"/>
          </a:xfrm>
          <a:prstGeom prst="wave">
            <a:avLst/>
          </a:prstGeom>
          <a:solidFill>
            <a:srgbClr val="9ADB8C"/>
          </a:solidFill>
          <a:ln w="24672">
            <a:solidFill>
              <a:srgbClr val="543991"/>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nut 2"/>
          <p:cNvSpPr/>
          <p:nvPr/>
        </p:nvSpPr>
        <p:spPr>
          <a:xfrm>
            <a:off x="1688536" y="2961089"/>
            <a:ext cx="2313499" cy="335033"/>
          </a:xfrm>
          <a:prstGeom prst="donut">
            <a:avLst/>
          </a:prstGeom>
          <a:solidFill>
            <a:srgbClr val="9BCE1F"/>
          </a:solidFill>
          <a:ln w="14474">
            <a:solidFill>
              <a:srgbClr val="E0958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38331" y="4713608"/>
            <a:ext cx="4252982" cy="1802971"/>
          </a:xfrm>
          <a:prstGeom prst="rect">
            <a:avLst/>
          </a:prstGeom>
          <a:noFill/>
        </p:spPr>
        <p:txBody>
          <a:bodyPr wrap="none" lIns="19452" rIns="19452" tIns="19452" bIns="19452">
            <a:spAutoFit/>
          </a:bodyPr>
          <a:lstStyle/>
          <a:p>
            <a:r>
              <a:rPr sz="800" b="1" i="1" u="none">
                <a:solidFill>
                  <a:srgbClr val="49554C"/>
                </a:solidFill>
                <a:latin typeface="Georgia"/>
              </a:rPr>
              <a:t>Segment Loop Deck</a:t>
            </a:r>
          </a:p>
        </p:txBody>
      </p:sp>
      <p:sp>
        <p:nvSpPr>
          <p:cNvPr id="5" name="TextBox 4"/>
          <p:cNvSpPr txBox="1"/>
          <p:nvPr/>
        </p:nvSpPr>
        <p:spPr>
          <a:xfrm>
            <a:off x="6818541" y="1383756"/>
            <a:ext cx="1843490" cy="847627"/>
          </a:xfrm>
          <a:prstGeom prst="rect">
            <a:avLst/>
          </a:prstGeom>
          <a:noFill/>
        </p:spPr>
        <p:txBody>
          <a:bodyPr wrap="none" lIns="87619" rIns="87619" tIns="87619" bIns="87619">
            <a:spAutoFit/>
          </a:bodyPr>
          <a:lstStyle/>
          <a:p>
            <a:r>
              <a:rPr sz="900" b="1" i="0" u="none">
                <a:solidFill>
                  <a:srgbClr val="7E60B4"/>
                </a:solidFill>
                <a:latin typeface="Verdana"/>
              </a:rPr>
              <a:t>Access Threshold Resource State Event Field Alignment Volume Deck Forecast Factor Density Output Concept Apex Bridge Frequency Track Profile Checkpoint Agenda Format Gateway Topology Radius Feature</a:t>
            </a:r>
          </a:p>
        </p:txBody>
      </p:sp>
      <p:sp>
        <p:nvSpPr>
          <p:cNvPr id="6" name="TextBox 5"/>
          <p:cNvSpPr txBox="1"/>
          <p:nvPr/>
        </p:nvSpPr>
        <p:spPr>
          <a:xfrm>
            <a:off x="6361183" y="4535672"/>
            <a:ext cx="5093638" cy="1614161"/>
          </a:xfrm>
          <a:prstGeom prst="rect">
            <a:avLst/>
          </a:prstGeom>
          <a:noFill/>
        </p:spPr>
        <p:txBody>
          <a:bodyPr wrap="none" lIns="19829" rIns="19829" tIns="19829" bIns="19829">
            <a:spAutoFit/>
          </a:bodyPr>
          <a:lstStyle/>
          <a:p>
            <a:r>
              <a:rPr sz="900" b="0" i="0" u="none">
                <a:solidFill>
                  <a:srgbClr val="269F9B"/>
                </a:solidFill>
                <a:latin typeface="Georgia"/>
              </a:rPr>
              <a:t>Audit Threshold Model Field Forecast Story Portal Brief Workflow Datum Edge Access Account Stage Domain Gradient Method Terminal Connector Reference Span Radius Timeline Output Bridge Harbor Map Frequency Mesh Duration</a:t>
            </a:r>
          </a:p>
        </p:txBody>
      </p:sp>
      <p:graphicFrame>
        <p:nvGraphicFramePr>
          <p:cNvPr id="7" name="Table 6"/>
          <p:cNvGraphicFramePr>
            <a:graphicFrameLocks noGrp="1"/>
          </p:cNvGraphicFramePr>
          <p:nvPr/>
        </p:nvGraphicFramePr>
        <p:xfrm>
          <a:off x="5285835" y="2095121"/>
          <a:ext cx="3366683" cy="1276140"/>
        </p:xfrm>
        <a:graphic>
          <a:graphicData uri="http://schemas.openxmlformats.org/drawingml/2006/table">
            <a:tbl>
              <a:tblPr firstRow="1" bandRow="1">
                <a:tableStyleId>{5C22544A-7EE6-4342-B048-85BDC9FD1C3A}</a:tableStyleId>
              </a:tblPr>
              <a:tblGrid>
                <a:gridCol w="1122227"/>
                <a:gridCol w="1122227"/>
                <a:gridCol w="1122229"/>
              </a:tblGrid>
              <a:tr h="255228">
                <a:tc>
                  <a:txBody>
                    <a:bodyPr/>
                    <a:lstStyle/>
                    <a:p>
                      <a:r>
                        <a:rPr sz="1000" b="0">
                          <a:solidFill>
                            <a:srgbClr val="CF9675"/>
                          </a:solidFill>
                        </a:rPr>
                        <a:t>Resource Schema</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Insight</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Packet</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r>
              <a:tr h="255228">
                <a:tc>
                  <a:txBody>
                    <a:bodyPr/>
                    <a:lstStyle/>
                    <a:p>
                      <a:r>
                        <a:rPr sz="1000" b="0">
                          <a:solidFill>
                            <a:srgbClr val="CF9675"/>
                          </a:solidFill>
                        </a:rPr>
                        <a:t>Vertex</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Cycle Target</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Runtime Module</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r>
              <a:tr h="255228">
                <a:tc>
                  <a:txBody>
                    <a:bodyPr/>
                    <a:lstStyle/>
                    <a:p>
                      <a:r>
                        <a:rPr sz="1000" b="0">
                          <a:solidFill>
                            <a:srgbClr val="CF9675"/>
                          </a:solidFill>
                        </a:rPr>
                        <a:t>Dimension</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Memory</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Horizon Instance</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r>
              <a:tr h="255228">
                <a:tc>
                  <a:txBody>
                    <a:bodyPr/>
                    <a:lstStyle/>
                    <a:p>
                      <a:r>
                        <a:rPr sz="1000" b="0">
                          <a:solidFill>
                            <a:srgbClr val="CF9675"/>
                          </a:solidFill>
                        </a:rPr>
                        <a:t>Group</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Token</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Queueing</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r>
              <a:tr h="255228">
                <a:tc>
                  <a:txBody>
                    <a:bodyPr/>
                    <a:lstStyle/>
                    <a:p>
                      <a:r>
                        <a:rPr sz="1000" b="0">
                          <a:solidFill>
                            <a:srgbClr val="CF9675"/>
                          </a:solidFill>
                        </a:rPr>
                        <a:t>Threshold Snapshot</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Cadence</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c>
                  <a:txBody>
                    <a:bodyPr/>
                    <a:lstStyle/>
                    <a:p>
                      <a:r>
                        <a:rPr sz="1000" b="0">
                          <a:solidFill>
                            <a:srgbClr val="CF9675"/>
                          </a:solidFill>
                        </a:rPr>
                        <a:t>Slice Heading</a:t>
                      </a:r>
                    </a:p>
                  </a:txBody>
                  <a:tcPr>
                    <a:solidFill>
                      <a:srgbClr val="DBF5EE"/>
                    </a:solidFill>
                    <a:lnL w="37937">
                      <a:solidFill>
                        <a:srgbClr val="BEA36F"/>
                      </a:solidFill>
                      <a:prstDash val="dash"/>
                    </a:lnL>
                    <a:lnR w="37937">
                      <a:solidFill>
                        <a:srgbClr val="BEA36F"/>
                      </a:solidFill>
                      <a:prstDash val="dash"/>
                    </a:lnR>
                    <a:lnT w="37937">
                      <a:solidFill>
                        <a:srgbClr val="BEA36F"/>
                      </a:solidFill>
                      <a:prstDash val="dash"/>
                    </a:lnT>
                    <a:lnB w="37937">
                      <a:solidFill>
                        <a:srgbClr val="BEA36F"/>
                      </a:solidFill>
                      <a:prstDash val="dash"/>
                    </a:lnB>
                  </a:tcPr>
                </a:tc>
              </a:tr>
            </a:tbl>
          </a:graphicData>
        </a:graphic>
      </p:graphicFrame>
      <p:sp>
        <p:nvSpPr>
          <p:cNvPr id="8" name="TextBox 7"/>
          <p:cNvSpPr txBox="1"/>
          <p:nvPr/>
        </p:nvSpPr>
        <p:spPr>
          <a:xfrm>
            <a:off x="3404452" y="707670"/>
            <a:ext cx="1209566" cy="2055835"/>
          </a:xfrm>
          <a:prstGeom prst="rect">
            <a:avLst/>
          </a:prstGeom>
          <a:solidFill>
            <a:srgbClr val="E5E639"/>
          </a:solidFill>
        </p:spPr>
        <p:txBody>
          <a:bodyPr wrap="none" lIns="22049" rIns="22049" tIns="22049" bIns="22049">
            <a:spAutoFit/>
          </a:bodyPr>
          <a:lstStyle/>
          <a:p>
            <a:r>
              <a:rPr sz="1000" b="0" i="0" u="none">
                <a:solidFill>
                  <a:srgbClr val="22B1D3"/>
                </a:solidFill>
                <a:latin typeface="Calibri"/>
              </a:rPr>
              <a:t>Beacon Catalog</a:t>
            </a:r>
          </a:p>
        </p:txBody>
      </p:sp>
      <p:sp>
        <p:nvSpPr>
          <p:cNvPr id="9" name="Right Arrow Callout 8"/>
          <p:cNvSpPr/>
          <p:nvPr/>
        </p:nvSpPr>
        <p:spPr>
          <a:xfrm>
            <a:off x="4892214" y="303555"/>
            <a:ext cx="497525" cy="981748"/>
          </a:xfrm>
          <a:prstGeom prst="rightArrowCallout">
            <a:avLst/>
          </a:prstGeom>
          <a:solidFill>
            <a:srgbClr val="C346B2"/>
          </a:solidFill>
          <a:ln w="19027">
            <a:solidFill>
              <a:srgbClr val="2A4F99"/>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lock Arc 9"/>
          <p:cNvSpPr/>
          <p:nvPr/>
        </p:nvSpPr>
        <p:spPr>
          <a:xfrm>
            <a:off x="1173449" y="1173924"/>
            <a:ext cx="615769" cy="475393"/>
          </a:xfrm>
          <a:prstGeom prst="blockArc">
            <a:avLst/>
          </a:prstGeom>
          <a:solidFill>
            <a:srgbClr val="42307D"/>
          </a:solidFill>
          <a:ln w="31136">
            <a:solidFill>
              <a:srgbClr val="3153AF"/>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2022" y="2290512"/>
            <a:ext cx="1290318" cy="1173315"/>
          </a:xfrm>
          <a:prstGeom prst="rect">
            <a:avLst/>
          </a:prstGeom>
          <a:noFill/>
        </p:spPr>
        <p:txBody>
          <a:bodyPr wrap="none" lIns="87183" rIns="87183" tIns="87183" bIns="87183">
            <a:spAutoFit/>
          </a:bodyPr>
          <a:lstStyle/>
          <a:p>
            <a:r>
              <a:rPr sz="1700" b="0" i="0" u="none">
                <a:solidFill>
                  <a:srgbClr val="DE8C3A"/>
                </a:solidFill>
                <a:latin typeface="Aptos"/>
              </a:rPr>
              <a:t>Vector Model Device Strategy Frame Sequence</a:t>
            </a:r>
          </a:p>
        </p:txBody>
      </p:sp>
      <p:pic>
        <p:nvPicPr>
          <p:cNvPr id="12" name="Picture 11" descr="_example_image.jpg"/>
          <p:cNvPicPr>
            <a:picLocks noChangeAspect="1"/>
          </p:cNvPicPr>
          <p:nvPr/>
        </p:nvPicPr>
        <p:blipFill>
          <a:blip r:embed="rId2"/>
          <a:stretch>
            <a:fillRect/>
          </a:stretch>
        </p:blipFill>
        <p:spPr>
          <a:xfrm>
            <a:off x="173031" y="2747696"/>
            <a:ext cx="2066305" cy="974656"/>
          </a:xfrm>
          <a:prstGeom prst="rect">
            <a:avLst/>
          </a:prstGeom>
        </p:spPr>
      </p:pic>
      <p:graphicFrame>
        <p:nvGraphicFramePr>
          <p:cNvPr id="13" name="Table 12"/>
          <p:cNvGraphicFramePr>
            <a:graphicFrameLocks noGrp="1"/>
          </p:cNvGraphicFramePr>
          <p:nvPr/>
        </p:nvGraphicFramePr>
        <p:xfrm>
          <a:off x="8964730" y="1977792"/>
          <a:ext cx="3049463" cy="1113590"/>
        </p:xfrm>
        <a:graphic>
          <a:graphicData uri="http://schemas.openxmlformats.org/drawingml/2006/table">
            <a:tbl>
              <a:tblPr firstRow="1" bandRow="1">
                <a:tableStyleId>{5C22544A-7EE6-4342-B048-85BDC9FD1C3A}</a:tableStyleId>
              </a:tblPr>
              <a:tblGrid>
                <a:gridCol w="762365"/>
                <a:gridCol w="762365"/>
                <a:gridCol w="762365"/>
                <a:gridCol w="762368"/>
              </a:tblGrid>
              <a:tr h="371196">
                <a:tc>
                  <a:txBody>
                    <a:bodyPr/>
                    <a:lstStyle/>
                    <a:p>
                      <a:r>
                        <a:rPr sz="1300" b="0">
                          <a:solidFill>
                            <a:srgbClr val="CCD01F"/>
                          </a:solidFill>
                        </a:rPr>
                        <a:t>Marker Motion</a:t>
                      </a:r>
                    </a:p>
                  </a:txBody>
                  <a:tcPr>
                    <a:solidFill>
                      <a:srgbClr val="F8F3F1"/>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Core Option</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Baseline</a:t>
                      </a:r>
                    </a:p>
                  </a:txBody>
                  <a:tcPr>
                    <a:solidFill>
                      <a:srgbClr val="F8F3F1"/>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Pipeline Baseline</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r>
              <a:tr h="371196">
                <a:tc>
                  <a:txBody>
                    <a:bodyPr/>
                    <a:lstStyle/>
                    <a:p>
                      <a:r>
                        <a:rPr sz="1300" b="0">
                          <a:solidFill>
                            <a:srgbClr val="CCD01F"/>
                          </a:solidFill>
                        </a:rPr>
                        <a:t>Pixel</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Map</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Stack</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Slice Interval</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r>
              <a:tr h="371198">
                <a:tc>
                  <a:txBody>
                    <a:bodyPr/>
                    <a:lstStyle/>
                    <a:p>
                      <a:r>
                        <a:rPr sz="1300" b="0">
                          <a:solidFill>
                            <a:srgbClr val="CCD01F"/>
                          </a:solidFill>
                        </a:rPr>
                        <a:t>Adaptive Pixel</a:t>
                      </a:r>
                    </a:p>
                  </a:txBody>
                  <a:tcPr>
                    <a:solidFill>
                      <a:srgbClr val="F8F3F1"/>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Engine Rhythm</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Version</a:t>
                      </a:r>
                    </a:p>
                  </a:txBody>
                  <a:tcPr>
                    <a:solidFill>
                      <a:srgbClr val="F8F3F1"/>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c>
                  <a:txBody>
                    <a:bodyPr/>
                    <a:lstStyle/>
                    <a:p>
                      <a:r>
                        <a:rPr sz="1300" b="0">
                          <a:solidFill>
                            <a:srgbClr val="CCD01F"/>
                          </a:solidFill>
                        </a:rPr>
                        <a:t>Array Benchmark</a:t>
                      </a:r>
                    </a:p>
                  </a:txBody>
                  <a:tcPr>
                    <a:solidFill>
                      <a:srgbClr val="E7D4C9"/>
                    </a:solidFill>
                    <a:lnL w="9538">
                      <a:solidFill>
                        <a:srgbClr val="38401D"/>
                      </a:solidFill>
                      <a:prstDash val="solid"/>
                    </a:lnL>
                    <a:lnR w="9538">
                      <a:solidFill>
                        <a:srgbClr val="38401D"/>
                      </a:solidFill>
                      <a:prstDash val="solid"/>
                    </a:lnR>
                    <a:lnT w="9538">
                      <a:solidFill>
                        <a:srgbClr val="38401D"/>
                      </a:solidFill>
                      <a:prstDash val="solid"/>
                    </a:lnT>
                    <a:lnB w="9538">
                      <a:solidFill>
                        <a:srgbClr val="38401D"/>
                      </a:solidFill>
                      <a:prstDash val="solid"/>
                    </a:lnB>
                  </a:tcPr>
                </a:tc>
              </a:tr>
            </a:tbl>
          </a:graphicData>
        </a:graphic>
      </p:graphicFrame>
      <p:sp>
        <p:nvSpPr>
          <p:cNvPr id="14" name="Up-Down Arrow 13"/>
          <p:cNvSpPr/>
          <p:nvPr/>
        </p:nvSpPr>
        <p:spPr>
          <a:xfrm>
            <a:off x="1916310" y="1655468"/>
            <a:ext cx="1069816" cy="890133"/>
          </a:xfrm>
          <a:prstGeom prst="upDownArrow">
            <a:avLst/>
          </a:prstGeom>
          <a:solidFill>
            <a:srgbClr val="3749C4"/>
          </a:solidFill>
          <a:ln w="19095">
            <a:solidFill>
              <a:srgbClr val="6A5C9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cument 14"/>
          <p:cNvSpPr/>
          <p:nvPr/>
        </p:nvSpPr>
        <p:spPr>
          <a:xfrm>
            <a:off x="10192428" y="394026"/>
            <a:ext cx="1676601" cy="1653396"/>
          </a:xfrm>
          <a:prstGeom prst="flowChartDocument">
            <a:avLst/>
          </a:prstGeom>
          <a:solidFill>
            <a:srgbClr val="8B501E"/>
          </a:solidFill>
          <a:ln w="23401">
            <a:solidFill>
              <a:srgbClr val="9243D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p-Down Arrow 15"/>
          <p:cNvSpPr/>
          <p:nvPr/>
        </p:nvSpPr>
        <p:spPr>
          <a:xfrm>
            <a:off x="469947" y="3306074"/>
            <a:ext cx="1610032" cy="946076"/>
          </a:xfrm>
          <a:prstGeom prst="upDownArrow">
            <a:avLst/>
          </a:prstGeom>
          <a:solidFill>
            <a:srgbClr val="4865B2"/>
          </a:solidFill>
          <a:ln w="19775">
            <a:solidFill>
              <a:srgbClr val="5A786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_example_image.jpg"/>
          <p:cNvPicPr>
            <a:picLocks noChangeAspect="1"/>
          </p:cNvPicPr>
          <p:nvPr/>
        </p:nvPicPr>
        <p:blipFill>
          <a:blip r:embed="rId2"/>
          <a:stretch>
            <a:fillRect/>
          </a:stretch>
        </p:blipFill>
        <p:spPr>
          <a:xfrm>
            <a:off x="5927547" y="507082"/>
            <a:ext cx="1193699" cy="780610"/>
          </a:xfrm>
          <a:prstGeom prst="rect">
            <a:avLst/>
          </a:prstGeom>
        </p:spPr>
      </p:pic>
      <p:sp>
        <p:nvSpPr>
          <p:cNvPr id="18" name="TextBox 17"/>
          <p:cNvSpPr txBox="1"/>
          <p:nvPr/>
        </p:nvSpPr>
        <p:spPr>
          <a:xfrm>
            <a:off x="7478792" y="3659492"/>
            <a:ext cx="4230462" cy="720007"/>
          </a:xfrm>
          <a:prstGeom prst="rect">
            <a:avLst/>
          </a:prstGeom>
          <a:noFill/>
        </p:spPr>
        <p:txBody>
          <a:bodyPr wrap="none" lIns="42541" rIns="42541" tIns="42541" bIns="42541">
            <a:spAutoFit/>
          </a:bodyPr>
          <a:lstStyle/>
          <a:p>
            <a:r>
              <a:rPr sz="1100" b="1" i="0" u="none">
                <a:solidFill>
                  <a:srgbClr val="B39D83"/>
                </a:solidFill>
                <a:latin typeface="Arial"/>
              </a:rPr>
              <a:t>Path Snapshot Switch Map Insight Echo Process Capacity State Brief Story Energy Blueprint Runtime Cortex Marker Feature Indicator Design Range Audit Signal Explorer Iteration Aspect Chart Iteration Expansion Pattern Release Method</a:t>
            </a:r>
          </a:p>
        </p:txBody>
      </p:sp>
      <p:pic>
        <p:nvPicPr>
          <p:cNvPr id="19" name="Picture 18" descr="_example_image.jpg"/>
          <p:cNvPicPr>
            <a:picLocks noChangeAspect="1"/>
          </p:cNvPicPr>
          <p:nvPr/>
        </p:nvPicPr>
        <p:blipFill>
          <a:blip r:embed="rId2"/>
          <a:stretch>
            <a:fillRect/>
          </a:stretch>
        </p:blipFill>
        <p:spPr>
          <a:xfrm>
            <a:off x="8101635" y="172168"/>
            <a:ext cx="1608421" cy="11666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