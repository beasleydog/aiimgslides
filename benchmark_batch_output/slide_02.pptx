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Callout 1"/>
          <p:cNvSpPr/>
          <p:nvPr/>
        </p:nvSpPr>
        <p:spPr>
          <a:xfrm>
            <a:off x="7211332" y="498819"/>
            <a:ext cx="2539202" cy="376111"/>
          </a:xfrm>
          <a:prstGeom prst="wedgeEllipseCallout">
            <a:avLst/>
          </a:prstGeom>
          <a:solidFill>
            <a:srgbClr val="C38243"/>
          </a:solidFill>
          <a:ln w="21076">
            <a:solidFill>
              <a:srgbClr val="BCB37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784282" y="4059453"/>
            <a:ext cx="1066434" cy="1931707"/>
          </a:xfrm>
          <a:prstGeom prst="rect">
            <a:avLst/>
          </a:prstGeom>
          <a:noFill/>
        </p:spPr>
        <p:txBody>
          <a:bodyPr wrap="none" lIns="38207" rIns="38207" tIns="38207" bIns="38207">
            <a:spAutoFit/>
          </a:bodyPr>
          <a:lstStyle/>
          <a:p>
            <a:r>
              <a:rPr sz="1600" b="0" i="0" u="none">
                <a:solidFill>
                  <a:srgbClr val="A6BC6B"/>
                </a:solidFill>
                <a:latin typeface="Trebuchet MS"/>
              </a:rPr>
              <a:t>Source Schema Zone Queue Logic Vertex Array Memory Thread Bundle Schema Orbit Release Energy Ratio Asset Depth Service Map Context Mesh Register Queueing Report Cluster Briefing Priority Journey Memory Portal Metric Clarity Data</a:t>
            </a:r>
          </a:p>
        </p:txBody>
      </p:sp>
      <p:sp>
        <p:nvSpPr>
          <p:cNvPr id="4" name="TextBox 3"/>
          <p:cNvSpPr txBox="1"/>
          <p:nvPr/>
        </p:nvSpPr>
        <p:spPr>
          <a:xfrm>
            <a:off x="905809" y="3088668"/>
            <a:ext cx="3085893" cy="1421852"/>
          </a:xfrm>
          <a:prstGeom prst="rect">
            <a:avLst/>
          </a:prstGeom>
          <a:solidFill>
            <a:srgbClr val="58C76C"/>
          </a:solidFill>
        </p:spPr>
        <p:txBody>
          <a:bodyPr wrap="none" lIns="69724" rIns="69724" tIns="69724" bIns="69724">
            <a:spAutoFit/>
          </a:bodyPr>
          <a:lstStyle/>
          <a:p>
            <a:r>
              <a:rPr sz="1600" b="0" i="0" u="none">
                <a:solidFill>
                  <a:srgbClr val="CDDE5D"/>
                </a:solidFill>
                <a:latin typeface="Georgia"/>
              </a:rPr>
              <a:t>Datum Format Priority Depth North Phase Origin Path Relay Harbor Signal Route Register Volume Query Structure Lens Priority Field Horizon Kernel Spectrum Ratio Inventory Sample Drive Audit</a:t>
            </a:r>
          </a:p>
        </p:txBody>
      </p:sp>
      <p:sp>
        <p:nvSpPr>
          <p:cNvPr id="5" name="U-Turn Arrow 4"/>
          <p:cNvSpPr/>
          <p:nvPr/>
        </p:nvSpPr>
        <p:spPr>
          <a:xfrm>
            <a:off x="1036499" y="2310164"/>
            <a:ext cx="726867" cy="424175"/>
          </a:xfrm>
          <a:prstGeom prst="uturnArrow">
            <a:avLst/>
          </a:prstGeom>
          <a:solidFill>
            <a:srgbClr val="5D6C31"/>
          </a:solidFill>
          <a:ln w="20692">
            <a:solidFill>
              <a:srgbClr val="B4C75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34110" y="2414747"/>
            <a:ext cx="4339361" cy="1764132"/>
          </a:xfrm>
          <a:prstGeom prst="rect">
            <a:avLst/>
          </a:prstGeom>
          <a:noFill/>
        </p:spPr>
        <p:txBody>
          <a:bodyPr wrap="none" lIns="56384" rIns="56384" tIns="56384" bIns="56384">
            <a:spAutoFit/>
          </a:bodyPr>
          <a:lstStyle/>
          <a:p>
            <a:r>
              <a:rPr sz="2400" b="0" i="0" u="none">
                <a:solidFill>
                  <a:srgbClr val="88993A"/>
                </a:solidFill>
                <a:latin typeface="Verdana"/>
              </a:rPr>
              <a:t>Slice Domain Panel Agenda Depth Pixel Stage Indicator Mesh Array Detail Process</a:t>
            </a:r>
          </a:p>
        </p:txBody>
      </p:sp>
      <p:pic>
        <p:nvPicPr>
          <p:cNvPr id="7" name="Picture 6" descr="_example_image.jpg"/>
          <p:cNvPicPr>
            <a:picLocks noChangeAspect="1"/>
          </p:cNvPicPr>
          <p:nvPr/>
        </p:nvPicPr>
        <p:blipFill>
          <a:blip r:embed="rId2"/>
          <a:stretch>
            <a:fillRect/>
          </a:stretch>
        </p:blipFill>
        <p:spPr>
          <a:xfrm>
            <a:off x="1438353" y="4991136"/>
            <a:ext cx="1172495" cy="1580609"/>
          </a:xfrm>
          <a:prstGeom prst="rect">
            <a:avLst/>
          </a:prstGeom>
        </p:spPr>
      </p:pic>
      <p:sp>
        <p:nvSpPr>
          <p:cNvPr id="8" name="TextBox 7"/>
          <p:cNvSpPr txBox="1"/>
          <p:nvPr/>
        </p:nvSpPr>
        <p:spPr>
          <a:xfrm>
            <a:off x="781773" y="494781"/>
            <a:ext cx="4889584" cy="1648199"/>
          </a:xfrm>
          <a:prstGeom prst="rect">
            <a:avLst/>
          </a:prstGeom>
          <a:noFill/>
        </p:spPr>
        <p:txBody>
          <a:bodyPr wrap="none" lIns="19034" rIns="19034" tIns="19034" bIns="19034">
            <a:spAutoFit/>
          </a:bodyPr>
          <a:lstStyle/>
          <a:p>
            <a:r>
              <a:rPr sz="800" b="1" i="0" u="none">
                <a:solidFill>
                  <a:srgbClr val="A8C14E"/>
                </a:solidFill>
                <a:latin typeface="Trebuchet MS"/>
              </a:rPr>
              <a:t>Spectrum Insight Blueprint</a:t>
            </a:r>
          </a:p>
        </p:txBody>
      </p:sp>
      <p:pic>
        <p:nvPicPr>
          <p:cNvPr id="9" name="Picture 8" descr="_example_image.jpg"/>
          <p:cNvPicPr>
            <a:picLocks noChangeAspect="1"/>
          </p:cNvPicPr>
          <p:nvPr/>
        </p:nvPicPr>
        <p:blipFill>
          <a:blip r:embed="rId2"/>
          <a:stretch>
            <a:fillRect/>
          </a:stretch>
        </p:blipFill>
        <p:spPr>
          <a:xfrm>
            <a:off x="8194360" y="661799"/>
            <a:ext cx="3102090" cy="912379"/>
          </a:xfrm>
          <a:prstGeom prst="rect">
            <a:avLst/>
          </a:prstGeom>
        </p:spPr>
      </p:pic>
      <p:pic>
        <p:nvPicPr>
          <p:cNvPr id="10" name="Picture 9" descr="_example_image.jpg"/>
          <p:cNvPicPr>
            <a:picLocks noChangeAspect="1"/>
          </p:cNvPicPr>
          <p:nvPr/>
        </p:nvPicPr>
        <p:blipFill>
          <a:blip r:embed="rId2"/>
          <a:stretch>
            <a:fillRect/>
          </a:stretch>
        </p:blipFill>
        <p:spPr>
          <a:xfrm>
            <a:off x="4392913" y="3532557"/>
            <a:ext cx="1112486" cy="814285"/>
          </a:xfrm>
          <a:prstGeom prst="rect">
            <a:avLst/>
          </a:prstGeom>
        </p:spPr>
      </p:pic>
      <p:sp>
        <p:nvSpPr>
          <p:cNvPr id="11" name="Octagon 10"/>
          <p:cNvSpPr/>
          <p:nvPr/>
        </p:nvSpPr>
        <p:spPr>
          <a:xfrm>
            <a:off x="282961" y="4410571"/>
            <a:ext cx="568980" cy="1621900"/>
          </a:xfrm>
          <a:prstGeom prst="octagon">
            <a:avLst/>
          </a:prstGeom>
          <a:noFill/>
          <a:ln w="16972">
            <a:solidFill>
              <a:srgbClr val="4AB57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5451" y="1829393"/>
            <a:ext cx="4284996" cy="282078"/>
          </a:xfrm>
          <a:prstGeom prst="rect">
            <a:avLst/>
          </a:prstGeom>
          <a:noFill/>
        </p:spPr>
        <p:txBody>
          <a:bodyPr wrap="none" lIns="31416" rIns="31416" tIns="31416" bIns="31416">
            <a:spAutoFit/>
          </a:bodyPr>
          <a:lstStyle/>
          <a:p>
            <a:r>
              <a:rPr sz="1400" b="0" i="0" u="none">
                <a:solidFill>
                  <a:srgbClr val="7A367B"/>
                </a:solidFill>
                <a:latin typeface="Calibri"/>
              </a:rPr>
              <a:t>Marker Detail Range Marker Point Hub Bundle Reference Summary Canvas Layer Interface Exchange Mesh Action Gradient Graph Bundle Interval Motion Sync Domain Device Report Reference Summary Duration Capacity Output Response Transit Request Archive Horizon Queue Density Channel Column Hub Design Compass Alpha Cluster Analysis Audit</a:t>
            </a:r>
          </a:p>
        </p:txBody>
      </p:sp>
      <p:graphicFrame>
        <p:nvGraphicFramePr>
          <p:cNvPr id="13" name="Table 12"/>
          <p:cNvGraphicFramePr>
            <a:graphicFrameLocks noGrp="1"/>
          </p:cNvGraphicFramePr>
          <p:nvPr/>
        </p:nvGraphicFramePr>
        <p:xfrm>
          <a:off x="6076509" y="5219387"/>
          <a:ext cx="2988161" cy="1347792"/>
        </p:xfrm>
        <a:graphic>
          <a:graphicData uri="http://schemas.openxmlformats.org/drawingml/2006/table">
            <a:tbl>
              <a:tblPr firstRow="1" bandRow="1">
                <a:tableStyleId>{5C22544A-7EE6-4342-B048-85BDC9FD1C3A}</a:tableStyleId>
              </a:tblPr>
              <a:tblGrid>
                <a:gridCol w="1494080"/>
                <a:gridCol w="1494081"/>
              </a:tblGrid>
              <a:tr h="449264">
                <a:tc>
                  <a:txBody>
                    <a:bodyPr/>
                    <a:lstStyle/>
                    <a:p>
                      <a:r>
                        <a:rPr sz="1300" b="1">
                          <a:solidFill>
                            <a:srgbClr val="546559"/>
                          </a:solidFill>
                        </a:rPr>
                        <a:t>Insight Sample</a:t>
                      </a:r>
                    </a:p>
                  </a:txBody>
                  <a:tcPr>
                    <a:solidFill>
                      <a:srgbClr val="5B2785"/>
                    </a:solidFill>
                    <a:lnL w="20293">
                      <a:solidFill>
                        <a:srgbClr val="334B77"/>
                      </a:solidFill>
                      <a:prstDash val="solid"/>
                    </a:lnL>
                    <a:lnR w="20293">
                      <a:solidFill>
                        <a:srgbClr val="334B77"/>
                      </a:solidFill>
                      <a:prstDash val="solid"/>
                    </a:lnR>
                    <a:lnT w="20293">
                      <a:solidFill>
                        <a:srgbClr val="334B77"/>
                      </a:solidFill>
                      <a:prstDash val="solid"/>
                    </a:lnT>
                    <a:lnB w="20293">
                      <a:solidFill>
                        <a:srgbClr val="334B77"/>
                      </a:solidFill>
                      <a:prstDash val="solid"/>
                    </a:lnB>
                  </a:tcPr>
                </a:tc>
                <a:tc>
                  <a:txBody>
                    <a:bodyPr/>
                    <a:lstStyle/>
                    <a:p>
                      <a:r>
                        <a:rPr sz="1300" b="1">
                          <a:solidFill>
                            <a:srgbClr val="546559"/>
                          </a:solidFill>
                        </a:rPr>
                        <a:t>Zone Variant</a:t>
                      </a:r>
                    </a:p>
                  </a:txBody>
                  <a:tcPr>
                    <a:solidFill>
                      <a:srgbClr val="5B2785"/>
                    </a:solidFill>
                    <a:lnL w="20293">
                      <a:solidFill>
                        <a:srgbClr val="334B77"/>
                      </a:solidFill>
                      <a:prstDash val="solid"/>
                    </a:lnL>
                    <a:lnR w="20293">
                      <a:solidFill>
                        <a:srgbClr val="334B77"/>
                      </a:solidFill>
                      <a:prstDash val="solid"/>
                    </a:lnR>
                    <a:lnT w="20293">
                      <a:solidFill>
                        <a:srgbClr val="334B77"/>
                      </a:solidFill>
                      <a:prstDash val="solid"/>
                    </a:lnT>
                    <a:lnB w="20293">
                      <a:solidFill>
                        <a:srgbClr val="334B77"/>
                      </a:solidFill>
                      <a:prstDash val="solid"/>
                    </a:lnB>
                  </a:tcPr>
                </a:tc>
              </a:tr>
              <a:tr h="449264">
                <a:tc>
                  <a:txBody>
                    <a:bodyPr/>
                    <a:lstStyle/>
                    <a:p>
                      <a:r>
                        <a:rPr sz="1300" b="0">
                          <a:solidFill>
                            <a:srgbClr val="546559"/>
                          </a:solidFill>
                        </a:rPr>
                        <a:t>Surface</a:t>
                      </a:r>
                    </a:p>
                  </a:txBody>
                  <a:tcPr>
                    <a:solidFill>
                      <a:srgbClr val="AFE8EA"/>
                    </a:solidFill>
                    <a:lnL w="20293">
                      <a:solidFill>
                        <a:srgbClr val="334B77"/>
                      </a:solidFill>
                      <a:prstDash val="solid"/>
                    </a:lnL>
                    <a:lnR w="20293">
                      <a:solidFill>
                        <a:srgbClr val="334B77"/>
                      </a:solidFill>
                      <a:prstDash val="solid"/>
                    </a:lnR>
                    <a:lnT w="20293">
                      <a:solidFill>
                        <a:srgbClr val="334B77"/>
                      </a:solidFill>
                      <a:prstDash val="solid"/>
                    </a:lnT>
                    <a:lnB w="20293">
                      <a:solidFill>
                        <a:srgbClr val="334B77"/>
                      </a:solidFill>
                      <a:prstDash val="solid"/>
                    </a:lnB>
                  </a:tcPr>
                </a:tc>
                <a:tc>
                  <a:txBody>
                    <a:bodyPr/>
                    <a:lstStyle/>
                    <a:p>
                      <a:r>
                        <a:rPr sz="1300" b="0">
                          <a:solidFill>
                            <a:srgbClr val="546559"/>
                          </a:solidFill>
                        </a:rPr>
                        <a:t>Column Result</a:t>
                      </a:r>
                    </a:p>
                  </a:txBody>
                  <a:tcPr>
                    <a:solidFill>
                      <a:srgbClr val="AFE8EA"/>
                    </a:solidFill>
                    <a:lnL w="20293">
                      <a:solidFill>
                        <a:srgbClr val="334B77"/>
                      </a:solidFill>
                      <a:prstDash val="solid"/>
                    </a:lnL>
                    <a:lnR w="20293">
                      <a:solidFill>
                        <a:srgbClr val="334B77"/>
                      </a:solidFill>
                      <a:prstDash val="solid"/>
                    </a:lnR>
                    <a:lnT w="20293">
                      <a:solidFill>
                        <a:srgbClr val="334B77"/>
                      </a:solidFill>
                      <a:prstDash val="solid"/>
                    </a:lnT>
                    <a:lnB w="20293">
                      <a:solidFill>
                        <a:srgbClr val="334B77"/>
                      </a:solidFill>
                      <a:prstDash val="solid"/>
                    </a:lnB>
                  </a:tcPr>
                </a:tc>
              </a:tr>
              <a:tr h="449264">
                <a:tc>
                  <a:txBody>
                    <a:bodyPr/>
                    <a:lstStyle/>
                    <a:p>
                      <a:r>
                        <a:rPr sz="1300" b="0">
                          <a:solidFill>
                            <a:srgbClr val="546559"/>
                          </a:solidFill>
                        </a:rPr>
                        <a:t>Context</a:t>
                      </a:r>
                    </a:p>
                  </a:txBody>
                  <a:tcPr>
                    <a:solidFill>
                      <a:srgbClr val="D5F3F4"/>
                    </a:solidFill>
                    <a:lnL w="20293">
                      <a:solidFill>
                        <a:srgbClr val="334B77"/>
                      </a:solidFill>
                      <a:prstDash val="solid"/>
                    </a:lnL>
                    <a:lnR w="20293">
                      <a:solidFill>
                        <a:srgbClr val="334B77"/>
                      </a:solidFill>
                      <a:prstDash val="solid"/>
                    </a:lnR>
                    <a:lnT w="20293">
                      <a:solidFill>
                        <a:srgbClr val="334B77"/>
                      </a:solidFill>
                      <a:prstDash val="solid"/>
                    </a:lnT>
                    <a:lnB w="20293">
                      <a:solidFill>
                        <a:srgbClr val="334B77"/>
                      </a:solidFill>
                      <a:prstDash val="solid"/>
                    </a:lnB>
                  </a:tcPr>
                </a:tc>
                <a:tc>
                  <a:txBody>
                    <a:bodyPr/>
                    <a:lstStyle/>
                    <a:p>
                      <a:r>
                        <a:rPr sz="1300" b="0">
                          <a:solidFill>
                            <a:srgbClr val="546559"/>
                          </a:solidFill>
                        </a:rPr>
                        <a:t>Zone</a:t>
                      </a:r>
                    </a:p>
                  </a:txBody>
                  <a:tcPr>
                    <a:solidFill>
                      <a:srgbClr val="D5F3F4"/>
                    </a:solidFill>
                    <a:lnL w="20293">
                      <a:solidFill>
                        <a:srgbClr val="334B77"/>
                      </a:solidFill>
                      <a:prstDash val="solid"/>
                    </a:lnL>
                    <a:lnR w="20293">
                      <a:solidFill>
                        <a:srgbClr val="334B77"/>
                      </a:solidFill>
                      <a:prstDash val="solid"/>
                    </a:lnR>
                    <a:lnT w="20293">
                      <a:solidFill>
                        <a:srgbClr val="334B77"/>
                      </a:solidFill>
                      <a:prstDash val="solid"/>
                    </a:lnT>
                    <a:lnB w="20293">
                      <a:solidFill>
                        <a:srgbClr val="334B77"/>
                      </a:solidFill>
                      <a:prstDash val="solid"/>
                    </a:lnB>
                  </a:tcPr>
                </a:tc>
              </a:tr>
            </a:tbl>
          </a:graphicData>
        </a:graphic>
      </p:graphicFrame>
      <p:sp>
        <p:nvSpPr>
          <p:cNvPr id="14" name="TextBox 13"/>
          <p:cNvSpPr txBox="1"/>
          <p:nvPr/>
        </p:nvSpPr>
        <p:spPr>
          <a:xfrm>
            <a:off x="2025819" y="5806172"/>
            <a:ext cx="3819019" cy="626919"/>
          </a:xfrm>
          <a:prstGeom prst="rect">
            <a:avLst/>
          </a:prstGeom>
          <a:noFill/>
        </p:spPr>
        <p:txBody>
          <a:bodyPr wrap="none" lIns="25314" rIns="25314" tIns="25314" bIns="25314">
            <a:spAutoFit/>
          </a:bodyPr>
          <a:lstStyle/>
          <a:p>
            <a:r>
              <a:rPr sz="6200" b="1" i="0" u="none">
                <a:solidFill>
                  <a:srgbClr val="91B0C7"/>
                </a:solidFill>
                <a:latin typeface="Verdana"/>
              </a:rPr>
              <a:t>Ratio Detail Motion</a:t>
            </a:r>
          </a:p>
        </p:txBody>
      </p:sp>
      <p:sp>
        <p:nvSpPr>
          <p:cNvPr id="15" name="Process 14"/>
          <p:cNvSpPr/>
          <p:nvPr/>
        </p:nvSpPr>
        <p:spPr>
          <a:xfrm>
            <a:off x="3771976" y="4633073"/>
            <a:ext cx="482850" cy="420165"/>
          </a:xfrm>
          <a:prstGeom prst="flowChartProcess">
            <a:avLst/>
          </a:prstGeom>
          <a:solidFill>
            <a:srgbClr val="285064"/>
          </a:solidFill>
          <a:ln w="20332">
            <a:solidFill>
              <a:srgbClr val="CD8A5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Callout 15"/>
          <p:cNvSpPr/>
          <p:nvPr/>
        </p:nvSpPr>
        <p:spPr>
          <a:xfrm>
            <a:off x="8160000" y="4427210"/>
            <a:ext cx="563612" cy="1239647"/>
          </a:xfrm>
          <a:prstGeom prst="wedgeEllipseCallout">
            <a:avLst/>
          </a:prstGeom>
          <a:solidFill>
            <a:srgbClr val="417135"/>
          </a:solidFill>
          <a:ln w="23273">
            <a:solidFill>
              <a:srgbClr val="3C597B"/>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xplosion 16"/>
          <p:cNvSpPr/>
          <p:nvPr/>
        </p:nvSpPr>
        <p:spPr>
          <a:xfrm>
            <a:off x="6943202" y="883226"/>
            <a:ext cx="1421566" cy="412414"/>
          </a:xfrm>
          <a:prstGeom prst="irregularSeal2">
            <a:avLst/>
          </a:prstGeom>
          <a:solidFill>
            <a:srgbClr val="5C302A"/>
          </a:solidFill>
          <a:ln w="22515">
            <a:solidFill>
              <a:srgbClr val="24AE1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9108067" y="2731544"/>
          <a:ext cx="2536757" cy="1316725"/>
        </p:xfrm>
        <a:graphic>
          <a:graphicData uri="http://schemas.openxmlformats.org/drawingml/2006/table">
            <a:tbl>
              <a:tblPr firstRow="1" bandRow="1">
                <a:tableStyleId>{5C22544A-7EE6-4342-B048-85BDC9FD1C3A}</a:tableStyleId>
              </a:tblPr>
              <a:tblGrid>
                <a:gridCol w="634189"/>
                <a:gridCol w="634189"/>
                <a:gridCol w="634189"/>
                <a:gridCol w="634190"/>
              </a:tblGrid>
              <a:tr h="188103">
                <a:tc>
                  <a:txBody>
                    <a:bodyPr/>
                    <a:lstStyle/>
                    <a:p>
                      <a:r>
                        <a:rPr sz="700" b="1">
                          <a:solidFill>
                            <a:srgbClr val="8B9F6E"/>
                          </a:solidFill>
                        </a:rPr>
                        <a:t>Position Milestone</a:t>
                      </a:r>
                    </a:p>
                  </a:txBody>
                  <a:tcPr>
                    <a:solidFill>
                      <a:srgbClr val="CE907E"/>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1">
                          <a:solidFill>
                            <a:srgbClr val="8B9F6E"/>
                          </a:solidFill>
                        </a:rPr>
                        <a:t>Trigger Slice</a:t>
                      </a:r>
                    </a:p>
                  </a:txBody>
                  <a:tcPr>
                    <a:solidFill>
                      <a:srgbClr val="CE907E"/>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1">
                          <a:solidFill>
                            <a:srgbClr val="8B9F6E"/>
                          </a:solidFill>
                        </a:rPr>
                        <a:t>Device Lineage</a:t>
                      </a:r>
                    </a:p>
                  </a:txBody>
                  <a:tcPr>
                    <a:solidFill>
                      <a:srgbClr val="CE907E"/>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1">
                          <a:solidFill>
                            <a:srgbClr val="8B9F6E"/>
                          </a:solidFill>
                        </a:rPr>
                        <a:t>Source Network</a:t>
                      </a:r>
                    </a:p>
                  </a:txBody>
                  <a:tcPr>
                    <a:solidFill>
                      <a:srgbClr val="CE907E"/>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r>
              <a:tr h="188103">
                <a:tc>
                  <a:txBody>
                    <a:bodyPr/>
                    <a:lstStyle/>
                    <a:p>
                      <a:r>
                        <a:rPr sz="700" b="0">
                          <a:solidFill>
                            <a:srgbClr val="8B9F6E"/>
                          </a:solidFill>
                        </a:rPr>
                        <a:t>Layer</a:t>
                      </a:r>
                    </a:p>
                  </a:txBody>
                  <a:tcPr>
                    <a:solidFill>
                      <a:srgbClr val="BDC4D2"/>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Core</a:t>
                      </a:r>
                    </a:p>
                  </a:txBody>
                  <a:tcPr>
                    <a:solidFill>
                      <a:srgbClr val="BDC4D2"/>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Feature</a:t>
                      </a:r>
                    </a:p>
                  </a:txBody>
                  <a:tcPr>
                    <a:solidFill>
                      <a:srgbClr val="BDC4D2"/>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Object</a:t>
                      </a:r>
                    </a:p>
                  </a:txBody>
                  <a:tcPr>
                    <a:solidFill>
                      <a:srgbClr val="BDC4D2"/>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r>
              <a:tr h="188103">
                <a:tc>
                  <a:txBody>
                    <a:bodyPr/>
                    <a:lstStyle/>
                    <a:p>
                      <a:r>
                        <a:rPr sz="700" b="0">
                          <a:solidFill>
                            <a:srgbClr val="8B9F6E"/>
                          </a:solidFill>
                        </a:rPr>
                        <a:t>Trend</a:t>
                      </a:r>
                    </a:p>
                  </a:txBody>
                  <a:tcPr>
                    <a:solidFill>
                      <a:srgbClr val="DADFE6"/>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Guide Action</a:t>
                      </a:r>
                    </a:p>
                  </a:txBody>
                  <a:tcPr>
                    <a:solidFill>
                      <a:srgbClr val="DADFE6"/>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Briefing</a:t>
                      </a:r>
                    </a:p>
                  </a:txBody>
                  <a:tcPr>
                    <a:solidFill>
                      <a:srgbClr val="DADFE6"/>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Intent Node</a:t>
                      </a:r>
                    </a:p>
                  </a:txBody>
                  <a:tcPr>
                    <a:solidFill>
                      <a:srgbClr val="DADFE6"/>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r>
              <a:tr h="188103">
                <a:tc>
                  <a:txBody>
                    <a:bodyPr/>
                    <a:lstStyle/>
                    <a:p>
                      <a:r>
                        <a:rPr sz="700" b="0">
                          <a:solidFill>
                            <a:srgbClr val="8B9F6E"/>
                          </a:solidFill>
                        </a:rPr>
                        <a:t>Sync</a:t>
                      </a:r>
                    </a:p>
                  </a:txBody>
                  <a:tcPr>
                    <a:solidFill>
                      <a:srgbClr val="BDC4D2"/>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Limit Surface</a:t>
                      </a:r>
                    </a:p>
                  </a:txBody>
                  <a:tcPr>
                    <a:solidFill>
                      <a:srgbClr val="BDC4D2"/>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Trace Target</a:t>
                      </a:r>
                    </a:p>
                  </a:txBody>
                  <a:tcPr>
                    <a:solidFill>
                      <a:srgbClr val="BDC4D2"/>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Epoch</a:t>
                      </a:r>
                    </a:p>
                  </a:txBody>
                  <a:tcPr>
                    <a:solidFill>
                      <a:srgbClr val="BDC4D2"/>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r>
              <a:tr h="188103">
                <a:tc>
                  <a:txBody>
                    <a:bodyPr/>
                    <a:lstStyle/>
                    <a:p>
                      <a:r>
                        <a:rPr sz="700" b="0">
                          <a:solidFill>
                            <a:srgbClr val="8B9F6E"/>
                          </a:solidFill>
                        </a:rPr>
                        <a:t>Chart</a:t>
                      </a:r>
                    </a:p>
                  </a:txBody>
                  <a:tcPr>
                    <a:solidFill>
                      <a:srgbClr val="DADFE6"/>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Channel Object</a:t>
                      </a:r>
                    </a:p>
                  </a:txBody>
                  <a:tcPr>
                    <a:solidFill>
                      <a:srgbClr val="DADFE6"/>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Query Vector</a:t>
                      </a:r>
                    </a:p>
                  </a:txBody>
                  <a:tcPr>
                    <a:solidFill>
                      <a:srgbClr val="DADFE6"/>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Collection Intent</a:t>
                      </a:r>
                    </a:p>
                  </a:txBody>
                  <a:tcPr>
                    <a:solidFill>
                      <a:srgbClr val="DADFE6"/>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r>
              <a:tr h="188103">
                <a:tc>
                  <a:txBody>
                    <a:bodyPr/>
                    <a:lstStyle/>
                    <a:p>
                      <a:r>
                        <a:rPr sz="700" b="0">
                          <a:solidFill>
                            <a:srgbClr val="8B9F6E"/>
                          </a:solidFill>
                        </a:rPr>
                        <a:t>Slice</a:t>
                      </a:r>
                    </a:p>
                  </a:txBody>
                  <a:tcPr>
                    <a:solidFill>
                      <a:srgbClr val="BDC4D2"/>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North Mode</a:t>
                      </a:r>
                    </a:p>
                  </a:txBody>
                  <a:tcPr>
                    <a:solidFill>
                      <a:srgbClr val="BDC4D2"/>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Method</a:t>
                      </a:r>
                    </a:p>
                  </a:txBody>
                  <a:tcPr>
                    <a:solidFill>
                      <a:srgbClr val="BDC4D2"/>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Sequence Access</a:t>
                      </a:r>
                    </a:p>
                  </a:txBody>
                  <a:tcPr>
                    <a:solidFill>
                      <a:srgbClr val="BDC4D2"/>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r>
              <a:tr h="188107">
                <a:tc>
                  <a:txBody>
                    <a:bodyPr/>
                    <a:lstStyle/>
                    <a:p>
                      <a:r>
                        <a:rPr sz="700" b="0">
                          <a:solidFill>
                            <a:srgbClr val="8B9F6E"/>
                          </a:solidFill>
                        </a:rPr>
                        <a:t>Graph Cycle</a:t>
                      </a:r>
                    </a:p>
                  </a:txBody>
                  <a:tcPr>
                    <a:solidFill>
                      <a:srgbClr val="DADFE6"/>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Buffer Process</a:t>
                      </a:r>
                    </a:p>
                  </a:txBody>
                  <a:tcPr>
                    <a:solidFill>
                      <a:srgbClr val="DADFE6"/>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Tile</a:t>
                      </a:r>
                    </a:p>
                  </a:txBody>
                  <a:tcPr>
                    <a:solidFill>
                      <a:srgbClr val="DADFE6"/>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c>
                  <a:txBody>
                    <a:bodyPr/>
                    <a:lstStyle/>
                    <a:p>
                      <a:r>
                        <a:rPr sz="700" b="0">
                          <a:solidFill>
                            <a:srgbClr val="8B9F6E"/>
                          </a:solidFill>
                        </a:rPr>
                        <a:t>Radius Frequency</a:t>
                      </a:r>
                    </a:p>
                  </a:txBody>
                  <a:tcPr>
                    <a:solidFill>
                      <a:srgbClr val="DADFE6"/>
                    </a:solidFill>
                    <a:lnL w="27168">
                      <a:solidFill>
                        <a:srgbClr val="80A770"/>
                      </a:solidFill>
                      <a:prstDash val="dashDot"/>
                    </a:lnL>
                    <a:lnR w="27168">
                      <a:solidFill>
                        <a:srgbClr val="80A770"/>
                      </a:solidFill>
                      <a:prstDash val="dashDot"/>
                    </a:lnR>
                    <a:lnT w="27168">
                      <a:solidFill>
                        <a:srgbClr val="80A770"/>
                      </a:solidFill>
                      <a:prstDash val="dashDot"/>
                    </a:lnT>
                    <a:lnB w="27168">
                      <a:solidFill>
                        <a:srgbClr val="80A770"/>
                      </a:solidFill>
                      <a:prstDash val="dashDot"/>
                    </a:lnB>
                  </a:tcPr>
                </a:tc>
              </a:tr>
            </a:tbl>
          </a:graphicData>
        </a:graphic>
      </p:graphicFrame>
      <p:sp>
        <p:nvSpPr>
          <p:cNvPr id="19" name="Left-Right Arrow 18"/>
          <p:cNvSpPr/>
          <p:nvPr/>
        </p:nvSpPr>
        <p:spPr>
          <a:xfrm>
            <a:off x="4992527" y="4454804"/>
            <a:ext cx="1430089" cy="660145"/>
          </a:xfrm>
          <a:prstGeom prst="leftRightArrow">
            <a:avLst/>
          </a:prstGeom>
          <a:solidFill>
            <a:srgbClr val="2E6539"/>
          </a:solidFill>
          <a:ln w="15412">
            <a:solidFill>
              <a:srgbClr val="68D94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