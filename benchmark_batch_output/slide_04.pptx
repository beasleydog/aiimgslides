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85737" y="1663063"/>
            <a:ext cx="1432438" cy="1687344"/>
          </a:xfrm>
          <a:prstGeom prst="rect">
            <a:avLst/>
          </a:prstGeom>
          <a:solidFill>
            <a:srgbClr val="633D99"/>
          </a:solidFill>
        </p:spPr>
        <p:txBody>
          <a:bodyPr wrap="none" lIns="44359" rIns="44359" tIns="44359" bIns="44359">
            <a:spAutoFit/>
          </a:bodyPr>
          <a:lstStyle/>
          <a:p>
            <a:r>
              <a:rPr sz="3200" b="1" i="0" u="none">
                <a:solidFill>
                  <a:srgbClr val="C159AF"/>
                </a:solidFill>
                <a:latin typeface="Trebuchet MS"/>
              </a:rPr>
              <a:t>Deployment Core Factor</a:t>
            </a:r>
          </a:p>
        </p:txBody>
      </p:sp>
      <p:sp>
        <p:nvSpPr>
          <p:cNvPr id="3" name="Up-Down Arrow 2"/>
          <p:cNvSpPr/>
          <p:nvPr/>
        </p:nvSpPr>
        <p:spPr>
          <a:xfrm>
            <a:off x="642904" y="4945583"/>
            <a:ext cx="1170600" cy="1057833"/>
          </a:xfrm>
          <a:prstGeom prst="upDownArrow">
            <a:avLst/>
          </a:prstGeom>
          <a:noFill/>
          <a:ln w="9050">
            <a:solidFill>
              <a:srgbClr val="E5753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66640" y="4170882"/>
            <a:ext cx="3582265" cy="1949525"/>
          </a:xfrm>
          <a:prstGeom prst="rect">
            <a:avLst/>
          </a:prstGeom>
          <a:noFill/>
        </p:spPr>
        <p:txBody>
          <a:bodyPr wrap="none" lIns="61402" rIns="61402" tIns="61402" bIns="61402">
            <a:spAutoFit/>
          </a:bodyPr>
          <a:lstStyle/>
          <a:p>
            <a:r>
              <a:rPr sz="1000" b="0" i="0" u="none">
                <a:solidFill>
                  <a:srgbClr val="63527D"/>
                </a:solidFill>
                <a:latin typeface="Georgia"/>
              </a:rPr>
              <a:t>Graph Trend Epoch Atlas Request Moment Phase Vector Matrix Viewport Station Level Flow Deck Index Matrix Schema Archive Channel Source Drift Sync Module Grid Limit Workflow Inventory</a:t>
            </a:r>
          </a:p>
        </p:txBody>
      </p:sp>
      <p:sp>
        <p:nvSpPr>
          <p:cNvPr id="5" name="Hexagon 4"/>
          <p:cNvSpPr/>
          <p:nvPr/>
        </p:nvSpPr>
        <p:spPr>
          <a:xfrm>
            <a:off x="10741364" y="3295099"/>
            <a:ext cx="471859" cy="1398158"/>
          </a:xfrm>
          <a:prstGeom prst="hexagon">
            <a:avLst/>
          </a:prstGeom>
          <a:solidFill>
            <a:srgbClr val="65AE44"/>
          </a:solidFill>
          <a:ln w="12873">
            <a:solidFill>
              <a:srgbClr val="659E7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_example_image.jpg"/>
          <p:cNvPicPr>
            <a:picLocks noChangeAspect="1"/>
          </p:cNvPicPr>
          <p:nvPr/>
        </p:nvPicPr>
        <p:blipFill>
          <a:blip r:embed="rId2"/>
          <a:stretch>
            <a:fillRect/>
          </a:stretch>
        </p:blipFill>
        <p:spPr>
          <a:xfrm>
            <a:off x="687443" y="528007"/>
            <a:ext cx="1268865" cy="864216"/>
          </a:xfrm>
          <a:prstGeom prst="rect">
            <a:avLst/>
          </a:prstGeom>
        </p:spPr>
      </p:pic>
      <p:pic>
        <p:nvPicPr>
          <p:cNvPr id="7" name="Picture 6" descr="_example_image.jpg"/>
          <p:cNvPicPr>
            <a:picLocks noChangeAspect="1"/>
          </p:cNvPicPr>
          <p:nvPr/>
        </p:nvPicPr>
        <p:blipFill>
          <a:blip r:embed="rId2"/>
          <a:stretch>
            <a:fillRect/>
          </a:stretch>
        </p:blipFill>
        <p:spPr>
          <a:xfrm>
            <a:off x="6482184" y="3056824"/>
            <a:ext cx="2223076" cy="1150204"/>
          </a:xfrm>
          <a:prstGeom prst="rect">
            <a:avLst/>
          </a:prstGeom>
        </p:spPr>
      </p:pic>
      <p:sp>
        <p:nvSpPr>
          <p:cNvPr id="8" name="Hexagon 7"/>
          <p:cNvSpPr/>
          <p:nvPr/>
        </p:nvSpPr>
        <p:spPr>
          <a:xfrm>
            <a:off x="4539658" y="648449"/>
            <a:ext cx="780430" cy="502867"/>
          </a:xfrm>
          <a:prstGeom prst="hexagon">
            <a:avLst/>
          </a:prstGeom>
          <a:solidFill>
            <a:srgbClr val="4AB24E"/>
          </a:solidFill>
          <a:ln w="23476">
            <a:solidFill>
              <a:srgbClr val="B72F1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88314" y="3416727"/>
          <a:ext cx="2056830" cy="1887368"/>
        </p:xfrm>
        <a:graphic>
          <a:graphicData uri="http://schemas.openxmlformats.org/drawingml/2006/table">
            <a:tbl>
              <a:tblPr firstRow="1" bandRow="1">
                <a:tableStyleId>{5C22544A-7EE6-4342-B048-85BDC9FD1C3A}</a:tableStyleId>
              </a:tblPr>
              <a:tblGrid>
                <a:gridCol w="685610"/>
                <a:gridCol w="685610"/>
                <a:gridCol w="685610"/>
              </a:tblGrid>
              <a:tr h="943684">
                <a:tc>
                  <a:txBody>
                    <a:bodyPr/>
                    <a:lstStyle/>
                    <a:p>
                      <a:r>
                        <a:rPr sz="1300" b="1">
                          <a:solidFill>
                            <a:srgbClr val="BE9E46"/>
                          </a:solidFill>
                        </a:rPr>
                        <a:t>Window Action</a:t>
                      </a:r>
                    </a:p>
                  </a:txBody>
                  <a:tcPr>
                    <a:solidFill>
                      <a:srgbClr val="683969"/>
                    </a:solidFill>
                    <a:lnL w="30943">
                      <a:solidFill>
                        <a:srgbClr val="98925D"/>
                      </a:solidFill>
                      <a:prstDash val="solid"/>
                    </a:lnL>
                    <a:lnR w="30943">
                      <a:solidFill>
                        <a:srgbClr val="98925D"/>
                      </a:solidFill>
                      <a:prstDash val="solid"/>
                    </a:lnR>
                    <a:lnT w="30943">
                      <a:solidFill>
                        <a:srgbClr val="98925D"/>
                      </a:solidFill>
                      <a:prstDash val="solid"/>
                    </a:lnT>
                    <a:lnB w="30943">
                      <a:solidFill>
                        <a:srgbClr val="98925D"/>
                      </a:solidFill>
                      <a:prstDash val="solid"/>
                    </a:lnB>
                  </a:tcPr>
                </a:tc>
                <a:tc>
                  <a:txBody>
                    <a:bodyPr/>
                    <a:lstStyle/>
                    <a:p>
                      <a:r>
                        <a:rPr sz="1300" b="1">
                          <a:solidFill>
                            <a:srgbClr val="BE9E46"/>
                          </a:solidFill>
                        </a:rPr>
                        <a:t>Forecast</a:t>
                      </a:r>
                    </a:p>
                  </a:txBody>
                  <a:tcPr>
                    <a:solidFill>
                      <a:srgbClr val="683969"/>
                    </a:solidFill>
                    <a:lnL w="30943">
                      <a:solidFill>
                        <a:srgbClr val="98925D"/>
                      </a:solidFill>
                      <a:prstDash val="solid"/>
                    </a:lnL>
                    <a:lnR w="30943">
                      <a:solidFill>
                        <a:srgbClr val="98925D"/>
                      </a:solidFill>
                      <a:prstDash val="solid"/>
                    </a:lnR>
                    <a:lnT w="30943">
                      <a:solidFill>
                        <a:srgbClr val="98925D"/>
                      </a:solidFill>
                      <a:prstDash val="solid"/>
                    </a:lnT>
                    <a:lnB w="30943">
                      <a:solidFill>
                        <a:srgbClr val="98925D"/>
                      </a:solidFill>
                      <a:prstDash val="solid"/>
                    </a:lnB>
                  </a:tcPr>
                </a:tc>
                <a:tc>
                  <a:txBody>
                    <a:bodyPr/>
                    <a:lstStyle/>
                    <a:p>
                      <a:r>
                        <a:rPr sz="1300" b="1">
                          <a:solidFill>
                            <a:srgbClr val="BE9E46"/>
                          </a:solidFill>
                        </a:rPr>
                        <a:t>Report Datum</a:t>
                      </a:r>
                    </a:p>
                  </a:txBody>
                  <a:tcPr>
                    <a:solidFill>
                      <a:srgbClr val="683969"/>
                    </a:solidFill>
                    <a:lnL w="30943">
                      <a:solidFill>
                        <a:srgbClr val="98925D"/>
                      </a:solidFill>
                      <a:prstDash val="solid"/>
                    </a:lnL>
                    <a:lnR w="30943">
                      <a:solidFill>
                        <a:srgbClr val="98925D"/>
                      </a:solidFill>
                      <a:prstDash val="solid"/>
                    </a:lnR>
                    <a:lnT w="30943">
                      <a:solidFill>
                        <a:srgbClr val="98925D"/>
                      </a:solidFill>
                      <a:prstDash val="solid"/>
                    </a:lnT>
                    <a:lnB w="30943">
                      <a:solidFill>
                        <a:srgbClr val="98925D"/>
                      </a:solidFill>
                      <a:prstDash val="solid"/>
                    </a:lnB>
                  </a:tcPr>
                </a:tc>
              </a:tr>
              <a:tr h="943684">
                <a:tc>
                  <a:txBody>
                    <a:bodyPr/>
                    <a:lstStyle/>
                    <a:p>
                      <a:r>
                        <a:rPr sz="1300" b="0">
                          <a:solidFill>
                            <a:srgbClr val="BE9E46"/>
                          </a:solidFill>
                        </a:rPr>
                        <a:t>Module Control</a:t>
                      </a:r>
                    </a:p>
                  </a:txBody>
                  <a:tcPr>
                    <a:solidFill>
                      <a:srgbClr val="ECF7FB"/>
                    </a:solidFill>
                    <a:lnL w="30943">
                      <a:solidFill>
                        <a:srgbClr val="98925D"/>
                      </a:solidFill>
                      <a:prstDash val="solid"/>
                    </a:lnL>
                    <a:lnR w="30943">
                      <a:solidFill>
                        <a:srgbClr val="98925D"/>
                      </a:solidFill>
                      <a:prstDash val="solid"/>
                    </a:lnR>
                    <a:lnT w="30943">
                      <a:solidFill>
                        <a:srgbClr val="98925D"/>
                      </a:solidFill>
                      <a:prstDash val="solid"/>
                    </a:lnT>
                    <a:lnB w="30943">
                      <a:solidFill>
                        <a:srgbClr val="98925D"/>
                      </a:solidFill>
                      <a:prstDash val="solid"/>
                    </a:lnB>
                  </a:tcPr>
                </a:tc>
                <a:tc>
                  <a:txBody>
                    <a:bodyPr/>
                    <a:lstStyle/>
                    <a:p>
                      <a:r>
                        <a:rPr sz="1300" b="0">
                          <a:solidFill>
                            <a:srgbClr val="BE9E46"/>
                          </a:solidFill>
                        </a:rPr>
                        <a:t>Story Density</a:t>
                      </a:r>
                    </a:p>
                  </a:txBody>
                  <a:tcPr>
                    <a:solidFill>
                      <a:srgbClr val="ECF7FB"/>
                    </a:solidFill>
                    <a:lnL w="30943">
                      <a:solidFill>
                        <a:srgbClr val="98925D"/>
                      </a:solidFill>
                      <a:prstDash val="solid"/>
                    </a:lnL>
                    <a:lnR w="30943">
                      <a:solidFill>
                        <a:srgbClr val="98925D"/>
                      </a:solidFill>
                      <a:prstDash val="solid"/>
                    </a:lnR>
                    <a:lnT w="30943">
                      <a:solidFill>
                        <a:srgbClr val="98925D"/>
                      </a:solidFill>
                      <a:prstDash val="solid"/>
                    </a:lnT>
                    <a:lnB w="30943">
                      <a:solidFill>
                        <a:srgbClr val="98925D"/>
                      </a:solidFill>
                      <a:prstDash val="solid"/>
                    </a:lnB>
                  </a:tcPr>
                </a:tc>
                <a:tc>
                  <a:txBody>
                    <a:bodyPr/>
                    <a:lstStyle/>
                    <a:p>
                      <a:r>
                        <a:rPr sz="1300" b="0">
                          <a:solidFill>
                            <a:srgbClr val="BE9E46"/>
                          </a:solidFill>
                        </a:rPr>
                        <a:t>Region</a:t>
                      </a:r>
                    </a:p>
                  </a:txBody>
                  <a:tcPr>
                    <a:solidFill>
                      <a:srgbClr val="ECF7FB"/>
                    </a:solidFill>
                    <a:lnL w="30943">
                      <a:solidFill>
                        <a:srgbClr val="98925D"/>
                      </a:solidFill>
                      <a:prstDash val="solid"/>
                    </a:lnL>
                    <a:lnR w="30943">
                      <a:solidFill>
                        <a:srgbClr val="98925D"/>
                      </a:solidFill>
                      <a:prstDash val="solid"/>
                    </a:lnR>
                    <a:lnT w="30943">
                      <a:solidFill>
                        <a:srgbClr val="98925D"/>
                      </a:solidFill>
                      <a:prstDash val="solid"/>
                    </a:lnT>
                    <a:lnB w="30943">
                      <a:solidFill>
                        <a:srgbClr val="98925D"/>
                      </a:solidFill>
                      <a:prstDash val="solid"/>
                    </a:lnB>
                  </a:tcPr>
                </a:tc>
              </a:tr>
            </a:tbl>
          </a:graphicData>
        </a:graphic>
      </p:graphicFrame>
      <p:graphicFrame>
        <p:nvGraphicFramePr>
          <p:cNvPr id="10" name="Table 9"/>
          <p:cNvGraphicFramePr>
            <a:graphicFrameLocks noGrp="1"/>
          </p:cNvGraphicFramePr>
          <p:nvPr/>
        </p:nvGraphicFramePr>
        <p:xfrm>
          <a:off x="6886371" y="1657583"/>
          <a:ext cx="4423626" cy="1073434"/>
        </p:xfrm>
        <a:graphic>
          <a:graphicData uri="http://schemas.openxmlformats.org/drawingml/2006/table">
            <a:tbl>
              <a:tblPr firstRow="1" bandRow="1">
                <a:tableStyleId>{5C22544A-7EE6-4342-B048-85BDC9FD1C3A}</a:tableStyleId>
              </a:tblPr>
              <a:tblGrid>
                <a:gridCol w="1105906"/>
                <a:gridCol w="1105906"/>
                <a:gridCol w="1105906"/>
                <a:gridCol w="1105908"/>
              </a:tblGrid>
              <a:tr h="153347">
                <a:tc>
                  <a:txBody>
                    <a:bodyPr/>
                    <a:lstStyle/>
                    <a:p>
                      <a:r>
                        <a:rPr sz="800" b="1">
                          <a:solidFill>
                            <a:srgbClr val="4E761E"/>
                          </a:solidFill>
                        </a:rPr>
                        <a:t>Entity</a:t>
                      </a:r>
                    </a:p>
                  </a:txBody>
                  <a:tcPr>
                    <a:solidFill>
                      <a:srgbClr val="2FB13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1">
                          <a:solidFill>
                            <a:srgbClr val="4E761E"/>
                          </a:solidFill>
                        </a:rPr>
                        <a:t>Queue</a:t>
                      </a:r>
                    </a:p>
                  </a:txBody>
                  <a:tcPr>
                    <a:solidFill>
                      <a:srgbClr val="2FB13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1">
                          <a:solidFill>
                            <a:srgbClr val="4E761E"/>
                          </a:solidFill>
                        </a:rPr>
                        <a:t>Index</a:t>
                      </a:r>
                    </a:p>
                  </a:txBody>
                  <a:tcPr>
                    <a:solidFill>
                      <a:srgbClr val="2FB13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1">
                          <a:solidFill>
                            <a:srgbClr val="4E761E"/>
                          </a:solidFill>
                        </a:rPr>
                        <a:t>Track Method</a:t>
                      </a:r>
                    </a:p>
                  </a:txBody>
                  <a:tcPr>
                    <a:solidFill>
                      <a:srgbClr val="2FB13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r>
              <a:tr h="153347">
                <a:tc>
                  <a:txBody>
                    <a:bodyPr/>
                    <a:lstStyle/>
                    <a:p>
                      <a:r>
                        <a:rPr sz="800" b="0">
                          <a:solidFill>
                            <a:srgbClr val="4E761E"/>
                          </a:solidFill>
                        </a:rPr>
                        <a:t>Blueprint</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Channel</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Anchor</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Map</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r>
              <a:tr h="153347">
                <a:tc>
                  <a:txBody>
                    <a:bodyPr/>
                    <a:lstStyle/>
                    <a:p>
                      <a:r>
                        <a:rPr sz="800" b="0">
                          <a:solidFill>
                            <a:srgbClr val="4E761E"/>
                          </a:solidFill>
                        </a:rPr>
                        <a:t>Timeline</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Thread</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Density Table</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Beacon</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r>
              <a:tr h="153347">
                <a:tc>
                  <a:txBody>
                    <a:bodyPr/>
                    <a:lstStyle/>
                    <a:p>
                      <a:r>
                        <a:rPr sz="800" b="0">
                          <a:solidFill>
                            <a:srgbClr val="4E761E"/>
                          </a:solidFill>
                        </a:rPr>
                        <a:t>Stage</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Foundation Event</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Friction</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Result Package</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r>
              <a:tr h="153347">
                <a:tc>
                  <a:txBody>
                    <a:bodyPr/>
                    <a:lstStyle/>
                    <a:p>
                      <a:r>
                        <a:rPr sz="800" b="0">
                          <a:solidFill>
                            <a:srgbClr val="4E761E"/>
                          </a:solidFill>
                        </a:rPr>
                        <a:t>Friction</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Marker</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Clarity</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Scope</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r>
              <a:tr h="153347">
                <a:tc>
                  <a:txBody>
                    <a:bodyPr/>
                    <a:lstStyle/>
                    <a:p>
                      <a:r>
                        <a:rPr sz="800" b="0">
                          <a:solidFill>
                            <a:srgbClr val="4E761E"/>
                          </a:solidFill>
                        </a:rPr>
                        <a:t>Access Packet</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Milestone Schema</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Vector Phase</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Action</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r>
              <a:tr h="153352">
                <a:tc>
                  <a:txBody>
                    <a:bodyPr/>
                    <a:lstStyle/>
                    <a:p>
                      <a:r>
                        <a:rPr sz="800" b="0">
                          <a:solidFill>
                            <a:srgbClr val="4E761E"/>
                          </a:solidFill>
                        </a:rPr>
                        <a:t>Center Dimension</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Strategy Interface</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Signal Keyline</a:t>
                      </a:r>
                    </a:p>
                  </a:txBody>
                  <a:tcPr>
                    <a:solidFill>
                      <a:srgbClr val="F4F7E2"/>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c>
                  <a:txBody>
                    <a:bodyPr/>
                    <a:lstStyle/>
                    <a:p>
                      <a:r>
                        <a:rPr sz="800" b="0">
                          <a:solidFill>
                            <a:srgbClr val="4E761E"/>
                          </a:solidFill>
                        </a:rPr>
                        <a:t>Column</a:t>
                      </a:r>
                    </a:p>
                  </a:txBody>
                  <a:tcPr>
                    <a:solidFill>
                      <a:srgbClr val="F0F5D9"/>
                    </a:solidFill>
                    <a:lnL w="31056">
                      <a:solidFill>
                        <a:srgbClr val="6A7AC5"/>
                      </a:solidFill>
                      <a:prstDash val="lgDash"/>
                    </a:lnL>
                    <a:lnR w="31056">
                      <a:solidFill>
                        <a:srgbClr val="6A7AC5"/>
                      </a:solidFill>
                      <a:prstDash val="lgDash"/>
                    </a:lnR>
                    <a:lnT w="31056">
                      <a:solidFill>
                        <a:srgbClr val="6A7AC5"/>
                      </a:solidFill>
                      <a:prstDash val="lgDash"/>
                    </a:lnT>
                    <a:lnB w="31056">
                      <a:solidFill>
                        <a:srgbClr val="6A7AC5"/>
                      </a:solidFill>
                      <a:prstDash val="lgDash"/>
                    </a:lnB>
                  </a:tcPr>
                </a:tc>
              </a:tr>
            </a:tbl>
          </a:graphicData>
        </a:graphic>
      </p:graphicFrame>
      <p:sp>
        <p:nvSpPr>
          <p:cNvPr id="11" name="TextBox 10"/>
          <p:cNvSpPr txBox="1"/>
          <p:nvPr/>
        </p:nvSpPr>
        <p:spPr>
          <a:xfrm>
            <a:off x="1087080" y="735347"/>
            <a:ext cx="1922739" cy="1651239"/>
          </a:xfrm>
          <a:prstGeom prst="rect">
            <a:avLst/>
          </a:prstGeom>
          <a:noFill/>
        </p:spPr>
        <p:txBody>
          <a:bodyPr wrap="none" lIns="45939" rIns="45939" tIns="45939" bIns="45939">
            <a:spAutoFit/>
          </a:bodyPr>
          <a:lstStyle/>
          <a:p>
            <a:r>
              <a:rPr sz="2800" b="0" i="0" u="none">
                <a:solidFill>
                  <a:srgbClr val="ACC981"/>
                </a:solidFill>
                <a:latin typeface="Aptos"/>
              </a:rPr>
              <a:t>Path Circuit Direction Instance Pulse Tile Package</a:t>
            </a:r>
          </a:p>
        </p:txBody>
      </p:sp>
      <p:sp>
        <p:nvSpPr>
          <p:cNvPr id="12" name="Left-Right Arrow Callout 11"/>
          <p:cNvSpPr/>
          <p:nvPr/>
        </p:nvSpPr>
        <p:spPr>
          <a:xfrm>
            <a:off x="9210710" y="5165613"/>
            <a:ext cx="1563725" cy="1087899"/>
          </a:xfrm>
          <a:prstGeom prst="leftRightArrowCallout">
            <a:avLst/>
          </a:prstGeom>
          <a:solidFill>
            <a:srgbClr val="1C23C6"/>
          </a:solidFill>
          <a:ln w="31420">
            <a:solidFill>
              <a:srgbClr val="A4929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168536" y="3210126"/>
            <a:ext cx="2545367" cy="451965"/>
          </a:xfrm>
          <a:prstGeom prst="rightArrow">
            <a:avLst/>
          </a:prstGeom>
          <a:solidFill>
            <a:srgbClr val="277DC0"/>
          </a:solidFill>
          <a:ln w="14517">
            <a:solidFill>
              <a:srgbClr val="4BCEE3"/>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0500" y="2814914"/>
            <a:ext cx="1110318" cy="1562647"/>
          </a:xfrm>
          <a:prstGeom prst="rect">
            <a:avLst/>
          </a:prstGeom>
          <a:noFill/>
        </p:spPr>
        <p:txBody>
          <a:bodyPr wrap="none" lIns="35410" rIns="35410" tIns="35410" bIns="35410">
            <a:spAutoFit/>
          </a:bodyPr>
          <a:lstStyle/>
          <a:p>
            <a:r>
              <a:rPr sz="1300" b="0" i="1" u="none">
                <a:solidFill>
                  <a:srgbClr val="507AE0"/>
                </a:solidFill>
                <a:latin typeface="Trebuchet MS"/>
              </a:rPr>
              <a:t>Queue Response Estimate Drift Wave Target Portal Function Package Datum Needle Cycle Horizon Alpha Proof Service Marker Source Intent Release Marker Marker Loop Proof Volume Route Function Span Atlas Deployment Scope Core Harbor Delta Network Lineage Goal Beacon Deck Pixel Epoch Datum</a:t>
            </a:r>
          </a:p>
        </p:txBody>
      </p:sp>
      <p:sp>
        <p:nvSpPr>
          <p:cNvPr id="15" name="Octagon 14"/>
          <p:cNvSpPr/>
          <p:nvPr/>
        </p:nvSpPr>
        <p:spPr>
          <a:xfrm>
            <a:off x="363921" y="809513"/>
            <a:ext cx="506542" cy="742246"/>
          </a:xfrm>
          <a:prstGeom prst="octagon">
            <a:avLst/>
          </a:prstGeom>
          <a:solidFill>
            <a:srgbClr val="3D1942"/>
          </a:solidFill>
          <a:ln w="10458">
            <a:solidFill>
              <a:srgbClr val="A8A51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xplosion 15"/>
          <p:cNvSpPr/>
          <p:nvPr/>
        </p:nvSpPr>
        <p:spPr>
          <a:xfrm>
            <a:off x="3339242" y="1159870"/>
            <a:ext cx="1021599" cy="1013477"/>
          </a:xfrm>
          <a:prstGeom prst="irregularSeal2">
            <a:avLst/>
          </a:prstGeom>
          <a:noFill/>
          <a:ln w="17423">
            <a:solidFill>
              <a:srgbClr val="63BA5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1849" y="4526792"/>
            <a:ext cx="2031080" cy="1936395"/>
          </a:xfrm>
          <a:prstGeom prst="rect">
            <a:avLst/>
          </a:prstGeom>
          <a:noFill/>
        </p:spPr>
        <p:txBody>
          <a:bodyPr wrap="none" lIns="32205" rIns="32205" tIns="32205" bIns="32205">
            <a:spAutoFit/>
          </a:bodyPr>
          <a:lstStyle/>
          <a:p>
            <a:r>
              <a:rPr sz="1300" b="0" i="0" u="none">
                <a:solidFill>
                  <a:srgbClr val="D77572"/>
                </a:solidFill>
                <a:latin typeface="Georgia"/>
              </a:rPr>
              <a:t>Design Brief</a:t>
            </a:r>
          </a:p>
        </p:txBody>
      </p:sp>
      <p:pic>
        <p:nvPicPr>
          <p:cNvPr id="18" name="Picture 17" descr="_example_image.jpg"/>
          <p:cNvPicPr>
            <a:picLocks noChangeAspect="1"/>
          </p:cNvPicPr>
          <p:nvPr/>
        </p:nvPicPr>
        <p:blipFill>
          <a:blip r:embed="rId2"/>
          <a:stretch>
            <a:fillRect/>
          </a:stretch>
        </p:blipFill>
        <p:spPr>
          <a:xfrm>
            <a:off x="4686607" y="583568"/>
            <a:ext cx="1828959" cy="1150150"/>
          </a:xfrm>
          <a:prstGeom prst="rect">
            <a:avLst/>
          </a:prstGeom>
        </p:spPr>
      </p:pic>
      <p:sp>
        <p:nvSpPr>
          <p:cNvPr id="19" name="TextBox 18"/>
          <p:cNvSpPr txBox="1"/>
          <p:nvPr/>
        </p:nvSpPr>
        <p:spPr>
          <a:xfrm>
            <a:off x="6376315" y="456714"/>
            <a:ext cx="4715266" cy="978976"/>
          </a:xfrm>
          <a:prstGeom prst="rect">
            <a:avLst/>
          </a:prstGeom>
          <a:noFill/>
        </p:spPr>
        <p:txBody>
          <a:bodyPr wrap="none" lIns="84470" rIns="84470" tIns="84470" bIns="84470">
            <a:spAutoFit/>
          </a:bodyPr>
          <a:lstStyle/>
          <a:p>
            <a:r>
              <a:rPr sz="1700" b="1" i="0" u="none">
                <a:solidFill>
                  <a:srgbClr val="A7518C"/>
                </a:solidFill>
                <a:latin typeface="Calibri"/>
              </a:rPr>
              <a:t>Profile Milestone Library Spectrum Pattern Signal Story Level Lens Trigger Focus Plan Indicator Wave Chart Element Switch Drift Logic Heading Interval Dispatch Diagram Schema Source Focus Pulse Target Loop Terminal Waypoint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