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Left-Right Arrow Callout 1"/>
          <p:cNvSpPr/>
          <p:nvPr/>
        </p:nvSpPr>
        <p:spPr>
          <a:xfrm>
            <a:off x="10590739" y="3902057"/>
            <a:ext cx="1188971" cy="550096"/>
          </a:xfrm>
          <a:prstGeom prst="leftRightArrowCallout">
            <a:avLst/>
          </a:prstGeom>
          <a:solidFill>
            <a:srgbClr val="4A8596"/>
          </a:solidFill>
          <a:ln w="16264">
            <a:solidFill>
              <a:srgbClr val="97DED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788251" y="312840"/>
            <a:ext cx="3625030" cy="1554001"/>
          </a:xfrm>
          <a:prstGeom prst="rect">
            <a:avLst/>
          </a:prstGeom>
          <a:noFill/>
        </p:spPr>
        <p:txBody>
          <a:bodyPr wrap="none" lIns="64447" rIns="64447" tIns="64447" bIns="64447">
            <a:spAutoFit/>
          </a:bodyPr>
          <a:lstStyle/>
          <a:p>
            <a:r>
              <a:rPr sz="3700" b="1" i="0" u="none">
                <a:solidFill>
                  <a:srgbClr val="D84C3C"/>
                </a:solidFill>
                <a:latin typeface="Calibri"/>
              </a:rPr>
              <a:t>Audit Status Variant Grid Priority</a:t>
            </a:r>
          </a:p>
        </p:txBody>
      </p:sp>
      <p:sp>
        <p:nvSpPr>
          <p:cNvPr id="4" name="Explosion 3"/>
          <p:cNvSpPr/>
          <p:nvPr/>
        </p:nvSpPr>
        <p:spPr>
          <a:xfrm>
            <a:off x="7975527" y="3981844"/>
            <a:ext cx="884682" cy="871499"/>
          </a:xfrm>
          <a:prstGeom prst="irregularSeal2">
            <a:avLst/>
          </a:prstGeom>
          <a:solidFill>
            <a:srgbClr val="433991"/>
          </a:solidFill>
          <a:ln w="23836">
            <a:solidFill>
              <a:srgbClr val="BF5C9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rminator 4"/>
          <p:cNvSpPr/>
          <p:nvPr/>
        </p:nvSpPr>
        <p:spPr>
          <a:xfrm>
            <a:off x="1704748" y="3411901"/>
            <a:ext cx="454789" cy="1717884"/>
          </a:xfrm>
          <a:prstGeom prst="flowChartTerminator">
            <a:avLst/>
          </a:prstGeom>
          <a:solidFill>
            <a:srgbClr val="679858"/>
          </a:solidFill>
          <a:ln w="20103">
            <a:solidFill>
              <a:srgbClr val="5C9F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_example_image.jpg"/>
          <p:cNvPicPr>
            <a:picLocks noChangeAspect="1"/>
          </p:cNvPicPr>
          <p:nvPr/>
        </p:nvPicPr>
        <p:blipFill>
          <a:blip r:embed="rId2"/>
          <a:stretch>
            <a:fillRect/>
          </a:stretch>
        </p:blipFill>
        <p:spPr>
          <a:xfrm>
            <a:off x="6480009" y="4373338"/>
            <a:ext cx="1108618" cy="1094861"/>
          </a:xfrm>
          <a:prstGeom prst="rect">
            <a:avLst/>
          </a:prstGeom>
        </p:spPr>
      </p:pic>
      <p:pic>
        <p:nvPicPr>
          <p:cNvPr id="7" name="Picture 6" descr="_example_image.jpg"/>
          <p:cNvPicPr>
            <a:picLocks noChangeAspect="1"/>
          </p:cNvPicPr>
          <p:nvPr/>
        </p:nvPicPr>
        <p:blipFill>
          <a:blip r:embed="rId2"/>
          <a:stretch>
            <a:fillRect/>
          </a:stretch>
        </p:blipFill>
        <p:spPr>
          <a:xfrm>
            <a:off x="2508955" y="3972422"/>
            <a:ext cx="1470825" cy="1034282"/>
          </a:xfrm>
          <a:prstGeom prst="rect">
            <a:avLst/>
          </a:prstGeom>
        </p:spPr>
      </p:pic>
      <p:graphicFrame>
        <p:nvGraphicFramePr>
          <p:cNvPr id="8" name="Table 7"/>
          <p:cNvGraphicFramePr>
            <a:graphicFrameLocks noGrp="1"/>
          </p:cNvGraphicFramePr>
          <p:nvPr/>
        </p:nvGraphicFramePr>
        <p:xfrm>
          <a:off x="199508" y="1798706"/>
          <a:ext cx="2062341" cy="2291564"/>
        </p:xfrm>
        <a:graphic>
          <a:graphicData uri="http://schemas.openxmlformats.org/drawingml/2006/table">
            <a:tbl>
              <a:tblPr firstRow="1" bandRow="1">
                <a:tableStyleId>{5C22544A-7EE6-4342-B048-85BDC9FD1C3A}</a:tableStyleId>
              </a:tblPr>
              <a:tblGrid>
                <a:gridCol w="687447"/>
                <a:gridCol w="687447"/>
                <a:gridCol w="687447"/>
              </a:tblGrid>
              <a:tr h="572891">
                <a:tc>
                  <a:txBody>
                    <a:bodyPr/>
                    <a:lstStyle/>
                    <a:p>
                      <a:r>
                        <a:rPr sz="1200" b="1">
                          <a:solidFill>
                            <a:srgbClr val="418A77"/>
                          </a:solidFill>
                        </a:rPr>
                        <a:t>Runtime Object</a:t>
                      </a:r>
                    </a:p>
                  </a:txBody>
                  <a:tcPr>
                    <a:solidFill>
                      <a:srgbClr val="2BC5C4"/>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1">
                          <a:solidFill>
                            <a:srgbClr val="418A77"/>
                          </a:solidFill>
                        </a:rPr>
                        <a:t>Buffer</a:t>
                      </a:r>
                    </a:p>
                  </a:txBody>
                  <a:tcPr>
                    <a:solidFill>
                      <a:srgbClr val="2BC5C4"/>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1">
                          <a:solidFill>
                            <a:srgbClr val="418A77"/>
                          </a:solidFill>
                        </a:rPr>
                        <a:t>Entity</a:t>
                      </a:r>
                    </a:p>
                  </a:txBody>
                  <a:tcPr>
                    <a:solidFill>
                      <a:srgbClr val="2BC5C4"/>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r>
              <a:tr h="572891">
                <a:tc>
                  <a:txBody>
                    <a:bodyPr/>
                    <a:lstStyle/>
                    <a:p>
                      <a:r>
                        <a:rPr sz="1200" b="0">
                          <a:solidFill>
                            <a:srgbClr val="418A77"/>
                          </a:solidFill>
                        </a:rPr>
                        <a:t>Route Waypoint</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Relay Target</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Horizon Module</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r>
              <a:tr h="572891">
                <a:tc>
                  <a:txBody>
                    <a:bodyPr/>
                    <a:lstStyle/>
                    <a:p>
                      <a:r>
                        <a:rPr sz="1200" b="0">
                          <a:solidFill>
                            <a:srgbClr val="418A77"/>
                          </a:solidFill>
                        </a:rPr>
                        <a:t>Interval Segment</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Sequence Mesh</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Mode Command</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r>
              <a:tr h="572891">
                <a:tc>
                  <a:txBody>
                    <a:bodyPr/>
                    <a:lstStyle/>
                    <a:p>
                      <a:r>
                        <a:rPr sz="1200" b="0">
                          <a:solidFill>
                            <a:srgbClr val="418A77"/>
                          </a:solidFill>
                        </a:rPr>
                        <a:t>Stage Audit</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Data</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c>
                  <a:txBody>
                    <a:bodyPr/>
                    <a:lstStyle/>
                    <a:p>
                      <a:r>
                        <a:rPr sz="1200" b="0">
                          <a:solidFill>
                            <a:srgbClr val="418A77"/>
                          </a:solidFill>
                        </a:rPr>
                        <a:t>Sample Panel</a:t>
                      </a:r>
                    </a:p>
                  </a:txBody>
                  <a:tcPr>
                    <a:solidFill>
                      <a:srgbClr val="F7F8EC"/>
                    </a:solidFill>
                    <a:lnL w="37494">
                      <a:solidFill>
                        <a:srgbClr val="5CAB7E"/>
                      </a:solidFill>
                      <a:prstDash val="solid"/>
                    </a:lnL>
                    <a:lnR w="37494">
                      <a:solidFill>
                        <a:srgbClr val="5CAB7E"/>
                      </a:solidFill>
                      <a:prstDash val="solid"/>
                    </a:lnR>
                    <a:lnT w="37494">
                      <a:solidFill>
                        <a:srgbClr val="5CAB7E"/>
                      </a:solidFill>
                      <a:prstDash val="solid"/>
                    </a:lnT>
                    <a:lnB w="37494">
                      <a:solidFill>
                        <a:srgbClr val="5CAB7E"/>
                      </a:solidFill>
                      <a:prstDash val="solid"/>
                    </a:lnB>
                  </a:tcPr>
                </a:tc>
              </a:tr>
            </a:tbl>
          </a:graphicData>
        </a:graphic>
      </p:graphicFrame>
      <p:sp>
        <p:nvSpPr>
          <p:cNvPr id="9" name="Left Arrow 8"/>
          <p:cNvSpPr/>
          <p:nvPr/>
        </p:nvSpPr>
        <p:spPr>
          <a:xfrm>
            <a:off x="4300098" y="2346292"/>
            <a:ext cx="1118465" cy="536049"/>
          </a:xfrm>
          <a:prstGeom prst="leftArrow">
            <a:avLst/>
          </a:prstGeom>
          <a:solidFill>
            <a:srgbClr val="96D667"/>
          </a:solidFill>
          <a:ln w="9414">
            <a:solidFill>
              <a:srgbClr val="DBD0A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xplosion 9"/>
          <p:cNvSpPr/>
          <p:nvPr/>
        </p:nvSpPr>
        <p:spPr>
          <a:xfrm>
            <a:off x="10276215" y="2798425"/>
            <a:ext cx="575120" cy="430474"/>
          </a:xfrm>
          <a:prstGeom prst="irregularSeal2">
            <a:avLst/>
          </a:prstGeom>
          <a:noFill/>
          <a:ln w="30354">
            <a:solidFill>
              <a:srgbClr val="5C436C"/>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7503" y="4316033"/>
            <a:ext cx="989474" cy="1247170"/>
          </a:xfrm>
          <a:prstGeom prst="rect">
            <a:avLst/>
          </a:prstGeom>
          <a:noFill/>
        </p:spPr>
        <p:txBody>
          <a:bodyPr wrap="none" lIns="67294" rIns="67294" tIns="67294" bIns="67294">
            <a:spAutoFit/>
          </a:bodyPr>
          <a:lstStyle/>
          <a:p>
            <a:r>
              <a:rPr sz="4000" b="1" i="0" u="none">
                <a:solidFill>
                  <a:srgbClr val="5A26B9"/>
                </a:solidFill>
                <a:latin typeface="Georgia"/>
              </a:rPr>
              <a:t>Heading Span Chart Query Viewport Array</a:t>
            </a:r>
          </a:p>
        </p:txBody>
      </p:sp>
      <p:sp>
        <p:nvSpPr>
          <p:cNvPr id="12" name="Decision 11"/>
          <p:cNvSpPr/>
          <p:nvPr/>
        </p:nvSpPr>
        <p:spPr>
          <a:xfrm>
            <a:off x="10849208" y="5624312"/>
            <a:ext cx="829472" cy="906486"/>
          </a:xfrm>
          <a:prstGeom prst="flowChartDecision">
            <a:avLst/>
          </a:prstGeom>
          <a:solidFill>
            <a:srgbClr val="9781DE"/>
          </a:solidFill>
          <a:ln w="29609">
            <a:solidFill>
              <a:srgbClr val="8A46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5329" y="2883106"/>
            <a:ext cx="4849365" cy="1329979"/>
          </a:xfrm>
          <a:prstGeom prst="rect">
            <a:avLst/>
          </a:prstGeom>
          <a:noFill/>
        </p:spPr>
        <p:txBody>
          <a:bodyPr wrap="none" lIns="65010" rIns="65010" tIns="65010" bIns="65010">
            <a:spAutoFit/>
          </a:bodyPr>
          <a:lstStyle/>
          <a:p>
            <a:r>
              <a:rPr sz="1500" b="0" i="0" u="none">
                <a:solidFill>
                  <a:srgbClr val="989FA9"/>
                </a:solidFill>
                <a:latin typeface="Arial"/>
              </a:rPr>
              <a:t>Index Compass Texture Factor Asset Pipeline Response Cell Sync Connector System Heading Context Reference Gradient Schema Ledger Instance North Logic Runtime Program Metric Agenda Context Chart Scale Adaptive Blueprint Account</a:t>
            </a:r>
          </a:p>
        </p:txBody>
      </p:sp>
      <p:sp>
        <p:nvSpPr>
          <p:cNvPr id="14" name="TextBox 13"/>
          <p:cNvSpPr txBox="1"/>
          <p:nvPr/>
        </p:nvSpPr>
        <p:spPr>
          <a:xfrm>
            <a:off x="6877317" y="759053"/>
            <a:ext cx="4073905" cy="1641824"/>
          </a:xfrm>
          <a:prstGeom prst="rect">
            <a:avLst/>
          </a:prstGeom>
          <a:noFill/>
        </p:spPr>
        <p:txBody>
          <a:bodyPr wrap="none" lIns="46402" rIns="46402" tIns="46402" bIns="46402">
            <a:spAutoFit/>
          </a:bodyPr>
          <a:lstStyle/>
          <a:p>
            <a:r>
              <a:rPr sz="1800" b="0" i="0" u="none">
                <a:solidFill>
                  <a:srgbClr val="A5C489"/>
                </a:solidFill>
                <a:latin typeface="Trebuchet MS"/>
              </a:rPr>
              <a:t>Balance Control Focus Graph Horizon Plan Vertex Audit</a:t>
            </a:r>
          </a:p>
        </p:txBody>
      </p:sp>
      <p:graphicFrame>
        <p:nvGraphicFramePr>
          <p:cNvPr id="15" name="Table 14"/>
          <p:cNvGraphicFramePr>
            <a:graphicFrameLocks noGrp="1"/>
          </p:cNvGraphicFramePr>
          <p:nvPr/>
        </p:nvGraphicFramePr>
        <p:xfrm>
          <a:off x="9280926" y="4365918"/>
          <a:ext cx="2242867" cy="1180816"/>
        </p:xfrm>
        <a:graphic>
          <a:graphicData uri="http://schemas.openxmlformats.org/drawingml/2006/table">
            <a:tbl>
              <a:tblPr firstRow="1" bandRow="1">
                <a:tableStyleId>{5C22544A-7EE6-4342-B048-85BDC9FD1C3A}</a:tableStyleId>
              </a:tblPr>
              <a:tblGrid>
                <a:gridCol w="373811"/>
                <a:gridCol w="373811"/>
                <a:gridCol w="373811"/>
                <a:gridCol w="373811"/>
                <a:gridCol w="373811"/>
                <a:gridCol w="373812"/>
              </a:tblGrid>
              <a:tr h="168688">
                <a:tc>
                  <a:txBody>
                    <a:bodyPr/>
                    <a:lstStyle/>
                    <a:p>
                      <a:r>
                        <a:rPr sz="900" b="1">
                          <a:solidFill>
                            <a:srgbClr val="274722"/>
                          </a:solidFill>
                        </a:rPr>
                        <a:t>Adaptive</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1">
                          <a:solidFill>
                            <a:srgbClr val="274722"/>
                          </a:solidFill>
                        </a:rPr>
                        <a:t>Origin</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1">
                          <a:solidFill>
                            <a:srgbClr val="274722"/>
                          </a:solidFill>
                        </a:rPr>
                        <a:t>Dashboard</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1">
                          <a:solidFill>
                            <a:srgbClr val="274722"/>
                          </a:solidFill>
                        </a:rPr>
                        <a:t>Epoch</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1">
                          <a:solidFill>
                            <a:srgbClr val="274722"/>
                          </a:solidFill>
                        </a:rPr>
                        <a:t>Velocity Handle</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1">
                          <a:solidFill>
                            <a:srgbClr val="274722"/>
                          </a:solidFill>
                        </a:rPr>
                        <a:t>Chart Volume</a:t>
                      </a:r>
                    </a:p>
                  </a:txBody>
                  <a:tcPr>
                    <a:solidFill>
                      <a:srgbClr val="CBC9BB"/>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Window Inventory</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Stage</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Detail Position</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Position</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Loop</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Checkpoint</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Dimension Ledger</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Terminal Catalog</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Status</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Workflow Panel</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Dimension Heading</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Token</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Output</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Track Field</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Impact Spectrum</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Diagram Asset</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Intent Signal</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Measure Template</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Surface Coverage</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Epoch</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Profile</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Agenda</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Iteration</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Ledger</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Asset</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Release Queueing</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Logic</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Case</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Pattern Foundation</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Region</a:t>
                      </a:r>
                    </a:p>
                  </a:txBody>
                  <a:tcPr>
                    <a:solidFill>
                      <a:srgbClr val="EDCBCA"/>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r h="168688">
                <a:tc>
                  <a:txBody>
                    <a:bodyPr/>
                    <a:lstStyle/>
                    <a:p>
                      <a:r>
                        <a:rPr sz="900" b="0">
                          <a:solidFill>
                            <a:srgbClr val="274722"/>
                          </a:solidFill>
                        </a:rPr>
                        <a:t>Deck Delta</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Adaptive Scope</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Signal Release</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Table Orbit</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Cluster Adaptive</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c>
                  <a:txBody>
                    <a:bodyPr/>
                    <a:lstStyle/>
                    <a:p>
                      <a:r>
                        <a:rPr sz="900" b="0">
                          <a:solidFill>
                            <a:srgbClr val="274722"/>
                          </a:solidFill>
                        </a:rPr>
                        <a:t>Track</a:t>
                      </a:r>
                    </a:p>
                  </a:txBody>
                  <a:tcPr>
                    <a:solidFill>
                      <a:srgbClr val="F7E9E8"/>
                    </a:solidFill>
                    <a:lnL w="29348">
                      <a:solidFill>
                        <a:srgbClr val="261C6F"/>
                      </a:solidFill>
                      <a:prstDash val="sysDot"/>
                    </a:lnL>
                    <a:lnR w="29348">
                      <a:solidFill>
                        <a:srgbClr val="261C6F"/>
                      </a:solidFill>
                      <a:prstDash val="sysDot"/>
                    </a:lnR>
                    <a:lnT w="29348">
                      <a:solidFill>
                        <a:srgbClr val="261C6F"/>
                      </a:solidFill>
                      <a:prstDash val="sysDot"/>
                    </a:lnT>
                    <a:lnB w="29348">
                      <a:solidFill>
                        <a:srgbClr val="261C6F"/>
                      </a:solidFill>
                      <a:prstDash val="sysDot"/>
                    </a:lnB>
                  </a:tcPr>
                </a:tc>
              </a:tr>
            </a:tbl>
          </a:graphicData>
        </a:graphic>
      </p:graphicFrame>
      <p:sp>
        <p:nvSpPr>
          <p:cNvPr id="16" name="TextBox 15"/>
          <p:cNvSpPr txBox="1"/>
          <p:nvPr/>
        </p:nvSpPr>
        <p:spPr>
          <a:xfrm>
            <a:off x="7815381" y="5116323"/>
            <a:ext cx="1401963" cy="976835"/>
          </a:xfrm>
          <a:prstGeom prst="rect">
            <a:avLst/>
          </a:prstGeom>
          <a:noFill/>
        </p:spPr>
        <p:txBody>
          <a:bodyPr wrap="none" lIns="47373" rIns="47373" tIns="47373" bIns="47373">
            <a:spAutoFit/>
          </a:bodyPr>
          <a:lstStyle/>
          <a:p>
            <a:r>
              <a:rPr sz="1500" b="0" i="0" u="none">
                <a:solidFill>
                  <a:srgbClr val="D8C02B"/>
                </a:solidFill>
                <a:latin typeface="Trebuchet MS"/>
              </a:rPr>
              <a:t>Result Spectrum Field Phase Inventory Intent Proof Response Cadence Query Bridge Catalog Story Vector Archive Apex Interval Depth Delta Echo Waypoint Register Sample Catalog Precision Beacon Entity Discovery Instance Draft Function Map Detail Forecast Diagram Slice Viewport Timeline</a:t>
            </a:r>
          </a:p>
        </p:txBody>
      </p:sp>
      <p:pic>
        <p:nvPicPr>
          <p:cNvPr id="17" name="Picture 16" descr="_example_image.jpg"/>
          <p:cNvPicPr>
            <a:picLocks noChangeAspect="1"/>
          </p:cNvPicPr>
          <p:nvPr/>
        </p:nvPicPr>
        <p:blipFill>
          <a:blip r:embed="rId2"/>
          <a:stretch>
            <a:fillRect/>
          </a:stretch>
        </p:blipFill>
        <p:spPr>
          <a:xfrm>
            <a:off x="853739" y="5901260"/>
            <a:ext cx="2516993" cy="756988"/>
          </a:xfrm>
          <a:prstGeom prst="rect">
            <a:avLst/>
          </a:prstGeom>
        </p:spPr>
      </p:pic>
      <p:sp>
        <p:nvSpPr>
          <p:cNvPr id="18" name="&quot;No&quot; Symbol 17"/>
          <p:cNvSpPr/>
          <p:nvPr/>
        </p:nvSpPr>
        <p:spPr>
          <a:xfrm>
            <a:off x="4450600" y="4285704"/>
            <a:ext cx="1136644" cy="607215"/>
          </a:xfrm>
          <a:prstGeom prst="noSmoking">
            <a:avLst/>
          </a:prstGeom>
          <a:solidFill>
            <a:srgbClr val="D7868B"/>
          </a:solidFill>
          <a:ln w="8350">
            <a:solidFill>
              <a:srgbClr val="49274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8059" y="5184149"/>
            <a:ext cx="2842629" cy="705885"/>
          </a:xfrm>
          <a:prstGeom prst="rect">
            <a:avLst/>
          </a:prstGeom>
          <a:noFill/>
        </p:spPr>
        <p:txBody>
          <a:bodyPr wrap="none" lIns="78951" rIns="78951" tIns="78951" bIns="78951">
            <a:spAutoFit/>
          </a:bodyPr>
          <a:lstStyle/>
          <a:p>
            <a:r>
              <a:rPr sz="2200" b="0" i="0" u="none">
                <a:solidFill>
                  <a:srgbClr val="DED56A"/>
                </a:solidFill>
                <a:latin typeface="Trebuchet MS"/>
              </a:rPr>
              <a:t>Apex Profile Inventory Point Cluster Envelope Stack Motion Feature Friction Foundation Request Segment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